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Group 11"/>
          <p:cNvGrpSpPr/>
          <p:nvPr/>
        </p:nvGrpSpPr>
        <p:grpSpPr>
          <a:xfrm>
            <a:off x="-666750" y="-1333500"/>
            <a:ext cx="14763750" cy="10096500"/>
            <a:chOff x="-666750" y="-1333500"/>
            <a:chExt cx="14763750" cy="10096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5715000" cy="5715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381500" cy="4381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048000" cy="3048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333500"/>
              <a:ext cx="4191000" cy="41910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0" y="-666750"/>
              <a:ext cx="2857500" cy="2857500"/>
            </a:xfrm>
            <a:prstGeom prst="ellipse">
              <a:avLst/>
            </a:prstGeom>
            <a:noFill/>
            <a:ln w="14288">
              <a:solidFill>
                <a:srgbClr val="FFFFFF">
                  <a:alpha val="12000"/>
                </a:srgbClr>
              </a:solidFill>
              <a:custDash>
                <a:ds d="200000" sp="600000"/>
              </a:custDash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9944100" y="990600"/>
              <a:ext cx="114300" cy="114300"/>
            </a:xfrm>
            <a:prstGeom prst="ellipse">
              <a:avLst/>
            </a:prstGeom>
            <a:solidFill>
              <a:srgbClr val="FFFFFF">
                <a:alpha val="18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Ellipse 9"/>
            <p:cNvSpPr/>
            <p:nvPr/>
          </p:nvSpPr>
          <p:spPr>
            <a:xfrm>
              <a:off x="10629900" y="1676400"/>
              <a:ext cx="76200" cy="76200"/>
            </a:xfrm>
            <a:prstGeom prst="ellipse">
              <a:avLst/>
            </a:prstGeom>
            <a:solidFill>
              <a:srgbClr val="FFFFFF">
                <a:alpha val="22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Ellipse 10"/>
            <p:cNvSpPr/>
            <p:nvPr/>
          </p:nvSpPr>
          <p:spPr>
            <a:xfrm>
              <a:off x="9286875" y="619125"/>
              <a:ext cx="95250" cy="95250"/>
            </a:xfrm>
            <a:prstGeom prst="ellipse">
              <a:avLst/>
            </a:pr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2" name="TextBox 12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56260" y="1428750"/>
            <a:ext cx="2158746" cy="495300"/>
            <a:chOff x="556260" y="1428750"/>
            <a:chExt cx="2158746" cy="495300"/>
          </a:xfrm>
        </p:grpSpPr>
        <p:sp>
          <p:nvSpPr>
            <p:cNvPr id="13" name="Rectangle 13"/>
            <p:cNvSpPr/>
            <p:nvPr/>
          </p:nvSpPr>
          <p:spPr>
            <a:xfrm>
              <a:off x="571500" y="1428750"/>
              <a:ext cx="4191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56260" y="1680210"/>
              <a:ext cx="21587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实战项目工作坊 · 三天班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06730" y="2306955"/>
            <a:ext cx="5960459" cy="1774507"/>
            <a:chOff x="506730" y="2306955"/>
            <a:chExt cx="5960459" cy="1774507"/>
          </a:xfrm>
        </p:grpSpPr>
        <p:sp>
          <p:nvSpPr>
            <p:cNvPr id="16" name="TextBox 16"/>
            <p:cNvSpPr txBox="1"/>
            <p:nvPr/>
          </p:nvSpPr>
          <p:spPr>
            <a:xfrm>
              <a:off x="506730" y="2306955"/>
              <a:ext cx="4021326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项目执行手册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8640" y="3253740"/>
              <a:ext cx="25540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一人一真实任务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0545" y="3746182"/>
              <a:ext cx="59166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从「选题」到「验收」—— 26 包项目卡 · 分组组织 · 环境准备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4476750"/>
            <a:ext cx="4152900" cy="419100"/>
            <a:chOff x="571500" y="4476750"/>
            <a:chExt cx="4152900" cy="419100"/>
          </a:xfrm>
        </p:grpSpPr>
        <p:sp>
          <p:nvSpPr>
            <p:cNvPr id="20" name="Rectangle 20"/>
            <p:cNvSpPr/>
            <p:nvPr/>
          </p:nvSpPr>
          <p:spPr>
            <a:xfrm>
              <a:off x="571500" y="4476750"/>
              <a:ext cx="1333500" cy="419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857235" y="4597718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26 包项目卡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76450" y="4476750"/>
              <a:ext cx="10477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2356352" y="4597718"/>
              <a:ext cx="4879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3 天课表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295650" y="4476750"/>
              <a:ext cx="1428750" cy="419100"/>
            </a:xfrm>
            <a:prstGeom prst="roundRect">
              <a:avLst>
                <a:gd name="adj" fmla="val 50000"/>
              </a:avLst>
            </a:prstGeom>
            <a:noFill/>
            <a:ln w="14288">
              <a:solidFill>
                <a:srgbClr val="FFFFFF">
                  <a:alpha val="70000"/>
                </a:srgbClr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3520321" y="45977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环境准备清单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5312" y="6013450"/>
            <a:ext cx="3355658" cy="220662"/>
            <a:chOff x="595312" y="6013450"/>
            <a:chExt cx="3355658" cy="220662"/>
          </a:xfrm>
        </p:grpSpPr>
        <p:sp>
          <p:nvSpPr>
            <p:cNvPr id="27" name="Freeform 27"/>
            <p:cNvSpPr/>
            <p:nvPr/>
          </p:nvSpPr>
          <p:spPr>
            <a:xfrm>
              <a:off x="595312" y="6013450"/>
              <a:ext cx="134938" cy="127000"/>
            </a:xfrm>
            <a:custGeom>
              <a:avLst/>
              <a:gdLst/>
              <a:ahLst/>
              <a:cxnLst/>
              <a:rect l="l" t="t" r="r" b="b"/>
              <a:pathLst>
                <a:path w="134938" h="127000">
                  <a:moveTo>
                    <a:pt x="103187" y="111125"/>
                  </a:moveTo>
                  <a:cubicBezTo>
                    <a:pt x="111955" y="111125"/>
                    <a:pt x="119062" y="118232"/>
                    <a:pt x="119062" y="127000"/>
                  </a:cubicBezTo>
                  <a:cubicBezTo>
                    <a:pt x="119062" y="118232"/>
                    <a:pt x="126170" y="111125"/>
                    <a:pt x="134938" y="111125"/>
                  </a:cubicBezTo>
                  <a:cubicBezTo>
                    <a:pt x="126170" y="111125"/>
                    <a:pt x="119062" y="104018"/>
                    <a:pt x="119062" y="95250"/>
                  </a:cubicBezTo>
                  <a:cubicBezTo>
                    <a:pt x="119062" y="104018"/>
                    <a:pt x="111955" y="111125"/>
                    <a:pt x="103187" y="111125"/>
                  </a:cubicBezTo>
                  <a:moveTo>
                    <a:pt x="103187" y="15875"/>
                  </a:moveTo>
                  <a:cubicBezTo>
                    <a:pt x="111955" y="15875"/>
                    <a:pt x="119062" y="22982"/>
                    <a:pt x="119062" y="31750"/>
                  </a:cubicBezTo>
                  <a:cubicBezTo>
                    <a:pt x="119062" y="22982"/>
                    <a:pt x="126170" y="15875"/>
                    <a:pt x="134938" y="15875"/>
                  </a:cubicBezTo>
                  <a:cubicBezTo>
                    <a:pt x="126170" y="15875"/>
                    <a:pt x="119062" y="8768"/>
                    <a:pt x="119062" y="0"/>
                  </a:cubicBezTo>
                  <a:cubicBezTo>
                    <a:pt x="119062" y="8768"/>
                    <a:pt x="111955" y="15875"/>
                    <a:pt x="103187" y="15875"/>
                  </a:cubicBezTo>
                  <a:moveTo>
                    <a:pt x="47625" y="111125"/>
                  </a:moveTo>
                  <a:cubicBezTo>
                    <a:pt x="47625" y="84822"/>
                    <a:pt x="68947" y="63500"/>
                    <a:pt x="95250" y="63500"/>
                  </a:cubicBezTo>
                  <a:cubicBezTo>
                    <a:pt x="68947" y="63500"/>
                    <a:pt x="47625" y="42178"/>
                    <a:pt x="47625" y="15875"/>
                  </a:cubicBezTo>
                  <a:cubicBezTo>
                    <a:pt x="47625" y="42178"/>
                    <a:pt x="26303" y="63500"/>
                    <a:pt x="0" y="63500"/>
                  </a:cubicBezTo>
                  <a:cubicBezTo>
                    <a:pt x="26303" y="63500"/>
                    <a:pt x="47625" y="84822"/>
                    <a:pt x="47625" y="111125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843915" y="602075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实战项目工作坊 —— 挑一件事，干成它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092529" cy="700088"/>
            <a:chOff x="571500" y="685800"/>
            <a:chExt cx="3092529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8925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三天课总览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2215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第 1 天懂 AI，第 2-3 天干成事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619250"/>
            <a:ext cx="10991850" cy="3714750"/>
            <a:chOff x="571500" y="1619250"/>
            <a:chExt cx="10991850" cy="3714750"/>
          </a:xfrm>
        </p:grpSpPr>
        <p:grpSp>
          <p:nvGrpSpPr>
            <p:cNvPr id="26" name="Group 26"/>
            <p:cNvGrpSpPr/>
            <p:nvPr/>
          </p:nvGrpSpPr>
          <p:grpSpPr>
            <a:xfrm>
              <a:off x="571500" y="1619250"/>
              <a:ext cx="3524250" cy="3714750"/>
              <a:chOff x="571500" y="1619250"/>
              <a:chExt cx="3524250" cy="3714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5715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5715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066354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第 1 天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48692" y="2200275"/>
                <a:ext cx="216986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懂 AI · 通识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810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923925" y="2981325"/>
                <a:ext cx="133350" cy="171450"/>
                <a:chOff x="923925" y="2981325"/>
                <a:chExt cx="133350" cy="17145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923925" y="3057525"/>
                  <a:ext cx="1333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76200"/>
                      </a:lnTo>
                      <a:cubicBezTo>
                        <a:pt x="133350" y="86721"/>
                        <a:pt x="124821" y="95250"/>
                        <a:pt x="114300" y="95250"/>
                      </a:cubicBezTo>
                      <a:lnTo>
                        <a:pt x="19050" y="95250"/>
                      </a:lnTo>
                      <a:cubicBezTo>
                        <a:pt x="8529" y="95250"/>
                        <a:pt x="0" y="86721"/>
                        <a:pt x="0" y="762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981075" y="30956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952500" y="298132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0" name="Rectangle 20"/>
              <p:cNvSpPr/>
              <p:nvPr/>
            </p:nvSpPr>
            <p:spPr>
              <a:xfrm>
                <a:off x="13144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55943" y="3001328"/>
                <a:ext cx="783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PPT1 · 38 页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5812" y="3612356"/>
                <a:ext cx="1866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上午：1-3 章，破误区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5812" y="38600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下午：4-5 章，提示词 + 实操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85812" y="4107656"/>
                <a:ext cx="79367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6-7 章：新 AI 与红线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85812" y="4412456"/>
                <a:ext cx="209995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收尾：9 条自检 + 发征集单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305300" y="1619250"/>
              <a:ext cx="3524250" cy="3714750"/>
              <a:chOff x="4305300" y="1619250"/>
              <a:chExt cx="3524250" cy="3714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3053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3053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3053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800153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第 2 天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03257" y="220027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立项 + 执行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5148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6" name="Group 36"/>
              <p:cNvGrpSpPr/>
              <p:nvPr/>
            </p:nvGrpSpPr>
            <p:grpSpPr>
              <a:xfrm>
                <a:off x="4634708" y="2981325"/>
                <a:ext cx="176916" cy="190500"/>
                <a:chOff x="4634708" y="2981325"/>
                <a:chExt cx="176916" cy="1905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4634708" y="2981325"/>
                  <a:ext cx="176531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531" h="171450">
                      <a:moveTo>
                        <a:pt x="118886" y="159372"/>
                      </a:moveTo>
                      <a:cubicBezTo>
                        <a:pt x="109837" y="164678"/>
                        <a:pt x="100026" y="168764"/>
                        <a:pt x="89692" y="171450"/>
                      </a:cubicBezTo>
                      <a:cubicBezTo>
                        <a:pt x="59732" y="163679"/>
                        <a:pt x="34205" y="144091"/>
                        <a:pt x="18946" y="117163"/>
                      </a:cubicBezTo>
                      <a:cubicBezTo>
                        <a:pt x="3686" y="90235"/>
                        <a:pt x="0" y="58269"/>
                        <a:pt x="8729" y="28575"/>
                      </a:cubicBezTo>
                      <a:cubicBezTo>
                        <a:pt x="38405" y="29933"/>
                        <a:pt x="67443" y="19684"/>
                        <a:pt x="89692" y="0"/>
                      </a:cubicBezTo>
                      <a:cubicBezTo>
                        <a:pt x="111940" y="19684"/>
                        <a:pt x="140979" y="29933"/>
                        <a:pt x="170654" y="28575"/>
                      </a:cubicBezTo>
                      <a:cubicBezTo>
                        <a:pt x="175512" y="45129"/>
                        <a:pt x="176531" y="62389"/>
                        <a:pt x="173826" y="79086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4791075" y="3162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4776788" y="3093705"/>
                  <a:ext cx="34836" cy="40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36" h="40020">
                      <a:moveTo>
                        <a:pt x="14288" y="40020"/>
                      </a:moveTo>
                      <a:cubicBezTo>
                        <a:pt x="23075" y="39992"/>
                        <a:pt x="30707" y="33965"/>
                        <a:pt x="32771" y="25424"/>
                      </a:cubicBezTo>
                      <a:cubicBezTo>
                        <a:pt x="34836" y="16882"/>
                        <a:pt x="30798" y="8035"/>
                        <a:pt x="22993" y="3997"/>
                      </a:cubicBezTo>
                      <a:cubicBezTo>
                        <a:pt x="15191" y="0"/>
                        <a:pt x="5664" y="1906"/>
                        <a:pt x="0" y="8597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7" name="Rectangle 37"/>
              <p:cNvSpPr/>
              <p:nvPr/>
            </p:nvSpPr>
            <p:spPr>
              <a:xfrm>
                <a:off x="50482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274278" y="30013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PPT2 + PPT3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19612" y="36123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上午：选题 + 立项 + 分组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519612" y="3917156"/>
                <a:ext cx="160377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六字段立项书，过 G1 关卡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519612" y="4183856"/>
                <a:ext cx="178492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下午：执行一（派任务、迭代）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519612" y="445055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讲师巡场，拉详案辅导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039100" y="1619250"/>
              <a:ext cx="3524250" cy="3714750"/>
              <a:chOff x="8039100" y="1619250"/>
              <a:chExt cx="3524250" cy="37147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0391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80391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80391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533954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第 3 天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942070" y="2200275"/>
                <a:ext cx="17183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执行 + 验收路演</a:t>
                </a:r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82486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54" name="Group 54"/>
              <p:cNvGrpSpPr/>
              <p:nvPr/>
            </p:nvGrpSpPr>
            <p:grpSpPr>
              <a:xfrm>
                <a:off x="8375482" y="2971800"/>
                <a:ext cx="158918" cy="190503"/>
                <a:chOff x="8375482" y="2971800"/>
                <a:chExt cx="158918" cy="190503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8420100" y="2990850"/>
                  <a:ext cx="2857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85725">
                      <a:moveTo>
                        <a:pt x="0" y="85725"/>
                      </a:move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8448675" y="2971800"/>
                  <a:ext cx="285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0">
                      <a:moveTo>
                        <a:pt x="0" y="33338"/>
                      </a:move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952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8477250" y="2990850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14288"/>
                      </a:move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8375482" y="3009900"/>
                  <a:ext cx="158918" cy="152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918" h="152403">
                      <a:moveTo>
                        <a:pt x="130343" y="14288"/>
                      </a:moveTo>
                      <a:cubicBezTo>
                        <a:pt x="130343" y="6397"/>
                        <a:pt x="136740" y="0"/>
                        <a:pt x="144630" y="0"/>
                      </a:cubicBezTo>
                      <a:cubicBezTo>
                        <a:pt x="152521" y="0"/>
                        <a:pt x="158918" y="6397"/>
                        <a:pt x="158918" y="14288"/>
                      </a:cubicBezTo>
                      <a:lnTo>
                        <a:pt x="158918" y="95250"/>
                      </a:lnTo>
                      <a:cubicBezTo>
                        <a:pt x="158918" y="126813"/>
                        <a:pt x="133331" y="152400"/>
                        <a:pt x="101768" y="152400"/>
                      </a:cubicBezTo>
                      <a:lnTo>
                        <a:pt x="82718" y="152400"/>
                      </a:lnTo>
                      <a:lnTo>
                        <a:pt x="84699" y="152400"/>
                      </a:lnTo>
                      <a:cubicBezTo>
                        <a:pt x="65473" y="152403"/>
                        <a:pt x="47534" y="142739"/>
                        <a:pt x="36960" y="126683"/>
                      </a:cubicBezTo>
                      <a:cubicBezTo>
                        <a:pt x="36335" y="125732"/>
                        <a:pt x="35713" y="124779"/>
                        <a:pt x="35093" y="123825"/>
                      </a:cubicBezTo>
                      <a:cubicBezTo>
                        <a:pt x="32121" y="119263"/>
                        <a:pt x="21691" y="101079"/>
                        <a:pt x="3794" y="69266"/>
                      </a:cubicBezTo>
                      <a:cubicBezTo>
                        <a:pt x="0" y="62523"/>
                        <a:pt x="2263" y="53985"/>
                        <a:pt x="8899" y="50006"/>
                      </a:cubicBezTo>
                      <a:cubicBezTo>
                        <a:pt x="15893" y="45810"/>
                        <a:pt x="24845" y="46909"/>
                        <a:pt x="30616" y="52673"/>
                      </a:cubicBezTo>
                      <a:lnTo>
                        <a:pt x="44618" y="6667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5" name="Rectangle 55"/>
              <p:cNvSpPr/>
              <p:nvPr/>
            </p:nvSpPr>
            <p:spPr>
              <a:xfrm>
                <a:off x="87820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008078" y="30013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验收清单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53412" y="361235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上午：执行二（回归 + 打磨）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53412" y="3860006"/>
                <a:ext cx="124372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下午：验收（三件套）+ 路演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53412" y="416480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评分：40/25/15/20 四维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253412" y="441245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结业：三件套齐，当场发证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571500" y="5638800"/>
            <a:ext cx="11049000" cy="457200"/>
            <a:chOff x="571500" y="5638800"/>
            <a:chExt cx="11049000" cy="457200"/>
          </a:xfrm>
        </p:grpSpPr>
        <p:sp>
          <p:nvSpPr>
            <p:cNvPr id="63" name="Rectangle 63"/>
            <p:cNvSpPr/>
            <p:nvPr/>
          </p:nvSpPr>
          <p:spPr>
            <a:xfrm>
              <a:off x="571500" y="56388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4" name="Rectangle 64"/>
            <p:cNvSpPr/>
            <p:nvPr/>
          </p:nvSpPr>
          <p:spPr>
            <a:xfrm>
              <a:off x="571500" y="56388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69" name="Group 69"/>
            <p:cNvGrpSpPr/>
            <p:nvPr/>
          </p:nvGrpSpPr>
          <p:grpSpPr>
            <a:xfrm>
              <a:off x="902618" y="5778500"/>
              <a:ext cx="132432" cy="158753"/>
              <a:chOff x="902618" y="5778500"/>
              <a:chExt cx="132432" cy="15875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939800" y="5794375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71438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963612" y="5778500"/>
                <a:ext cx="2381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9375">
                    <a:moveTo>
                      <a:pt x="0" y="27781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7937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7" name="Freeform 67"/>
              <p:cNvSpPr/>
              <p:nvPr/>
            </p:nvSpPr>
            <p:spPr>
              <a:xfrm>
                <a:off x="987425" y="5794375"/>
                <a:ext cx="23812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63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902618" y="5810250"/>
                <a:ext cx="132432" cy="127003"/>
              </a:xfrm>
              <a:custGeom>
                <a:avLst/>
                <a:gdLst/>
                <a:ahLst/>
                <a:cxnLst/>
                <a:rect l="l" t="t" r="r" b="b"/>
                <a:pathLst>
                  <a:path w="132432" h="127003">
                    <a:moveTo>
                      <a:pt x="108619" y="11906"/>
                    </a:moveTo>
                    <a:cubicBezTo>
                      <a:pt x="108619" y="5331"/>
                      <a:pt x="113950" y="0"/>
                      <a:pt x="120525" y="0"/>
                    </a:cubicBezTo>
                    <a:cubicBezTo>
                      <a:pt x="127101" y="0"/>
                      <a:pt x="132432" y="5331"/>
                      <a:pt x="132432" y="11906"/>
                    </a:cubicBezTo>
                    <a:lnTo>
                      <a:pt x="132432" y="79375"/>
                    </a:lnTo>
                    <a:cubicBezTo>
                      <a:pt x="132432" y="105678"/>
                      <a:pt x="111109" y="127000"/>
                      <a:pt x="84807" y="127000"/>
                    </a:cubicBezTo>
                    <a:lnTo>
                      <a:pt x="68932" y="127000"/>
                    </a:lnTo>
                    <a:lnTo>
                      <a:pt x="70583" y="127000"/>
                    </a:lnTo>
                    <a:cubicBezTo>
                      <a:pt x="54561" y="127003"/>
                      <a:pt x="39612" y="118949"/>
                      <a:pt x="30800" y="105569"/>
                    </a:cubicBezTo>
                    <a:cubicBezTo>
                      <a:pt x="30279" y="104776"/>
                      <a:pt x="29761" y="103983"/>
                      <a:pt x="29244" y="103188"/>
                    </a:cubicBezTo>
                    <a:cubicBezTo>
                      <a:pt x="26768" y="99385"/>
                      <a:pt x="18076" y="84233"/>
                      <a:pt x="3161" y="57721"/>
                    </a:cubicBezTo>
                    <a:cubicBezTo>
                      <a:pt x="0" y="52102"/>
                      <a:pt x="1886" y="44987"/>
                      <a:pt x="7416" y="41672"/>
                    </a:cubicBezTo>
                    <a:cubicBezTo>
                      <a:pt x="13244" y="38175"/>
                      <a:pt x="20705" y="39091"/>
                      <a:pt x="25513" y="43894"/>
                    </a:cubicBezTo>
                    <a:lnTo>
                      <a:pt x="37182" y="5556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1163955" y="5788342"/>
              <a:ext cx="59223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分组 3-4 人（导演/产品/执行/QA）；个人班 = 一人一项目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2" name="TextBox 7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 / 33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513153" cy="700088"/>
            <a:chOff x="571500" y="685800"/>
            <a:chExt cx="3513153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选题五步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3016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小 · 高频 · 可验证——三问对，选题就定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1619250"/>
            <a:ext cx="11049000" cy="3238500"/>
            <a:chOff x="571500" y="1619250"/>
            <a:chExt cx="11049000" cy="32385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1619250"/>
              <a:ext cx="2057400" cy="3238500"/>
              <a:chOff x="571500" y="1619250"/>
              <a:chExt cx="2057400" cy="3238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14287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387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13906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1533525" y="2505075"/>
                <a:ext cx="133350" cy="171450"/>
                <a:chOff x="1533525" y="2505075"/>
                <a:chExt cx="133350" cy="17145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1533525" y="25050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04775" y="0"/>
                      </a:lnTo>
                      <a:cubicBezTo>
                        <a:pt x="120557" y="0"/>
                        <a:pt x="133350" y="12793"/>
                        <a:pt x="133350" y="28575"/>
                      </a:cubicBezTo>
                      <a:lnTo>
                        <a:pt x="133350" y="142875"/>
                      </a:lnTo>
                      <a:cubicBezTo>
                        <a:pt x="133350" y="158657"/>
                        <a:pt x="120557" y="171450"/>
                        <a:pt x="104775" y="171450"/>
                      </a:cubicBezTo>
                      <a:lnTo>
                        <a:pt x="28575" y="171450"/>
                      </a:lnTo>
                      <a:cubicBezTo>
                        <a:pt x="12793" y="171450"/>
                        <a:pt x="0" y="158657"/>
                        <a:pt x="0" y="14287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5" name="Freeform 15"/>
                <p:cNvSpPr/>
                <p:nvPr/>
              </p:nvSpPr>
              <p:spPr>
                <a:xfrm>
                  <a:off x="1581150" y="25812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1581150" y="253365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1571625" y="264795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3711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发征集单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76839" y="32775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谁来填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8001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70873" y="38028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课前 3 天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70873" y="4031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人手一份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819400" y="1619250"/>
              <a:ext cx="2057400" cy="3238500"/>
              <a:chOff x="2819400" y="1619250"/>
              <a:chExt cx="2057400" cy="3238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28194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36766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7866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36385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3762375" y="2505075"/>
                <a:ext cx="171450" cy="171450"/>
                <a:chOff x="3762375" y="2505075"/>
                <a:chExt cx="171450" cy="17145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3762375" y="2505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3848100" y="25622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3838575" y="2590800"/>
                  <a:ext cx="190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38100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38100"/>
                      </a:lnTo>
                      <a:lnTo>
                        <a:pt x="1905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36190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学员选题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554730" y="3277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26 包里挑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30480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270680" y="3745706"/>
                <a:ext cx="115484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挑一件干得完的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440013" y="397430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不行当场换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5067300" y="1619250"/>
              <a:ext cx="2057400" cy="3238500"/>
              <a:chOff x="5067300" y="1619250"/>
              <a:chExt cx="2057400" cy="32385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0673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59245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0345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58864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6010275" y="2505075"/>
                <a:ext cx="171450" cy="171450"/>
                <a:chOff x="6010275" y="2505075"/>
                <a:chExt cx="171450" cy="17145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6086475" y="25812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6048375" y="25431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6010275" y="2505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8669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讲师筛查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802630" y="3277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三条过筛</a:t>
                </a: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52959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609153" y="38028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三条件全中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766673" y="4031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不合格换包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315200" y="1619250"/>
              <a:ext cx="2057400" cy="3238500"/>
              <a:chOff x="7315200" y="1619250"/>
              <a:chExt cx="2057400" cy="32385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73152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724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2824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81343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60" name="Group 60"/>
              <p:cNvGrpSpPr/>
              <p:nvPr/>
            </p:nvGrpSpPr>
            <p:grpSpPr>
              <a:xfrm>
                <a:off x="8277225" y="2505075"/>
                <a:ext cx="133350" cy="171450"/>
                <a:chOff x="8277225" y="2505075"/>
                <a:chExt cx="133350" cy="171450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8277225" y="2581275"/>
                  <a:ext cx="1333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76200"/>
                      </a:lnTo>
                      <a:cubicBezTo>
                        <a:pt x="133350" y="86721"/>
                        <a:pt x="124821" y="95250"/>
                        <a:pt x="114300" y="95250"/>
                      </a:cubicBezTo>
                      <a:lnTo>
                        <a:pt x="19050" y="95250"/>
                      </a:lnTo>
                      <a:cubicBezTo>
                        <a:pt x="8529" y="95250"/>
                        <a:pt x="0" y="86721"/>
                        <a:pt x="0" y="762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8334375" y="26193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8305800" y="2505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81148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分组结对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980521" y="32775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3-4 人/组</a:t>
                </a: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75438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939751" y="3802856"/>
                <a:ext cx="80829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四角色到人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014573" y="4031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一人一任务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9563100" y="1619250"/>
              <a:ext cx="2057400" cy="3238500"/>
              <a:chOff x="9563100" y="1619250"/>
              <a:chExt cx="2057400" cy="32385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95631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68" name="Ellipse 68"/>
              <p:cNvSpPr/>
              <p:nvPr/>
            </p:nvSpPr>
            <p:spPr>
              <a:xfrm>
                <a:off x="104203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5303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103822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75" name="Group 75"/>
              <p:cNvGrpSpPr/>
              <p:nvPr/>
            </p:nvGrpSpPr>
            <p:grpSpPr>
              <a:xfrm>
                <a:off x="10515600" y="2514600"/>
                <a:ext cx="152400" cy="152400"/>
                <a:chOff x="10515600" y="2514600"/>
                <a:chExt cx="152400" cy="152400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10515600" y="2514600"/>
                  <a:ext cx="571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4762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28575"/>
                      </a:lnTo>
                      <a:cubicBezTo>
                        <a:pt x="57150" y="39096"/>
                        <a:pt x="48621" y="47625"/>
                        <a:pt x="38100" y="47625"/>
                      </a:cubicBezTo>
                      <a:lnTo>
                        <a:pt x="19050" y="47625"/>
                      </a:lnTo>
                      <a:cubicBezTo>
                        <a:pt x="8529" y="47625"/>
                        <a:pt x="0" y="39096"/>
                        <a:pt x="0" y="2857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2" name="Freeform 72"/>
                <p:cNvSpPr/>
                <p:nvPr/>
              </p:nvSpPr>
              <p:spPr>
                <a:xfrm>
                  <a:off x="10515600" y="2600325"/>
                  <a:ext cx="571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6667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47625"/>
                      </a:lnTo>
                      <a:cubicBezTo>
                        <a:pt x="57150" y="58146"/>
                        <a:pt x="48621" y="66675"/>
                        <a:pt x="38100" y="66675"/>
                      </a:cubicBezTo>
                      <a:lnTo>
                        <a:pt x="19050" y="66675"/>
                      </a:lnTo>
                      <a:cubicBezTo>
                        <a:pt x="8529" y="66675"/>
                        <a:pt x="0" y="58146"/>
                        <a:pt x="0" y="4762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3" name="Freeform 73"/>
                <p:cNvSpPr/>
                <p:nvPr/>
              </p:nvSpPr>
              <p:spPr>
                <a:xfrm>
                  <a:off x="10610850" y="2514600"/>
                  <a:ext cx="571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6667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47625"/>
                      </a:lnTo>
                      <a:cubicBezTo>
                        <a:pt x="57150" y="58146"/>
                        <a:pt x="48621" y="66675"/>
                        <a:pt x="38100" y="66675"/>
                      </a:cubicBezTo>
                      <a:lnTo>
                        <a:pt x="19050" y="66675"/>
                      </a:lnTo>
                      <a:cubicBezTo>
                        <a:pt x="8529" y="66675"/>
                        <a:pt x="0" y="58146"/>
                        <a:pt x="0" y="4762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10610850" y="2619375"/>
                  <a:ext cx="571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4762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28575"/>
                      </a:lnTo>
                      <a:cubicBezTo>
                        <a:pt x="57150" y="39096"/>
                        <a:pt x="48621" y="47625"/>
                        <a:pt x="38100" y="47625"/>
                      </a:cubicBezTo>
                      <a:lnTo>
                        <a:pt x="19050" y="47625"/>
                      </a:lnTo>
                      <a:cubicBezTo>
                        <a:pt x="8529" y="47625"/>
                        <a:pt x="0" y="39096"/>
                        <a:pt x="0" y="2857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76" name="TextBox 76"/>
              <p:cNvSpPr txBox="1"/>
              <p:nvPr/>
            </p:nvSpPr>
            <p:spPr>
              <a:xfrm>
                <a:off x="103627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立项冻结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10158412" y="32775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六字段</a:t>
                </a:r>
              </a:p>
            </p:txBody>
          </p:sp>
          <p:sp>
            <p:nvSpPr>
              <p:cNvPr id="78" name="Line 78"/>
              <p:cNvSpPr/>
              <p:nvPr/>
            </p:nvSpPr>
            <p:spPr>
              <a:xfrm>
                <a:off x="97917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0183713" y="38028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立项书填齐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0093139" y="4031456"/>
                <a:ext cx="9973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冻结，开工</a:t>
                </a: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571500" y="5334000"/>
            <a:ext cx="11049000" cy="457200"/>
            <a:chOff x="571500" y="5334000"/>
            <a:chExt cx="11049000" cy="457200"/>
          </a:xfrm>
        </p:grpSpPr>
        <p:sp>
          <p:nvSpPr>
            <p:cNvPr id="83" name="Rectangle 83"/>
            <p:cNvSpPr/>
            <p:nvPr/>
          </p:nvSpPr>
          <p:spPr>
            <a:xfrm>
              <a:off x="571500" y="5334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4" name="Rectangle 84"/>
            <p:cNvSpPr/>
            <p:nvPr/>
          </p:nvSpPr>
          <p:spPr>
            <a:xfrm>
              <a:off x="571500" y="5334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5" name="TextBox 85"/>
            <p:cNvSpPr txBox="1"/>
            <p:nvPr/>
          </p:nvSpPr>
          <p:spPr>
            <a:xfrm>
              <a:off x="859155" y="5483542"/>
              <a:ext cx="56293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口诀：先征集、再选题、后筛查——三条件过线，才准立项。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7" name="TextBox 87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 / 33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791313" cy="700088"/>
            <a:chOff x="571500" y="685800"/>
            <a:chExt cx="4791313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08915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环境准备：六样点齐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5798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课前 3 天逐样点齐——账号、网络、材料，三样最容易翻车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71500" y="1619250"/>
            <a:ext cx="10991850" cy="3943350"/>
            <a:chOff x="571500" y="1619250"/>
            <a:chExt cx="10991850" cy="3943350"/>
          </a:xfrm>
        </p:grpSpPr>
        <p:grpSp>
          <p:nvGrpSpPr>
            <p:cNvPr id="18" name="Group 18"/>
            <p:cNvGrpSpPr/>
            <p:nvPr/>
          </p:nvGrpSpPr>
          <p:grpSpPr>
            <a:xfrm>
              <a:off x="571500" y="1619250"/>
              <a:ext cx="3524250" cy="1905000"/>
              <a:chOff x="571500" y="1619250"/>
              <a:chExt cx="3524250" cy="1905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6286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723671" y="1897618"/>
                <a:ext cx="190157" cy="168564"/>
              </a:xfrm>
              <a:custGeom>
                <a:avLst/>
                <a:gdLst/>
                <a:ahLst/>
                <a:cxnLst/>
                <a:rect l="l" t="t" r="r" b="b"/>
                <a:pathLst>
                  <a:path w="190157" h="168564">
                    <a:moveTo>
                      <a:pt x="9754" y="159782"/>
                    </a:moveTo>
                    <a:lnTo>
                      <a:pt x="22136" y="122634"/>
                    </a:lnTo>
                    <a:cubicBezTo>
                      <a:pt x="0" y="89897"/>
                      <a:pt x="8553" y="47654"/>
                      <a:pt x="42139" y="23822"/>
                    </a:cubicBezTo>
                    <a:cubicBezTo>
                      <a:pt x="75724" y="0"/>
                      <a:pt x="123958" y="1953"/>
                      <a:pt x="154962" y="28394"/>
                    </a:cubicBezTo>
                    <a:cubicBezTo>
                      <a:pt x="185966" y="54845"/>
                      <a:pt x="190157" y="97603"/>
                      <a:pt x="164763" y="128416"/>
                    </a:cubicBezTo>
                    <a:cubicBezTo>
                      <a:pt x="139370" y="159229"/>
                      <a:pt x="92231" y="168564"/>
                      <a:pt x="54521" y="150257"/>
                    </a:cubicBezTo>
                    <a:lnTo>
                      <a:pt x="9754" y="15978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04900" y="1895475"/>
                <a:ext cx="12667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① 账号池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86765" y="2306002"/>
                <a:ext cx="25819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WorkBuddy 账号人手 1 个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86765" y="2553652"/>
                <a:ext cx="27290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数量 = 学员数 × 1.2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86765" y="27632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（20% 备用，防掉线）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6765" y="3144202"/>
                <a:ext cx="25406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T-3 天：逐个登录测试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05300" y="1619250"/>
              <a:ext cx="3524250" cy="1905000"/>
              <a:chOff x="4305300" y="1619250"/>
              <a:chExt cx="3524250" cy="1905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053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43624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5" name="Group 25"/>
              <p:cNvGrpSpPr/>
              <p:nvPr/>
            </p:nvGrpSpPr>
            <p:grpSpPr>
              <a:xfrm>
                <a:off x="4467225" y="1895475"/>
                <a:ext cx="171450" cy="161925"/>
                <a:chOff x="4467225" y="1895475"/>
                <a:chExt cx="171450" cy="16192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4467225" y="1933575"/>
                  <a:ext cx="17145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2382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04775"/>
                      </a:lnTo>
                      <a:cubicBezTo>
                        <a:pt x="171450" y="115296"/>
                        <a:pt x="162921" y="123825"/>
                        <a:pt x="152400" y="123825"/>
                      </a:cubicBezTo>
                      <a:lnTo>
                        <a:pt x="19050" y="123825"/>
                      </a:lnTo>
                      <a:cubicBezTo>
                        <a:pt x="8529" y="123825"/>
                        <a:pt x="0" y="115296"/>
                        <a:pt x="0" y="10477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2" name="Freeform 22"/>
                <p:cNvSpPr/>
                <p:nvPr/>
              </p:nvSpPr>
              <p:spPr>
                <a:xfrm>
                  <a:off x="4514850" y="1895475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0" y="38100"/>
                      </a:move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57150" y="0"/>
                      </a:lnTo>
                      <a:cubicBezTo>
                        <a:pt x="67671" y="0"/>
                        <a:pt x="76200" y="8529"/>
                        <a:pt x="76200" y="19050"/>
                      </a:cubicBezTo>
                      <a:lnTo>
                        <a:pt x="7620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4552950" y="19812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4467225" y="1990725"/>
                  <a:ext cx="171450" cy="27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7171">
                      <a:moveTo>
                        <a:pt x="0" y="0"/>
                      </a:moveTo>
                      <a:cubicBezTo>
                        <a:pt x="53921" y="27171"/>
                        <a:pt x="117529" y="27171"/>
                        <a:pt x="171450" y="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4838700" y="18954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② 网络与演示环境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520565" y="23060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全场稳定网络，演示别翻车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520565" y="2553652"/>
                <a:ext cx="26870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演示账号 + 演示数据提前联调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20565" y="2763202"/>
                <a:ext cx="17138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备用热点 / 4G 兜底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20565" y="3144202"/>
                <a:ext cx="27391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T-1 天：讲师全流程走一遍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8039100" y="1619250"/>
              <a:ext cx="3524250" cy="1905000"/>
              <a:chOff x="8039100" y="1619250"/>
              <a:chExt cx="3524250" cy="1905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0391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80962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3" name="Group 43"/>
              <p:cNvGrpSpPr/>
              <p:nvPr/>
            </p:nvGrpSpPr>
            <p:grpSpPr>
              <a:xfrm>
                <a:off x="8220075" y="1885950"/>
                <a:ext cx="133350" cy="180975"/>
                <a:chOff x="8220075" y="1885950"/>
                <a:chExt cx="133350" cy="180975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8229600" y="190500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57150"/>
                      </a:lnTo>
                      <a:cubicBezTo>
                        <a:pt x="114300" y="67671"/>
                        <a:pt x="105771" y="76200"/>
                        <a:pt x="95250" y="76200"/>
                      </a:cubicBezTo>
                      <a:lnTo>
                        <a:pt x="19050" y="76200"/>
                      </a:lnTo>
                      <a:cubicBezTo>
                        <a:pt x="8529" y="76200"/>
                        <a:pt x="0" y="67671"/>
                        <a:pt x="0" y="571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8286750" y="1885950"/>
                  <a:ext cx="952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">
                      <a:moveTo>
                        <a:pt x="0" y="0"/>
                      </a:move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8258175" y="1981200"/>
                  <a:ext cx="95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5725">
                      <a:moveTo>
                        <a:pt x="0" y="0"/>
                      </a:moveTo>
                      <a:lnTo>
                        <a:pt x="0" y="857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8315325" y="1981200"/>
                  <a:ext cx="95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5725">
                      <a:moveTo>
                        <a:pt x="0" y="0"/>
                      </a:moveTo>
                      <a:lnTo>
                        <a:pt x="0" y="857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8220075" y="2000250"/>
                  <a:ext cx="381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9050">
                      <a:moveTo>
                        <a:pt x="0" y="1905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8315325" y="2000250"/>
                  <a:ext cx="381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9050">
                      <a:moveTo>
                        <a:pt x="0" y="0"/>
                      </a:moveTo>
                      <a:lnTo>
                        <a:pt x="3810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8258175" y="203835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1" name="Freeform 41"/>
                <p:cNvSpPr/>
                <p:nvPr/>
              </p:nvSpPr>
              <p:spPr>
                <a:xfrm>
                  <a:off x="8267700" y="1943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2" name="Freeform 42"/>
                <p:cNvSpPr/>
                <p:nvPr/>
              </p:nvSpPr>
              <p:spPr>
                <a:xfrm>
                  <a:off x="8305800" y="1943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8572500" y="1895475"/>
                <a:ext cx="127725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③ 材料资料库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254365" y="2306002"/>
                <a:ext cx="25469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学员材料提前 3 天入资料库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254365" y="2553652"/>
                <a:ext cx="26309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脱敏到位，无涉密无隐私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254365" y="2763202"/>
                <a:ext cx="2997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入库清单讲师逐份过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54365" y="3144202"/>
                <a:ext cx="29817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对照《学员课前准备单》催收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571500" y="3657600"/>
              <a:ext cx="3524250" cy="1905000"/>
              <a:chOff x="571500" y="3657600"/>
              <a:chExt cx="3524250" cy="1905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5715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6286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55" name="Group 55"/>
              <p:cNvGrpSpPr/>
              <p:nvPr/>
            </p:nvGrpSpPr>
            <p:grpSpPr>
              <a:xfrm>
                <a:off x="742950" y="3933825"/>
                <a:ext cx="152400" cy="171450"/>
                <a:chOff x="742950" y="3933825"/>
                <a:chExt cx="152400" cy="17145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42950" y="3933825"/>
                  <a:ext cx="1524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57150">
                      <a:moveTo>
                        <a:pt x="0" y="28575"/>
                      </a:moveTo>
                      <a:cubicBezTo>
                        <a:pt x="0" y="44357"/>
                        <a:pt x="34116" y="57150"/>
                        <a:pt x="76200" y="57150"/>
                      </a:cubicBezTo>
                      <a:cubicBezTo>
                        <a:pt x="118284" y="57150"/>
                        <a:pt x="152400" y="44357"/>
                        <a:pt x="152400" y="28575"/>
                      </a:cubicBezTo>
                      <a:cubicBezTo>
                        <a:pt x="152400" y="12793"/>
                        <a:pt x="118284" y="0"/>
                        <a:pt x="76200" y="0"/>
                      </a:cubicBezTo>
                      <a:cubicBezTo>
                        <a:pt x="34116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742950" y="39624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4" name="Freeform 54"/>
                <p:cNvSpPr/>
                <p:nvPr/>
              </p:nvSpPr>
              <p:spPr>
                <a:xfrm>
                  <a:off x="742950" y="40195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1104900" y="3933825"/>
                <a:ext cx="12667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④ 模板与题库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86765" y="4344352"/>
                <a:ext cx="24279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征集单 + 立项书预填（选中包）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86765" y="4592002"/>
                <a:ext cx="25889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验收清单打印，人手 1 份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86765" y="4801552"/>
                <a:ext cx="12098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项目包 = 讲师辅导详案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86765" y="5182552"/>
                <a:ext cx="257008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评分表 + 计时器备好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4305300" y="3657600"/>
              <a:ext cx="3524250" cy="1905000"/>
              <a:chOff x="4305300" y="3657600"/>
              <a:chExt cx="3524250" cy="19050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43053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63" name="Ellipse 63"/>
              <p:cNvSpPr/>
              <p:nvPr/>
            </p:nvSpPr>
            <p:spPr>
              <a:xfrm>
                <a:off x="43624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70" name="Group 70"/>
              <p:cNvGrpSpPr/>
              <p:nvPr/>
            </p:nvGrpSpPr>
            <p:grpSpPr>
              <a:xfrm>
                <a:off x="4467225" y="3933825"/>
                <a:ext cx="171450" cy="171450"/>
                <a:chOff x="4467225" y="3933825"/>
                <a:chExt cx="171450" cy="171450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4467225" y="4029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cubicBezTo>
                        <a:pt x="76200" y="59142"/>
                        <a:pt x="59142" y="76200"/>
                        <a:pt x="38100" y="76200"/>
                      </a:cubicBez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5" name="Freeform 65"/>
                <p:cNvSpPr/>
                <p:nvPr/>
              </p:nvSpPr>
              <p:spPr>
                <a:xfrm>
                  <a:off x="4516755" y="3933825"/>
                  <a:ext cx="121920" cy="97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20" h="97155">
                      <a:moveTo>
                        <a:pt x="121920" y="0"/>
                      </a:moveTo>
                      <a:cubicBezTo>
                        <a:pt x="66538" y="7575"/>
                        <a:pt x="19747" y="44862"/>
                        <a:pt x="0" y="9715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6" name="Freeform 66"/>
                <p:cNvSpPr/>
                <p:nvPr/>
              </p:nvSpPr>
              <p:spPr>
                <a:xfrm>
                  <a:off x="4541520" y="3933825"/>
                  <a:ext cx="97155" cy="121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55" h="121920">
                      <a:moveTo>
                        <a:pt x="97155" y="0"/>
                      </a:moveTo>
                      <a:cubicBezTo>
                        <a:pt x="89580" y="55382"/>
                        <a:pt x="52293" y="102173"/>
                        <a:pt x="0" y="12192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7" name="Freeform 67"/>
                <p:cNvSpPr/>
                <p:nvPr/>
              </p:nvSpPr>
              <p:spPr>
                <a:xfrm>
                  <a:off x="4539615" y="3990975"/>
                  <a:ext cx="41910" cy="41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" h="41910">
                      <a:moveTo>
                        <a:pt x="0" y="0"/>
                      </a:moveTo>
                      <a:cubicBezTo>
                        <a:pt x="18509" y="8543"/>
                        <a:pt x="33367" y="23401"/>
                        <a:pt x="41910" y="4191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8" name="Freeform 68"/>
                <p:cNvSpPr/>
                <p:nvPr/>
              </p:nvSpPr>
              <p:spPr>
                <a:xfrm>
                  <a:off x="4600575" y="40671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9" name="Freeform 69"/>
                <p:cNvSpPr/>
                <p:nvPr/>
              </p:nvSpPr>
              <p:spPr>
                <a:xfrm>
                  <a:off x="4467225" y="39338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4838700" y="3933825"/>
                <a:ext cx="12667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⑤ 评分与验收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520565" y="4344352"/>
                <a:ext cx="16298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百分制四维：40/25/15/20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4520565" y="4592002"/>
                <a:ext cx="21409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三档判定：过 / 待修 / 不过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4520565" y="5182552"/>
                <a:ext cx="29890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待修 = 7 天窗口重验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8039100" y="3657600"/>
              <a:ext cx="3524250" cy="1905000"/>
              <a:chOff x="8039100" y="3657600"/>
              <a:chExt cx="3524250" cy="19050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0391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77" name="Ellipse 77"/>
              <p:cNvSpPr/>
              <p:nvPr/>
            </p:nvSpPr>
            <p:spPr>
              <a:xfrm>
                <a:off x="80962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81" name="Group 81"/>
              <p:cNvGrpSpPr/>
              <p:nvPr/>
            </p:nvGrpSpPr>
            <p:grpSpPr>
              <a:xfrm>
                <a:off x="8201025" y="3943350"/>
                <a:ext cx="171450" cy="152400"/>
                <a:chOff x="8201025" y="3943350"/>
                <a:chExt cx="171450" cy="152400"/>
              </a:xfrm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8201025" y="3981450"/>
                  <a:ext cx="381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6200">
                      <a:moveTo>
                        <a:pt x="38100" y="0"/>
                      </a:moveTo>
                      <a:lnTo>
                        <a:pt x="0" y="38100"/>
                      </a:lnTo>
                      <a:lnTo>
                        <a:pt x="3810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8334375" y="3981450"/>
                  <a:ext cx="381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6200">
                      <a:moveTo>
                        <a:pt x="0" y="0"/>
                      </a:moveTo>
                      <a:lnTo>
                        <a:pt x="38100" y="38100"/>
                      </a:ln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80" name="Freeform 80"/>
                <p:cNvSpPr/>
                <p:nvPr/>
              </p:nvSpPr>
              <p:spPr>
                <a:xfrm>
                  <a:off x="8267700" y="3943350"/>
                  <a:ext cx="381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52400">
                      <a:moveTo>
                        <a:pt x="38100" y="0"/>
                      </a:moveTo>
                      <a:lnTo>
                        <a:pt x="0" y="1524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82" name="TextBox 82"/>
              <p:cNvSpPr txBox="1"/>
              <p:nvPr/>
            </p:nvSpPr>
            <p:spPr>
              <a:xfrm>
                <a:off x="8572500" y="3933825"/>
                <a:ext cx="84670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⑥ 分工与彩排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8254365" y="43443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讲师 1：主讲 + 点评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254365" y="4592002"/>
                <a:ext cx="27990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助教 1-2：计时、截图、卡点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254365" y="5182552"/>
                <a:ext cx="25259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T-1 天：全流程彩排一次</a:t>
                </a:r>
              </a:p>
            </p:txBody>
          </p:sp>
        </p:grpSp>
      </p:grpSp>
      <p:grpSp>
        <p:nvGrpSpPr>
          <p:cNvPr id="91" name="Group 91"/>
          <p:cNvGrpSpPr/>
          <p:nvPr/>
        </p:nvGrpSpPr>
        <p:grpSpPr>
          <a:xfrm>
            <a:off x="571500" y="5753100"/>
            <a:ext cx="11049000" cy="419100"/>
            <a:chOff x="571500" y="5753100"/>
            <a:chExt cx="11049000" cy="419100"/>
          </a:xfrm>
        </p:grpSpPr>
        <p:sp>
          <p:nvSpPr>
            <p:cNvPr id="88" name="Rectangle 88"/>
            <p:cNvSpPr/>
            <p:nvPr/>
          </p:nvSpPr>
          <p:spPr>
            <a:xfrm>
              <a:off x="571500" y="5753100"/>
              <a:ext cx="11049000" cy="419100"/>
            </a:xfrm>
            <a:prstGeom prst="roundRect">
              <a:avLst>
                <a:gd name="adj" fmla="val 36364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9" name="Rectangle 89"/>
            <p:cNvSpPr/>
            <p:nvPr/>
          </p:nvSpPr>
          <p:spPr>
            <a:xfrm>
              <a:off x="571500" y="575310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0" name="TextBox 90"/>
            <p:cNvSpPr txBox="1"/>
            <p:nvPr/>
          </p:nvSpPr>
          <p:spPr>
            <a:xfrm>
              <a:off x="859155" y="5874068"/>
              <a:ext cx="51662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教学点：准备做在课前 3 天——账号、材料、模板，三样最容易翻车。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92" name="TextBox 9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4 / 33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722608" cy="700088"/>
            <a:chOff x="571500" y="685800"/>
            <a:chExt cx="372260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5225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项目选型规则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班型决定包型，纪律决定节奏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1619250"/>
            <a:ext cx="5334000" cy="3524250"/>
            <a:chOff x="571500" y="1619250"/>
            <a:chExt cx="5334000" cy="35242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57250" y="190500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5" name="Group 15"/>
            <p:cNvGrpSpPr/>
            <p:nvPr/>
          </p:nvGrpSpPr>
          <p:grpSpPr>
            <a:xfrm>
              <a:off x="1004888" y="2085975"/>
              <a:ext cx="200025" cy="144463"/>
              <a:chOff x="1004888" y="2085975"/>
              <a:chExt cx="200025" cy="14446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27112" y="21859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138238" y="21859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004888" y="2085975"/>
                <a:ext cx="2000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22238">
                    <a:moveTo>
                      <a:pt x="22225" y="122238"/>
                    </a:moveTo>
                    <a:lnTo>
                      <a:pt x="0" y="122238"/>
                    </a:lnTo>
                    <a:lnTo>
                      <a:pt x="0" y="55563"/>
                    </a:lnTo>
                    <a:lnTo>
                      <a:pt x="22225" y="0"/>
                    </a:lnTo>
                    <a:lnTo>
                      <a:pt x="122238" y="0"/>
                    </a:lnTo>
                    <a:lnTo>
                      <a:pt x="166688" y="55563"/>
                    </a:lnTo>
                    <a:lnTo>
                      <a:pt x="177800" y="55563"/>
                    </a:lnTo>
                    <a:cubicBezTo>
                      <a:pt x="190075" y="55563"/>
                      <a:pt x="200025" y="65513"/>
                      <a:pt x="200025" y="77787"/>
                    </a:cubicBezTo>
                    <a:lnTo>
                      <a:pt x="200025" y="122238"/>
                    </a:lnTo>
                    <a:lnTo>
                      <a:pt x="177800" y="122238"/>
                    </a:lnTo>
                    <a:moveTo>
                      <a:pt x="133350" y="122238"/>
                    </a:moveTo>
                    <a:lnTo>
                      <a:pt x="66675" y="122238"/>
                    </a:lnTo>
                    <a:moveTo>
                      <a:pt x="0" y="55563"/>
                    </a:moveTo>
                    <a:lnTo>
                      <a:pt x="166688" y="55563"/>
                    </a:lnTo>
                    <a:moveTo>
                      <a:pt x="100012" y="55563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483995" y="1955482"/>
              <a:ext cx="16706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个人班 · 默认组合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87805" y="223551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一低一高，对照出感觉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00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782955" y="28832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入门包：A1 周报 / B1 签到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2955" y="31499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深化包：D1 知识库 RAG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3619500"/>
              <a:ext cx="4876800" cy="685800"/>
            </a:xfrm>
            <a:prstGeom prst="roundRect">
              <a:avLst>
                <a:gd name="adj" fmla="val 22222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4" name="Group 24"/>
            <p:cNvGrpSpPr/>
            <p:nvPr/>
          </p:nvGrpSpPr>
          <p:grpSpPr>
            <a:xfrm>
              <a:off x="1016794" y="3862388"/>
              <a:ext cx="157162" cy="104775"/>
              <a:chOff x="1016794" y="3862388"/>
              <a:chExt cx="157162" cy="1047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077912" y="3897312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1016794" y="3862388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57162" y="52388"/>
                    </a:moveTo>
                    <a:cubicBezTo>
                      <a:pt x="136207" y="87313"/>
                      <a:pt x="110014" y="104775"/>
                      <a:pt x="78581" y="104775"/>
                    </a:cubicBezTo>
                    <a:cubicBezTo>
                      <a:pt x="47149" y="104775"/>
                      <a:pt x="20955" y="87313"/>
                      <a:pt x="0" y="52388"/>
                    </a:cubicBezTo>
                    <a:cubicBezTo>
                      <a:pt x="20955" y="17462"/>
                      <a:pt x="47149" y="0"/>
                      <a:pt x="78581" y="0"/>
                    </a:cubicBezTo>
                    <a:cubicBezTo>
                      <a:pt x="110014" y="0"/>
                      <a:pt x="136207" y="17462"/>
                      <a:pt x="157162" y="52388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299210" y="3794760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智能体班：D7 / D8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01115" y="4058602"/>
              <a:ext cx="2469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文档岗 D9 · 数据岗 D10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46682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纪律：一次课穿插 ≤ 2 包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1619250"/>
            <a:ext cx="5334000" cy="3524250"/>
            <a:chOff x="6286500" y="1619250"/>
            <a:chExt cx="5334000" cy="3524250"/>
          </a:xfrm>
        </p:grpSpPr>
        <p:sp>
          <p:nvSpPr>
            <p:cNvPr id="29" name="Rectangle 29"/>
            <p:cNvSpPr/>
            <p:nvPr/>
          </p:nvSpPr>
          <p:spPr>
            <a:xfrm>
              <a:off x="6286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0" name="Ellipse 30"/>
            <p:cNvSpPr/>
            <p:nvPr/>
          </p:nvSpPr>
          <p:spPr>
            <a:xfrm>
              <a:off x="6572250" y="190500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Freeform 31"/>
            <p:cNvSpPr/>
            <p:nvPr/>
          </p:nvSpPr>
          <p:spPr>
            <a:xfrm>
              <a:off x="6730556" y="2052638"/>
              <a:ext cx="178677" cy="200470"/>
            </a:xfrm>
            <a:custGeom>
              <a:avLst/>
              <a:gdLst/>
              <a:ahLst/>
              <a:cxnLst/>
              <a:rect l="l" t="t" r="r" b="b"/>
              <a:pathLst>
                <a:path w="178677" h="200470">
                  <a:moveTo>
                    <a:pt x="89344" y="172244"/>
                  </a:moveTo>
                  <a:lnTo>
                    <a:pt x="170077" y="199614"/>
                  </a:lnTo>
                  <a:cubicBezTo>
                    <a:pt x="172255" y="200470"/>
                    <a:pt x="174744" y="199969"/>
                    <a:pt x="176411" y="198325"/>
                  </a:cubicBezTo>
                  <a:cubicBezTo>
                    <a:pt x="178097" y="196674"/>
                    <a:pt x="178677" y="194197"/>
                    <a:pt x="177900" y="191968"/>
                  </a:cubicBezTo>
                  <a:lnTo>
                    <a:pt x="89344" y="0"/>
                  </a:lnTo>
                  <a:lnTo>
                    <a:pt x="778" y="191968"/>
                  </a:lnTo>
                  <a:cubicBezTo>
                    <a:pt x="0" y="194191"/>
                    <a:pt x="589" y="196680"/>
                    <a:pt x="2278" y="198325"/>
                  </a:cubicBezTo>
                  <a:cubicBezTo>
                    <a:pt x="3945" y="199969"/>
                    <a:pt x="6434" y="200470"/>
                    <a:pt x="8612" y="199614"/>
                  </a:cubicBezTo>
                  <a:lnTo>
                    <a:pt x="89344" y="172244"/>
                  </a:lnTo>
                </a:path>
              </a:pathLst>
            </a:custGeom>
            <a:noFill/>
            <a:ln w="19050">
              <a:solidFill>
                <a:srgbClr val="1565D8"/>
              </a:solidFill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7198995" y="1955482"/>
              <a:ext cx="15782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组班 · PMP 四角色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02805" y="22355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3-4 人/组，角色到人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515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6497955" y="28832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导演 / 产品 / 执行 / QA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97955" y="31499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选题：E1-E3 / D15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15100" y="3619500"/>
              <a:ext cx="4876800" cy="685800"/>
            </a:xfrm>
            <a:prstGeom prst="roundRect">
              <a:avLst>
                <a:gd name="adj" fmla="val 22222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0" name="Group 40"/>
            <p:cNvGrpSpPr/>
            <p:nvPr/>
          </p:nvGrpSpPr>
          <p:grpSpPr>
            <a:xfrm>
              <a:off x="6720010" y="3836194"/>
              <a:ext cx="170506" cy="157162"/>
              <a:chOff x="6720010" y="3836194"/>
              <a:chExt cx="170506" cy="15716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720010" y="3836194"/>
                <a:ext cx="170506" cy="155818"/>
              </a:xfrm>
              <a:custGeom>
                <a:avLst/>
                <a:gdLst/>
                <a:ahLst/>
                <a:cxnLst/>
                <a:rect l="l" t="t" r="r" b="b"/>
                <a:pathLst>
                  <a:path w="170506" h="155818">
                    <a:moveTo>
                      <a:pt x="85650" y="155818"/>
                    </a:moveTo>
                    <a:cubicBezTo>
                      <a:pt x="30952" y="138863"/>
                      <a:pt x="0" y="81134"/>
                      <a:pt x="16149" y="26194"/>
                    </a:cubicBezTo>
                    <a:cubicBezTo>
                      <a:pt x="43351" y="27439"/>
                      <a:pt x="69970" y="18044"/>
                      <a:pt x="90365" y="0"/>
                    </a:cubicBezTo>
                    <a:cubicBezTo>
                      <a:pt x="110759" y="18044"/>
                      <a:pt x="137378" y="27439"/>
                      <a:pt x="164580" y="26194"/>
                    </a:cubicBezTo>
                    <a:cubicBezTo>
                      <a:pt x="170506" y="46355"/>
                      <a:pt x="170232" y="67833"/>
                      <a:pt x="163794" y="87836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6836569" y="3958431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7014210" y="379476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关卡：G1 / G2 / G3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16115" y="4058602"/>
              <a:ext cx="2189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重头包：D1 / D2 / D8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01765" y="46682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评分：四维 + 互评 10 分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45" name="Rectangle 45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6" name="Rectangle 46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1" name="Group 51"/>
            <p:cNvGrpSpPr/>
            <p:nvPr/>
          </p:nvGrpSpPr>
          <p:grpSpPr>
            <a:xfrm>
              <a:off x="902618" y="5626100"/>
              <a:ext cx="132432" cy="158753"/>
              <a:chOff x="902618" y="5626100"/>
              <a:chExt cx="132432" cy="15875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39800" y="5641975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71438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963612" y="5626100"/>
                <a:ext cx="2381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9375">
                    <a:moveTo>
                      <a:pt x="0" y="27781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7937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987425" y="5641975"/>
                <a:ext cx="23812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63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902618" y="5657850"/>
                <a:ext cx="132432" cy="127003"/>
              </a:xfrm>
              <a:custGeom>
                <a:avLst/>
                <a:gdLst/>
                <a:ahLst/>
                <a:cxnLst/>
                <a:rect l="l" t="t" r="r" b="b"/>
                <a:pathLst>
                  <a:path w="132432" h="127003">
                    <a:moveTo>
                      <a:pt x="108619" y="11906"/>
                    </a:moveTo>
                    <a:cubicBezTo>
                      <a:pt x="108619" y="5331"/>
                      <a:pt x="113950" y="0"/>
                      <a:pt x="120525" y="0"/>
                    </a:cubicBezTo>
                    <a:cubicBezTo>
                      <a:pt x="127101" y="0"/>
                      <a:pt x="132432" y="5331"/>
                      <a:pt x="132432" y="11906"/>
                    </a:cubicBezTo>
                    <a:lnTo>
                      <a:pt x="132432" y="79375"/>
                    </a:lnTo>
                    <a:cubicBezTo>
                      <a:pt x="132432" y="105678"/>
                      <a:pt x="111109" y="127000"/>
                      <a:pt x="84807" y="127000"/>
                    </a:cubicBezTo>
                    <a:lnTo>
                      <a:pt x="68932" y="127000"/>
                    </a:lnTo>
                    <a:lnTo>
                      <a:pt x="70583" y="127000"/>
                    </a:lnTo>
                    <a:cubicBezTo>
                      <a:pt x="54561" y="127003"/>
                      <a:pt x="39612" y="118949"/>
                      <a:pt x="30800" y="105569"/>
                    </a:cubicBezTo>
                    <a:cubicBezTo>
                      <a:pt x="30279" y="104776"/>
                      <a:pt x="29761" y="103983"/>
                      <a:pt x="29244" y="103188"/>
                    </a:cubicBezTo>
                    <a:cubicBezTo>
                      <a:pt x="26768" y="99385"/>
                      <a:pt x="18076" y="84233"/>
                      <a:pt x="3161" y="57721"/>
                    </a:cubicBezTo>
                    <a:cubicBezTo>
                      <a:pt x="0" y="52102"/>
                      <a:pt x="1886" y="44987"/>
                      <a:pt x="7416" y="41672"/>
                    </a:cubicBezTo>
                    <a:cubicBezTo>
                      <a:pt x="13244" y="38175"/>
                      <a:pt x="20705" y="39091"/>
                      <a:pt x="25513" y="43894"/>
                    </a:cubicBezTo>
                    <a:lnTo>
                      <a:pt x="37182" y="5556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1163955" y="5635942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选题三问：够小吗？高频吗？可验证吗？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4" name="TextBox 5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5 / 33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A1 · 周报/月报初稿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出初稿，人只终审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2 周周报脱敏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派活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一句话出初稿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核数字后定稿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用本周记录出初稿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份报告文件，数字可回溯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数字抽 3 处一致，脱敏过关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卡点：编数字→回原记录核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2 周周报原文 + 部门模板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60min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★☆☆☆☆ · 个人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6 / 33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A2 · 会议纪要 + 待办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10 分钟出纪要 + 待办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1-2 份会议记录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提取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出结论 + 待办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核负责人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出结构化纪要 + 待办表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份纪要 + 1 张待办表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待办有负责人，不编人名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卡点：缺负责人→标待确认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1-2 份会议记录（脱敏）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60min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★☆☆☆☆ · 个人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7 / 33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A3 · 对账表核对小结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逐行比两张表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两表 ≤50 行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比对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按口径逐行比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出单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差异清单 + 结论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两张表逐行核对找差异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份核对小结（差异 + 结论）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差异行定位到行号，对得上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卡点：口径错→先复述口径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2 张对账样本 + 口径说明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70min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★★☆☆☆ · 个人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8 / 33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B1 · 部门签到/登记页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写码，你当导演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一版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出第 1 版页面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打开，让它改样式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填 3 条样例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做出能打开的单页签到页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个 HTML + 样例数据 3 条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能打开，样例 3 条，无真名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卡点：存不住→如实标注方式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字段 3-5 项 + 样例 3 条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80min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★★☆☆☆ · 个人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9 / 33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B2 · 设备物资借用页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借什么、何时还，可查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一版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出借用页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每行加归还按钮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登记 3 条样例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借用登记页：借/还可查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个登记页 + 样例 3 条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状态切换演示成功，无真名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卡点：做太复杂→拉回单页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5 字段 + 样例 3 条（代号）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80min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★★☆☆☆ · 个人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10 / 33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B3 · 活动报名页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报名提交有反馈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一版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出报名页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改提交反馈 + 校验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提交 3 条样例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报名页，提交显示成功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个报名页 + 样例 3 条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反馈 100%，电话全测试号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红线：不采集真实个人信息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活动信息 + 字段 4-5 项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80min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★★☆☆☆ · 个人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11 / 33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C1 · 问卷表单页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5 题问卷，提交有反馈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5 题 + 选项喂 AI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改单选/多选/填空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提交反馈测试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单页问卷：单选/多选/填空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个问卷页（5 题）+ 1 次提交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5 题正确，题型与清单一致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卡点：题型错→明确哪题多选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5 题 + 选项 + 题型说明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70min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★★☆☆☆ · 个人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12 / 33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C2 · 知识小测验页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自动判分，带逻辑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5 题 + 答案键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先出键，再判分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人工全答一遍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带自动判分的测验页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个测验页（判分 + 得分）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判分 100% 对，得分一致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卡点：判分错→先打印答案键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5 单选 + 4 选项 + 答案键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80min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★★★☆☆ · 个人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13 / 33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D1 · 部门知识库 RAG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答得出，还能溯源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写 5 个高频问答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入库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材料脱敏进资料库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逐题问，验溯源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高频流程进库，问它答它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知识库（≥5 份）+ 5 问答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5 问全带来源，答错 0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卡点：答错→先改冲突材料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5 问题 + 2-3 份流程文档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80min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★★☆☆☆ · 个人/组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14 / 33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D2 · 任务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四步链一次出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写 4 步任务说明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分步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每步单独跑通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串链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串链 + 第 2 份回归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会议记录进，纪要/待办/跟进出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个 Agent + 四步完整输出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4 步齐，回归样本也跑通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卡点：链断→修断点再接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份会议记录 + 四步清单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90min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★★★☆☆ · 个人/组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15 / 33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D3 · 自动化流程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流程常开，不用人发起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复用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A1/A3 流程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设每周五 16:00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手动触发一次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周报/对账流程定时自动跑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个定时任务 + 1 次产出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触发时间对，产出质量不降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卡点：没跑→查触发 + 权限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A1/A3 产出 + 定时规则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90min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★★★☆☆ · 个人/组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16 / 33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D4 · 数据分析报告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每条结论都有依据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喂表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Excel + 3 问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初稿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出洞察初稿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核 3 处数字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读真表，出洞察报告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份报告（趋势 + 异常 + 结论）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3 数字回原表，结论带行列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卡点：编趋势→先给行号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张 Excel ≤100 行 + 3 问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70min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★★☆☆☆ · 个人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17 / 33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D5 · 多模态海报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三版迭代，15 分钟定稿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一版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给完整描述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二版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改尺寸 + 配色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第 3 版定稿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生成 1 张活动海报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张海报 + 三版记录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图清晰可用，每版记改了什么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卡点：汉字乱码→图内少字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活动信息 + 参考图 + 尺寸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40min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★☆☆☆☆ · 个人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18 / 33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D6 · AI 短视频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15-30 秒小片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分镜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3 句分镜描述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生成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逐段生成再拼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加 AI 生成标注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主题生成 15-30s 小片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条可播放视频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时长达标，画面对应分镜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卡点：段有瑕疵→拆段再拼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主题 + 3 分镜 + 画幅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60min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★★☆☆☆ · 个人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19 / 33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D7 · 智能客服问答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答不上，就转人工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10 条 FAQ 入库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系统提示：只按资料答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5 范围内 + 2 范围外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答 10 类高频问题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个 Agent + 7 张测试截图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范围内答对带源，范围外转人工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卡点：太自信→写死转人工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10 FAQ + 2 范围外 + 话术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90min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★★★☆☆ · 个人/组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20 / 33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D8 · 网页数据收集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自己上网收数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写任务说明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试跑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1 页出样表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扩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核 3 条再扩页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开公开页面，收数成表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张表 10-20 条 + 3 截图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抽查 3 条一致，没有的留空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红线：只收公开页，不碰登录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2 个 URL + 字段 + 3 样例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90min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★★★☆☆ · 个人/组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21 / 33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D9 · 文档批处理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批量抽 4 字段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4 字段 + 取数规则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试抽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抽 2 份全核对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批处理 + 抽查 3 处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批量读 5-10 份文档抽字段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张台账表 + 规则 1 页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无缺行，3 处回原文一致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卡点：字段偏→规则写死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5-10 份文档 + 4 列规则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90min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★★★☆☆ · 个人/组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22 / 33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D10 · 数据分析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人委托，AI 自己跑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写 1 页委托书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自主分析出图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终审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回表验证 + 重跑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表交 AI，自主分析出结论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份报告（2 图 + 3 结论）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结论回表，改口径报告变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卡点：委托宽→写死口径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表 10-50 行 + 3 口径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90min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★★★☆☆ · 个人/组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23 / 33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D11 · 智能检索调研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多轮检索，带源简报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主题 + 3 必答题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多轮检索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5 来源能点开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给 1 主题，AI 自己查出简报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页简报（3 答 + 5 来源）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3 题全答，存疑 ≥1 处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卡点：不换向→写死最多 3 轮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主题 + 3 必答题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90min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★★★☆☆ · 个人/组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24 / 33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D12 · 定时报表自动汇总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3 表进，1 表出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写 1 页汇总规则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读 3 表 → 合并小计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回归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跑 1 次 + 换数据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3 张表 → 1 张周汇总表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条流程 + 1 份产出 + 说明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回 3 源表，换数据能复跑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卡点：先定时→先跑手动一次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3 张源表 + 1 页规则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90min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★★★☆☆ · 个人/组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25 / 33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D13 · OCR 智能台账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票据照片进台账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定口径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5 列 + 单位写死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识别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逐张识别，自动合计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抽查 3 张照片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5-10 张票据识别入台账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张台账表（含合计行）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行数 = 照片数，合计重算对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红线：先打码，真实票不上外网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5-10 张票据（打码）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80min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★★☆☆☆ · 个人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26 / 33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D14 · 智能表单通知流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表单 → 通知 → 汇总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5 字段表单页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通知模板带变量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3 样例全链路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提交自动出通知 + 周汇总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表单页 + 3 全链路截图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3 样例各出 1 通知，行数对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卡点：收不回→课上只发自己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5 字段 + 1 模板 + 3 样例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90min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★★★☆☆ · 个人/组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27 / 33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D15 · 多 Agent 协作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3 个 Agent 接力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各写 1 份任务书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接力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调研 → 写作 → 质检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质检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质检挑 ≥1 处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调研/写作/质检 3 棒接力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成品 + 3 任务书 + 交接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质检 5 条全过，交接可查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卡点：同时跑→上棒过才下棒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主题 + 3 必答题 + 5 质检条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2-3h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★★★★☆ · 仅组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28 / 33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E1 · 多页工具原型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3-5 页 + 能演示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产品定页面清单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出码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执行逐页出码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QA 走完整流程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小组做出 3-5 页工具原型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原型能打开、能跳转、能演示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完整操作流演示成功 1 遍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卡点：做不完→砍到 3 页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页面 ≤5 + 样例 5 + 分工表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2-3h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★★★★☆ · 仅组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29 / 33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E2 · 班级小程序原型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班级事务，一套演示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产品定 4 页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出码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执行逐页出码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演示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演示一条完整流程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班级事务小程序原型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3-5 页小程序风格原型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4 页能开能跳，流程演示成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卡点：想做登录→不做，用代号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页面 ≤4 + 样例 5 + 分工表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2-3h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★★★★☆ · 仅组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30 / 33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E3 · 报修系统原型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核心是 4 态流转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产品定 4 状态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出码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执行逐页出码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切换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详情页状态按钮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报修原型，演示状态流转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3-5 页 + 1 条 4 态演示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验收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 条报修 4 态演示成功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辅导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卡点：切换难→降级 1 按钮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材料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页面 ≤4 + 4 态 + 样例 3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2-3h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★★★★☆ · 仅组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31 / 33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6924580" cy="700088"/>
            <a:chOff x="571500" y="685800"/>
            <a:chExt cx="692458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41526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验收与路演：五步收工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6713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验收不是比谁做得漂亮，是比谁说得清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52700" y="2209800"/>
            <a:ext cx="6362700" cy="1"/>
            <a:chOff x="2552700" y="2209800"/>
            <a:chExt cx="6362700" cy="1"/>
          </a:xfrm>
        </p:grpSpPr>
        <p:sp>
          <p:nvSpPr>
            <p:cNvPr id="10" name="Line 10"/>
            <p:cNvSpPr/>
            <p:nvPr/>
          </p:nvSpPr>
          <p:spPr>
            <a:xfrm>
              <a:off x="25527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46101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2" name="Line 12"/>
            <p:cNvSpPr/>
            <p:nvPr/>
          </p:nvSpPr>
          <p:spPr>
            <a:xfrm>
              <a:off x="66675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3" name="Line 13"/>
            <p:cNvSpPr/>
            <p:nvPr/>
          </p:nvSpPr>
          <p:spPr>
            <a:xfrm>
              <a:off x="87249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962150"/>
            <a:ext cx="1905000" cy="1847850"/>
            <a:chOff x="571500" y="1962150"/>
            <a:chExt cx="1905000" cy="1847850"/>
          </a:xfrm>
        </p:grpSpPr>
        <p:sp>
          <p:nvSpPr>
            <p:cNvPr id="15" name="Ellipse 15"/>
            <p:cNvSpPr/>
            <p:nvPr/>
          </p:nvSpPr>
          <p:spPr>
            <a:xfrm>
              <a:off x="1333500" y="1962150"/>
              <a:ext cx="495300" cy="4953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5120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8" name="Ellipse 18"/>
            <p:cNvSpPr/>
            <p:nvPr/>
          </p:nvSpPr>
          <p:spPr>
            <a:xfrm>
              <a:off x="13525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3" name="Group 23"/>
            <p:cNvGrpSpPr/>
            <p:nvPr/>
          </p:nvGrpSpPr>
          <p:grpSpPr>
            <a:xfrm>
              <a:off x="1468438" y="2862262"/>
              <a:ext cx="111125" cy="142875"/>
              <a:chOff x="1468438" y="2862262"/>
              <a:chExt cx="111125" cy="1428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5398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4684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127000"/>
                    </a:lnTo>
                    <a:cubicBezTo>
                      <a:pt x="111125" y="135768"/>
                      <a:pt x="104018" y="142875"/>
                      <a:pt x="95250" y="1428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524000" y="292576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504156" y="2925762"/>
                <a:ext cx="39688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19844">
                    <a:moveTo>
                      <a:pt x="0" y="19844"/>
                    </a:moveTo>
                    <a:lnTo>
                      <a:pt x="19844" y="0"/>
                    </a:lnTo>
                    <a:lnTo>
                      <a:pt x="39688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128808" y="32070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查交付物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050" y="3514249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文件能打开，抽 3 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628900" y="1962150"/>
            <a:ext cx="1905000" cy="1847850"/>
            <a:chOff x="2628900" y="1962150"/>
            <a:chExt cx="1905000" cy="1847850"/>
          </a:xfrm>
        </p:grpSpPr>
        <p:sp>
          <p:nvSpPr>
            <p:cNvPr id="27" name="Ellipse 27"/>
            <p:cNvSpPr/>
            <p:nvPr/>
          </p:nvSpPr>
          <p:spPr>
            <a:xfrm>
              <a:off x="33909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35694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289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0" name="Ellipse 30"/>
            <p:cNvSpPr/>
            <p:nvPr/>
          </p:nvSpPr>
          <p:spPr>
            <a:xfrm>
              <a:off x="34099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6" name="Group 36"/>
            <p:cNvGrpSpPr/>
            <p:nvPr/>
          </p:nvGrpSpPr>
          <p:grpSpPr>
            <a:xfrm>
              <a:off x="3509962" y="2873314"/>
              <a:ext cx="152401" cy="115948"/>
              <a:chOff x="3509962" y="2873314"/>
              <a:chExt cx="152401" cy="11594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509962" y="2976501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3509962" y="2873314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3509962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3581400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3652838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997184" y="32070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查立项书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43977" y="3514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六字段齐、达标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686300" y="1962150"/>
            <a:ext cx="1905000" cy="1847850"/>
            <a:chOff x="4686300" y="1962150"/>
            <a:chExt cx="1905000" cy="1847850"/>
          </a:xfrm>
        </p:grpSpPr>
        <p:sp>
          <p:nvSpPr>
            <p:cNvPr id="40" name="Ellipse 40"/>
            <p:cNvSpPr/>
            <p:nvPr/>
          </p:nvSpPr>
          <p:spPr>
            <a:xfrm>
              <a:off x="54483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56268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863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43" name="Ellipse 43"/>
            <p:cNvSpPr/>
            <p:nvPr/>
          </p:nvSpPr>
          <p:spPr>
            <a:xfrm>
              <a:off x="54673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8" name="Group 48"/>
            <p:cNvGrpSpPr/>
            <p:nvPr/>
          </p:nvGrpSpPr>
          <p:grpSpPr>
            <a:xfrm>
              <a:off x="5583238" y="2862262"/>
              <a:ext cx="127000" cy="150813"/>
              <a:chOff x="5583238" y="2862262"/>
              <a:chExt cx="127000" cy="15081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6546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55832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55563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75406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5654675" y="295751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19844"/>
                    </a:moveTo>
                    <a:cubicBezTo>
                      <a:pt x="0" y="30803"/>
                      <a:pt x="8884" y="39688"/>
                      <a:pt x="19844" y="39688"/>
                    </a:cubicBezTo>
                    <a:cubicBezTo>
                      <a:pt x="30803" y="39688"/>
                      <a:pt x="39688" y="30803"/>
                      <a:pt x="39688" y="19844"/>
                    </a:cubicBezTo>
                    <a:cubicBezTo>
                      <a:pt x="39688" y="8884"/>
                      <a:pt x="30803" y="0"/>
                      <a:pt x="19844" y="0"/>
                    </a:cubicBezTo>
                    <a:cubicBezTo>
                      <a:pt x="8884" y="0"/>
                      <a:pt x="0" y="8884"/>
                      <a:pt x="0" y="19844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5690394" y="2993231"/>
                <a:ext cx="19844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19844" h="19844">
                    <a:moveTo>
                      <a:pt x="0" y="0"/>
                    </a:moveTo>
                    <a:lnTo>
                      <a:pt x="19844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53381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现场演示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171361" y="35142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当场跑一遍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743700" y="1962150"/>
            <a:ext cx="1905000" cy="1847850"/>
            <a:chOff x="6743700" y="1962150"/>
            <a:chExt cx="1905000" cy="1847850"/>
          </a:xfrm>
        </p:grpSpPr>
        <p:sp>
          <p:nvSpPr>
            <p:cNvPr id="52" name="Ellipse 52"/>
            <p:cNvSpPr/>
            <p:nvPr/>
          </p:nvSpPr>
          <p:spPr>
            <a:xfrm>
              <a:off x="75057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76842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437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55" name="Ellipse 55"/>
            <p:cNvSpPr/>
            <p:nvPr/>
          </p:nvSpPr>
          <p:spPr>
            <a:xfrm>
              <a:off x="75247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9" name="Group 59"/>
            <p:cNvGrpSpPr/>
            <p:nvPr/>
          </p:nvGrpSpPr>
          <p:grpSpPr>
            <a:xfrm>
              <a:off x="7624762" y="2870200"/>
              <a:ext cx="142875" cy="134938"/>
              <a:chOff x="7624762" y="2870200"/>
              <a:chExt cx="142875" cy="13493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664450" y="2909888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7664450" y="2941638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7624762" y="2870200"/>
                <a:ext cx="14287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4938">
                    <a:moveTo>
                      <a:pt x="47625" y="111125"/>
                    </a:moveTo>
                    <a:lnTo>
                      <a:pt x="23812" y="111125"/>
                    </a:lnTo>
                    <a:cubicBezTo>
                      <a:pt x="10661" y="111125"/>
                      <a:pt x="0" y="100464"/>
                      <a:pt x="0" y="87313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87313"/>
                    </a:lnTo>
                    <a:cubicBezTo>
                      <a:pt x="142875" y="100464"/>
                      <a:pt x="132214" y="111125"/>
                      <a:pt x="119062" y="111125"/>
                    </a:cubicBezTo>
                    <a:lnTo>
                      <a:pt x="95250" y="111125"/>
                    </a:lnTo>
                    <a:lnTo>
                      <a:pt x="71438" y="134938"/>
                    </a:lnTo>
                    <a:lnTo>
                      <a:pt x="47625" y="1111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73955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评分点评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93769" y="35142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三档判定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801100" y="1962150"/>
            <a:ext cx="1905000" cy="1847850"/>
            <a:chOff x="8801100" y="1962150"/>
            <a:chExt cx="1905000" cy="1847850"/>
          </a:xfrm>
        </p:grpSpPr>
        <p:sp>
          <p:nvSpPr>
            <p:cNvPr id="63" name="Ellipse 63"/>
            <p:cNvSpPr/>
            <p:nvPr/>
          </p:nvSpPr>
          <p:spPr>
            <a:xfrm>
              <a:off x="9563100" y="1962150"/>
              <a:ext cx="495300" cy="4953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4" name="TextBox 64"/>
            <p:cNvSpPr txBox="1"/>
            <p:nvPr/>
          </p:nvSpPr>
          <p:spPr>
            <a:xfrm>
              <a:off x="97416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8011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6" name="Ellipse 66"/>
            <p:cNvSpPr/>
            <p:nvPr/>
          </p:nvSpPr>
          <p:spPr>
            <a:xfrm>
              <a:off x="95821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69" name="Group 69"/>
            <p:cNvGrpSpPr/>
            <p:nvPr/>
          </p:nvGrpSpPr>
          <p:grpSpPr>
            <a:xfrm>
              <a:off x="9682162" y="2862262"/>
              <a:ext cx="142875" cy="142875"/>
              <a:chOff x="9682162" y="2862262"/>
              <a:chExt cx="142875" cy="14287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9682162" y="28622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9729788" y="29178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94529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发三件套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16177" y="3514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交付物+立项书+清单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71500" y="4076700"/>
            <a:ext cx="11049000" cy="1066800"/>
            <a:chOff x="571500" y="4076700"/>
            <a:chExt cx="11049000" cy="1066800"/>
          </a:xfrm>
        </p:grpSpPr>
        <p:sp>
          <p:nvSpPr>
            <p:cNvPr id="73" name="Rectangle 73"/>
            <p:cNvSpPr/>
            <p:nvPr/>
          </p:nvSpPr>
          <p:spPr>
            <a:xfrm>
              <a:off x="571500" y="4076700"/>
              <a:ext cx="11049000" cy="9906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74" name="Ellipse 74"/>
            <p:cNvSpPr/>
            <p:nvPr/>
          </p:nvSpPr>
          <p:spPr>
            <a:xfrm>
              <a:off x="781050" y="43624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80" name="Group 80"/>
            <p:cNvGrpSpPr/>
            <p:nvPr/>
          </p:nvGrpSpPr>
          <p:grpSpPr>
            <a:xfrm>
              <a:off x="904875" y="4486275"/>
              <a:ext cx="171450" cy="171422"/>
              <a:chOff x="904875" y="4486275"/>
              <a:chExt cx="171450" cy="171422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942975" y="44862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5403"/>
                    </a:moveTo>
                    <a:cubicBezTo>
                      <a:pt x="0" y="11373"/>
                      <a:pt x="11373" y="0"/>
                      <a:pt x="25403" y="0"/>
                    </a:cubicBezTo>
                    <a:lnTo>
                      <a:pt x="107947" y="0"/>
                    </a:lnTo>
                    <a:cubicBezTo>
                      <a:pt x="114684" y="0"/>
                      <a:pt x="121146" y="2676"/>
                      <a:pt x="125910" y="7440"/>
                    </a:cubicBezTo>
                    <a:cubicBezTo>
                      <a:pt x="130674" y="12204"/>
                      <a:pt x="133350" y="18666"/>
                      <a:pt x="133350" y="25403"/>
                    </a:cubicBezTo>
                    <a:lnTo>
                      <a:pt x="133350" y="107947"/>
                    </a:lnTo>
                    <a:cubicBezTo>
                      <a:pt x="133350" y="114684"/>
                      <a:pt x="130674" y="121146"/>
                      <a:pt x="125910" y="125910"/>
                    </a:cubicBezTo>
                    <a:cubicBezTo>
                      <a:pt x="121146" y="130674"/>
                      <a:pt x="114684" y="133350"/>
                      <a:pt x="107947" y="133350"/>
                    </a:cubicBezTo>
                    <a:lnTo>
                      <a:pt x="25403" y="133350"/>
                    </a:lnTo>
                    <a:cubicBezTo>
                      <a:pt x="11373" y="133350"/>
                      <a:pt x="0" y="121977"/>
                      <a:pt x="0" y="107947"/>
                    </a:cubicBezTo>
                    <a:lnTo>
                      <a:pt x="0" y="2540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904875" y="4526852"/>
                <a:ext cx="128588" cy="13084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30845">
                    <a:moveTo>
                      <a:pt x="9639" y="0"/>
                    </a:moveTo>
                    <a:cubicBezTo>
                      <a:pt x="3694" y="3389"/>
                      <a:pt x="17" y="9701"/>
                      <a:pt x="0" y="16545"/>
                    </a:cubicBezTo>
                    <a:lnTo>
                      <a:pt x="0" y="111795"/>
                    </a:lnTo>
                    <a:cubicBezTo>
                      <a:pt x="0" y="122272"/>
                      <a:pt x="8573" y="130845"/>
                      <a:pt x="19050" y="130845"/>
                    </a:cubicBezTo>
                    <a:lnTo>
                      <a:pt x="114300" y="130845"/>
                    </a:lnTo>
                    <a:cubicBezTo>
                      <a:pt x="121444" y="130845"/>
                      <a:pt x="125330" y="127178"/>
                      <a:pt x="128588" y="12132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981075" y="45243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981075" y="45529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9" name="Freeform 79"/>
              <p:cNvSpPr/>
              <p:nvPr/>
            </p:nvSpPr>
            <p:spPr>
              <a:xfrm>
                <a:off x="981075" y="45815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81" name="TextBox 81"/>
            <p:cNvSpPr txBox="1"/>
            <p:nvPr/>
          </p:nvSpPr>
          <p:spPr>
            <a:xfrm>
              <a:off x="1335405" y="43310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三件套过关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37310" y="4652010"/>
              <a:ext cx="5831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验收清单 5 条全勾：交付物能打开 / 数字一致 / 脱敏过关 / 立项书达标 / 过程留痕。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337310" y="48996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过 = 结业，不过 = 1 次整改窗口。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5295900"/>
            <a:ext cx="11049000" cy="457200"/>
            <a:chOff x="571500" y="5295900"/>
            <a:chExt cx="11049000" cy="457200"/>
          </a:xfrm>
        </p:grpSpPr>
        <p:sp>
          <p:nvSpPr>
            <p:cNvPr id="85" name="Rectangle 85"/>
            <p:cNvSpPr/>
            <p:nvPr/>
          </p:nvSpPr>
          <p:spPr>
            <a:xfrm>
              <a:off x="571500" y="52959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6" name="Rectangle 86"/>
            <p:cNvSpPr/>
            <p:nvPr/>
          </p:nvSpPr>
          <p:spPr>
            <a:xfrm>
              <a:off x="571500" y="52959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7" name="TextBox 87"/>
            <p:cNvSpPr txBox="1"/>
            <p:nvPr/>
          </p:nvSpPr>
          <p:spPr>
            <a:xfrm>
              <a:off x="859155" y="5445442"/>
              <a:ext cx="36257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一句话：验收通过的项目，课结束了还在跑。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9" name="TextBox 89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实战项目执行手册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32 / 33</a:t>
              </a: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Group 10"/>
          <p:cNvGrpSpPr/>
          <p:nvPr/>
        </p:nvGrpSpPr>
        <p:grpSpPr>
          <a:xfrm>
            <a:off x="-666750" y="-1333500"/>
            <a:ext cx="14763750" cy="10096500"/>
            <a:chOff x="-666750" y="-1333500"/>
            <a:chExt cx="14763750" cy="10096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5715000" cy="5715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381500" cy="4381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048000" cy="3048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333500"/>
              <a:ext cx="4191000" cy="41910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9944100" y="990600"/>
              <a:ext cx="114300" cy="114300"/>
            </a:xfrm>
            <a:prstGeom prst="ellipse">
              <a:avLst/>
            </a:prstGeom>
            <a:solidFill>
              <a:srgbClr val="FFFFFF">
                <a:alpha val="18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1676400"/>
              <a:ext cx="76200" cy="76200"/>
            </a:xfrm>
            <a:prstGeom prst="ellipse">
              <a:avLst/>
            </a:prstGeom>
            <a:solidFill>
              <a:srgbClr val="FFFFFF">
                <a:alpha val="22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Ellipse 9"/>
            <p:cNvSpPr/>
            <p:nvPr/>
          </p:nvSpPr>
          <p:spPr>
            <a:xfrm>
              <a:off x="9286875" y="619125"/>
              <a:ext cx="95250" cy="95250"/>
            </a:xfrm>
            <a:prstGeom prst="ellipse">
              <a:avLst/>
            </a:pr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/>
            <a:p/>
          </p:txBody>
        </p:sp>
      </p:grpSp>
      <p:grpSp>
        <p:nvGrpSpPr>
          <p:cNvPr id="13" name="Group 13"/>
          <p:cNvGrpSpPr/>
          <p:nvPr/>
        </p:nvGrpSpPr>
        <p:grpSpPr>
          <a:xfrm>
            <a:off x="2764272" y="2211705"/>
            <a:ext cx="6663457" cy="1893570"/>
            <a:chOff x="2764272" y="2211705"/>
            <a:chExt cx="6663457" cy="1893570"/>
          </a:xfrm>
        </p:grpSpPr>
        <p:sp>
          <p:nvSpPr>
            <p:cNvPr id="11" name="TextBox 11"/>
            <p:cNvSpPr txBox="1"/>
            <p:nvPr/>
          </p:nvSpPr>
          <p:spPr>
            <a:xfrm>
              <a:off x="2764272" y="2211705"/>
              <a:ext cx="6663457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挑一件事，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31918" y="3068955"/>
              <a:ext cx="5128165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干成它。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905375" y="4191000"/>
            <a:ext cx="2381250" cy="457200"/>
            <a:chOff x="4905375" y="4191000"/>
            <a:chExt cx="23812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905375" y="4191000"/>
              <a:ext cx="2381250" cy="457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5360565" y="4340542"/>
              <a:ext cx="14708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实战项目工作坊 · 执行手册 · 完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689056" y="5169218"/>
            <a:ext cx="4813887" cy="274320"/>
            <a:chOff x="3689056" y="5169218"/>
            <a:chExt cx="4813887" cy="274320"/>
          </a:xfrm>
        </p:grpSpPr>
        <p:sp>
          <p:nvSpPr>
            <p:cNvPr id="17" name="Freeform 17"/>
            <p:cNvSpPr/>
            <p:nvPr/>
          </p:nvSpPr>
          <p:spPr>
            <a:xfrm>
              <a:off x="3874294" y="5178425"/>
              <a:ext cx="148431" cy="139700"/>
            </a:xfrm>
            <a:custGeom>
              <a:avLst/>
              <a:gdLst/>
              <a:ahLst/>
              <a:cxnLst/>
              <a:rect l="l" t="t" r="r" b="b"/>
              <a:pathLst>
                <a:path w="148431" h="139700">
                  <a:moveTo>
                    <a:pt x="113506" y="122238"/>
                  </a:moveTo>
                  <a:cubicBezTo>
                    <a:pt x="123151" y="122238"/>
                    <a:pt x="130969" y="130056"/>
                    <a:pt x="130969" y="139700"/>
                  </a:cubicBezTo>
                  <a:cubicBezTo>
                    <a:pt x="130969" y="130056"/>
                    <a:pt x="138787" y="122238"/>
                    <a:pt x="148431" y="122238"/>
                  </a:cubicBezTo>
                  <a:cubicBezTo>
                    <a:pt x="138787" y="122238"/>
                    <a:pt x="130969" y="114419"/>
                    <a:pt x="130969" y="104775"/>
                  </a:cubicBezTo>
                  <a:cubicBezTo>
                    <a:pt x="130969" y="114419"/>
                    <a:pt x="123151" y="122238"/>
                    <a:pt x="113506" y="122238"/>
                  </a:cubicBezTo>
                  <a:moveTo>
                    <a:pt x="113506" y="17463"/>
                  </a:moveTo>
                  <a:cubicBezTo>
                    <a:pt x="123151" y="17463"/>
                    <a:pt x="130969" y="25281"/>
                    <a:pt x="130969" y="34925"/>
                  </a:cubicBezTo>
                  <a:cubicBezTo>
                    <a:pt x="130969" y="25281"/>
                    <a:pt x="138787" y="17463"/>
                    <a:pt x="148431" y="17463"/>
                  </a:cubicBezTo>
                  <a:cubicBezTo>
                    <a:pt x="138787" y="17463"/>
                    <a:pt x="130969" y="9644"/>
                    <a:pt x="130969" y="0"/>
                  </a:cubicBezTo>
                  <a:cubicBezTo>
                    <a:pt x="130969" y="9644"/>
                    <a:pt x="123151" y="17463"/>
                    <a:pt x="113506" y="17463"/>
                  </a:cubicBezTo>
                  <a:moveTo>
                    <a:pt x="52388" y="122238"/>
                  </a:moveTo>
                  <a:cubicBezTo>
                    <a:pt x="52388" y="93305"/>
                    <a:pt x="75842" y="69850"/>
                    <a:pt x="104775" y="69850"/>
                  </a:cubicBezTo>
                  <a:cubicBezTo>
                    <a:pt x="75842" y="69850"/>
                    <a:pt x="52388" y="46395"/>
                    <a:pt x="52388" y="17463"/>
                  </a:cubicBezTo>
                  <a:cubicBezTo>
                    <a:pt x="52388" y="46395"/>
                    <a:pt x="28933" y="69850"/>
                    <a:pt x="0" y="69850"/>
                  </a:cubicBezTo>
                  <a:cubicBezTo>
                    <a:pt x="28933" y="69850"/>
                    <a:pt x="52388" y="93305"/>
                    <a:pt x="52388" y="12223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3689056" y="5169218"/>
              <a:ext cx="48138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下一步：课后每月跑 1 个项目——26 包项目库都是现成的梯子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2026-08-31T15:31:21Z</dcterms:created>
  <dcterms:modified xsi:type="dcterms:W3CDTF">2026-08-31T15:31:21Z</dcterms:modified>
  <cp:category/>
  <cp:contentStatus/>
</cp:coreProperties>
</file>