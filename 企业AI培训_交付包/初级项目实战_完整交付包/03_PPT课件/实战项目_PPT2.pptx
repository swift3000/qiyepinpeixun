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1.svg" ContentType="image/svg+xml"/>
  <Override PartName="/ppt/slides/media/image12.svg" ContentType="image/svg+xml"/>
  <Override PartName="/ppt/slides/media/image19.svg" ContentType="image/svg+xml"/>
  <Override PartName="/ppt/slides/media/image20.svg" ContentType="image/svg+xml"/>
  <Override PartName="/ppt/slides/media/image21.svg" ContentType="image/svg+xml"/>
  <Override PartName="/ppt/slides/media/image22.svg" ContentType="image/svg+xml"/>
  <Override PartName="/ppt/slides/media/image23.svg" ContentType="image/svg+xml"/>
  <Override PartName="/ppt/slides/media/image24.svg" ContentType="image/svg+xml"/>
  <Override PartName="/ppt/slides/media/image25.svg" ContentType="image/svg+xml"/>
  <Override PartName="/ppt/slides/media/image31.svg" ContentType="image/svg+xml"/>
  <Override PartName="/ppt/slides/media/image32.svg" ContentType="image/svg+xml"/>
  <Override PartName="/ppt/slides/media/image38.svg" ContentType="image/svg+xml"/>
  <Override PartName="/ppt/slides/media/image39.svg" ContentType="image/svg+xml"/>
  <Override PartName="/ppt/slides/media/image40.svg" ContentType="image/svg+xml"/>
  <Override PartName="/ppt/slides/media/image41.svg" ContentType="image/svg+xml"/>
  <Override PartName="/ppt/slides/media/image44.svg" ContentType="image/svg+xml"/>
  <Override PartName="/ppt/slides/media/image45.svg" ContentType="image/svg+xml"/>
  <Override PartName="/ppt/slides/media/image46.svg" ContentType="image/svg+xml"/>
  <Override PartName="/ppt/slides/media/image47.svg" ContentType="image/svg+xml"/>
  <Override PartName="/ppt/slides/media/image48.svg" ContentType="image/svg+xml"/>
  <Override PartName="/ppt/slides/media/image7.svg" ContentType="image/svg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8"/>
  </p:notesMasterIdLst>
  <p:sldIdLst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viewProps" Target="viewProps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7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31.svg"/><Relationship Id="rId3" Type="http://schemas.openxmlformats.org/officeDocument/2006/relationships/image" Target="media/image32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46.svg"/><Relationship Id="rId3" Type="http://schemas.openxmlformats.org/officeDocument/2006/relationships/image" Target="media/image47.svg"/><Relationship Id="rId4" Type="http://schemas.openxmlformats.org/officeDocument/2006/relationships/image" Target="media/image48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46.svg"/><Relationship Id="rId3" Type="http://schemas.openxmlformats.org/officeDocument/2006/relationships/image" Target="media/image47.svg"/><Relationship Id="rId4" Type="http://schemas.openxmlformats.org/officeDocument/2006/relationships/image" Target="media/image48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19.svg"/><Relationship Id="rId3" Type="http://schemas.openxmlformats.org/officeDocument/2006/relationships/image" Target="media/image20.svg"/><Relationship Id="rId4" Type="http://schemas.openxmlformats.org/officeDocument/2006/relationships/image" Target="media/image21.svg"/><Relationship Id="rId5" Type="http://schemas.openxmlformats.org/officeDocument/2006/relationships/image" Target="media/image22.svg"/><Relationship Id="rId6" Type="http://schemas.openxmlformats.org/officeDocument/2006/relationships/image" Target="media/image23.svg"/><Relationship Id="rId7" Type="http://schemas.openxmlformats.org/officeDocument/2006/relationships/image" Target="media/image24.svg"/><Relationship Id="rId8" Type="http://schemas.openxmlformats.org/officeDocument/2006/relationships/image" Target="media/image25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19.svg"/><Relationship Id="rId3" Type="http://schemas.openxmlformats.org/officeDocument/2006/relationships/image" Target="media/image20.svg"/><Relationship Id="rId4" Type="http://schemas.openxmlformats.org/officeDocument/2006/relationships/image" Target="media/image21.svg"/><Relationship Id="rId5" Type="http://schemas.openxmlformats.org/officeDocument/2006/relationships/image" Target="media/image22.svg"/><Relationship Id="rId6" Type="http://schemas.openxmlformats.org/officeDocument/2006/relationships/image" Target="media/image23.svg"/><Relationship Id="rId7" Type="http://schemas.openxmlformats.org/officeDocument/2006/relationships/image" Target="media/image24.svg"/><Relationship Id="rId8" Type="http://schemas.openxmlformats.org/officeDocument/2006/relationships/image" Target="media/image25.sv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31.svg"/><Relationship Id="rId3" Type="http://schemas.openxmlformats.org/officeDocument/2006/relationships/image" Target="media/image32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33.png"/><Relationship Id="rId3" Type="http://schemas.openxmlformats.org/officeDocument/2006/relationships/image" Target="media/image7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46.svg"/><Relationship Id="rId3" Type="http://schemas.openxmlformats.org/officeDocument/2006/relationships/image" Target="media/image47.svg"/><Relationship Id="rId4" Type="http://schemas.openxmlformats.org/officeDocument/2006/relationships/image" Target="media/image48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25.svg"/><Relationship Id="rId3" Type="http://schemas.openxmlformats.org/officeDocument/2006/relationships/image" Target="media/image38.svg"/><Relationship Id="rId4" Type="http://schemas.openxmlformats.org/officeDocument/2006/relationships/image" Target="media/image39.svg"/><Relationship Id="rId5" Type="http://schemas.openxmlformats.org/officeDocument/2006/relationships/image" Target="media/image40.svg"/><Relationship Id="rId6" Type="http://schemas.openxmlformats.org/officeDocument/2006/relationships/image" Target="media/image41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25.svg"/><Relationship Id="rId3" Type="http://schemas.openxmlformats.org/officeDocument/2006/relationships/image" Target="media/image38.svg"/><Relationship Id="rId4" Type="http://schemas.openxmlformats.org/officeDocument/2006/relationships/image" Target="media/image39.svg"/><Relationship Id="rId5" Type="http://schemas.openxmlformats.org/officeDocument/2006/relationships/image" Target="media/image40.svg"/><Relationship Id="rId6" Type="http://schemas.openxmlformats.org/officeDocument/2006/relationships/image" Target="media/image41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3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44.svg"/><Relationship Id="rId3" Type="http://schemas.openxmlformats.org/officeDocument/2006/relationships/image" Target="media/image25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11.svg"/><Relationship Id="rId3" Type="http://schemas.openxmlformats.org/officeDocument/2006/relationships/image" Target="media/image12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46.svg"/><Relationship Id="rId3" Type="http://schemas.openxmlformats.org/officeDocument/2006/relationships/image" Target="media/image47.svg"/><Relationship Id="rId4" Type="http://schemas.openxmlformats.org/officeDocument/2006/relationships/image" Target="media/image48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1.png"/><Relationship Id="rId3" Type="http://schemas.openxmlformats.org/officeDocument/2006/relationships/image" Target="media/image45.svg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2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55000">
                <a:srgbClr val="1E3A8A">
                  <a:alpha val="60000"/>
                </a:srgbClr>
              </a:gs>
              <a:gs pos="100000">
                <a:srgbClr val="1E3A8A">
                  <a:alpha val="2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800100" y="1905000"/>
            <a:ext cx="55245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485900" y="1809750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AI 通识培训 · 初级 · 实战</a:t>
            </a:r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0591800" cy="10763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实战项目工作坊</a:t>
            </a:r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3552825"/>
            <a:ext cx="10591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拿 AI 干一件真事</a:t>
            </a:r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1059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从「会用工具」到「干成事」—— 一人一真实项目 · 零代码 · 当堂验收</a:t>
            </a:r>
          </a:p>
        </p:txBody>
      </p:sp>
      <p:sp>
        <p:nvSpPr>
          <p:cNvPr id="10" name=""/>
          <p:cNvSpPr/>
          <p:nvPr/>
        </p:nvSpPr>
        <p:spPr>
          <a:xfrm rot="0" flipH="0" flipV="0">
            <a:off x="800100" y="4657725"/>
            <a:ext cx="1057275" cy="390525"/>
          </a:xfrm>
          <a:prstGeom prst="roundRect">
            <a:avLst>
              <a:gd name="adj" fmla="val 243658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09650" y="4752975"/>
            <a:ext cx="638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FD9F0"/>
                </a:solidFill>
                <a:latin typeface="PingFang SC"/>
                <a:ea typeface="PingFang SC"/>
              </a:rPr>
              <a:t>4 大章节</a:t>
            </a:r>
          </a:p>
        </p:txBody>
      </p:sp>
      <p:sp>
        <p:nvSpPr>
          <p:cNvPr id="12" name=""/>
          <p:cNvSpPr/>
          <p:nvPr/>
        </p:nvSpPr>
        <p:spPr>
          <a:xfrm rot="0" flipH="0" flipV="0">
            <a:off x="1990725" y="4657725"/>
            <a:ext cx="838200" cy="390525"/>
          </a:xfrm>
          <a:prstGeom prst="roundRect">
            <a:avLst>
              <a:gd name="adj" fmla="val 24365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00275" y="475297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C471"/>
                </a:solidFill>
                <a:latin typeface="PingFang SC"/>
                <a:ea typeface="PingFang SC"/>
              </a:rPr>
              <a:t>1 个真实项目</a:t>
            </a:r>
          </a:p>
        </p:txBody>
      </p:sp>
      <p:sp>
        <p:nvSpPr>
          <p:cNvPr id="14" name=""/>
          <p:cNvSpPr/>
          <p:nvPr/>
        </p:nvSpPr>
        <p:spPr>
          <a:xfrm rot="0" flipH="0" flipV="0">
            <a:off x="2962275" y="4657725"/>
            <a:ext cx="1228725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171825" y="47529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当堂验收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1052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工作坊目录</a:t>
            </a:r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105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从「会用工具」到「干成事」—— 四章，走完一个验收通过的项目</a:t>
            </a:r>
          </a:p>
        </p:txBody>
      </p:sp>
      <p:sp>
        <p:nvSpPr>
          <p:cNvPr id="285" name=""/>
          <p:cNvSpPr/>
          <p:nvPr/>
        </p:nvSpPr>
        <p:spPr>
          <a:xfrm rot="0" flipH="0" flipV="0">
            <a:off x="685800" y="1314450"/>
            <a:ext cx="2381250" cy="4857750"/>
          </a:xfrm>
          <a:prstGeom prst="roundRect">
            <a:avLst>
              <a:gd name="adj" fmla="val 72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71550" y="2590800"/>
            <a:ext cx="180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7FD9F0"/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71550" y="2952750"/>
            <a:ext cx="1809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Space Grotesk"/>
                <a:ea typeface="Space Grotesk"/>
              </a:rPr>
              <a:t>1</a:t>
            </a:r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71550" y="371475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个真实项目</a:t>
            </a:r>
          </a:p>
        </p:txBody>
      </p:sp>
      <p:sp>
        <p:nvSpPr>
          <p:cNvPr id="289" name=""/>
          <p:cNvSpPr/>
          <p:nvPr/>
        </p:nvSpPr>
        <p:spPr>
          <a:xfrm rot="0" flipH="0" flipV="0">
            <a:off x="971550" y="4181475"/>
            <a:ext cx="5143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180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项目失败，80% 死在选题；</a:t>
            </a: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项目成功，80% 靠验收。</a:t>
            </a:r>
          </a:p>
        </p:txBody>
      </p:sp>
      <p:sp>
        <p:nvSpPr>
          <p:cNvPr id="291" name=""/>
          <p:cNvSpPr/>
          <p:nvPr/>
        </p:nvSpPr>
        <p:spPr>
          <a:xfrm rot="0" flipH="0" flipV="0">
            <a:off x="3333750" y="13248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524250" y="14400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229100" y="14016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选题：先找对那一件活</a:t>
            </a:r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229100" y="16704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项目三件套 · 好选题三条件 · 项目库 26 包挑一</a:t>
            </a:r>
          </a:p>
        </p:txBody>
      </p:sp>
      <p:pic xmlns:asvg="http://schemas.microsoft.com/office/drawing/2016/SVG/main"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25200" y="1516800"/>
            <a:ext cx="190500" cy="190500"/>
          </a:xfrm>
          <a:prstGeom prst="rect">
            <a:avLst/>
          </a:prstGeom>
          <a:ln/>
        </p:spPr>
      </p:pic>
      <p:sp>
        <p:nvSpPr>
          <p:cNvPr id="296" name=""/>
          <p:cNvSpPr/>
          <p:nvPr/>
        </p:nvSpPr>
        <p:spPr>
          <a:xfrm rot="0" flipH="0" flipV="0">
            <a:off x="3333750" y="19392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524250" y="20544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229100" y="20160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一页立项</a:t>
            </a:r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229100" y="22848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六字段，开工前先定「怎么算成」</a:t>
            </a:r>
          </a:p>
        </p:txBody>
      </p:sp>
      <p:pic xmlns:asvg="http://schemas.microsoft.com/office/drawing/2016/SVG/main"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25200" y="2131200"/>
            <a:ext cx="190500" cy="190500"/>
          </a:xfrm>
          <a:prstGeom prst="rect">
            <a:avLst/>
          </a:prstGeom>
          <a:ln/>
        </p:spPr>
      </p:pic>
      <p:sp>
        <p:nvSpPr>
          <p:cNvPr id="301" name=""/>
          <p:cNvSpPr/>
          <p:nvPr/>
        </p:nvSpPr>
        <p:spPr>
          <a:xfrm rot="0" flipH="0" flipV="0">
            <a:off x="3333750" y="25536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524250" y="26688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229100" y="26304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用 AI 做</a:t>
            </a:r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229100" y="28992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拆 3-5 步 · 三版迭代 · 人终审 · 断点纪律</a:t>
            </a:r>
          </a:p>
        </p:txBody>
      </p:sp>
      <p:pic xmlns:asvg="http://schemas.microsoft.com/office/drawing/2016/SVG/main">
        <p:nvPicPr>
          <p:cNvPr id="3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25200" y="2745600"/>
            <a:ext cx="190500" cy="190500"/>
          </a:xfrm>
          <a:prstGeom prst="rect">
            <a:avLst/>
          </a:prstGeom>
          <a:ln/>
        </p:spPr>
      </p:pic>
      <p:sp>
        <p:nvSpPr>
          <p:cNvPr id="306" name=""/>
          <p:cNvSpPr/>
          <p:nvPr/>
        </p:nvSpPr>
        <p:spPr>
          <a:xfrm rot="0" flipH="0" flipV="0">
            <a:off x="3333750" y="31680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524250" y="32832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229100" y="32448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验收与算账</a:t>
            </a:r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229100" y="35136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验收 5 条 · ROI · 2 分钟路演 · 结业三件套</a:t>
            </a:r>
          </a:p>
        </p:txBody>
      </p:sp>
      <p:pic xmlns:asvg="http://schemas.microsoft.com/office/drawing/2016/SVG/main">
        <p:nvPicPr>
          <p:cNvPr id="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25200" y="3360000"/>
            <a:ext cx="190500" cy="190500"/>
          </a:xfrm>
          <a:prstGeom prst="rect">
            <a:avLst/>
          </a:prstGeom>
          <a:ln/>
        </p:spPr>
      </p:pic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 / 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14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515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ONE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选题 | 先找对那一件活</a:t>
            </a:r>
          </a:p>
        </p:txBody>
      </p:sp>
      <p:sp>
        <p:nvSpPr>
          <p:cNvPr id="519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项目 = 任务 + 交付物 + 验收。项目失败，80% 死在选题。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5908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会工具 ≠ 会干活</a:t>
            </a:r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PPT1 解决「会用」，这节课解决「干成」</a:t>
            </a:r>
          </a:p>
        </p:txBody>
      </p:sp>
      <p:sp>
        <p:nvSpPr>
          <p:cNvPr id="236" name=""/>
          <p:cNvSpPr/>
          <p:nvPr/>
        </p:nvSpPr>
        <p:spPr>
          <a:xfrm rot="0" flipH="0" flipV="0">
            <a:off x="685800" y="1295400"/>
            <a:ext cx="63436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971550" y="15811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85850" y="1695450"/>
            <a:ext cx="285750" cy="2857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0200" y="1581150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891B2"/>
                </a:solidFill>
                <a:latin typeface="PingFang SC"/>
                <a:ea typeface="PingFang SC"/>
              </a:rPr>
              <a:t>PPT1 结束时</a:t>
            </a:r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600200" y="19050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会用工具</a:t>
            </a:r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71550" y="2247900"/>
            <a:ext cx="5772150" cy="3619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你会用 AI 写周报、出纪要、查资料——工具会用了。但回去最常见的一句话是：「工具我会了，可我还是不知道从哪个活下手。」缺的不是工具，是「从任务到交付」的完整一遍。</a:t>
            </a:r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1295400"/>
            <a:ext cx="4229100" cy="4857750"/>
          </a:xfrm>
          <a:prstGeom prst="roundRect">
            <a:avLst>
              <a:gd name="adj" fmla="val 40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543800" y="15621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58100" y="1676400"/>
            <a:ext cx="285750" cy="2857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72450" y="1562100"/>
            <a:ext cx="152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8C471"/>
                </a:solidFill>
                <a:latin typeface="PingFang SC"/>
                <a:ea typeface="PingFang SC"/>
              </a:rPr>
              <a:t>这节课补的</a:t>
            </a:r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172450" y="18859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C4E8"/>
                </a:solidFill>
                <a:latin typeface="PingFang SC"/>
                <a:ea typeface="PingFang SC"/>
              </a:rPr>
              <a:t>完整干完一个项目</a:t>
            </a:r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543800" y="2228850"/>
            <a:ext cx="3695700" cy="3143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选题 → 立项 → 用 AI 做 → 验收算账。完整走一遍，你面对活时再也不会说「不知道从哪下手」。客户为「解决了一个问题」付费，不是为「上了一节课」付费。</a:t>
            </a:r>
          </a:p>
        </p:txBody>
      </p:sp>
      <p:sp>
        <p:nvSpPr>
          <p:cNvPr id="248" name=""/>
          <p:cNvSpPr/>
          <p:nvPr/>
        </p:nvSpPr>
        <p:spPr>
          <a:xfrm rot="0" flipH="0" flipV="0">
            <a:off x="7543800" y="5524500"/>
            <a:ext cx="3695700" cy="381000"/>
          </a:xfrm>
          <a:custGeom>
            <a:pathLst>
              <a:path w="388" h="40">
                <a:moveTo>
                  <a:pt x="0" y="0"/>
                </a:moveTo>
                <a:lnTo>
                  <a:pt x="388" y="0"/>
                </a:lnTo>
                <a:lnTo>
                  <a:pt x="38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43800" y="56769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口诀：PPT1 学工具，这节课干成事。</a:t>
            </a:r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4 / 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076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项目三件套</a:t>
            </a:r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缺一样，就不是项目</a:t>
            </a:r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525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14425" y="1724025"/>
            <a:ext cx="342900" cy="3429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件一</a:t>
            </a:r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25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任务</a:t>
            </a:r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要干什么：自己岗位每周真实发生的 1 件活。如：手工写周报、整理会议纪要、对一张表。</a:t>
            </a:r>
          </a:p>
        </p:txBody>
      </p:sp>
      <p:sp>
        <p:nvSpPr>
          <p:cNvPr id="532" name=""/>
          <p:cNvSpPr/>
          <p:nvPr/>
        </p:nvSpPr>
        <p:spPr>
          <a:xfrm rot="0" flipH="0" flipV="0">
            <a:off x="9525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判断：1 天能做完吗？</a:t>
            </a:r>
          </a:p>
        </p:txBody>
      </p:sp>
      <p:sp>
        <p:nvSpPr>
          <p:cNvPr id="534" name=""/>
          <p:cNvSpPr/>
          <p:nvPr/>
        </p:nvSpPr>
        <p:spPr>
          <a:xfrm rot="0" flipH="0" flipV="0">
            <a:off x="436245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62915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791075" y="1724025"/>
            <a:ext cx="342900" cy="342900"/>
          </a:xfrm>
          <a:prstGeom prst="rect">
            <a:avLst/>
          </a:prstGeom>
          <a:ln/>
        </p:spPr>
      </p:pic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件二</a:t>
            </a:r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2915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交付物</a:t>
            </a:r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62915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交出什么：1 个能打开的文件或页面（报告/页面/表格）。不是「我在聊天窗里试过了」。</a:t>
            </a:r>
          </a:p>
        </p:txBody>
      </p:sp>
      <p:sp>
        <p:nvSpPr>
          <p:cNvPr id="540" name=""/>
          <p:cNvSpPr/>
          <p:nvPr/>
        </p:nvSpPr>
        <p:spPr>
          <a:xfrm rot="0" flipH="0" flipV="0">
            <a:off x="462915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2915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判断：别人电脑打得开吗？</a:t>
            </a:r>
          </a:p>
        </p:txBody>
      </p:sp>
      <p:sp>
        <p:nvSpPr>
          <p:cNvPr id="542" name=""/>
          <p:cNvSpPr/>
          <p:nvPr/>
        </p:nvSpPr>
        <p:spPr>
          <a:xfrm rot="0" flipH="0" flipV="0">
            <a:off x="80391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3058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67725" y="1724025"/>
            <a:ext cx="342900" cy="34290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058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件三</a:t>
            </a:r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058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验收</a:t>
            </a:r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058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怎么算成：2-3 条能勾的东西。如「数字对得上原表」「5 个问答全部可溯源」。</a:t>
            </a:r>
          </a:p>
        </p:txBody>
      </p:sp>
      <p:sp>
        <p:nvSpPr>
          <p:cNvPr id="548" name=""/>
          <p:cNvSpPr/>
          <p:nvPr/>
        </p:nvSpPr>
        <p:spPr>
          <a:xfrm rot="0" flipH="0" flipV="0">
            <a:off x="83058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058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判断：同事能逐条勾吗？</a:t>
            </a:r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5 / 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076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好选题三条件</a:t>
            </a:r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三条全中才算选题；只中两条 = 题还没选对</a:t>
            </a:r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525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4425" y="1724025"/>
            <a:ext cx="342900" cy="3429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条件一</a:t>
            </a:r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25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小</a:t>
            </a:r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1 天能做完。宁可做「周报自动化」，不做「部门数字化转型」——大题目听着漂亮，课上没人做得了。</a:t>
            </a:r>
          </a:p>
        </p:txBody>
      </p:sp>
      <p:sp>
        <p:nvSpPr>
          <p:cNvPr id="532" name=""/>
          <p:cNvSpPr/>
          <p:nvPr/>
        </p:nvSpPr>
        <p:spPr>
          <a:xfrm rot="0" flipH="0" flipV="0">
            <a:off x="9525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检验：最后一句话说得出来吗？</a:t>
            </a:r>
          </a:p>
        </p:txBody>
      </p:sp>
      <p:sp>
        <p:nvSpPr>
          <p:cNvPr id="534" name=""/>
          <p:cNvSpPr/>
          <p:nvPr/>
        </p:nvSpPr>
        <p:spPr>
          <a:xfrm rot="0" flipH="0" flipV="0">
            <a:off x="436245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62915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91075" y="1724025"/>
            <a:ext cx="342900" cy="342900"/>
          </a:xfrm>
          <a:prstGeom prst="rect">
            <a:avLst/>
          </a:prstGeom>
          <a:ln/>
        </p:spPr>
      </p:pic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条件二</a:t>
            </a:r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2915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高频</a:t>
            </a:r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62915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每周/每月都在做。高频选题 = 课后一直在省时间；一年一次的活，不值得立项。</a:t>
            </a:r>
          </a:p>
        </p:txBody>
      </p:sp>
      <p:sp>
        <p:nvSpPr>
          <p:cNvPr id="540" name=""/>
          <p:cNvSpPr/>
          <p:nvPr/>
        </p:nvSpPr>
        <p:spPr>
          <a:xfrm rot="0" flipH="0" flipV="0">
            <a:off x="462915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2915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检验：下一次它什么时候发生？</a:t>
            </a:r>
          </a:p>
        </p:txBody>
      </p:sp>
      <p:sp>
        <p:nvSpPr>
          <p:cNvPr id="542" name=""/>
          <p:cNvSpPr/>
          <p:nvPr/>
        </p:nvSpPr>
        <p:spPr>
          <a:xfrm rot="0" flipH="0" flipV="0">
            <a:off x="80391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3058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67725" y="1724025"/>
            <a:ext cx="342900" cy="34290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058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条件三</a:t>
            </a:r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058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可验证</a:t>
            </a:r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058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对得上原表/原流程：数字一致、页面能开、答案可溯源。「领导满意」不是验收，是许愿。</a:t>
            </a:r>
          </a:p>
        </p:txBody>
      </p:sp>
      <p:sp>
        <p:nvSpPr>
          <p:cNvPr id="548" name=""/>
          <p:cNvSpPr/>
          <p:nvPr/>
        </p:nvSpPr>
        <p:spPr>
          <a:xfrm rot="0" flipH="0" flipV="0">
            <a:off x="83058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058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检验：同事能逐条勾吗？</a:t>
            </a:r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6 /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反例清单：这 5 种选题别碰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碰一个，卡一半——五种都有真实「翻车现场」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7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① 大而空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「部门数字化转型」这类题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听着高大上，拆不出步骤、验不了收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改法：里面找 1 个小而高频的活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② 没数据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「帮公司降本」这类题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没有原表/原流程，AI 只能泛泛而谈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改法：至少带 1 份原表/原始记录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③ 不可验证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「提升影响力」这类题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「领导满意」勾不了，谁也说不成没成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改法：写 2-3 条可勾的验收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④ 涉密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核心工艺/参数/客户名单类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撞保密红线：不是项目失败，是事故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改法：脱敏，或换题（零容忍）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⑤ 偶发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一周/一月才一次的活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课上没法验证，课后也不会再做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改法：找同类的高频版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课堂动作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你的选题对一遍这 5 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碰了：当场换（3 分钟/人）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没碰：进入下一步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课堂动作：选题对这 5 条自查一遍；碰了，当场换（3 分钟/人）；没碰，进入下一步。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AI 项目库全景：26 个独立项目包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挑 1-2 包穿插：一低一高；个人起步 L1/L2，组模式上 L4/多Agent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8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L1 文档类（3 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A1 周报 · A2 纪要 · A3 对账小结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交付物：1 个文件；零门槛、首次推荐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个人 · 60-70min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L2 网页·小程序（5 包）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B1 签到 · B2 借用 · B3 报名 · C1 问卷 · C2 测验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单页 HTML 工具，不接真后端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个人 · 70-80min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L3 知识库·数据（4 包）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D1 知识库 RAG · D4 数据报告 · D10 分析 Agent · D13 OCR 台账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答案可溯源、数字对得上、票据直入表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个人/小组 · 80-90min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L3 智能体类（7 包）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D2 任务 · D7 客服 · D8 网页收集 · D9 文档批处理 · D11 检索调研 · D15 多Agent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当前最主流：AI 自主跑多步任务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个人/小组 · 80-90min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L3 工具·多模态+L4（8 包）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D3 自动化流 · D12 定时报表 · D14 表单通知 · D5 海报 · D6 短视频 · E1-E3 原型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组项目只上 L4 原型 / 多Agent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个人/小组 · 80min-3h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选型纪律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一次课穿插 ≤ 2 个包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小 · 高频 · 可验证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AI 写代码，你当导演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包内示例只是梯子：换成自己岗位的材料，才是自己的项目。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现场：写下你的选题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20 分钟 · 任务征集单 + 三条件自检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9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写下来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在《任务征集单》填「项目名 + 真实任务 + 三条件自检」。想不出题？看项目库，挑离你最近的包。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第一步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自检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小（1 天能完）？高频（每周/月做）？可验证（对得上原表）？三条勾不满，当场换题。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三关自检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逐个过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讲师逐个过第一轮，3 分钟/人：卡题？当场换；题大？当场砍；涉密？当场换。过完人人手里有题。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第二步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课上材料一律脱敏/代号；拿不准的，先选 A1 周报包——不许空题离场。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8" name=""/>
          <p:cNvPicPr>
            <a:picLocks noChangeAspect="1"/>
          </p:cNvPicPr>
          <p:nvPr/>
        </p:nvPicPr>
        <p:blipFill>
          <a:blip r:embed="rId2">
            <a:alphaModFix amt="55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579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TWO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一页立项 | 开工前先定「怎么算成」</a:t>
            </a:r>
          </a:p>
        </p:txBody>
      </p:sp>
      <p:sp>
        <p:nvSpPr>
          <p:cNvPr id="583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立项不是写大文档，是 1 页纸上定死 6 个字段。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立项书六字段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一页纸、六个字段——写不下，就是题选大了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11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① 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为什么做：现在手工干这活有多费劲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「每周五手工写周报，约 60 分钟」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一句话写出现状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② 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量化：时间 + 数字 + 交付物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「每周五 15 分钟出初稿」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不写「做得更好」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③ 输入数据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用什么材料、脱敏没有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「本周工作记录，已脱敏入库」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没数据 = 不能开工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④ AI 任务拆解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拆成 3-5 步 AI 能独立执行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收集 → 出初稿 → 核对 → 定稿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拆不动 = 题还是太大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⑤ 验收标准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2-3 条能勾的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「数字抽 3 处一致 + 格式符合模板」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「领导满意」不算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⑥ ROI 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只算自己岗位的一笔账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「省 45min/周 ≈ 3h/月」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不算「公司战略」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现场：发《项目立项书模板》，15 分钟独立填完自己的一页立项书。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7527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范例① 周报自动化（办公岗）</a:t>
            </a:r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立项书六字段逐字段读——这就是标准答案</a:t>
            </a:r>
          </a:p>
        </p:txBody>
      </p:sp>
      <p:sp>
        <p:nvSpPr>
          <p:cNvPr id="161" name=""/>
          <p:cNvSpPr/>
          <p:nvPr/>
        </p:nvSpPr>
        <p:spPr>
          <a:xfrm rot="0" flipH="0" flipV="0">
            <a:off x="685800" y="1295400"/>
            <a:ext cx="5819775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5286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91B2"/>
                </a:solidFill>
                <a:latin typeface="PingFang SC"/>
                <a:ea typeface="PingFang SC"/>
              </a:rPr>
              <a:t>立项书六字段（可直接抄结构）</a:t>
            </a:r>
          </a:p>
        </p:txBody>
      </p:sp>
      <p:sp>
        <p:nvSpPr>
          <p:cNvPr id="163" name=""/>
          <p:cNvSpPr/>
          <p:nvPr/>
        </p:nvSpPr>
        <p:spPr>
          <a:xfrm rot="0" flipH="0" flipV="0">
            <a:off x="952500" y="1943100"/>
            <a:ext cx="5286375" cy="3943350"/>
          </a:xfrm>
          <a:prstGeom prst="roundRect">
            <a:avLst>
              <a:gd name="adj" fmla="val 2899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2133600"/>
            <a:ext cx="190500" cy="19050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447800" y="21336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背景：每周五下午手工写周报，约 60 分钟</a:t>
            </a:r>
          </a:p>
        </p:txBody>
      </p:sp>
      <p:pic xmlns:asvg="http://schemas.microsoft.com/office/drawing/2016/SVG/main"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2457450"/>
            <a:ext cx="190500" cy="19050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447800" y="2457450"/>
            <a:ext cx="2790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目标：每周五 15 分钟出初稿（AI 生成 + 人终审 10 分钟）</a:t>
            </a:r>
          </a:p>
        </p:txBody>
      </p:sp>
      <p:pic xmlns:asvg="http://schemas.microsoft.com/office/drawing/2016/SVG/main"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2781300"/>
            <a:ext cx="190500" cy="190500"/>
          </a:xfrm>
          <a:prstGeom prst="rect">
            <a:avLst/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447800" y="27813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输入数据：本周工作记录（脱敏，已入 WorkBuddy 资料库）</a:t>
            </a:r>
          </a:p>
        </p:txBody>
      </p:sp>
      <p:pic xmlns:asvg="http://schemas.microsoft.com/office/drawing/2016/SVG/main"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3105150"/>
            <a:ext cx="190500" cy="19050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447800" y="3105150"/>
            <a:ext cx="2905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拆解：① 汇总本周记录 ② 按模板出初稿 ③ 人核对数字定稿</a:t>
            </a:r>
          </a:p>
        </p:txBody>
      </p:sp>
      <p:pic xmlns:asvg="http://schemas.microsoft.com/office/drawing/2016/SVG/main"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3429000"/>
            <a:ext cx="190500" cy="19050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47800" y="3429000"/>
            <a:ext cx="280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验收 + ROI：数字抽 3 处一致、格式合模板；省 45min/周 ≈ 3h/月</a:t>
            </a:r>
          </a:p>
        </p:txBody>
      </p:sp>
      <p:sp>
        <p:nvSpPr>
          <p:cNvPr id="174" name=""/>
          <p:cNvSpPr/>
          <p:nvPr/>
        </p:nvSpPr>
        <p:spPr>
          <a:xfrm rot="0" flipH="0" flipV="0">
            <a:off x="6753225" y="1295400"/>
            <a:ext cx="4752975" cy="1257300"/>
          </a:xfrm>
          <a:prstGeom prst="roundRect">
            <a:avLst>
              <a:gd name="adj" fmla="val 10606"/>
            </a:avLst>
          </a:prstGeom>
          <a:solidFill>
            <a:srgbClr val="EEF1F5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943725" y="1485900"/>
            <a:ext cx="209550" cy="2095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248525" y="1485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PingFang SC"/>
                <a:ea typeface="PingFang SC"/>
              </a:rPr>
              <a:t>常见错法</a:t>
            </a:r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943725" y="1790700"/>
            <a:ext cx="43719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 i="1">
                <a:solidFill>
                  <a:srgbClr val="475569"/>
                </a:solidFill>
                <a:latin typeface="PingFang SC"/>
                <a:ea typeface="PingFang SC"/>
              </a:rPr>
              <a:t>「目标：把周报做得更好」</a:t>
            </a:r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943725" y="219075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PingFang SC"/>
                <a:ea typeface="PingFang SC"/>
              </a:rPr>
              <a:t>→ 改法：「15 分钟出初稿」</a:t>
            </a:r>
          </a:p>
        </p:txBody>
      </p:sp>
      <p:sp>
        <p:nvSpPr>
          <p:cNvPr id="179" name=""/>
          <p:cNvSpPr/>
          <p:nvPr/>
        </p:nvSpPr>
        <p:spPr>
          <a:xfrm rot="0" flipH="0" flipV="0">
            <a:off x="6753225" y="2705100"/>
            <a:ext cx="4752975" cy="3448050"/>
          </a:xfrm>
          <a:prstGeom prst="roundRect">
            <a:avLst>
              <a:gd name="adj" fmla="val 3867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943725" y="2895600"/>
            <a:ext cx="209550" cy="20955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248525" y="28956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正确示范</a:t>
            </a:r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943725" y="3200400"/>
            <a:ext cx="4371975" cy="2495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>「目标：每周五 15 分钟出周报初稿。输入：本周工作记录（脱敏）；拆解：汇总 → 按部门模板生成 → 人核 3 处数字后定稿。验收：数字抽 3 处一致、格式符合模板、终审 10 分钟内。」</a:t>
            </a:r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943725" y="579120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→ 结果：验收可勾、ROI 可算</a:t>
            </a:r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12 / 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7527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范例② 部门知识库（RAG·通用岗）</a:t>
            </a:r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当前最流行的企业 AI 项目形态，做小、做可验证</a:t>
            </a:r>
          </a:p>
        </p:txBody>
      </p:sp>
      <p:sp>
        <p:nvSpPr>
          <p:cNvPr id="161" name=""/>
          <p:cNvSpPr/>
          <p:nvPr/>
        </p:nvSpPr>
        <p:spPr>
          <a:xfrm rot="0" flipH="0" flipV="0">
            <a:off x="685800" y="1295400"/>
            <a:ext cx="5819775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5286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91B2"/>
                </a:solidFill>
                <a:latin typeface="PingFang SC"/>
                <a:ea typeface="PingFang SC"/>
              </a:rPr>
              <a:t>立项书六字段（项目库 D1）</a:t>
            </a:r>
          </a:p>
        </p:txBody>
      </p:sp>
      <p:sp>
        <p:nvSpPr>
          <p:cNvPr id="163" name=""/>
          <p:cNvSpPr/>
          <p:nvPr/>
        </p:nvSpPr>
        <p:spPr>
          <a:xfrm rot="0" flipH="0" flipV="0">
            <a:off x="952500" y="1943100"/>
            <a:ext cx="5286375" cy="3943350"/>
          </a:xfrm>
          <a:prstGeom prst="roundRect">
            <a:avLst>
              <a:gd name="adj" fmla="val 2899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2133600"/>
            <a:ext cx="190500" cy="19050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447800" y="21336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背景：同一批流程问题反复被问，答疑占掉大量时间</a:t>
            </a:r>
          </a:p>
        </p:txBody>
      </p:sp>
      <p:pic xmlns:asvg="http://schemas.microsoft.com/office/drawing/2016/SVG/main"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2457450"/>
            <a:ext cx="190500" cy="19050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447800" y="2457450"/>
            <a:ext cx="2790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目标：5 个高频流程问题，同事提问能答且答案可溯源</a:t>
            </a:r>
          </a:p>
        </p:txBody>
      </p:sp>
      <p:pic xmlns:asvg="http://schemas.microsoft.com/office/drawing/2016/SVG/main"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2781300"/>
            <a:ext cx="190500" cy="190500"/>
          </a:xfrm>
          <a:prstGeom prst="rect">
            <a:avLst/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447800" y="27813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输入数据：5 个高频问题 + 流程说明 2-3 份（脱敏，已入库）</a:t>
            </a:r>
          </a:p>
        </p:txBody>
      </p:sp>
      <p:pic xmlns:asvg="http://schemas.microsoft.com/office/drawing/2016/SVG/main"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3105150"/>
            <a:ext cx="190500" cy="19050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447800" y="3105150"/>
            <a:ext cx="2905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拆解：① 写问答文档 ② 材料入库 ③ 逐题问验证溯源 ④ 答不好的拆文档再问</a:t>
            </a:r>
          </a:p>
        </p:txBody>
      </p:sp>
      <p:pic xmlns:asvg="http://schemas.microsoft.com/office/drawing/2016/SVG/main"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143000" y="3429000"/>
            <a:ext cx="190500" cy="19050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47800" y="3429000"/>
            <a:ext cx="280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验收 + ROI：5 问全可溯源、答错 0；省答疑约 1h/周</a:t>
            </a:r>
          </a:p>
        </p:txBody>
      </p:sp>
      <p:sp>
        <p:nvSpPr>
          <p:cNvPr id="174" name=""/>
          <p:cNvSpPr/>
          <p:nvPr/>
        </p:nvSpPr>
        <p:spPr>
          <a:xfrm rot="0" flipH="0" flipV="0">
            <a:off x="6753225" y="1295400"/>
            <a:ext cx="4752975" cy="1257300"/>
          </a:xfrm>
          <a:prstGeom prst="roundRect">
            <a:avLst>
              <a:gd name="adj" fmla="val 10606"/>
            </a:avLst>
          </a:prstGeom>
          <a:solidFill>
            <a:srgbClr val="EEF1F5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943725" y="1485900"/>
            <a:ext cx="209550" cy="2095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248525" y="1485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PingFang SC"/>
                <a:ea typeface="PingFang SC"/>
              </a:rPr>
              <a:t>常见错法</a:t>
            </a:r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943725" y="1790700"/>
            <a:ext cx="43719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 i="1">
                <a:solidFill>
                  <a:srgbClr val="475569"/>
                </a:solidFill>
                <a:latin typeface="PingFang SC"/>
                <a:ea typeface="PingFang SC"/>
              </a:rPr>
              <a:t>「建一个知识库」（几个问题？溯源怎么算？）</a:t>
            </a:r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943725" y="219075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PingFang SC"/>
                <a:ea typeface="PingFang SC"/>
              </a:rPr>
              <a:t>→ 改法：定死「5 个问题全部可溯源」</a:t>
            </a:r>
          </a:p>
        </p:txBody>
      </p:sp>
      <p:sp>
        <p:nvSpPr>
          <p:cNvPr id="179" name=""/>
          <p:cNvSpPr/>
          <p:nvPr/>
        </p:nvSpPr>
        <p:spPr>
          <a:xfrm rot="0" flipH="0" flipV="0">
            <a:off x="6753225" y="2705100"/>
            <a:ext cx="4752975" cy="3448050"/>
          </a:xfrm>
          <a:prstGeom prst="roundRect">
            <a:avLst>
              <a:gd name="adj" fmla="val 3867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943725" y="2895600"/>
            <a:ext cx="209550" cy="20955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248525" y="28956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正确示范</a:t>
            </a:r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943725" y="3200400"/>
            <a:ext cx="4371975" cy="2495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>「目标：5 个高频流程问题，同事提问能答，答案全部可溯源到来源文档。输入：5 个问题 + 流程说明 2-3 份（脱敏）。拆解：写问答文档 → 入库 → 逐题问验证 → 答不好的拆文档再问。验收：5 问全部带来源、答错 0。」</a:t>
            </a:r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943725" y="579120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→ 红线：涉密流程/参数，宁可不答，不可答错</a:t>
            </a:r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13 / 33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5908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立项两大错 + 改法</a:t>
            </a:r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看完两错，回自己的立项书对一遍</a:t>
            </a:r>
          </a:p>
        </p:txBody>
      </p:sp>
      <p:sp>
        <p:nvSpPr>
          <p:cNvPr id="236" name=""/>
          <p:cNvSpPr/>
          <p:nvPr/>
        </p:nvSpPr>
        <p:spPr>
          <a:xfrm rot="0" flipH="0" flipV="0">
            <a:off x="685800" y="1295400"/>
            <a:ext cx="63436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971550" y="15811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85850" y="1695450"/>
            <a:ext cx="285750" cy="2857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0200" y="1581150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891B2"/>
                </a:solidFill>
                <a:latin typeface="PingFang SC"/>
                <a:ea typeface="PingFang SC"/>
              </a:rPr>
              <a:t>错一 目标模糊</a:t>
            </a:r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600200" y="19050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「做得更好」——勾不了</a:t>
            </a:r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71550" y="2247900"/>
            <a:ext cx="5772150" cy="3619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目标全是形容词，没数字没时间。验收时你和 AI 各执一词。改法：目标 = 时间 + 数字 + 交付物，如「15 分钟出初稿」。</a:t>
            </a:r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1295400"/>
            <a:ext cx="4229100" cy="4857750"/>
          </a:xfrm>
          <a:prstGeom prst="roundRect">
            <a:avLst>
              <a:gd name="adj" fmla="val 40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543800" y="15621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58100" y="1676400"/>
            <a:ext cx="285750" cy="2857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72450" y="1562100"/>
            <a:ext cx="152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8C471"/>
                </a:solidFill>
                <a:latin typeface="PingFang SC"/>
                <a:ea typeface="PingFang SC"/>
              </a:rPr>
              <a:t>错二 没验收</a:t>
            </a:r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172450" y="18859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C4E8"/>
                </a:solidFill>
                <a:latin typeface="PingFang SC"/>
                <a:ea typeface="PingFang SC"/>
              </a:rPr>
              <a:t>「领导满意」——勾不了</a:t>
            </a:r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543800" y="2228850"/>
            <a:ext cx="3695700" cy="3143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验收写成感觉，验收时谁也说不清成没成。改法：写 2-3 条能勾的，如「数字抽 3 处一致」「页面能打开 + 样例 3 条正确」。</a:t>
            </a:r>
          </a:p>
        </p:txBody>
      </p:sp>
      <p:sp>
        <p:nvSpPr>
          <p:cNvPr id="248" name=""/>
          <p:cNvSpPr/>
          <p:nvPr/>
        </p:nvSpPr>
        <p:spPr>
          <a:xfrm rot="0" flipH="0" flipV="0">
            <a:off x="7543800" y="5524500"/>
            <a:ext cx="3695700" cy="381000"/>
          </a:xfrm>
          <a:custGeom>
            <a:pathLst>
              <a:path w="388" h="40">
                <a:moveTo>
                  <a:pt x="0" y="0"/>
                </a:moveTo>
                <a:lnTo>
                  <a:pt x="388" y="0"/>
                </a:lnTo>
                <a:lnTo>
                  <a:pt x="38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43800" y="56769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口诀：能勾的是项目，不能勾的是许愿。</a:t>
            </a:r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33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现场：填你的立项书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15 分钟 · 独立完成，1 页纸 6 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15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填六字段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发《项目立项书模板》。按顺序填：背景 → 目标 → 输入数据 → 拆解 → 验收 → ROI。写不下 = 题大了，砍目标。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第 1 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自检三问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目标能量化吗？数据带了吗？验收能勾吗？三问答不上来，回头改。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第 2 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讲师巡场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讲师只帮卡住的：卡题？按项目库换方向；卡目标？改成「15 分钟出 XX」；卡验收？先写 1 条能勾的。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第 3 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只有 15 分钟，不恋战；没填完的进第 3 章时补——但执行前必须过 G1 关卡（六字段齐）。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现场：同桌互评立项书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10 分钟 · 每人问同桌三个问题，2 分钟/人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16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问一 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你的目标能量化吗？对方说「做得更好」的，提醒他改成「时间 + 数字 + 交付物」。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2 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问二 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数据带了吗？脱敏了吗？没数据 = 不能开工，先想清楚要往资料库传什么。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2 分钟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问三 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你的验收能勾吗？让他把验收标准逐条念出来；念到「领导满意」，打回重写。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2 分钟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关卡 G1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六字段齐、目标量化、验收可勾，才准进执行段；不过关的当场改（讲师逐个处理）。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8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189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03</a:t>
            </a:r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THREE</a:t>
            </a:r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用 AI 做 | 把项目拆碎，交给 AI</a:t>
            </a:r>
          </a:p>
        </p:txBody>
      </p:sp>
      <p:sp>
        <p:nvSpPr>
          <p:cNvPr id="193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项目不是问出来的，是拆出来的。拆成 3-5 步，AI 才能一步步执行。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任务拆解：拆成 3-5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每步 = 一个 AI 能独立执行的任务；拆不动 = 题还是太大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18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168000" cy="4915200"/>
          </a:xfrm>
          <a:prstGeom prst="roundRect">
            <a:avLst>
              <a:gd name="adj" fmla="val 550000000"/>
            </a:avLst>
          </a:prstGeom>
          <a:solidFill>
            <a:srgbClr val="1E3A8A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593600"/>
            <a:ext cx="2707200" cy="28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拆解三步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1939200"/>
            <a:ext cx="27072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7FD9F0"/>
                </a:solidFill>
                <a:latin typeface="PingFang SC"/>
                <a:ea typeface="PingFang SC"/>
              </a:rPr>
              <a:t>现场带着走 · 谁都会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600" y="23040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400" y="24384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第 1 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4400" y="26496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写清终点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400" y="29376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先一句话写清交付物长什么样：「最后我要一份周报文件。」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600" y="34944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4400" y="36288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第 2 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00" y="38400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切步骤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4400" y="41280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倒推：交付物出来前要干几件事？写成 3-5 步，每步一句话。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600" y="46848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4400" y="48192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第 3 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4400" y="50304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逐步验证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400" y="53184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每步都能让 AI 独立执行、产出可检查；一步里有「和」，就切开。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600" y="5913600"/>
            <a:ext cx="27072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A9C4E8"/>
                </a:solidFill>
                <a:latin typeface="PingFang SC"/>
                <a:ea typeface="PingFang SC"/>
              </a:rPr>
              <a:t>口诀：拆到「AI 能独立执行」为止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70400" y="132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62400" y="155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2400" y="155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600" y="144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例：周报项目拆 4 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600" y="174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「汇总本周记录」→「按模板出初稿」→「人核 3 处数字」→「定稿存文件」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8000" y="144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技巧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0400" y="228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62400" y="251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2400" y="251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7600" y="240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例：签到页项目拆 4 步（B/S）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600" y="270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「第 1 版页面」→「打开改问题」→「登记 3 条样例」→「验收」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8000" y="240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技巧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70400" y="324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62400" y="347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2400" y="347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7600" y="336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判据：一步 = 一个 AI 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7600" y="366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一步里出现「和」（又收集又写又核），就切开；一步说不清一句话，就太大。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8000" y="336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70400" y="420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62400" y="443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62400" y="443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7600" y="432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判据：3-5 步最好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7600" y="462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少于 3 步 = 题太小或太糙；多于 5 步 = 题太大，回选题砍。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8000" y="432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70400" y="516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62400" y="539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2400" y="539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7600" y="528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关卡 G2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7600" y="558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拆解 3-5 步、且验收标准能勾——过了 G2 才进执行段。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88000" y="528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给 WorkBuddy 派任务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一句话任务模板 + 资料库挂材料；派完看它拆任务（回扣 PPT1 演示三看）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19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① 一句话写清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任务模板：目标 + 材料 + 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「汇总本周记录，按部门模板出周报初稿」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越具体越不返工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② 资料库挂材料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本项目脱敏材料先传资料库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本周记录 / 原表 / 模板，都传上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库里没料 = AI 空谈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③ 看它拆任务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发出去先看它怎么拆你的 3-5 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拆得和你方案接近 = 放心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拆得离谱 = 任务没写清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④ 看它调工具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看它读文件、做文档、查资料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读文件 → 做文档 → 出结果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PPT1 演示三看，同款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⑤ 交付物是文件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让它出文件，不是聊天窗回答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周报是 .docx，页面是 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只留在聊天窗 = 要重做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⑥ 先派第一步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只派第 1 步，别整链塞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「先把本周记录汇总列出来」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第 1 步跑通再派第 2 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教学要点：派任务不是「交给 AI」的开始，是「盯着 AI」的开始。（组模式：导演派活、执行操作、QA 盯过程。）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8672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三版迭代：用在项目上</a:t>
            </a:r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867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第 1 版毛坯 → 第 2 版改 → 第 3 版定稿，每版截图存「过程记录」</a:t>
            </a:r>
          </a:p>
        </p:txBody>
      </p:sp>
      <p:sp>
        <p:nvSpPr>
          <p:cNvPr id="257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58" name=""/>
          <p:cNvPicPr>
            <a:picLocks noChangeAspect="1"/>
          </p:cNvPicPr>
          <p:nvPr/>
        </p:nvPicPr>
        <p:blipFill>
          <a:blip r:embed="rId3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PPT1 的三版迭代是用在「一个问题」；这里用在「一个项目」。每轮迭代都截图、记一句「改了什么」——这就是过程记录，验收必备。</a:t>
            </a:r>
          </a:p>
        </p:txBody>
      </p:sp>
      <p:sp>
        <p:nvSpPr>
          <p:cNvPr id="260" name=""/>
          <p:cNvSpPr/>
          <p:nvPr/>
        </p:nvSpPr>
        <p:spPr>
          <a:xfrm rot="0" flipH="0" flipV="0">
            <a:off x="67627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770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第 1 版</a:t>
            </a:r>
          </a:p>
        </p:txBody>
      </p:sp>
      <p:pic xmlns:asvg="http://schemas.microsoft.com/office/drawing/2016/SVG/main">
        <p:nvPicPr>
          <p:cNvPr id="2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53300" y="2181225"/>
            <a:ext cx="152400" cy="152400"/>
          </a:xfrm>
          <a:prstGeom prst="rect">
            <a:avLst/>
          </a:prstGeom>
          <a:ln/>
        </p:spPr>
      </p:pic>
      <p:sp>
        <p:nvSpPr>
          <p:cNvPr id="263" name=""/>
          <p:cNvSpPr/>
          <p:nvPr/>
        </p:nvSpPr>
        <p:spPr>
          <a:xfrm rot="0" flipH="0" flipV="0">
            <a:off x="75628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771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出毛坯</a:t>
            </a:r>
          </a:p>
        </p:txBody>
      </p:sp>
      <p:pic xmlns:asvg="http://schemas.microsoft.com/office/drawing/2016/SVG/main">
        <p:nvPicPr>
          <p:cNvPr id="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53400" y="2181225"/>
            <a:ext cx="152400" cy="152400"/>
          </a:xfrm>
          <a:prstGeom prst="rect">
            <a:avLst/>
          </a:prstGeom>
          <a:ln/>
        </p:spPr>
      </p:pic>
      <p:sp>
        <p:nvSpPr>
          <p:cNvPr id="266" name=""/>
          <p:cNvSpPr/>
          <p:nvPr/>
        </p:nvSpPr>
        <p:spPr>
          <a:xfrm rot="0" flipH="0" flipV="0">
            <a:off x="83629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4772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指出问题改</a:t>
            </a:r>
          </a:p>
        </p:txBody>
      </p:sp>
      <p:pic xmlns:asvg="http://schemas.microsoft.com/office/drawing/2016/SVG/main">
        <p:nvPicPr>
          <p:cNvPr id="2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953500" y="2181225"/>
            <a:ext cx="152400" cy="152400"/>
          </a:xfrm>
          <a:prstGeom prst="rect">
            <a:avLst/>
          </a:prstGeom>
          <a:ln/>
        </p:spPr>
      </p:pic>
      <p:sp>
        <p:nvSpPr>
          <p:cNvPr id="269" name=""/>
          <p:cNvSpPr/>
          <p:nvPr/>
        </p:nvSpPr>
        <p:spPr>
          <a:xfrm rot="0" flipH="0" flipV="0">
            <a:off x="91630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2773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定稿</a:t>
            </a:r>
          </a:p>
        </p:txBody>
      </p:sp>
      <p:pic xmlns:asvg="http://schemas.microsoft.com/office/drawing/2016/SVG/main"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753600" y="2181225"/>
            <a:ext cx="152400" cy="152400"/>
          </a:xfrm>
          <a:prstGeom prst="rect">
            <a:avLst/>
          </a:prstGeom>
          <a:ln/>
        </p:spPr>
      </p:pic>
      <p:sp>
        <p:nvSpPr>
          <p:cNvPr id="272" name=""/>
          <p:cNvSpPr/>
          <p:nvPr/>
        </p:nvSpPr>
        <p:spPr>
          <a:xfrm rot="0" flipH="0" flipV="0">
            <a:off x="99631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0774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截图存证</a:t>
            </a:r>
          </a:p>
        </p:txBody>
      </p:sp>
      <p:sp>
        <p:nvSpPr>
          <p:cNvPr id="274" name=""/>
          <p:cNvSpPr/>
          <p:nvPr/>
        </p:nvSpPr>
        <p:spPr>
          <a:xfrm rot="0" flipH="0" flipV="0">
            <a:off x="6762750" y="2581275"/>
            <a:ext cx="4743450" cy="3057525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934200" y="2752725"/>
            <a:ext cx="44005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第 1 版：让 AI 照拆解放出毛坯，别追求完美；第 2 版：指出具体问题（「第二段太空，加上数据」）让它改；第 3 版：调格式语气定稿。每版 3-5 分钟，一个项目三版基本收工。</a:t>
            </a:r>
          </a:p>
        </p:txBody>
      </p:sp>
      <p:sp>
        <p:nvSpPr>
          <p:cNvPr id="276" name=""/>
          <p:cNvSpPr/>
          <p:nvPr/>
        </p:nvSpPr>
        <p:spPr>
          <a:xfrm rot="0" flipH="0" flipV="0">
            <a:off x="6762750" y="5753100"/>
            <a:ext cx="4743450" cy="400050"/>
          </a:xfrm>
          <a:prstGeom prst="roundRect">
            <a:avLst>
              <a:gd name="adj" fmla="val 23810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915150" y="5848350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一句话：第 1 版是毛坯，第 2 版是方向，第 3 版是交付。</a:t>
            </a:r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20 / 33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076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人做终审：核对三处</a:t>
            </a:r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AI 出初稿，最后一步永远是人：核对、拍板、担责</a:t>
            </a:r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525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4425" y="1724025"/>
            <a:ext cx="342900" cy="3429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核一处</a:t>
            </a:r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25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数字</a:t>
            </a:r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回原表抽 3 处：报告/页面里的数字，必须和原表一致。对不上的改，找不到出处的问它要来源。</a:t>
            </a:r>
          </a:p>
        </p:txBody>
      </p:sp>
      <p:sp>
        <p:nvSpPr>
          <p:cNvPr id="532" name=""/>
          <p:cNvSpPr/>
          <p:nvPr/>
        </p:nvSpPr>
        <p:spPr>
          <a:xfrm rot="0" flipH="0" flipV="0">
            <a:off x="9525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最常见错：AI 编数字</a:t>
            </a:r>
          </a:p>
        </p:txBody>
      </p:sp>
      <p:sp>
        <p:nvSpPr>
          <p:cNvPr id="534" name=""/>
          <p:cNvSpPr/>
          <p:nvPr/>
        </p:nvSpPr>
        <p:spPr>
          <a:xfrm rot="0" flipH="0" flipV="0">
            <a:off x="436245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62915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91075" y="1724025"/>
            <a:ext cx="342900" cy="342900"/>
          </a:xfrm>
          <a:prstGeom prst="rect">
            <a:avLst/>
          </a:prstGeom>
          <a:ln/>
        </p:spPr>
      </p:pic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核二处</a:t>
            </a:r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2915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人名与口径</a:t>
            </a:r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62915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别让它编人名；口径是公司约定的（模板/格式/术语），对口径文件核。拿不准的，问同事。</a:t>
            </a:r>
          </a:p>
        </p:txBody>
      </p:sp>
      <p:sp>
        <p:nvSpPr>
          <p:cNvPr id="540" name=""/>
          <p:cNvSpPr/>
          <p:nvPr/>
        </p:nvSpPr>
        <p:spPr>
          <a:xfrm rot="0" flipH="0" flipV="0">
            <a:off x="462915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2915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最常见错：听着对、口径错</a:t>
            </a:r>
          </a:p>
        </p:txBody>
      </p:sp>
      <p:sp>
        <p:nvSpPr>
          <p:cNvPr id="542" name=""/>
          <p:cNvSpPr/>
          <p:nvPr/>
        </p:nvSpPr>
        <p:spPr>
          <a:xfrm rot="0" flipH="0" flipV="0">
            <a:off x="80391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3058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67725" y="1724025"/>
            <a:ext cx="342900" cy="34290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058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核三处</a:t>
            </a:r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058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红线</a:t>
            </a:r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058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涉密：交付物里有没有涉密信息/真实个人信息？工具：全程用的是批准工具吗？碰线重做，没有商量。</a:t>
            </a:r>
          </a:p>
        </p:txBody>
      </p:sp>
      <p:sp>
        <p:nvSpPr>
          <p:cNvPr id="548" name=""/>
          <p:cNvSpPr/>
          <p:nvPr/>
        </p:nvSpPr>
        <p:spPr>
          <a:xfrm rot="0" flipH="0" flipV="0">
            <a:off x="83058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058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红线：脱敏 · 批准工具 · 人终审</a:t>
            </a:r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21 / 33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457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断点纪律</a:t>
            </a:r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457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断点 = 同事能接手；不然后续维护全靠你</a:t>
            </a:r>
          </a:p>
        </p:txBody>
      </p:sp>
      <p:sp>
        <p:nvSpPr>
          <p:cNvPr id="374" name=""/>
          <p:cNvSpPr/>
          <p:nvPr/>
        </p:nvSpPr>
        <p:spPr>
          <a:xfrm rot="0" flipH="0" flipV="0">
            <a:off x="68580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91440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66800" y="1724025"/>
            <a:ext cx="323850" cy="323850"/>
          </a:xfrm>
          <a:prstGeom prst="rect">
            <a:avLst/>
          </a:prstGeom>
          <a:ln/>
        </p:spPr>
      </p:pic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每步存文件</a:t>
            </a:r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1440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每步做完，把产出存成文件（文件名带日期）。交付物不许只留在聊天窗里。</a:t>
            </a:r>
          </a:p>
        </p:txBody>
      </p:sp>
      <p:sp>
        <p:nvSpPr>
          <p:cNvPr id="380" name=""/>
          <p:cNvSpPr/>
          <p:nvPr/>
        </p:nvSpPr>
        <p:spPr>
          <a:xfrm rot="0" flipH="0" flipV="0">
            <a:off x="343852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43852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66712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819525" y="1724025"/>
            <a:ext cx="323850" cy="3238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66712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每步记一句</a:t>
            </a:r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66712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断点处记一句「干了啥 + 改了啥」。30 秒后，别人（或你自己）能接手。</a:t>
            </a:r>
          </a:p>
        </p:txBody>
      </p:sp>
      <p:sp>
        <p:nvSpPr>
          <p:cNvPr id="386" name=""/>
          <p:cNvSpPr/>
          <p:nvPr/>
        </p:nvSpPr>
        <p:spPr>
          <a:xfrm rot="0" flipH="0" flipV="0">
            <a:off x="619125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19125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41985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572250" y="1724025"/>
            <a:ext cx="323850" cy="323850"/>
          </a:xfrm>
          <a:prstGeom prst="rect">
            <a:avLst/>
          </a:prstGeom>
          <a:ln/>
        </p:spPr>
      </p:pic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41985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三版迭代留痕</a:t>
            </a:r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41985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三版都截图，每张配一句「改了什么」。这就是「过程记录」，验收必备项。</a:t>
            </a:r>
          </a:p>
        </p:txBody>
      </p:sp>
      <p:sp>
        <p:nvSpPr>
          <p:cNvPr id="392" name=""/>
          <p:cNvSpPr/>
          <p:nvPr/>
        </p:nvSpPr>
        <p:spPr>
          <a:xfrm rot="0" flipH="0" flipV="0">
            <a:off x="894397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94397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917257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24975" y="1724025"/>
            <a:ext cx="323850" cy="32385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17257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同事接手验证</a:t>
            </a:r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17257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自检：让同事从你的断点接着做下一步。接得上，断点才算合格。</a:t>
            </a:r>
          </a:p>
        </p:txBody>
      </p:sp>
      <p:sp>
        <p:nvSpPr>
          <p:cNvPr id="398" name=""/>
          <p:cNvSpPr/>
          <p:nvPr/>
        </p:nvSpPr>
        <p:spPr>
          <a:xfrm rot="0" flipH="0" flipV="0">
            <a:off x="685800" y="5581650"/>
            <a:ext cx="10820400" cy="571500"/>
          </a:xfrm>
          <a:prstGeom prst="roundRect">
            <a:avLst>
              <a:gd name="adj" fmla="val 2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33450" y="5734050"/>
            <a:ext cx="266700" cy="26670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352550" y="57531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口诀：有断点的项目是资产，没断点的项目是表演。</a:t>
            </a:r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22 / 33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457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四坑</a:t>
            </a:r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457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全是真实「翻车现场」，对照自查</a:t>
            </a:r>
          </a:p>
        </p:txBody>
      </p:sp>
      <p:sp>
        <p:nvSpPr>
          <p:cNvPr id="374" name=""/>
          <p:cNvSpPr/>
          <p:nvPr/>
        </p:nvSpPr>
        <p:spPr>
          <a:xfrm rot="0" flipH="0" flipV="0">
            <a:off x="68580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91440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66800" y="1724025"/>
            <a:ext cx="323850" cy="323850"/>
          </a:xfrm>
          <a:prstGeom prst="rect">
            <a:avLst/>
          </a:prstGeom>
          <a:ln/>
        </p:spPr>
      </p:pic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坑一 · 一次塞太多</a:t>
            </a:r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1440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又出图又要视频还要翻译，产出全是半成品。改法：拆开，分 3 次问。</a:t>
            </a:r>
          </a:p>
        </p:txBody>
      </p:sp>
      <p:sp>
        <p:nvSpPr>
          <p:cNvPr id="380" name=""/>
          <p:cNvSpPr/>
          <p:nvPr/>
        </p:nvSpPr>
        <p:spPr>
          <a:xfrm rot="0" flipH="0" flipV="0">
            <a:off x="343852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43852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66712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3819525" y="1724025"/>
            <a:ext cx="323850" cy="3238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66712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坑二 · 让 AI 编数字</a:t>
            </a:r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66712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数字看着特别自信，其实和原表对不上。改法：回原表抽 3 处，对不上就改。</a:t>
            </a:r>
          </a:p>
        </p:txBody>
      </p:sp>
      <p:sp>
        <p:nvSpPr>
          <p:cNvPr id="386" name=""/>
          <p:cNvSpPr/>
          <p:nvPr/>
        </p:nvSpPr>
        <p:spPr>
          <a:xfrm rot="0" flipH="0" flipV="0">
            <a:off x="619125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19125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41985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572250" y="1724025"/>
            <a:ext cx="323850" cy="323850"/>
          </a:xfrm>
          <a:prstGeom prst="rect">
            <a:avLst/>
          </a:prstGeom>
          <a:ln/>
        </p:spPr>
      </p:pic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41985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坑三 · 交付物只留聊天窗</a:t>
            </a:r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41985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聊天窗里看得见，下周就找不着。改法：让它出文件，存下来、入资料库。</a:t>
            </a:r>
          </a:p>
        </p:txBody>
      </p:sp>
      <p:sp>
        <p:nvSpPr>
          <p:cNvPr id="392" name=""/>
          <p:cNvSpPr/>
          <p:nvPr/>
        </p:nvSpPr>
        <p:spPr>
          <a:xfrm rot="0" flipH="0" flipV="0">
            <a:off x="894397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94397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917257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324975" y="1724025"/>
            <a:ext cx="323850" cy="32385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17257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坑四 · 不留记录</a:t>
            </a:r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17257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三天后不知道当时怎么做的。改法：断点纪律——每步存文件 + 记一句。</a:t>
            </a:r>
          </a:p>
        </p:txBody>
      </p:sp>
      <p:sp>
        <p:nvSpPr>
          <p:cNvPr id="398" name=""/>
          <p:cNvSpPr/>
          <p:nvPr/>
        </p:nvSpPr>
        <p:spPr>
          <a:xfrm rot="0" flipH="0" flipV="0">
            <a:off x="685800" y="5581650"/>
            <a:ext cx="10820400" cy="571500"/>
          </a:xfrm>
          <a:prstGeom prst="roundRect">
            <a:avLst>
              <a:gd name="adj" fmla="val 2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33450" y="5734050"/>
            <a:ext cx="266700" cy="26670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352550" y="57531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口诀：四坑就是项目四条红线——验收前逐条对一遍。</a:t>
            </a:r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23 / 33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现场：执行你的项目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60 分钟 · 你做，讲师一对一巡场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24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开始执行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按拆解派第 1 步。三版迭代跑一遍，每版截图存「过程记录」。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60 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讲师巡场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讲师只帮卡住的，不代做：卡题？砍目标；卡拆解？回第 1 步；卡中途？查断点。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不代做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两道关卡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G2：拆解 3-5 步且验收能勾；G3：每步有断点记录。关卡不过，不进验收段。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G2 / G3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红线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过程材料一律脱敏；碰涉密红线，当场停项换题（本项 = 0 分且项目不通过）。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30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331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04</a:t>
            </a:r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FOUR</a:t>
            </a:r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验收与算账 | 拿证据说话</a:t>
            </a:r>
          </a:p>
        </p:txBody>
      </p:sp>
      <p:sp>
        <p:nvSpPr>
          <p:cNvPr id="335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验收 5 条、ROI 一笔账、2 分钟路演——过，就结业。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6384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验收清单 5 条</a:t>
            </a:r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讲师当场勾：5 条全勾 = 验收通过</a:t>
            </a:r>
          </a:p>
        </p:txBody>
      </p:sp>
      <p:sp>
        <p:nvSpPr>
          <p:cNvPr id="446" name=""/>
          <p:cNvSpPr/>
          <p:nvPr/>
        </p:nvSpPr>
        <p:spPr>
          <a:xfrm rot="0" flipH="0" flipV="0">
            <a:off x="685800" y="1295400"/>
            <a:ext cx="2857500" cy="485775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4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71550" y="1581150"/>
            <a:ext cx="457200" cy="457200"/>
          </a:xfrm>
          <a:prstGeom prst="rect">
            <a:avLst/>
          </a:prstGeom>
          <a:ln/>
        </p:spPr>
      </p:pic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71550" y="2228850"/>
            <a:ext cx="2286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PingFang SC"/>
                <a:ea typeface="PingFang SC"/>
              </a:rPr>
              <a:t>实战项目 | 验收清单</a:t>
            </a:r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971550" y="3238500"/>
            <a:ext cx="2286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A9C4E8"/>
                </a:solidFill>
                <a:latin typeface="PingFang SC"/>
                <a:ea typeface="PingFang SC"/>
              </a:rPr>
              <a:t>5 条全勾，项目才算完。</a:t>
            </a:r>
          </a:p>
        </p:txBody>
      </p:sp>
      <p:sp>
        <p:nvSpPr>
          <p:cNvPr id="450" name=""/>
          <p:cNvSpPr/>
          <p:nvPr/>
        </p:nvSpPr>
        <p:spPr>
          <a:xfrm rot="0" flipH="0" flipV="0">
            <a:off x="971550" y="4800600"/>
            <a:ext cx="2286000" cy="1085850"/>
          </a:xfrm>
          <a:custGeom>
            <a:pathLst>
              <a:path w="240" h="114">
                <a:moveTo>
                  <a:pt x="0" y="0"/>
                </a:moveTo>
                <a:lnTo>
                  <a:pt x="240" y="0"/>
                </a:lnTo>
                <a:lnTo>
                  <a:pt x="240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71550" y="4991100"/>
            <a:ext cx="2286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Space Grotesk"/>
                <a:ea typeface="Space Grotesk"/>
              </a:rPr>
              <a:t>5</a:t>
            </a:r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71550" y="567690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C4E8"/>
                </a:solidFill>
                <a:latin typeface="PingFang SC"/>
                <a:ea typeface="PingFang SC"/>
              </a:rPr>
              <a:t>条勾满 = 验收通过</a:t>
            </a:r>
          </a:p>
        </p:txBody>
      </p:sp>
      <p:sp>
        <p:nvSpPr>
          <p:cNvPr id="453" name=""/>
          <p:cNvSpPr/>
          <p:nvPr/>
        </p:nvSpPr>
        <p:spPr>
          <a:xfrm rot="0" flipH="0" flipV="0">
            <a:off x="3790950" y="13056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4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1411200"/>
            <a:ext cx="209550" cy="209550"/>
          </a:xfrm>
          <a:prstGeom prst="rect">
            <a:avLst/>
          </a:prstGeom>
          <a:ln/>
        </p:spPr>
      </p:pic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305300" y="1411200"/>
            <a:ext cx="4886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交付物是文件，别人电脑能打开（页面/图/文档）</a:t>
            </a:r>
          </a:p>
        </p:txBody>
      </p:sp>
      <p:sp>
        <p:nvSpPr>
          <p:cNvPr id="456" name=""/>
          <p:cNvSpPr/>
          <p:nvPr/>
        </p:nvSpPr>
        <p:spPr>
          <a:xfrm rot="0" flipH="0" flipV="0">
            <a:off x="3790950" y="18240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4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1929600"/>
            <a:ext cx="209550" cy="209550"/>
          </a:xfrm>
          <a:prstGeom prst="rect">
            <a:avLst/>
          </a:prstGeom>
          <a:ln/>
        </p:spPr>
      </p:pic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305300" y="1929600"/>
            <a:ext cx="291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数字/人名抽查 3 处，与原材料一致</a:t>
            </a:r>
          </a:p>
        </p:txBody>
      </p:sp>
      <p:sp>
        <p:nvSpPr>
          <p:cNvPr id="459" name=""/>
          <p:cNvSpPr/>
          <p:nvPr/>
        </p:nvSpPr>
        <p:spPr>
          <a:xfrm rot="0" flipH="0" flipV="0">
            <a:off x="3790950" y="23424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4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2448000"/>
            <a:ext cx="209550" cy="209550"/>
          </a:xfrm>
          <a:prstGeom prst="rect">
            <a:avLst/>
          </a:prstGeom>
          <a:ln/>
        </p:spPr>
      </p:pic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305300" y="244800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脱敏红线过关：无涉密信息 / 真实个人信息</a:t>
            </a:r>
          </a:p>
        </p:txBody>
      </p:sp>
      <p:sp>
        <p:nvSpPr>
          <p:cNvPr id="462" name=""/>
          <p:cNvSpPr/>
          <p:nvPr/>
        </p:nvSpPr>
        <p:spPr>
          <a:xfrm rot="0" flipH="0" flipV="0">
            <a:off x="3790950" y="28608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2966400"/>
            <a:ext cx="209550" cy="20955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305300" y="2966400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立项书六字段齐，验收标准达成</a:t>
            </a:r>
          </a:p>
        </p:txBody>
      </p:sp>
      <p:sp>
        <p:nvSpPr>
          <p:cNvPr id="465" name=""/>
          <p:cNvSpPr/>
          <p:nvPr/>
        </p:nvSpPr>
        <p:spPr>
          <a:xfrm rot="0" flipH="0" flipV="0">
            <a:off x="3790950" y="33792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4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3484800"/>
            <a:ext cx="209550" cy="209550"/>
          </a:xfrm>
          <a:prstGeom prst="rect">
            <a:avLst/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305300" y="3484800"/>
            <a:ext cx="3381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有过程记录：三版截图 + 断点一句，同事能接手</a:t>
            </a:r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26 / 33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ROI 怎么算</a:t>
            </a:r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只算自己岗位的一笔账——不算「公司战略」</a:t>
            </a:r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1295400"/>
            <a:ext cx="68770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71550" y="1590675"/>
            <a:ext cx="285750" cy="28575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371600" y="1581150"/>
            <a:ext cx="3790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PingFang SC"/>
                <a:ea typeface="PingFang SC"/>
              </a:rPr>
              <a:t>省的时间 = 原来耗时 − 现在耗时</a:t>
            </a:r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71550" y="2057400"/>
            <a:ext cx="188595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59E0B"/>
                </a:solidFill>
                <a:latin typeface="Space Grotesk"/>
                <a:ea typeface="Space Grotesk"/>
              </a:rPr>
              <a:t>省 45min/周</a:t>
            </a:r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971800" y="2057400"/>
            <a:ext cx="20574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周报例：60 分钟 → 15 分钟</a:t>
            </a:r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1550" y="2971800"/>
            <a:ext cx="6305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账要按你岗位实际省下的时间算，别拍脑袋。立项书里把「原来耗时」和「现在耗时」都记下来，验收时直接查。</a:t>
            </a:r>
          </a:p>
        </p:txBody>
      </p:sp>
      <p:sp>
        <p:nvSpPr>
          <p:cNvPr id="84" name=""/>
          <p:cNvSpPr/>
          <p:nvPr/>
        </p:nvSpPr>
        <p:spPr>
          <a:xfrm rot="0" flipH="0" flipV="0">
            <a:off x="7810500" y="1295400"/>
            <a:ext cx="3695700" cy="4857750"/>
          </a:xfrm>
          <a:prstGeom prst="roundRect">
            <a:avLst>
              <a:gd name="adj" fmla="val 4639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77200" y="1562100"/>
            <a:ext cx="285750" cy="285750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458200" y="1571625"/>
            <a:ext cx="1952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B45309"/>
                </a:solidFill>
                <a:latin typeface="PingFang SC"/>
                <a:ea typeface="PingFang SC"/>
              </a:rPr>
              <a:t>价值 = 省的时间 × 时薪 − 试错成本</a:t>
            </a:r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77200" y="2000250"/>
            <a:ext cx="3162300" cy="3390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7C4A12"/>
                </a:solidFill>
                <a:latin typeface="PingFang SC"/>
                <a:ea typeface="PingFang SC"/>
              </a:rPr>
              <a:t>按 100 元/时薪算，省 3h/月 ≈ 300 元/月，再扣掉学习试错花的时间。这笔账只算给自己看，不算去说服公司。</a:t>
            </a:r>
          </a:p>
        </p:txBody>
      </p:sp>
      <p:sp>
        <p:nvSpPr>
          <p:cNvPr id="88" name=""/>
          <p:cNvSpPr/>
          <p:nvPr/>
        </p:nvSpPr>
        <p:spPr>
          <a:xfrm rot="0" flipH="0" flipV="0">
            <a:off x="8077200" y="5524500"/>
            <a:ext cx="3162300" cy="381000"/>
          </a:xfrm>
          <a:custGeom>
            <a:pathLst>
              <a:path w="332" h="40">
                <a:moveTo>
                  <a:pt x="0" y="0"/>
                </a:moveTo>
                <a:lnTo>
                  <a:pt x="332" y="0"/>
                </a:lnTo>
                <a:lnTo>
                  <a:pt x="332" y="2"/>
                </a:lnTo>
                <a:lnTo>
                  <a:pt x="0" y="2"/>
                </a:lnTo>
                <a:close/>
              </a:path>
            </a:pathLst>
          </a:custGeom>
          <a:solidFill>
            <a:srgbClr val="F3D9B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77200" y="567690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铁律：ROI 算不清 = 目标没写清，回立项书改。</a:t>
            </a:r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27 / 33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路演：每人 2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演示交付物 + 亮立项书 + 念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28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演示交付物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打开交付物操作一遍：报告能开、页面能点、知识库当场问 5 题。只演示，不解释。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1 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亮立项书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亮出你的一页立项书：指目标、指验收标准，说「达成 / 未达成」。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30 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念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一句话念账：「这个项目让我每月省 X 小时，相当于 Y 元。」不展开，数字说话。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30 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严格 2 分钟/人；卡住讲师接（「这一步有断点，下步从这开始」）；不点名、不比较。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路演评分 + 讲师点评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百分制四维，个人/小组通用；三档判定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29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交付物 40 + 过程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交付物 40：能打开能用 20 + 立项验收达成 20。过程 25：六字段齐 10 + 三版记录 10 + 断点 5。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大头分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红线合规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脱敏 / 批准工具 / 人终审。出现涉密信息 = 本项 0 分且项目不通过，没有商量。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一票否决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呈现与协作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路演演示 10 + 组内互评 10（角色到位、人人有产出）。≥80 过 / 60-79 待修 / &lt;60 不过。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三档判定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讲师点评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只点共性问题，不点名：「3 个人编了数字」→「以后都回原表核」。（组模式：全组三件套齐 = 组结业。）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从 1 个项目到习惯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课后 30 天，决定项目活不活得下去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30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第 1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把同类任务再做一遍，同一个流程：AI 初稿 → 人终审。这一次，没人教你。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巩固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第 1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把提示词/任务模板迭代一次，记下改了哪里；回看断点记录，哪步还难接手就修哪步。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迭代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下一个项目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从项目库挑 1 个候选写进便签；找个普通工作日做掉——那就是你的「中级课」预习。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继续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口诀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项目是点，习惯是线。线接通中级课：项目组、里程碑管理。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076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结业标准：项目验收三件套</a:t>
            </a:r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三件齐 = 结业；笔试为辅助项，不作门槛</a:t>
            </a:r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525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14425" y="1724025"/>
            <a:ext cx="342900" cy="3429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件一</a:t>
            </a:r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25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交付物（文件）</a:t>
            </a:r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一个能打开的文件：报告 / 页面 / 知识库问答记录。不是「我在聊天窗里试过了」。</a:t>
            </a:r>
          </a:p>
        </p:txBody>
      </p:sp>
      <p:sp>
        <p:nvSpPr>
          <p:cNvPr id="532" name=""/>
          <p:cNvSpPr/>
          <p:nvPr/>
        </p:nvSpPr>
        <p:spPr>
          <a:xfrm rot="0" flipH="0" flipV="0">
            <a:off x="9525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验收：能打开能用</a:t>
            </a:r>
          </a:p>
        </p:txBody>
      </p:sp>
      <p:sp>
        <p:nvSpPr>
          <p:cNvPr id="534" name=""/>
          <p:cNvSpPr/>
          <p:nvPr/>
        </p:nvSpPr>
        <p:spPr>
          <a:xfrm rot="0" flipH="0" flipV="0">
            <a:off x="436245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62915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791075" y="1724025"/>
            <a:ext cx="342900" cy="342900"/>
          </a:xfrm>
          <a:prstGeom prst="rect">
            <a:avLst/>
          </a:prstGeom>
          <a:ln/>
        </p:spPr>
      </p:pic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件二</a:t>
            </a:r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2915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立项书（1 页）</a:t>
            </a:r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62915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六字段齐：背景/目标/输入数据/拆解/验收/ROI。写不下一页，说明流程没走。</a:t>
            </a:r>
          </a:p>
        </p:txBody>
      </p:sp>
      <p:sp>
        <p:nvSpPr>
          <p:cNvPr id="540" name=""/>
          <p:cNvSpPr/>
          <p:nvPr/>
        </p:nvSpPr>
        <p:spPr>
          <a:xfrm rot="0" flipH="0" flipV="0">
            <a:off x="462915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2915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验收：六字段齐</a:t>
            </a:r>
          </a:p>
        </p:txBody>
      </p:sp>
      <p:sp>
        <p:nvSpPr>
          <p:cNvPr id="542" name=""/>
          <p:cNvSpPr/>
          <p:nvPr/>
        </p:nvSpPr>
        <p:spPr>
          <a:xfrm rot="0" flipH="0" flipV="0">
            <a:off x="80391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3058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67725" y="1724025"/>
            <a:ext cx="342900" cy="34290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058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件三</a:t>
            </a:r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058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验收清单（5 条勾满）</a:t>
            </a:r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058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讲师当场勾，5 条全勾。外加过程记录（三版截图 + 断点一句）。</a:t>
            </a:r>
          </a:p>
        </p:txBody>
      </p:sp>
      <p:sp>
        <p:nvSpPr>
          <p:cNvPr id="548" name=""/>
          <p:cNvSpPr/>
          <p:nvPr/>
        </p:nvSpPr>
        <p:spPr>
          <a:xfrm rot="0" flipH="0" flipV="0">
            <a:off x="83058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058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验收：5 条勾满</a:t>
            </a:r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31 / 33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班型与配套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四班型按班选：半天 3h / 一天 7h / 一天半 10h / 三天 18h · 个人为主，组 PMP 可选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实战项目工作坊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32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单开半天版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3h · 本 PPT 全 33 页（前置 PPT1 已结业）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个人模式：每人做 L1/L2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复训班 / 骨干班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一天版合并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7h · PPT1 压缩 4.5h + 工作坊 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个人模式：挑 1 个入门包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新人班首选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一天半版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10h · PPT1 完整 + 本 PPT 全 + 路演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个人或组：每人 2 分钟路演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重产出班 / 试点启动班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三天正式班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3×6h · D1 通识 / D2-D3 实战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PPT2 + PPT3 执行手册 + 26 包挑题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正式授课主打 · 个人/组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组模式·评分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3-4 人/组四角色 + 关卡 G1-G3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百分制 40/25/15/20；≥80 过 / 60-79 待修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组结业 = 全组三件套齐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配套物料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项目库 26 包 + 三模板 + PPT3 手册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征集单 / 立项书 / 验收清单 + 三天执行方案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账号池每人 1 个，课前 1 天联调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教学要点：三天正式班照 PPT3《执行手册》+《三天班执行方案》组织（D1 PPT1 通识 / D2 立项+执行一 / D3 执行二+验收路演）；开课前把「前置条件」逐条对一遍（征集单 / 账号池 / 材料入库）。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04" name=""/>
          <p:cNvPicPr>
            <a:picLocks noChangeAspect="1"/>
          </p:cNvPicPr>
          <p:nvPr/>
        </p:nvPicPr>
        <p:blipFill>
          <a:blip r:embed="rId3">
            <a:alphaModFix amt="40000"/>
          </a:blip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0000"/>
                </a:srgbClr>
              </a:gs>
              <a:gs pos="100000">
                <a:srgbClr val="1E3A8A">
                  <a:alpha val="85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048125" y="1905000"/>
            <a:ext cx="4095750" cy="14859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AI </a:t>
            </a: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不是来取代你，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是来成全你。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5667375" y="3714750"/>
            <a:ext cx="8572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286375" y="4019550"/>
            <a:ext cx="1628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实战项目工作坊 · 完</a:t>
            </a:r>
          </a:p>
        </p:txBody>
      </p:sp>
      <p:sp>
        <p:nvSpPr>
          <p:cNvPr id="509" name=""/>
          <p:cNvSpPr/>
          <p:nvPr/>
        </p:nvSpPr>
        <p:spPr>
          <a:xfrm rot="0" flipH="0" flipV="0">
            <a:off x="4029075" y="4524375"/>
            <a:ext cx="4133850" cy="438150"/>
          </a:xfrm>
          <a:prstGeom prst="roundRect">
            <a:avLst>
              <a:gd name="adj" fmla="val 2171739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57675" y="4648200"/>
            <a:ext cx="190500" cy="190500"/>
          </a:xfrm>
          <a:prstGeom prst="rect">
            <a:avLst/>
          </a:prstGeom>
          <a:ln/>
        </p:spPr>
      </p:pic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562475" y="4638675"/>
            <a:ext cx="3371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下一步：让项目接着跑 —— 每月迭代一次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2026-08-24T14:43:53Z</dcterms:created>
  <dcterms:modified xsi:type="dcterms:W3CDTF">2026-08-24T14:43:53Z</dcterms:modified>
</cp:coreProperties>
</file>