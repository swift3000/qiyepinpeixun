
<file path=[Content_Types].xml><?xml version="1.0" encoding="utf-8"?>
<Types xmlns="http://schemas.openxmlformats.org/package/2006/content-types">
  <Default Extension="svg" ContentType="image/svg+xml"/>
  <Default Extension="png" ContentType="image/png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10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viewProps.xml" ContentType="application/vnd.openxmlformats-officedocument.presentationml.viewProps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7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2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28" Type="http://schemas.openxmlformats.org/officeDocument/2006/relationships/viewProps" Target="viewProps.xml" /><Relationship Id="rId26" Type="http://schemas.openxmlformats.org/officeDocument/2006/relationships/presProps" Target="presProps.xml" /><Relationship Id="rId22" Type="http://schemas.openxmlformats.org/officeDocument/2006/relationships/slide" Target="slides/slide22.xml" /><Relationship Id="rId27" Type="http://schemas.openxmlformats.org/officeDocument/2006/relationships/tableStyles" Target="tableStyles.xml" /><Relationship Id="rId25" Type="http://schemas.openxmlformats.org/officeDocument/2006/relationships/notesMaster" Target="notesMasters/notesMaster1.xml" /><Relationship Id="rId24" Type="http://schemas.openxmlformats.org/officeDocument/2006/relationships/slide" Target="slides/slide24.xml" /><Relationship Id="rId20" Type="http://schemas.openxmlformats.org/officeDocument/2006/relationships/slide" Target="slides/slide20.xml" /><Relationship Id="rId3" Type="http://schemas.openxmlformats.org/officeDocument/2006/relationships/slide" Target="slides/slide3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8" Type="http://schemas.openxmlformats.org/officeDocument/2006/relationships/slide" Target="slides/slide18.xml" /><Relationship Id="rId23" Type="http://schemas.openxmlformats.org/officeDocument/2006/relationships/slide" Target="slides/slide23.xml" /><Relationship Id="rId7" Type="http://schemas.openxmlformats.org/officeDocument/2006/relationships/slide" Target="slides/slide7.xml" /><Relationship Id="rId19" Type="http://schemas.openxmlformats.org/officeDocument/2006/relationships/slide" Target="slides/slide19.xml" /><Relationship Id="rId0" Type="http://schemas.openxmlformats.org/officeDocument/2006/relationships/slideMaster" Target="slideMasters/slideMaster1.xml" /><Relationship Id="rId4" Type="http://schemas.openxmlformats.org/officeDocument/2006/relationships/slide" Target="slides/slide4.xml" /><Relationship Id="rId17" Type="http://schemas.openxmlformats.org/officeDocument/2006/relationships/slide" Target="slides/slide17.xml" /><Relationship Id="rId13" Type="http://schemas.openxmlformats.org/officeDocument/2006/relationships/slide" Target="slides/slide13.xml" /><Relationship Id="rId15" Type="http://schemas.openxmlformats.org/officeDocument/2006/relationships/slide" Target="slides/slide15.xml" /><Relationship Id="rId2" Type="http://schemas.openxmlformats.org/officeDocument/2006/relationships/slide" Target="slides/slide2.xml" /><Relationship Id="rId11" Type="http://schemas.openxmlformats.org/officeDocument/2006/relationships/slide" Target="slides/slide11.xml" /><Relationship Id="rId14" Type="http://schemas.openxmlformats.org/officeDocument/2006/relationships/slide" Target="slides/slide14.xml" /><Relationship Id="rId1" Type="http://schemas.openxmlformats.org/officeDocument/2006/relationships/slide" Target="slides/slide1.xml" /><Relationship Id="rId16" Type="http://schemas.openxmlformats.org/officeDocument/2006/relationships/slide" Target="slides/slide16.xml" /><Relationship Id="rId21" Type="http://schemas.openxmlformats.org/officeDocument/2006/relationships/slide" Target="slides/slide2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4" Type="http://schemas.openxmlformats.org/officeDocument/2006/relationships/image" Target="media/image18.svg" /><Relationship Id="rId3" Type="http://schemas.openxmlformats.org/officeDocument/2006/relationships/image" Target="media/image11.svg" /><Relationship Id="rId1" Type="http://schemas.openxmlformats.org/officeDocument/2006/relationships/image" Target="media/image21.svg" /><Relationship Id="rId2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5" Type="http://schemas.openxmlformats.org/officeDocument/2006/relationships/image" Target="media/image9.svg" /><Relationship Id="rId3" Type="http://schemas.openxmlformats.org/officeDocument/2006/relationships/image" Target="media/image31.svg" /><Relationship Id="rId4" Type="http://schemas.openxmlformats.org/officeDocument/2006/relationships/image" Target="media/image11.sv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0.svg" /><Relationship Id="rId1" Type="http://schemas.openxmlformats.org/officeDocument/2006/relationships/image" Target="media/image29.svg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3" Type="http://schemas.openxmlformats.org/officeDocument/2006/relationships/image" Target="media/image34.svg" /><Relationship Id="rId2" Type="http://schemas.openxmlformats.org/officeDocument/2006/relationships/image" Target="media/image33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4" Type="http://schemas.openxmlformats.org/officeDocument/2006/relationships/image" Target="media/image37.svg" /><Relationship Id="rId2" Type="http://schemas.openxmlformats.org/officeDocument/2006/relationships/image" Target="media/image36.svg" /><Relationship Id="rId1" Type="http://schemas.openxmlformats.org/officeDocument/2006/relationships/image" Target="media/image35.svg" /><Relationship Id="rId6" Type="http://schemas.openxmlformats.org/officeDocument/2006/relationships/image" Target="media/image39.svg" /><Relationship Id="rId5" Type="http://schemas.openxmlformats.org/officeDocument/2006/relationships/image" Target="media/image38.svg" /><Relationship Id="rId3" Type="http://schemas.openxmlformats.org/officeDocument/2006/relationships/image" Target="media/image31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4" Type="http://schemas.openxmlformats.org/officeDocument/2006/relationships/image" Target="media/image5.svg" /><Relationship Id="rId2" Type="http://schemas.openxmlformats.org/officeDocument/2006/relationships/image" Target="media/image3.svg" /><Relationship Id="rId3" Type="http://schemas.openxmlformats.org/officeDocument/2006/relationships/image" Target="media/image4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4" Type="http://schemas.openxmlformats.org/officeDocument/2006/relationships/image" Target="media/image8.svg" /><Relationship Id="rId3" Type="http://schemas.openxmlformats.org/officeDocument/2006/relationships/image" Target="media/image7.svg" /><Relationship Id="rId2" Type="http://schemas.openxmlformats.org/officeDocument/2006/relationships/image" Target="media/image4.svg" /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8" Type="http://schemas.openxmlformats.org/officeDocument/2006/relationships/image" Target="media/image17.svg" /><Relationship Id="rId7" Type="http://schemas.openxmlformats.org/officeDocument/2006/relationships/image" Target="media/image16.svg" /><Relationship Id="rId6" Type="http://schemas.openxmlformats.org/officeDocument/2006/relationships/image" Target="media/image15.svg" /><Relationship Id="rId5" Type="http://schemas.openxmlformats.org/officeDocument/2006/relationships/image" Target="media/image14.svg" /><Relationship Id="rId3" Type="http://schemas.openxmlformats.org/officeDocument/2006/relationships/image" Target="media/image12.svg" /><Relationship Id="rId4" Type="http://schemas.openxmlformats.org/officeDocument/2006/relationships/image" Target="media/image13.svg" /><Relationship Id="rId2" Type="http://schemas.openxmlformats.org/officeDocument/2006/relationships/image" Target="media/image11.svg" /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4" Type="http://schemas.openxmlformats.org/officeDocument/2006/relationships/image" Target="media/image6.svg" /><Relationship Id="rId2" Type="http://schemas.openxmlformats.org/officeDocument/2006/relationships/image" Target="media/image18.svg" /><Relationship Id="rId1" Type="http://schemas.openxmlformats.org/officeDocument/2006/relationships/image" Target="media/image3.svg" /><Relationship Id="rId3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3" Type="http://schemas.openxmlformats.org/officeDocument/2006/relationships/image" Target="media/image22.svg" /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5" Type="http://schemas.openxmlformats.org/officeDocument/2006/relationships/image" Target="media/image27.svg" /><Relationship Id="rId4" Type="http://schemas.openxmlformats.org/officeDocument/2006/relationships/image" Target="media/image26.svg" /><Relationship Id="rId3" Type="http://schemas.openxmlformats.org/officeDocument/2006/relationships/image" Target="media/image25.svg" /><Relationship Id="rId2" Type="http://schemas.openxmlformats.org/officeDocument/2006/relationships/image" Target="media/image24.svg" /><Relationship Id="rId1" Type="http://schemas.openxmlformats.org/officeDocument/2006/relationships/image" Target="media/image23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'1280px', height: '720px', position: 'relative', background: '#1E3A8A', overflow: 'hidden', fontFamily: 'PingFang SC, Source Han Sans SC, sans-serif' }}&gt;&#10;    &lt;Image src=&quot;assets/hero_cover.png&quot; style={{ position: 'absolute', top: 0, left: 0, width: '1280px', height: '720px', objectFit: 'cover' }} /&gt;&#10;    &lt;Box style={{ position: 'absolute', top: 0, left: 0, width: '1280px', height: '720px', background: 'linear-gradient(90deg, rgba(15,23,42,0.90) 0%, rgba(30,58,138,0.60) 55%, rgba(30,58,138,0.20) 100%)' }} /&gt;&#10;    &lt;Box style={{ position: 'relative', zIndex: 1, height: '720px', padding: '0 84px', justifyContent: 'center', flexDirection: 'column' }}&gt;&#10;        &lt;Box style={{ flexDirection: 'row', alignItems: 'center', gap: 14, marginBottom: 26 }}&gt;&#10;            &lt;Box style={{ width: 58, height: 4, background: '#06B6D4' }} /&gt;&#10;            &lt;Text style={{ fontSize: 20, color: '#BFD9F5', letterSpacing: 3 }}&gt;制造业企业 AI 通识培训 · 高级（L4 规划治理层）&lt;/Text&gt;&#10;        &lt;/Box&gt;&#10;        &lt;Text style={{ fontSize: 80, fontWeight: 'bold', color: '#FFFFFF', lineHeight: 1.12, textShadow: '0 4px 24px rgba(0,0,0,0.35)' }}&gt;AI 规划与治理&lt;/Text&gt;&#10;        &lt;Text style={{ fontSize: 30, color: '#DCE9FB', marginTop: 20, fontWeight: '600' }}&gt;算得清账 · 搭得起架构 · 推得动组织 · 守得住底线&lt;/Text&gt;&#10;        &lt;Box style={{ flexDirection: 'row', gap: 14, marginTop: 40 }}&gt;&#10;            &lt;Box style={{ padding: '10px 22px', background: 'rgba(6,182,212,0.18)', border: '1px solid rgba(6,182,212,0.6)', borderRadius: 999 }}&gt;&#10;                &lt;Text style={{ fontSize: 17, color: '#7FD9F0', fontWeight: 'bold' }}&gt;7 大模块&lt;/Text&gt;&#10;            &lt;/Box&gt;&#10;            &lt;Box style={{ padding: '10px 22px', background: 'rgba(245,158,11,0.18)', border: '1px solid rgba(245,158,11,0.6)', borderRadius: 999 }}&gt;&#10;                &lt;Text style={{ fontSize: 17, color: '#F8C471', fontWeight: 'bold' }}&gt;16–24 课时 + 2 天沙盘&lt;/Text&gt;&#10;            &lt;/Box&gt;&#10;            &lt;Box style={{ padding: '10px 22px', background: 'rgba(255,255,255,0.10)', border: '1px solid rgba(255,255,255,0.35)', borderRadius: 999 }}&gt;&#10;                &lt;Text style={{ fontSize: 17, color: '#EAF2FC', fontWeight: 'bold' }}&gt;8–15 人小班&lt;/Text&gt;&#10;            &lt;/Box&gt;&#10;            &lt;Box style={{ padding: '10px 22px', background: 'rgba(255,255,255,0.10)', border: '1px solid rgba(255,255,255,0.35)', borderRadius: 999 }}&gt;&#10;                &lt;Text style={{ fontSize: 17, color: '#EAF2FC', fontWeight: 'bold' }}&gt;24 页&lt;/Text&gt;&#10;            &lt;/Box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90000"/>
                </a:srgbClr>
              </a:gs>
              <a:gs pos="55000">
                <a:srgbClr val="1E3A8A">
                  <a:alpha val="60000"/>
                </a:srgbClr>
              </a:gs>
              <a:gs pos="100000">
                <a:srgbClr val="1E3A8A">
                  <a:alpha val="20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800100" y="2124075"/>
            <a:ext cx="55245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485900" y="2028825"/>
            <a:ext cx="5038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制造业企业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> AI </a:t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通识培训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> · </a:t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高级（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>L4 </a:t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规划治理层）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800100" y="2505075"/>
            <a:ext cx="10591800" cy="10287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60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AI </a:t>
            </a:r>
            <a:r>
              <a:rPr lang="zh-CN" sz="60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规划与治理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3724275"/>
            <a:ext cx="10591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算得清账</a:t>
            </a:r>
            <a:r>
              <a:rPr lang="en-US" sz="22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搭得起架构</a:t>
            </a:r>
            <a:r>
              <a:rPr lang="en-US" sz="22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推得动组织</a:t>
            </a:r>
            <a:r>
              <a:rPr lang="en-US" sz="22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守得住底线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800100" y="4448175"/>
            <a:ext cx="1057275" cy="390525"/>
          </a:xfrm>
          <a:prstGeom prst="roundRect">
            <a:avLst>
              <a:gd name="adj" fmla="val 2436585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1009650" y="4543425"/>
            <a:ext cx="638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7FD9F0"/>
                </a:solidFill>
                <a:latin typeface="PingFang SC"/>
                <a:ea typeface="PingFang SC"/>
              </a:rPr>
              <a:t>7 </a:t>
            </a:r>
            <a:r>
              <a:rPr lang="zh-CN" sz="1275" b="1">
                <a:solidFill>
                  <a:srgbClr val="7FD9F0"/>
                </a:solidFill>
                <a:latin typeface="PingFang SC"/>
                <a:ea typeface="PingFang SC"/>
              </a:rPr>
              <a:t>大模块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1990725" y="4448175"/>
            <a:ext cx="2133600" cy="390525"/>
          </a:xfrm>
          <a:prstGeom prst="roundRect">
            <a:avLst>
              <a:gd name="adj" fmla="val 2436585"/>
            </a:avLst>
          </a:prstGeom>
          <a:solidFill>
            <a:srgbClr val="F59E0B">
              <a:alpha val="18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2200275" y="4543425"/>
            <a:ext cx="1714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8C471"/>
                </a:solidFill>
                <a:latin typeface="PingFang SC"/>
                <a:ea typeface="PingFang SC"/>
              </a:rPr>
              <a:t>16–24 </a:t>
            </a:r>
            <a:r>
              <a:rPr lang="zh-CN" sz="1275" b="1">
                <a:solidFill>
                  <a:srgbClr val="F8C471"/>
                </a:solidFill>
                <a:latin typeface="PingFang SC"/>
                <a:ea typeface="PingFang SC"/>
              </a:rPr>
              <a:t>课时</a:t>
            </a:r>
            <a:r>
              <a:rPr lang="en-US" sz="1275" b="1">
                <a:solidFill>
                  <a:srgbClr val="F8C471"/>
                </a:solidFill>
                <a:latin typeface="PingFang SC"/>
                <a:ea typeface="PingFang SC"/>
              </a:rPr>
              <a:t> + 2 </a:t>
            </a:r>
            <a:r>
              <a:rPr lang="zh-CN" sz="1275" b="1">
                <a:solidFill>
                  <a:srgbClr val="F8C471"/>
                </a:solidFill>
                <a:latin typeface="PingFang SC"/>
                <a:ea typeface="PingFang SC"/>
              </a:rPr>
              <a:t>天沙盘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4257675" y="4448175"/>
            <a:ext cx="1362075" cy="390525"/>
          </a:xfrm>
          <a:prstGeom prst="roundRect">
            <a:avLst>
              <a:gd name="adj" fmla="val 2436585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467225" y="4543425"/>
            <a:ext cx="942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C"/>
                </a:solidFill>
                <a:latin typeface="PingFang SC"/>
                <a:ea typeface="PingFang SC"/>
              </a:rPr>
              <a:t>8–15 </a:t>
            </a:r>
            <a:r>
              <a:rPr lang="zh-CN" sz="1275" b="1">
                <a:solidFill>
                  <a:srgbClr val="EAF2FC"/>
                </a:solidFill>
                <a:latin typeface="PingFang SC"/>
                <a:ea typeface="PingFang SC"/>
              </a:rPr>
              <a:t>人小班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753100" y="4448175"/>
            <a:ext cx="838200" cy="390525"/>
          </a:xfrm>
          <a:prstGeom prst="roundRect">
            <a:avLst>
              <a:gd name="adj" fmla="val 2436585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962650" y="4543425"/>
            <a:ext cx="419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C"/>
                </a:solidFill>
                <a:latin typeface="PingFang SC"/>
                <a:ea typeface="PingFang SC"/>
              </a:rPr>
              <a:t>24 </a:t>
            </a:r>
            <a:r>
              <a:rPr lang="zh-CN" sz="1275" b="1">
                <a:solidFill>
                  <a:srgbClr val="EAF2FC"/>
                </a:solidFill>
                <a:latin typeface="PingFang SC"/>
                <a:ea typeface="PingFang SC"/>
              </a:rPr>
              <a:t>页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92" name="" descr="const items = [&#10;    { no: '01', t: '智能工厂梯度', d: '基础 → 卓越 → 领航，定位你在哪、下一站在哪' },&#10;    { no: '02', t: '技术架构', d: '云-边-端 · 大小模型分工 · 数字孪生 · 工业智能体' },&#10;    { no: '03', t: '数据治理', d: 'DCMM 跃迁 · CDO 设置 · 模数共振飞轮' },&#10;    { no: '04', t: 'ROI 与价值', d: '双指标体系 · 用户分层 · ROI 五步算账' },&#10;    { no: '05', t: '组织采纳（核心）', d: '八支柱 · 三阶段推进 · 采纳看板' },&#10;    { no: '06', t: '治理与合规', d: '分类分级 · 幻觉防控 · 伦理底线 · NIST 映射' },&#10;    { no: '07', t: '战略沙盘', d: '2 天 3 任务：自评 · 算账 · 路线图推演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课程目录&lt;/Text&gt;&#10;            &lt;Text style={{ fontSize: 17, color: '#64748B', marginTop: 4 }}&gt;七个模块，走通「定位 → 架构 → 数据 → 账 → 组织 → 治理 → 路线图」&lt;/Text&gt;&#10;        &lt;/Box&gt;&#10;    &lt;/Box&gt;&#10;    &lt;Box style={{ flex: 1, flexDirection: 'row', gap: 28, marginTop: 18 }}&gt;&#10;        &lt;Box style={{ width: 250, background: '#1E3A8A', borderRadius: 18, padding: 30, flexDirection: 'column', justifyContent: 'center' }}&gt;&#10;            &lt;Text style={{ fontSize: 20, color: '#7FD9F0', letterSpacing: 3, marginBottom: 14 }}&gt;CONTENTS&lt;/Text&gt;&#10;            &lt;Text style={{ fontSize: 60, fontWeight: 'bold', color: '#FFFFFF', fontFamily: 'Space Grotesk, Inter' }}&gt;7&lt;/Text&gt;&#10;            &lt;Text style={{ fontSize: 22, fontWeight: 'bold', color: '#DCE9FB', marginTop: 8 }}&gt;个模块 · L4 层&lt;/Text&gt;&#10;            &lt;Box style={{ width: 54, height: 4, background: '#F59E0B', marginTop: 22 }} /&gt;&#10;            &lt;Text style={{ fontSize: 15, color: '#A9C4E8', marginTop: 18, lineHeight: 1.5 }}&gt;结业交付物：一份能上董事会的 AI 三年路线图。&lt;/Text&gt;&#10;        &lt;/Box&gt;&#10;        &lt;Box style={{ flex: 1, flexDirection: 'column', justifyContent: 'space-between' }}&gt;&#10;            {items.map((it, i) =&gt; (&#10;                &lt;Box key={i} style={{ flexDirection: 'row', alignItems: 'center', gap: 18, padding: '11px 20px', background: i % 2 === 0 ? '#FFFFFF' : '#EDF3FB', borderRadius: 12, boxShadow: '0 2px 10px rgba(30,58,138,0.05)' }}&gt;&#10;                    &lt;Text style={{ fontSize: 28, fontWeight: 'bold', color: '#06B6D4', fontFamily: 'Space Grotesk, Inter', width: 56 }}&gt;{it.no}&lt;/Text&gt;&#10;                    &lt;Box style={{ flex: 1, flexDirection: 'column' }}&gt;&#10;                        &lt;Text style={{ fontSize: 20, fontWeight: 'bold', color: '#1E3A8A' }}&gt;{it.t}&lt;/Text&gt;&#10;                        &lt;Text style={{ fontSize: 14, color: '#64748B', marginTop: 2 }}&gt;{it.d}&lt;/Text&gt;&#10;                    &lt;/Box&gt;&#10;                    &lt;FAIcon name=&quot;arrow-right&quot; style={{ fill: '#06B6D4', width: 18, height: 18 }} /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规划与治理 · 高级&lt;/Text&gt;&#10;        &lt;Text style={{ fontSize: 14, color: '#64748B' }}&gt;02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3435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课程目录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343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七个模块，走通「定位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架构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数据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账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组织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治理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路线图」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85800" y="1314450"/>
            <a:ext cx="2381250" cy="4857750"/>
          </a:xfrm>
          <a:prstGeom prst="roundRect">
            <a:avLst>
              <a:gd name="adj" fmla="val 72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971550" y="2590800"/>
            <a:ext cx="1809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225">
                <a:solidFill>
                  <a:srgbClr val="7FD9F0"/>
                </a:solidFill>
                <a:latin typeface="PingFang SC"/>
                <a:ea typeface="PingFang SC"/>
              </a:rPr>
              <a:t>CONTENTS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71550" y="2952750"/>
            <a:ext cx="180975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FFFFFF"/>
                </a:solidFill>
                <a:latin typeface="Space Grotesk"/>
                <a:ea typeface="Space Grotesk"/>
              </a:rPr>
              <a:t>7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971550" y="3714750"/>
            <a:ext cx="1809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个模块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L4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层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971550" y="4181475"/>
            <a:ext cx="51435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971550" y="4391025"/>
            <a:ext cx="18097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结业交付物：一份能上董事会的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 AI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三年路线图。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333750" y="1314450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524250" y="146685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229100" y="1419225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智能工厂梯度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229100" y="1666875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基础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卓越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领航，定位你在哪、下一站在哪</a:t>
            </a:r>
            <a:endParaRPr/>
          </a:p>
        </p:txBody>
      </p:sp>
      <p:pic>
        <p:nvPicPr>
          <p:cNvPr id="3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1543050"/>
            <a:ext cx="171450" cy="171450"/>
          </a:xfrm>
          <a:prstGeom prst="rect">
            <a:avLst/>
          </a:prstGeom>
          <a:ln/>
        </p:spPr>
      </p:pic>
      <p:sp>
        <p:nvSpPr>
          <p:cNvPr id="308" name=""/>
          <p:cNvSpPr/>
          <p:nvPr/>
        </p:nvSpPr>
        <p:spPr>
          <a:xfrm rot="0" flipH="0" flipV="0">
            <a:off x="3333750" y="2019300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524250" y="217170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229100" y="2124075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技术架构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229100" y="2371725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-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边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-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端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大小模型分工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数字孪生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工业智能体</a:t>
            </a:r>
            <a:endParaRPr/>
          </a:p>
        </p:txBody>
      </p:sp>
      <p:pic>
        <p:nvPicPr>
          <p:cNvPr id="3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2247900"/>
            <a:ext cx="171450" cy="171450"/>
          </a:xfrm>
          <a:prstGeom prst="rect">
            <a:avLst/>
          </a:prstGeom>
          <a:ln/>
        </p:spPr>
      </p:pic>
      <p:sp>
        <p:nvSpPr>
          <p:cNvPr id="313" name=""/>
          <p:cNvSpPr/>
          <p:nvPr/>
        </p:nvSpPr>
        <p:spPr>
          <a:xfrm rot="0" flipH="0" flipV="0">
            <a:off x="3333750" y="2724150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524250" y="287655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4229100" y="2828925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数据治理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229100" y="3076575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DCMM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跃迁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CDO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设置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模数共振飞轮</a:t>
            </a:r>
            <a:endParaRPr/>
          </a:p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2952750"/>
            <a:ext cx="171450" cy="171450"/>
          </a:xfrm>
          <a:prstGeom prst="rect">
            <a:avLst/>
          </a:prstGeom>
          <a:ln/>
        </p:spPr>
      </p:pic>
      <p:sp>
        <p:nvSpPr>
          <p:cNvPr id="318" name=""/>
          <p:cNvSpPr/>
          <p:nvPr/>
        </p:nvSpPr>
        <p:spPr>
          <a:xfrm rot="0" flipH="0" flipV="0">
            <a:off x="3333750" y="3438525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524250" y="359092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229100" y="3543300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ROI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与价值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229100" y="3790950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双指标体系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用户分层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ROI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五步算账</a:t>
            </a:r>
            <a:endParaRPr/>
          </a:p>
        </p:txBody>
      </p:sp>
      <p:pic>
        <p:nvPicPr>
          <p:cNvPr id="3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3667125"/>
            <a:ext cx="171450" cy="171450"/>
          </a:xfrm>
          <a:prstGeom prst="rect">
            <a:avLst/>
          </a:prstGeom>
          <a:ln/>
        </p:spPr>
      </p:pic>
      <p:sp>
        <p:nvSpPr>
          <p:cNvPr id="323" name=""/>
          <p:cNvSpPr/>
          <p:nvPr/>
        </p:nvSpPr>
        <p:spPr>
          <a:xfrm rot="0" flipH="0" flipV="0">
            <a:off x="3333750" y="4143375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3524250" y="429577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229100" y="4248150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组织采纳（核心）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4229100" y="4495800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八支柱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三阶段推进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采纳看板</a:t>
            </a:r>
            <a:endParaRPr/>
          </a:p>
        </p:txBody>
      </p:sp>
      <p:pic>
        <p:nvPicPr>
          <p:cNvPr id="3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4371975"/>
            <a:ext cx="171450" cy="171450"/>
          </a:xfrm>
          <a:prstGeom prst="rect">
            <a:avLst/>
          </a:prstGeom>
          <a:ln/>
        </p:spPr>
      </p:pic>
      <p:sp>
        <p:nvSpPr>
          <p:cNvPr id="328" name=""/>
          <p:cNvSpPr/>
          <p:nvPr/>
        </p:nvSpPr>
        <p:spPr>
          <a:xfrm rot="0" flipH="0" flipV="0">
            <a:off x="3333750" y="4848225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524250" y="500062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治理与合规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4229100" y="5200650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幻觉防控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伦理底线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NIST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映射</a:t>
            </a:r>
            <a:endParaRPr/>
          </a:p>
        </p:txBody>
      </p:sp>
      <p:pic>
        <p:nvPicPr>
          <p:cNvPr id="3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5076825"/>
            <a:ext cx="171450" cy="171450"/>
          </a:xfrm>
          <a:prstGeom prst="rect">
            <a:avLst/>
          </a:prstGeom>
          <a:ln/>
        </p:spPr>
      </p:pic>
      <p:sp>
        <p:nvSpPr>
          <p:cNvPr id="333" name=""/>
          <p:cNvSpPr/>
          <p:nvPr/>
        </p:nvSpPr>
        <p:spPr>
          <a:xfrm rot="0" flipH="0" flipV="0">
            <a:off x="3333750" y="5553075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3524250" y="570547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07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229100" y="5657850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战略沙盘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4229100" y="5905500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天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3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任务：自评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算账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路线图推演</a:t>
            </a:r>
            <a:endParaRPr/>
          </a:p>
        </p:txBody>
      </p:sp>
      <p:pic>
        <p:nvPicPr>
          <p:cNvPr id="3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5781675"/>
            <a:ext cx="171450" cy="171450"/>
          </a:xfrm>
          <a:prstGeom prst="rect">
            <a:avLst/>
          </a:prstGeom>
          <a:ln/>
        </p:spPr>
      </p:pic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02 / 24</a:t>
            </a:r>
            <a:endParaRPr/>
          </a:p>
        </p:txBody>
      </p:sp>
    </p:spTree>
  </p:cSld>
</p:sld>
</file>

<file path=ppt/slides/slide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84" name="" descr="const caps = [&#10;    { icon: 'calculator', t: '算得清账', d: '双指标体系 + ROI 五步，投入产出说得明白' },&#10;    { icon: 'project-diagram', t: '搭得起架构', d: '云-边-端 + 大小模型分工，不被供应商话术带跑' },&#10;    { icon: 'users', t: '推得动组织', d: '八支柱 + 三阶段，让系统真的被人用起来' },&#10;    { icon: 'shield-alt', t: '守得住底线', d: '分类分级 + 幻觉防控 + 伦理红线，出事有人接得住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高管为什么必须懂 AI&lt;/Text&gt;&#10;            &lt;Text style={{ fontSize: 17, color: '#64748B', marginTop: 4 }}&gt;四个高管困境，对应四个能力 —— 这门课逐个拆&lt;/Text&gt;&#10;        &lt;/Box&gt;&#10;    &lt;/Box&gt;&#10;    &lt;Box style={{ flexDirection: 'row', gap: 20, marginTop: 16 }}&gt;&#10;        {caps.map((c, i) =&gt; (&#10;            &lt;Box key={i} style={{ flex: 1, background: '#FFFFFF', borderRadius: 16, padding: '24px 22px', border: '1px solid #E2E8F0', boxShadow: '0 4px 16px rgba(30,58,138,0.06)', flexDirection: 'column' }}&gt;&#10;                &lt;Box style={{ width: 60, height: 60, borderRadius: 15, background: i % 2 === 0 ? '#E0F7FA' : '#FEEFE0', justifyContent: 'center', alignItems: 'center', marginBottom: 16 }}&gt;&#10;                    &lt;FAIcon name={c.icon} style={{ fill: i % 2 === 0 ? '#0891B2' : '#F59E0B', width: 30, height: 30 }} /&gt;&#10;                &lt;/Box&gt;&#10;                &lt;Text style={{ fontSize: 22, fontWeight: 'bold', color: '#1E3A8A', marginBottom: 10 }}&gt;{c.t}&lt;/Text&gt;&#10;                &lt;Text style={{ fontSize: 15, color: '#43566b', lineHeight: 1.65, flex: 1 }}&gt;{c.d}&lt;/Text&gt;&#10;            &lt;/Box&gt;&#10;        ))}&#10;    &lt;/Box&gt;&#10;    &lt;Box style={{ flex: 1, flexDirection: 'row', gap: 24, marginTop: 20 }}&gt;&#10;        &lt;Box style={{ flex: 1, background: '#FFFFFF', borderRadius: 16, padding: '18px 24px', border: '1px solid #E2E8F0' }}&gt;&#10;            &lt;Text style={{ fontSize: 17, fontWeight: 'bold', color: '#1E3A8A', marginBottom: 8 }}&gt;对应的高管困境&lt;/Text&gt;&#10;            &lt;Text style={{ fontSize: 15, color: '#43566b', lineHeight: 1.9 }}&gt;① 算不清账：投了多少钱，省了多少钱，说不清&lt;br /&gt;② 架构听供应商的：方案换三轮，越听越糊涂&lt;br /&gt;③ 系统上了人不动：MAU 上不去，项目变烂尾&lt;br /&gt;④ 说不清责任：AI 判错了，责任在谁，没人认领&lt;/Text&gt;&#10;        &lt;/Box&gt;&#10;        &lt;Box style={{ flex: 1, background: '#1E3A8A', borderRadius: 16, padding: '18px 24px', flexDirection: 'column', boxShadow: '0 8px 24px rgba(30,58,138,0.22)' }}&gt;&#10;            &lt;Text style={{ fontSize: 17, fontWeight: 'bold', color: '#FFFFFF', marginBottom: 8 }}&gt;对象 · 班型 · 前置&lt;/Text&gt;&#10;            &lt;Text style={{ fontSize: 15, color: '#DCE9FB', lineHeight: 1.8 }}&gt;对象：CIO / CDO / 数字化负责人 / 厂长 / 战略运营高管&lt;br /&gt;班型：16–24 课时 + 2 天战略沙盘，8–15 人小班&lt;br /&gt;前置：中级结业或同级别实战经验（带一个真实项目来）&lt;/Text&gt;&#10;            &lt;Box style={{ marginTop: 'auto', paddingTop: 10 }}&gt;&#10;                &lt;Text style={{ fontSize: 15, fontWeight: 'bold', color: '#F8C471' }}&gt;中级交场景，高级交路线图 —— 两级课程互为接口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3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8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5147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高管为什么必须懂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514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四个高管困境，对应四个能力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这门课逐个拆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685800" y="1295400"/>
            <a:ext cx="2562225" cy="2105025"/>
          </a:xfrm>
          <a:prstGeom prst="roundRect">
            <a:avLst>
              <a:gd name="adj" fmla="val 72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895350" y="15240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38225" y="1666875"/>
            <a:ext cx="285750" cy="285750"/>
          </a:xfrm>
          <a:prstGeom prst="rect">
            <a:avLst/>
          </a:prstGeom>
          <a:ln/>
        </p:spPr>
      </p:pic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895350" y="2247900"/>
            <a:ext cx="2143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3A8A"/>
                </a:solidFill>
                <a:latin typeface="PingFang SC"/>
                <a:ea typeface="PingFang SC"/>
              </a:rPr>
              <a:t>算得清账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895350" y="2600325"/>
            <a:ext cx="21431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双指标体系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ROI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五步，投入产出说得明白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3438525" y="1295400"/>
            <a:ext cx="2562225" cy="2105025"/>
          </a:xfrm>
          <a:prstGeom prst="roundRect">
            <a:avLst>
              <a:gd name="adj" fmla="val 72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95" name=""/>
          <p:cNvSpPr/>
          <p:nvPr/>
        </p:nvSpPr>
        <p:spPr>
          <a:xfrm rot="0" flipH="0" flipV="0">
            <a:off x="3648075" y="15240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90950" y="1666875"/>
            <a:ext cx="285750" cy="285750"/>
          </a:xfrm>
          <a:prstGeom prst="rect">
            <a:avLst/>
          </a:prstGeom>
          <a:ln/>
        </p:spPr>
      </p:pic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3648075" y="2247900"/>
            <a:ext cx="2143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3A8A"/>
                </a:solidFill>
                <a:latin typeface="PingFang SC"/>
                <a:ea typeface="PingFang SC"/>
              </a:rPr>
              <a:t>搭得起架构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3648075" y="2600325"/>
            <a:ext cx="21431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-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边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-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端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大小模型分工，不被供应商话术带跑</a:t>
            </a:r>
            <a:endParaRPr/>
          </a:p>
        </p:txBody>
      </p:sp>
      <p:sp>
        <p:nvSpPr>
          <p:cNvPr id="499" name=""/>
          <p:cNvSpPr/>
          <p:nvPr/>
        </p:nvSpPr>
        <p:spPr>
          <a:xfrm rot="0" flipH="0" flipV="0">
            <a:off x="6191250" y="1295400"/>
            <a:ext cx="2562225" cy="2105025"/>
          </a:xfrm>
          <a:prstGeom prst="roundRect">
            <a:avLst>
              <a:gd name="adj" fmla="val 72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0" name=""/>
          <p:cNvSpPr/>
          <p:nvPr/>
        </p:nvSpPr>
        <p:spPr>
          <a:xfrm rot="0" flipH="0" flipV="0">
            <a:off x="6400800" y="15240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43675" y="1666875"/>
            <a:ext cx="285750" cy="285750"/>
          </a:xfrm>
          <a:prstGeom prst="rect">
            <a:avLst/>
          </a:prstGeom>
          <a:ln/>
        </p:spPr>
      </p:pic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6400800" y="2247900"/>
            <a:ext cx="2143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3A8A"/>
                </a:solidFill>
                <a:latin typeface="PingFang SC"/>
                <a:ea typeface="PingFang SC"/>
              </a:rPr>
              <a:t>推得动组织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6400800" y="2600325"/>
            <a:ext cx="21431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八支柱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三阶段，让系统真的被人用起来</a:t>
            </a:r>
            <a:endParaRPr/>
          </a:p>
        </p:txBody>
      </p:sp>
      <p:sp>
        <p:nvSpPr>
          <p:cNvPr id="504" name=""/>
          <p:cNvSpPr/>
          <p:nvPr/>
        </p:nvSpPr>
        <p:spPr>
          <a:xfrm rot="0" flipH="0" flipV="0">
            <a:off x="8943975" y="1295400"/>
            <a:ext cx="2562225" cy="2105025"/>
          </a:xfrm>
          <a:prstGeom prst="roundRect">
            <a:avLst>
              <a:gd name="adj" fmla="val 72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5" name=""/>
          <p:cNvSpPr/>
          <p:nvPr/>
        </p:nvSpPr>
        <p:spPr>
          <a:xfrm rot="0" flipH="0" flipV="0">
            <a:off x="9153525" y="15240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296400" y="1666875"/>
            <a:ext cx="285750" cy="285750"/>
          </a:xfrm>
          <a:prstGeom prst="rect">
            <a:avLst/>
          </a:prstGeom>
          <a:ln/>
        </p:spPr>
      </p:pic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9153525" y="2247900"/>
            <a:ext cx="2143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3A8A"/>
                </a:solidFill>
                <a:latin typeface="PingFang SC"/>
                <a:ea typeface="PingFang SC"/>
              </a:rPr>
              <a:t>守得住底线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9153525" y="2600325"/>
            <a:ext cx="21431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幻觉防控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伦理红线，出事有人接得住</a:t>
            </a:r>
            <a:endParaRPr/>
          </a:p>
        </p:txBody>
      </p:sp>
      <p:sp>
        <p:nvSpPr>
          <p:cNvPr id="509" name=""/>
          <p:cNvSpPr/>
          <p:nvPr/>
        </p:nvSpPr>
        <p:spPr>
          <a:xfrm rot="0" flipH="0" flipV="0">
            <a:off x="685800" y="3590925"/>
            <a:ext cx="5295900" cy="256222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914400" y="3762375"/>
            <a:ext cx="4838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对应的高管困境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914400" y="4038600"/>
            <a:ext cx="4838700" cy="13049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①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算不清账：投了多少钱，省了多少钱，说不清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②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架构听供应商的：方案换三轮，越听越糊涂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③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系统上了人不动：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MAU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上不去，项目变烂尾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④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说不清责任：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判错了，责任在谁，没人认领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6210300" y="3590925"/>
            <a:ext cx="5295900" cy="2562225"/>
          </a:xfrm>
          <a:prstGeom prst="roundRect">
            <a:avLst>
              <a:gd name="adj" fmla="val 5948"/>
            </a:avLst>
          </a:prstGeom>
          <a:solidFill>
            <a:srgbClr val="1E3A8A"/>
          </a:solidFill>
          <a:ln/>
          <a:effectLst>
            <a:outerShdw blurRad="228600" dist="7620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6438900" y="3762375"/>
            <a:ext cx="4838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对象</a:t>
            </a:r>
            <a:r>
              <a:rPr lang="en-US" sz="1275" b="1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班型</a:t>
            </a:r>
            <a:r>
              <a:rPr lang="en-US" sz="1275" b="1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前置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438900" y="4038600"/>
            <a:ext cx="48387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对象：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CIO / CDO /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数字化负责人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厂长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战略运营高管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班型：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16–24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课时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+ 2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天战略沙盘，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8–15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人小班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前置：中级结业或同级别实战经验（带一个真实项目来）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438900" y="5810250"/>
            <a:ext cx="483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C471"/>
                </a:solidFill>
                <a:latin typeface="PingFang SC"/>
                <a:ea typeface="PingFang SC"/>
              </a:rPr>
              <a:t>中级交场景，高级交路线图</a:t>
            </a:r>
            <a:r>
              <a:rPr lang="en-US" sz="1125" b="1">
                <a:solidFill>
                  <a:srgbClr val="F8C471"/>
                </a:solidFill>
                <a:latin typeface="PingFang SC"/>
                <a:ea typeface="PingFang SC"/>
              </a:rPr>
              <a:t> —— </a:t>
            </a:r>
            <a:r>
              <a:rPr lang="zh-CN" sz="1125" b="1">
                <a:solidFill>
                  <a:srgbClr val="F8C471"/>
                </a:solidFill>
                <a:latin typeface="PingFang SC"/>
                <a:ea typeface="PingFang SC"/>
              </a:rPr>
              <a:t>两级课程互为接口。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03 / 24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1&lt;/Text&gt;&#10;        &lt;Text style={{ fontSize: 18, color: '#7FD9F0', letterSpacing: 5, marginTop: 6 }}&gt;H1 · 3 课时&lt;/Text&gt;&#10;        &lt;Text style={{ fontSize: 54, fontWeight: 'bold', color: '#FFFFFF', marginTop: 20, lineHeight: 1.18 }}&gt;智能工厂梯度&lt;br /&gt;你在哪？下一站在哪？&lt;/Text&gt;&#10;        &lt;Box style={{ width: 84, height: 4, background: '#06B6D4', marginTop: 30 }} /&gt;&#10;        &lt;Text style={{ fontSize: 19, color: '#A9C4E8', marginTop: 22, lineHeight: 1.6 }}&gt;三阶梯度 · 2027 锚点 · 自评四维度&lt;br /&gt;对标陕汽晋级路径，给自己工厂定坐标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521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H1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智能工厂梯度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你在哪？下一站在哪？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三阶梯度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2027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锚点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自评四维度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对标陕汽晋级路径，给自己工厂定坐标。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527" name="" descr="const rungs = [&#10;    { t: '基础级', d: '单点工具、数据孤岛、人工为主', s: '35%', c: '#64748B', hot: false },&#10;    { t: '卓越级', d: '流程贯通、数据可用、AI 进关键工序', s: '72%', c: '#06B6D4', hot: false },&#10;    { t: '领航级', d: '智能体群、模数共振、自我优化', s: '92%', c: '#F59E0B', hot: true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智能工厂三阶梯度&lt;/Text&gt;&#10;            &lt;Text style={{ fontSize: 17, color: '#64748B', marginTop: 4 }}&gt;升级不是换设备，是「数据 × 流程 × 组织」的整体跃迁&lt;/Text&gt;&#10;        &lt;/Box&gt;&#10;    &lt;/Box&gt;&#10;    &lt;Box style={{ flex: 1, flexDirection: 'row', gap: 24, marginTop: 14 }}&gt;&#10;        &lt;Box style={{ flex: 60, flexDirection: 'row', alignItems: 'flex-end', gap: 18, padding: '0 10px' }}&gt;&#10;            {rungs.map((r, i) =&gt; (&#10;                &lt;Box key={i} style={{ flex: 1, height: r.s + '%', background: r.hot ? '#1E3A8A' : '#FFFFFF', borderRadius: '16px 16px 0 0', border: '1px solid ' + (r.hot ? '#1E3A8A' : '#E2E8F0'), borderTop: '6px solid ' + r.c, padding: '22px 22px', justifyContent: 'flex-end', boxShadow: r.hot ? '0 10px 30px rgba(30,58,138,0.28)' : '0 6px 20px rgba(30,58,138,0.08)' }}&gt;&#10;                    &lt;Text style={{ fontSize: 24, fontWeight: 'bold', color: r.hot ? '#FFFFFF' : '#1E3A8A' }}&gt;{r.t}&lt;/Text&gt;&#10;                    &lt;Text style={{ fontSize: 15, color: r.hot ? '#DCE9FB' : '#43566b', lineHeight: 1.6, marginTop: 10 }}&gt;{r.d}&lt;/Text&gt;&#10;                &lt;/Box&gt;&#10;            ))}&#10;        &lt;/Box&gt;&#10;        &lt;Box style={{ flex: 40, flexDirection: 'column', gap: 14 }}&gt;&#10;            &lt;Box style={{ background: '#1E3A8A', borderRadius: 16, padding: '20px 24px' }}&gt;&#10;                &lt;Text style={{ fontSize: 15, color: '#7FD9F0', letterSpacing: 2 }}&gt;2027 政策锚点&lt;/Text&gt;&#10;                &lt;Box style={{ flexDirection: 'row', gap: 18, marginTop: 12 }}&gt;&#10;                    {[['1000', '工业智能体'], ['500', '应用场景'], ['1000', '标杆试点']].map((a, i) =&gt; (&#10;                        &lt;Box key={i} style={{ flex: 1, alignItems: 'center' }}&gt;&#10;                            &lt;Text style={{ fontSize: 30, fontWeight: 'bold', color: '#F8C471', fontFamily: 'Space Grotesk, Inter' }}&gt;{a[0]}&lt;/Text&gt;&#10;                            &lt;Text style={{ fontSize: 13, color: '#DCE9FB', marginTop: 2 }}&gt;{a[1]}&lt;/Text&gt;&#10;                        &lt;/Box&gt;&#10;                    ))}&#10;                &lt;/Box&gt;&#10;            &lt;/Box&gt;&#10;            &lt;Box style={{ flex: 1, background: '#FFFFFF', borderRadius: 16, padding: '18px 24px', border: '1px solid #E2E8F0' }}&gt;&#10;                &lt;Text style={{ fontSize: 16, fontWeight: 'bold', color: '#1E3A8A', marginBottom: 8 }}&gt;对标：陕汽晋级路径&lt;/Text&gt;&#10;                &lt;Text style={{ fontSize: 15, color: '#43566b', lineHeight: 1.8 }}&gt;从「基础级」到「领航级」用了五年：先打通数据 → 再上关键工序 AI → 最后建智能体群与飞轮。&lt;br /&gt;&lt;span style={{ fontWeight: 'bold', color: '#B45309' }}&gt;跳级不存在的 —— 每一阶都要先补齐上一阶的欠账。&lt;/span&gt;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5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2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9814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智能工厂三阶梯度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981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升级不是换设备，是「数据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×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流程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×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组织」的整体跃迁</a:t>
            </a:r>
            <a:endParaRPr/>
          </a:p>
        </p:txBody>
      </p:sp>
      <p:sp>
        <p:nvSpPr>
          <p:cNvPr id="532" name=""/>
          <p:cNvSpPr/>
          <p:nvPr/>
        </p:nvSpPr>
        <p:spPr>
          <a:xfrm rot="0" flipH="0" flipV="0">
            <a:off x="781050" y="4505325"/>
            <a:ext cx="1943100" cy="1704975"/>
          </a:xfrm>
          <a:custGeom>
            <a:pathLst>
              <a:path w="204" h="179">
                <a:moveTo>
                  <a:pt x="16" y="0"/>
                </a:moveTo>
                <a:lnTo>
                  <a:pt x="188" y="0"/>
                </a:lnTo>
                <a:cubicBezTo>
                  <a:pt x="197" y="0"/>
                  <a:pt x="204" y="7"/>
                  <a:pt x="204" y="16"/>
                </a:cubicBezTo>
                <a:lnTo>
                  <a:pt x="204" y="179"/>
                </a:lnTo>
                <a:lnTo>
                  <a:pt x="204" y="179"/>
                </a:lnTo>
                <a:lnTo>
                  <a:pt x="0" y="179"/>
                </a:lnTo>
                <a:lnTo>
                  <a:pt x="0" y="179"/>
                </a:ln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90500" dist="57150" dir="5400000">
              <a:srgbClr val="1E3A8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33" name=""/>
          <p:cNvSpPr/>
          <p:nvPr/>
        </p:nvSpPr>
        <p:spPr>
          <a:xfrm rot="0" flipH="0" flipV="0">
            <a:off x="781050" y="4505325"/>
            <a:ext cx="1943100" cy="1704975"/>
          </a:xfrm>
          <a:custGeom>
            <a:pathLst>
              <a:path w="204" h="179">
                <a:moveTo>
                  <a:pt x="189" y="0"/>
                </a:moveTo>
                <a:cubicBezTo>
                  <a:pt x="196" y="0"/>
                  <a:pt x="202" y="6"/>
                  <a:pt x="204" y="13"/>
                </a:cubicBezTo>
                <a:cubicBezTo>
                  <a:pt x="202" y="9"/>
                  <a:pt x="198" y="6"/>
                  <a:pt x="194" y="6"/>
                </a:cubicBezTo>
                <a:lnTo>
                  <a:pt x="10" y="6"/>
                </a:lnTo>
                <a:cubicBezTo>
                  <a:pt x="5" y="6"/>
                  <a:pt x="1" y="9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188" y="0"/>
                </a:lnTo>
                <a:close/>
              </a:path>
            </a:pathLst>
          </a:custGeom>
          <a:solidFill>
            <a:srgbClr val="64748B"/>
          </a:solidFill>
          <a:ln/>
        </p:spPr>
        <p:txBody>
          <a:bodyPr/>
          <a:p/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990600" y="5019675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3A8A"/>
                </a:solidFill>
                <a:latin typeface="PingFang SC"/>
                <a:ea typeface="PingFang SC"/>
              </a:rPr>
              <a:t>基础级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990600" y="5391150"/>
            <a:ext cx="1524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单点工具、数据孤岛、人工为主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2895600" y="2695575"/>
            <a:ext cx="1933575" cy="3514725"/>
          </a:xfrm>
          <a:custGeom>
            <a:pathLst>
              <a:path w="203" h="369">
                <a:moveTo>
                  <a:pt x="16" y="0"/>
                </a:moveTo>
                <a:lnTo>
                  <a:pt x="187" y="0"/>
                </a:lnTo>
                <a:cubicBezTo>
                  <a:pt x="196" y="0"/>
                  <a:pt x="203" y="7"/>
                  <a:pt x="203" y="16"/>
                </a:cubicBezTo>
                <a:lnTo>
                  <a:pt x="203" y="369"/>
                </a:lnTo>
                <a:lnTo>
                  <a:pt x="203" y="369"/>
                </a:lnTo>
                <a:lnTo>
                  <a:pt x="0" y="369"/>
                </a:lnTo>
                <a:lnTo>
                  <a:pt x="0" y="369"/>
                </a:ln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90500" dist="57150" dir="5400000">
              <a:srgbClr val="1E3A8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2895600" y="2695575"/>
            <a:ext cx="1933575" cy="3514725"/>
          </a:xfrm>
          <a:custGeom>
            <a:pathLst>
              <a:path w="203" h="369">
                <a:moveTo>
                  <a:pt x="188" y="0"/>
                </a:moveTo>
                <a:cubicBezTo>
                  <a:pt x="195" y="0"/>
                  <a:pt x="201" y="6"/>
                  <a:pt x="203" y="13"/>
                </a:cubicBezTo>
                <a:cubicBezTo>
                  <a:pt x="201" y="9"/>
                  <a:pt x="197" y="6"/>
                  <a:pt x="193" y="6"/>
                </a:cubicBezTo>
                <a:lnTo>
                  <a:pt x="10" y="6"/>
                </a:lnTo>
                <a:cubicBezTo>
                  <a:pt x="5" y="6"/>
                  <a:pt x="1" y="9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187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3105150" y="5019675"/>
            <a:ext cx="1514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3A8A"/>
                </a:solidFill>
                <a:latin typeface="PingFang SC"/>
                <a:ea typeface="PingFang SC"/>
              </a:rPr>
              <a:t>卓越级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105150" y="5391150"/>
            <a:ext cx="15144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流程贯通、数据可用、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进关键工序</a:t>
            </a:r>
            <a:endParaRPr/>
          </a:p>
        </p:txBody>
      </p:sp>
      <p:sp>
        <p:nvSpPr>
          <p:cNvPr id="540" name=""/>
          <p:cNvSpPr/>
          <p:nvPr/>
        </p:nvSpPr>
        <p:spPr>
          <a:xfrm rot="0" flipH="0" flipV="0">
            <a:off x="5000625" y="1724025"/>
            <a:ext cx="1943100" cy="4486275"/>
          </a:xfrm>
          <a:custGeom>
            <a:pathLst>
              <a:path w="204" h="471">
                <a:moveTo>
                  <a:pt x="16" y="0"/>
                </a:moveTo>
                <a:lnTo>
                  <a:pt x="188" y="0"/>
                </a:lnTo>
                <a:cubicBezTo>
                  <a:pt x="197" y="0"/>
                  <a:pt x="204" y="7"/>
                  <a:pt x="204" y="16"/>
                </a:cubicBezTo>
                <a:lnTo>
                  <a:pt x="204" y="471"/>
                </a:lnTo>
                <a:lnTo>
                  <a:pt x="204" y="471"/>
                </a:lnTo>
                <a:lnTo>
                  <a:pt x="0" y="471"/>
                </a:lnTo>
                <a:lnTo>
                  <a:pt x="0" y="471"/>
                </a:ln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1E3A8A"/>
          </a:solidFill>
          <a:ln/>
          <a:effectLst>
            <a:outerShdw blurRad="285750" dist="95250" dir="5400000">
              <a:srgbClr val="1E3A8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41" name=""/>
          <p:cNvSpPr/>
          <p:nvPr/>
        </p:nvSpPr>
        <p:spPr>
          <a:xfrm rot="0" flipH="0" flipV="0">
            <a:off x="5000625" y="1724025"/>
            <a:ext cx="1943100" cy="4486275"/>
          </a:xfrm>
          <a:custGeom>
            <a:pathLst>
              <a:path w="204" h="471">
                <a:moveTo>
                  <a:pt x="189" y="0"/>
                </a:moveTo>
                <a:cubicBezTo>
                  <a:pt x="196" y="0"/>
                  <a:pt x="202" y="6"/>
                  <a:pt x="204" y="13"/>
                </a:cubicBezTo>
                <a:cubicBezTo>
                  <a:pt x="202" y="9"/>
                  <a:pt x="198" y="6"/>
                  <a:pt x="194" y="6"/>
                </a:cubicBezTo>
                <a:lnTo>
                  <a:pt x="10" y="6"/>
                </a:lnTo>
                <a:cubicBezTo>
                  <a:pt x="5" y="6"/>
                  <a:pt x="1" y="9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188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5210175" y="5019675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PingFang SC"/>
                <a:ea typeface="PingFang SC"/>
              </a:rPr>
              <a:t>领航级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5210175" y="5391150"/>
            <a:ext cx="1524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智能体群、模数共振、自我优化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7267575" y="1276350"/>
            <a:ext cx="4238625" cy="1181100"/>
          </a:xfrm>
          <a:prstGeom prst="roundRect">
            <a:avLst>
              <a:gd name="adj" fmla="val 12903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7496175" y="1466850"/>
            <a:ext cx="3781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D9F0"/>
                </a:solidFill>
                <a:latin typeface="PingFang SC"/>
                <a:ea typeface="PingFang SC"/>
              </a:rPr>
              <a:t>2027 </a:t>
            </a:r>
            <a:r>
              <a:rPr lang="zh-CN" sz="1125" spc="150">
                <a:solidFill>
                  <a:srgbClr val="7FD9F0"/>
                </a:solidFill>
                <a:latin typeface="PingFang SC"/>
                <a:ea typeface="PingFang SC"/>
              </a:rPr>
              <a:t>政策锚点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7753350" y="1752600"/>
            <a:ext cx="638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8C471"/>
                </a:solidFill>
                <a:latin typeface="Space Grotesk"/>
                <a:ea typeface="Space Grotesk"/>
              </a:rPr>
              <a:t>1000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7762875" y="2114550"/>
            <a:ext cx="619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工业智能体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9144000" y="1752600"/>
            <a:ext cx="485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8C471"/>
                </a:solidFill>
                <a:latin typeface="Space Grotesk"/>
                <a:ea typeface="Space Grotesk"/>
              </a:rPr>
              <a:t>500</a:t>
            </a:r>
            <a:endParaRPr/>
          </a:p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9144000" y="2114550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应用场景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10391775" y="1752600"/>
            <a:ext cx="638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8C471"/>
                </a:solidFill>
                <a:latin typeface="Space Grotesk"/>
                <a:ea typeface="Space Grotesk"/>
              </a:rPr>
              <a:t>1000</a:t>
            </a:r>
            <a:endParaRPr/>
          </a:p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458450" y="2114550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标杆试点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7267575" y="2590800"/>
            <a:ext cx="4238625" cy="3562350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7496175" y="2762250"/>
            <a:ext cx="3781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对标：陕汽晋级路径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7496175" y="3028950"/>
            <a:ext cx="37814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从「基础级」到「领航级」用了五年：先打通数据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再上关键工序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AI →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最后建智能体群与飞轮。</a:t>
            </a:r>
            <a:endParaRPr/>
          </a:p>
          <a:p>
            <a:pPr>
              <a:lnSpc>
                <a:spcPct val="18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跳级不存在的</a:t>
            </a:r>
            <a:r>
              <a:rPr lang="en-US" sz="1125" b="1">
                <a:solidFill>
                  <a:srgbClr val="B45309"/>
                </a:solidFill>
                <a:latin typeface="PingFang SC"/>
                <a:ea typeface="PingFang SC"/>
              </a:rPr>
              <a:t> —— </a:t>
            </a: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每一阶都要先补齐上一阶的欠账。</a:t>
            </a:r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05 / 24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7" name="" descr="const dims = [&#10;    { icon: 'server', t: '数字化基础', d: '设备联网率 / MES·ERP 覆盖 / 网络带宽', s: 70 },&#10;    { icon: 'database', t: '数据贯通度', d: '跨系统接口 / 主数据统一 / 数据质量', s: 45 },&#10;    { icon: 'brain', t: '智能化深度', d: 'AI 场景数 / 关键工序占比 / 智能体数', s: 30 },&#10;    { icon: 'users', t: '组织就绪度', d: 'DRI 设置 / 倡导者网络 / 培训覆盖率', s: 55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自评四维度：给工厂定坐标&lt;/Text&gt;&#10;            &lt;Text style={{ fontSize: 17, color: '#64748B', marginTop: 4 }}&gt;沙盘任务一就是用它 —— 先知道在哪，才谈得到哪&lt;/Text&gt;&#10;        &lt;/Box&gt;&#10;    &lt;/Box&gt;&#10;    &lt;Box style={{ flex: 1, flexDirection: 'row', gap: 20, marginTop: 16 }}&gt;&#10;        {dims.map((d, i) =&gt; (&#10;            &lt;Box key={i} style={{ flex: 1, background: '#FFFFFF', borderRadius: 16, padding: '24px 22px', border: '1px solid #E2E8F0', boxShadow: '0 4px 16px rgba(30,58,138,0.06)', flexDirection: 'column' }}&gt;&#10;                &lt;Box style={{ width: 58, height: 58, borderRadius: 14, background: i === 1 ? '#FEEFE0' : '#E0F7FA', justifyContent: 'center', alignItems: 'center', marginBottom: 14 }}&gt;&#10;                    &lt;FAIcon name={d.icon} style={{ fill: i === 1 ? '#F59E0B' : '#0891B2', width: 28, height: 28 }} /&gt;&#10;                &lt;/Box&gt;&#10;                &lt;Text style={{ fontSize: 20, fontWeight: 'bold', color: '#1E3A8A' }}&gt;{d.t}&lt;/Text&gt;&#10;                &lt;Text style={{ fontSize: 14, color: '#43566b', lineHeight: 1.6, marginTop: 10, flex: 1 }}&gt;{d.d}&lt;/Text&gt;&#10;                &lt;Box style={{ marginTop: 16, height: 10, background: '#EDF3FB', borderRadius: 5, overflow: 'hidden' }}&gt;&#10;                    &lt;Box style={{ width: d.s + '%', height: 10, background: i === 1 ? '#F59E0B' : '#06B6D4', borderRadius: 5 }} /&gt;&#10;                &lt;/Box&gt;&#10;                &lt;Text style={{ fontSize: 13, color: '#64748B', marginTop: 6 }}&gt;示例得分 {d.s} —— 短板维度就是路线图的第一优先级&lt;/Text&gt;&#10;            &lt;/Box&gt;&#10;        ))}&#10;    &lt;/Box&gt;&#10;    &lt;Box style={{ marginTop: 16, padding: '14px 24px', background: '#1E3A8A', borderRadius: 12, flexDirection: 'row', alignItems: 'center', gap: 14 }}&gt;&#10;        &lt;FAIcon name=&quot;lightbulb&quot; style={{ fill: '#F59E0B', width: 22, height: 22 }} /&gt;&#10;        &lt;Text style={{ fontSize: 18, fontWeight: 'bold', color: '#FFFFFF' }}&gt;用法：四个维度里最低的那一项，就是你未来 12 个月最该花钱的地方 —— 不是最时髦的技术。&lt;/Text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6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8862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自评四维度：给工厂定坐标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886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沙盘任务一就是用它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先知道在哪，才谈得到哪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685800" y="1295400"/>
            <a:ext cx="2562225" cy="422910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895350" y="152400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38225" y="1666875"/>
            <a:ext cx="266700" cy="266700"/>
          </a:xfrm>
          <a:prstGeom prst="rect">
            <a:avLst/>
          </a:prstGeom>
          <a:ln/>
        </p:spPr>
      </p:pic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895350" y="2209800"/>
            <a:ext cx="2143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数字化基础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895350" y="2533650"/>
            <a:ext cx="2143125" cy="2152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设备联网率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MES·ERP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覆盖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网络带宽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895350" y="4838700"/>
            <a:ext cx="2143125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568" name=""/>
          <p:cNvSpPr/>
          <p:nvPr/>
        </p:nvSpPr>
        <p:spPr>
          <a:xfrm rot="0" flipH="0" flipV="0">
            <a:off x="895350" y="4838700"/>
            <a:ext cx="15049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895350" y="4991100"/>
            <a:ext cx="21431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示例得分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70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短板维度就是路线图的第一优先级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3438525" y="1295400"/>
            <a:ext cx="2562225" cy="422910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3648075" y="152400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90950" y="1666875"/>
            <a:ext cx="266700" cy="266700"/>
          </a:xfrm>
          <a:prstGeom prst="rect">
            <a:avLst/>
          </a:prstGeom>
          <a:ln/>
        </p:spPr>
      </p:pic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3648075" y="2209800"/>
            <a:ext cx="2143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数据贯通度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648075" y="2533650"/>
            <a:ext cx="2143125" cy="2152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跨系统接口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主数据统一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数据质量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648075" y="4838700"/>
            <a:ext cx="2143125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576" name=""/>
          <p:cNvSpPr/>
          <p:nvPr/>
        </p:nvSpPr>
        <p:spPr>
          <a:xfrm rot="0" flipH="0" flipV="0">
            <a:off x="3648075" y="4838700"/>
            <a:ext cx="962025" cy="952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3648075" y="4991100"/>
            <a:ext cx="21431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示例得分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45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短板维度就是路线图的第一优先级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6191250" y="1295400"/>
            <a:ext cx="2562225" cy="422910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6400800" y="152400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43675" y="1666875"/>
            <a:ext cx="266700" cy="266700"/>
          </a:xfrm>
          <a:prstGeom prst="rect">
            <a:avLst/>
          </a:prstGeom>
          <a:ln/>
        </p:spPr>
      </p:pic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6400800" y="2209800"/>
            <a:ext cx="2143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智能化深度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6400800" y="2533650"/>
            <a:ext cx="2143125" cy="2152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场景数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关键工序占比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智能体数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6400800" y="4838700"/>
            <a:ext cx="2143125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584" name=""/>
          <p:cNvSpPr/>
          <p:nvPr/>
        </p:nvSpPr>
        <p:spPr>
          <a:xfrm rot="0" flipH="0" flipV="0">
            <a:off x="6400800" y="4838700"/>
            <a:ext cx="64770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6400800" y="4991100"/>
            <a:ext cx="21431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示例得分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30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短板维度就是路线图的第一优先级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8943975" y="1295400"/>
            <a:ext cx="2562225" cy="422910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87" name=""/>
          <p:cNvSpPr/>
          <p:nvPr/>
        </p:nvSpPr>
        <p:spPr>
          <a:xfrm rot="0" flipH="0" flipV="0">
            <a:off x="9153525" y="152400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296400" y="1666875"/>
            <a:ext cx="266700" cy="266700"/>
          </a:xfrm>
          <a:prstGeom prst="rect">
            <a:avLst/>
          </a:prstGeom>
          <a:ln/>
        </p:spPr>
      </p:pic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9153525" y="2209800"/>
            <a:ext cx="2143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组织就绪度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9153525" y="2533650"/>
            <a:ext cx="2143125" cy="2152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设置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倡导者网络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培训覆盖率</a:t>
            </a:r>
            <a:endParaRPr/>
          </a:p>
        </p:txBody>
      </p:sp>
      <p:sp>
        <p:nvSpPr>
          <p:cNvPr id="591" name=""/>
          <p:cNvSpPr/>
          <p:nvPr/>
        </p:nvSpPr>
        <p:spPr>
          <a:xfrm rot="0" flipH="0" flipV="0">
            <a:off x="9153525" y="4838700"/>
            <a:ext cx="2143125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592" name=""/>
          <p:cNvSpPr/>
          <p:nvPr/>
        </p:nvSpPr>
        <p:spPr>
          <a:xfrm rot="0" flipH="0" flipV="0">
            <a:off x="9153525" y="4838700"/>
            <a:ext cx="118110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9153525" y="4991100"/>
            <a:ext cx="21431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示例得分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55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短板维度就是路线图的第一优先级</a:t>
            </a:r>
            <a:endParaRPr/>
          </a:p>
        </p:txBody>
      </p:sp>
      <p:sp>
        <p:nvSpPr>
          <p:cNvPr id="594" name=""/>
          <p:cNvSpPr/>
          <p:nvPr/>
        </p:nvSpPr>
        <p:spPr>
          <a:xfrm rot="0" flipH="0" flipV="0">
            <a:off x="685800" y="5676900"/>
            <a:ext cx="10820400" cy="476250"/>
          </a:xfrm>
          <a:prstGeom prst="roundRect">
            <a:avLst>
              <a:gd name="adj" fmla="val 24000"/>
            </a:avLst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5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14400" y="5810250"/>
            <a:ext cx="209550" cy="209550"/>
          </a:xfrm>
          <a:prstGeom prst="rect">
            <a:avLst/>
          </a:prstGeom>
          <a:ln/>
        </p:spPr>
      </p:pic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257300" y="5810250"/>
            <a:ext cx="726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用法：四个维度里最低的那一项，就是你未来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12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个月最该花钱的地方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不是最时髦的技术。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06 / 24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99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2&lt;/Text&gt;&#10;        &lt;Text style={{ fontSize: 18, color: '#7FD9F0', letterSpacing: 5, marginTop: 6 }}&gt;H2 · 3 课时&lt;/Text&gt;&#10;        &lt;Text style={{ fontSize: 54, fontWeight: 'bold', color: '#FFFFFF', marginTop: 20, lineHeight: 1.18 }}&gt;技术架构&lt;br /&gt;先画骨架，再填血肉&lt;/Text&gt;&#10;        &lt;Box style={{ width: 84, height: 4, background: '#06B6D4', marginTop: 30 }} /&gt;&#10;        &lt;Text style={{ fontSize: 19, color: '#A9C4E8', marginTop: 22, lineHeight: 1.6 }}&gt;云-边-端三层 · 大小模型分工 · 数字孪生 · 工业智能体&lt;br /&gt;架构题只有两问：数据放哪跑？延迟够不够？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602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H2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技术架构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先画骨架，再填血肉</a:t>
            </a:r>
            <a:endParaRPr/>
          </a:p>
        </p:txBody>
      </p:sp>
      <p:sp>
        <p:nvSpPr>
          <p:cNvPr id="606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云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-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边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-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端三层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大小模型分工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数字孪生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工业智能体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架构题只有两问：数据放哪跑？延迟够不够？</a:t>
            </a:r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08" name="" descr="const layers = [&#10;    { icon: 'cloud', t: '云（中心）', d: '大模型训练 / 知识中枢 / 跨厂协同', tag: '慢思考' },&#10;    { icon: 'microchip', t: '边（厂内）', d: '小模型推理 / 数据不出厂 / 低时延', tag: '快反应' },&#10;    { icon: 'mobile-alt', t: '端（设备）', d: '传感器 / 执行器 / 本地采集', tag: '神经末梢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云-边-端 + 大小模型分工&lt;/Text&gt;&#10;            &lt;Text style={{ fontSize: 17, color: '#64748B', marginTop: 4 }}&gt;一句话判据：数据敏感度 × 时延要求，决定它跑在哪一层&lt;/Text&gt;&#10;        &lt;/Box&gt;&#10;    &lt;/Box&gt;&#10;    &lt;Box style={{ flex: 1, flexDirection: 'row', gap: 26, marginTop: 14 }}&gt;&#10;        &lt;Box style={{ flex: 55, flexDirection: 'column', gap: 14 }}&gt;&#10;            {layers.map((l, i) =&gt; (&#10;                &lt;Box key={i} style={{ flex: 1, background: i === 1 ? '#1E3A8A' : '#FFFFFF', borderRadius: 16, border: '1px solid ' + (i === 1 ? '#1E3A8A' : '#E2E8F0'), flexDirection: 'row', alignItems: 'center', gap: 18, padding: '0 26px', boxShadow: i === 1 ? '0 8px 24px rgba(30,58,138,0.25)' : '0 3px 12px rgba(30,58,138,0.05)' }}&gt;&#10;                    &lt;Box style={{ width: 54, height: 54, borderRadius: 13, background: i === 1 ? 'rgba(6,182,212,0.2)' : '#E0F7FA', justifyContent: 'center', alignItems: 'center' }}&gt;&#10;                        &lt;FAIcon name={l.icon} style={{ fill: i === 1 ? '#7FD9F0' : '#0891B2', width: 26, height: 26 }} /&gt;&#10;                    &lt;/Box&gt;&#10;                    &lt;Box style={{ width: 150 }}&gt;&#10;                        &lt;Text style={{ fontSize: 21, fontWeight: 'bold', color: i === 1 ? '#FFFFFF' : '#1E3A8A' }}&gt;{l.t}&lt;/Text&gt;&#10;                    &lt;/Box&gt;&#10;                    &lt;Text style={{ flex: 1, fontSize: 16, color: i === 1 ? '#DCE9FB' : '#43566b' }}&gt;{l.d}&lt;/Text&gt;&#10;                    &lt;Box style={{ padding: '6px 14px', background: i === 1 ? '#F59E0B' : '#EDF3FB', borderRadius: 999 }}&gt;&#10;                        &lt;Text style={{ fontSize: 14, fontWeight: 'bold', color: i === 1 ? '#FFFFFF' : '#64748B' }}&gt;{l.tag}&lt;/Text&gt;&#10;                    &lt;/Box&gt;&#10;                &lt;/Box&gt;&#10;            ))}&#10;        &lt;/Box&gt;&#10;        &lt;Box style={{ flex: 45, flexDirection: 'column', gap: 16 }}&gt;&#10;            &lt;Box style={{ flex: 1, padding: '20px 26px', background: '#FEEFE0', borderRadius: 16, border: '2px solid #F59E0B' }}&gt;&#10;                &lt;Text style={{ fontSize: 19, fontWeight: 'bold', color: '#B45309' }}&gt;架构第一原则&lt;/Text&gt;&#10;                &lt;Text style={{ fontSize: 21, fontWeight: 'bold', color: '#1E3A8A', marginTop: 10, lineHeight: 1.5 }}&gt;能用小模型，就别上大模型。&lt;/Text&gt;&#10;                &lt;Text style={{ fontSize: 14, color: '#43566b', marginTop: 10, lineHeight: 1.7 }}&gt;小模型：便宜、快、数据不出厂。大模型：通用、强，但贵、慢、常要上云。先用小模型把 80% 的活干了，剩下的 20% 再谈大模型。&lt;/Text&gt;&#10;            &lt;/Box&gt;&#10;            &lt;Box style={{ flex: 1, background: '#FFFFFF', borderRadius: 16, padding: '20px 26px', border: '1px solid #E2E8F0' }}&gt;&#10;                &lt;Text style={{ fontSize: 17, fontWeight: 'bold', color: '#1E3A8A', marginBottom: 8 }}&gt;数字孪生：给决策装个沙盘&lt;/Text&gt;&#10;                &lt;Text style={{ fontSize: 15, color: '#43566b', lineHeight: 1.7 }}&gt;产线在虚拟空间里先跑一遍 —— 换方案、调参数、验瓶颈，不耽误一天实际生产。领航级的标配，卓越级的加分项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8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10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0957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云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边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端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大小模型分工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一句话判据：数据敏感度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×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时延要求，决定它跑在哪一层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685800" y="1276350"/>
            <a:ext cx="5819775" cy="1533525"/>
          </a:xfrm>
          <a:prstGeom prst="roundRect">
            <a:avLst>
              <a:gd name="adj" fmla="val 99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933450" y="179070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1924050"/>
            <a:ext cx="247650" cy="247650"/>
          </a:xfrm>
          <a:prstGeom prst="rect">
            <a:avLst/>
          </a:prstGeom>
          <a:ln/>
        </p:spPr>
      </p:pic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1619250" y="1924050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云（中心）</a:t>
            </a:r>
            <a:endParaRPr/>
          </a:p>
        </p:txBody>
      </p:sp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3219450" y="195262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大模型训练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知识中枢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跨厂协同</a:t>
            </a:r>
            <a:endParaRPr/>
          </a:p>
        </p:txBody>
      </p:sp>
      <p:sp>
        <p:nvSpPr>
          <p:cNvPr id="618" name=""/>
          <p:cNvSpPr/>
          <p:nvPr/>
        </p:nvSpPr>
        <p:spPr>
          <a:xfrm rot="0" flipH="0" flipV="0">
            <a:off x="5591175" y="1905000"/>
            <a:ext cx="666750" cy="276225"/>
          </a:xfrm>
          <a:prstGeom prst="roundRect">
            <a:avLst>
              <a:gd name="adj" fmla="val 3444828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5724525" y="19621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64748B"/>
                </a:solidFill>
                <a:latin typeface="PingFang SC"/>
                <a:ea typeface="PingFang SC"/>
              </a:rPr>
              <a:t>慢思考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685800" y="2943225"/>
            <a:ext cx="5819775" cy="1543050"/>
          </a:xfrm>
          <a:prstGeom prst="roundRect">
            <a:avLst>
              <a:gd name="adj" fmla="val 9877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21" name=""/>
          <p:cNvSpPr/>
          <p:nvPr/>
        </p:nvSpPr>
        <p:spPr>
          <a:xfrm rot="0" flipH="0" flipV="0">
            <a:off x="933450" y="3457575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06B6D4">
              <a:alpha val="20000"/>
            </a:srgbClr>
          </a:solidFill>
          <a:ln/>
        </p:spPr>
        <p:txBody>
          <a:bodyPr/>
          <a:p/>
        </p:txBody>
      </p:sp>
      <p:pic>
        <p:nvPicPr>
          <p:cNvPr id="6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66800" y="3590925"/>
            <a:ext cx="247650" cy="247650"/>
          </a:xfrm>
          <a:prstGeom prst="rect">
            <a:avLst/>
          </a:prstGeom>
          <a:ln/>
        </p:spPr>
      </p:pic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619250" y="359092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FFFFF"/>
                </a:solidFill>
                <a:latin typeface="PingFang SC"/>
                <a:ea typeface="PingFang SC"/>
              </a:rPr>
              <a:t>边（厂内）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219450" y="3619500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小模型推理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数据不出厂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低时延</a:t>
            </a:r>
            <a:endParaRPr/>
          </a:p>
        </p:txBody>
      </p:sp>
      <p:sp>
        <p:nvSpPr>
          <p:cNvPr id="625" name=""/>
          <p:cNvSpPr/>
          <p:nvPr/>
        </p:nvSpPr>
        <p:spPr>
          <a:xfrm rot="0" flipH="0" flipV="0">
            <a:off x="5591175" y="3581400"/>
            <a:ext cx="666750" cy="276225"/>
          </a:xfrm>
          <a:prstGeom prst="roundRect">
            <a:avLst>
              <a:gd name="adj" fmla="val 3444828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5724525" y="36385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PingFang SC"/>
                <a:ea typeface="PingFang SC"/>
              </a:rPr>
              <a:t>快反应</a:t>
            </a:r>
            <a:endParaRPr/>
          </a:p>
        </p:txBody>
      </p:sp>
      <p:sp>
        <p:nvSpPr>
          <p:cNvPr id="627" name=""/>
          <p:cNvSpPr/>
          <p:nvPr/>
        </p:nvSpPr>
        <p:spPr>
          <a:xfrm rot="0" flipH="0" flipV="0">
            <a:off x="685800" y="4619625"/>
            <a:ext cx="5819775" cy="1533525"/>
          </a:xfrm>
          <a:prstGeom prst="roundRect">
            <a:avLst>
              <a:gd name="adj" fmla="val 99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28" name=""/>
          <p:cNvSpPr/>
          <p:nvPr/>
        </p:nvSpPr>
        <p:spPr>
          <a:xfrm rot="0" flipH="0" flipV="0">
            <a:off x="933450" y="5133975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66800" y="5267325"/>
            <a:ext cx="247650" cy="247650"/>
          </a:xfrm>
          <a:prstGeom prst="rect">
            <a:avLst/>
          </a:prstGeom>
          <a:ln/>
        </p:spPr>
      </p:pic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1619250" y="526732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端（设备）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3219450" y="5295900"/>
            <a:ext cx="206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传感器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执行器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本地采集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5457825" y="5248275"/>
            <a:ext cx="800100" cy="276225"/>
          </a:xfrm>
          <a:prstGeom prst="roundRect">
            <a:avLst>
              <a:gd name="adj" fmla="val 3444828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5591175" y="53054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64748B"/>
                </a:solidFill>
                <a:latin typeface="PingFang SC"/>
                <a:ea typeface="PingFang SC"/>
              </a:rPr>
              <a:t>神经末梢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6753225" y="1276350"/>
            <a:ext cx="4752975" cy="2590800"/>
          </a:xfrm>
          <a:prstGeom prst="roundRect">
            <a:avLst>
              <a:gd name="adj" fmla="val 5882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7000875" y="1466850"/>
            <a:ext cx="4257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B45309"/>
                </a:solidFill>
                <a:latin typeface="PingFang SC"/>
                <a:ea typeface="PingFang SC"/>
              </a:rPr>
              <a:t>架构第一原则</a:t>
            </a:r>
            <a:endParaRPr/>
          </a:p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7000875" y="1781175"/>
            <a:ext cx="42576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能用小模型，就别上大模型。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7000875" y="2238375"/>
            <a:ext cx="42576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小模型：便宜、快、数据不出厂。大模型：通用、强，但贵、慢、常要上云。先用小模型把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80%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的活干了，剩下的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20%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再谈大模型。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6753225" y="4019550"/>
            <a:ext cx="4752975" cy="21336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7000875" y="4210050"/>
            <a:ext cx="4257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数字孪生：给决策装个沙盘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000875" y="4486275"/>
            <a:ext cx="42576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产线在虚拟空间里先跑一遍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换方案、调参数、验瓶颈，不耽误一天实际生产。领航级的标配，卓越级的加分项。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08 / 24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3" name="" descr="const loops = [&#10;    { icon: 'eye', t: '感知', d: '读设备、物料、环境信号' },&#10;    { icon: 'brain', t: '规划', d: '选策略、拆步骤、排优先级' },&#10;    { icon: 'bolt', t: '行动', d: '调系统、下发指令、生成单据' },&#10;    { icon: 'sync-alt', t: '观察', d: '验结果、修正下一步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工业智能体：感知-规划-行动-观察&lt;/Text&gt;&#10;            &lt;Text style={{ fontSize: 17, color: '#64748B', marginTop: 4 }}&gt;2027 年前 1000 个工业智能体的赛道 —— 你要的是「养一群」还是「看别人养」&lt;/Text&gt;&#10;        &lt;/Box&gt;&#10;    &lt;/Box&gt;&#10;    &lt;Box style={{ flex: 1, flexDirection: 'row', gap: 24, marginTop: 14 }}&gt;&#10;        &lt;Box style={{ flex: 62, flexDirection: 'column' }}&gt;&#10;            &lt;Box style={{ flexDirection: 'row', gap: 12, alignItems: 'stretch' }}&gt;&#10;                {loops.map((l, i) =&gt; (&#10;                    &lt;Box key={i} style={{ flexDirection: 'row', alignItems: 'center', gap: 12, flex: 1 }}&gt;&#10;                        &lt;Box key={'c' + i} style={{ flex: 1, background: '#FFFFFF', borderRadius: 14, border: '1px solid #E2E8F0', padding: '20px 14px', textAlign: 'center', boxShadow: '0 4px 14px rgba(30,58,138,0.06)' }}&gt;&#10;                            &lt;Box style={{ width: 54, height: 54, borderRadius: 13, background: i === 2 ? '#FEEFE0' : '#E0F7FA', justifyContent: 'center', alignItems: 'center', alignSelf: 'center', marginBottom: 12 }}&gt;&#10;                                &lt;FAIcon name={l.icon} style={{ fill: i === 2 ? '#F59E0B' : '#0891B2', width: 26, height: 26 }} /&gt;&#10;                            &lt;/Box&gt;&#10;                            &lt;Text style={{ fontSize: 19, fontWeight: 'bold', color: '#1E3A8A' }}&gt;{l.t}&lt;/Text&gt;&#10;                            &lt;Text style={{ fontSize: 13, color: '#43566b', lineHeight: 1.55, marginTop: 8 }}&gt;{l.d}&lt;/Text&gt;&#10;                        &lt;/Box&gt;&#10;                        {i &lt; loops.length - 1 &amp;&amp; &lt;FAIcon name=&quot;arrow-right&quot; style={{ fill: '#F59E0B', width: 18, height: 18 }} /&gt;}&#10;                    &lt;/Box&gt;&#10;                ))}&#10;            &lt;/Box&gt;&#10;            &lt;Box style={{ flex: 1, background: '#FFFFFF', borderRadius: 16, padding: '20px 26px', marginTop: 18, border: '1px solid #E2E8F0' }}&gt;&#10;                &lt;Text style={{ fontSize: 17, fontWeight: 'bold', color: '#1E3A8A', marginBottom: 10 }}&gt;规划者视角：智能体不是买来的，是「养」出来的&lt;/Text&gt;&#10;                &lt;Text style={{ fontSize: 15, color: '#43566b', lineHeight: 1.9 }}&gt;① 数据回路 —— 没有持续反馈，智能体会原地踏步&lt;br /&gt;② 权限边界 —— 哪些动作可自主、哪些必须人签&lt;br /&gt;③ 评测体系 —— 每个智能体要有「上岗考核 + 年度复评」&lt;br /&gt;&lt;span style={{ fontWeight: 'bold', color: '#B45309' }}&gt;路线图里请为「智能体运营」单列一条线，而不是当成软件采购。&lt;/span&gt;&lt;/Text&gt;&#10;            &lt;/Box&gt;&#10;        &lt;/Box&gt;&#10;        &lt;Box style={{ flex: 38, background: '#1E3A8A', borderRadius: 18, padding: '26px 30px', flexDirection: 'column', justifyContent: 'center', boxShadow: '0 8px 28px rgba(30,58,138,0.25)' }}&gt;&#10;            &lt;FAIcon name=&quot;wifi&quot; style={{ fill: '#F59E0B', width: 34, height: 34 }} /&gt;&#10;            &lt;Text style={{ fontSize: 22, fontWeight: 'bold', color: '#FFFFFF', marginTop: 16, lineHeight: 1.5 }}&gt;5G + AI：低时延是智能体闭环的前提&lt;/Text&gt;&#10;            &lt;Text style={{ fontSize: 15, color: '#DCE9FB', marginTop: 14, lineHeight: 1.8 }}&gt;「观察→规划→行动」要在秒级闭环，Wi-Fi 和有线网常常卡在这里。&lt;br /&gt;厂内 5G / 确定性网络，是领航级架构的隐形地基。&lt;/Text&gt;&#10;            &lt;Box style={{ marginTop: 'auto', paddingTop: 16, padding: '10px 16px', background: 'rgba(6,182,212,0.18)', borderRadius: 10, border: '1px solid rgba(6,182,212,0.6)', alignSelf: 'flex-start' }}&gt;&#10;                &lt;Text style={{ fontSize: 14, fontWeight: 'bold', color: '#7FD9F0' }}&gt;判断：毫秒级闭环 → 边 + 5G；分钟级以上 → 普通网络够用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9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45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8674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工业智能体：感知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规划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行动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观察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867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2027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年前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1000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个工业智能体的赛道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你要的是「养一群」还是「看别人养」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685800" y="1276350"/>
            <a:ext cx="1266825" cy="17716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335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49" name=""/>
          <p:cNvSpPr/>
          <p:nvPr/>
        </p:nvSpPr>
        <p:spPr>
          <a:xfrm rot="0" flipH="0" flipV="0">
            <a:off x="1066800" y="146685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200150" y="1600200"/>
            <a:ext cx="247650" cy="247650"/>
          </a:xfrm>
          <a:prstGeom prst="rect">
            <a:avLst/>
          </a:prstGeom>
          <a:ln/>
        </p:spPr>
      </p:pic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819150" y="2095500"/>
            <a:ext cx="1000125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感知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819150" y="2390775"/>
            <a:ext cx="1000125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读设备、物料、环境信号</a:t>
            </a:r>
            <a:endParaRPr/>
          </a:p>
        </p:txBody>
      </p:sp>
      <p:pic>
        <p:nvPicPr>
          <p:cNvPr id="6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2066925" y="2076450"/>
            <a:ext cx="171450" cy="171450"/>
          </a:xfrm>
          <a:prstGeom prst="rect">
            <a:avLst/>
          </a:prstGeom>
          <a:ln/>
        </p:spPr>
      </p:pic>
      <p:sp>
        <p:nvSpPr>
          <p:cNvPr id="654" name=""/>
          <p:cNvSpPr/>
          <p:nvPr/>
        </p:nvSpPr>
        <p:spPr>
          <a:xfrm rot="0" flipH="0" flipV="0">
            <a:off x="2352675" y="1276350"/>
            <a:ext cx="1276350" cy="1771650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335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55" name=""/>
          <p:cNvSpPr/>
          <p:nvPr/>
        </p:nvSpPr>
        <p:spPr>
          <a:xfrm rot="0" flipH="0" flipV="0">
            <a:off x="2733675" y="146685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2867025" y="1600200"/>
            <a:ext cx="247650" cy="247650"/>
          </a:xfrm>
          <a:prstGeom prst="rect">
            <a:avLst/>
          </a:prstGeom>
          <a:ln/>
        </p:spPr>
      </p:pic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2486025" y="2095500"/>
            <a:ext cx="1009650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规划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2486025" y="2390775"/>
            <a:ext cx="1009650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选策略、拆步骤、排优先级</a:t>
            </a:r>
            <a:endParaRPr/>
          </a:p>
        </p:txBody>
      </p:sp>
      <p:pic>
        <p:nvPicPr>
          <p:cNvPr id="6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43325" y="2076450"/>
            <a:ext cx="171450" cy="171450"/>
          </a:xfrm>
          <a:prstGeom prst="rect">
            <a:avLst/>
          </a:prstGeom>
          <a:ln/>
        </p:spPr>
      </p:pic>
      <p:sp>
        <p:nvSpPr>
          <p:cNvPr id="660" name=""/>
          <p:cNvSpPr/>
          <p:nvPr/>
        </p:nvSpPr>
        <p:spPr>
          <a:xfrm rot="0" flipH="0" flipV="0">
            <a:off x="4029075" y="1276350"/>
            <a:ext cx="1266825" cy="17716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335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1" name=""/>
          <p:cNvSpPr/>
          <p:nvPr/>
        </p:nvSpPr>
        <p:spPr>
          <a:xfrm rot="0" flipH="0" flipV="0">
            <a:off x="4410075" y="146685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543425" y="1600200"/>
            <a:ext cx="247650" cy="247650"/>
          </a:xfrm>
          <a:prstGeom prst="rect">
            <a:avLst/>
          </a:prstGeom>
          <a:ln/>
        </p:spPr>
      </p:pic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4162425" y="2095500"/>
            <a:ext cx="1000125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行动</a:t>
            </a:r>
            <a:endParaRPr/>
          </a:p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4162425" y="2390775"/>
            <a:ext cx="1000125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调系统、下发指令、生成单据</a:t>
            </a:r>
            <a:endParaRPr/>
          </a:p>
        </p:txBody>
      </p:sp>
      <p:pic>
        <p:nvPicPr>
          <p:cNvPr id="6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410200" y="2076450"/>
            <a:ext cx="171450" cy="171450"/>
          </a:xfrm>
          <a:prstGeom prst="rect">
            <a:avLst/>
          </a:prstGeom>
          <a:ln/>
        </p:spPr>
      </p:pic>
      <p:sp>
        <p:nvSpPr>
          <p:cNvPr id="666" name=""/>
          <p:cNvSpPr/>
          <p:nvPr/>
        </p:nvSpPr>
        <p:spPr>
          <a:xfrm rot="0" flipH="0" flipV="0">
            <a:off x="5695950" y="1390650"/>
            <a:ext cx="1552575" cy="154305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335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6219825" y="158115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353175" y="1714500"/>
            <a:ext cx="247650" cy="24765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5829300" y="2209800"/>
            <a:ext cx="1285875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观察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5829300" y="2505075"/>
            <a:ext cx="1285875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验结果、修正下一步</a:t>
            </a:r>
            <a:endParaRPr/>
          </a:p>
        </p:txBody>
      </p:sp>
      <p:sp>
        <p:nvSpPr>
          <p:cNvPr id="671" name=""/>
          <p:cNvSpPr/>
          <p:nvPr/>
        </p:nvSpPr>
        <p:spPr>
          <a:xfrm rot="0" flipH="0" flipV="0">
            <a:off x="685800" y="3219450"/>
            <a:ext cx="6562725" cy="2933700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933450" y="3409950"/>
            <a:ext cx="606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规划者视角：智能体不是买来的，是「养」出来的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933450" y="3705225"/>
            <a:ext cx="6067425" cy="13049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①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数据回路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没有持续反馈，智能体会原地踏步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②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权限边界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哪些动作可自主、哪些必须人签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③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评测体系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每个智能体要有「上岗考核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年度复评」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路线图里请为「智能体运营」单列一条线，而不是当成软件采购。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7477125" y="1276350"/>
            <a:ext cx="4029075" cy="4876800"/>
          </a:xfrm>
          <a:prstGeom prst="roundRect">
            <a:avLst>
              <a:gd name="adj" fmla="val 4255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6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762875" y="1524000"/>
            <a:ext cx="323850" cy="323850"/>
          </a:xfrm>
          <a:prstGeom prst="rect">
            <a:avLst/>
          </a:prstGeom>
          <a:ln/>
        </p:spPr>
      </p:pic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7762875" y="2000250"/>
            <a:ext cx="34575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>5G + AI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：低时延是智能体闭环的前提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7762875" y="2895600"/>
            <a:ext cx="345757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「观察→规划→行动」要在秒级闭环，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Wi-Fi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和有线网常常卡在这里。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厂内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5G /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确定性网络，是领航级架构的隐形地基。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7762875" y="5334000"/>
            <a:ext cx="3457575" cy="571500"/>
          </a:xfrm>
          <a:prstGeom prst="roundRect">
            <a:avLst>
              <a:gd name="adj" fmla="val 16667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7915275" y="5486400"/>
            <a:ext cx="3152775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7FD9F0"/>
                </a:solidFill>
                <a:latin typeface="PingFang SC"/>
                <a:ea typeface="PingFang SC"/>
              </a:rPr>
              <a:t>判断：毫秒级闭环</a:t>
            </a:r>
            <a:r>
              <a:rPr lang="en-US" sz="1050" b="1">
                <a:solidFill>
                  <a:srgbClr val="7FD9F0"/>
                </a:solidFill>
                <a:latin typeface="PingFang SC"/>
                <a:ea typeface="PingFang SC"/>
              </a:rPr>
              <a:t> → </a:t>
            </a:r>
            <a:r>
              <a:rPr lang="zh-CN" sz="1050" b="1">
                <a:solidFill>
                  <a:srgbClr val="7FD9F0"/>
                </a:solidFill>
                <a:latin typeface="PingFang SC"/>
                <a:ea typeface="PingFang SC"/>
              </a:rPr>
              <a:t>边</a:t>
            </a:r>
            <a:r>
              <a:rPr lang="en-US" sz="1050" b="1">
                <a:solidFill>
                  <a:srgbClr val="7FD9F0"/>
                </a:solidFill>
                <a:latin typeface="PingFang SC"/>
                <a:ea typeface="PingFang SC"/>
              </a:rPr>
              <a:t> + 5G</a:t>
            </a:r>
            <a:r>
              <a:rPr lang="zh-CN" sz="1050" b="1">
                <a:solidFill>
                  <a:srgbClr val="7FD9F0"/>
                </a:solidFill>
                <a:latin typeface="PingFang SC"/>
                <a:ea typeface="PingFang SC"/>
              </a:rPr>
              <a:t>；分钟级以上</a:t>
            </a:r>
            <a:r>
              <a:rPr lang="en-US" sz="1050" b="1">
                <a:solidFill>
                  <a:srgbClr val="7FD9F0"/>
                </a:solidFill>
                <a:latin typeface="PingFang SC"/>
                <a:ea typeface="PingFang SC"/>
              </a:rPr>
              <a:t> → </a:t>
            </a:r>
            <a:r>
              <a:rPr lang="zh-CN" sz="1050" b="1">
                <a:solidFill>
                  <a:srgbClr val="7FD9F0"/>
                </a:solidFill>
                <a:latin typeface="PingFang SC"/>
                <a:ea typeface="PingFang SC"/>
              </a:rPr>
              <a:t>普通网络够用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09 / 24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3&lt;/Text&gt;&#10;        &lt;Text style={{ fontSize: 18, color: '#7FD9F0', letterSpacing: 5, marginTop: 6 }}&gt;H3 · 2 课时&lt;/Text&gt;&#10;        &lt;Text style={{ fontSize: 54, fontWeight: 'bold', color: '#FFFFFF', marginTop: 20, lineHeight: 1.18 }}&gt;数据治理&lt;br /&gt;数据是 AI 的血统&lt;/Text&gt;&#10;        &lt;Box style={{ width: 84, height: 4, background: '#06B6D4', marginTop: 30 }} /&gt;&#10;        &lt;Text style={{ fontSize: 19, color: '#A9C4E8', marginTop: 22, lineHeight: 1.6 }}&gt;DCMM 跃迁 · 分类分级 / 主数据 / 资产入表&lt;br /&gt;CDO 怎么设、与 CIO 怎么分工 · 模数共振飞轮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9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20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H3 · 2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数据治理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数据是</a:t>
            </a: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 AI </a:t>
            </a: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的血统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DCMM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跃迁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分类分级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主数据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资产入表</a:t>
            </a:r>
            <a:endParaRPr/>
          </a:p>
          <a:p>
            <a:pPr>
              <a:lnSpc>
                <a:spcPct val="160000"/>
              </a:lnSpc>
            </a:pP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CDO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怎么设、与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CIO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怎么分工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模数共振飞轮。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6" name="" descr="const three = [&#10;    { icon: 'layer-group', t: '分类分级', d: '数据按敏感级划分：公开 / 内部 / 敏感 / 核心 —— 不同级别不同权限、不同存储、不同出网策略。这是 H6 合规的地基。' },&#10;    { icon: 'sitemap', t: '主数据', d: '物料、BOM、设备台账「一个事实只有一个源头」。主数据不统一，AI 读到的全是互相打架的账。' },&#10;    { icon: 'money-check-alt', t: '资产入表', d: '数据资产进入资产负债表：可盘点、可估值、可抵押 —— 数据从成本项变成资产项，董事会才看得懂。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DCMM 跃迁 + 三件事&lt;/Text&gt;&#10;            &lt;Text style={{ fontSize: 17, color: '#64748B', marginTop: 4 }}&gt;数据管理能力成熟度：3 级「稳健级」是 AI 项目的及格线&lt;/Text&gt;&#10;        &lt;/Box&gt;&#10;    &lt;/Box&gt;&#10;    &lt;Box style={{ flexDirection: 'row', alignItems: 'center', gap: 10, marginTop: 14 }}&gt;&#10;        {['1 初始级', '2 受管理级', '3 稳健级', '4 量化级', '5 优化级'].map((s, i) =&gt; (&#10;            &lt;Box key={i} style={{ flexDirection: 'row', alignItems: 'center', gap: 10 }}&gt;&#10;                &lt;Box style={{ padding: '10px 18px', background: i === 2 ? '#1E3A8A' : '#FFFFFF', borderRadius: 10, border: '1px solid ' + (i === 2 ? '#1E3A8A' : '#E2E8F0') }}&gt;&#10;                    &lt;Text style={{ fontSize: 16, fontWeight: 'bold', color: i === 2 ? '#FFFFFF' : '#1E3A8A' }}&gt;{s}&lt;/Text&gt;&#10;                &lt;/Box&gt;&#10;                {i &lt; 4 &amp;&amp; &lt;FAIcon name=&quot;arrow-right&quot; style={{ fill: '#06B6D4', width: 14, height: 14 }} /&gt;}&#10;            &lt;/Box&gt;&#10;        ))}&#10;        &lt;Text style={{ fontSize: 14, color: '#64748B', marginLeft: 12 }}&gt;3 级达标：数据质量、安全、标准都有制度有人管&lt;/Text&gt;&#10;    &lt;/Box&gt;&#10;    &lt;Box style={{ flex: 1, flexDirection: 'row', gap: 20, marginTop: 18 }}&gt;&#10;        {three.map((t, i) =&gt; (&#10;            &lt;Box key={i} style={{ flex: 1, background: '#FFFFFF', borderRadius: 16, padding: '24px 24px', border: '1px solid #E2E8F0', boxShadow: '0 4px 16px rgba(30,58,138,0.06)', flexDirection: 'column' }}&gt;&#10;                &lt;Box style={{ width: 60, height: 60, borderRadius: 15, background: i === 2 ? '#FEEFE0' : '#E0F7FA', justifyContent: 'center', alignItems: 'center', marginBottom: 16 }}&gt;&#10;                    &lt;FAIcon name={t.icon} style={{ fill: i === 2 ? '#F59E0B' : '#0891B2', width: 30, height: 30 }} /&gt;&#10;                &lt;/Box&gt;&#10;                &lt;Text style={{ fontSize: 21, fontWeight: 'bold', color: '#1E3A8A', marginBottom: 10 }}&gt;{t.t}&lt;/Text&gt;&#10;                &lt;Text style={{ fontSize: 15, color: '#43566b', lineHeight: 1.75, flex: 1 }}&gt;{t.d}&lt;/Text&gt;&#10;            &lt;/Box&gt;&#10;        ))}&#10;    &lt;/Box&gt;&#10;    &lt;Box style={{ height: 40, flexDirection: 'row', justifyContent: 'space-between', alignItems: 'center', marginTop: 12 }}&gt;&#10;        &lt;Text style={{ fontSize: 14, color: '#64748B' }}&gt;AI 规划与治理 · 高级&lt;/Text&gt;&#10;        &lt;Text style={{ fontSize: 14, color: '#64748B' }}&gt;11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1338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DCMM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跃迁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三件事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13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数据管理能力成熟度：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3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级「稳健级」是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项目的及格线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85800" y="1276350"/>
            <a:ext cx="914400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57250" y="1371600"/>
            <a:ext cx="571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1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初始级</a:t>
            </a:r>
            <a:endParaRPr/>
          </a:p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1400175"/>
            <a:ext cx="133350" cy="133350"/>
          </a:xfrm>
          <a:prstGeom prst="rect">
            <a:avLst/>
          </a:prstGeom>
          <a:ln/>
        </p:spPr>
      </p:pic>
      <p:sp>
        <p:nvSpPr>
          <p:cNvPr id="34" name=""/>
          <p:cNvSpPr/>
          <p:nvPr/>
        </p:nvSpPr>
        <p:spPr>
          <a:xfrm rot="0" flipH="0" flipV="0">
            <a:off x="1924050" y="1276350"/>
            <a:ext cx="10953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2095500" y="1371600"/>
            <a:ext cx="752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2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受管理级</a:t>
            </a:r>
            <a:endParaRPr/>
          </a:p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114675" y="1400175"/>
            <a:ext cx="133350" cy="133350"/>
          </a:xfrm>
          <a:prstGeom prst="rect">
            <a:avLst/>
          </a:prstGeom>
          <a:ln/>
        </p:spPr>
      </p:pic>
      <p:sp>
        <p:nvSpPr>
          <p:cNvPr id="37" name=""/>
          <p:cNvSpPr/>
          <p:nvPr/>
        </p:nvSpPr>
        <p:spPr>
          <a:xfrm rot="0" flipH="0" flipV="0">
            <a:off x="3343275" y="1276350"/>
            <a:ext cx="942975" cy="381000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514725" y="1371600"/>
            <a:ext cx="600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PingFang SC"/>
                <a:ea typeface="PingFang SC"/>
              </a:rPr>
              <a:t>3 </a:t>
            </a: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稳健级</a:t>
            </a:r>
            <a:endParaRPr/>
          </a:p>
        </p:txBody>
      </p:sp>
      <p:pic>
        <p:nvPicPr>
          <p:cNvPr id="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381500" y="1400175"/>
            <a:ext cx="133350" cy="133350"/>
          </a:xfrm>
          <a:prstGeom prst="rect">
            <a:avLst/>
          </a:prstGeom>
          <a:ln/>
        </p:spPr>
      </p:pic>
      <p:sp>
        <p:nvSpPr>
          <p:cNvPr id="40" name=""/>
          <p:cNvSpPr/>
          <p:nvPr/>
        </p:nvSpPr>
        <p:spPr>
          <a:xfrm rot="0" flipH="0" flipV="0">
            <a:off x="4610100" y="1276350"/>
            <a:ext cx="9429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781550" y="1371600"/>
            <a:ext cx="600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4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量化级</a:t>
            </a:r>
            <a:endParaRPr/>
          </a:p>
        </p:txBody>
      </p:sp>
      <p:pic>
        <p:nvPicPr>
          <p:cNvPr id="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648325" y="1400175"/>
            <a:ext cx="133350" cy="133350"/>
          </a:xfrm>
          <a:prstGeom prst="rect">
            <a:avLst/>
          </a:prstGeom>
          <a:ln/>
        </p:spPr>
      </p:pic>
      <p:sp>
        <p:nvSpPr>
          <p:cNvPr id="43" name=""/>
          <p:cNvSpPr/>
          <p:nvPr/>
        </p:nvSpPr>
        <p:spPr>
          <a:xfrm rot="0" flipH="0" flipV="0">
            <a:off x="5876925" y="1276350"/>
            <a:ext cx="9429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048375" y="1371600"/>
            <a:ext cx="600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5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优化级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029450" y="1390650"/>
            <a:ext cx="293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3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级达标：数据质量、安全、标准都有制度有人管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1828800"/>
            <a:ext cx="3476625" cy="4305300"/>
          </a:xfrm>
          <a:prstGeom prst="roundRect">
            <a:avLst>
              <a:gd name="adj" fmla="val 43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914400" y="20574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57275" y="2200275"/>
            <a:ext cx="285750" cy="28575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914400" y="2781300"/>
            <a:ext cx="3019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分类分级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914400" y="3124200"/>
            <a:ext cx="3019425" cy="2781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数据按敏感级划分：公开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内部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敏感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核心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不同级别不同权限、不同存储、不同出网策略。这是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H6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合规的地基。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4352925" y="1828800"/>
            <a:ext cx="3486150" cy="4305300"/>
          </a:xfrm>
          <a:prstGeom prst="roundRect">
            <a:avLst>
              <a:gd name="adj" fmla="val 43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4581525" y="20574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724400" y="2200275"/>
            <a:ext cx="285750" cy="2857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4581525" y="2781300"/>
            <a:ext cx="3028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主数据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4581525" y="3124200"/>
            <a:ext cx="3028950" cy="2781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物料、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BOM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、设备台账「一个事实只有一个源头」。主数据不统一，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读到的全是互相打架的账。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8029575" y="1828800"/>
            <a:ext cx="3476625" cy="4305300"/>
          </a:xfrm>
          <a:prstGeom prst="roundRect">
            <a:avLst>
              <a:gd name="adj" fmla="val 43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8258175" y="20574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01050" y="2200275"/>
            <a:ext cx="285750" cy="285750"/>
          </a:xfrm>
          <a:prstGeom prst="rect">
            <a:avLst/>
          </a:prstGeom>
          <a:ln/>
        </p:spPr>
      </p:pic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258175" y="2781300"/>
            <a:ext cx="3019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资产入表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8258175" y="3124200"/>
            <a:ext cx="3019425" cy="2781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数据资产进入资产负债表：可盘点、可估值、可抵押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数据从成本项变成资产项，董事会才看得懂。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0775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11 / 24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3" name="" descr="const cdo = [&#10;    { icon: 'cogs', t: '职责', d: '数据资产与 AI 应用的全生命周期：标准、质量、安全、变现' },&#10;    { icon: 'sitemap', t: '汇报线', d: '直接向 CEO / 厂长汇报，不挂在 IT 下面 —— 数据是业务资产，不是系统附件' },&#10;    { icon: 'handshake', t: '与 CIO 分工', d: 'CIO 管「管道」（系统、网络、安全底座），CDO 管「水流」（数据资产、AI 场景、价值）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CDO 怎么设 + 模数共振飞轮&lt;/Text&gt;&#10;            &lt;Text style={{ fontSize: 17, color: '#64748B', marginTop: 4 }}&gt;没有 owner 的数据治理 = 没有治理&lt;/Text&gt;&#10;        &lt;/Box&gt;&#10;    &lt;/Box&gt;&#10;    &lt;Box style={{ flex: 1, flexDirection: 'row', gap: 26, marginTop: 14 }}&gt;&#10;        &lt;Box style={{ flex: 52, flexDirection: 'column', gap: 12 }}&gt;&#10;            {cdo.map((c, i) =&gt; (&#10;                &lt;Box key={i} style={{ flex: 1, background: '#FFFFFF', borderRadius: 14, border: '1px solid #E2E8F0', flexDirection: 'row', alignItems: 'center', gap: 16, padding: '0 22px', boxShadow: '0 3px 12px rgba(30,58,138,0.05)' }}&gt;&#10;                    &lt;Box style={{ width: 50, height: 50, borderRadius: 12, background: '#E0F7FA', justifyContent: 'center', alignItems: 'center' }}&gt;&#10;                        &lt;FAIcon name={c.icon} style={{ fill: '#0891B2', width: 24, height: 24 }} /&gt;&#10;                    &lt;/Box&gt;&#10;                    &lt;Box style={{ width: 110 }}&gt;&#10;                        &lt;Text style={{ fontSize: 19, fontWeight: 'bold', color: '#1E3A8A' }}&gt;{c.t}&lt;/Text&gt;&#10;                    &lt;/Box&gt;&#10;                    &lt;Text style={{ flex: 1, fontSize: 15, color: '#43566b', lineHeight: 1.6 }}&gt;{c.d}&lt;/Text&gt;&#10;                &lt;/Box&gt;&#10;            ))}&#10;        &lt;/Box&gt;&#10;        &lt;Box style={{ flex: 48, background: '#1E3A8A', borderRadius: 18, padding: '26px 30px', flexDirection: 'column', justifyContent: 'center', boxShadow: '0 8px 28px rgba(30,58,138,0.25)' }}&gt;&#10;            &lt;Text style={{ fontSize: 16, color: '#7FD9F0', letterSpacing: 2 }}&gt;「模数共振」飞轮&lt;/Text&gt;&#10;            &lt;Box style={{ flexDirection: 'column', gap: 10, marginTop: 18 }}&gt;&#10;                {[&#10;                    ['模型越多', '场景越广、调用越频繁'],&#10;                    ['数据越准', '反馈越多、质量越高'],&#10;                    ['模型越强', '用户越多、再产生更多数据'],&#10;                ].map((f, i) =&gt; (&#10;                    &lt;Box key={i} style={{ flexDirection: 'row', alignItems: 'center', gap: 12, padding: '10px 18px', background: 'rgba(6,182,212,0.15)', borderRadius: 10, border: '1px solid rgba(6,182,212,0.45)' }}&gt;&#10;                        &lt;Text style={{ fontSize: 18, fontWeight: 'bold', color: '#F8C471', width: 90 }}&gt;{f[0]}&lt;/Text&gt;&#10;                        &lt;Text style={{ flex: 1, fontSize: 14, color: '#DCE9FB' }}&gt;{f[1]}&lt;/Text&gt;&#10;                        &lt;FAIcon name=&quot;redo&quot; style={{ fill: '#7FD9F0', width: 16, height: 16 }} /&gt;&#10;                    &lt;/Box&gt;&#10;                ))}&#10;            &lt;/Box&gt;&#10;            &lt;Text style={{ fontSize: 15, color: '#A9C4E8', marginTop: 'auto', paddingTop: 16, lineHeight: 1.7 }}&gt;飞轮转起来的工厂，AI 是越用越便宜；转不起来的，是越用越贵。&lt;br /&gt;&lt;span style={{ fontWeight: 'bold', color: '#F8C471' }}&gt;CDO 的核心 KPI：飞轮转速，不是项目数量。&lt;/span&gt;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12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5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1624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CDO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怎么设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模数共振飞轮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16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没有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owner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的数据治理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=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没有治理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685800" y="1276350"/>
            <a:ext cx="5495925" cy="1552575"/>
          </a:xfrm>
          <a:prstGeom prst="roundRect">
            <a:avLst>
              <a:gd name="adj" fmla="val 85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9" name=""/>
          <p:cNvSpPr/>
          <p:nvPr/>
        </p:nvSpPr>
        <p:spPr>
          <a:xfrm rot="0" flipH="0" flipV="0">
            <a:off x="895350" y="18192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19175" y="1943100"/>
            <a:ext cx="228600" cy="228600"/>
          </a:xfrm>
          <a:prstGeom prst="rect">
            <a:avLst/>
          </a:prstGeom>
          <a:ln/>
        </p:spPr>
      </p:pic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524000" y="1943100"/>
            <a:ext cx="1047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职责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2724150" y="1781175"/>
            <a:ext cx="3248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数据资产与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应用的全生命周期：标准、质量、安全、变现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85800" y="2943225"/>
            <a:ext cx="5495925" cy="154305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895350" y="347662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19175" y="3600450"/>
            <a:ext cx="228600" cy="228600"/>
          </a:xfrm>
          <a:prstGeom prst="rect">
            <a:avLst/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524000" y="3609975"/>
            <a:ext cx="1047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汇报线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2724150" y="3438525"/>
            <a:ext cx="3248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直接向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CEO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厂长汇报，不挂在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IT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下面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数据是业务资产，不是系统附件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685800" y="4600575"/>
            <a:ext cx="5495925" cy="1552575"/>
          </a:xfrm>
          <a:prstGeom prst="roundRect">
            <a:avLst>
              <a:gd name="adj" fmla="val 85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79" name=""/>
          <p:cNvSpPr/>
          <p:nvPr/>
        </p:nvSpPr>
        <p:spPr>
          <a:xfrm rot="0" flipH="0" flipV="0">
            <a:off x="895350" y="51435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19175" y="5267325"/>
            <a:ext cx="228600" cy="228600"/>
          </a:xfrm>
          <a:prstGeom prst="rect">
            <a:avLst/>
          </a:prstGeom>
          <a:ln/>
        </p:spPr>
      </p:pic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524000" y="5267325"/>
            <a:ext cx="1047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与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CIO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分工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2724150" y="5105400"/>
            <a:ext cx="3248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CIO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管「管道」（系统、网络、安全底座），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CDO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管「水流」（数据资产、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场景、价值）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6429375" y="1276350"/>
            <a:ext cx="5076825" cy="4876800"/>
          </a:xfrm>
          <a:prstGeom prst="roundRect">
            <a:avLst>
              <a:gd name="adj" fmla="val 3516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715125" y="1524000"/>
            <a:ext cx="450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「模数共振」飞轮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715125" y="1885950"/>
            <a:ext cx="4505325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86575" y="19812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C471"/>
                </a:solidFill>
                <a:latin typeface="PingFang SC"/>
                <a:ea typeface="PingFang SC"/>
              </a:rPr>
              <a:t>模型越多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7858125" y="2009775"/>
            <a:ext cx="2924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场景越广、调用越频繁</a:t>
            </a:r>
            <a:endParaRPr/>
          </a:p>
        </p:txBody>
      </p:sp>
      <p:pic>
        <p:nvPicPr>
          <p:cNvPr id="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896600" y="2009775"/>
            <a:ext cx="152400" cy="152400"/>
          </a:xfrm>
          <a:prstGeom prst="rect">
            <a:avLst/>
          </a:prstGeom>
          <a:ln/>
        </p:spPr>
      </p:pic>
      <p:sp>
        <p:nvSpPr>
          <p:cNvPr id="89" name=""/>
          <p:cNvSpPr/>
          <p:nvPr/>
        </p:nvSpPr>
        <p:spPr>
          <a:xfrm rot="0" flipH="0" flipV="0">
            <a:off x="6715125" y="2381250"/>
            <a:ext cx="4505325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886575" y="24765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C471"/>
                </a:solidFill>
                <a:latin typeface="PingFang SC"/>
                <a:ea typeface="PingFang SC"/>
              </a:rPr>
              <a:t>数据越准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858125" y="2505075"/>
            <a:ext cx="2924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反馈越多、质量越高</a:t>
            </a:r>
            <a:endParaRPr/>
          </a:p>
        </p:txBody>
      </p:sp>
      <p:pic>
        <p:nvPicPr>
          <p:cNvPr id="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896600" y="2505075"/>
            <a:ext cx="152400" cy="152400"/>
          </a:xfrm>
          <a:prstGeom prst="rect">
            <a:avLst/>
          </a:prstGeom>
          <a:ln/>
        </p:spPr>
      </p:pic>
      <p:sp>
        <p:nvSpPr>
          <p:cNvPr id="93" name=""/>
          <p:cNvSpPr/>
          <p:nvPr/>
        </p:nvSpPr>
        <p:spPr>
          <a:xfrm rot="0" flipH="0" flipV="0">
            <a:off x="6715125" y="2876550"/>
            <a:ext cx="4505325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886575" y="29718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C471"/>
                </a:solidFill>
                <a:latin typeface="PingFang SC"/>
                <a:ea typeface="PingFang SC"/>
              </a:rPr>
              <a:t>模型越强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858125" y="3000375"/>
            <a:ext cx="2924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用户越多、再产生更多数据</a:t>
            </a:r>
            <a:endParaRPr/>
          </a:p>
        </p:txBody>
      </p:sp>
      <p:pic>
        <p:nvPicPr>
          <p:cNvPr id="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896600" y="3000375"/>
            <a:ext cx="152400" cy="152400"/>
          </a:xfrm>
          <a:prstGeom prst="rect">
            <a:avLst/>
          </a:prstGeom>
          <a:ln/>
        </p:spPr>
      </p:pic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715125" y="5162550"/>
            <a:ext cx="4505325" cy="742950"/>
          </a:xfrm>
          <a:prstGeom prst="rect"/>
        </p:spPr>
        <p:txBody>
          <a:bodyPr wrap="none" lIns="0" tIns="11430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飞轮转起来的工厂，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是越用越便宜；转不起来的，是越用越贵。</a:t>
            </a:r>
            <a:endParaRPr/>
          </a:p>
          <a:p>
            <a:pPr>
              <a:lnSpc>
                <a:spcPct val="170000"/>
              </a:lnSpc>
            </a:pPr>
            <a:r>
              <a:rPr lang="en-US" sz="1125" b="1">
                <a:solidFill>
                  <a:srgbClr val="F8C471"/>
                </a:solidFill>
                <a:latin typeface="PingFang SC"/>
                <a:ea typeface="PingFang SC"/>
              </a:rPr>
              <a:t>CDO </a:t>
            </a:r>
            <a:r>
              <a:rPr lang="zh-CN" sz="1125" b="1">
                <a:solidFill>
                  <a:srgbClr val="F8C471"/>
                </a:solidFill>
                <a:latin typeface="PingFang SC"/>
                <a:ea typeface="PingFang SC"/>
              </a:rPr>
              <a:t>的核心</a:t>
            </a:r>
            <a:r>
              <a:rPr lang="en-US" sz="1125" b="1">
                <a:solidFill>
                  <a:srgbClr val="F8C471"/>
                </a:solidFill>
                <a:latin typeface="PingFang SC"/>
                <a:ea typeface="PingFang SC"/>
              </a:rPr>
              <a:t> KPI</a:t>
            </a:r>
            <a:r>
              <a:rPr lang="zh-CN" sz="1125" b="1">
                <a:solidFill>
                  <a:srgbClr val="F8C471"/>
                </a:solidFill>
                <a:latin typeface="PingFang SC"/>
                <a:ea typeface="PingFang SC"/>
              </a:rPr>
              <a:t>：飞轮转速，不是项目数量。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12 / 24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4&lt;/Text&gt;&#10;        &lt;Text style={{ fontSize: 18, color: '#7FD9F0', letterSpacing: 5, marginTop: 6 }}&gt;H4 · 3 课时&lt;/Text&gt;&#10;        &lt;Text style={{ fontSize: 54, fontWeight: 'bold', color: '#FFFFFF', marginTop: 20, lineHeight: 1.18 }}&gt;ROI 与价值&lt;br /&gt;算得清账&lt;/Text&gt;&#10;        &lt;Box style={{ width: 84, height: 4, background: '#06B6D4', marginTop: 30 }} /&gt;&#10;        &lt;Text style={{ fontSize: 19, color: '#A9C4E8', marginTop: 22, lineHeight: 1.6 }}&gt;制造五指标 + 采纳双指标 · 用户分层 · ROI 五步&lt;br /&gt;「先建指标看板，再谈投入」—— 没有基线就没有 ROI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02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103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H4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ROI </a:t>
            </a: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与价值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算得清账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制造五指标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+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采纳双指标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用户分层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ROI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五步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「先建指标看板，再谈投入」——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没有基线就没有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ROI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09" name="" descr="const biz = ['OEE 综合效率', 'MTBF 平均故障间隔', 'MTTR 平均修复时间', '不良率 / PPM', '单位能耗'];&#10;const tiers = [&#10;    { t: '铁粉', d: '每天用、主动提需求', c: '#F59E0B', w: 25 },&#10;    { t: '偶尔', d: '想起来才用', c: '#06B6D4', w: 45 },&#10;    { t: '尝鲜', d: '试用过一次就没了', c: '#64748B', w: 70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双指标体系：业务账 + 采纳账&lt;/Text&gt;&#10;            &lt;Text style={{ fontSize: 17, color: '#64748B', marginTop: 4 }}&gt;AI 项目死因 TOP1 不是模型差，是没人用 —— 所以要两条线一起看&lt;/Text&gt;&#10;        &lt;/Box&gt;&#10;    &lt;/Box&gt;&#10;    &lt;Box style={{ flex: 1, flexDirection: 'row', gap: 24, marginTop: 14 }}&gt;&#10;        &lt;Box style={{ flex: 48, background: '#FFFFFF', borderRadius: 16, padding: '22px 26px', border: '1px solid #E2E8F0', flexDirection: 'column' }}&gt;&#10;            &lt;Text style={{ fontSize: 18, fontWeight: 'bold', color: '#1E3A8A', marginBottom: 12 }}&gt;业务侧 · 制造五指标（AI 要动的账）&lt;/Text&gt;&#10;            {biz.map((b, i) =&gt; (&#10;                &lt;Box key={i} style={{ flexDirection: 'row', alignItems: 'center', gap: 12, padding: '9px 16px', background: '#F5F8FC', borderRadius: 10, marginBottom: 8, border: '1px solid #E2E8F0' }}&gt;&#10;                    &lt;Text style={{ fontSize: 16, fontWeight: 'bold', color: '#0891B2', fontFamily: 'Space Grotesk, Inter', width: 26 }}&gt;{'0' + (i + 1)}&lt;/Text&gt;&#10;                    &lt;Text style={{ flex: 1, fontSize: 16, fontWeight: 'bold', color: '#1E3A8A' }}&gt;{b}&lt;/Text&gt;&#10;                &lt;/Box&gt;&#10;            ))}&#10;            &lt;Text style={{ fontSize: 13, color: '#64748B', marginTop: 'auto', paddingTop: 8 }}&gt;每个 AI 项目立项时，必须先锁定它要改善的 1–2 个指标 + 基线值。&lt;/Text&gt;&#10;        &lt;/Box&gt;&#10;        &lt;Box style={{ flex: 52, background: '#1E3A8A', borderRadius: 16, padding: '22px 28px', flexDirection: 'column', boxShadow: '0 8px 28px rgba(30,58,138,0.25)' }}&gt;&#10;            &lt;Text style={{ fontSize: 18, fontWeight: 'bold', color: '#FFFFFF', marginBottom: 12 }}&gt;采纳侧 · MAU / MEU + 用户分层&lt;/Text&gt;&#10;            &lt;Box style={{ flexDirection: 'row', gap: 16, marginBottom: 16 }}&gt;&#10;                &lt;Box style={{ flex: 1, background: 'rgba(6,182,212,0.15)', borderRadius: 12, padding: '14px 18px', border: '1px solid rgba(6,182,212,0.5)', alignItems: 'center' }}&gt;&#10;                    &lt;Text style={{ fontSize: 14, color: '#7FD9F0' }}&gt;MAU 月活用户&lt;/Text&gt;&#10;                    &lt;Text style={{ fontSize: 26, fontWeight: 'bold', color: '#FFFFFF', fontFamily: 'Space Grotesk, Inter', marginTop: 4 }}&gt;用了就算&lt;/Text&gt;&#10;                &lt;/Box&gt;&#10;                &lt;Box style={{ flex: 1, background: 'rgba(245,158,11,0.15)', borderRadius: 12, padding: '14px 18px', border: '1px solid rgba(245,158,11,0.6)', alignItems: 'center' }}&gt;&#10;                    &lt;Text style={{ fontSize: 14, color: '#F8C471' }}&gt;MEU 月有效用户&lt;/Text&gt;&#10;                    &lt;Text style={{ fontSize: 26, fontWeight: 'bold', color: '#F8C471', fontFamily: 'Space Grotesk, Inter', marginTop: 4 }}&gt;产生价值才算&lt;/Text&gt;&#10;                &lt;/Box&gt;&#10;            &lt;/Box&gt;&#10;            {tiers.map((t, i) =&gt; (&#10;                &lt;Box key={i} style={{ flexDirection: 'row', alignItems: 'center', gap: 12, marginBottom: 9 }}&gt;&#10;                    &lt;Text style={{ fontSize: 15, fontWeight: 'bold', color: t.c, width: 44 }}&gt;{t.t}&lt;/Text&gt;&#10;                    &lt;Box style={{ flex: 1, height: 10, background: 'rgba(255,255,255,0.12)', borderRadius: 5, overflow: 'hidden' }}&gt;&#10;                        &lt;Box style={{ width: t.w + '%', height: 10, background: t.c, borderRadius: 5 }} /&gt;&#10;                    &lt;/Box&gt;&#10;                    &lt;Text style={{ width: 170, fontSize: 13, color: '#DCE9FB' }}&gt;{t.d}&lt;/Text&gt;&#10;                &lt;/Box&gt;&#10;            ))}&#10;            &lt;Text style={{ fontSize: 14, color: '#A9C4E8', marginTop: 'auto', paddingTop: 10 }}&gt;健康线：MEU/MAU ＞ 40%，铁粉占比逐月上升 —— 采纳看板每周上会。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14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8577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双指标体系：业务账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采纳账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项目死因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TOP1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不是模型差，是没人用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所以要两条线一起看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685800" y="1276350"/>
            <a:ext cx="5086350" cy="4876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933450" y="1485900"/>
            <a:ext cx="4591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业务侧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制造五指标（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要动的账）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933450" y="180975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085850" y="189547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447800" y="189547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OEE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综合效率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933450" y="224790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85850" y="233362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447800" y="233362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MTBF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平均故障间隔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933450" y="268605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085850" y="277177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447800" y="277177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MTTR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平均修复时间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933450" y="312420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085850" y="320992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447800" y="320992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不良率</a:t>
            </a: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 / PPM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933450" y="356235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085850" y="364807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447800" y="364807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单位能耗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933450" y="5715000"/>
            <a:ext cx="4591050" cy="228600"/>
          </a:xfrm>
          <a:prstGeom prst="rect"/>
        </p:spPr>
        <p:txBody>
          <a:bodyPr wrap="none" lIns="0" tIns="5715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每个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AI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项目立项时，必须先锁定它要改善的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1–2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个指标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基线值。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6000750" y="1276350"/>
            <a:ext cx="5505450" cy="4876800"/>
          </a:xfrm>
          <a:prstGeom prst="roundRect">
            <a:avLst>
              <a:gd name="adj" fmla="val 3125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267450" y="1485900"/>
            <a:ext cx="4972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采纳侧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· MAU / MEU +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用户分层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6267450" y="1809750"/>
            <a:ext cx="2409825" cy="771525"/>
          </a:xfrm>
          <a:prstGeom prst="roundRect">
            <a:avLst>
              <a:gd name="adj" fmla="val 14815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029450" y="1943100"/>
            <a:ext cx="885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FD9F0"/>
                </a:solidFill>
                <a:latin typeface="PingFang SC"/>
                <a:ea typeface="PingFang SC"/>
              </a:rPr>
              <a:t>MAU </a:t>
            </a:r>
            <a:r>
              <a:rPr lang="zh-CN" sz="1050">
                <a:solidFill>
                  <a:srgbClr val="7FD9F0"/>
                </a:solidFill>
                <a:latin typeface="PingFang SC"/>
                <a:ea typeface="PingFang SC"/>
              </a:rPr>
              <a:t>月活用户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981825" y="2143125"/>
            <a:ext cx="99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Space Grotesk"/>
                <a:ea typeface="Space Grotesk"/>
              </a:rPr>
              <a:t>用了就算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8829675" y="1809750"/>
            <a:ext cx="2409825" cy="771525"/>
          </a:xfrm>
          <a:prstGeom prst="roundRect">
            <a:avLst>
              <a:gd name="adj" fmla="val 14815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534525" y="1943100"/>
            <a:ext cx="1009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8C471"/>
                </a:solidFill>
                <a:latin typeface="PingFang SC"/>
                <a:ea typeface="PingFang SC"/>
              </a:rPr>
              <a:t>MEU </a:t>
            </a:r>
            <a:r>
              <a:rPr lang="zh-CN" sz="1050">
                <a:solidFill>
                  <a:srgbClr val="F8C471"/>
                </a:solidFill>
                <a:latin typeface="PingFang SC"/>
                <a:ea typeface="PingFang SC"/>
              </a:rPr>
              <a:t>月有效用户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296400" y="2143125"/>
            <a:ext cx="1485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8C471"/>
                </a:solidFill>
                <a:latin typeface="Space Grotesk"/>
                <a:ea typeface="Space Grotesk"/>
              </a:rPr>
              <a:t>产生价值才算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6267450" y="2733675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59E0B"/>
                </a:solidFill>
                <a:latin typeface="PingFang SC"/>
                <a:ea typeface="PingFang SC"/>
              </a:rPr>
              <a:t>铁粉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800850" y="2771775"/>
            <a:ext cx="2705100" cy="9525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6800850" y="2771775"/>
            <a:ext cx="676275" cy="952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620250" y="2743200"/>
            <a:ext cx="1619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每天用、主动提需求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267450" y="29908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6B6D4"/>
                </a:solidFill>
                <a:latin typeface="PingFang SC"/>
                <a:ea typeface="PingFang SC"/>
              </a:rPr>
              <a:t>偶尔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6800850" y="3028950"/>
            <a:ext cx="2705100" cy="9525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6800850" y="3028950"/>
            <a:ext cx="121920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620250" y="3000375"/>
            <a:ext cx="1619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想起来才用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267450" y="3248025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尝鲜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800850" y="3286125"/>
            <a:ext cx="2705100" cy="9525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6800850" y="3286125"/>
            <a:ext cx="1895475" cy="9525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620250" y="3257550"/>
            <a:ext cx="1619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试用过一次就没了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267450" y="5686425"/>
            <a:ext cx="4972050" cy="257175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健康线：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MEU/MAU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40%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，铁粉占比逐月上升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采纳看板每周上会。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14 / 24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5" name="" descr="const steps = [&#10;    { t: '基线', d: '先量现状：停机几小时、不良几 PPM' },&#10;    { t: '实验', d: '小范围 A/B 或前后对照，别全网铺开' },&#10;    { t: '价值量化', d: '收益 = 基线改善 × 业务价值系数' },&#10;    { t: '危害成本扣减', d: '漏检风险、误停损失要算进成本侧' },&#10;    { t: '回收期', d: '（收益 − 投入）÷ 投入，给出回本月数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ROI 五步：把「感觉有用」变成「数字说话」&lt;/Text&gt;&#10;            &lt;Text style={{ fontSize: 17, color: '#64748B', marginTop: 4 }}&gt;沙盘任务二：用这套模板算你厂里的一个真实项目&lt;/Text&gt;&#10;        &lt;/Box&gt;&#10;    &lt;/Box&gt;&#10;    &lt;Box style={{ flex: 1, flexDirection: 'column', gap: 12, marginTop: 14 }}&gt;&#10;        {steps.map((s, i) =&gt; (&#10;            &lt;Box key={i} style={{ flexDirection: 'row', alignItems: 'center', gap: 18, background: '#FFFFFF', borderRadius: 14, border: '1px solid #E2E8F0', padding: '14px 24px', boxShadow: '0 3px 12px rgba(30,58,138,0.05)' }}&gt;&#10;                &lt;Box style={{ width: 52, height: 52, borderRadius: 13, background: i === 3 ? '#FEEFE0' : i === 4 ? '#1E3A8A' : '#E0F7FA', justifyContent: 'center', alignItems: 'center' }}&gt;&#10;                    &lt;Text style={{ fontSize: 22, fontWeight: 'bold', color: i === 3 ? '#F59E0B' : i === 4 ? '#FFFFFF' : '#0891B2', fontFamily: 'Space Grotesk, Inter' }}&gt;{i + 1}&lt;/Text&gt;&#10;                &lt;/Box&gt;&#10;                &lt;Box style={{ width: 150 }}&gt;&#10;                    &lt;Text style={{ fontSize: 20, fontWeight: 'bold', color: '#1E3A8A' }}&gt;{s.t}&lt;/Text&gt;&#10;                &lt;/Box&gt;&#10;                &lt;Text style={{ flex: 1, fontSize: 16, color: '#43566b' }}&gt;{s.d}&lt;/Text&gt;&#10;                &lt;Text style={{ fontSize: 13, color: '#64748B', width: 250, textAlign: 'right' }}&gt;{['没有它，后面全是估', '对照组是可信度的来源', '系数要有业务负责人签字', '最容易被漏算的一步', '这个数字写进路线图'].map((x) =&gt; x)}&lt;/Text&gt;&#10;            &lt;/Box&gt;&#10;        ))}&#10;    &lt;/Box&gt;&#10;    &lt;Box style={{ marginTop: 16, padding: '14px 24px', background: '#1E3A8A', borderRadius: 12, flexDirection: 'row', alignItems: 'center', gap: 14 }}&gt;&#10;        &lt;FAIcon name=&quot;lightbulb&quot; style={{ fill: '#F59E0B', width: 22, height: 22 }} /&gt;&#10;        &lt;Text style={{ fontSize: 19, fontWeight: 'bold', color: '#FFFFFF' }}&gt;「先建指标看板，再谈投入」—— 没有基线的 ROI，是给供应商写的安慰剂。&lt;/Text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15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57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65055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ROI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五步：把「感觉有用」变成「数字说话」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6505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沙盘任务二：用这套模板算你厂里的一个真实项目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685800" y="12763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914400" y="14097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04900" y="15335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891B2"/>
                </a:solidFill>
                <a:latin typeface="Space Grotesk"/>
                <a:ea typeface="Space Grotesk"/>
              </a:rPr>
              <a:t>1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581150" y="15430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基线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181350" y="15621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先量现状：停机几小时、不良几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PPM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896350" y="14382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85800" y="21526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914400" y="22860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1104900" y="24098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891B2"/>
                </a:solidFill>
                <a:latin typeface="Space Grotesk"/>
                <a:ea typeface="Space Grotesk"/>
              </a:rPr>
              <a:t>2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581150" y="24193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实验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181350" y="24384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小范围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A/B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或前后对照，别全网铺开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896350" y="23145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685800" y="30289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3" name=""/>
          <p:cNvSpPr/>
          <p:nvPr/>
        </p:nvSpPr>
        <p:spPr>
          <a:xfrm rot="0" flipH="0" flipV="0">
            <a:off x="914400" y="31623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1104900" y="32861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891B2"/>
                </a:solidFill>
                <a:latin typeface="Space Grotesk"/>
                <a:ea typeface="Space Grotesk"/>
              </a:rPr>
              <a:t>3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1581150" y="32956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价值量化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3181350" y="33147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收益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=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基线改善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×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业务价值系数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896350" y="31908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5800" y="39052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914400" y="40386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104900" y="41624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59E0B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581150" y="41719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危害成本扣减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181350" y="41910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漏检风险、误停损失要算进成本侧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8896350" y="40671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685800" y="47815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5" name=""/>
          <p:cNvSpPr/>
          <p:nvPr/>
        </p:nvSpPr>
        <p:spPr>
          <a:xfrm rot="0" flipH="0" flipV="0">
            <a:off x="914400" y="49149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104900" y="50387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pace Grotesk"/>
                <a:ea typeface="Space Grotesk"/>
              </a:rPr>
              <a:t>5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581150" y="50482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回收期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181350" y="50673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（收益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投入）÷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投入，给出回本月数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8896350" y="49434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685800" y="5695950"/>
            <a:ext cx="10820400" cy="485775"/>
          </a:xfrm>
          <a:prstGeom prst="roundRect">
            <a:avLst>
              <a:gd name="adj" fmla="val 23529"/>
            </a:avLst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5838825"/>
            <a:ext cx="209550" cy="209550"/>
          </a:xfrm>
          <a:prstGeom prst="rect">
            <a:avLst/>
          </a:prstGeom>
          <a:ln/>
        </p:spPr>
      </p:pic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257300" y="5829300"/>
            <a:ext cx="622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「先建指标看板，再谈投入」——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没有基线的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ROI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，是给供应商写的安慰剂。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85800" y="6391275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049000" y="63912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15 / 24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5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5&lt;/Text&gt;&#10;        &lt;Text style={{ fontSize: 18, color: '#7FD9F0', letterSpacing: 5, marginTop: 6 }}&gt;H5 · 4 课时 · 核心&lt;/Text&gt;&#10;        &lt;Text style={{ fontSize: 54, fontWeight: 'bold', color: '#FFFFFF', marginTop: 20, lineHeight: 1.18 }}&gt;组织采纳&lt;br /&gt;系统上了，人不动？&lt;/Text&gt;&#10;        &lt;Box style={{ width: 84, height: 4, background: '#06B6D4', marginTop: 30 }} /&gt;&#10;        &lt;Text style={{ fontSize: 19, color: '#A9C4E8', marginTop: 22, lineHeight: 1.6 }}&gt;八支柱（GitHub 实践改编）· 三阶段推进 0–30 / 30–90 / 规模化&lt;br /&gt;采纳看板：MAU/MEU + OEE / 停机 / 不良 / 能耗同屏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97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198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H5 · 4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 ·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核心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组织采纳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系统上了，人不动？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八支柱（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GitHub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实践改编）·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三阶段推进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0–30 / 30–90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规模化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采纳看板：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MAU/MEU + OEE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停机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不良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能耗同屏。</a:t>
            </a:r>
            <a:endParaRPr/>
          </a:p>
        </p:txBody>
      </p:sp>
    </p:spTree>
  </p:cSld>
</p:sld>
</file>

<file path=ppt/slides/slide1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4" name="" descr="const pillars = [&#10;    { icon: 'star', t: 'AI 倡导者', d: '每车间 1–2 名 Champion，选-担-落，课后不熄火', hot: true },&#10;    { icon: 'users', t: '实践社区 CoP', d: '双周分享：谁用出了新招，谁踩了坑', hot: false },&#10;    { icon: 'graduation-cap', t: '培训 L&amp;D', d: '分层培养：会用 → 会改 → 会带，TTT 讲师制', hot: false },&#10;    { icon: 'sliders-h', t: '分级工具政策', d: '哪些场景用免费工具、哪些走受控平台，白纸黑字', hot: false },&#10;    { icon: 'user-tie', t: 'DRI 责任人', d: '每个场景一个直接负责人，「DRI」不是团队', hot: false },&#10;    { icon: 'handshake', t: '高管背书', d: '厂长发话 + 月度复盘列席 —— 采纳是态度问题', hot: true },&#10;    { icon: 'chart-bar', t: '数据驱动指标', d: 'MAU/MEU 上墙，用数字说话，不用感觉汇报', hot: false },&#10;    { icon: 'shield-alt', t: '负责任使用', d: '红线清单 + 停止条件，敢用，也敢停', hot: false },&#10;];&#10;&lt;Slide style={{ width: '1280px', height: '720px', background: '#F5F8FC', padding: '24px 72px', boxSizing: 'border-box', flexDirection: 'column', fontFamily: 'PingFang SC, Source Han Sans SC, sans-serif' }}&gt;&#10;    &lt;Box style={{ height: 92, flexDirection: 'row', alignItems: 'center', gap: 16 }}&gt;&#10;        &lt;Box style={{ width: 5, height: 44, background: '#06B6D4', borderRadius: 3 }} /&gt;&#10;        &lt;Box&gt;&#10;            &lt;Text style={{ fontSize: 32, fontWeight: 'bold', color: '#1E3A8A', lineHeight: 1.2 }}&gt;组织采纳八支柱（核心页）&lt;/Text&gt;&#10;            &lt;Text style={{ fontSize: 16, color: '#64748B', marginTop: 4 }}&gt;缺任何一根，AI 项目都会烂尾 —— 这是本课程 4 课时的全部理由&lt;/Text&gt;&#10;        &lt;/Box&gt;&#10;    &lt;/Box&gt;&#10;    &lt;Box style={{ flex: 1, flexDirection: 'column', gap: 12, marginTop: 12 }}&gt;&#10;        &lt;Box style={{ flex: 1, flexDirection: 'row', gap: 12 }}&gt;&#10;            {pillars.slice(0, 4).map((p, i) =&gt; (&#10;                &lt;Box key={i} style={{ flex: 1, background: p.hot ? '#1E3A8A' : '#FFFFFF', borderRadius: 14, border: '1px solid ' + (p.hot ? '#1E3A8A' : '#E2E8F0'), padding: '16px 18px', flexDirection: 'row', gap: 12, boxShadow: p.hot ? '0 6px 20px rgba(30,58,138,0.22)' : '0 3px 12px rgba(30,58,138,0.05)' }}&gt;&#10;                    &lt;Box style={{ width: 44, height: 44, borderRadius: 11, background: p.hot ? 'rgba(245,158,11,0.2)' : '#E0F7FA', justifyContent: 'center', alignItems: 'center' }}&gt;&#10;                        &lt;FAIcon name={p.icon} style={{ fill: p.hot ? '#F8C471' : '#0891B2', width: 22, height: 22 }} /&gt;&#10;                    &lt;/Box&gt;&#10;                    &lt;Box style={{ flex: 1 }}&gt;&#10;                        &lt;Text style={{ fontSize: 17, fontWeight: 'bold', color: p.hot ? '#FFFFFF' : '#1E3A8A' }}&gt;{p.t}&lt;/Text&gt;&#10;                        &lt;Text style={{ fontSize: 13, color: p.hot ? '#DCE9FB' : '#43566b', lineHeight: 1.5, marginTop: 5 }}&gt;{p.d}&lt;/Text&gt;&#10;                    &lt;/Box&gt;&#10;                &lt;/Box&gt;&#10;            ))}&#10;        &lt;/Box&gt;&#10;        &lt;Box style={{ flex: 1, flexDirection: 'row', gap: 12 }}&gt;&#10;            {pillars.slice(4, 8).map((p, i) =&gt; (&#10;                &lt;Box key={i} style={{ flex: 1, background: p.hot ? '#1E3A8A' : '#FFFFFF', borderRadius: 14, border: '1px solid ' + (p.hot ? '#1E3A8A' : '#E2E8F0'), padding: '16px 18px', flexDirection: 'row', gap: 12, boxShadow: p.hot ? '0 6px 20px rgba(30,58,138,0.22)' : '0 3px 12px rgba(30,58,138,0.05)' }}&gt;&#10;                    &lt;Box style={{ width: 44, height: 44, borderRadius: 11, background: p.hot ? 'rgba(245,158,11,0.2)' : '#E0F7FA', justifyContent: 'center', alignItems: 'center' }}&gt;&#10;                        &lt;FAIcon name={p.icon} style={{ fill: p.hot ? '#F8C471' : '#0891B2', width: 22, height: 22 }} /&gt;&#10;                    &lt;/Box&gt;&#10;                    &lt;Box style={{ flex: 1 }}&gt;&#10;                        &lt;Text style={{ fontSize: 17, fontWeight: 'bold', color: p.hot ? '#FFFFFF' : '#1E3A8A' }}&gt;{p.t}&lt;/Text&gt;&#10;                        &lt;Text style={{ fontSize: 13, color: p.hot ? '#DCE9FB' : '#43566b', lineHeight: 1.5, marginTop: 5 }}&gt;{p.d}&lt;/Text&gt;&#10;                    &lt;/Box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规划与治理 · 高级&lt;/Text&gt;&#10;        &lt;Text style={{ fontSize: 14, color: '#64748B' }}&gt;17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685800" y="457200"/>
            <a:ext cx="47625" cy="41910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448175" cy="447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组织采纳八支柱（核心页）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885825" y="819150"/>
            <a:ext cx="4448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缺任何一根，</a:t>
            </a: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项目都会烂尾</a:t>
            </a: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这是本课程</a:t>
            </a: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 4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课时的全部理由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85800" y="121920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190500" dist="5715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10" name=""/>
          <p:cNvSpPr/>
          <p:nvPr/>
        </p:nvSpPr>
        <p:spPr>
          <a:xfrm rot="0" flipH="0" flipV="0">
            <a:off x="85725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p/>
        </p:txBody>
      </p:sp>
      <p:pic>
        <p:nvPicPr>
          <p:cNvPr id="2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62025" y="1476375"/>
            <a:ext cx="209550" cy="209550"/>
          </a:xfrm>
          <a:prstGeom prst="rect">
            <a:avLst/>
          </a:prstGeom>
          <a:ln/>
        </p:spPr>
      </p:pic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390650" y="137160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PingFang SC"/>
                <a:ea typeface="PingFang SC"/>
              </a:rPr>
              <a:t>AI </a:t>
            </a: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倡导者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390650" y="161925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每车间</a:t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> 1–2 </a:t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名</a:t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> Champion</a:t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，选</a:t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>-</a:t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担</a:t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>-</a:t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落，课后不熄火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3419475" y="121920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15" name=""/>
          <p:cNvSpPr/>
          <p:nvPr/>
        </p:nvSpPr>
        <p:spPr>
          <a:xfrm rot="0" flipH="0" flipV="0">
            <a:off x="3590925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95700" y="1476375"/>
            <a:ext cx="209550" cy="209550"/>
          </a:xfrm>
          <a:prstGeom prst="rect">
            <a:avLst/>
          </a:prstGeom>
          <a:ln/>
        </p:spPr>
      </p:pic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4124325" y="137160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实践社区</a:t>
            </a: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 CoP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124325" y="161925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双周分享：谁用出了新招，谁踩了坑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6153150" y="121920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63246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29375" y="1476375"/>
            <a:ext cx="209550" cy="209550"/>
          </a:xfrm>
          <a:prstGeom prst="rect">
            <a:avLst/>
          </a:prstGeom>
          <a:ln/>
        </p:spPr>
      </p:pic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0" y="137160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培训</a:t>
            </a: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 L&amp;D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858000" y="161925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分层培养：会用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会改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会带，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TTT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讲师制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8886825" y="121920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9058275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63050" y="1476375"/>
            <a:ext cx="209550" cy="209550"/>
          </a:xfrm>
          <a:prstGeom prst="rect">
            <a:avLst/>
          </a:prstGeom>
          <a:ln/>
        </p:spPr>
      </p:pic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591675" y="137160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分级工具政策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9591675" y="161925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哪些场景用免费工具、哪些走受控平台，白纸黑字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685800" y="375285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30" name=""/>
          <p:cNvSpPr/>
          <p:nvPr/>
        </p:nvSpPr>
        <p:spPr>
          <a:xfrm rot="0" flipH="0" flipV="0">
            <a:off x="857250" y="39052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62025" y="4010025"/>
            <a:ext cx="209550" cy="209550"/>
          </a:xfrm>
          <a:prstGeom prst="rect">
            <a:avLst/>
          </a:prstGeom>
          <a:ln/>
        </p:spPr>
      </p:pic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390650" y="390525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DRI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责任人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390650" y="415290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每个场景一个直接负责人，「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DRI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」不是团队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3419475" y="375285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190500" dist="5715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3590925" y="39052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p/>
        </p:txBody>
      </p:sp>
      <p:pic>
        <p:nvPicPr>
          <p:cNvPr id="2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695700" y="4010025"/>
            <a:ext cx="209550" cy="209550"/>
          </a:xfrm>
          <a:prstGeom prst="rect">
            <a:avLst/>
          </a:prstGeom>
          <a:ln/>
        </p:spPr>
      </p:pic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4124325" y="390525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高管背书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4124325" y="415290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厂长发话</a:t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月度复盘列席</a:t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采纳是态度问题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6153150" y="375285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6324600" y="39052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7"/>
              </a:ext>
            </a:extLst>
          </a:blip>
          <a:stretch>
            <a:fillRect/>
          </a:stretch>
        </p:blipFill>
        <p:spPr>
          <a:xfrm rot="0" flipH="0" flipV="0">
            <a:off x="6429375" y="4010025"/>
            <a:ext cx="209550" cy="209550"/>
          </a:xfrm>
          <a:prstGeom prst="rect">
            <a:avLst/>
          </a:prstGeom>
          <a:ln/>
        </p:spPr>
      </p:pic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858000" y="390525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数据驱动指标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858000" y="415290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MAU/MEU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上墙，用数字说话，不用感觉汇报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886825" y="375285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9058275" y="39052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8"/>
              </a:ext>
            </a:extLst>
          </a:blip>
          <a:stretch>
            <a:fillRect/>
          </a:stretch>
        </p:blipFill>
        <p:spPr>
          <a:xfrm rot="0" flipH="0" flipV="0">
            <a:off x="9163050" y="4010025"/>
            <a:ext cx="209550" cy="209550"/>
          </a:xfrm>
          <a:prstGeom prst="rect">
            <a:avLst/>
          </a:prstGeom>
          <a:ln/>
        </p:spPr>
      </p:pic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9591675" y="390525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负责任使用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9591675" y="415290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红线清单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停止条件，敢用，也敢停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11058525" y="6362700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17 / 24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251" name="" descr="const phases = [&#10;    { t: '0–30 天 · 奠基', d: '定 DRI / 选首批 3 个场景 / 建 CoP / 发工具政策', c: '#06B6D4' },&#10;    { t: '30–90 天 · 起势', d: '首批场景上线 / 月度复盘 / 看板公开 / 树立 1–2 个样板', c: '#1E3A8A' },&#10;    { t: '持续 · 规模化', d: 'TTT 讲师复制 / 场景扩线扩厂 / 季度 ROI 盘点 / 淘汰不达标场景', c: '#F59E0B' },&#10;];&#10;const board = ['MAU / MEU + 用户分层', 'OEE / 停机时间', '不良率 / 复检量', '单位能耗'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三阶段推进 + 采纳看板&lt;/Text&gt;&#10;            &lt;Text style={{ fontSize: 17, color: '#64748B', marginTop: 4 }}&gt;节奏比热情重要：先小胜，再复制，最后规模化&lt;/Text&gt;&#10;        &lt;/Box&gt;&#10;    &lt;/Box&gt;&#10;    &lt;Box style={{ flex: 1, flexDirection: 'row', gap: 24, marginTop: 14 }}&gt;&#10;        &lt;Box style={{ flex: 55, flexDirection: 'row', gap: 14 }}&gt;&#10;            {phases.map((p, i) =&gt; (&#10;                &lt;Box key={i} style={{ flex: 1, background: i === 1 ? '#1E3A8A' : '#FFFFFF', borderRadius: 16, border: '1px solid ' + (i === 1 ? '#1E3A8A' : '#E2E8F0'), padding: '22px 20px', flexDirection: 'column', boxShadow: i === 1 ? '0 8px 24px rgba(30,58,138,0.25)' : '0 3px 12px rgba(30,58,138,0.05)' }}&gt;&#10;                    &lt;Box style={{ width: 56, height: 6, background: p.c, borderRadius: 3, marginBottom: 14 }} /&gt;&#10;                    &lt;Text style={{ fontSize: 19, fontWeight: 'bold', color: i === 1 ? '#FFFFFF' : '#1E3A8A' }}&gt;{p.t}&lt;/Text&gt;&#10;                    &lt;Text style={{ fontSize: 14, color: i === 1 ? '#DCE9FB' : '#43566b', lineHeight: 1.75, marginTop: 10, flex: 1 }}&gt;{p.d}&lt;/Text&gt;&#10;                    {i &lt; 2 &amp;&amp; &lt;Text style={{ fontSize: 13, color: i === 1 ? '#7FD9F0' : '#64748B', marginTop: 10 }}&gt;里程碑：{['3 个场景开跑', '首张看板公开'][i]}&lt;/Text&gt;}&#10;                &lt;/Box&gt;&#10;            ))}&#10;        &lt;/Box&gt;&#10;        &lt;Box style={{ flex: 45, background: '#1E3A8A', borderRadius: 18, padding: '24px 28px', flexDirection: 'column', boxShadow: '0 8px 28px rgba(30,58,138,0.25)' }}&gt;&#10;            &lt;Text style={{ fontSize: 18, fontWeight: 'bold', color: '#FFFFFF' }}&gt;采纳看板：业务账 + 采纳账同屏&lt;/Text&gt;&#10;            &lt;Box style={{ flexDirection: 'column', gap: 10, marginTop: 16 }}&gt;&#10;                {board.map((b, i) =&gt; (&#10;                    &lt;Box key={i} style={{ padding: '11px 18px', background: 'rgba(6,182,212,0.15)', borderRadius: 10, border: '1px solid rgba(6,182,212,0.45)' }}&gt;&#10;                        &lt;Text style={{ fontSize: 16, fontWeight: 'bold', color: i &lt; 2 ? '#7FD9F0' : '#F8C471' }}&gt;{b}&lt;/Text&gt;&#10;                    &lt;/Box&gt;&#10;                ))}&#10;            &lt;/Box&gt;&#10;            &lt;Text style={{ fontSize: 14, color: '#A9C4E8', marginTop: 'auto', paddingTop: 14, lineHeight: 1.7 }}&gt;每周一屏、每月一议 —— 连续 2 个月 MEU 不涨的场景，进「整改 or 下线」评审。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18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4004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三阶段推进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采纳看板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400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节奏比热情重要：先小胜，再复制，最后规模化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685800" y="1276350"/>
            <a:ext cx="1857375" cy="487680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876300" y="1485900"/>
            <a:ext cx="533400" cy="571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876300" y="1676400"/>
            <a:ext cx="1476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0–30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天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奠基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876300" y="1990725"/>
            <a:ext cx="1476375" cy="3705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定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DRI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选首批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3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个场景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建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CoP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发工具政策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876300" y="5791200"/>
            <a:ext cx="1476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里程碑：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3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个场景开跑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2676525" y="1276350"/>
            <a:ext cx="1847850" cy="4876800"/>
          </a:xfrm>
          <a:prstGeom prst="roundRect">
            <a:avLst>
              <a:gd name="adj" fmla="val 8247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62" name=""/>
          <p:cNvSpPr/>
          <p:nvPr/>
        </p:nvSpPr>
        <p:spPr>
          <a:xfrm rot="0" flipH="0" flipV="0">
            <a:off x="2867025" y="1485900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2867025" y="1676400"/>
            <a:ext cx="146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30–90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天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起势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2867025" y="1990725"/>
            <a:ext cx="1466850" cy="3705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首批场景上线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月度复盘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看板公开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树立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1–2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个样板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2867025" y="5791200"/>
            <a:ext cx="1466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7FD9F0"/>
                </a:solidFill>
                <a:latin typeface="PingFang SC"/>
                <a:ea typeface="PingFang SC"/>
              </a:rPr>
              <a:t>里程碑：</a:t>
            </a:r>
            <a:r>
              <a:rPr lang="zh-CN" sz="975">
                <a:solidFill>
                  <a:srgbClr val="7FD9F0"/>
                </a:solidFill>
                <a:latin typeface="PingFang SC"/>
                <a:ea typeface="PingFang SC"/>
              </a:rPr>
              <a:t>首张看板公开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4657725" y="1276350"/>
            <a:ext cx="1857375" cy="487680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67" name=""/>
          <p:cNvSpPr/>
          <p:nvPr/>
        </p:nvSpPr>
        <p:spPr>
          <a:xfrm rot="0" flipH="0" flipV="0">
            <a:off x="4848225" y="1485900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4848225" y="1676400"/>
            <a:ext cx="1476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持续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规模化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848225" y="1990725"/>
            <a:ext cx="1476375" cy="3952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TTT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讲师复制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场景扩线扩厂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季度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ROI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盘点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淘汰不达标场景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6743700" y="1276350"/>
            <a:ext cx="4762500" cy="4876800"/>
          </a:xfrm>
          <a:prstGeom prst="roundRect">
            <a:avLst>
              <a:gd name="adj" fmla="val 3600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010400" y="1504950"/>
            <a:ext cx="422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采纳看板：业务账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+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采纳账同屏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7010400" y="1866900"/>
            <a:ext cx="4229100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7181850" y="197167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7FD9F0"/>
                </a:solidFill>
                <a:latin typeface="PingFang SC"/>
                <a:ea typeface="PingFang SC"/>
              </a:rPr>
              <a:t>MAU / MEU + </a:t>
            </a: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用户分层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7010400" y="2362200"/>
            <a:ext cx="4229100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181850" y="246697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7FD9F0"/>
                </a:solidFill>
                <a:latin typeface="PingFang SC"/>
                <a:ea typeface="PingFang SC"/>
              </a:rPr>
              <a:t>OEE / </a:t>
            </a: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停机时间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7010400" y="2857500"/>
            <a:ext cx="4229100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7181850" y="296227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不良率</a:t>
            </a:r>
            <a:r>
              <a:rPr lang="en-US" sz="1200" b="1">
                <a:solidFill>
                  <a:srgbClr val="F8C471"/>
                </a:solidFill>
                <a:latin typeface="PingFang SC"/>
                <a:ea typeface="PingFang SC"/>
              </a:rPr>
              <a:t> / </a:t>
            </a: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复检量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7010400" y="3352800"/>
            <a:ext cx="4229100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181850" y="345757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单位能耗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010400" y="5238750"/>
            <a:ext cx="4229100" cy="685800"/>
          </a:xfrm>
          <a:prstGeom prst="rect"/>
        </p:spPr>
        <p:txBody>
          <a:bodyPr wrap="square" lIns="0" tIns="100013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每周一屏、每月一议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连续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2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个月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MEU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不涨的场景，进「整改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or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下线」评审。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18 / 24</a:t>
            </a:r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3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6&lt;/Text&gt;&#10;        &lt;Text style={{ fontSize: 18, color: '#7FD9F0', letterSpacing: 5, marginTop: 6 }}&gt;H6 · 2 课时&lt;/Text&gt;&#10;        &lt;Text style={{ fontSize: 54, fontWeight: 'bold', color: '#FFFFFF', marginTop: 20, lineHeight: 1.18 }}&gt;治理与合规&lt;br /&gt;守得住底线&lt;/Text&gt;&#10;        &lt;Box style={{ width: 84, height: 4, background: '#06B6D4', marginTop: 30 }} /&gt;&#10;        &lt;Text style={{ fontSize: 19, color: '#A9C4E8', marginTop: 22, lineHeight: 1.6 }}&gt;分类分级 · 幻觉防控 · 伦理四底线 · NIST 映射&lt;br /&gt;前瞻：算法备案 · 数据出境 —— 合规是路线图的前置条件，不是附录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285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286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H6 · 2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治理与合规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守得住底线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分类分级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幻觉防控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伦理四底线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NIST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映射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前瞻：算法备案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数据出境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合规是路线图的前置条件，不是附录。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40" name="" descr="const items = [&#10;    { icon: 'layer-group', t: '分类分级', d: '数据与算法按敏感级管理：核心数据不出厂，出网的先脱敏' },&#10;    { icon: 'shield-alt', t: '幻觉防控', d: 'HITL + 置信度 + 证据链三件套；安全关键件处置权永远归人' },&#10;    { icon: 'balance-scale', t: '伦理四底线', d: '公平 · 可解释 · 问责 · 不替代判断 —— 写进制度，不挂嘴边' },&#10;    { icon: 'cogs', t: 'NIST 映射', d: 'Govern-Map-Measure-Manage 落到岗位与流程，季度审计一次' },&#10;];&#10;&lt;Slide style={{ width: '1280px', height: '720px', background: '#F5F8FC', padding: '24px 72px', boxSizing: 'border-box', flexDirection: 'column', fontFamily: 'PingFang SC, Source Han Sans SC, sans-serif' }}&gt;&#10;    &lt;Box style={{ height: 92, flexDirection: 'row', alignItems: 'center', gap: 16 }}&gt;&#10;        &lt;Box style={{ width: 5, height: 44, background: '#06B6D4', borderRadius: 3 }} /&gt;&#10;        &lt;Box&gt;&#10;            &lt;Text style={{ fontSize: 32, fontWeight: 'bold', color: '#1E3A8A', lineHeight: 1.2 }}&gt;治理四议题 + 合规前瞻&lt;/Text&gt;&#10;            &lt;Text style={{ fontSize: 16, color: '#64748B', marginTop: 4 }}&gt;高管要做的不是「懂技术」，是「定规矩、认责任、敢叫停」&lt;/Text&gt;&#10;        &lt;/Box&gt;&#10;    &lt;/Box&gt;&#10;    &lt;Box style={{ flexDirection: 'row', gap: 18, marginTop: 14 }}&gt;&#10;        {items.map((x, i) =&gt; (&#10;            &lt;Box key={i} style={{ flex: 1, background: '#FFFFFF', borderRadius: 14, padding: '20px 18px', border: '1px solid #E2E8F0', boxShadow: '0 3px 12px rgba(30,58,138,0.05)', flexDirection: 'column' }}&gt;&#10;                &lt;Box style={{ width: 52, height: 52, borderRadius: 13, background: i === 1 ? '#FEEFE0' : '#E0F7FA', justifyContent: 'center', alignItems: 'center', marginBottom: 12 }}&gt;&#10;                    &lt;FAIcon name={x.icon} style={{ fill: i === 1 ? '#F59E0B' : '#0891B2', width: 26, height: 26 }} /&gt;&#10;                &lt;/Box&gt;&#10;                &lt;Text style={{ fontSize: 19, fontWeight: 'bold', color: '#1E3A8A', marginBottom: 8 }}&gt;{x.t}&lt;/Text&gt;&#10;                &lt;Text style={{ fontSize: 14, color: '#43566b', lineHeight: 1.6, flex: 1 }}&gt;{x.d}&lt;/Text&gt;&#10;            &lt;/Box&gt;&#10;        ))}&#10;    &lt;/Box&gt;&#10;    &lt;Box style={{ flex: 1, flexDirection: 'row', gap: 24, marginTop: 18 }}&gt;&#10;        &lt;Box style={{ flex: 1, background: '#1E3A8A', borderRadius: 16, padding: '20px 26px', flexDirection: 'column', boxShadow: '0 8px 24px rgba(30,58,138,0.22)' }}&gt;&#10;            &lt;Text style={{ fontSize: 18, fontWeight: 'bold', color: '#FFFFFF', marginBottom: 10 }}&gt;合规前瞻：路线图里要预留的两条线&lt;/Text&gt;&#10;            &lt;Box style={{ flexDirection: 'row', gap: 16 }}&gt;&#10;                &lt;Box style={{ flex: 1, padding: '14px 18px', background: 'rgba(6,182,212,0.15)', borderRadius: 12, border: '1px solid rgba(6,182,212,0.5)' }}&gt;&#10;                    &lt;Text style={{ fontSize: 16, fontWeight: 'bold', color: '#7FD9F0' }}&gt;算法备案&lt;/Text&gt;&#10;                    &lt;Text style={{ fontSize: 14, color: '#DCE9FB', lineHeight: 1.6, marginTop: 6 }}&gt;面向公众服务的生成式 AI 需备案 —— 对客 AI 先查门槛再上线&lt;/Text&gt;&#10;                &lt;/Box&gt;&#10;                &lt;Box style={{ flex: 1, padding: '14px 18px', background: 'rgba(245,158,11,0.15)', borderRadius: 12, border: '1px solid rgba(245,158,11,0.6)' }}&gt;&#10;                    &lt;Text style={{ fontSize: 16, fontWeight: 'bold', color: '#F8C471' }}&gt;数据出境&lt;/Text&gt;&#10;                    &lt;Text style={{ fontSize: 14, color: '#DCE9FB', lineHeight: 1.6, marginTop: 6 }}&gt;境外云 / 境外供应商碰核心数据，先走安全评估，再谈合作&lt;/Text&gt;&#10;                &lt;/Box&gt;&#10;            &lt;/Box&gt;&#10;            &lt;Text style={{ fontSize: 14, color: '#A9C4E8', marginTop: 'auto', paddingTop: 12 }}&gt;判断口径：不出厂的数据没有出境问题；出不了厂的数据就别出厂。&lt;/Text&gt;&#10;        &lt;/Box&gt;&#10;        &lt;Box style={{ flex: 1, padding: '20px 26px', background: '#FEEFE0', borderRadius: 16, border: '2px solid #F59E0B', flexDirection: 'column', justifyContent: 'center' }}&gt;&#10;            &lt;Text style={{ fontSize: 20, fontWeight: 'bold', color: '#B45309' }}&gt;高管的一句话职责&lt;/Text&gt;&#10;            &lt;Text style={{ fontSize: 18, color: '#43566b', lineHeight: 1.8, marginTop: 12 }}&gt;AI 判错了，责任链条必须清晰：&lt;span style={{ fontWeight: 'bold', color: '#B45309' }}&gt;谁批准上线、谁保留处置权、谁承担后果&lt;/span&gt; —— 三个名字写进制度，出事才知道找谁。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20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685800" y="457200"/>
            <a:ext cx="47625" cy="41910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114800" cy="447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治理四议题</a:t>
            </a:r>
            <a:r>
              <a:rPr lang="en-US" sz="240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合规前瞻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885825" y="819150"/>
            <a:ext cx="411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高管要做的不是「懂技术」，是「定规矩、认责任、敢叫停」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685800" y="1238250"/>
            <a:ext cx="2581275" cy="1800225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857250" y="14287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81075" y="1552575"/>
            <a:ext cx="247650" cy="247650"/>
          </a:xfrm>
          <a:prstGeom prst="rect">
            <a:avLst/>
          </a:prstGeom>
          <a:ln/>
        </p:spPr>
      </p:pic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857250" y="2038350"/>
            <a:ext cx="2238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分类分级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857250" y="2333625"/>
            <a:ext cx="22383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数据与算法按敏感级管理：核心数据不出厂，出网的先脱敏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3438525" y="1238250"/>
            <a:ext cx="2571750" cy="1800225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51" name=""/>
          <p:cNvSpPr/>
          <p:nvPr/>
        </p:nvSpPr>
        <p:spPr>
          <a:xfrm rot="0" flipH="0" flipV="0">
            <a:off x="3609975" y="14287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3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1552575"/>
            <a:ext cx="247650" cy="247650"/>
          </a:xfrm>
          <a:prstGeom prst="rect">
            <a:avLst/>
          </a:prstGeom>
          <a:ln/>
        </p:spPr>
      </p:pic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609975" y="2038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幻觉防控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609975" y="2333625"/>
            <a:ext cx="2228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HITL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置信度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证据链三件套；安全关键件处置权永远归人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6181725" y="1238250"/>
            <a:ext cx="2581275" cy="1800225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56" name=""/>
          <p:cNvSpPr/>
          <p:nvPr/>
        </p:nvSpPr>
        <p:spPr>
          <a:xfrm rot="0" flipH="0" flipV="0">
            <a:off x="6353175" y="14287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0" y="1552575"/>
            <a:ext cx="247650" cy="247650"/>
          </a:xfrm>
          <a:prstGeom prst="rect">
            <a:avLst/>
          </a:prstGeom>
          <a:ln/>
        </p:spPr>
      </p:pic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6353175" y="2038350"/>
            <a:ext cx="2238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伦理四底线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6353175" y="2333625"/>
            <a:ext cx="22383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公平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可解释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问责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不替代判断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写进制度，不挂嘴边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8934450" y="1238250"/>
            <a:ext cx="2571750" cy="1800225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61" name=""/>
          <p:cNvSpPr/>
          <p:nvPr/>
        </p:nvSpPr>
        <p:spPr>
          <a:xfrm rot="0" flipH="0" flipV="0">
            <a:off x="9105900" y="14287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229725" y="1552575"/>
            <a:ext cx="247650" cy="2476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9105900" y="2038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NIST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映射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9105900" y="2333625"/>
            <a:ext cx="2228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Govern-Map-Measure-Manage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落到岗位与流程，季度审计一次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685800" y="3209925"/>
            <a:ext cx="5295900" cy="2943225"/>
          </a:xfrm>
          <a:prstGeom prst="roundRect">
            <a:avLst>
              <a:gd name="adj" fmla="val 5178"/>
            </a:avLst>
          </a:prstGeom>
          <a:solidFill>
            <a:srgbClr val="1E3A8A"/>
          </a:solidFill>
          <a:ln/>
          <a:effectLst>
            <a:outerShdw blurRad="228600" dist="7620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933450" y="3400425"/>
            <a:ext cx="4800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合规前瞻：路线图里要预留的两条线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933450" y="3705225"/>
            <a:ext cx="2324100" cy="1028700"/>
          </a:xfrm>
          <a:prstGeom prst="roundRect">
            <a:avLst>
              <a:gd name="adj" fmla="val 11111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104900" y="3838575"/>
            <a:ext cx="1981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算法备案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04900" y="4086225"/>
            <a:ext cx="1981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面向公众服务的生成式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AI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需备案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对客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AI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先查门槛再上线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3409950" y="3705225"/>
            <a:ext cx="2324100" cy="1028700"/>
          </a:xfrm>
          <a:prstGeom prst="roundRect">
            <a:avLst>
              <a:gd name="adj" fmla="val 11111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3581400" y="3838575"/>
            <a:ext cx="1981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数据出境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3581400" y="4086225"/>
            <a:ext cx="1981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境外云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境外供应商碰核心数据，先走安全评估，再谈合作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933450" y="5686425"/>
            <a:ext cx="4800600" cy="276225"/>
          </a:xfrm>
          <a:prstGeom prst="rect"/>
        </p:spPr>
        <p:txBody>
          <a:bodyPr wrap="none" lIns="0" tIns="85725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判断口径：不出厂的数据没有出境问题；出不了厂的数据就别出厂。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6210300" y="3209925"/>
            <a:ext cx="5295900" cy="2943225"/>
          </a:xfrm>
          <a:prstGeom prst="roundRect">
            <a:avLst>
              <a:gd name="adj" fmla="val 5178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457950" y="4143375"/>
            <a:ext cx="4800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B45309"/>
                </a:solidFill>
                <a:latin typeface="PingFang SC"/>
                <a:ea typeface="PingFang SC"/>
              </a:rPr>
              <a:t>高管的一句话职责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6457950" y="4486275"/>
            <a:ext cx="48006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35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350">
                <a:solidFill>
                  <a:srgbClr val="43566B"/>
                </a:solidFill>
                <a:latin typeface="PingFang SC"/>
                <a:ea typeface="PingFang SC"/>
              </a:rPr>
              <a:t>判错了，责任链条必须清晰：</a:t>
            </a:r>
            <a:r>
              <a:rPr lang="zh-CN" sz="1350" b="1">
                <a:solidFill>
                  <a:srgbClr val="B45309"/>
                </a:solidFill>
                <a:latin typeface="PingFang SC"/>
                <a:ea typeface="PingFang SC"/>
              </a:rPr>
              <a:t>谁批准上线、谁保留处置权、谁承担后果</a:t>
            </a:r>
            <a:r>
              <a:rPr lang="en-US" sz="135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350">
                <a:solidFill>
                  <a:srgbClr val="43566B"/>
                </a:solidFill>
                <a:latin typeface="PingFang SC"/>
                <a:ea typeface="PingFang SC"/>
              </a:rPr>
              <a:t>三个名字写进制度，出事才知道找谁。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20 / 24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9" name="" descr="const tasks = [&#10;    { icon: 'map-marked-alt', t: '任务一 · 梯度自评', d: '用四维度模型给本厂定位，找到短板维度与晋级路径', n: '第 1 天上午' },&#10;    { icon: 'calculator', t: '任务二 · ROI 实算', d: '用五步模板算一个真实项目：基线、对照、价值、危害、回收期', n: '第 1 天下午' },&#10;    { icon: 'chess', t: '任务三 · 路线图沙盘', d: '三年路线图推演：资源、节奏、风险、止损点，高管评委组答辩', n: '第 2 天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H7 战略沙盘：2 天 3 任务&lt;/Text&gt;&#10;            &lt;Text style={{ fontSize: 17, color: '#64748B', marginTop: 4 }}&gt;结业不是考试，是把「你厂里的路线图」做完&lt;/Text&gt;&#10;        &lt;/Box&gt;&#10;    &lt;/Box&gt;&#10;    &lt;Box style={{ flex: 1, flexDirection: 'row', gap: 20, marginTop: 14 }}&gt;&#10;        {tasks.map((t, i) =&gt; (&#10;            &lt;Box key={i} style={{ flex: 1, background: '#FFFFFF', borderRadius: 16, padding: '24px 22px', border: '1px solid #E2E8F0', boxShadow: '0 4px 16px rgba(30,58,138,0.06)', flexDirection: 'column' }}&gt;&#10;                &lt;Box style={{ flexDirection: 'row', justifyContent: 'space-between', alignItems: 'center', marginBottom: 14 }}&gt;&#10;                    &lt;Box style={{ width: 54, height: 54, borderRadius: 14, background: i === 2 ? '#FEEFE0' : '#E0F7FA', justifyContent: 'center', alignItems: 'center' }}&gt;&#10;                        &lt;FAIcon name={t.icon} style={{ fill: i === 2 ? '#F59E0B' : '#0891B2', width: 26, height: 26 }} /&gt;&#10;                    &lt;/Box&gt;&#10;                    &lt;Text style={{ fontSize: 13, fontWeight: 'bold', color: '#64748B' }}&gt;{t.n}&lt;/Text&gt;&#10;                &lt;/Box&gt;&#10;                &lt;Text style={{ fontSize: 20, fontWeight: 'bold', color: '#1E3A8A', marginBottom: 10 }}&gt;{t.t}&lt;/Text&gt;&#10;                &lt;Text style={{ fontSize: 15, color: '#43566b', lineHeight: 1.65, flex: 1 }}&gt;{t.d}&lt;/Text&gt;&#10;            &lt;/Box&gt;&#10;        ))}&#10;    &lt;/Box&gt;&#10;    &lt;Box style={{ flex: 1, flexDirection: 'row', gap: 24, marginTop: 18 }}&gt;&#10;        &lt;Box style={{ flex: 1, background: '#1E3A8A', borderRadius: 16, padding: '20px 26px', flexDirection: 'column', boxShadow: '0 8px 24px rgba(30,58,138,0.22)' }}&gt;&#10;            &lt;Text style={{ fontSize: 17, fontWeight: 'bold', color: '#FFFFFF', marginBottom: 10 }}&gt;标杆参照系&lt;/Text&gt;&#10;            &lt;Text style={{ fontSize: 15, color: '#DCE9FB', lineHeight: 1.8 }}&gt;陕汽「数字工匠」+ 青蓝蓄能站：技能认证与人才梯队并进&lt;br /&gt;WEF 灯塔工厂 220+：全球最佳实践的公开坐标系&lt;/Text&gt;&#10;        &lt;/Box&gt;&#10;        &lt;Box style={{ flex: 1, padding: '20px 26px', background: '#FEEFE0', borderRadius: 16, border: '1px solid #FDE7C8', flexDirection: 'column', justifyContent: 'center' }}&gt;&#10;            &lt;Text style={{ fontSize: 18, fontWeight: 'bold', color: '#B45309' }}&gt;沙盘产出物&lt;/Text&gt;&#10;            &lt;Text style={{ fontSize: 15, color: '#43566b', lineHeight: 1.8, marginTop: 8 }}&gt;① 工厂梯度自评报告（含短板与晋级路径）&lt;br /&gt;② 单项目 ROI 测算书（可直接进立项会）&lt;br /&gt;③ 三年 AI 路线图（PPT，结业答辩用）&lt;/Text&gt;&#10;        &lt;/Box&gt;&#10;    &lt;/Box&gt;&#10;    &lt;Box style={{ height: 40, flexDirection: 'row', justifyContent: 'space-between', alignItems: 'center', marginTop: 12 }}&gt;&#10;        &lt;Text style={{ fontSize: 14, color: '#64748B' }}&gt;AI 规划与治理 · 高级&lt;/Text&gt;&#10;        &lt;Text style={{ fontSize: 14, color: '#64748B' }}&gt;21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8290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H7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战略沙盘：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2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天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3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任务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829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结业不是考试，是把「你厂里的路线图」做完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685800" y="1276350"/>
            <a:ext cx="3476625" cy="2543175"/>
          </a:xfrm>
          <a:prstGeom prst="roundRect">
            <a:avLst>
              <a:gd name="adj" fmla="val 59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85" name=""/>
          <p:cNvSpPr/>
          <p:nvPr/>
        </p:nvSpPr>
        <p:spPr>
          <a:xfrm rot="0" flipH="0" flipV="0">
            <a:off x="895350" y="150495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28700" y="1638300"/>
            <a:ext cx="247650" cy="247650"/>
          </a:xfrm>
          <a:prstGeom prst="rect">
            <a:avLst/>
          </a:prstGeom>
          <a:ln/>
        </p:spPr>
      </p:pic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3324225" y="1685925"/>
            <a:ext cx="628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第</a:t>
            </a:r>
            <a:r>
              <a:rPr lang="en-US" sz="975" b="1">
                <a:solidFill>
                  <a:srgbClr val="64748B"/>
                </a:solidFill>
                <a:latin typeface="PingFang SC"/>
                <a:ea typeface="PingFang SC"/>
              </a:rPr>
              <a:t> 1 </a:t>
            </a: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天上午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895350" y="21526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任务一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梯度自评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895350" y="2476500"/>
            <a:ext cx="3057525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用四维度模型给本厂定位，找到短板维度与晋级路径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4352925" y="1276350"/>
            <a:ext cx="3486150" cy="2543175"/>
          </a:xfrm>
          <a:prstGeom prst="roundRect">
            <a:avLst>
              <a:gd name="adj" fmla="val 59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1" name=""/>
          <p:cNvSpPr/>
          <p:nvPr/>
        </p:nvSpPr>
        <p:spPr>
          <a:xfrm rot="0" flipH="0" flipV="0">
            <a:off x="4562475" y="150495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95825" y="1638300"/>
            <a:ext cx="247650" cy="247650"/>
          </a:xfrm>
          <a:prstGeom prst="rect">
            <a:avLst/>
          </a:prstGeom>
          <a:ln/>
        </p:spPr>
      </p:pic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7000875" y="1685925"/>
            <a:ext cx="628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第</a:t>
            </a:r>
            <a:r>
              <a:rPr lang="en-US" sz="975" b="1">
                <a:solidFill>
                  <a:srgbClr val="64748B"/>
                </a:solidFill>
                <a:latin typeface="PingFang SC"/>
                <a:ea typeface="PingFang SC"/>
              </a:rPr>
              <a:t> 1 </a:t>
            </a: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天下午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4562475" y="2152650"/>
            <a:ext cx="3067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任务二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· ROI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实算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4562475" y="2476500"/>
            <a:ext cx="3067050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用五步模板算一个真实项目：基线、对照、价值、危害、回收期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8029575" y="1276350"/>
            <a:ext cx="3476625" cy="2543175"/>
          </a:xfrm>
          <a:prstGeom prst="roundRect">
            <a:avLst>
              <a:gd name="adj" fmla="val 59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7" name=""/>
          <p:cNvSpPr/>
          <p:nvPr/>
        </p:nvSpPr>
        <p:spPr>
          <a:xfrm rot="0" flipH="0" flipV="0">
            <a:off x="8239125" y="150495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3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72475" y="1638300"/>
            <a:ext cx="247650" cy="247650"/>
          </a:xfrm>
          <a:prstGeom prst="rect">
            <a:avLst/>
          </a:prstGeom>
          <a:ln/>
        </p:spPr>
      </p:pic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0887075" y="1685925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第</a:t>
            </a:r>
            <a:r>
              <a:rPr lang="en-US" sz="975" b="1">
                <a:solidFill>
                  <a:srgbClr val="64748B"/>
                </a:solidFill>
                <a:latin typeface="PingFang SC"/>
                <a:ea typeface="PingFang SC"/>
              </a:rPr>
              <a:t> 2 </a:t>
            </a: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天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8239125" y="21526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任务三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路线图沙盘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239125" y="2476500"/>
            <a:ext cx="3057525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三年路线图推演：资源、节奏、风险、止损点，高管评委组答辩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685800" y="3990975"/>
            <a:ext cx="5295900" cy="2143125"/>
          </a:xfrm>
          <a:prstGeom prst="roundRect">
            <a:avLst>
              <a:gd name="adj" fmla="val 7111"/>
            </a:avLst>
          </a:prstGeom>
          <a:solidFill>
            <a:srgbClr val="1E3A8A"/>
          </a:solidFill>
          <a:ln/>
          <a:effectLst>
            <a:outerShdw blurRad="228600" dist="7620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933450" y="4181475"/>
            <a:ext cx="4800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标杆参照系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933450" y="4476750"/>
            <a:ext cx="480060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陕汽「数字工匠」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+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青蓝蓄能站：技能认证与人才梯队并进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WEF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灯塔工厂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220+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：全球最佳实践的公开坐标系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6210300" y="3990975"/>
            <a:ext cx="5295900" cy="2143125"/>
          </a:xfrm>
          <a:prstGeom prst="roundRect">
            <a:avLst>
              <a:gd name="adj" fmla="val 7111"/>
            </a:avLst>
          </a:prstGeom>
          <a:solidFill>
            <a:srgbClr val="FEEFE0"/>
          </a:solidFill>
          <a:ln w="12700">
            <a:solidFill>
              <a:srgbClr val="FDE7C8"/>
            </a:solidFill>
            <a:prstDash val="solid"/>
          </a:ln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457950" y="4457700"/>
            <a:ext cx="4800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B45309"/>
                </a:solidFill>
                <a:latin typeface="PingFang SC"/>
                <a:ea typeface="PingFang SC"/>
              </a:rPr>
              <a:t>沙盘产出物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457950" y="4743450"/>
            <a:ext cx="48006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①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工厂梯度自评报告（含短板与晋级路径）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②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单项目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ROI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测算书（可直接进立项会）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③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三年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路线图（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PPT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，结业答辩用）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21 / 24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410" name="" descr="const spiral = [&#10;    { t: '初级 · 通识', d: '回答「为什么学」：AI 是什么、我能用、怎么用', c: '#06B6D4' },&#10;    { t: '中级 · 落地', d: '回答「怎么拿资源」：找场景、做试点、写申报书', c: '#1E3A8A' },&#10;    { t: '高级 · 规划', d: '回答「未来怎么变、怎么合规」：梯度、架构、组织、治理', c: '#F59E0B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政策螺旋：三级课程怎么咬合&lt;/Text&gt;&#10;            &lt;Text style={{ fontSize: 17, color: '#64748B', marginTop: 4 }}&gt;279 号文 →「十五五」规划 → 算法备案 / 数据出境：政策每转一圈，能力要求升一级&lt;/Text&gt;&#10;        &lt;/Box&gt;&#10;    &lt;/Box&gt;&#10;    &lt;Box style={{ flex: 1, flexDirection: 'row', gap: 24, marginTop: 14 }}&gt;&#10;        &lt;Box style={{ flex: 55, flexDirection: 'column', gap: 14 }}&gt;&#10;            {spiral.map((s, i) =&gt; (&#10;                &lt;Box key={i} style={{ flex: 1, background: i === 2 ? '#1E3A8A' : '#FFFFFF', borderRadius: 16, border: '1px solid ' + (i === 2 ? '#1E3A8A' : '#E2E8F0'), flexDirection: 'row', alignItems: 'center', gap: 20, padding: '0 26px', boxShadow: i === 2 ? '0 8px 24px rgba(30,58,138,0.25)' : '0 3px 12px rgba(30,58,138,0.05)' }}&gt;&#10;                    &lt;Box style={{ width: 8, alignSelf: 'stretch', background: s.c, borderTopLeftRadius: 16, borderBottomLeftRadius: 16 }} /&gt;&#10;                    &lt;Text style={{ fontSize: 21, fontWeight: 'bold', color: i === 2 ? '#FFFFFF' : '#1E3A8A', width: 150 }}&gt;{s.t}&lt;/Text&gt;&#10;                    &lt;Text style={{ flex: 1, fontSize: 16, color: i === 2 ? '#DCE9FB' : '#43566b' }}&gt;{s.d}&lt;/Text&gt;&#10;                    &lt;Text style={{ fontSize: 15, fontWeight: 'bold', color: i === 2 ? '#F8C471' : s.c, fontFamily: 'Space Grotesk, Inter' }}&gt;L{i === 0 ? '0-1' : i === 1 ? '2-3' : '4'}&lt;/Text&gt;&#10;                &lt;/Box&gt;&#10;            ))}&#10;        &lt;/Box&gt;&#10;        &lt;Box style={{ flex: 45, background: '#FFFFFF', borderRadius: 16, padding: '22px 26px', border: '1px solid #E2E8F0', flexDirection: 'column' }}&gt;&#10;            &lt;Text style={{ fontSize: 18, fontWeight: 'bold', color: '#1E3A8A', marginBottom: 12 }}&gt;面向高管的三条前瞻信号&lt;/Text&gt;&#10;            &lt;Text style={{ fontSize: 15, color: '#43566b', lineHeight: 1.9 }}&gt;&#10;                &lt;span style={{ fontWeight: 'bold', color: '#B45309' }}&gt;「十五五」规划&lt;/span&gt; —— 智能制造与 AI+制造仍是主线，标杆示范扩围&lt;br /&gt;&#10;                &lt;span style={{ fontWeight: 'bold', color: '#B45309' }}&gt;算法备案&lt;/span&gt; —— 对客生成式 AI 的准入门槛，路线图预留合规工期&lt;br /&gt;&#10;                &lt;span style={{ fontWeight: 'bold', color: '#B45309' }}&gt;数据出境&lt;/span&gt; —— 用境外云 / 大模型前先做安全评估，别等出事&lt;br /&gt;&lt;br /&gt;&#10;                &lt;span style={{ fontWeight: 'bold', color: '#0891B2' }}&gt;一句话：政策定的是下限，你要的是上限。&lt;/span&gt;&#10;            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22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12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62007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政策螺旋：三级课程怎么咬合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6200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279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号文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「十五五」规划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算法备案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/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数据出境：政策每转一圈，能力要求升一级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685800" y="1276350"/>
            <a:ext cx="5829300" cy="1457325"/>
          </a:xfrm>
          <a:prstGeom prst="roundRect">
            <a:avLst>
              <a:gd name="adj" fmla="val 104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416" name=""/>
          <p:cNvSpPr/>
          <p:nvPr/>
        </p:nvSpPr>
        <p:spPr>
          <a:xfrm rot="0" flipH="0" flipV="0">
            <a:off x="933450" y="2009775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200150" y="1885950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初级</a:t>
            </a: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通识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2819400" y="1914525"/>
            <a:ext cx="296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回答「为什么学」：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是什么、我能用、怎么用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5972175" y="1924050"/>
            <a:ext cx="29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6B6D4"/>
                </a:solidFill>
                <a:latin typeface="Space Grotesk"/>
                <a:ea typeface="Space Grotesk"/>
              </a:rPr>
              <a:t>L</a:t>
            </a:r>
            <a:r>
              <a:rPr lang="en-US" sz="1125" b="1">
                <a:solidFill>
                  <a:srgbClr val="06B6D4"/>
                </a:solidFill>
                <a:latin typeface="Space Grotesk"/>
                <a:ea typeface="Space Grotesk"/>
              </a:rPr>
              <a:t>0-1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685800" y="2867025"/>
            <a:ext cx="582930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421" name=""/>
          <p:cNvSpPr/>
          <p:nvPr/>
        </p:nvSpPr>
        <p:spPr>
          <a:xfrm rot="0" flipH="0" flipV="0">
            <a:off x="933450" y="3657600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/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200150" y="35337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中级</a:t>
            </a: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落地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2819400" y="3467100"/>
            <a:ext cx="2962275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回答「怎么拿资源」：找场景、做试点、写申报书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5972175" y="3571875"/>
            <a:ext cx="29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3A8A"/>
                </a:solidFill>
                <a:latin typeface="Space Grotesk"/>
                <a:ea typeface="Space Grotesk"/>
              </a:rPr>
              <a:t>L</a:t>
            </a:r>
            <a:r>
              <a:rPr lang="en-US" sz="1125" b="1">
                <a:solidFill>
                  <a:srgbClr val="1E3A8A"/>
                </a:solidFill>
                <a:latin typeface="Space Grotesk"/>
                <a:ea typeface="Space Grotesk"/>
              </a:rPr>
              <a:t>2-3</a:t>
            </a:r>
            <a:endParaRPr/>
          </a:p>
        </p:txBody>
      </p:sp>
      <p:sp>
        <p:nvSpPr>
          <p:cNvPr id="425" name=""/>
          <p:cNvSpPr/>
          <p:nvPr/>
        </p:nvSpPr>
        <p:spPr>
          <a:xfrm rot="0" flipH="0" flipV="0">
            <a:off x="685800" y="4572000"/>
            <a:ext cx="5829300" cy="1581150"/>
          </a:xfrm>
          <a:prstGeom prst="roundRect">
            <a:avLst>
              <a:gd name="adj" fmla="val 963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26" name=""/>
          <p:cNvSpPr/>
          <p:nvPr/>
        </p:nvSpPr>
        <p:spPr>
          <a:xfrm rot="0" flipH="0" flipV="0">
            <a:off x="933450" y="5362575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1200150" y="5238750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FFFFF"/>
                </a:solidFill>
                <a:latin typeface="PingFang SC"/>
                <a:ea typeface="PingFang SC"/>
              </a:rPr>
              <a:t>高级</a:t>
            </a:r>
            <a:r>
              <a:rPr lang="en-US" sz="1575" b="1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575" b="1">
                <a:solidFill>
                  <a:srgbClr val="FFFFFF"/>
                </a:solidFill>
                <a:latin typeface="PingFang SC"/>
                <a:ea typeface="PingFang SC"/>
              </a:rPr>
              <a:t>规划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2819400" y="5181600"/>
            <a:ext cx="3086100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回答「未来怎么变、怎么合规」：梯度、架构、组织、治理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096000" y="52768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8C471"/>
                </a:solidFill>
                <a:latin typeface="Space Grotesk"/>
                <a:ea typeface="Space Grotesk"/>
              </a:rPr>
              <a:t>L</a:t>
            </a:r>
            <a:r>
              <a:rPr lang="en-US" sz="1125" b="1">
                <a:solidFill>
                  <a:srgbClr val="F8C471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6743700" y="1276350"/>
            <a:ext cx="4762500" cy="48768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6991350" y="1485900"/>
            <a:ext cx="4267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面向高管的三条前瞻信号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6991350" y="1809750"/>
            <a:ext cx="4267200" cy="162877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「十五五」规划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智能制造与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AI+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制造仍是主线，标杆示范扩围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算法备案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对客生成式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的准入门槛，路线图预留合规工期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数据出境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用境外云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大模型前先做安全评估，别等出事</a:t>
            </a:r>
            <a:endParaRPr/>
          </a:p>
          <a:p>
            <a:pPr>
              <a:lnSpc>
                <a:spcPct val="190000"/>
              </a:lnSpc>
            </a:pPr>
            <a:r>
              <a:rPr sz="1125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一句话：政策定的是下限，你要的是上限。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22 / 24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5" name="" descr="const deliv = [&#10;    { icon: 'book', t: '学员手册', d: '四维度自评模板 + 八支柱工具包' },&#10;    { icon: 'star', t: '标杆案例集', d: '陕汽 / 西门子 / 博世等 12 个案例卡' },&#10;    { icon: 'chart-line', t: 'ROI 看板模板', d: '业务五指标 + MAU/MEU 分层' },&#10;    { icon: 'toolbox', t: '八支柱工具包', d: '倡导者手册 / CoP 议程 / 工具政策范本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考核与交付物&lt;/Text&gt;&#10;            &lt;Text style={{ fontSize: 17, color: '#64748B', marginTop: 4 }}&gt;不考选择题 —— 考「你那份路线图能不能过董事会」&lt;/Text&gt;&#10;        &lt;/Box&gt;&#10;    &lt;/Box&gt;&#10;    &lt;Box style={{ flex: 1, flexDirection: 'row', gap: 24, marginTop: 14 }}&gt;&#10;        &lt;Box style={{ flex: 1, background: '#1E3A8A', borderRadius: 18, padding: '28px 32px', flexDirection: 'column', boxShadow: '0 8px 28px rgba(30,58,138,0.25)' }}&gt;&#10;            &lt;Box style={{ flexDirection: 'row', alignItems: 'center', gap: 12 }}&gt;&#10;                &lt;FAIcon name=&quot;gavel&quot; style={{ fill: '#F59E0B', width: 30, height: 30 }} /&gt;&#10;                &lt;Text style={{ fontSize: 24, fontWeight: 'bold', color: '#FFFFFF' }}&gt;考核方式&lt;/Text&gt;&#10;            &lt;/Box&gt;&#10;            &lt;Text style={{ fontSize: 19, color: '#DCE9FB', lineHeight: 1.9, marginTop: 18 }}&gt;① 规划方案（书面）：自评 + ROI + 路线图&lt;br /&gt;② 路线图答辩（现场）：高管评委组质询&lt;br /&gt;③ 三问：钱从哪来？人谁来推？错了谁担责？&lt;/Text&gt;&#10;            &lt;Box style={{ marginTop: 'auto', padding: '14px 20px', background: 'rgba(6,182,212,0.18)', borderRadius: 12, border: '1px solid rgba(6,182,212,0.6)' }}&gt;&#10;                &lt;Text style={{ fontSize: 18, fontWeight: 'bold', color: '#7FD9F0' }}&gt;通过标准：评委组 ≥ 3/5 票 —— 授「AI 规划师」认证&lt;/Text&gt;&#10;            &lt;/Box&gt;&#10;        &lt;/Box&gt;&#10;        &lt;Box style={{ flex: 1, flexDirection: 'column', gap: 12 }}&gt;&#10;            &lt;Text style={{ fontSize: 18, fontWeight: 'bold', color: '#1E3A8A' }}&gt;随课交付物（带走的四件）&lt;/Text&gt;&#10;            {deliv.map((d, i) =&gt; (&#10;                &lt;Box key={i} style={{ flex: 1, background: '#FFFFFF', borderRadius: 12, border: '1px solid #E2E8F0', flexDirection: 'row', alignItems: 'center', gap: 14, padding: '0 20px', boxShadow: '0 2px 10px rgba(30,58,138,0.04)' }}&gt;&#10;                    &lt;Box style={{ width: 44, height: 44, borderRadius: 11, background: '#FEEFE0', justifyContent: 'center', alignItems: 'center' }}&gt;&#10;                        &lt;FAIcon name={d.icon} style={{ fill: '#F59E0B', width: 22, height: 22 }} /&gt;&#10;                    &lt;/Box&gt;&#10;                    &lt;Box style={{ width: 150 }}&gt;&#10;                        &lt;Text style={{ fontSize: 17, fontWeight: 'bold', color: '#1E3A8A' }}&gt;{d.t}&lt;/Text&gt;&#10;                    &lt;/Box&gt;&#10;                    &lt;Text style={{ flex: 1, fontSize: 14, color: '#43566b' }}&gt;{d.d}&lt;/Text&gt;&#10;                &lt;/Box&gt;&#10;            ))}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23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37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8385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考核与交付物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838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不考选择题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考「你那份路线图能不能过董事会」</a:t>
            </a:r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685800" y="1276350"/>
            <a:ext cx="5295900" cy="4876800"/>
          </a:xfrm>
          <a:prstGeom prst="roundRect">
            <a:avLst>
              <a:gd name="adj" fmla="val 3516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90600" y="1543050"/>
            <a:ext cx="285750" cy="285750"/>
          </a:xfrm>
          <a:prstGeom prst="rect">
            <a:avLst/>
          </a:prstGeom>
          <a:ln/>
        </p:spPr>
      </p:pic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390650" y="1552575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PingFang SC"/>
                <a:ea typeface="PingFang SC"/>
              </a:rPr>
              <a:t>考核方式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990600" y="2000250"/>
            <a:ext cx="4686300" cy="123825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425">
                <a:solidFill>
                  <a:srgbClr val="DCE9FB"/>
                </a:solidFill>
                <a:latin typeface="PingFang SC"/>
                <a:ea typeface="PingFang SC"/>
              </a:rPr>
              <a:t>① </a:t>
            </a:r>
            <a:r>
              <a:rPr lang="zh-CN" sz="1425">
                <a:solidFill>
                  <a:srgbClr val="DCE9FB"/>
                </a:solidFill>
                <a:latin typeface="PingFang SC"/>
                <a:ea typeface="PingFang SC"/>
              </a:rPr>
              <a:t>规划方案（书面）：自评</a:t>
            </a:r>
            <a:r>
              <a:rPr lang="en-US" sz="1425">
                <a:solidFill>
                  <a:srgbClr val="DCE9FB"/>
                </a:solidFill>
                <a:latin typeface="PingFang SC"/>
                <a:ea typeface="PingFang SC"/>
              </a:rPr>
              <a:t> + ROI + </a:t>
            </a:r>
            <a:r>
              <a:rPr lang="zh-CN" sz="1425">
                <a:solidFill>
                  <a:srgbClr val="DCE9FB"/>
                </a:solidFill>
                <a:latin typeface="PingFang SC"/>
                <a:ea typeface="PingFang SC"/>
              </a:rPr>
              <a:t>路线图</a:t>
            </a:r>
            <a:endParaRPr/>
          </a:p>
          <a:p>
            <a:pPr>
              <a:lnSpc>
                <a:spcPct val="190000"/>
              </a:lnSpc>
            </a:pPr>
            <a:r>
              <a:rPr lang="en-US" sz="1425">
                <a:solidFill>
                  <a:srgbClr val="DCE9FB"/>
                </a:solidFill>
                <a:latin typeface="PingFang SC"/>
                <a:ea typeface="PingFang SC"/>
              </a:rPr>
              <a:t>② </a:t>
            </a:r>
            <a:r>
              <a:rPr lang="zh-CN" sz="1425">
                <a:solidFill>
                  <a:srgbClr val="DCE9FB"/>
                </a:solidFill>
                <a:latin typeface="PingFang SC"/>
                <a:ea typeface="PingFang SC"/>
              </a:rPr>
              <a:t>路线图答辩（现场）：高管评委组质询</a:t>
            </a:r>
            <a:endParaRPr/>
          </a:p>
          <a:p>
            <a:pPr>
              <a:lnSpc>
                <a:spcPct val="190000"/>
              </a:lnSpc>
            </a:pPr>
            <a:r>
              <a:rPr lang="en-US" sz="1425">
                <a:solidFill>
                  <a:srgbClr val="DCE9FB"/>
                </a:solidFill>
                <a:latin typeface="PingFang SC"/>
                <a:ea typeface="PingFang SC"/>
              </a:rPr>
              <a:t>③ </a:t>
            </a:r>
            <a:r>
              <a:rPr lang="zh-CN" sz="1425">
                <a:solidFill>
                  <a:srgbClr val="DCE9FB"/>
                </a:solidFill>
                <a:latin typeface="PingFang SC"/>
                <a:ea typeface="PingFang SC"/>
              </a:rPr>
              <a:t>三问：钱从哪来？人谁来推？错了谁担责？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990600" y="5410200"/>
            <a:ext cx="4686300" cy="476250"/>
          </a:xfrm>
          <a:prstGeom prst="roundRect">
            <a:avLst>
              <a:gd name="adj" fmla="val 24000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181100" y="5543550"/>
            <a:ext cx="4305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通过标准：评委组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 ≥ 3/5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票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授「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AI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规划师」认证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210300" y="1276350"/>
            <a:ext cx="5295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随课交付物（带走的四件）</a:t>
            </a:r>
            <a:endParaRPr/>
          </a:p>
        </p:txBody>
      </p:sp>
      <p:sp>
        <p:nvSpPr>
          <p:cNvPr id="447" name=""/>
          <p:cNvSpPr/>
          <p:nvPr/>
        </p:nvSpPr>
        <p:spPr>
          <a:xfrm rot="0" flipH="0" flipV="0">
            <a:off x="6210300" y="1600200"/>
            <a:ext cx="5295900" cy="1057275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6400800" y="19240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05575" y="2028825"/>
            <a:ext cx="209550" cy="209550"/>
          </a:xfrm>
          <a:prstGeom prst="rect">
            <a:avLst/>
          </a:prstGeom>
          <a:ln/>
        </p:spPr>
      </p:pic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6953250" y="20288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学员手册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8515350" y="2047875"/>
            <a:ext cx="2800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四维度自评模板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八支柱工具包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6210300" y="2771775"/>
            <a:ext cx="52959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53" name=""/>
          <p:cNvSpPr/>
          <p:nvPr/>
        </p:nvSpPr>
        <p:spPr>
          <a:xfrm rot="0" flipH="0" flipV="0">
            <a:off x="6400800" y="30861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05575" y="3190875"/>
            <a:ext cx="209550" cy="209550"/>
          </a:xfrm>
          <a:prstGeom prst="rect">
            <a:avLst/>
          </a:prstGeom>
          <a:ln/>
        </p:spPr>
      </p:pic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6953250" y="32004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标杆案例集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8515350" y="3219450"/>
            <a:ext cx="2800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陕汽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西门子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博世等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12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个案例卡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210300" y="3933825"/>
            <a:ext cx="5295900" cy="1057275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6400800" y="425767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505575" y="4362450"/>
            <a:ext cx="209550" cy="209550"/>
          </a:xfrm>
          <a:prstGeom prst="rect">
            <a:avLst/>
          </a:prstGeom>
          <a:ln/>
        </p:spPr>
      </p:pic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6953250" y="436245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ROI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看板模板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8515350" y="4381500"/>
            <a:ext cx="2800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业务五指标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MAU/MEU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分层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6210300" y="5105400"/>
            <a:ext cx="52959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6400800" y="541972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505575" y="5524500"/>
            <a:ext cx="209550" cy="209550"/>
          </a:xfrm>
          <a:prstGeom prst="rect">
            <a:avLst/>
          </a:prstGeom>
          <a:ln/>
        </p:spPr>
      </p:pic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6953250" y="55340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八支柱工具包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8515350" y="5553075"/>
            <a:ext cx="2800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倡导者手册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CoP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议程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工具政策范本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23 / 24</a:t>
            </a:r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69" name="" descr="&lt;Slide style={{ width: '1280px', height: '720px', position: 'relative', background: '#1E3A8A', overflow: 'hidden', fontFamily: 'PingFang SC, Source Han Sans SC, sans-serif' }}&gt;&#10;    &lt;Image src=&quot;assets/hero_cover.png&quot; style={{ position: 'absolute', top: 0, left: 0, width: '1280px', height: '720px', objectFit: 'cover', opacity: 0.4 }} /&gt;&#10;    &lt;Box style={{ position: 'absolute', top: 0, left: 0, width: '1280px', height: '720px', background: 'linear-gradient(180deg, rgba(15,23,42,0.7) 0%, rgba(30,58,138,0.85) 100%)' }} /&gt;&#10;    &lt;Box style={{ position: 'relative', zIndex: 1, height: '720px', padding: '0 84px', justifyContent: 'center', alignItems: 'center', textAlign: 'center' }}&gt;&#10;        &lt;Text style={{ fontSize: 52, fontWeight: 'bold', color: '#FFFFFF', lineHeight: 1.3, textShadow: '0 4px 24px rgba(0,0,0,0.35)' }}&gt;先算清账，再搭架构，&lt;br /&gt;再推组织，再守底线。&lt;/Text&gt;&#10;        &lt;Box style={{ width: 90, height: 4, background: '#F59E0B', marginTop: 34 }} /&gt;&#10;        &lt;Text style={{ fontSize: 22, color: '#DCE9FB', marginTop: 28, fontWeight: '600' }}&gt;AI 规划与治理 · 高级 · 完&lt;/Text&gt;&#10;        &lt;Box style={{ flexDirection: 'row', gap: 14, marginTop: 26 }}&gt;&#10;            &lt;Box style={{ padding: '10px 22px', background: 'rgba(6,182,212,0.18)', border: '1px solid rgba(6,182,212,0.6)', borderRadius: 999 }}&gt;&#10;                &lt;Text style={{ fontSize: 16, color: '#7FD9F0', fontWeight: 'bold' }}&gt;初级：会用&lt;/Text&gt;&#10;            &lt;/Box&gt;&#10;            &lt;Text style={{ fontSize: 18, color: '#7FD9F0', alignSelf: 'center' }}&gt;→&lt;/Text&gt;&#10;            &lt;Box style={{ padding: '10px 22px', background: 'rgba(6,182,212,0.18)', border: '1px solid rgba(6,182,212,0.6)', borderRadius: 999 }}&gt;&#10;                &lt;Text style={{ fontSize: 16, color: '#7FD9F0', fontWeight: 'bold' }}&gt;中级：能落&lt;/Text&gt;&#10;            &lt;/Box&gt;&#10;            &lt;Text style={{ fontSize: 18, color: '#7FD9F0', alignSelf: 'center' }}&gt;→&lt;/Text&gt;&#10;            &lt;Box style={{ padding: '10px 22px', background: 'rgba(245,158,11,0.2)', border: '1px solid rgba(245,158,11,0.6)', borderRadius: 999 }}&gt;&#10;                &lt;Text style={{ fontSize: 16, color: '#F8C471', fontWeight: 'bold' }}&gt;高级：善谋&lt;/Text&gt;&#10;            &lt;/Box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471" name=""/>
          <p:cNvPicPr>
            <a:picLocks noChangeAspect="1"/>
          </p:cNvPicPr>
          <p:nvPr/>
        </p:nvPicPr>
        <p:blipFill>
          <a:blip r:embed="rId1">
            <a:alphaModFix amt="40000"/>
          </a:blip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70000"/>
                </a:srgbClr>
              </a:gs>
              <a:gs pos="100000">
                <a:srgbClr val="1E3A8A">
                  <a:alpha val="85000"/>
                </a:srgbClr>
              </a:gs>
            </a:gsLst>
            <a:lin ang="5400000" scaled="1"/>
          </a:gra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3619500" y="1895475"/>
            <a:ext cx="4953000" cy="1552575"/>
          </a:xfrm>
          <a:prstGeom prst="rect"/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先算清账，再搭架构，</a:t>
            </a:r>
            <a:endParaRPr/>
          </a:p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再推组织，再守底线。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5667375" y="3771900"/>
            <a:ext cx="85725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4876800" y="4076700"/>
            <a:ext cx="24384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AI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规划与治理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高级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完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3886200" y="4581525"/>
            <a:ext cx="1181100" cy="381000"/>
          </a:xfrm>
          <a:prstGeom prst="roundRect">
            <a:avLst>
              <a:gd name="adj" fmla="val 2497500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4095750" y="4676775"/>
            <a:ext cx="7620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初级：会用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5200650" y="4667250"/>
            <a:ext cx="1714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sz="1350">
                <a:solidFill>
                  <a:srgbClr val="7FD9F0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5505450" y="4581525"/>
            <a:ext cx="1181100" cy="381000"/>
          </a:xfrm>
          <a:prstGeom prst="roundRect">
            <a:avLst>
              <a:gd name="adj" fmla="val 2497500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5715000" y="4676775"/>
            <a:ext cx="7620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中级：能落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819900" y="4667250"/>
            <a:ext cx="1714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sz="1350">
                <a:solidFill>
                  <a:srgbClr val="7FD9F0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7124700" y="4581525"/>
            <a:ext cx="1181100" cy="381000"/>
          </a:xfrm>
          <a:prstGeom prst="roundRect">
            <a:avLst>
              <a:gd name="adj" fmla="val 2497500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334250" y="4676775"/>
            <a:ext cx="7620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高级：善谋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2026-08-24T16:06:30Z</dcterms:created>
  <dcterms:modified xsi:type="dcterms:W3CDTF">2026-08-24T16:06:30Z</dcterms:modified>
</cp:coreProperties>
</file>