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media/image10.svg" ContentType="image/svg+xml"/>
  <Override PartName="/ppt/slides/media/image11.svg" ContentType="image/svg+xml"/>
  <Override PartName="/ppt/slides/media/image12.svg" ContentType="image/svg+xml"/>
  <Override PartName="/ppt/slides/media/image13.svg" ContentType="image/svg+xml"/>
  <Override PartName="/ppt/slides/media/image14.svg" ContentType="image/svg+xml"/>
  <Override PartName="/ppt/slides/media/image15.svg" ContentType="image/svg+xml"/>
  <Override PartName="/ppt/slides/media/image16.svg" ContentType="image/svg+xml"/>
  <Override PartName="/ppt/slides/media/image17.svg" ContentType="image/svg+xml"/>
  <Override PartName="/ppt/slides/media/image18.svg" ContentType="image/svg+xml"/>
  <Override PartName="/ppt/slides/media/image19.svg" ContentType="image/svg+xml"/>
  <Override PartName="/ppt/slides/media/image2.svg" ContentType="image/svg+xml"/>
  <Override PartName="/ppt/slides/media/image20.svg" ContentType="image/svg+xml"/>
  <Override PartName="/ppt/slides/media/image21.svg" ContentType="image/svg+xml"/>
  <Override PartName="/ppt/slides/media/image22.svg" ContentType="image/svg+xml"/>
  <Override PartName="/ppt/slides/media/image23.svg" ContentType="image/svg+xml"/>
  <Override PartName="/ppt/slides/media/image24.svg" ContentType="image/svg+xml"/>
  <Override PartName="/ppt/slides/media/image25.svg" ContentType="image/svg+xml"/>
  <Override PartName="/ppt/slides/media/image26.svg" ContentType="image/svg+xml"/>
  <Override PartName="/ppt/slides/media/image27.svg" ContentType="image/svg+xml"/>
  <Override PartName="/ppt/slides/media/image28.svg" ContentType="image/svg+xml"/>
  <Override PartName="/ppt/slides/media/image29.svg" ContentType="image/svg+xml"/>
  <Override PartName="/ppt/slides/media/image3.svg" ContentType="image/svg+xml"/>
  <Override PartName="/ppt/slides/media/image30.svg" ContentType="image/svg+xml"/>
  <Override PartName="/ppt/slides/media/image31.svg" ContentType="image/svg+xml"/>
  <Override PartName="/ppt/slides/media/image32.svg" ContentType="image/svg+xml"/>
  <Override PartName="/ppt/slides/media/image33.svg" ContentType="image/svg+xml"/>
  <Override PartName="/ppt/slides/media/image34.svg" ContentType="image/svg+xml"/>
  <Override PartName="/ppt/slides/media/image35.svg" ContentType="image/svg+xml"/>
  <Override PartName="/ppt/slides/media/image36.svg" ContentType="image/svg+xml"/>
  <Override PartName="/ppt/slides/media/image37.svg" ContentType="image/svg+xml"/>
  <Override PartName="/ppt/slides/media/image38.svg" ContentType="image/svg+xml"/>
  <Override PartName="/ppt/slides/media/image39.svg" ContentType="image/svg+xml"/>
  <Override PartName="/ppt/slides/media/image4.svg" ContentType="image/svg+xml"/>
  <Override PartName="/ppt/slides/media/image5.svg" ContentType="image/svg+xml"/>
  <Override PartName="/ppt/slides/media/image6.svg" ContentType="image/svg+xml"/>
  <Override PartName="/ppt/slides/media/image7.svg" ContentType="image/svg+xml"/>
  <Override PartName="/ppt/slides/media/image8.svg" ContentType="image/svg+xml"/>
  <Override PartName="/ppt/slides/media/image9.svg" ContentType="image/svg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0" Type="http://schemas.openxmlformats.org/officeDocument/2006/relationships/officeDocument" Target="ppt/presentation.xml"/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firstSlideNum="1">
  <p:sldMasterIdLst>
    <p:sldMasterId id="2147483648" r:id="rId0"/>
  </p:sldMasterIdLst>
  <p:notesMasterIdLst>
    <p:notesMasterId r:id="rId25"/>
  </p:notesMasterIdLst>
  <p:sldIdLst>
    <p:sldId id="256" r:id="rId1"/>
    <p:sldId id="257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7" r:id="rId12"/>
    <p:sldId id="268" r:id="rId13"/>
    <p:sldId id="269" r:id="rId14"/>
    <p:sldId id="270" r:id="rId15"/>
    <p:sldId id="271" r:id="rId16"/>
    <p:sldId id="272" r:id="rId17"/>
    <p:sldId id="273" r:id="rId18"/>
    <p:sldId id="274" r:id="rId19"/>
    <p:sldId id="275" r:id="rId20"/>
    <p:sldId id="276" r:id="rId21"/>
    <p:sldId id="277" r:id="rId22"/>
    <p:sldId id="278" r:id="rId23"/>
    <p:sldId id="279" r:id="rId24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uri="{E76CE94A-603C-4142-B9EB-6D1370010A27}"/>
    <p:ext uri="{D31A062A-798A-4329-ABDD-BBA856620510}"/>
    <p:ext uri="{FD5EFAAD-0ECE-453E-9831-46B23BE46B34}"/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27" d="100"/>
          <a:sy n="127" d="100"/>
        </p:scale>
        <p:origin x="536" y="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0" Type="http://schemas.openxmlformats.org/officeDocument/2006/relationships/slideMaster" Target="slideMasters/slideMaster1.xml"/><Relationship Id="rId1" Type="http://schemas.openxmlformats.org/officeDocument/2006/relationships/slide" Target="slides/slide1.xml"/><Relationship Id="rId2" Type="http://schemas.openxmlformats.org/officeDocument/2006/relationships/slide" Target="slides/slide2.xml"/><Relationship Id="rId3" Type="http://schemas.openxmlformats.org/officeDocument/2006/relationships/slide" Target="slides/slide3.xml"/><Relationship Id="rId4" Type="http://schemas.openxmlformats.org/officeDocument/2006/relationships/slide" Target="slides/slide4.xml"/><Relationship Id="rId5" Type="http://schemas.openxmlformats.org/officeDocument/2006/relationships/slide" Target="slides/slide5.xml"/><Relationship Id="rId6" Type="http://schemas.openxmlformats.org/officeDocument/2006/relationships/slide" Target="slides/slide6.xml"/><Relationship Id="rId7" Type="http://schemas.openxmlformats.org/officeDocument/2006/relationships/slide" Target="slides/slide7.xml"/><Relationship Id="rId8" Type="http://schemas.openxmlformats.org/officeDocument/2006/relationships/slide" Target="slides/slide8.xml"/><Relationship Id="rId9" Type="http://schemas.openxmlformats.org/officeDocument/2006/relationships/slide" Target="slides/slide9.xml"/><Relationship Id="rId10" Type="http://schemas.openxmlformats.org/officeDocument/2006/relationships/slide" Target="slides/slide10.xml"/><Relationship Id="rId11" Type="http://schemas.openxmlformats.org/officeDocument/2006/relationships/slide" Target="slides/slide11.xml"/><Relationship Id="rId12" Type="http://schemas.openxmlformats.org/officeDocument/2006/relationships/slide" Target="slides/slide12.xml"/><Relationship Id="rId13" Type="http://schemas.openxmlformats.org/officeDocument/2006/relationships/slide" Target="slides/slide13.xml"/><Relationship Id="rId14" Type="http://schemas.openxmlformats.org/officeDocument/2006/relationships/slide" Target="slides/slide14.xml"/><Relationship Id="rId15" Type="http://schemas.openxmlformats.org/officeDocument/2006/relationships/slide" Target="slides/slide15.xml"/><Relationship Id="rId16" Type="http://schemas.openxmlformats.org/officeDocument/2006/relationships/slide" Target="slides/slide16.xml"/><Relationship Id="rId17" Type="http://schemas.openxmlformats.org/officeDocument/2006/relationships/slide" Target="slides/slide17.xml"/><Relationship Id="rId18" Type="http://schemas.openxmlformats.org/officeDocument/2006/relationships/slide" Target="slides/slide18.xml"/><Relationship Id="rId19" Type="http://schemas.openxmlformats.org/officeDocument/2006/relationships/slide" Target="slides/slide19.xml"/><Relationship Id="rId20" Type="http://schemas.openxmlformats.org/officeDocument/2006/relationships/slide" Target="slides/slide20.xml"/><Relationship Id="rId21" Type="http://schemas.openxmlformats.org/officeDocument/2006/relationships/slide" Target="slides/slide21.xml"/><Relationship Id="rId22" Type="http://schemas.openxmlformats.org/officeDocument/2006/relationships/slide" Target="slides/slide22.xml"/><Relationship Id="rId23" Type="http://schemas.openxmlformats.org/officeDocument/2006/relationships/slide" Target="slides/slide23.xml"/><Relationship Id="rId24" Type="http://schemas.openxmlformats.org/officeDocument/2006/relationships/slide" Target="slides/slide24.xml"/><Relationship Id="rId25" Type="http://schemas.openxmlformats.org/officeDocument/2006/relationships/notesMaster" Target="notesMasters/notesMaster1.xml"/><Relationship Id="rId26" Type="http://schemas.openxmlformats.org/officeDocument/2006/relationships/presProps" Target="presProps.xml"/><Relationship Id="rId27" Type="http://schemas.openxmlformats.org/officeDocument/2006/relationships/tableStyles" Target="tableStyles.xml"/><Relationship Id="rId28" Type="http://schemas.openxmlformats.org/officeDocument/2006/relationships/viewProps" Target="viewProps.xml"/></Relationships>
</file>

<file path=ppt/notesMasters/_rels/notesMaster1.xml.rels><?xml version='1.0' encoding='UTF-8' standalone='yes'?>
<Relationships xmlns="http://schemas.openxmlformats.org/package/2006/relationships"><Relationship Id="rId0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0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p="http://schemas.openxmlformats.org/presentationml/2006/main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0" Type="http://schemas.openxmlformats.org/officeDocument/2006/relationships/slideLayout" Target="../slideLayouts/slideLayout1.xml"/><Relationship Id="rId1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0"/>
  </p:sldLayoutIdLst>
  <p:hf sldNum="0" hdr="0" ftr="0" dt="0"/>
  <p:txStyles>
    <p:titleStyle>
      <a:lvl1pPr algn="ctr" defTabSz="914400" rtl="0" eaLnBrk="1" latinLnBrk="0" hangingPunct="1">
        <a:spcBef>
          <a:spcPct val="1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0" Type="http://schemas.openxmlformats.org/officeDocument/2006/relationships/slideLayout" Target="../slideLayouts/slideLayout1.xml"/><Relationship Id="rId1" Type="http://schemas.openxmlformats.org/officeDocument/2006/relationships/image" Target="media/image1.png"/></Relationships>
</file>

<file path=ppt/slides/_rels/slide2.xml.rels><?xml version='1.0' encoding='UTF-8' standalone='yes'?>
<Relationships xmlns="http://schemas.openxmlformats.org/package/2006/relationships"><Relationship Id="rId0" Type="http://schemas.openxmlformats.org/officeDocument/2006/relationships/slideLayout" Target="../slideLayouts/slideLayout1.xml"/><Relationship Id="rId1" Type="http://schemas.openxmlformats.org/officeDocument/2006/relationships/image" Target="media/image2.svg"/></Relationships>
</file>

<file path=ppt/slides/_rels/slide3.xml.rels><?xml version='1.0' encoding='UTF-8' standalone='yes'?>
<Relationships xmlns="http://schemas.openxmlformats.org/package/2006/relationships"><Relationship Id="rId0" Type="http://schemas.openxmlformats.org/officeDocument/2006/relationships/slideLayout" Target="../slideLayouts/slideLayout1.xml"/><Relationship Id="rId1" Type="http://schemas.openxmlformats.org/officeDocument/2006/relationships/image" Target="media/image21.svg"/><Relationship Id="rId2" Type="http://schemas.openxmlformats.org/officeDocument/2006/relationships/image" Target="media/image28.svg"/><Relationship Id="rId3" Type="http://schemas.openxmlformats.org/officeDocument/2006/relationships/image" Target="media/image11.svg"/><Relationship Id="rId4" Type="http://schemas.openxmlformats.org/officeDocument/2006/relationships/image" Target="media/image18.svg"/></Relationships>
</file>

<file path=ppt/slides/_rels/slide4.xml.rels><?xml version='1.0' encoding='UTF-8' standalone='yes'?>
<Relationships xmlns="http://schemas.openxmlformats.org/package/2006/relationships"><Relationship Id="rId0" Type="http://schemas.openxmlformats.org/officeDocument/2006/relationships/slideLayout" Target="../slideLayouts/slideLayout1.xml"/><Relationship Id="rId1" Type="http://schemas.openxmlformats.org/officeDocument/2006/relationships/image" Target="media/image1.png"/></Relationships>
</file>

<file path=ppt/slides/_rels/slide5.xml.rels><?xml version='1.0' encoding='UTF-8' standalone='yes'?>
<Relationships xmlns="http://schemas.openxmlformats.org/package/2006/relationships"><Relationship Id="rId0" Type="http://schemas.openxmlformats.org/officeDocument/2006/relationships/slideLayout" Target="../slideLayouts/slideLayout1.xml"/></Relationships>
</file>

<file path=ppt/slides/_rels/slide6.xml.rels><?xml version='1.0' encoding='UTF-8' standalone='yes'?>
<Relationships xmlns="http://schemas.openxmlformats.org/package/2006/relationships"><Relationship Id="rId0" Type="http://schemas.openxmlformats.org/officeDocument/2006/relationships/slideLayout" Target="../slideLayouts/slideLayout1.xml"/><Relationship Id="rId1" Type="http://schemas.openxmlformats.org/officeDocument/2006/relationships/image" Target="media/image29.svg"/><Relationship Id="rId2" Type="http://schemas.openxmlformats.org/officeDocument/2006/relationships/image" Target="media/image30.svg"/><Relationship Id="rId3" Type="http://schemas.openxmlformats.org/officeDocument/2006/relationships/image" Target="media/image31.svg"/><Relationship Id="rId4" Type="http://schemas.openxmlformats.org/officeDocument/2006/relationships/image" Target="media/image11.svg"/><Relationship Id="rId5" Type="http://schemas.openxmlformats.org/officeDocument/2006/relationships/image" Target="media/image9.svg"/></Relationships>
</file>

<file path=ppt/slides/_rels/slide7.xml.rels><?xml version='1.0' encoding='UTF-8' standalone='yes'?>
<Relationships xmlns="http://schemas.openxmlformats.org/package/2006/relationships"><Relationship Id="rId0" Type="http://schemas.openxmlformats.org/officeDocument/2006/relationships/slideLayout" Target="../slideLayouts/slideLayout1.xml"/><Relationship Id="rId1" Type="http://schemas.openxmlformats.org/officeDocument/2006/relationships/image" Target="media/image1.png"/></Relationships>
</file>

<file path=ppt/slides/_rels/slide8.xml.rels><?xml version='1.0' encoding='UTF-8' standalone='yes'?>
<Relationships xmlns="http://schemas.openxmlformats.org/package/2006/relationships"><Relationship Id="rId0" Type="http://schemas.openxmlformats.org/officeDocument/2006/relationships/slideLayout" Target="../slideLayouts/slideLayout1.xml"/><Relationship Id="rId1" Type="http://schemas.openxmlformats.org/officeDocument/2006/relationships/image" Target="media/image32.svg"/><Relationship Id="rId2" Type="http://schemas.openxmlformats.org/officeDocument/2006/relationships/image" Target="media/image33.svg"/><Relationship Id="rId3" Type="http://schemas.openxmlformats.org/officeDocument/2006/relationships/image" Target="media/image34.svg"/></Relationships>
</file>

<file path=ppt/slides/_rels/slide9.xml.rels><?xml version='1.0' encoding='UTF-8' standalone='yes'?>
<Relationships xmlns="http://schemas.openxmlformats.org/package/2006/relationships"><Relationship Id="rId0" Type="http://schemas.openxmlformats.org/officeDocument/2006/relationships/slideLayout" Target="../slideLayouts/slideLayout1.xml"/><Relationship Id="rId1" Type="http://schemas.openxmlformats.org/officeDocument/2006/relationships/image" Target="media/image35.svg"/><Relationship Id="rId2" Type="http://schemas.openxmlformats.org/officeDocument/2006/relationships/image" Target="media/image36.svg"/><Relationship Id="rId3" Type="http://schemas.openxmlformats.org/officeDocument/2006/relationships/image" Target="media/image31.svg"/><Relationship Id="rId4" Type="http://schemas.openxmlformats.org/officeDocument/2006/relationships/image" Target="media/image37.svg"/><Relationship Id="rId5" Type="http://schemas.openxmlformats.org/officeDocument/2006/relationships/image" Target="media/image38.svg"/><Relationship Id="rId6" Type="http://schemas.openxmlformats.org/officeDocument/2006/relationships/image" Target="media/image39.svg"/></Relationships>
</file>

<file path=ppt/slides/_rels/slide10.xml.rels><?xml version='1.0' encoding='UTF-8' standalone='yes'?>
<Relationships xmlns="http://schemas.openxmlformats.org/package/2006/relationships"><Relationship Id="rId0" Type="http://schemas.openxmlformats.org/officeDocument/2006/relationships/slideLayout" Target="../slideLayouts/slideLayout1.xml"/><Relationship Id="rId1" Type="http://schemas.openxmlformats.org/officeDocument/2006/relationships/image" Target="media/image1.png"/></Relationships>
</file>

<file path=ppt/slides/_rels/slide11.xml.rels><?xml version='1.0' encoding='UTF-8' standalone='yes'?>
<Relationships xmlns="http://schemas.openxmlformats.org/package/2006/relationships"><Relationship Id="rId0" Type="http://schemas.openxmlformats.org/officeDocument/2006/relationships/slideLayout" Target="../slideLayouts/slideLayout1.xml"/><Relationship Id="rId1" Type="http://schemas.openxmlformats.org/officeDocument/2006/relationships/image" Target="media/image2.svg"/><Relationship Id="rId2" Type="http://schemas.openxmlformats.org/officeDocument/2006/relationships/image" Target="media/image3.svg"/><Relationship Id="rId3" Type="http://schemas.openxmlformats.org/officeDocument/2006/relationships/image" Target="media/image4.svg"/><Relationship Id="rId4" Type="http://schemas.openxmlformats.org/officeDocument/2006/relationships/image" Target="media/image5.svg"/></Relationships>
</file>

<file path=ppt/slides/_rels/slide12.xml.rels><?xml version='1.0' encoding='UTF-8' standalone='yes'?>
<Relationships xmlns="http://schemas.openxmlformats.org/package/2006/relationships"><Relationship Id="rId0" Type="http://schemas.openxmlformats.org/officeDocument/2006/relationships/slideLayout" Target="../slideLayouts/slideLayout1.xml"/><Relationship Id="rId1" Type="http://schemas.openxmlformats.org/officeDocument/2006/relationships/image" Target="media/image6.svg"/><Relationship Id="rId2" Type="http://schemas.openxmlformats.org/officeDocument/2006/relationships/image" Target="media/image4.svg"/><Relationship Id="rId3" Type="http://schemas.openxmlformats.org/officeDocument/2006/relationships/image" Target="media/image7.svg"/><Relationship Id="rId4" Type="http://schemas.openxmlformats.org/officeDocument/2006/relationships/image" Target="media/image8.svg"/></Relationships>
</file>

<file path=ppt/slides/_rels/slide13.xml.rels><?xml version='1.0' encoding='UTF-8' standalone='yes'?>
<Relationships xmlns="http://schemas.openxmlformats.org/package/2006/relationships"><Relationship Id="rId0" Type="http://schemas.openxmlformats.org/officeDocument/2006/relationships/slideLayout" Target="../slideLayouts/slideLayout1.xml"/><Relationship Id="rId1" Type="http://schemas.openxmlformats.org/officeDocument/2006/relationships/image" Target="media/image1.png"/></Relationships>
</file>

<file path=ppt/slides/_rels/slide14.xml.rels><?xml version='1.0' encoding='UTF-8' standalone='yes'?>
<Relationships xmlns="http://schemas.openxmlformats.org/package/2006/relationships"><Relationship Id="rId0" Type="http://schemas.openxmlformats.org/officeDocument/2006/relationships/slideLayout" Target="../slideLayouts/slideLayout1.xml"/></Relationships>
</file>

<file path=ppt/slides/_rels/slide15.xml.rels><?xml version='1.0' encoding='UTF-8' standalone='yes'?>
<Relationships xmlns="http://schemas.openxmlformats.org/package/2006/relationships"><Relationship Id="rId0" Type="http://schemas.openxmlformats.org/officeDocument/2006/relationships/slideLayout" Target="../slideLayouts/slideLayout1.xml"/><Relationship Id="rId1" Type="http://schemas.openxmlformats.org/officeDocument/2006/relationships/image" Target="media/image9.svg"/></Relationships>
</file>

<file path=ppt/slides/_rels/slide16.xml.rels><?xml version='1.0' encoding='UTF-8' standalone='yes'?>
<Relationships xmlns="http://schemas.openxmlformats.org/package/2006/relationships"><Relationship Id="rId0" Type="http://schemas.openxmlformats.org/officeDocument/2006/relationships/slideLayout" Target="../slideLayouts/slideLayout1.xml"/><Relationship Id="rId1" Type="http://schemas.openxmlformats.org/officeDocument/2006/relationships/image" Target="media/image1.png"/></Relationships>
</file>

<file path=ppt/slides/_rels/slide17.xml.rels><?xml version='1.0' encoding='UTF-8' standalone='yes'?>
<Relationships xmlns="http://schemas.openxmlformats.org/package/2006/relationships"><Relationship Id="rId0" Type="http://schemas.openxmlformats.org/officeDocument/2006/relationships/slideLayout" Target="../slideLayouts/slideLayout1.xml"/><Relationship Id="rId1" Type="http://schemas.openxmlformats.org/officeDocument/2006/relationships/image" Target="media/image10.svg"/><Relationship Id="rId2" Type="http://schemas.openxmlformats.org/officeDocument/2006/relationships/image" Target="media/image11.svg"/><Relationship Id="rId3" Type="http://schemas.openxmlformats.org/officeDocument/2006/relationships/image" Target="media/image12.svg"/><Relationship Id="rId4" Type="http://schemas.openxmlformats.org/officeDocument/2006/relationships/image" Target="media/image13.svg"/><Relationship Id="rId5" Type="http://schemas.openxmlformats.org/officeDocument/2006/relationships/image" Target="media/image14.svg"/><Relationship Id="rId6" Type="http://schemas.openxmlformats.org/officeDocument/2006/relationships/image" Target="media/image15.svg"/><Relationship Id="rId7" Type="http://schemas.openxmlformats.org/officeDocument/2006/relationships/image" Target="media/image16.svg"/><Relationship Id="rId8" Type="http://schemas.openxmlformats.org/officeDocument/2006/relationships/image" Target="media/image17.svg"/></Relationships>
</file>

<file path=ppt/slides/_rels/slide18.xml.rels><?xml version='1.0' encoding='UTF-8' standalone='yes'?>
<Relationships xmlns="http://schemas.openxmlformats.org/package/2006/relationships"><Relationship Id="rId0" Type="http://schemas.openxmlformats.org/officeDocument/2006/relationships/slideLayout" Target="../slideLayouts/slideLayout1.xml"/></Relationships>
</file>

<file path=ppt/slides/_rels/slide19.xml.rels><?xml version='1.0' encoding='UTF-8' standalone='yes'?>
<Relationships xmlns="http://schemas.openxmlformats.org/package/2006/relationships"><Relationship Id="rId0" Type="http://schemas.openxmlformats.org/officeDocument/2006/relationships/slideLayout" Target="../slideLayouts/slideLayout1.xml"/><Relationship Id="rId1" Type="http://schemas.openxmlformats.org/officeDocument/2006/relationships/image" Target="media/image1.png"/></Relationships>
</file>

<file path=ppt/slides/_rels/slide20.xml.rels><?xml version='1.0' encoding='UTF-8' standalone='yes'?>
<Relationships xmlns="http://schemas.openxmlformats.org/package/2006/relationships"><Relationship Id="rId0" Type="http://schemas.openxmlformats.org/officeDocument/2006/relationships/slideLayout" Target="../slideLayouts/slideLayout1.xml"/><Relationship Id="rId1" Type="http://schemas.openxmlformats.org/officeDocument/2006/relationships/image" Target="media/image3.svg"/><Relationship Id="rId2" Type="http://schemas.openxmlformats.org/officeDocument/2006/relationships/image" Target="media/image18.svg"/><Relationship Id="rId3" Type="http://schemas.openxmlformats.org/officeDocument/2006/relationships/image" Target="media/image19.svg"/><Relationship Id="rId4" Type="http://schemas.openxmlformats.org/officeDocument/2006/relationships/image" Target="media/image6.svg"/></Relationships>
</file>

<file path=ppt/slides/_rels/slide21.xml.rels><?xml version='1.0' encoding='UTF-8' standalone='yes'?>
<Relationships xmlns="http://schemas.openxmlformats.org/package/2006/relationships"><Relationship Id="rId0" Type="http://schemas.openxmlformats.org/officeDocument/2006/relationships/slideLayout" Target="../slideLayouts/slideLayout1.xml"/><Relationship Id="rId1" Type="http://schemas.openxmlformats.org/officeDocument/2006/relationships/image" Target="media/image20.svg"/><Relationship Id="rId2" Type="http://schemas.openxmlformats.org/officeDocument/2006/relationships/image" Target="media/image21.svg"/><Relationship Id="rId3" Type="http://schemas.openxmlformats.org/officeDocument/2006/relationships/image" Target="media/image22.svg"/></Relationships>
</file>

<file path=ppt/slides/_rels/slide22.xml.rels><?xml version='1.0' encoding='UTF-8' standalone='yes'?>
<Relationships xmlns="http://schemas.openxmlformats.org/package/2006/relationships"><Relationship Id="rId0" Type="http://schemas.openxmlformats.org/officeDocument/2006/relationships/slideLayout" Target="../slideLayouts/slideLayout1.xml"/></Relationships>
</file>

<file path=ppt/slides/_rels/slide23.xml.rels><?xml version='1.0' encoding='UTF-8' standalone='yes'?>
<Relationships xmlns="http://schemas.openxmlformats.org/package/2006/relationships"><Relationship Id="rId0" Type="http://schemas.openxmlformats.org/officeDocument/2006/relationships/slideLayout" Target="../slideLayouts/slideLayout1.xml"/><Relationship Id="rId1" Type="http://schemas.openxmlformats.org/officeDocument/2006/relationships/image" Target="media/image23.svg"/><Relationship Id="rId2" Type="http://schemas.openxmlformats.org/officeDocument/2006/relationships/image" Target="media/image24.svg"/><Relationship Id="rId3" Type="http://schemas.openxmlformats.org/officeDocument/2006/relationships/image" Target="media/image25.svg"/><Relationship Id="rId4" Type="http://schemas.openxmlformats.org/officeDocument/2006/relationships/image" Target="media/image26.svg"/><Relationship Id="rId5" Type="http://schemas.openxmlformats.org/officeDocument/2006/relationships/image" Target="media/image27.svg"/></Relationships>
</file>

<file path=ppt/slides/_rels/slide24.xml.rels><?xml version='1.0' encoding='UTF-8' standalone='yes'?>
<Relationships xmlns="http://schemas.openxmlformats.org/package/2006/relationships"><Relationship Id="rId0" Type="http://schemas.openxmlformats.org/officeDocument/2006/relationships/slideLayout" Target="../slideLayouts/slideLayout1.xml"/><Relationship Id="rId1" Type="http://schemas.openxmlformats.org/officeDocument/2006/relationships/image" Target="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 descr="&lt;Slide style={{ width: '1280px', height: '720px', position: 'relative', background: '#1E3A8A', overflow: 'hidden', fontFamily: 'PingFang SC, Source Han Sans SC, sans-serif' }}&gt;&#10;    &lt;Image src=&quot;assets/hero_cover.png&quot; style={{ position: 'absolute', top: 0, left: 0, width: '1280px', height: '720px', objectFit: 'cover' }} /&gt;&#10;    &lt;Box style={{ position: 'absolute', top: 0, left: 0, width: '1280px', height: '720px', background: 'linear-gradient(90deg, rgba(15,23,42,0.90) 0%, rgba(30,58,138,0.60) 55%, rgba(30,58,138,0.20) 100%)' }} /&gt;&#10;    &lt;Box style={{ position: 'relative', zIndex: 1, height: '720px', padding: '0 84px', justifyContent: 'center', flexDirection: 'column' }}&gt;&#10;        &lt;Box style={{ flexDirection: 'row', alignItems: 'center', gap: 14, marginBottom: 26 }}&gt;&#10;            &lt;Box style={{ width: 58, height: 4, background: '#06B6D4' }} /&gt;&#10;            &lt;Text style={{ fontSize: 20, color: '#BFD9F5', letterSpacing: 3 }}&gt;制造业企业 AI 通识培训 · 高级（L4 规划治理层）&lt;/Text&gt;&#10;        &lt;/Box&gt;&#10;        &lt;Text style={{ fontSize: 80, fontWeight: 'bold', color: '#FFFFFF', lineHeight: 1.12, textShadow: '0 4px 24px rgba(0,0,0,0.35)' }}&gt;AI 规划与治理&lt;/Text&gt;&#10;        &lt;Text style={{ fontSize: 30, color: '#DCE9FB', marginTop: 20, fontWeight: '600' }}&gt;算得清账 · 搭得起架构 · 推得动组织 · 守得住底线&lt;/Text&gt;&#10;        &lt;Box style={{ flexDirection: 'row', gap: 14, marginTop: 40 }}&gt;&#10;            &lt;Box style={{ padding: '10px 22px', background: 'rgba(6,182,212,0.18)', border: '1px solid rgba(6,182,212,0.6)', borderRadius: 999 }}&gt;&#10;                &lt;Text style={{ fontSize: 17, color: '#7FD9F0', fontWeight: 'bold' }}&gt;7 大模块&lt;/Text&gt;&#10;            &lt;/Box&gt;&#10;            &lt;Box style={{ padding: '10px 22px', background: 'rgba(245,158,11,0.18)', border: '1px solid rgba(245,158,11,0.6)', borderRadius: 999 }}&gt;&#10;                &lt;Text style={{ fontSize: 17, color: '#F8C471', fontWeight: 'bold' }}&gt;16–24 课时 + 2 天沙盘&lt;/Text&gt;&#10;            &lt;/Box&gt;&#10;            &lt;Box style={{ padding: '10px 22px', background: 'rgba(255,255,255,0.10)', border: '1px solid rgba(255,255,255,0.35)', borderRadius: 999 }}&gt;&#10;                &lt;Text style={{ fontSize: 17, color: '#EAF2FC', fontWeight: 'bold' }}&gt;8–15 人小班&lt;/Text&gt;&#10;            &lt;/Box&gt;&#10;            &lt;Box style={{ padding: '10px 22px', background: 'rgba(255,255,255,0.10)', border: '1px solid rgba(255,255,255,0.35)', borderRadius: 999 }}&gt;&#10;                &lt;Text style={{ fontSize: 17, color: '#EAF2FC', fontWeight: 'bold' }}&gt;24 页&lt;/Text&gt;&#10;            &lt;/Box&gt;&#10;        &lt;/Box&gt;&#10;    &lt;/Box&gt;&#10;&lt;/Slide&gt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1E3A8A"/>
          </a:solidFill>
          <a:ln/>
        </p:spPr>
        <p:txBody>
          <a:bodyPr/>
          <a:p/>
        </p:txBody>
      </p:sp>
      <p:pic>
        <p:nvPicPr>
          <p:cNvPr id="3" name=""/>
          <p:cNvPicPr>
            <a:picLocks noChangeAspect="1"/>
          </p:cNvPicPr>
          <p:nvPr/>
        </p:nvPicPr>
        <p:blipFill>
          <a:blip r:embed="rId1"/>
          <a:srcRect l="0" t="8894" r="0" b="8894"/>
          <a:stretch>
            <a:fillRect/>
          </a:stretch>
        </p:blipFill>
        <p:spPr>
          <a:xfrm rot="0" flipH="0" flipV="0">
            <a:off x="0" y="0"/>
            <a:ext cx="12192000" cy="6858000"/>
          </a:xfrm>
          <a:prstGeom prst="rect">
            <a:avLst/>
          </a:prstGeom>
          <a:ln/>
        </p:spPr>
      </p:pic>
      <p:sp>
        <p:nvSpPr>
          <p:cNvPr id="4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gradFill>
            <a:gsLst>
              <a:gs pos="0">
                <a:srgbClr val="0F172A">
                  <a:alpha val="90000"/>
                </a:srgbClr>
              </a:gs>
              <a:gs pos="55000">
                <a:srgbClr val="1E3A8A">
                  <a:alpha val="60000"/>
                </a:srgbClr>
              </a:gs>
              <a:gs pos="100000">
                <a:srgbClr val="1E3A8A">
                  <a:alpha val="20000"/>
                </a:srgbClr>
              </a:gs>
            </a:gsLst>
            <a:lin ang="0" scaled="1"/>
          </a:gradFill>
          <a:ln/>
        </p:spPr>
        <p:txBody>
          <a:bodyPr/>
          <a:p/>
        </p:txBody>
      </p:sp>
      <p:sp>
        <p:nvSpPr>
          <p:cNvPr id="5" name=""/>
          <p:cNvSpPr/>
          <p:nvPr/>
        </p:nvSpPr>
        <p:spPr>
          <a:xfrm rot="0" flipH="0" flipV="0">
            <a:off x="800100" y="2124075"/>
            <a:ext cx="552450" cy="38100"/>
          </a:xfrm>
          <a:prstGeom prst="rect">
            <a:avLst/>
          </a:prstGeom>
          <a:solidFill>
            <a:srgbClr val="06B6D4"/>
          </a:solidFill>
          <a:ln/>
        </p:spPr>
        <p:txBody>
          <a:bodyPr/>
          <a:p/>
        </p:txBody>
      </p:sp>
      <p:sp>
        <p:nvSpPr>
          <p:cNvPr id="6" name="" descr="{&quot;isTemplate&quot;:true,&quot;type&quot;:&quot;text&quot;}"/>
          <p:cNvSpPr txBox="1"/>
          <p:nvPr/>
        </p:nvSpPr>
        <p:spPr>
          <a:xfrm rot="0" flipH="0" flipV="0">
            <a:off x="1485900" y="2028825"/>
            <a:ext cx="5038725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 spc="225">
                <a:solidFill>
                  <a:srgbClr val="BFD9F5"/>
                </a:solidFill>
                <a:latin typeface="PingFang SC"/>
                <a:ea typeface="PingFang SC"/>
              </a:rPr>
              <a:t>制造业企业</a:t>
            </a:r>
            <a:r>
              <a:rPr lang="en-US" sz="1500" spc="225">
                <a:solidFill>
                  <a:srgbClr val="BFD9F5"/>
                </a:solidFill>
                <a:latin typeface="PingFang SC"/>
                <a:ea typeface="PingFang SC"/>
              </a:rPr>
              <a:t> AI </a:t>
            </a:r>
            <a:r>
              <a:rPr lang="zh-CN" sz="1500" spc="225">
                <a:solidFill>
                  <a:srgbClr val="BFD9F5"/>
                </a:solidFill>
                <a:latin typeface="PingFang SC"/>
                <a:ea typeface="PingFang SC"/>
              </a:rPr>
              <a:t>通识培训</a:t>
            </a:r>
            <a:r>
              <a:rPr lang="en-US" sz="1500" spc="225">
                <a:solidFill>
                  <a:srgbClr val="BFD9F5"/>
                </a:solidFill>
                <a:latin typeface="PingFang SC"/>
                <a:ea typeface="PingFang SC"/>
              </a:rPr>
              <a:t> · </a:t>
            </a:r>
            <a:r>
              <a:rPr lang="zh-CN" sz="1500" spc="225">
                <a:solidFill>
                  <a:srgbClr val="BFD9F5"/>
                </a:solidFill>
                <a:latin typeface="PingFang SC"/>
                <a:ea typeface="PingFang SC"/>
              </a:rPr>
              <a:t>高级（</a:t>
            </a:r>
            <a:r>
              <a:rPr lang="en-US" sz="1500" spc="225">
                <a:solidFill>
                  <a:srgbClr val="BFD9F5"/>
                </a:solidFill>
                <a:latin typeface="PingFang SC"/>
                <a:ea typeface="PingFang SC"/>
              </a:rPr>
              <a:t>L4 </a:t>
            </a:r>
            <a:r>
              <a:rPr lang="zh-CN" sz="1500" spc="225">
                <a:solidFill>
                  <a:srgbClr val="BFD9F5"/>
                </a:solidFill>
                <a:latin typeface="PingFang SC"/>
                <a:ea typeface="PingFang SC"/>
              </a:rPr>
              <a:t>规划治理层）</a:t>
            </a:r>
            <a:endParaRPr/>
          </a:p>
        </p:txBody>
      </p:sp>
      <p:sp>
        <p:nvSpPr>
          <p:cNvPr id="7" name="" descr="{&quot;isTemplate&quot;:true,&quot;type&quot;:&quot;text&quot;}"/>
          <p:cNvSpPr txBox="1"/>
          <p:nvPr/>
        </p:nvSpPr>
        <p:spPr>
          <a:xfrm rot="0" flipH="0" flipV="0">
            <a:off x="800100" y="2505075"/>
            <a:ext cx="10591800" cy="1028700"/>
          </a:xfrm>
          <a:prstGeom prst="rect"/>
        </p:spPr>
        <p:txBody>
          <a:bodyPr wrap="none" lIns="0" tIns="0" rIns="0" bIns="0"/>
          <a:p>
            <a:pPr>
              <a:lnSpc>
                <a:spcPct val="112000"/>
              </a:lnSpc>
            </a:pPr>
            <a:r>
              <a:rPr lang="en-US" sz="6000" b="1">
                <a:solidFill>
                  <a:srgbClr val="FFFFFF"/>
                </a:solidFill>
                <a:effectLst>
                  <a:outerShdw blurRad="228600" dist="38100" dir="5400000">
                    <a:srgbClr val="000000">
                      <a:alpha val="35000"/>
                    </a:srgbClr>
                  </a:outerShdw>
                </a:effectLst>
                <a:latin typeface="PingFang SC"/>
                <a:ea typeface="PingFang SC"/>
              </a:rPr>
              <a:t>AI </a:t>
            </a:r>
            <a:r>
              <a:rPr lang="zh-CN" sz="6000" b="1">
                <a:solidFill>
                  <a:srgbClr val="FFFFFF"/>
                </a:solidFill>
                <a:effectLst>
                  <a:outerShdw blurRad="228600" dist="38100" dir="5400000">
                    <a:srgbClr val="000000">
                      <a:alpha val="35000"/>
                    </a:srgbClr>
                  </a:outerShdw>
                </a:effectLst>
                <a:latin typeface="PingFang SC"/>
                <a:ea typeface="PingFang SC"/>
              </a:rPr>
              <a:t>规划与治理</a:t>
            </a:r>
            <a:endParaRPr/>
          </a:p>
        </p:txBody>
      </p:sp>
      <p:sp>
        <p:nvSpPr>
          <p:cNvPr id="8" name="" descr="{&quot;isTemplate&quot;:true,&quot;type&quot;:&quot;text&quot;}"/>
          <p:cNvSpPr txBox="1"/>
          <p:nvPr/>
        </p:nvSpPr>
        <p:spPr>
          <a:xfrm rot="0" flipH="0" flipV="0">
            <a:off x="800100" y="3724275"/>
            <a:ext cx="10591800" cy="3429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250" b="1">
                <a:solidFill>
                  <a:srgbClr val="DCE9FB"/>
                </a:solidFill>
                <a:latin typeface="PingFang SC"/>
                <a:ea typeface="PingFang SC"/>
              </a:rPr>
              <a:t>算得清账</a:t>
            </a:r>
            <a:r>
              <a:rPr lang="en-US" sz="2250" b="1">
                <a:solidFill>
                  <a:srgbClr val="DCE9FB"/>
                </a:solidFill>
                <a:latin typeface="PingFang SC"/>
                <a:ea typeface="PingFang SC"/>
              </a:rPr>
              <a:t> · </a:t>
            </a:r>
            <a:r>
              <a:rPr lang="zh-CN" sz="2250" b="1">
                <a:solidFill>
                  <a:srgbClr val="DCE9FB"/>
                </a:solidFill>
                <a:latin typeface="PingFang SC"/>
                <a:ea typeface="PingFang SC"/>
              </a:rPr>
              <a:t>搭得起架构</a:t>
            </a:r>
            <a:r>
              <a:rPr lang="en-US" sz="2250" b="1">
                <a:solidFill>
                  <a:srgbClr val="DCE9FB"/>
                </a:solidFill>
                <a:latin typeface="PingFang SC"/>
                <a:ea typeface="PingFang SC"/>
              </a:rPr>
              <a:t> · </a:t>
            </a:r>
            <a:r>
              <a:rPr lang="zh-CN" sz="2250" b="1">
                <a:solidFill>
                  <a:srgbClr val="DCE9FB"/>
                </a:solidFill>
                <a:latin typeface="PingFang SC"/>
                <a:ea typeface="PingFang SC"/>
              </a:rPr>
              <a:t>推得动组织</a:t>
            </a:r>
            <a:r>
              <a:rPr lang="en-US" sz="2250" b="1">
                <a:solidFill>
                  <a:srgbClr val="DCE9FB"/>
                </a:solidFill>
                <a:latin typeface="PingFang SC"/>
                <a:ea typeface="PingFang SC"/>
              </a:rPr>
              <a:t> · </a:t>
            </a:r>
            <a:r>
              <a:rPr lang="zh-CN" sz="2250" b="1">
                <a:solidFill>
                  <a:srgbClr val="DCE9FB"/>
                </a:solidFill>
                <a:latin typeface="PingFang SC"/>
                <a:ea typeface="PingFang SC"/>
              </a:rPr>
              <a:t>守得住底线</a:t>
            </a:r>
            <a:endParaRPr/>
          </a:p>
        </p:txBody>
      </p:sp>
      <p:sp>
        <p:nvSpPr>
          <p:cNvPr id="9" name=""/>
          <p:cNvSpPr/>
          <p:nvPr/>
        </p:nvSpPr>
        <p:spPr>
          <a:xfrm rot="0" flipH="0" flipV="0">
            <a:off x="800100" y="4448175"/>
            <a:ext cx="1057275" cy="390525"/>
          </a:xfrm>
          <a:prstGeom prst="roundRect">
            <a:avLst>
              <a:gd name="adj" fmla="val 2436585"/>
            </a:avLst>
          </a:prstGeom>
          <a:solidFill>
            <a:srgbClr val="06B6D4">
              <a:alpha val="18000"/>
            </a:srgbClr>
          </a:solidFill>
          <a:ln w="12700">
            <a:solidFill>
              <a:srgbClr val="06B6D4">
                <a:alpha val="60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0" name="" descr="{&quot;isTemplate&quot;:true,&quot;type&quot;:&quot;text&quot;}"/>
          <p:cNvSpPr txBox="1"/>
          <p:nvPr/>
        </p:nvSpPr>
        <p:spPr>
          <a:xfrm rot="0" flipH="0" flipV="0">
            <a:off x="1009650" y="4543425"/>
            <a:ext cx="638175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75" b="1">
                <a:solidFill>
                  <a:srgbClr val="7FD9F0"/>
                </a:solidFill>
                <a:latin typeface="PingFang SC"/>
                <a:ea typeface="PingFang SC"/>
              </a:rPr>
              <a:t>7 </a:t>
            </a:r>
            <a:r>
              <a:rPr lang="zh-CN" sz="1275" b="1">
                <a:solidFill>
                  <a:srgbClr val="7FD9F0"/>
                </a:solidFill>
                <a:latin typeface="PingFang SC"/>
                <a:ea typeface="PingFang SC"/>
              </a:rPr>
              <a:t>大模块</a:t>
            </a:r>
            <a:endParaRPr/>
          </a:p>
        </p:txBody>
      </p:sp>
      <p:sp>
        <p:nvSpPr>
          <p:cNvPr id="11" name=""/>
          <p:cNvSpPr/>
          <p:nvPr/>
        </p:nvSpPr>
        <p:spPr>
          <a:xfrm rot="0" flipH="0" flipV="0">
            <a:off x="1990725" y="4448175"/>
            <a:ext cx="2133600" cy="390525"/>
          </a:xfrm>
          <a:prstGeom prst="roundRect">
            <a:avLst>
              <a:gd name="adj" fmla="val 2436585"/>
            </a:avLst>
          </a:prstGeom>
          <a:solidFill>
            <a:srgbClr val="F59E0B">
              <a:alpha val="18000"/>
            </a:srgbClr>
          </a:solidFill>
          <a:ln w="12700">
            <a:solidFill>
              <a:srgbClr val="F59E0B">
                <a:alpha val="60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2" name="" descr="{&quot;isTemplate&quot;:true,&quot;type&quot;:&quot;text&quot;}"/>
          <p:cNvSpPr txBox="1"/>
          <p:nvPr/>
        </p:nvSpPr>
        <p:spPr>
          <a:xfrm rot="0" flipH="0" flipV="0">
            <a:off x="2200275" y="4543425"/>
            <a:ext cx="171450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75" b="1">
                <a:solidFill>
                  <a:srgbClr val="F8C471"/>
                </a:solidFill>
                <a:latin typeface="PingFang SC"/>
                <a:ea typeface="PingFang SC"/>
              </a:rPr>
              <a:t>16–24 </a:t>
            </a:r>
            <a:r>
              <a:rPr lang="zh-CN" sz="1275" b="1">
                <a:solidFill>
                  <a:srgbClr val="F8C471"/>
                </a:solidFill>
                <a:latin typeface="PingFang SC"/>
                <a:ea typeface="PingFang SC"/>
              </a:rPr>
              <a:t>课时</a:t>
            </a:r>
            <a:r>
              <a:rPr lang="en-US" sz="1275" b="1">
                <a:solidFill>
                  <a:srgbClr val="F8C471"/>
                </a:solidFill>
                <a:latin typeface="PingFang SC"/>
                <a:ea typeface="PingFang SC"/>
              </a:rPr>
              <a:t> + 2 </a:t>
            </a:r>
            <a:r>
              <a:rPr lang="zh-CN" sz="1275" b="1">
                <a:solidFill>
                  <a:srgbClr val="F8C471"/>
                </a:solidFill>
                <a:latin typeface="PingFang SC"/>
                <a:ea typeface="PingFang SC"/>
              </a:rPr>
              <a:t>天沙盘</a:t>
            </a:r>
            <a:endParaRPr/>
          </a:p>
        </p:txBody>
      </p:sp>
      <p:sp>
        <p:nvSpPr>
          <p:cNvPr id="13" name=""/>
          <p:cNvSpPr/>
          <p:nvPr/>
        </p:nvSpPr>
        <p:spPr>
          <a:xfrm rot="0" flipH="0" flipV="0">
            <a:off x="4257675" y="4448175"/>
            <a:ext cx="1362075" cy="390525"/>
          </a:xfrm>
          <a:prstGeom prst="roundRect">
            <a:avLst>
              <a:gd name="adj" fmla="val 2436585"/>
            </a:avLst>
          </a:prstGeom>
          <a:solidFill>
            <a:srgbClr val="FFFFFF">
              <a:alpha val="10000"/>
            </a:srgbClr>
          </a:solidFill>
          <a:ln w="12700">
            <a:solidFill>
              <a:srgbClr val="FFFFFF">
                <a:alpha val="35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4" name="" descr="{&quot;isTemplate&quot;:true,&quot;type&quot;:&quot;text&quot;}"/>
          <p:cNvSpPr txBox="1"/>
          <p:nvPr/>
        </p:nvSpPr>
        <p:spPr>
          <a:xfrm rot="0" flipH="0" flipV="0">
            <a:off x="4467225" y="4543425"/>
            <a:ext cx="942975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75" b="1">
                <a:solidFill>
                  <a:srgbClr val="EAF2FC"/>
                </a:solidFill>
                <a:latin typeface="PingFang SC"/>
                <a:ea typeface="PingFang SC"/>
              </a:rPr>
              <a:t>8–15 </a:t>
            </a:r>
            <a:r>
              <a:rPr lang="zh-CN" sz="1275" b="1">
                <a:solidFill>
                  <a:srgbClr val="EAF2FC"/>
                </a:solidFill>
                <a:latin typeface="PingFang SC"/>
                <a:ea typeface="PingFang SC"/>
              </a:rPr>
              <a:t>人小班</a:t>
            </a:r>
            <a:endParaRPr/>
          </a:p>
        </p:txBody>
      </p:sp>
      <p:sp>
        <p:nvSpPr>
          <p:cNvPr id="15" name=""/>
          <p:cNvSpPr/>
          <p:nvPr/>
        </p:nvSpPr>
        <p:spPr>
          <a:xfrm rot="0" flipH="0" flipV="0">
            <a:off x="5753100" y="4448175"/>
            <a:ext cx="838200" cy="390525"/>
          </a:xfrm>
          <a:prstGeom prst="roundRect">
            <a:avLst>
              <a:gd name="adj" fmla="val 2436585"/>
            </a:avLst>
          </a:prstGeom>
          <a:solidFill>
            <a:srgbClr val="FFFFFF">
              <a:alpha val="10000"/>
            </a:srgbClr>
          </a:solidFill>
          <a:ln w="12700">
            <a:solidFill>
              <a:srgbClr val="FFFFFF">
                <a:alpha val="35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6" name="" descr="{&quot;isTemplate&quot;:true,&quot;type&quot;:&quot;text&quot;}"/>
          <p:cNvSpPr txBox="1"/>
          <p:nvPr/>
        </p:nvSpPr>
        <p:spPr>
          <a:xfrm rot="0" flipH="0" flipV="0">
            <a:off x="5962650" y="4543425"/>
            <a:ext cx="41910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75" b="1">
                <a:solidFill>
                  <a:srgbClr val="EAF2FC"/>
                </a:solidFill>
                <a:latin typeface="PingFang SC"/>
                <a:ea typeface="PingFang SC"/>
              </a:rPr>
              <a:t>24 </a:t>
            </a:r>
            <a:r>
              <a:rPr lang="zh-CN" sz="1275" b="1">
                <a:solidFill>
                  <a:srgbClr val="EAF2FC"/>
                </a:solidFill>
                <a:latin typeface="PingFang SC"/>
                <a:ea typeface="PingFang SC"/>
              </a:rPr>
              <a:t>页</a:t>
            </a:r>
            <a:endParaRPr/>
          </a:p>
        </p:txBody>
      </p:sp>
    </p:spTree>
  </p:cSld>
</p:sld>
</file>

<file path=ppt/slides/slide2.xml><?xml version="1.0" encoding="utf-8"?>
<p:sld xmlns:asvg="http://schemas.microsoft.com/office/drawing/2016/SVG/main" xmlns:a="http://schemas.openxmlformats.org/drawingml/2006/main" xmlns:r="http://schemas.openxmlformats.org/officeDocument/2006/relationships" xmlns:p="http://schemas.openxmlformats.org/presentationml/2006/main" xmlns:mc="http://schemas.openxmlformats.org/markup-compatibility/2006" mc:Ignorable="asvg">
  <p:cSld>
    <p:spTree>
      <p:nvGrpSpPr>
        <p:cNvPr id="292" name="" descr="const items = [&#10;    { no: '01', t: '智能工厂梯度', d: '基础 → 卓越 → 领航，定位你在哪、下一站在哪' },&#10;    { no: '02', t: '技术架构', d: '云-边-端 · 大小模型分工 · 数字孪生 · 工业智能体' },&#10;    { no: '03', t: '数据治理', d: 'DCMM 跃迁 · CDO 设置 · 模数共振飞轮' },&#10;    { no: '04', t: 'ROI 与价值', d: '双指标体系 · 用户分层 · ROI 五步算账' },&#10;    { no: '05', t: '组织采纳（核心）', d: '八支柱 · 三阶段推进 · 采纳看板' },&#10;    { no: '06', t: '治理与合规', d: '分类分级 · 幻觉防控 · 伦理底线 · NIST 映射' },&#10;    { no: '07', t: '战略沙盘', d: '2 天 3 任务：自评 · 算账 · 路线图推演' },&#10;];&#10;&lt;Slide style={{ width: '1280px', height: '720px', background: '#F5F8FC', padding: '24px 72px', boxSizing: 'border-box', flexDirection: 'column', fontFamily: 'PingFang SC, Source Han Sans SC, sans-serif' }}&gt;&#10;    &lt;Box style={{ height: 96, flexDirection: 'row', alignItems: 'center', gap: 16 }}&gt;&#10;        &lt;Box style={{ width: 5, height: 46, background: '#06B6D4', borderRadius: 3 }} /&gt;&#10;        &lt;Box&gt;&#10;            &lt;Text style={{ fontSize: 34, fontWeight: 'bold', color: '#1E3A8A', lineHeight: 1.2 }}&gt;课程目录&lt;/Text&gt;&#10;            &lt;Text style={{ fontSize: 17, color: '#64748B', marginTop: 4 }}&gt;七个模块，走通「定位 → 架构 → 数据 → 账 → 组织 → 治理 → 路线图」&lt;/Text&gt;&#10;        &lt;/Box&gt;&#10;    &lt;/Box&gt;&#10;    &lt;Box style={{ flex: 1, flexDirection: 'row', gap: 28, marginTop: 18 }}&gt;&#10;        &lt;Box style={{ width: 250, background: '#1E3A8A', borderRadius: 18, padding: 30, flexDirection: 'column', justifyContent: 'center' }}&gt;&#10;            &lt;Text style={{ fontSize: 20, color: '#7FD9F0', letterSpacing: 3, marginBottom: 14 }}&gt;CONTENTS&lt;/Text&gt;&#10;            &lt;Text style={{ fontSize: 60, fontWeight: 'bold', color: '#FFFFFF', fontFamily: 'Space Grotesk, Inter' }}&gt;7&lt;/Text&gt;&#10;            &lt;Text style={{ fontSize: 22, fontWeight: 'bold', color: '#DCE9FB', marginTop: 8 }}&gt;个模块 · L4 层&lt;/Text&gt;&#10;            &lt;Box style={{ width: 54, height: 4, background: '#F59E0B', marginTop: 22 }} /&gt;&#10;            &lt;Text style={{ fontSize: 15, color: '#A9C4E8', marginTop: 18, lineHeight: 1.5 }}&gt;结业交付物：一份能上董事会的 AI 三年路线图。&lt;/Text&gt;&#10;        &lt;/Box&gt;&#10;        &lt;Box style={{ flex: 1, flexDirection: 'column', justifyContent: 'space-between' }}&gt;&#10;            {items.map((it, i) =&gt; (&#10;                &lt;Box key={i} style={{ flexDirection: 'row', alignItems: 'center', gap: 18, padding: '11px 20px', background: i % 2 === 0 ? '#FFFFFF' : '#EDF3FB', borderRadius: 12, boxShadow: '0 2px 10px rgba(30,58,138,0.05)' }}&gt;&#10;                    &lt;Text style={{ fontSize: 28, fontWeight: 'bold', color: '#06B6D4', fontFamily: 'Space Grotesk, Inter', width: 56 }}&gt;{it.no}&lt;/Text&gt;&#10;                    &lt;Box style={{ flex: 1, flexDirection: 'column' }}&gt;&#10;                        &lt;Text style={{ fontSize: 20, fontWeight: 'bold', color: '#1E3A8A' }}&gt;{it.t}&lt;/Text&gt;&#10;                        &lt;Text style={{ fontSize: 14, color: '#64748B', marginTop: 2 }}&gt;{it.d}&lt;/Text&gt;&#10;                    &lt;/Box&gt;&#10;                    &lt;FAIcon name=&quot;arrow-right&quot; style={{ fill: '#06B6D4', width: 18, height: 18 }} /&gt;&#10;                &lt;/Box&gt;&#10;            ))}&#10;        &lt;/Box&gt;&#10;    &lt;/Box&gt;&#10;    &lt;Box style={{ height: 40, flexDirection: 'row', justifyContent: 'space-between', alignItems: 'center', marginTop: 8 }}&gt;&#10;        &lt;Text style={{ fontSize: 14, color: '#64748B' }}&gt;AI 规划与治理 · 高级&lt;/Text&gt;&#10;        &lt;Text style={{ fontSize: 14, color: '#64748B' }}&gt;02 / 24&lt;/Text&gt;&#10;    &lt;/Box&gt;&#10;&lt;/Slide&gt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3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5F8FC"/>
          </a:solidFill>
          <a:ln/>
        </p:spPr>
        <p:txBody>
          <a:bodyPr/>
          <a:p/>
        </p:txBody>
      </p:sp>
      <p:sp>
        <p:nvSpPr>
          <p:cNvPr id="294" name=""/>
          <p:cNvSpPr/>
          <p:nvPr/>
        </p:nvSpPr>
        <p:spPr>
          <a:xfrm rot="0" flipH="0" flipV="0">
            <a:off x="685800" y="466725"/>
            <a:ext cx="47625" cy="438150"/>
          </a:xfrm>
          <a:prstGeom prst="roundRect">
            <a:avLst>
              <a:gd name="adj" fmla="val 60000"/>
            </a:avLst>
          </a:prstGeom>
          <a:solidFill>
            <a:srgbClr val="06B6D4"/>
          </a:solidFill>
          <a:ln/>
        </p:spPr>
        <p:txBody>
          <a:bodyPr/>
          <a:p/>
        </p:txBody>
      </p:sp>
      <p:sp>
        <p:nvSpPr>
          <p:cNvPr id="295" name="" descr="{&quot;isTemplate&quot;:true,&quot;type&quot;:&quot;text&quot;}"/>
          <p:cNvSpPr txBox="1"/>
          <p:nvPr/>
        </p:nvSpPr>
        <p:spPr>
          <a:xfrm rot="0" flipH="0" flipV="0">
            <a:off x="885825" y="333375"/>
            <a:ext cx="5343525" cy="466725"/>
          </a:xfrm>
          <a:prstGeom prst="rect"/>
        </p:spPr>
        <p:txBody>
          <a:bodyPr wrap="none" lIns="0" tIns="0" rIns="0" bIns="0"/>
          <a:p>
            <a:pPr>
              <a:lnSpc>
                <a:spcPct val="120000"/>
              </a:lnSpc>
            </a:pPr>
            <a:r>
              <a:rPr lang="zh-CN" sz="2550" b="1">
                <a:solidFill>
                  <a:srgbClr val="1E3A8A"/>
                </a:solidFill>
                <a:latin typeface="PingFang SC"/>
                <a:ea typeface="PingFang SC"/>
              </a:rPr>
              <a:t>课程目录</a:t>
            </a:r>
            <a:endParaRPr/>
          </a:p>
        </p:txBody>
      </p:sp>
      <p:sp>
        <p:nvSpPr>
          <p:cNvPr id="296" name="" descr="{&quot;isTemplate&quot;:true,&quot;type&quot;:&quot;text&quot;}"/>
          <p:cNvSpPr txBox="1"/>
          <p:nvPr/>
        </p:nvSpPr>
        <p:spPr>
          <a:xfrm rot="0" flipH="0" flipV="0">
            <a:off x="885825" y="838200"/>
            <a:ext cx="5343525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>
                <a:solidFill>
                  <a:srgbClr val="64748B"/>
                </a:solidFill>
                <a:latin typeface="PingFang SC"/>
                <a:ea typeface="PingFang SC"/>
              </a:rPr>
              <a:t>七个模块，走通「定位</a:t>
            </a:r>
            <a:r>
              <a:rPr lang="en-US" sz="1275">
                <a:solidFill>
                  <a:srgbClr val="64748B"/>
                </a:solidFill>
                <a:latin typeface="PingFang SC"/>
                <a:ea typeface="PingFang SC"/>
              </a:rPr>
              <a:t> → </a:t>
            </a:r>
            <a:r>
              <a:rPr lang="zh-CN" sz="1275">
                <a:solidFill>
                  <a:srgbClr val="64748B"/>
                </a:solidFill>
                <a:latin typeface="PingFang SC"/>
                <a:ea typeface="PingFang SC"/>
              </a:rPr>
              <a:t>架构</a:t>
            </a:r>
            <a:r>
              <a:rPr lang="en-US" sz="1275">
                <a:solidFill>
                  <a:srgbClr val="64748B"/>
                </a:solidFill>
                <a:latin typeface="PingFang SC"/>
                <a:ea typeface="PingFang SC"/>
              </a:rPr>
              <a:t> → </a:t>
            </a:r>
            <a:r>
              <a:rPr lang="zh-CN" sz="1275">
                <a:solidFill>
                  <a:srgbClr val="64748B"/>
                </a:solidFill>
                <a:latin typeface="PingFang SC"/>
                <a:ea typeface="PingFang SC"/>
              </a:rPr>
              <a:t>数据</a:t>
            </a:r>
            <a:r>
              <a:rPr lang="en-US" sz="1275">
                <a:solidFill>
                  <a:srgbClr val="64748B"/>
                </a:solidFill>
                <a:latin typeface="PingFang SC"/>
                <a:ea typeface="PingFang SC"/>
              </a:rPr>
              <a:t> → </a:t>
            </a:r>
            <a:r>
              <a:rPr lang="zh-CN" sz="1275">
                <a:solidFill>
                  <a:srgbClr val="64748B"/>
                </a:solidFill>
                <a:latin typeface="PingFang SC"/>
                <a:ea typeface="PingFang SC"/>
              </a:rPr>
              <a:t>账</a:t>
            </a:r>
            <a:r>
              <a:rPr lang="en-US" sz="1275">
                <a:solidFill>
                  <a:srgbClr val="64748B"/>
                </a:solidFill>
                <a:latin typeface="PingFang SC"/>
                <a:ea typeface="PingFang SC"/>
              </a:rPr>
              <a:t> → </a:t>
            </a:r>
            <a:r>
              <a:rPr lang="zh-CN" sz="1275">
                <a:solidFill>
                  <a:srgbClr val="64748B"/>
                </a:solidFill>
                <a:latin typeface="PingFang SC"/>
                <a:ea typeface="PingFang SC"/>
              </a:rPr>
              <a:t>组织</a:t>
            </a:r>
            <a:r>
              <a:rPr lang="en-US" sz="1275">
                <a:solidFill>
                  <a:srgbClr val="64748B"/>
                </a:solidFill>
                <a:latin typeface="PingFang SC"/>
                <a:ea typeface="PingFang SC"/>
              </a:rPr>
              <a:t> → </a:t>
            </a:r>
            <a:r>
              <a:rPr lang="zh-CN" sz="1275">
                <a:solidFill>
                  <a:srgbClr val="64748B"/>
                </a:solidFill>
                <a:latin typeface="PingFang SC"/>
                <a:ea typeface="PingFang SC"/>
              </a:rPr>
              <a:t>治理</a:t>
            </a:r>
            <a:r>
              <a:rPr lang="en-US" sz="1275">
                <a:solidFill>
                  <a:srgbClr val="64748B"/>
                </a:solidFill>
                <a:latin typeface="PingFang SC"/>
                <a:ea typeface="PingFang SC"/>
              </a:rPr>
              <a:t> → </a:t>
            </a:r>
            <a:r>
              <a:rPr lang="zh-CN" sz="1275">
                <a:solidFill>
                  <a:srgbClr val="64748B"/>
                </a:solidFill>
                <a:latin typeface="PingFang SC"/>
                <a:ea typeface="PingFang SC"/>
              </a:rPr>
              <a:t>路线图」</a:t>
            </a:r>
            <a:endParaRPr/>
          </a:p>
        </p:txBody>
      </p:sp>
      <p:sp>
        <p:nvSpPr>
          <p:cNvPr id="297" name=""/>
          <p:cNvSpPr/>
          <p:nvPr/>
        </p:nvSpPr>
        <p:spPr>
          <a:xfrm rot="0" flipH="0" flipV="0">
            <a:off x="685800" y="1314450"/>
            <a:ext cx="2381250" cy="4857750"/>
          </a:xfrm>
          <a:prstGeom prst="roundRect">
            <a:avLst>
              <a:gd name="adj" fmla="val 7200"/>
            </a:avLst>
          </a:prstGeom>
          <a:solidFill>
            <a:srgbClr val="1E3A8A"/>
          </a:solidFill>
          <a:ln/>
        </p:spPr>
        <p:txBody>
          <a:bodyPr/>
          <a:p/>
        </p:txBody>
      </p:sp>
      <p:sp>
        <p:nvSpPr>
          <p:cNvPr id="298" name="" descr="{&quot;isTemplate&quot;:true,&quot;type&quot;:&quot;text&quot;}"/>
          <p:cNvSpPr txBox="1"/>
          <p:nvPr/>
        </p:nvSpPr>
        <p:spPr>
          <a:xfrm rot="0" flipH="0" flipV="0">
            <a:off x="971550" y="2590800"/>
            <a:ext cx="180975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500" spc="225">
                <a:solidFill>
                  <a:srgbClr val="7FD9F0"/>
                </a:solidFill>
                <a:latin typeface="PingFang SC"/>
                <a:ea typeface="PingFang SC"/>
              </a:rPr>
              <a:t>CONTENTS</a:t>
            </a:r>
            <a:endParaRPr/>
          </a:p>
        </p:txBody>
      </p:sp>
      <p:sp>
        <p:nvSpPr>
          <p:cNvPr id="299" name="" descr="{&quot;isTemplate&quot;:true,&quot;type&quot;:&quot;text&quot;}"/>
          <p:cNvSpPr txBox="1"/>
          <p:nvPr/>
        </p:nvSpPr>
        <p:spPr>
          <a:xfrm rot="0" flipH="0" flipV="0">
            <a:off x="971550" y="2952750"/>
            <a:ext cx="1809750" cy="6858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4500" b="1">
                <a:solidFill>
                  <a:srgbClr val="FFFFFF"/>
                </a:solidFill>
                <a:latin typeface="Space Grotesk"/>
                <a:ea typeface="Space Grotesk"/>
              </a:rPr>
              <a:t>7</a:t>
            </a:r>
            <a:endParaRPr/>
          </a:p>
        </p:txBody>
      </p:sp>
      <p:sp>
        <p:nvSpPr>
          <p:cNvPr id="300" name="" descr="{&quot;isTemplate&quot;:true,&quot;type&quot;:&quot;text&quot;}"/>
          <p:cNvSpPr txBox="1"/>
          <p:nvPr/>
        </p:nvSpPr>
        <p:spPr>
          <a:xfrm rot="0" flipH="0" flipV="0">
            <a:off x="971550" y="3714750"/>
            <a:ext cx="1809750" cy="2571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650" b="1">
                <a:solidFill>
                  <a:srgbClr val="DCE9FB"/>
                </a:solidFill>
                <a:latin typeface="PingFang SC"/>
                <a:ea typeface="PingFang SC"/>
              </a:rPr>
              <a:t>个模块</a:t>
            </a:r>
            <a:r>
              <a:rPr lang="en-US" sz="1650" b="1">
                <a:solidFill>
                  <a:srgbClr val="DCE9FB"/>
                </a:solidFill>
                <a:latin typeface="PingFang SC"/>
                <a:ea typeface="PingFang SC"/>
              </a:rPr>
              <a:t> · L4 </a:t>
            </a:r>
            <a:r>
              <a:rPr lang="zh-CN" sz="1650" b="1">
                <a:solidFill>
                  <a:srgbClr val="DCE9FB"/>
                </a:solidFill>
                <a:latin typeface="PingFang SC"/>
                <a:ea typeface="PingFang SC"/>
              </a:rPr>
              <a:t>层</a:t>
            </a:r>
            <a:endParaRPr/>
          </a:p>
        </p:txBody>
      </p:sp>
      <p:sp>
        <p:nvSpPr>
          <p:cNvPr id="301" name=""/>
          <p:cNvSpPr/>
          <p:nvPr/>
        </p:nvSpPr>
        <p:spPr>
          <a:xfrm rot="0" flipH="0" flipV="0">
            <a:off x="971550" y="4181475"/>
            <a:ext cx="514350" cy="38100"/>
          </a:xfrm>
          <a:prstGeom prst="rect">
            <a:avLst/>
          </a:prstGeom>
          <a:solidFill>
            <a:srgbClr val="F59E0B"/>
          </a:solidFill>
          <a:ln/>
        </p:spPr>
        <p:txBody>
          <a:bodyPr/>
          <a:p/>
        </p:txBody>
      </p:sp>
      <p:sp>
        <p:nvSpPr>
          <p:cNvPr id="302" name="" descr="{&quot;isTemplate&quot;:true,&quot;type&quot;:&quot;text&quot;}"/>
          <p:cNvSpPr txBox="1"/>
          <p:nvPr/>
        </p:nvSpPr>
        <p:spPr>
          <a:xfrm rot="0" flipH="0" flipV="0">
            <a:off x="971550" y="4391025"/>
            <a:ext cx="1809750" cy="5143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0000"/>
              </a:lnSpc>
            </a:pPr>
            <a:r>
              <a:rPr lang="zh-CN" sz="1125">
                <a:solidFill>
                  <a:srgbClr val="A9C4E8"/>
                </a:solidFill>
                <a:latin typeface="PingFang SC"/>
                <a:ea typeface="PingFang SC"/>
              </a:rPr>
              <a:t>结业交付物：一份能上董事会的</a:t>
            </a:r>
            <a:r>
              <a:rPr lang="en-US" sz="1125">
                <a:solidFill>
                  <a:srgbClr val="A9C4E8"/>
                </a:solidFill>
                <a:latin typeface="PingFang SC"/>
                <a:ea typeface="PingFang SC"/>
              </a:rPr>
              <a:t> AI </a:t>
            </a:r>
            <a:r>
              <a:rPr lang="zh-CN" sz="1125">
                <a:solidFill>
                  <a:srgbClr val="A9C4E8"/>
                </a:solidFill>
                <a:latin typeface="PingFang SC"/>
                <a:ea typeface="PingFang SC"/>
              </a:rPr>
              <a:t>三年路线图。</a:t>
            </a:r>
            <a:endParaRPr/>
          </a:p>
        </p:txBody>
      </p:sp>
      <p:sp>
        <p:nvSpPr>
          <p:cNvPr id="303" name=""/>
          <p:cNvSpPr/>
          <p:nvPr/>
        </p:nvSpPr>
        <p:spPr>
          <a:xfrm rot="0" flipH="0" flipV="0">
            <a:off x="3333750" y="1314450"/>
            <a:ext cx="8172450" cy="619125"/>
          </a:xfrm>
          <a:prstGeom prst="roundRect">
            <a:avLst>
              <a:gd name="adj" fmla="val 18462"/>
            </a:avLst>
          </a:prstGeom>
          <a:solidFill>
            <a:srgbClr val="FFFFFF"/>
          </a:solidFill>
          <a:ln/>
          <a:effectLst>
            <a:outerShdw blurRad="95250" dist="19050" dir="5400000">
              <a:srgbClr val="1E3A8A">
                <a:alpha val="5000"/>
              </a:srgbClr>
            </a:outerShdw>
          </a:effectLst>
        </p:spPr>
        <p:txBody>
          <a:bodyPr/>
          <a:p/>
        </p:txBody>
      </p:sp>
      <p:sp>
        <p:nvSpPr>
          <p:cNvPr id="304" name="" descr="{&quot;isTemplate&quot;:true,&quot;type&quot;:&quot;text&quot;}"/>
          <p:cNvSpPr txBox="1"/>
          <p:nvPr/>
        </p:nvSpPr>
        <p:spPr>
          <a:xfrm rot="0" flipH="0" flipV="0">
            <a:off x="3524250" y="1466850"/>
            <a:ext cx="533400" cy="3238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2100" b="1">
                <a:solidFill>
                  <a:srgbClr val="06B6D4"/>
                </a:solidFill>
                <a:latin typeface="Space Grotesk"/>
                <a:ea typeface="Space Grotesk"/>
              </a:rPr>
              <a:t>01</a:t>
            </a:r>
            <a:endParaRPr/>
          </a:p>
        </p:txBody>
      </p:sp>
      <p:sp>
        <p:nvSpPr>
          <p:cNvPr id="305" name="" descr="{&quot;isTemplate&quot;:true,&quot;type&quot;:&quot;text&quot;}"/>
          <p:cNvSpPr txBox="1"/>
          <p:nvPr/>
        </p:nvSpPr>
        <p:spPr>
          <a:xfrm rot="0" flipH="0" flipV="0">
            <a:off x="4229100" y="1419225"/>
            <a:ext cx="674370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 b="1">
                <a:solidFill>
                  <a:srgbClr val="1E3A8A"/>
                </a:solidFill>
                <a:latin typeface="PingFang SC"/>
                <a:ea typeface="PingFang SC"/>
              </a:rPr>
              <a:t>企业 AI 成熟度梯度</a:t>
            </a:r>
            <a:endParaRPr/>
          </a:p>
        </p:txBody>
      </p:sp>
      <p:sp>
        <p:nvSpPr>
          <p:cNvPr id="306" name="" descr="{&quot;isTemplate&quot;:true,&quot;type&quot;:&quot;text&quot;}"/>
          <p:cNvSpPr txBox="1"/>
          <p:nvPr/>
        </p:nvSpPr>
        <p:spPr>
          <a:xfrm rot="0" flipH="0" flipV="0">
            <a:off x="4229100" y="1666875"/>
            <a:ext cx="67437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64748B"/>
                </a:solidFill>
                <a:latin typeface="PingFang SC"/>
                <a:ea typeface="PingFang SC"/>
              </a:rPr>
              <a:t>基础</a:t>
            </a:r>
            <a:r>
              <a:rPr lang="en-US" sz="1050">
                <a:solidFill>
                  <a:srgbClr val="64748B"/>
                </a:solidFill>
                <a:latin typeface="PingFang SC"/>
                <a:ea typeface="PingFang SC"/>
              </a:rPr>
              <a:t> → </a:t>
            </a:r>
            <a:r>
              <a:rPr lang="zh-CN" sz="1050">
                <a:solidFill>
                  <a:srgbClr val="64748B"/>
                </a:solidFill>
                <a:latin typeface="PingFang SC"/>
                <a:ea typeface="PingFang SC"/>
              </a:rPr>
              <a:t>卓越</a:t>
            </a:r>
            <a:r>
              <a:rPr lang="en-US" sz="1050">
                <a:solidFill>
                  <a:srgbClr val="64748B"/>
                </a:solidFill>
                <a:latin typeface="PingFang SC"/>
                <a:ea typeface="PingFang SC"/>
              </a:rPr>
              <a:t> → </a:t>
            </a:r>
            <a:r>
              <a:rPr lang="zh-CN" sz="1050">
                <a:solidFill>
                  <a:srgbClr val="64748B"/>
                </a:solidFill>
                <a:latin typeface="PingFang SC"/>
                <a:ea typeface="PingFang SC"/>
              </a:rPr>
              <a:t>领航，定位你在哪、下一站在哪</a:t>
            </a:r>
            <a:endParaRPr/>
          </a:p>
        </p:txBody>
      </p:sp>
      <p:pic>
        <p:nvPicPr>
          <p:cNvPr id="307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1"/>
              </a:ext>
            </a:extLst>
          </a:blip>
          <a:stretch>
            <a:fillRect/>
          </a:stretch>
        </p:blipFill>
        <p:spPr>
          <a:xfrm rot="0" flipH="0" flipV="0">
            <a:off x="11144250" y="1543050"/>
            <a:ext cx="171450" cy="171450"/>
          </a:xfrm>
          <a:prstGeom prst="rect">
            <a:avLst/>
          </a:prstGeom>
          <a:ln/>
        </p:spPr>
      </p:pic>
      <p:sp>
        <p:nvSpPr>
          <p:cNvPr id="308" name=""/>
          <p:cNvSpPr/>
          <p:nvPr/>
        </p:nvSpPr>
        <p:spPr>
          <a:xfrm rot="0" flipH="0" flipV="0">
            <a:off x="3333750" y="2019300"/>
            <a:ext cx="8172450" cy="619125"/>
          </a:xfrm>
          <a:prstGeom prst="roundRect">
            <a:avLst>
              <a:gd name="adj" fmla="val 18462"/>
            </a:avLst>
          </a:prstGeom>
          <a:solidFill>
            <a:srgbClr val="EDF3FB"/>
          </a:solidFill>
          <a:ln/>
          <a:effectLst>
            <a:outerShdw blurRad="95250" dist="19050" dir="5400000">
              <a:srgbClr val="1E3A8A">
                <a:alpha val="5000"/>
              </a:srgbClr>
            </a:outerShdw>
          </a:effectLst>
        </p:spPr>
        <p:txBody>
          <a:bodyPr/>
          <a:p/>
        </p:txBody>
      </p:sp>
      <p:sp>
        <p:nvSpPr>
          <p:cNvPr id="309" name="" descr="{&quot;isTemplate&quot;:true,&quot;type&quot;:&quot;text&quot;}"/>
          <p:cNvSpPr txBox="1"/>
          <p:nvPr/>
        </p:nvSpPr>
        <p:spPr>
          <a:xfrm rot="0" flipH="0" flipV="0">
            <a:off x="3524250" y="2171700"/>
            <a:ext cx="533400" cy="3238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2100" b="1">
                <a:solidFill>
                  <a:srgbClr val="06B6D4"/>
                </a:solidFill>
                <a:latin typeface="Space Grotesk"/>
                <a:ea typeface="Space Grotesk"/>
              </a:rPr>
              <a:t>02</a:t>
            </a:r>
            <a:endParaRPr/>
          </a:p>
        </p:txBody>
      </p:sp>
      <p:sp>
        <p:nvSpPr>
          <p:cNvPr id="310" name="" descr="{&quot;isTemplate&quot;:true,&quot;type&quot;:&quot;text&quot;}"/>
          <p:cNvSpPr txBox="1"/>
          <p:nvPr/>
        </p:nvSpPr>
        <p:spPr>
          <a:xfrm rot="0" flipH="0" flipV="0">
            <a:off x="4229100" y="2124075"/>
            <a:ext cx="674370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 b="1">
                <a:solidFill>
                  <a:srgbClr val="1E3A8A"/>
                </a:solidFill>
                <a:latin typeface="PingFang SC"/>
                <a:ea typeface="PingFang SC"/>
              </a:rPr>
              <a:t>技术架构</a:t>
            </a:r>
            <a:endParaRPr/>
          </a:p>
        </p:txBody>
      </p:sp>
      <p:sp>
        <p:nvSpPr>
          <p:cNvPr id="311" name="" descr="{&quot;isTemplate&quot;:true,&quot;type&quot;:&quot;text&quot;}"/>
          <p:cNvSpPr txBox="1"/>
          <p:nvPr/>
        </p:nvSpPr>
        <p:spPr>
          <a:xfrm rot="0" flipH="0" flipV="0">
            <a:off x="4229100" y="2371725"/>
            <a:ext cx="67437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64748B"/>
                </a:solidFill>
                <a:latin typeface="PingFang SC"/>
                <a:ea typeface="PingFang SC"/>
              </a:rPr>
              <a:t>云</a:t>
            </a:r>
            <a:r>
              <a:rPr lang="en-US" sz="1050">
                <a:solidFill>
                  <a:srgbClr val="64748B"/>
                </a:solidFill>
                <a:latin typeface="PingFang SC"/>
                <a:ea typeface="PingFang SC"/>
              </a:rPr>
              <a:t>-</a:t>
            </a:r>
            <a:r>
              <a:rPr lang="zh-CN" sz="1050">
                <a:solidFill>
                  <a:srgbClr val="64748B"/>
                </a:solidFill>
                <a:latin typeface="PingFang SC"/>
                <a:ea typeface="PingFang SC"/>
              </a:rPr>
              <a:t>边</a:t>
            </a:r>
            <a:r>
              <a:rPr lang="en-US" sz="1050">
                <a:solidFill>
                  <a:srgbClr val="64748B"/>
                </a:solidFill>
                <a:latin typeface="PingFang SC"/>
                <a:ea typeface="PingFang SC"/>
              </a:rPr>
              <a:t>-</a:t>
            </a:r>
            <a:r>
              <a:rPr lang="zh-CN" sz="1050">
                <a:solidFill>
                  <a:srgbClr val="64748B"/>
                </a:solidFill>
                <a:latin typeface="PingFang SC"/>
                <a:ea typeface="PingFang SC"/>
              </a:rPr>
              <a:t>端</a:t>
            </a:r>
            <a:r>
              <a:rPr lang="en-US" sz="1050">
                <a:solidFill>
                  <a:srgbClr val="64748B"/>
                </a:solidFill>
                <a:latin typeface="PingFang SC"/>
                <a:ea typeface="PingFang SC"/>
              </a:rPr>
              <a:t> · </a:t>
            </a:r>
            <a:r>
              <a:rPr lang="zh-CN" sz="1050">
                <a:solidFill>
                  <a:srgbClr val="64748B"/>
                </a:solidFill>
                <a:latin typeface="PingFang SC"/>
                <a:ea typeface="PingFang SC"/>
              </a:rPr>
              <a:t>大小模型分工</a:t>
            </a:r>
            <a:r>
              <a:rPr lang="en-US" sz="1050">
                <a:solidFill>
                  <a:srgbClr val="64748B"/>
                </a:solidFill>
                <a:latin typeface="PingFang SC"/>
                <a:ea typeface="PingFang SC"/>
              </a:rPr>
              <a:t> · </a:t>
            </a:r>
            <a:r>
              <a:rPr lang="zh-CN" sz="1050">
                <a:solidFill>
                  <a:srgbClr val="64748B"/>
                </a:solidFill>
                <a:latin typeface="PingFang SC"/>
                <a:ea typeface="PingFang SC"/>
              </a:rPr>
              <a:t>仿真</a:t>
            </a:r>
            <a:r>
              <a:rPr lang="en-US" sz="1050">
                <a:solidFill>
                  <a:srgbClr val="64748B"/>
                </a:solidFill>
                <a:latin typeface="PingFang SC"/>
                <a:ea typeface="PingFang SC"/>
              </a:rPr>
              <a:t> · </a:t>
            </a:r>
            <a:r>
              <a:rPr lang="zh-CN" sz="1050">
                <a:solidFill>
                  <a:srgbClr val="64748B"/>
                </a:solidFill>
                <a:latin typeface="PingFang SC"/>
                <a:ea typeface="PingFang SC"/>
              </a:rPr>
              <a:t>行业智能体</a:t>
            </a:r>
            <a:endParaRPr/>
          </a:p>
        </p:txBody>
      </p:sp>
      <p:pic>
        <p:nvPicPr>
          <p:cNvPr id="312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1"/>
              </a:ext>
            </a:extLst>
          </a:blip>
          <a:stretch>
            <a:fillRect/>
          </a:stretch>
        </p:blipFill>
        <p:spPr>
          <a:xfrm rot="0" flipH="0" flipV="0">
            <a:off x="11144250" y="2247900"/>
            <a:ext cx="171450" cy="171450"/>
          </a:xfrm>
          <a:prstGeom prst="rect">
            <a:avLst/>
          </a:prstGeom>
          <a:ln/>
        </p:spPr>
      </p:pic>
      <p:sp>
        <p:nvSpPr>
          <p:cNvPr id="313" name=""/>
          <p:cNvSpPr/>
          <p:nvPr/>
        </p:nvSpPr>
        <p:spPr>
          <a:xfrm rot="0" flipH="0" flipV="0">
            <a:off x="3333750" y="2724150"/>
            <a:ext cx="8172450" cy="619125"/>
          </a:xfrm>
          <a:prstGeom prst="roundRect">
            <a:avLst>
              <a:gd name="adj" fmla="val 18462"/>
            </a:avLst>
          </a:prstGeom>
          <a:solidFill>
            <a:srgbClr val="FFFFFF"/>
          </a:solidFill>
          <a:ln/>
          <a:effectLst>
            <a:outerShdw blurRad="95250" dist="19050" dir="5400000">
              <a:srgbClr val="1E3A8A">
                <a:alpha val="5000"/>
              </a:srgbClr>
            </a:outerShdw>
          </a:effectLst>
        </p:spPr>
        <p:txBody>
          <a:bodyPr/>
          <a:p/>
        </p:txBody>
      </p:sp>
      <p:sp>
        <p:nvSpPr>
          <p:cNvPr id="314" name="" descr="{&quot;isTemplate&quot;:true,&quot;type&quot;:&quot;text&quot;}"/>
          <p:cNvSpPr txBox="1"/>
          <p:nvPr/>
        </p:nvSpPr>
        <p:spPr>
          <a:xfrm rot="0" flipH="0" flipV="0">
            <a:off x="3524250" y="2876550"/>
            <a:ext cx="533400" cy="3238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2100" b="1">
                <a:solidFill>
                  <a:srgbClr val="06B6D4"/>
                </a:solidFill>
                <a:latin typeface="Space Grotesk"/>
                <a:ea typeface="Space Grotesk"/>
              </a:rPr>
              <a:t>03</a:t>
            </a:r>
            <a:endParaRPr/>
          </a:p>
        </p:txBody>
      </p:sp>
      <p:sp>
        <p:nvSpPr>
          <p:cNvPr id="315" name="" descr="{&quot;isTemplate&quot;:true,&quot;type&quot;:&quot;text&quot;}"/>
          <p:cNvSpPr txBox="1"/>
          <p:nvPr/>
        </p:nvSpPr>
        <p:spPr>
          <a:xfrm rot="0" flipH="0" flipV="0">
            <a:off x="4229100" y="2828925"/>
            <a:ext cx="674370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 b="1">
                <a:solidFill>
                  <a:srgbClr val="1E3A8A"/>
                </a:solidFill>
                <a:latin typeface="PingFang SC"/>
                <a:ea typeface="PingFang SC"/>
              </a:rPr>
              <a:t>数据治理</a:t>
            </a:r>
            <a:endParaRPr/>
          </a:p>
        </p:txBody>
      </p:sp>
      <p:sp>
        <p:nvSpPr>
          <p:cNvPr id="316" name="" descr="{&quot;isTemplate&quot;:true,&quot;type&quot;:&quot;text&quot;}"/>
          <p:cNvSpPr txBox="1"/>
          <p:nvPr/>
        </p:nvSpPr>
        <p:spPr>
          <a:xfrm rot="0" flipH="0" flipV="0">
            <a:off x="4229100" y="3076575"/>
            <a:ext cx="67437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64748B"/>
                </a:solidFill>
                <a:latin typeface="PingFang SC"/>
                <a:ea typeface="PingFang SC"/>
              </a:rPr>
              <a:t>DCMM </a:t>
            </a:r>
            <a:r>
              <a:rPr lang="zh-CN" sz="1050">
                <a:solidFill>
                  <a:srgbClr val="64748B"/>
                </a:solidFill>
                <a:latin typeface="PingFang SC"/>
                <a:ea typeface="PingFang SC"/>
              </a:rPr>
              <a:t>跃迁</a:t>
            </a:r>
            <a:r>
              <a:rPr lang="en-US" sz="1050">
                <a:solidFill>
                  <a:srgbClr val="64748B"/>
                </a:solidFill>
                <a:latin typeface="PingFang SC"/>
                <a:ea typeface="PingFang SC"/>
              </a:rPr>
              <a:t> · CDO </a:t>
            </a:r>
            <a:r>
              <a:rPr lang="zh-CN" sz="1050">
                <a:solidFill>
                  <a:srgbClr val="64748B"/>
                </a:solidFill>
                <a:latin typeface="PingFang SC"/>
                <a:ea typeface="PingFang SC"/>
              </a:rPr>
              <a:t>设置</a:t>
            </a:r>
            <a:r>
              <a:rPr lang="en-US" sz="1050">
                <a:solidFill>
                  <a:srgbClr val="64748B"/>
                </a:solidFill>
                <a:latin typeface="PingFang SC"/>
                <a:ea typeface="PingFang SC"/>
              </a:rPr>
              <a:t> · </a:t>
            </a:r>
            <a:r>
              <a:rPr lang="zh-CN" sz="1050">
                <a:solidFill>
                  <a:srgbClr val="64748B"/>
                </a:solidFill>
                <a:latin typeface="PingFang SC"/>
                <a:ea typeface="PingFang SC"/>
              </a:rPr>
              <a:t>模数共振飞轮</a:t>
            </a:r>
            <a:endParaRPr/>
          </a:p>
        </p:txBody>
      </p:sp>
      <p:pic>
        <p:nvPicPr>
          <p:cNvPr id="317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1"/>
              </a:ext>
            </a:extLst>
          </a:blip>
          <a:stretch>
            <a:fillRect/>
          </a:stretch>
        </p:blipFill>
        <p:spPr>
          <a:xfrm rot="0" flipH="0" flipV="0">
            <a:off x="11144250" y="2952750"/>
            <a:ext cx="171450" cy="171450"/>
          </a:xfrm>
          <a:prstGeom prst="rect">
            <a:avLst/>
          </a:prstGeom>
          <a:ln/>
        </p:spPr>
      </p:pic>
      <p:sp>
        <p:nvSpPr>
          <p:cNvPr id="318" name=""/>
          <p:cNvSpPr/>
          <p:nvPr/>
        </p:nvSpPr>
        <p:spPr>
          <a:xfrm rot="0" flipH="0" flipV="0">
            <a:off x="3333750" y="3438525"/>
            <a:ext cx="8172450" cy="619125"/>
          </a:xfrm>
          <a:prstGeom prst="roundRect">
            <a:avLst>
              <a:gd name="adj" fmla="val 18462"/>
            </a:avLst>
          </a:prstGeom>
          <a:solidFill>
            <a:srgbClr val="EDF3FB"/>
          </a:solidFill>
          <a:ln/>
          <a:effectLst>
            <a:outerShdw blurRad="95250" dist="19050" dir="5400000">
              <a:srgbClr val="1E3A8A">
                <a:alpha val="5000"/>
              </a:srgbClr>
            </a:outerShdw>
          </a:effectLst>
        </p:spPr>
        <p:txBody>
          <a:bodyPr/>
          <a:p/>
        </p:txBody>
      </p:sp>
      <p:sp>
        <p:nvSpPr>
          <p:cNvPr id="319" name="" descr="{&quot;isTemplate&quot;:true,&quot;type&quot;:&quot;text&quot;}"/>
          <p:cNvSpPr txBox="1"/>
          <p:nvPr/>
        </p:nvSpPr>
        <p:spPr>
          <a:xfrm rot="0" flipH="0" flipV="0">
            <a:off x="3524250" y="3590925"/>
            <a:ext cx="533400" cy="3238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2100" b="1">
                <a:solidFill>
                  <a:srgbClr val="06B6D4"/>
                </a:solidFill>
                <a:latin typeface="Space Grotesk"/>
                <a:ea typeface="Space Grotesk"/>
              </a:rPr>
              <a:t>04</a:t>
            </a:r>
            <a:endParaRPr/>
          </a:p>
        </p:txBody>
      </p:sp>
      <p:sp>
        <p:nvSpPr>
          <p:cNvPr id="320" name="" descr="{&quot;isTemplate&quot;:true,&quot;type&quot;:&quot;text&quot;}"/>
          <p:cNvSpPr txBox="1"/>
          <p:nvPr/>
        </p:nvSpPr>
        <p:spPr>
          <a:xfrm rot="0" flipH="0" flipV="0">
            <a:off x="4229100" y="3543300"/>
            <a:ext cx="674370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500" b="1">
                <a:solidFill>
                  <a:srgbClr val="1E3A8A"/>
                </a:solidFill>
                <a:latin typeface="PingFang SC"/>
                <a:ea typeface="PingFang SC"/>
              </a:rPr>
              <a:t>ROI </a:t>
            </a:r>
            <a:r>
              <a:rPr lang="zh-CN" sz="1500" b="1">
                <a:solidFill>
                  <a:srgbClr val="1E3A8A"/>
                </a:solidFill>
                <a:latin typeface="PingFang SC"/>
                <a:ea typeface="PingFang SC"/>
              </a:rPr>
              <a:t>与价值</a:t>
            </a:r>
            <a:endParaRPr/>
          </a:p>
        </p:txBody>
      </p:sp>
      <p:sp>
        <p:nvSpPr>
          <p:cNvPr id="321" name="" descr="{&quot;isTemplate&quot;:true,&quot;type&quot;:&quot;text&quot;}"/>
          <p:cNvSpPr txBox="1"/>
          <p:nvPr/>
        </p:nvSpPr>
        <p:spPr>
          <a:xfrm rot="0" flipH="0" flipV="0">
            <a:off x="4229100" y="3790950"/>
            <a:ext cx="67437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64748B"/>
                </a:solidFill>
                <a:latin typeface="PingFang SC"/>
                <a:ea typeface="PingFang SC"/>
              </a:rPr>
              <a:t>双指标体系</a:t>
            </a:r>
            <a:r>
              <a:rPr lang="en-US" sz="1050">
                <a:solidFill>
                  <a:srgbClr val="64748B"/>
                </a:solidFill>
                <a:latin typeface="PingFang SC"/>
                <a:ea typeface="PingFang SC"/>
              </a:rPr>
              <a:t> · </a:t>
            </a:r>
            <a:r>
              <a:rPr lang="zh-CN" sz="1050">
                <a:solidFill>
                  <a:srgbClr val="64748B"/>
                </a:solidFill>
                <a:latin typeface="PingFang SC"/>
                <a:ea typeface="PingFang SC"/>
              </a:rPr>
              <a:t>用户分层</a:t>
            </a:r>
            <a:r>
              <a:rPr lang="en-US" sz="1050">
                <a:solidFill>
                  <a:srgbClr val="64748B"/>
                </a:solidFill>
                <a:latin typeface="PingFang SC"/>
                <a:ea typeface="PingFang SC"/>
              </a:rPr>
              <a:t> · ROI </a:t>
            </a:r>
            <a:r>
              <a:rPr lang="zh-CN" sz="1050">
                <a:solidFill>
                  <a:srgbClr val="64748B"/>
                </a:solidFill>
                <a:latin typeface="PingFang SC"/>
                <a:ea typeface="PingFang SC"/>
              </a:rPr>
              <a:t>五步算账</a:t>
            </a:r>
            <a:endParaRPr/>
          </a:p>
        </p:txBody>
      </p:sp>
      <p:pic>
        <p:nvPicPr>
          <p:cNvPr id="322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1"/>
              </a:ext>
            </a:extLst>
          </a:blip>
          <a:stretch>
            <a:fillRect/>
          </a:stretch>
        </p:blipFill>
        <p:spPr>
          <a:xfrm rot="0" flipH="0" flipV="0">
            <a:off x="11144250" y="3667125"/>
            <a:ext cx="171450" cy="171450"/>
          </a:xfrm>
          <a:prstGeom prst="rect">
            <a:avLst/>
          </a:prstGeom>
          <a:ln/>
        </p:spPr>
      </p:pic>
      <p:sp>
        <p:nvSpPr>
          <p:cNvPr id="323" name=""/>
          <p:cNvSpPr/>
          <p:nvPr/>
        </p:nvSpPr>
        <p:spPr>
          <a:xfrm rot="0" flipH="0" flipV="0">
            <a:off x="3333750" y="4143375"/>
            <a:ext cx="8172450" cy="619125"/>
          </a:xfrm>
          <a:prstGeom prst="roundRect">
            <a:avLst>
              <a:gd name="adj" fmla="val 18462"/>
            </a:avLst>
          </a:prstGeom>
          <a:solidFill>
            <a:srgbClr val="FFFFFF"/>
          </a:solidFill>
          <a:ln/>
          <a:effectLst>
            <a:outerShdw blurRad="95250" dist="19050" dir="5400000">
              <a:srgbClr val="1E3A8A">
                <a:alpha val="5000"/>
              </a:srgbClr>
            </a:outerShdw>
          </a:effectLst>
        </p:spPr>
        <p:txBody>
          <a:bodyPr/>
          <a:p/>
        </p:txBody>
      </p:sp>
      <p:sp>
        <p:nvSpPr>
          <p:cNvPr id="324" name="" descr="{&quot;isTemplate&quot;:true,&quot;type&quot;:&quot;text&quot;}"/>
          <p:cNvSpPr txBox="1"/>
          <p:nvPr/>
        </p:nvSpPr>
        <p:spPr>
          <a:xfrm rot="0" flipH="0" flipV="0">
            <a:off x="3524250" y="4295775"/>
            <a:ext cx="533400" cy="3238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2100" b="1">
                <a:solidFill>
                  <a:srgbClr val="06B6D4"/>
                </a:solidFill>
                <a:latin typeface="Space Grotesk"/>
                <a:ea typeface="Space Grotesk"/>
              </a:rPr>
              <a:t>05</a:t>
            </a:r>
            <a:endParaRPr/>
          </a:p>
        </p:txBody>
      </p:sp>
      <p:sp>
        <p:nvSpPr>
          <p:cNvPr id="325" name="" descr="{&quot;isTemplate&quot;:true,&quot;type&quot;:&quot;text&quot;}"/>
          <p:cNvSpPr txBox="1"/>
          <p:nvPr/>
        </p:nvSpPr>
        <p:spPr>
          <a:xfrm rot="0" flipH="0" flipV="0">
            <a:off x="4229100" y="4248150"/>
            <a:ext cx="674370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 b="1">
                <a:solidFill>
                  <a:srgbClr val="1E3A8A"/>
                </a:solidFill>
                <a:latin typeface="PingFang SC"/>
                <a:ea typeface="PingFang SC"/>
              </a:rPr>
              <a:t>组织采纳（核心）</a:t>
            </a:r>
            <a:endParaRPr/>
          </a:p>
        </p:txBody>
      </p:sp>
      <p:sp>
        <p:nvSpPr>
          <p:cNvPr id="326" name="" descr="{&quot;isTemplate&quot;:true,&quot;type&quot;:&quot;text&quot;}"/>
          <p:cNvSpPr txBox="1"/>
          <p:nvPr/>
        </p:nvSpPr>
        <p:spPr>
          <a:xfrm rot="0" flipH="0" flipV="0">
            <a:off x="4229100" y="4495800"/>
            <a:ext cx="67437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64748B"/>
                </a:solidFill>
                <a:latin typeface="PingFang SC"/>
                <a:ea typeface="PingFang SC"/>
              </a:rPr>
              <a:t>八支柱</a:t>
            </a:r>
            <a:r>
              <a:rPr lang="en-US" sz="1050">
                <a:solidFill>
                  <a:srgbClr val="64748B"/>
                </a:solidFill>
                <a:latin typeface="PingFang SC"/>
                <a:ea typeface="PingFang SC"/>
              </a:rPr>
              <a:t> · </a:t>
            </a:r>
            <a:r>
              <a:rPr lang="zh-CN" sz="1050">
                <a:solidFill>
                  <a:srgbClr val="64748B"/>
                </a:solidFill>
                <a:latin typeface="PingFang SC"/>
                <a:ea typeface="PingFang SC"/>
              </a:rPr>
              <a:t>三阶段推进</a:t>
            </a:r>
            <a:r>
              <a:rPr lang="en-US" sz="1050">
                <a:solidFill>
                  <a:srgbClr val="64748B"/>
                </a:solidFill>
                <a:latin typeface="PingFang SC"/>
                <a:ea typeface="PingFang SC"/>
              </a:rPr>
              <a:t> · </a:t>
            </a:r>
            <a:r>
              <a:rPr lang="zh-CN" sz="1050">
                <a:solidFill>
                  <a:srgbClr val="64748B"/>
                </a:solidFill>
                <a:latin typeface="PingFang SC"/>
                <a:ea typeface="PingFang SC"/>
              </a:rPr>
              <a:t>采纳看板</a:t>
            </a:r>
            <a:endParaRPr/>
          </a:p>
        </p:txBody>
      </p:sp>
      <p:pic>
        <p:nvPicPr>
          <p:cNvPr id="327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1"/>
              </a:ext>
            </a:extLst>
          </a:blip>
          <a:stretch>
            <a:fillRect/>
          </a:stretch>
        </p:blipFill>
        <p:spPr>
          <a:xfrm rot="0" flipH="0" flipV="0">
            <a:off x="11144250" y="4371975"/>
            <a:ext cx="171450" cy="171450"/>
          </a:xfrm>
          <a:prstGeom prst="rect">
            <a:avLst/>
          </a:prstGeom>
          <a:ln/>
        </p:spPr>
      </p:pic>
      <p:sp>
        <p:nvSpPr>
          <p:cNvPr id="328" name=""/>
          <p:cNvSpPr/>
          <p:nvPr/>
        </p:nvSpPr>
        <p:spPr>
          <a:xfrm rot="0" flipH="0" flipV="0">
            <a:off x="3333750" y="4848225"/>
            <a:ext cx="8172450" cy="619125"/>
          </a:xfrm>
          <a:prstGeom prst="roundRect">
            <a:avLst>
              <a:gd name="adj" fmla="val 18462"/>
            </a:avLst>
          </a:prstGeom>
          <a:solidFill>
            <a:srgbClr val="EDF3FB"/>
          </a:solidFill>
          <a:ln/>
          <a:effectLst>
            <a:outerShdw blurRad="95250" dist="19050" dir="5400000">
              <a:srgbClr val="1E3A8A">
                <a:alpha val="5000"/>
              </a:srgbClr>
            </a:outerShdw>
          </a:effectLst>
        </p:spPr>
        <p:txBody>
          <a:bodyPr/>
          <a:p/>
        </p:txBody>
      </p:sp>
      <p:sp>
        <p:nvSpPr>
          <p:cNvPr id="329" name="" descr="{&quot;isTemplate&quot;:true,&quot;type&quot;:&quot;text&quot;}"/>
          <p:cNvSpPr txBox="1"/>
          <p:nvPr/>
        </p:nvSpPr>
        <p:spPr>
          <a:xfrm rot="0" flipH="0" flipV="0">
            <a:off x="3524250" y="5000625"/>
            <a:ext cx="533400" cy="3238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2100" b="1">
                <a:solidFill>
                  <a:srgbClr val="06B6D4"/>
                </a:solidFill>
                <a:latin typeface="Space Grotesk"/>
                <a:ea typeface="Space Grotesk"/>
              </a:rPr>
              <a:t>06</a:t>
            </a:r>
            <a:endParaRPr/>
          </a:p>
        </p:txBody>
      </p:sp>
      <p:sp>
        <p:nvSpPr>
          <p:cNvPr id="330" name="" descr="{&quot;isTemplate&quot;:true,&quot;type&quot;:&quot;text&quot;}"/>
          <p:cNvSpPr txBox="1"/>
          <p:nvPr/>
        </p:nvSpPr>
        <p:spPr>
          <a:xfrm rot="0" flipH="0" flipV="0">
            <a:off x="4229100" y="4953000"/>
            <a:ext cx="674370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 b="1">
                <a:solidFill>
                  <a:srgbClr val="1E3A8A"/>
                </a:solidFill>
                <a:latin typeface="PingFang SC"/>
                <a:ea typeface="PingFang SC"/>
              </a:rPr>
              <a:t>治理与合规</a:t>
            </a:r>
            <a:endParaRPr/>
          </a:p>
        </p:txBody>
      </p:sp>
      <p:sp>
        <p:nvSpPr>
          <p:cNvPr id="331" name="" descr="{&quot;isTemplate&quot;:true,&quot;type&quot;:&quot;text&quot;}"/>
          <p:cNvSpPr txBox="1"/>
          <p:nvPr/>
        </p:nvSpPr>
        <p:spPr>
          <a:xfrm rot="0" flipH="0" flipV="0">
            <a:off x="4229100" y="5200650"/>
            <a:ext cx="67437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64748B"/>
                </a:solidFill>
                <a:latin typeface="PingFang SC"/>
                <a:ea typeface="PingFang SC"/>
              </a:rPr>
              <a:t>分类分级</a:t>
            </a:r>
            <a:r>
              <a:rPr lang="en-US" sz="1050">
                <a:solidFill>
                  <a:srgbClr val="64748B"/>
                </a:solidFill>
                <a:latin typeface="PingFang SC"/>
                <a:ea typeface="PingFang SC"/>
              </a:rPr>
              <a:t> · </a:t>
            </a:r>
            <a:r>
              <a:rPr lang="zh-CN" sz="1050">
                <a:solidFill>
                  <a:srgbClr val="64748B"/>
                </a:solidFill>
                <a:latin typeface="PingFang SC"/>
                <a:ea typeface="PingFang SC"/>
              </a:rPr>
              <a:t>幻觉防控</a:t>
            </a:r>
            <a:r>
              <a:rPr lang="en-US" sz="1050">
                <a:solidFill>
                  <a:srgbClr val="64748B"/>
                </a:solidFill>
                <a:latin typeface="PingFang SC"/>
                <a:ea typeface="PingFang SC"/>
              </a:rPr>
              <a:t> · </a:t>
            </a:r>
            <a:r>
              <a:rPr lang="zh-CN" sz="1050">
                <a:solidFill>
                  <a:srgbClr val="64748B"/>
                </a:solidFill>
                <a:latin typeface="PingFang SC"/>
                <a:ea typeface="PingFang SC"/>
              </a:rPr>
              <a:t>伦理底线</a:t>
            </a:r>
            <a:r>
              <a:rPr lang="en-US" sz="1050">
                <a:solidFill>
                  <a:srgbClr val="64748B"/>
                </a:solidFill>
                <a:latin typeface="PingFang SC"/>
                <a:ea typeface="PingFang SC"/>
              </a:rPr>
              <a:t> · NIST </a:t>
            </a:r>
            <a:r>
              <a:rPr lang="zh-CN" sz="1050">
                <a:solidFill>
                  <a:srgbClr val="64748B"/>
                </a:solidFill>
                <a:latin typeface="PingFang SC"/>
                <a:ea typeface="PingFang SC"/>
              </a:rPr>
              <a:t>映射</a:t>
            </a:r>
            <a:endParaRPr/>
          </a:p>
        </p:txBody>
      </p:sp>
      <p:pic>
        <p:nvPicPr>
          <p:cNvPr id="332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1"/>
              </a:ext>
            </a:extLst>
          </a:blip>
          <a:stretch>
            <a:fillRect/>
          </a:stretch>
        </p:blipFill>
        <p:spPr>
          <a:xfrm rot="0" flipH="0" flipV="0">
            <a:off x="11144250" y="5076825"/>
            <a:ext cx="171450" cy="171450"/>
          </a:xfrm>
          <a:prstGeom prst="rect">
            <a:avLst/>
          </a:prstGeom>
          <a:ln/>
        </p:spPr>
      </p:pic>
      <p:sp>
        <p:nvSpPr>
          <p:cNvPr id="333" name=""/>
          <p:cNvSpPr/>
          <p:nvPr/>
        </p:nvSpPr>
        <p:spPr>
          <a:xfrm rot="0" flipH="0" flipV="0">
            <a:off x="3333750" y="5553075"/>
            <a:ext cx="8172450" cy="619125"/>
          </a:xfrm>
          <a:prstGeom prst="roundRect">
            <a:avLst>
              <a:gd name="adj" fmla="val 18462"/>
            </a:avLst>
          </a:prstGeom>
          <a:solidFill>
            <a:srgbClr val="FFFFFF"/>
          </a:solidFill>
          <a:ln/>
          <a:effectLst>
            <a:outerShdw blurRad="95250" dist="19050" dir="5400000">
              <a:srgbClr val="1E3A8A">
                <a:alpha val="5000"/>
              </a:srgbClr>
            </a:outerShdw>
          </a:effectLst>
        </p:spPr>
        <p:txBody>
          <a:bodyPr/>
          <a:p/>
        </p:txBody>
      </p:sp>
      <p:sp>
        <p:nvSpPr>
          <p:cNvPr id="334" name="" descr="{&quot;isTemplate&quot;:true,&quot;type&quot;:&quot;text&quot;}"/>
          <p:cNvSpPr txBox="1"/>
          <p:nvPr/>
        </p:nvSpPr>
        <p:spPr>
          <a:xfrm rot="0" flipH="0" flipV="0">
            <a:off x="3524250" y="5705475"/>
            <a:ext cx="533400" cy="3238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2100" b="1">
                <a:solidFill>
                  <a:srgbClr val="06B6D4"/>
                </a:solidFill>
                <a:latin typeface="Space Grotesk"/>
                <a:ea typeface="Space Grotesk"/>
              </a:rPr>
              <a:t>07</a:t>
            </a:r>
            <a:endParaRPr/>
          </a:p>
        </p:txBody>
      </p:sp>
      <p:sp>
        <p:nvSpPr>
          <p:cNvPr id="335" name="" descr="{&quot;isTemplate&quot;:true,&quot;type&quot;:&quot;text&quot;}"/>
          <p:cNvSpPr txBox="1"/>
          <p:nvPr/>
        </p:nvSpPr>
        <p:spPr>
          <a:xfrm rot="0" flipH="0" flipV="0">
            <a:off x="4229100" y="5657850"/>
            <a:ext cx="674370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 b="1">
                <a:solidFill>
                  <a:srgbClr val="1E3A8A"/>
                </a:solidFill>
                <a:latin typeface="PingFang SC"/>
                <a:ea typeface="PingFang SC"/>
              </a:rPr>
              <a:t>战略沙盘</a:t>
            </a:r>
            <a:endParaRPr/>
          </a:p>
        </p:txBody>
      </p:sp>
      <p:sp>
        <p:nvSpPr>
          <p:cNvPr id="336" name="" descr="{&quot;isTemplate&quot;:true,&quot;type&quot;:&quot;text&quot;}"/>
          <p:cNvSpPr txBox="1"/>
          <p:nvPr/>
        </p:nvSpPr>
        <p:spPr>
          <a:xfrm rot="0" flipH="0" flipV="0">
            <a:off x="4229100" y="5905500"/>
            <a:ext cx="67437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64748B"/>
                </a:solidFill>
                <a:latin typeface="PingFang SC"/>
                <a:ea typeface="PingFang SC"/>
              </a:rPr>
              <a:t>2 </a:t>
            </a:r>
            <a:r>
              <a:rPr lang="zh-CN" sz="1050">
                <a:solidFill>
                  <a:srgbClr val="64748B"/>
                </a:solidFill>
                <a:latin typeface="PingFang SC"/>
                <a:ea typeface="PingFang SC"/>
              </a:rPr>
              <a:t>天</a:t>
            </a:r>
            <a:r>
              <a:rPr lang="en-US" sz="1050">
                <a:solidFill>
                  <a:srgbClr val="64748B"/>
                </a:solidFill>
                <a:latin typeface="PingFang SC"/>
                <a:ea typeface="PingFang SC"/>
              </a:rPr>
              <a:t> 3 </a:t>
            </a:r>
            <a:r>
              <a:rPr lang="zh-CN" sz="1050">
                <a:solidFill>
                  <a:srgbClr val="64748B"/>
                </a:solidFill>
                <a:latin typeface="PingFang SC"/>
                <a:ea typeface="PingFang SC"/>
              </a:rPr>
              <a:t>任务：自评</a:t>
            </a:r>
            <a:r>
              <a:rPr lang="en-US" sz="1050">
                <a:solidFill>
                  <a:srgbClr val="64748B"/>
                </a:solidFill>
                <a:latin typeface="PingFang SC"/>
                <a:ea typeface="PingFang SC"/>
              </a:rPr>
              <a:t> · </a:t>
            </a:r>
            <a:r>
              <a:rPr lang="zh-CN" sz="1050">
                <a:solidFill>
                  <a:srgbClr val="64748B"/>
                </a:solidFill>
                <a:latin typeface="PingFang SC"/>
                <a:ea typeface="PingFang SC"/>
              </a:rPr>
              <a:t>算账</a:t>
            </a:r>
            <a:r>
              <a:rPr lang="en-US" sz="1050">
                <a:solidFill>
                  <a:srgbClr val="64748B"/>
                </a:solidFill>
                <a:latin typeface="PingFang SC"/>
                <a:ea typeface="PingFang SC"/>
              </a:rPr>
              <a:t> · </a:t>
            </a:r>
            <a:r>
              <a:rPr lang="zh-CN" sz="1050">
                <a:solidFill>
                  <a:srgbClr val="64748B"/>
                </a:solidFill>
                <a:latin typeface="PingFang SC"/>
                <a:ea typeface="PingFang SC"/>
              </a:rPr>
              <a:t>路线图推演</a:t>
            </a:r>
            <a:endParaRPr/>
          </a:p>
        </p:txBody>
      </p:sp>
      <p:pic>
        <p:nvPicPr>
          <p:cNvPr id="337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1"/>
              </a:ext>
            </a:extLst>
          </a:blip>
          <a:stretch>
            <a:fillRect/>
          </a:stretch>
        </p:blipFill>
        <p:spPr>
          <a:xfrm rot="0" flipH="0" flipV="0">
            <a:off x="11144250" y="5781675"/>
            <a:ext cx="171450" cy="171450"/>
          </a:xfrm>
          <a:prstGeom prst="rect">
            <a:avLst/>
          </a:prstGeom>
          <a:ln/>
        </p:spPr>
      </p:pic>
      <p:sp>
        <p:nvSpPr>
          <p:cNvPr id="338" name="" descr="{&quot;isTemplate&quot;:true,&quot;type&quot;:&quot;text&quot;}"/>
          <p:cNvSpPr txBox="1"/>
          <p:nvPr/>
        </p:nvSpPr>
        <p:spPr>
          <a:xfrm rot="0" flipH="0" flipV="0">
            <a:off x="685800" y="6362700"/>
            <a:ext cx="12573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64748B"/>
                </a:solidFill>
                <a:latin typeface="PingFang SC"/>
                <a:ea typeface="PingFang SC"/>
              </a:rPr>
              <a:t>AI </a:t>
            </a:r>
            <a:r>
              <a:rPr lang="zh-CN" sz="1050">
                <a:solidFill>
                  <a:srgbClr val="64748B"/>
                </a:solidFill>
                <a:latin typeface="PingFang SC"/>
                <a:ea typeface="PingFang SC"/>
              </a:rPr>
              <a:t>规划与治理</a:t>
            </a:r>
            <a:r>
              <a:rPr lang="en-US" sz="1050">
                <a:solidFill>
                  <a:srgbClr val="64748B"/>
                </a:solidFill>
                <a:latin typeface="PingFang SC"/>
                <a:ea typeface="PingFang SC"/>
              </a:rPr>
              <a:t> · </a:t>
            </a:r>
            <a:r>
              <a:rPr lang="zh-CN" sz="1050">
                <a:solidFill>
                  <a:srgbClr val="64748B"/>
                </a:solidFill>
                <a:latin typeface="PingFang SC"/>
                <a:ea typeface="PingFang SC"/>
              </a:rPr>
              <a:t>高级</a:t>
            </a:r>
            <a:endParaRPr/>
          </a:p>
        </p:txBody>
      </p:sp>
      <p:sp>
        <p:nvSpPr>
          <p:cNvPr id="339" name="" descr="{&quot;isTemplate&quot;:true,&quot;type&quot;:&quot;text&quot;}"/>
          <p:cNvSpPr txBox="1"/>
          <p:nvPr/>
        </p:nvSpPr>
        <p:spPr>
          <a:xfrm rot="0" flipH="0" flipV="0">
            <a:off x="11029950" y="6362700"/>
            <a:ext cx="4762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64748B"/>
                </a:solidFill>
                <a:latin typeface="PingFang SC"/>
                <a:ea typeface="PingFang SC"/>
              </a:rPr>
              <a:t>02 / 24</a:t>
            </a:r>
            <a:endParaRPr/>
          </a:p>
        </p:txBody>
      </p:sp>
    </p:spTree>
  </p:cSld>
</p:sld>
</file>

<file path=ppt/slides/slide3.xml><?xml version="1.0" encoding="utf-8"?>
<p:sld xmlns:asvg="http://schemas.microsoft.com/office/drawing/2016/SVG/main" xmlns:a="http://schemas.openxmlformats.org/drawingml/2006/main" xmlns:r="http://schemas.openxmlformats.org/officeDocument/2006/relationships" xmlns:p="http://schemas.openxmlformats.org/presentationml/2006/main" xmlns:mc="http://schemas.openxmlformats.org/markup-compatibility/2006" mc:Ignorable="asvg">
  <p:cSld>
    <p:spTree>
      <p:nvGrpSpPr>
        <p:cNvPr id="484" name="" descr="const caps = [&#10;    { icon: 'calculator', t: '算得清账', d: '双指标体系 + ROI 五步，投入产出说得明白' },&#10;    { icon: 'project-diagram', t: '搭得起架构', d: '云-边-端 + 大小模型分工，不被供应商话术带跑' },&#10;    { icon: 'users', t: '推得动组织', d: '八支柱 + 三阶段，让系统真的被人用起来' },&#10;    { icon: 'shield-alt', t: '守得住底线', d: '分类分级 + 幻觉防控 + 伦理红线，出事有人接得住' },&#10;];&#10;&lt;Slide style={{ width: '1280px', height: '720px', background: '#F5F8FC', padding: '24px 72px', boxSizing: 'border-box', flexDirection: 'column', fontFamily: 'PingFang SC, Source Han Sans SC, sans-serif' }}&gt;&#10;    &lt;Box style={{ height: 96, flexDirection: 'row', alignItems: 'center', gap: 16 }}&gt;&#10;        &lt;Box style={{ width: 5, height: 46, background: '#06B6D4', borderRadius: 3 }} /&gt;&#10;        &lt;Box&gt;&#10;            &lt;Text style={{ fontSize: 34, fontWeight: 'bold', color: '#1E3A8A', lineHeight: 1.2 }}&gt;高管为什么必须懂 AI&lt;/Text&gt;&#10;            &lt;Text style={{ fontSize: 17, color: '#64748B', marginTop: 4 }}&gt;四个高管困境，对应四个能力 —— 这门课逐个拆&lt;/Text&gt;&#10;        &lt;/Box&gt;&#10;    &lt;/Box&gt;&#10;    &lt;Box style={{ flexDirection: 'row', gap: 20, marginTop: 16 }}&gt;&#10;        {caps.map((c, i) =&gt; (&#10;            &lt;Box key={i} style={{ flex: 1, background: '#FFFFFF', borderRadius: 16, padding: '24px 22px', border: '1px solid #E2E8F0', boxShadow: '0 4px 16px rgba(30,58,138,0.06)', flexDirection: 'column' }}&gt;&#10;                &lt;Box style={{ width: 60, height: 60, borderRadius: 15, background: i % 2 === 0 ? '#E0F7FA' : '#FEEFE0', justifyContent: 'center', alignItems: 'center', marginBottom: 16 }}&gt;&#10;                    &lt;FAIcon name={c.icon} style={{ fill: i % 2 === 0 ? '#0891B2' : '#F59E0B', width: 30, height: 30 }} /&gt;&#10;                &lt;/Box&gt;&#10;                &lt;Text style={{ fontSize: 22, fontWeight: 'bold', color: '#1E3A8A', marginBottom: 10 }}&gt;{c.t}&lt;/Text&gt;&#10;                &lt;Text style={{ fontSize: 15, color: '#43566b', lineHeight: 1.65, flex: 1 }}&gt;{c.d}&lt;/Text&gt;&#10;            &lt;/Box&gt;&#10;        ))}&#10;    &lt;/Box&gt;&#10;    &lt;Box style={{ flex: 1, flexDirection: 'row', gap: 24, marginTop: 20 }}&gt;&#10;        &lt;Box style={{ flex: 1, background: '#FFFFFF', borderRadius: 16, padding: '18px 24px', border: '1px solid #E2E8F0' }}&gt;&#10;            &lt;Text style={{ fontSize: 17, fontWeight: 'bold', color: '#1E3A8A', marginBottom: 8 }}&gt;对应的高管困境&lt;/Text&gt;&#10;            &lt;Text style={{ fontSize: 15, color: '#43566b', lineHeight: 1.9 }}&gt;① 算不清账：投了多少钱，省了多少钱，说不清&lt;br /&gt;② 架构听供应商的：方案换三轮，越听越糊涂&lt;br /&gt;③ 系统上了人不动：MAU 上不去，项目变烂尾&lt;br /&gt;④ 说不清责任：AI 判错了，责任在谁，没人认领&lt;/Text&gt;&#10;        &lt;/Box&gt;&#10;        &lt;Box style={{ flex: 1, background: '#1E3A8A', borderRadius: 16, padding: '18px 24px', flexDirection: 'column', boxShadow: '0 8px 24px rgba(30,58,138,0.22)' }}&gt;&#10;            &lt;Text style={{ fontSize: 17, fontWeight: 'bold', color: '#FFFFFF', marginBottom: 8 }}&gt;对象 · 班型 · 前置&lt;/Text&gt;&#10;            &lt;Text style={{ fontSize: 15, color: '#DCE9FB', lineHeight: 1.8 }}&gt;对象：CIO / CDO / 数字化负责人 / 厂长 / 战略运营高管&lt;br /&gt;班型：16–24 课时 + 2 天战略沙盘，8–15 人小班&lt;br /&gt;前置：中级结业或同级别实战经验（带一个真实项目来）&lt;/Text&gt;&#10;            &lt;Box style={{ marginTop: 'auto', paddingTop: 10 }}&gt;&#10;                &lt;Text style={{ fontSize: 15, fontWeight: 'bold', color: '#F8C471' }}&gt;中级交场景，高级交路线图 —— 两级课程互为接口。&lt;/Text&gt;&#10;            &lt;/Box&gt;&#10;        &lt;/Box&gt;&#10;    &lt;/Box&gt;&#10;    &lt;Box style={{ height: 40, flexDirection: 'row', justifyContent: 'space-between', alignItems: 'center', marginTop: 10 }}&gt;&#10;        &lt;Text style={{ fontSize: 14, color: '#64748B' }}&gt;AI 规划与治理 · 高级&lt;/Text&gt;&#10;        &lt;Text style={{ fontSize: 14, color: '#64748B' }}&gt;03 / 24&lt;/Text&gt;&#10;    &lt;/Box&gt;&#10;&lt;/Slide&gt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5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5F8FC"/>
          </a:solidFill>
          <a:ln/>
        </p:spPr>
        <p:txBody>
          <a:bodyPr/>
          <a:p/>
        </p:txBody>
      </p:sp>
      <p:sp>
        <p:nvSpPr>
          <p:cNvPr id="486" name=""/>
          <p:cNvSpPr/>
          <p:nvPr/>
        </p:nvSpPr>
        <p:spPr>
          <a:xfrm rot="0" flipH="0" flipV="0">
            <a:off x="685800" y="466725"/>
            <a:ext cx="47625" cy="438150"/>
          </a:xfrm>
          <a:prstGeom prst="roundRect">
            <a:avLst>
              <a:gd name="adj" fmla="val 60000"/>
            </a:avLst>
          </a:prstGeom>
          <a:solidFill>
            <a:srgbClr val="06B6D4"/>
          </a:solidFill>
          <a:ln/>
        </p:spPr>
        <p:txBody>
          <a:bodyPr/>
          <a:p/>
        </p:txBody>
      </p:sp>
      <p:sp>
        <p:nvSpPr>
          <p:cNvPr id="487" name="" descr="{&quot;isTemplate&quot;:true,&quot;type&quot;:&quot;text&quot;}"/>
          <p:cNvSpPr txBox="1"/>
          <p:nvPr/>
        </p:nvSpPr>
        <p:spPr>
          <a:xfrm rot="0" flipH="0" flipV="0">
            <a:off x="885825" y="333375"/>
            <a:ext cx="3514725" cy="466725"/>
          </a:xfrm>
          <a:prstGeom prst="rect"/>
        </p:spPr>
        <p:txBody>
          <a:bodyPr wrap="none" lIns="0" tIns="0" rIns="0" bIns="0"/>
          <a:p>
            <a:pPr>
              <a:lnSpc>
                <a:spcPct val="120000"/>
              </a:lnSpc>
            </a:pPr>
            <a:r>
              <a:rPr lang="zh-CN" sz="2550" b="1">
                <a:solidFill>
                  <a:srgbClr val="1E3A8A"/>
                </a:solidFill>
                <a:latin typeface="PingFang SC"/>
                <a:ea typeface="PingFang SC"/>
              </a:rPr>
              <a:t>高管为什么必须懂</a:t>
            </a:r>
            <a:r>
              <a:rPr lang="en-US" sz="2550" b="1">
                <a:solidFill>
                  <a:srgbClr val="1E3A8A"/>
                </a:solidFill>
                <a:latin typeface="PingFang SC"/>
                <a:ea typeface="PingFang SC"/>
              </a:rPr>
              <a:t> AI</a:t>
            </a:r>
            <a:endParaRPr/>
          </a:p>
        </p:txBody>
      </p:sp>
      <p:sp>
        <p:nvSpPr>
          <p:cNvPr id="488" name="" descr="{&quot;isTemplate&quot;:true,&quot;type&quot;:&quot;text&quot;}"/>
          <p:cNvSpPr txBox="1"/>
          <p:nvPr/>
        </p:nvSpPr>
        <p:spPr>
          <a:xfrm rot="0" flipH="0" flipV="0">
            <a:off x="885825" y="838200"/>
            <a:ext cx="3514725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>
                <a:solidFill>
                  <a:srgbClr val="64748B"/>
                </a:solidFill>
                <a:latin typeface="PingFang SC"/>
                <a:ea typeface="PingFang SC"/>
              </a:rPr>
              <a:t>四个高管困境，对应四个能力</a:t>
            </a:r>
            <a:r>
              <a:rPr lang="en-US" sz="1275">
                <a:solidFill>
                  <a:srgbClr val="64748B"/>
                </a:solidFill>
                <a:latin typeface="PingFang SC"/>
                <a:ea typeface="PingFang SC"/>
              </a:rPr>
              <a:t> —— </a:t>
            </a:r>
            <a:r>
              <a:rPr lang="zh-CN" sz="1275">
                <a:solidFill>
                  <a:srgbClr val="64748B"/>
                </a:solidFill>
                <a:latin typeface="PingFang SC"/>
                <a:ea typeface="PingFang SC"/>
              </a:rPr>
              <a:t>这门课逐个拆</a:t>
            </a:r>
            <a:endParaRPr/>
          </a:p>
        </p:txBody>
      </p:sp>
      <p:sp>
        <p:nvSpPr>
          <p:cNvPr id="489" name=""/>
          <p:cNvSpPr/>
          <p:nvPr/>
        </p:nvSpPr>
        <p:spPr>
          <a:xfrm rot="0" flipH="0" flipV="0">
            <a:off x="685800" y="1295400"/>
            <a:ext cx="2562225" cy="2105025"/>
          </a:xfrm>
          <a:prstGeom prst="roundRect">
            <a:avLst>
              <a:gd name="adj" fmla="val 724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52400" dist="38100" dir="5400000">
              <a:srgbClr val="1E3A8A">
                <a:alpha val="6000"/>
              </a:srgbClr>
            </a:outerShdw>
          </a:effectLst>
        </p:spPr>
        <p:txBody>
          <a:bodyPr/>
          <a:p/>
        </p:txBody>
      </p:sp>
      <p:sp>
        <p:nvSpPr>
          <p:cNvPr id="490" name=""/>
          <p:cNvSpPr/>
          <p:nvPr/>
        </p:nvSpPr>
        <p:spPr>
          <a:xfrm rot="0" flipH="0" flipV="0">
            <a:off x="895350" y="1524000"/>
            <a:ext cx="571500" cy="571500"/>
          </a:xfrm>
          <a:prstGeom prst="roundRect">
            <a:avLst>
              <a:gd name="adj" fmla="val 25000"/>
            </a:avLst>
          </a:prstGeom>
          <a:solidFill>
            <a:srgbClr val="E0F7FA"/>
          </a:solidFill>
          <a:ln/>
        </p:spPr>
        <p:txBody>
          <a:bodyPr/>
          <a:p/>
        </p:txBody>
      </p:sp>
      <p:pic>
        <p:nvPicPr>
          <p:cNvPr id="491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1"/>
              </a:ext>
            </a:extLst>
          </a:blip>
          <a:stretch>
            <a:fillRect/>
          </a:stretch>
        </p:blipFill>
        <p:spPr>
          <a:xfrm rot="0" flipH="0" flipV="0">
            <a:off x="1038225" y="1666875"/>
            <a:ext cx="285750" cy="285750"/>
          </a:xfrm>
          <a:prstGeom prst="rect">
            <a:avLst/>
          </a:prstGeom>
          <a:ln/>
        </p:spPr>
      </p:pic>
      <p:sp>
        <p:nvSpPr>
          <p:cNvPr id="492" name="" descr="{&quot;isTemplate&quot;:true,&quot;type&quot;:&quot;text&quot;}"/>
          <p:cNvSpPr txBox="1"/>
          <p:nvPr/>
        </p:nvSpPr>
        <p:spPr>
          <a:xfrm rot="0" flipH="0" flipV="0">
            <a:off x="895350" y="2247900"/>
            <a:ext cx="2143125" cy="2571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650" b="1">
                <a:solidFill>
                  <a:srgbClr val="1E3A8A"/>
                </a:solidFill>
                <a:latin typeface="PingFang SC"/>
                <a:ea typeface="PingFang SC"/>
              </a:rPr>
              <a:t>算得清账</a:t>
            </a:r>
            <a:endParaRPr/>
          </a:p>
        </p:txBody>
      </p:sp>
      <p:sp>
        <p:nvSpPr>
          <p:cNvPr id="493" name="" descr="{&quot;isTemplate&quot;:true,&quot;type&quot;:&quot;text&quot;}"/>
          <p:cNvSpPr txBox="1"/>
          <p:nvPr/>
        </p:nvSpPr>
        <p:spPr>
          <a:xfrm rot="0" flipH="0" flipV="0">
            <a:off x="895350" y="2600325"/>
            <a:ext cx="2143125" cy="57150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65000"/>
              </a:lnSpc>
            </a:pPr>
            <a:r>
              <a:rPr lang="zh-CN" sz="1125">
                <a:solidFill>
                  <a:srgbClr val="43566B"/>
                </a:solidFill>
                <a:latin typeface="PingFang SC"/>
                <a:ea typeface="PingFang SC"/>
              </a:rPr>
              <a:t>双指标体系</a:t>
            </a:r>
            <a:r>
              <a:rPr lang="en-US" sz="1125">
                <a:solidFill>
                  <a:srgbClr val="43566B"/>
                </a:solidFill>
                <a:latin typeface="PingFang SC"/>
                <a:ea typeface="PingFang SC"/>
              </a:rPr>
              <a:t> + ROI </a:t>
            </a:r>
            <a:r>
              <a:rPr lang="zh-CN" sz="1125">
                <a:solidFill>
                  <a:srgbClr val="43566B"/>
                </a:solidFill>
                <a:latin typeface="PingFang SC"/>
                <a:ea typeface="PingFang SC"/>
              </a:rPr>
              <a:t>五步，投入产出说得明白</a:t>
            </a:r>
            <a:endParaRPr/>
          </a:p>
        </p:txBody>
      </p:sp>
      <p:sp>
        <p:nvSpPr>
          <p:cNvPr id="494" name=""/>
          <p:cNvSpPr/>
          <p:nvPr/>
        </p:nvSpPr>
        <p:spPr>
          <a:xfrm rot="0" flipH="0" flipV="0">
            <a:off x="3438525" y="1295400"/>
            <a:ext cx="2562225" cy="2105025"/>
          </a:xfrm>
          <a:prstGeom prst="roundRect">
            <a:avLst>
              <a:gd name="adj" fmla="val 724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52400" dist="38100" dir="5400000">
              <a:srgbClr val="1E3A8A">
                <a:alpha val="6000"/>
              </a:srgbClr>
            </a:outerShdw>
          </a:effectLst>
        </p:spPr>
        <p:txBody>
          <a:bodyPr/>
          <a:p/>
        </p:txBody>
      </p:sp>
      <p:sp>
        <p:nvSpPr>
          <p:cNvPr id="495" name=""/>
          <p:cNvSpPr/>
          <p:nvPr/>
        </p:nvSpPr>
        <p:spPr>
          <a:xfrm rot="0" flipH="0" flipV="0">
            <a:off x="3648075" y="1524000"/>
            <a:ext cx="571500" cy="571500"/>
          </a:xfrm>
          <a:prstGeom prst="roundRect">
            <a:avLst>
              <a:gd name="adj" fmla="val 25000"/>
            </a:avLst>
          </a:prstGeom>
          <a:solidFill>
            <a:srgbClr val="FEEFE0"/>
          </a:solidFill>
          <a:ln/>
        </p:spPr>
        <p:txBody>
          <a:bodyPr/>
          <a:p/>
        </p:txBody>
      </p:sp>
      <p:pic>
        <p:nvPicPr>
          <p:cNvPr id="496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2"/>
              </a:ext>
            </a:extLst>
          </a:blip>
          <a:stretch>
            <a:fillRect/>
          </a:stretch>
        </p:blipFill>
        <p:spPr>
          <a:xfrm rot="0" flipH="0" flipV="0">
            <a:off x="3790950" y="1666875"/>
            <a:ext cx="285750" cy="285750"/>
          </a:xfrm>
          <a:prstGeom prst="rect">
            <a:avLst/>
          </a:prstGeom>
          <a:ln/>
        </p:spPr>
      </p:pic>
      <p:sp>
        <p:nvSpPr>
          <p:cNvPr id="497" name="" descr="{&quot;isTemplate&quot;:true,&quot;type&quot;:&quot;text&quot;}"/>
          <p:cNvSpPr txBox="1"/>
          <p:nvPr/>
        </p:nvSpPr>
        <p:spPr>
          <a:xfrm rot="0" flipH="0" flipV="0">
            <a:off x="3648075" y="2247900"/>
            <a:ext cx="2143125" cy="2571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650" b="1">
                <a:solidFill>
                  <a:srgbClr val="1E3A8A"/>
                </a:solidFill>
                <a:latin typeface="PingFang SC"/>
                <a:ea typeface="PingFang SC"/>
              </a:rPr>
              <a:t>搭得起架构</a:t>
            </a:r>
            <a:endParaRPr/>
          </a:p>
        </p:txBody>
      </p:sp>
      <p:sp>
        <p:nvSpPr>
          <p:cNvPr id="498" name="" descr="{&quot;isTemplate&quot;:true,&quot;type&quot;:&quot;text&quot;}"/>
          <p:cNvSpPr txBox="1"/>
          <p:nvPr/>
        </p:nvSpPr>
        <p:spPr>
          <a:xfrm rot="0" flipH="0" flipV="0">
            <a:off x="3648075" y="2600325"/>
            <a:ext cx="2143125" cy="57150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65000"/>
              </a:lnSpc>
            </a:pPr>
            <a:r>
              <a:rPr lang="zh-CN" sz="1125">
                <a:solidFill>
                  <a:srgbClr val="43566B"/>
                </a:solidFill>
                <a:latin typeface="PingFang SC"/>
                <a:ea typeface="PingFang SC"/>
              </a:rPr>
              <a:t>云</a:t>
            </a:r>
            <a:r>
              <a:rPr lang="en-US" sz="1125">
                <a:solidFill>
                  <a:srgbClr val="43566B"/>
                </a:solidFill>
                <a:latin typeface="PingFang SC"/>
                <a:ea typeface="PingFang SC"/>
              </a:rPr>
              <a:t>-</a:t>
            </a:r>
            <a:r>
              <a:rPr lang="zh-CN" sz="1125">
                <a:solidFill>
                  <a:srgbClr val="43566B"/>
                </a:solidFill>
                <a:latin typeface="PingFang SC"/>
                <a:ea typeface="PingFang SC"/>
              </a:rPr>
              <a:t>边</a:t>
            </a:r>
            <a:r>
              <a:rPr lang="en-US" sz="1125">
                <a:solidFill>
                  <a:srgbClr val="43566B"/>
                </a:solidFill>
                <a:latin typeface="PingFang SC"/>
                <a:ea typeface="PingFang SC"/>
              </a:rPr>
              <a:t>-</a:t>
            </a:r>
            <a:r>
              <a:rPr lang="zh-CN" sz="1125">
                <a:solidFill>
                  <a:srgbClr val="43566B"/>
                </a:solidFill>
                <a:latin typeface="PingFang SC"/>
                <a:ea typeface="PingFang SC"/>
              </a:rPr>
              <a:t>端</a:t>
            </a:r>
            <a:r>
              <a:rPr lang="en-US" sz="1125">
                <a:solidFill>
                  <a:srgbClr val="43566B"/>
                </a:solidFill>
                <a:latin typeface="PingFang SC"/>
                <a:ea typeface="PingFang SC"/>
              </a:rPr>
              <a:t> + </a:t>
            </a:r>
            <a:r>
              <a:rPr lang="zh-CN" sz="1125">
                <a:solidFill>
                  <a:srgbClr val="43566B"/>
                </a:solidFill>
                <a:latin typeface="PingFang SC"/>
                <a:ea typeface="PingFang SC"/>
              </a:rPr>
              <a:t>大小模型分工，不被供应商话术带跑</a:t>
            </a:r>
            <a:endParaRPr/>
          </a:p>
        </p:txBody>
      </p:sp>
      <p:sp>
        <p:nvSpPr>
          <p:cNvPr id="499" name=""/>
          <p:cNvSpPr/>
          <p:nvPr/>
        </p:nvSpPr>
        <p:spPr>
          <a:xfrm rot="0" flipH="0" flipV="0">
            <a:off x="6191250" y="1295400"/>
            <a:ext cx="2562225" cy="2105025"/>
          </a:xfrm>
          <a:prstGeom prst="roundRect">
            <a:avLst>
              <a:gd name="adj" fmla="val 724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52400" dist="38100" dir="5400000">
              <a:srgbClr val="1E3A8A">
                <a:alpha val="6000"/>
              </a:srgbClr>
            </a:outerShdw>
          </a:effectLst>
        </p:spPr>
        <p:txBody>
          <a:bodyPr/>
          <a:p/>
        </p:txBody>
      </p:sp>
      <p:sp>
        <p:nvSpPr>
          <p:cNvPr id="500" name=""/>
          <p:cNvSpPr/>
          <p:nvPr/>
        </p:nvSpPr>
        <p:spPr>
          <a:xfrm rot="0" flipH="0" flipV="0">
            <a:off x="6400800" y="1524000"/>
            <a:ext cx="571500" cy="571500"/>
          </a:xfrm>
          <a:prstGeom prst="roundRect">
            <a:avLst>
              <a:gd name="adj" fmla="val 25000"/>
            </a:avLst>
          </a:prstGeom>
          <a:solidFill>
            <a:srgbClr val="E0F7FA"/>
          </a:solidFill>
          <a:ln/>
        </p:spPr>
        <p:txBody>
          <a:bodyPr/>
          <a:p/>
        </p:txBody>
      </p:sp>
      <p:pic>
        <p:nvPicPr>
          <p:cNvPr id="501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3"/>
              </a:ext>
            </a:extLst>
          </a:blip>
          <a:stretch>
            <a:fillRect/>
          </a:stretch>
        </p:blipFill>
        <p:spPr>
          <a:xfrm rot="0" flipH="0" flipV="0">
            <a:off x="6543675" y="1666875"/>
            <a:ext cx="285750" cy="285750"/>
          </a:xfrm>
          <a:prstGeom prst="rect">
            <a:avLst/>
          </a:prstGeom>
          <a:ln/>
        </p:spPr>
      </p:pic>
      <p:sp>
        <p:nvSpPr>
          <p:cNvPr id="502" name="" descr="{&quot;isTemplate&quot;:true,&quot;type&quot;:&quot;text&quot;}"/>
          <p:cNvSpPr txBox="1"/>
          <p:nvPr/>
        </p:nvSpPr>
        <p:spPr>
          <a:xfrm rot="0" flipH="0" flipV="0">
            <a:off x="6400800" y="2247900"/>
            <a:ext cx="2143125" cy="2571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650" b="1">
                <a:solidFill>
                  <a:srgbClr val="1E3A8A"/>
                </a:solidFill>
                <a:latin typeface="PingFang SC"/>
                <a:ea typeface="PingFang SC"/>
              </a:rPr>
              <a:t>推得动组织</a:t>
            </a:r>
            <a:endParaRPr/>
          </a:p>
        </p:txBody>
      </p:sp>
      <p:sp>
        <p:nvSpPr>
          <p:cNvPr id="503" name="" descr="{&quot;isTemplate&quot;:true,&quot;type&quot;:&quot;text&quot;}"/>
          <p:cNvSpPr txBox="1"/>
          <p:nvPr/>
        </p:nvSpPr>
        <p:spPr>
          <a:xfrm rot="0" flipH="0" flipV="0">
            <a:off x="6400800" y="2600325"/>
            <a:ext cx="2143125" cy="57150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65000"/>
              </a:lnSpc>
            </a:pPr>
            <a:r>
              <a:rPr lang="zh-CN" sz="1125">
                <a:solidFill>
                  <a:srgbClr val="43566B"/>
                </a:solidFill>
                <a:latin typeface="PingFang SC"/>
                <a:ea typeface="PingFang SC"/>
              </a:rPr>
              <a:t>八支柱</a:t>
            </a:r>
            <a:r>
              <a:rPr lang="en-US" sz="1125">
                <a:solidFill>
                  <a:srgbClr val="43566B"/>
                </a:solidFill>
                <a:latin typeface="PingFang SC"/>
                <a:ea typeface="PingFang SC"/>
              </a:rPr>
              <a:t> + </a:t>
            </a:r>
            <a:r>
              <a:rPr lang="zh-CN" sz="1125">
                <a:solidFill>
                  <a:srgbClr val="43566B"/>
                </a:solidFill>
                <a:latin typeface="PingFang SC"/>
                <a:ea typeface="PingFang SC"/>
              </a:rPr>
              <a:t>三阶段，让系统真的被人用起来</a:t>
            </a:r>
            <a:endParaRPr/>
          </a:p>
        </p:txBody>
      </p:sp>
      <p:sp>
        <p:nvSpPr>
          <p:cNvPr id="504" name=""/>
          <p:cNvSpPr/>
          <p:nvPr/>
        </p:nvSpPr>
        <p:spPr>
          <a:xfrm rot="0" flipH="0" flipV="0">
            <a:off x="8943975" y="1295400"/>
            <a:ext cx="2562225" cy="2105025"/>
          </a:xfrm>
          <a:prstGeom prst="roundRect">
            <a:avLst>
              <a:gd name="adj" fmla="val 724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52400" dist="38100" dir="5400000">
              <a:srgbClr val="1E3A8A">
                <a:alpha val="6000"/>
              </a:srgbClr>
            </a:outerShdw>
          </a:effectLst>
        </p:spPr>
        <p:txBody>
          <a:bodyPr/>
          <a:p/>
        </p:txBody>
      </p:sp>
      <p:sp>
        <p:nvSpPr>
          <p:cNvPr id="505" name=""/>
          <p:cNvSpPr/>
          <p:nvPr/>
        </p:nvSpPr>
        <p:spPr>
          <a:xfrm rot="0" flipH="0" flipV="0">
            <a:off x="9153525" y="1524000"/>
            <a:ext cx="571500" cy="571500"/>
          </a:xfrm>
          <a:prstGeom prst="roundRect">
            <a:avLst>
              <a:gd name="adj" fmla="val 25000"/>
            </a:avLst>
          </a:prstGeom>
          <a:solidFill>
            <a:srgbClr val="FEEFE0"/>
          </a:solidFill>
          <a:ln/>
        </p:spPr>
        <p:txBody>
          <a:bodyPr/>
          <a:p/>
        </p:txBody>
      </p:sp>
      <p:pic>
        <p:nvPicPr>
          <p:cNvPr id="506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4"/>
              </a:ext>
            </a:extLst>
          </a:blip>
          <a:stretch>
            <a:fillRect/>
          </a:stretch>
        </p:blipFill>
        <p:spPr>
          <a:xfrm rot="0" flipH="0" flipV="0">
            <a:off x="9296400" y="1666875"/>
            <a:ext cx="285750" cy="285750"/>
          </a:xfrm>
          <a:prstGeom prst="rect">
            <a:avLst/>
          </a:prstGeom>
          <a:ln/>
        </p:spPr>
      </p:pic>
      <p:sp>
        <p:nvSpPr>
          <p:cNvPr id="507" name="" descr="{&quot;isTemplate&quot;:true,&quot;type&quot;:&quot;text&quot;}"/>
          <p:cNvSpPr txBox="1"/>
          <p:nvPr/>
        </p:nvSpPr>
        <p:spPr>
          <a:xfrm rot="0" flipH="0" flipV="0">
            <a:off x="9153525" y="2247900"/>
            <a:ext cx="2143125" cy="2571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650" b="1">
                <a:solidFill>
                  <a:srgbClr val="1E3A8A"/>
                </a:solidFill>
                <a:latin typeface="PingFang SC"/>
                <a:ea typeface="PingFang SC"/>
              </a:rPr>
              <a:t>守得住底线</a:t>
            </a:r>
            <a:endParaRPr/>
          </a:p>
        </p:txBody>
      </p:sp>
      <p:sp>
        <p:nvSpPr>
          <p:cNvPr id="508" name="" descr="{&quot;isTemplate&quot;:true,&quot;type&quot;:&quot;text&quot;}"/>
          <p:cNvSpPr txBox="1"/>
          <p:nvPr/>
        </p:nvSpPr>
        <p:spPr>
          <a:xfrm rot="0" flipH="0" flipV="0">
            <a:off x="9153525" y="2600325"/>
            <a:ext cx="2143125" cy="57150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65000"/>
              </a:lnSpc>
            </a:pPr>
            <a:r>
              <a:rPr lang="zh-CN" sz="1125">
                <a:solidFill>
                  <a:srgbClr val="43566B"/>
                </a:solidFill>
                <a:latin typeface="PingFang SC"/>
                <a:ea typeface="PingFang SC"/>
              </a:rPr>
              <a:t>分类分级</a:t>
            </a:r>
            <a:r>
              <a:rPr lang="en-US" sz="1125">
                <a:solidFill>
                  <a:srgbClr val="43566B"/>
                </a:solidFill>
                <a:latin typeface="PingFang SC"/>
                <a:ea typeface="PingFang SC"/>
              </a:rPr>
              <a:t> + </a:t>
            </a:r>
            <a:r>
              <a:rPr lang="zh-CN" sz="1125">
                <a:solidFill>
                  <a:srgbClr val="43566B"/>
                </a:solidFill>
                <a:latin typeface="PingFang SC"/>
                <a:ea typeface="PingFang SC"/>
              </a:rPr>
              <a:t>幻觉防控</a:t>
            </a:r>
            <a:r>
              <a:rPr lang="en-US" sz="1125">
                <a:solidFill>
                  <a:srgbClr val="43566B"/>
                </a:solidFill>
                <a:latin typeface="PingFang SC"/>
                <a:ea typeface="PingFang SC"/>
              </a:rPr>
              <a:t> + </a:t>
            </a:r>
            <a:r>
              <a:rPr lang="zh-CN" sz="1125">
                <a:solidFill>
                  <a:srgbClr val="43566B"/>
                </a:solidFill>
                <a:latin typeface="PingFang SC"/>
                <a:ea typeface="PingFang SC"/>
              </a:rPr>
              <a:t>伦理红线，出事有人接得住</a:t>
            </a:r>
            <a:endParaRPr/>
          </a:p>
        </p:txBody>
      </p:sp>
      <p:sp>
        <p:nvSpPr>
          <p:cNvPr id="509" name=""/>
          <p:cNvSpPr/>
          <p:nvPr/>
        </p:nvSpPr>
        <p:spPr>
          <a:xfrm rot="0" flipH="0" flipV="0">
            <a:off x="685800" y="3590925"/>
            <a:ext cx="5295900" cy="2562225"/>
          </a:xfrm>
          <a:prstGeom prst="roundRect">
            <a:avLst>
              <a:gd name="adj" fmla="val 5948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p/>
        </p:txBody>
      </p:sp>
      <p:sp>
        <p:nvSpPr>
          <p:cNvPr id="510" name="" descr="{&quot;isTemplate&quot;:true,&quot;type&quot;:&quot;text&quot;}"/>
          <p:cNvSpPr txBox="1"/>
          <p:nvPr/>
        </p:nvSpPr>
        <p:spPr>
          <a:xfrm rot="0" flipH="0" flipV="0">
            <a:off x="914400" y="3762375"/>
            <a:ext cx="483870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 b="1">
                <a:solidFill>
                  <a:srgbClr val="1E3A8A"/>
                </a:solidFill>
                <a:latin typeface="PingFang SC"/>
                <a:ea typeface="PingFang SC"/>
              </a:rPr>
              <a:t>对应的高管困境</a:t>
            </a:r>
            <a:endParaRPr/>
          </a:p>
        </p:txBody>
      </p:sp>
      <p:sp>
        <p:nvSpPr>
          <p:cNvPr id="511" name="" descr="{&quot;isTemplate&quot;:true,&quot;type&quot;:&quot;text&quot;}"/>
          <p:cNvSpPr txBox="1"/>
          <p:nvPr/>
        </p:nvSpPr>
        <p:spPr>
          <a:xfrm rot="0" flipH="0" flipV="0">
            <a:off x="914400" y="4038600"/>
            <a:ext cx="4838700" cy="1304925"/>
          </a:xfrm>
          <a:prstGeom prst="rect"/>
        </p:spPr>
        <p:txBody>
          <a:bodyPr wrap="none" lIns="0" tIns="0" rIns="0" bIns="0"/>
          <a:p>
            <a:pPr>
              <a:lnSpc>
                <a:spcPct val="190000"/>
              </a:lnSpc>
            </a:pPr>
            <a:r>
              <a:rPr lang="en-US" sz="1125">
                <a:solidFill>
                  <a:srgbClr val="43566B"/>
                </a:solidFill>
                <a:latin typeface="PingFang SC"/>
                <a:ea typeface="PingFang SC"/>
              </a:rPr>
              <a:t>① </a:t>
            </a:r>
            <a:r>
              <a:rPr lang="zh-CN" sz="1125">
                <a:solidFill>
                  <a:srgbClr val="43566B"/>
                </a:solidFill>
                <a:latin typeface="PingFang SC"/>
                <a:ea typeface="PingFang SC"/>
              </a:rPr>
              <a:t>算不清账：投了多少钱，省了多少钱，说不清</a:t>
            </a:r>
            <a:endParaRPr/>
          </a:p>
          <a:p>
            <a:pPr>
              <a:lnSpc>
                <a:spcPct val="190000"/>
              </a:lnSpc>
            </a:pPr>
            <a:r>
              <a:rPr lang="en-US" sz="1125">
                <a:solidFill>
                  <a:srgbClr val="43566B"/>
                </a:solidFill>
                <a:latin typeface="PingFang SC"/>
                <a:ea typeface="PingFang SC"/>
              </a:rPr>
              <a:t>② </a:t>
            </a:r>
            <a:r>
              <a:rPr lang="zh-CN" sz="1125">
                <a:solidFill>
                  <a:srgbClr val="43566B"/>
                </a:solidFill>
                <a:latin typeface="PingFang SC"/>
                <a:ea typeface="PingFang SC"/>
              </a:rPr>
              <a:t>架构听供应商的：方案换三轮，越听越糊涂</a:t>
            </a:r>
            <a:endParaRPr/>
          </a:p>
          <a:p>
            <a:pPr>
              <a:lnSpc>
                <a:spcPct val="190000"/>
              </a:lnSpc>
            </a:pPr>
            <a:r>
              <a:rPr lang="en-US" sz="1125">
                <a:solidFill>
                  <a:srgbClr val="43566B"/>
                </a:solidFill>
                <a:latin typeface="PingFang SC"/>
                <a:ea typeface="PingFang SC"/>
              </a:rPr>
              <a:t>③ </a:t>
            </a:r>
            <a:r>
              <a:rPr lang="zh-CN" sz="1125">
                <a:solidFill>
                  <a:srgbClr val="43566B"/>
                </a:solidFill>
                <a:latin typeface="PingFang SC"/>
                <a:ea typeface="PingFang SC"/>
              </a:rPr>
              <a:t>系统上了人不动：</a:t>
            </a:r>
            <a:r>
              <a:rPr lang="en-US" sz="1125">
                <a:solidFill>
                  <a:srgbClr val="43566B"/>
                </a:solidFill>
                <a:latin typeface="PingFang SC"/>
                <a:ea typeface="PingFang SC"/>
              </a:rPr>
              <a:t>MAU </a:t>
            </a:r>
            <a:r>
              <a:rPr lang="zh-CN" sz="1125">
                <a:solidFill>
                  <a:srgbClr val="43566B"/>
                </a:solidFill>
                <a:latin typeface="PingFang SC"/>
                <a:ea typeface="PingFang SC"/>
              </a:rPr>
              <a:t>上不去，项目变烂尾</a:t>
            </a:r>
            <a:endParaRPr/>
          </a:p>
          <a:p>
            <a:pPr>
              <a:lnSpc>
                <a:spcPct val="190000"/>
              </a:lnSpc>
            </a:pPr>
            <a:r>
              <a:rPr lang="en-US" sz="1125">
                <a:solidFill>
                  <a:srgbClr val="43566B"/>
                </a:solidFill>
                <a:latin typeface="PingFang SC"/>
                <a:ea typeface="PingFang SC"/>
              </a:rPr>
              <a:t>④ </a:t>
            </a:r>
            <a:r>
              <a:rPr lang="zh-CN" sz="1125">
                <a:solidFill>
                  <a:srgbClr val="43566B"/>
                </a:solidFill>
                <a:latin typeface="PingFang SC"/>
                <a:ea typeface="PingFang SC"/>
              </a:rPr>
              <a:t>说不清责任：</a:t>
            </a:r>
            <a:r>
              <a:rPr lang="en-US" sz="1125">
                <a:solidFill>
                  <a:srgbClr val="43566B"/>
                </a:solidFill>
                <a:latin typeface="PingFang SC"/>
                <a:ea typeface="PingFang SC"/>
              </a:rPr>
              <a:t>AI </a:t>
            </a:r>
            <a:r>
              <a:rPr lang="zh-CN" sz="1125">
                <a:solidFill>
                  <a:srgbClr val="43566B"/>
                </a:solidFill>
                <a:latin typeface="PingFang SC"/>
                <a:ea typeface="PingFang SC"/>
              </a:rPr>
              <a:t>判错了，责任在谁，没人认领</a:t>
            </a:r>
            <a:endParaRPr/>
          </a:p>
        </p:txBody>
      </p:sp>
      <p:sp>
        <p:nvSpPr>
          <p:cNvPr id="512" name=""/>
          <p:cNvSpPr/>
          <p:nvPr/>
        </p:nvSpPr>
        <p:spPr>
          <a:xfrm rot="0" flipH="0" flipV="0">
            <a:off x="6210300" y="3590925"/>
            <a:ext cx="5295900" cy="2562225"/>
          </a:xfrm>
          <a:prstGeom prst="roundRect">
            <a:avLst>
              <a:gd name="adj" fmla="val 5948"/>
            </a:avLst>
          </a:prstGeom>
          <a:solidFill>
            <a:srgbClr val="1E3A8A"/>
          </a:solidFill>
          <a:ln/>
          <a:effectLst>
            <a:outerShdw blurRad="228600" dist="76200" dir="5400000">
              <a:srgbClr val="1E3A8A">
                <a:alpha val="22000"/>
              </a:srgbClr>
            </a:outerShdw>
          </a:effectLst>
        </p:spPr>
        <p:txBody>
          <a:bodyPr/>
          <a:p/>
        </p:txBody>
      </p:sp>
      <p:sp>
        <p:nvSpPr>
          <p:cNvPr id="513" name="" descr="{&quot;isTemplate&quot;:true,&quot;type&quot;:&quot;text&quot;}"/>
          <p:cNvSpPr txBox="1"/>
          <p:nvPr/>
        </p:nvSpPr>
        <p:spPr>
          <a:xfrm rot="0" flipH="0" flipV="0">
            <a:off x="6438900" y="3762375"/>
            <a:ext cx="483870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 b="1">
                <a:solidFill>
                  <a:srgbClr val="FFFFFF"/>
                </a:solidFill>
                <a:latin typeface="PingFang SC"/>
                <a:ea typeface="PingFang SC"/>
              </a:rPr>
              <a:t>对象</a:t>
            </a:r>
            <a:r>
              <a:rPr lang="en-US" sz="1275" b="1">
                <a:solidFill>
                  <a:srgbClr val="FFFFFF"/>
                </a:solidFill>
                <a:latin typeface="PingFang SC"/>
                <a:ea typeface="PingFang SC"/>
              </a:rPr>
              <a:t> · </a:t>
            </a:r>
            <a:r>
              <a:rPr lang="zh-CN" sz="1275" b="1">
                <a:solidFill>
                  <a:srgbClr val="FFFFFF"/>
                </a:solidFill>
                <a:latin typeface="PingFang SC"/>
                <a:ea typeface="PingFang SC"/>
              </a:rPr>
              <a:t>班型</a:t>
            </a:r>
            <a:r>
              <a:rPr lang="en-US" sz="1275" b="1">
                <a:solidFill>
                  <a:srgbClr val="FFFFFF"/>
                </a:solidFill>
                <a:latin typeface="PingFang SC"/>
                <a:ea typeface="PingFang SC"/>
              </a:rPr>
              <a:t> · </a:t>
            </a:r>
            <a:r>
              <a:rPr lang="zh-CN" sz="1275" b="1">
                <a:solidFill>
                  <a:srgbClr val="FFFFFF"/>
                </a:solidFill>
                <a:latin typeface="PingFang SC"/>
                <a:ea typeface="PingFang SC"/>
              </a:rPr>
              <a:t>前置</a:t>
            </a:r>
            <a:endParaRPr/>
          </a:p>
        </p:txBody>
      </p:sp>
      <p:sp>
        <p:nvSpPr>
          <p:cNvPr id="514" name="" descr="{&quot;isTemplate&quot;:true,&quot;type&quot;:&quot;text&quot;}"/>
          <p:cNvSpPr txBox="1"/>
          <p:nvPr/>
        </p:nvSpPr>
        <p:spPr>
          <a:xfrm rot="0" flipH="0" flipV="0">
            <a:off x="6438900" y="4038600"/>
            <a:ext cx="4838700" cy="933450"/>
          </a:xfrm>
          <a:prstGeom prst="rect"/>
        </p:spPr>
        <p:txBody>
          <a:bodyPr wrap="none" lIns="0" tIns="0" rIns="0" bIns="0"/>
          <a:p>
            <a:pPr>
              <a:lnSpc>
                <a:spcPct val="180000"/>
              </a:lnSpc>
            </a:pPr>
            <a:r>
              <a:rPr lang="zh-CN" sz="1125">
                <a:solidFill>
                  <a:srgbClr val="DCE9FB"/>
                </a:solidFill>
                <a:latin typeface="PingFang SC"/>
                <a:ea typeface="PingFang SC"/>
              </a:rPr>
              <a:t>对象：</a:t>
            </a:r>
            <a:r>
              <a:rPr lang="en-US" sz="1125">
                <a:solidFill>
                  <a:srgbClr val="DCE9FB"/>
                </a:solidFill>
                <a:latin typeface="PingFang SC"/>
                <a:ea typeface="PingFang SC"/>
              </a:rPr>
              <a:t>CIO / CDO / </a:t>
            </a:r>
            <a:r>
              <a:rPr lang="zh-CN" sz="1125">
                <a:solidFill>
                  <a:srgbClr val="DCE9FB"/>
                </a:solidFill>
                <a:latin typeface="PingFang SC"/>
                <a:ea typeface="PingFang SC"/>
              </a:rPr>
              <a:t>数字化负责人</a:t>
            </a:r>
            <a:r>
              <a:rPr lang="en-US" sz="1125">
                <a:solidFill>
                  <a:srgbClr val="DCE9FB"/>
                </a:solidFill>
                <a:latin typeface="PingFang SC"/>
                <a:ea typeface="PingFang SC"/>
              </a:rPr>
              <a:t> / </a:t>
            </a:r>
            <a:r>
              <a:rPr lang="zh-CN" sz="1125">
                <a:solidFill>
                  <a:srgbClr val="DCE9FB"/>
                </a:solidFill>
                <a:latin typeface="PingFang SC"/>
                <a:ea typeface="PingFang SC"/>
              </a:rPr>
              <a:t>一把手</a:t>
            </a:r>
            <a:r>
              <a:rPr lang="en-US" sz="1125">
                <a:solidFill>
                  <a:srgbClr val="DCE9FB"/>
                </a:solidFill>
                <a:latin typeface="PingFang SC"/>
                <a:ea typeface="PingFang SC"/>
              </a:rPr>
              <a:t> / </a:t>
            </a:r>
            <a:r>
              <a:rPr lang="zh-CN" sz="1125">
                <a:solidFill>
                  <a:srgbClr val="DCE9FB"/>
                </a:solidFill>
                <a:latin typeface="PingFang SC"/>
                <a:ea typeface="PingFang SC"/>
              </a:rPr>
              <a:t>战略运营高管</a:t>
            </a:r>
            <a:endParaRPr/>
          </a:p>
          <a:p>
            <a:pPr>
              <a:lnSpc>
                <a:spcPct val="180000"/>
              </a:lnSpc>
            </a:pPr>
            <a:r>
              <a:rPr lang="zh-CN" sz="1125">
                <a:solidFill>
                  <a:srgbClr val="DCE9FB"/>
                </a:solidFill>
                <a:latin typeface="PingFang SC"/>
                <a:ea typeface="PingFang SC"/>
              </a:rPr>
              <a:t>班型：</a:t>
            </a:r>
            <a:r>
              <a:rPr lang="en-US" sz="1125">
                <a:solidFill>
                  <a:srgbClr val="DCE9FB"/>
                </a:solidFill>
                <a:latin typeface="PingFang SC"/>
                <a:ea typeface="PingFang SC"/>
              </a:rPr>
              <a:t>16–24 </a:t>
            </a:r>
            <a:r>
              <a:rPr lang="zh-CN" sz="1125">
                <a:solidFill>
                  <a:srgbClr val="DCE9FB"/>
                </a:solidFill>
                <a:latin typeface="PingFang SC"/>
                <a:ea typeface="PingFang SC"/>
              </a:rPr>
              <a:t>课时</a:t>
            </a:r>
            <a:r>
              <a:rPr lang="en-US" sz="1125">
                <a:solidFill>
                  <a:srgbClr val="DCE9FB"/>
                </a:solidFill>
                <a:latin typeface="PingFang SC"/>
                <a:ea typeface="PingFang SC"/>
              </a:rPr>
              <a:t> + 2 </a:t>
            </a:r>
            <a:r>
              <a:rPr lang="zh-CN" sz="1125">
                <a:solidFill>
                  <a:srgbClr val="DCE9FB"/>
                </a:solidFill>
                <a:latin typeface="PingFang SC"/>
                <a:ea typeface="PingFang SC"/>
              </a:rPr>
              <a:t>天战略沙盘，</a:t>
            </a:r>
            <a:r>
              <a:rPr lang="en-US" sz="1125">
                <a:solidFill>
                  <a:srgbClr val="DCE9FB"/>
                </a:solidFill>
                <a:latin typeface="PingFang SC"/>
                <a:ea typeface="PingFang SC"/>
              </a:rPr>
              <a:t>8–15 </a:t>
            </a:r>
            <a:r>
              <a:rPr lang="zh-CN" sz="1125">
                <a:solidFill>
                  <a:srgbClr val="DCE9FB"/>
                </a:solidFill>
                <a:latin typeface="PingFang SC"/>
                <a:ea typeface="PingFang SC"/>
              </a:rPr>
              <a:t>人小班</a:t>
            </a:r>
            <a:endParaRPr/>
          </a:p>
          <a:p>
            <a:pPr>
              <a:lnSpc>
                <a:spcPct val="180000"/>
              </a:lnSpc>
            </a:pPr>
            <a:r>
              <a:rPr lang="zh-CN" sz="1125">
                <a:solidFill>
                  <a:srgbClr val="DCE9FB"/>
                </a:solidFill>
                <a:latin typeface="PingFang SC"/>
                <a:ea typeface="PingFang SC"/>
              </a:rPr>
              <a:t>前置：中级结业或同级别实战经验（带一个真实项目来）</a:t>
            </a:r>
            <a:endParaRPr/>
          </a:p>
        </p:txBody>
      </p:sp>
      <p:sp>
        <p:nvSpPr>
          <p:cNvPr id="515" name="" descr="{&quot;isTemplate&quot;:true,&quot;type&quot;:&quot;text&quot;}"/>
          <p:cNvSpPr txBox="1"/>
          <p:nvPr/>
        </p:nvSpPr>
        <p:spPr>
          <a:xfrm rot="0" flipH="0" flipV="0">
            <a:off x="6438900" y="5810250"/>
            <a:ext cx="48387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 b="1">
                <a:solidFill>
                  <a:srgbClr val="F8C471"/>
                </a:solidFill>
                <a:latin typeface="PingFang SC"/>
                <a:ea typeface="PingFang SC"/>
              </a:rPr>
              <a:t>中级交场景，高级交路线图</a:t>
            </a:r>
            <a:r>
              <a:rPr lang="en-US" sz="1125" b="1">
                <a:solidFill>
                  <a:srgbClr val="F8C471"/>
                </a:solidFill>
                <a:latin typeface="PingFang SC"/>
                <a:ea typeface="PingFang SC"/>
              </a:rPr>
              <a:t> —— </a:t>
            </a:r>
            <a:r>
              <a:rPr lang="zh-CN" sz="1125" b="1">
                <a:solidFill>
                  <a:srgbClr val="F8C471"/>
                </a:solidFill>
                <a:latin typeface="PingFang SC"/>
                <a:ea typeface="PingFang SC"/>
              </a:rPr>
              <a:t>两级课程互为接口。</a:t>
            </a:r>
            <a:endParaRPr/>
          </a:p>
        </p:txBody>
      </p:sp>
      <p:sp>
        <p:nvSpPr>
          <p:cNvPr id="516" name="" descr="{&quot;isTemplate&quot;:true,&quot;type&quot;:&quot;text&quot;}"/>
          <p:cNvSpPr txBox="1"/>
          <p:nvPr/>
        </p:nvSpPr>
        <p:spPr>
          <a:xfrm rot="0" flipH="0" flipV="0">
            <a:off x="685800" y="6362700"/>
            <a:ext cx="12573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64748B"/>
                </a:solidFill>
                <a:latin typeface="PingFang SC"/>
                <a:ea typeface="PingFang SC"/>
              </a:rPr>
              <a:t>AI </a:t>
            </a:r>
            <a:r>
              <a:rPr lang="zh-CN" sz="1050">
                <a:solidFill>
                  <a:srgbClr val="64748B"/>
                </a:solidFill>
                <a:latin typeface="PingFang SC"/>
                <a:ea typeface="PingFang SC"/>
              </a:rPr>
              <a:t>规划与治理</a:t>
            </a:r>
            <a:r>
              <a:rPr lang="en-US" sz="1050">
                <a:solidFill>
                  <a:srgbClr val="64748B"/>
                </a:solidFill>
                <a:latin typeface="PingFang SC"/>
                <a:ea typeface="PingFang SC"/>
              </a:rPr>
              <a:t> · </a:t>
            </a:r>
            <a:r>
              <a:rPr lang="zh-CN" sz="1050">
                <a:solidFill>
                  <a:srgbClr val="64748B"/>
                </a:solidFill>
                <a:latin typeface="PingFang SC"/>
                <a:ea typeface="PingFang SC"/>
              </a:rPr>
              <a:t>高级</a:t>
            </a:r>
            <a:endParaRPr/>
          </a:p>
        </p:txBody>
      </p:sp>
      <p:sp>
        <p:nvSpPr>
          <p:cNvPr id="517" name="" descr="{&quot;isTemplate&quot;:true,&quot;type&quot;:&quot;text&quot;}"/>
          <p:cNvSpPr txBox="1"/>
          <p:nvPr/>
        </p:nvSpPr>
        <p:spPr>
          <a:xfrm rot="0" flipH="0" flipV="0">
            <a:off x="11029950" y="6362700"/>
            <a:ext cx="4762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64748B"/>
                </a:solidFill>
                <a:latin typeface="PingFang SC"/>
                <a:ea typeface="PingFang SC"/>
              </a:rPr>
              <a:t>03 / 24</a:t>
            </a:r>
            <a:endParaRPr/>
          </a:p>
        </p:txBody>
      </p:sp>
    </p:spTree>
  </p:cSld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518" name="" descr="&lt;Slide style={{ width: '1280px', height: '720px', position: 'relative', background: '#1E3A8A', overflow: 'hidden', fontFamily: 'PingFang SC, Source Han Sans SC, sans-serif' }}&gt;&#10;    &lt;Box style={{ position: 'absolute', top: 0, right: 0, width: 500, height: '720px' }}&gt;&#10;        &lt;Image src=&quot;assets/hero_cover.png&quot; style={{ width: '500px', height: '720px', objectFit: 'cover', opacity: 0.5 }} /&gt;&#10;        &lt;Box style={{ position: 'absolute', top: 0, left: 0, width: '500px', height: '720px', background: 'linear-gradient(90deg, rgba(30,58,138,1) 0%, rgba(30,58,138,0.15) 100%)' }} /&gt;&#10;    &lt;/Box&gt;&#10;    &lt;Box style={{ position: 'relative', zIndex: 1, height: '720px', padding: '0 84px', justifyContent: 'center' }}&gt;&#10;        &lt;Text style={{ fontSize: 130, fontWeight: 'bold', color: 'rgba(6,182,212,0.5)', lineHeight: 1, fontFamily: 'Space Grotesk, Inter' }}&gt;01&lt;/Text&gt;&#10;        &lt;Text style={{ fontSize: 18, color: '#7FD9F0', letterSpacing: 5, marginTop: 6 }}&gt;H1 · 3 课时&lt;/Text&gt;&#10;        &lt;Text style={{ fontSize: 54, fontWeight: 'bold', color: '#FFFFFF', marginTop: 20, lineHeight: 1.18 }}&gt;智能工厂梯度&lt;br /&gt;你在哪？下一站在哪？&lt;/Text&gt;&#10;        &lt;Box style={{ width: 84, height: 4, background: '#06B6D4', marginTop: 30 }} /&gt;&#10;        &lt;Text style={{ fontSize: 19, color: '#A9C4E8', marginTop: 22, lineHeight: 1.6 }}&gt;三阶梯度 · 2027 锚点 · 自评四维度&lt;br /&gt;对标陕汽晋级路径，给自己工厂定坐标。&lt;/Text&gt;&#10;    &lt;/Box&gt;&#10;&lt;/Slide&gt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9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1E3A8A"/>
          </a:solidFill>
          <a:ln/>
        </p:spPr>
        <p:txBody>
          <a:bodyPr/>
          <a:p/>
        </p:txBody>
      </p:sp>
      <p:pic>
        <p:nvPicPr>
          <p:cNvPr id="520" name=""/>
          <p:cNvPicPr>
            <a:picLocks noChangeAspect="1"/>
          </p:cNvPicPr>
          <p:nvPr/>
        </p:nvPicPr>
        <p:blipFill>
          <a:blip r:embed="rId1">
            <a:alphaModFix amt="50000"/>
          </a:blip>
          <a:srcRect l="26242" t="0" r="26242" b="0"/>
          <a:stretch>
            <a:fillRect/>
          </a:stretch>
        </p:blipFill>
        <p:spPr>
          <a:xfrm rot="0" flipH="0" flipV="0">
            <a:off x="7429500" y="0"/>
            <a:ext cx="4762500" cy="6858000"/>
          </a:xfrm>
          <a:prstGeom prst="rect">
            <a:avLst/>
          </a:prstGeom>
          <a:ln/>
        </p:spPr>
      </p:pic>
      <p:sp>
        <p:nvSpPr>
          <p:cNvPr id="521" name=""/>
          <p:cNvSpPr/>
          <p:nvPr/>
        </p:nvSpPr>
        <p:spPr>
          <a:xfrm rot="0" flipH="0" flipV="0">
            <a:off x="7429500" y="0"/>
            <a:ext cx="4762500" cy="6858000"/>
          </a:xfrm>
          <a:prstGeom prst="rect">
            <a:avLst/>
          </a:prstGeom>
          <a:gradFill>
            <a:gsLst>
              <a:gs pos="0">
                <a:srgbClr val="1E3A8A">
                  <a:alpha val="100000"/>
                </a:srgbClr>
              </a:gs>
              <a:gs pos="100000">
                <a:srgbClr val="1E3A8A">
                  <a:alpha val="15000"/>
                </a:srgbClr>
              </a:gs>
            </a:gsLst>
            <a:lin ang="0" scaled="1"/>
          </a:gradFill>
          <a:ln/>
        </p:spPr>
        <p:txBody>
          <a:bodyPr/>
          <a:p/>
        </p:txBody>
      </p:sp>
      <p:sp>
        <p:nvSpPr>
          <p:cNvPr id="522" name="" descr="{&quot;isTemplate&quot;:true,&quot;type&quot;:&quot;text&quot;}"/>
          <p:cNvSpPr txBox="1"/>
          <p:nvPr/>
        </p:nvSpPr>
        <p:spPr>
          <a:xfrm rot="0" flipH="0" flipV="0">
            <a:off x="800100" y="1114425"/>
            <a:ext cx="10591800" cy="14859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0" b="1">
                <a:solidFill>
                  <a:srgbClr val="06B6D4">
                    <a:alpha val="50000"/>
                  </a:srgbClr>
                </a:solidFill>
                <a:latin typeface="Space Grotesk"/>
                <a:ea typeface="Space Grotesk"/>
              </a:rPr>
              <a:t>01</a:t>
            </a:r>
            <a:endParaRPr/>
          </a:p>
        </p:txBody>
      </p:sp>
      <p:sp>
        <p:nvSpPr>
          <p:cNvPr id="523" name="" descr="{&quot;isTemplate&quot;:true,&quot;type&quot;:&quot;text&quot;}"/>
          <p:cNvSpPr txBox="1"/>
          <p:nvPr/>
        </p:nvSpPr>
        <p:spPr>
          <a:xfrm rot="0" flipH="0" flipV="0">
            <a:off x="800100" y="2657475"/>
            <a:ext cx="1059180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350" spc="375">
                <a:solidFill>
                  <a:srgbClr val="7FD9F0"/>
                </a:solidFill>
                <a:latin typeface="PingFang SC"/>
                <a:ea typeface="PingFang SC"/>
              </a:rPr>
              <a:t>H1 · 3 </a:t>
            </a:r>
            <a:r>
              <a:rPr lang="zh-CN" sz="1350" spc="375">
                <a:solidFill>
                  <a:srgbClr val="7FD9F0"/>
                </a:solidFill>
                <a:latin typeface="PingFang SC"/>
                <a:ea typeface="PingFang SC"/>
              </a:rPr>
              <a:t>课时</a:t>
            </a:r>
            <a:endParaRPr/>
          </a:p>
        </p:txBody>
      </p:sp>
      <p:sp>
        <p:nvSpPr>
          <p:cNvPr id="524" name="" descr="{&quot;isTemplate&quot;:true,&quot;type&quot;:&quot;text&quot;}"/>
          <p:cNvSpPr txBox="1"/>
          <p:nvPr/>
        </p:nvSpPr>
        <p:spPr>
          <a:xfrm rot="0" flipH="0" flipV="0">
            <a:off x="800100" y="3057525"/>
            <a:ext cx="10591800" cy="1457325"/>
          </a:xfrm>
          <a:prstGeom prst="rect"/>
        </p:spPr>
        <p:txBody>
          <a:bodyPr wrap="none" lIns="0" tIns="0" rIns="0" bIns="0"/>
          <a:p>
            <a:pPr>
              <a:lnSpc>
                <a:spcPct val="118000"/>
              </a:lnSpc>
            </a:pPr>
            <a:r>
              <a:rPr lang="zh-CN" sz="4050" b="1">
                <a:solidFill>
                  <a:srgbClr val="FFFFFF"/>
                </a:solidFill>
                <a:latin typeface="PingFang SC"/>
                <a:ea typeface="PingFang SC"/>
              </a:rPr>
              <a:t>企业 AI 成熟度梯度</a:t>
            </a:r>
            <a:endParaRPr/>
          </a:p>
          <a:p>
            <a:pPr>
              <a:lnSpc>
                <a:spcPct val="118000"/>
              </a:lnSpc>
            </a:pPr>
            <a:r>
              <a:rPr lang="zh-CN" sz="4050" b="1">
                <a:solidFill>
                  <a:srgbClr val="FFFFFF"/>
                </a:solidFill>
                <a:latin typeface="PingFang SC"/>
                <a:ea typeface="PingFang SC"/>
              </a:rPr>
              <a:t>你在哪？下一站在哪？</a:t>
            </a:r>
            <a:endParaRPr/>
          </a:p>
        </p:txBody>
      </p:sp>
      <p:sp>
        <p:nvSpPr>
          <p:cNvPr id="525" name=""/>
          <p:cNvSpPr/>
          <p:nvPr/>
        </p:nvSpPr>
        <p:spPr>
          <a:xfrm rot="0" flipH="0" flipV="0">
            <a:off x="800100" y="4800600"/>
            <a:ext cx="800100" cy="38100"/>
          </a:xfrm>
          <a:prstGeom prst="rect">
            <a:avLst/>
          </a:prstGeom>
          <a:solidFill>
            <a:srgbClr val="06B6D4"/>
          </a:solidFill>
          <a:ln/>
        </p:spPr>
        <p:txBody>
          <a:bodyPr/>
          <a:p/>
        </p:txBody>
      </p:sp>
      <p:sp>
        <p:nvSpPr>
          <p:cNvPr id="526" name="" descr="{&quot;isTemplate&quot;:true,&quot;type&quot;:&quot;text&quot;}"/>
          <p:cNvSpPr txBox="1"/>
          <p:nvPr/>
        </p:nvSpPr>
        <p:spPr>
          <a:xfrm rot="0" flipH="0" flipV="0">
            <a:off x="800100" y="5048250"/>
            <a:ext cx="10591800" cy="695325"/>
          </a:xfrm>
          <a:prstGeom prst="rect"/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zh-CN" sz="1425">
                <a:solidFill>
                  <a:srgbClr val="A9C4E8"/>
                </a:solidFill>
                <a:latin typeface="PingFang SC"/>
                <a:ea typeface="PingFang SC"/>
              </a:rPr>
              <a:t>三阶梯度</a:t>
            </a:r>
            <a:r>
              <a:rPr lang="en-US" sz="1425">
                <a:solidFill>
                  <a:srgbClr val="A9C4E8"/>
                </a:solidFill>
                <a:latin typeface="PingFang SC"/>
                <a:ea typeface="PingFang SC"/>
              </a:rPr>
              <a:t> · 2027 </a:t>
            </a:r>
            <a:r>
              <a:rPr lang="zh-CN" sz="1425">
                <a:solidFill>
                  <a:srgbClr val="A9C4E8"/>
                </a:solidFill>
                <a:latin typeface="PingFang SC"/>
                <a:ea typeface="PingFang SC"/>
              </a:rPr>
              <a:t>锚点</a:t>
            </a:r>
            <a:r>
              <a:rPr lang="en-US" sz="1425">
                <a:solidFill>
                  <a:srgbClr val="A9C4E8"/>
                </a:solidFill>
                <a:latin typeface="PingFang SC"/>
                <a:ea typeface="PingFang SC"/>
              </a:rPr>
              <a:t> · </a:t>
            </a:r>
            <a:r>
              <a:rPr lang="zh-CN" sz="1425">
                <a:solidFill>
                  <a:srgbClr val="A9C4E8"/>
                </a:solidFill>
                <a:latin typeface="PingFang SC"/>
                <a:ea typeface="PingFang SC"/>
              </a:rPr>
              <a:t>自评四维度</a:t>
            </a:r>
            <a:endParaRPr/>
          </a:p>
          <a:p>
            <a:pPr>
              <a:lnSpc>
                <a:spcPct val="160000"/>
              </a:lnSpc>
            </a:pPr>
            <a:r>
              <a:rPr lang="zh-CN" sz="1425">
                <a:solidFill>
                  <a:srgbClr val="A9C4E8"/>
                </a:solidFill>
                <a:latin typeface="PingFang SC"/>
                <a:ea typeface="PingFang SC"/>
              </a:rPr>
              <a:t>对标跨行业标杆晋级路径，给自己企业定坐标。</a:t>
            </a:r>
            <a:endParaRPr/>
          </a:p>
        </p:txBody>
      </p:sp>
    </p:spTree>
  </p:cSld>
</p:sld>
</file>

<file path=ppt/slides/slide5.xml><?xml version="1.0" encoding="utf-8"?>
<p:sld xmlns:a="http://schemas.openxmlformats.org/drawingml/2006/main" xmlns:p="http://schemas.openxmlformats.org/presentationml/2006/main">
  <p:cSld>
    <p:spTree>
      <p:nvGrpSpPr>
        <p:cNvPr id="527" name="" descr="const rungs = [&#10;    { t: '基础级', d: '单点工具、数据孤岛、人工为主', s: '35%', c: '#64748B', hot: false },&#10;    { t: '卓越级', d: '流程贯通、数据可用、AI 进关键工序', s: '72%', c: '#06B6D4', hot: false },&#10;    { t: '领航级', d: '智能体群、模数共振、自我优化', s: '92%', c: '#F59E0B', hot: true },&#10;];&#10;&lt;Slide style={{ width: '1280px', height: '720px', background: '#F5F8FC', padding: '24px 72px', boxSizing: 'border-box', flexDirection: 'column', fontFamily: 'PingFang SC, Source Han Sans SC, sans-serif' }}&gt;&#10;    &lt;Box style={{ height: 96, flexDirection: 'row', alignItems: 'center', gap: 16 }}&gt;&#10;        &lt;Box style={{ width: 5, height: 46, background: '#06B6D4', borderRadius: 3 }} /&gt;&#10;        &lt;Box&gt;&#10;            &lt;Text style={{ fontSize: 34, fontWeight: 'bold', color: '#1E3A8A', lineHeight: 1.2 }}&gt;智能工厂三阶梯度&lt;/Text&gt;&#10;            &lt;Text style={{ fontSize: 17, color: '#64748B', marginTop: 4 }}&gt;升级不是换设备，是「数据 × 流程 × 组织」的整体跃迁&lt;/Text&gt;&#10;        &lt;/Box&gt;&#10;    &lt;/Box&gt;&#10;    &lt;Box style={{ flex: 1, flexDirection: 'row', gap: 24, marginTop: 14 }}&gt;&#10;        &lt;Box style={{ flex: 60, flexDirection: 'row', alignItems: 'flex-end', gap: 18, padding: '0 10px' }}&gt;&#10;            {rungs.map((r, i) =&gt; (&#10;                &lt;Box key={i} style={{ flex: 1, height: r.s + '%', background: r.hot ? '#1E3A8A' : '#FFFFFF', borderRadius: '16px 16px 0 0', border: '1px solid ' + (r.hot ? '#1E3A8A' : '#E2E8F0'), borderTop: '6px solid ' + r.c, padding: '22px 22px', justifyContent: 'flex-end', boxShadow: r.hot ? '0 10px 30px rgba(30,58,138,0.28)' : '0 6px 20px rgba(30,58,138,0.08)' }}&gt;&#10;                    &lt;Text style={{ fontSize: 24, fontWeight: 'bold', color: r.hot ? '#FFFFFF' : '#1E3A8A' }}&gt;{r.t}&lt;/Text&gt;&#10;                    &lt;Text style={{ fontSize: 15, color: r.hot ? '#DCE9FB' : '#43566b', lineHeight: 1.6, marginTop: 10 }}&gt;{r.d}&lt;/Text&gt;&#10;                &lt;/Box&gt;&#10;            ))}&#10;        &lt;/Box&gt;&#10;        &lt;Box style={{ flex: 40, flexDirection: 'column', gap: 14 }}&gt;&#10;            &lt;Box style={{ background: '#1E3A8A', borderRadius: 16, padding: '20px 24px' }}&gt;&#10;                &lt;Text style={{ fontSize: 15, color: '#7FD9F0', letterSpacing: 2 }}&gt;2027 政策锚点&lt;/Text&gt;&#10;                &lt;Box style={{ flexDirection: 'row', gap: 18, marginTop: 12 }}&gt;&#10;                    {[['1000', '工业智能体'], ['500', '应用场景'], ['1000', '标杆试点']].map((a, i) =&gt; (&#10;                        &lt;Box key={i} style={{ flex: 1, alignItems: 'center' }}&gt;&#10;                            &lt;Text style={{ fontSize: 30, fontWeight: 'bold', color: '#F8C471', fontFamily: 'Space Grotesk, Inter' }}&gt;{a[0]}&lt;/Text&gt;&#10;                            &lt;Text style={{ fontSize: 13, color: '#DCE9FB', marginTop: 2 }}&gt;{a[1]}&lt;/Text&gt;&#10;                        &lt;/Box&gt;&#10;                    ))}&#10;                &lt;/Box&gt;&#10;            &lt;/Box&gt;&#10;            &lt;Box style={{ flex: 1, background: '#FFFFFF', borderRadius: 16, padding: '18px 24px', border: '1px solid #E2E8F0' }}&gt;&#10;                &lt;Text style={{ fontSize: 16, fontWeight: 'bold', color: '#1E3A8A', marginBottom: 8 }}&gt;对标：陕汽晋级路径&lt;/Text&gt;&#10;                &lt;Text style={{ fontSize: 15, color: '#43566b', lineHeight: 1.8 }}&gt;从「基础级」到「领航级」用了五年：先打通数据 → 再上关键工序 AI → 最后建智能体群与飞轮。&lt;br /&gt;&lt;span style={{ fontWeight: 'bold', color: '#B45309' }}&gt;跳级不存在的 —— 每一阶都要先补齐上一阶的欠账。&lt;/span&gt;&lt;/Text&gt;&#10;            &lt;/Box&gt;&#10;        &lt;/Box&gt;&#10;    &lt;/Box&gt;&#10;    &lt;Box style={{ height: 40, flexDirection: 'row', justifyContent: 'space-between', alignItems: 'center', marginTop: 10 }}&gt;&#10;        &lt;Text style={{ fontSize: 14, color: '#64748B' }}&gt;AI 规划与治理 · 高级&lt;/Text&gt;&#10;        &lt;Text style={{ fontSize: 14, color: '#64748B' }}&gt;05 / 24&lt;/Text&gt;&#10;    &lt;/Box&gt;&#10;&lt;/Slide&gt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8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5F8FC"/>
          </a:solidFill>
          <a:ln/>
        </p:spPr>
        <p:txBody>
          <a:bodyPr/>
          <a:p/>
        </p:txBody>
      </p:sp>
      <p:sp>
        <p:nvSpPr>
          <p:cNvPr id="529" name=""/>
          <p:cNvSpPr/>
          <p:nvPr/>
        </p:nvSpPr>
        <p:spPr>
          <a:xfrm rot="0" flipH="0" flipV="0">
            <a:off x="685800" y="466725"/>
            <a:ext cx="47625" cy="438150"/>
          </a:xfrm>
          <a:prstGeom prst="roundRect">
            <a:avLst>
              <a:gd name="adj" fmla="val 60000"/>
            </a:avLst>
          </a:prstGeom>
          <a:solidFill>
            <a:srgbClr val="06B6D4"/>
          </a:solidFill>
          <a:ln/>
        </p:spPr>
        <p:txBody>
          <a:bodyPr/>
          <a:p/>
        </p:txBody>
      </p:sp>
      <p:sp>
        <p:nvSpPr>
          <p:cNvPr id="530" name="" descr="{&quot;isTemplate&quot;:true,&quot;type&quot;:&quot;text&quot;}"/>
          <p:cNvSpPr txBox="1"/>
          <p:nvPr/>
        </p:nvSpPr>
        <p:spPr>
          <a:xfrm rot="0" flipH="0" flipV="0">
            <a:off x="885825" y="333375"/>
            <a:ext cx="3981450" cy="466725"/>
          </a:xfrm>
          <a:prstGeom prst="rect"/>
        </p:spPr>
        <p:txBody>
          <a:bodyPr wrap="none" lIns="0" tIns="0" rIns="0" bIns="0"/>
          <a:p>
            <a:pPr>
              <a:lnSpc>
                <a:spcPct val="120000"/>
              </a:lnSpc>
            </a:pPr>
            <a:r>
              <a:rPr lang="zh-CN" sz="2550" b="1">
                <a:solidFill>
                  <a:srgbClr val="1E3A8A"/>
                </a:solidFill>
                <a:latin typeface="PingFang SC"/>
                <a:ea typeface="PingFang SC"/>
              </a:rPr>
              <a:t>企业 AI 成熟度四级梯度</a:t>
            </a:r>
            <a:endParaRPr/>
          </a:p>
        </p:txBody>
      </p:sp>
      <p:sp>
        <p:nvSpPr>
          <p:cNvPr id="531" name="" descr="{&quot;isTemplate&quot;:true,&quot;type&quot;:&quot;text&quot;}"/>
          <p:cNvSpPr txBox="1"/>
          <p:nvPr/>
        </p:nvSpPr>
        <p:spPr>
          <a:xfrm rot="0" flipH="0" flipV="0">
            <a:off x="885825" y="838200"/>
            <a:ext cx="398145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>
                <a:solidFill>
                  <a:srgbClr val="64748B"/>
                </a:solidFill>
                <a:latin typeface="PingFang SC"/>
                <a:ea typeface="PingFang SC"/>
              </a:rPr>
              <a:t>升级不是换系统，是「数据</a:t>
            </a:r>
            <a:r>
              <a:rPr lang="en-US" sz="1275">
                <a:solidFill>
                  <a:srgbClr val="64748B"/>
                </a:solidFill>
                <a:latin typeface="PingFang SC"/>
                <a:ea typeface="PingFang SC"/>
              </a:rPr>
              <a:t> × </a:t>
            </a:r>
            <a:r>
              <a:rPr lang="zh-CN" sz="1275">
                <a:solidFill>
                  <a:srgbClr val="64748B"/>
                </a:solidFill>
                <a:latin typeface="PingFang SC"/>
                <a:ea typeface="PingFang SC"/>
              </a:rPr>
              <a:t>流程</a:t>
            </a:r>
            <a:r>
              <a:rPr lang="en-US" sz="1275">
                <a:solidFill>
                  <a:srgbClr val="64748B"/>
                </a:solidFill>
                <a:latin typeface="PingFang SC"/>
                <a:ea typeface="PingFang SC"/>
              </a:rPr>
              <a:t> × </a:t>
            </a:r>
            <a:r>
              <a:rPr lang="zh-CN" sz="1275">
                <a:solidFill>
                  <a:srgbClr val="64748B"/>
                </a:solidFill>
                <a:latin typeface="PingFang SC"/>
                <a:ea typeface="PingFang SC"/>
              </a:rPr>
              <a:t>组织」的整体跃迁</a:t>
            </a:r>
            <a:endParaRPr/>
          </a:p>
        </p:txBody>
      </p:sp>
      <p:sp>
        <p:nvSpPr>
          <p:cNvPr id="532" name=""/>
          <p:cNvSpPr/>
          <p:nvPr/>
        </p:nvSpPr>
        <p:spPr>
          <a:xfrm rot="0" flipH="0" flipV="0">
            <a:off x="781050" y="4505325"/>
            <a:ext cx="1943100" cy="1704975"/>
          </a:xfrm>
          <a:custGeom>
            <a:pathLst>
              <a:path w="204" h="179">
                <a:moveTo>
                  <a:pt x="16" y="0"/>
                </a:moveTo>
                <a:lnTo>
                  <a:pt x="188" y="0"/>
                </a:lnTo>
                <a:cubicBezTo>
                  <a:pt x="197" y="0"/>
                  <a:pt x="204" y="7"/>
                  <a:pt x="204" y="16"/>
                </a:cubicBezTo>
                <a:lnTo>
                  <a:pt x="204" y="179"/>
                </a:lnTo>
                <a:lnTo>
                  <a:pt x="204" y="179"/>
                </a:lnTo>
                <a:lnTo>
                  <a:pt x="0" y="179"/>
                </a:lnTo>
                <a:lnTo>
                  <a:pt x="0" y="179"/>
                </a:lnTo>
                <a:lnTo>
                  <a:pt x="0" y="16"/>
                </a:lnTo>
                <a:cubicBezTo>
                  <a:pt x="0" y="7"/>
                  <a:pt x="7" y="0"/>
                  <a:pt x="16" y="0"/>
                </a:cubicBezTo>
                <a:close/>
              </a:path>
            </a:pathLst>
          </a:custGeom>
          <a:solidFill>
            <a:srgbClr val="FFFFFF"/>
          </a:solidFill>
          <a:ln/>
          <a:effectLst>
            <a:outerShdw blurRad="190500" dist="57150" dir="5400000">
              <a:srgbClr val="1E3A8A">
                <a:alpha val="8000"/>
              </a:srgbClr>
            </a:outerShdw>
          </a:effectLst>
        </p:spPr>
        <p:txBody>
          <a:bodyPr/>
          <a:p/>
        </p:txBody>
      </p:sp>
      <p:sp>
        <p:nvSpPr>
          <p:cNvPr id="533" name=""/>
          <p:cNvSpPr/>
          <p:nvPr/>
        </p:nvSpPr>
        <p:spPr>
          <a:xfrm rot="0" flipH="0" flipV="0">
            <a:off x="781050" y="4505325"/>
            <a:ext cx="1943100" cy="1704975"/>
          </a:xfrm>
          <a:custGeom>
            <a:pathLst>
              <a:path w="204" h="179">
                <a:moveTo>
                  <a:pt x="189" y="0"/>
                </a:moveTo>
                <a:cubicBezTo>
                  <a:pt x="196" y="0"/>
                  <a:pt x="202" y="6"/>
                  <a:pt x="204" y="13"/>
                </a:cubicBezTo>
                <a:cubicBezTo>
                  <a:pt x="202" y="9"/>
                  <a:pt x="198" y="6"/>
                  <a:pt x="194" y="6"/>
                </a:cubicBezTo>
                <a:lnTo>
                  <a:pt x="10" y="6"/>
                </a:lnTo>
                <a:cubicBezTo>
                  <a:pt x="5" y="6"/>
                  <a:pt x="1" y="9"/>
                  <a:pt x="0" y="14"/>
                </a:cubicBezTo>
                <a:cubicBezTo>
                  <a:pt x="1" y="6"/>
                  <a:pt x="8" y="0"/>
                  <a:pt x="16" y="0"/>
                </a:cubicBezTo>
                <a:lnTo>
                  <a:pt x="188" y="0"/>
                </a:lnTo>
                <a:close/>
              </a:path>
            </a:pathLst>
          </a:custGeom>
          <a:solidFill>
            <a:srgbClr val="64748B"/>
          </a:solidFill>
          <a:ln/>
        </p:spPr>
        <p:txBody>
          <a:bodyPr/>
          <a:p/>
        </p:txBody>
      </p:sp>
      <p:sp>
        <p:nvSpPr>
          <p:cNvPr id="534" name="" descr="{&quot;isTemplate&quot;:true,&quot;type&quot;:&quot;text&quot;}"/>
          <p:cNvSpPr txBox="1"/>
          <p:nvPr/>
        </p:nvSpPr>
        <p:spPr>
          <a:xfrm rot="0" flipH="0" flipV="0">
            <a:off x="990600" y="5019675"/>
            <a:ext cx="1524000" cy="2762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800" b="1">
                <a:solidFill>
                  <a:srgbClr val="1E3A8A"/>
                </a:solidFill>
                <a:latin typeface="PingFang SC"/>
                <a:ea typeface="PingFang SC"/>
              </a:rPr>
              <a:t>基础级</a:t>
            </a:r>
            <a:endParaRPr/>
          </a:p>
        </p:txBody>
      </p:sp>
      <p:sp>
        <p:nvSpPr>
          <p:cNvPr id="535" name="" descr="{&quot;isTemplate&quot;:true,&quot;type&quot;:&quot;text&quot;}"/>
          <p:cNvSpPr txBox="1"/>
          <p:nvPr/>
        </p:nvSpPr>
        <p:spPr>
          <a:xfrm rot="0" flipH="0" flipV="0">
            <a:off x="990600" y="5391150"/>
            <a:ext cx="1524000" cy="5524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60000"/>
              </a:lnSpc>
            </a:pPr>
            <a:r>
              <a:rPr lang="zh-CN" sz="1125">
                <a:solidFill>
                  <a:srgbClr val="43566B"/>
                </a:solidFill>
                <a:latin typeface="PingFang SC"/>
                <a:ea typeface="PingFang SC"/>
              </a:rPr>
              <a:t>单点工具、数据孤岛、人工为主</a:t>
            </a:r>
            <a:endParaRPr/>
          </a:p>
        </p:txBody>
      </p:sp>
      <p:sp>
        <p:nvSpPr>
          <p:cNvPr id="536" name=""/>
          <p:cNvSpPr/>
          <p:nvPr/>
        </p:nvSpPr>
        <p:spPr>
          <a:xfrm rot="0" flipH="0" flipV="0">
            <a:off x="2895600" y="2695575"/>
            <a:ext cx="1933575" cy="3514725"/>
          </a:xfrm>
          <a:custGeom>
            <a:pathLst>
              <a:path w="203" h="369">
                <a:moveTo>
                  <a:pt x="16" y="0"/>
                </a:moveTo>
                <a:lnTo>
                  <a:pt x="187" y="0"/>
                </a:lnTo>
                <a:cubicBezTo>
                  <a:pt x="196" y="0"/>
                  <a:pt x="203" y="7"/>
                  <a:pt x="203" y="16"/>
                </a:cubicBezTo>
                <a:lnTo>
                  <a:pt x="203" y="369"/>
                </a:lnTo>
                <a:lnTo>
                  <a:pt x="203" y="369"/>
                </a:lnTo>
                <a:lnTo>
                  <a:pt x="0" y="369"/>
                </a:lnTo>
                <a:lnTo>
                  <a:pt x="0" y="369"/>
                </a:lnTo>
                <a:lnTo>
                  <a:pt x="0" y="16"/>
                </a:lnTo>
                <a:cubicBezTo>
                  <a:pt x="0" y="7"/>
                  <a:pt x="7" y="0"/>
                  <a:pt x="16" y="0"/>
                </a:cubicBezTo>
                <a:close/>
              </a:path>
            </a:pathLst>
          </a:custGeom>
          <a:solidFill>
            <a:srgbClr val="FFFFFF"/>
          </a:solidFill>
          <a:ln/>
          <a:effectLst>
            <a:outerShdw blurRad="190500" dist="57150" dir="5400000">
              <a:srgbClr val="1E3A8A">
                <a:alpha val="8000"/>
              </a:srgbClr>
            </a:outerShdw>
          </a:effectLst>
        </p:spPr>
        <p:txBody>
          <a:bodyPr/>
          <a:p/>
        </p:txBody>
      </p:sp>
      <p:sp>
        <p:nvSpPr>
          <p:cNvPr id="537" name=""/>
          <p:cNvSpPr/>
          <p:nvPr/>
        </p:nvSpPr>
        <p:spPr>
          <a:xfrm rot="0" flipH="0" flipV="0">
            <a:off x="2895600" y="2695575"/>
            <a:ext cx="1933575" cy="3514725"/>
          </a:xfrm>
          <a:custGeom>
            <a:pathLst>
              <a:path w="203" h="369">
                <a:moveTo>
                  <a:pt x="188" y="0"/>
                </a:moveTo>
                <a:cubicBezTo>
                  <a:pt x="195" y="0"/>
                  <a:pt x="201" y="6"/>
                  <a:pt x="203" y="13"/>
                </a:cubicBezTo>
                <a:cubicBezTo>
                  <a:pt x="201" y="9"/>
                  <a:pt x="197" y="6"/>
                  <a:pt x="193" y="6"/>
                </a:cubicBezTo>
                <a:lnTo>
                  <a:pt x="10" y="6"/>
                </a:lnTo>
                <a:cubicBezTo>
                  <a:pt x="5" y="6"/>
                  <a:pt x="1" y="9"/>
                  <a:pt x="0" y="14"/>
                </a:cubicBezTo>
                <a:cubicBezTo>
                  <a:pt x="1" y="6"/>
                  <a:pt x="8" y="0"/>
                  <a:pt x="16" y="0"/>
                </a:cubicBezTo>
                <a:lnTo>
                  <a:pt x="187" y="0"/>
                </a:lnTo>
                <a:close/>
              </a:path>
            </a:pathLst>
          </a:custGeom>
          <a:solidFill>
            <a:srgbClr val="06B6D4"/>
          </a:solidFill>
          <a:ln/>
        </p:spPr>
        <p:txBody>
          <a:bodyPr/>
          <a:p/>
        </p:txBody>
      </p:sp>
      <p:sp>
        <p:nvSpPr>
          <p:cNvPr id="538" name="" descr="{&quot;isTemplate&quot;:true,&quot;type&quot;:&quot;text&quot;}"/>
          <p:cNvSpPr txBox="1"/>
          <p:nvPr/>
        </p:nvSpPr>
        <p:spPr>
          <a:xfrm rot="0" flipH="0" flipV="0">
            <a:off x="3105150" y="5019675"/>
            <a:ext cx="1514475" cy="2762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800" b="1">
                <a:solidFill>
                  <a:srgbClr val="1E3A8A"/>
                </a:solidFill>
                <a:latin typeface="PingFang SC"/>
                <a:ea typeface="PingFang SC"/>
              </a:rPr>
              <a:t>卓越级</a:t>
            </a:r>
            <a:endParaRPr/>
          </a:p>
        </p:txBody>
      </p:sp>
      <p:sp>
        <p:nvSpPr>
          <p:cNvPr id="539" name="" descr="{&quot;isTemplate&quot;:true,&quot;type&quot;:&quot;text&quot;}"/>
          <p:cNvSpPr txBox="1"/>
          <p:nvPr/>
        </p:nvSpPr>
        <p:spPr>
          <a:xfrm rot="0" flipH="0" flipV="0">
            <a:off x="3105150" y="5391150"/>
            <a:ext cx="1514475" cy="5524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60000"/>
              </a:lnSpc>
            </a:pPr>
            <a:r>
              <a:rPr lang="zh-CN" sz="1125">
                <a:solidFill>
                  <a:srgbClr val="43566B"/>
                </a:solidFill>
                <a:latin typeface="PingFang SC"/>
                <a:ea typeface="PingFang SC"/>
              </a:rPr>
              <a:t>流程贯通、数据可用、</a:t>
            </a:r>
            <a:r>
              <a:rPr lang="en-US" sz="1125">
                <a:solidFill>
                  <a:srgbClr val="43566B"/>
                </a:solidFill>
                <a:latin typeface="PingFang SC"/>
                <a:ea typeface="PingFang SC"/>
              </a:rPr>
              <a:t>AI </a:t>
            </a:r>
            <a:r>
              <a:rPr lang="zh-CN" sz="1125">
                <a:solidFill>
                  <a:srgbClr val="43566B"/>
                </a:solidFill>
                <a:latin typeface="PingFang SC"/>
                <a:ea typeface="PingFang SC"/>
              </a:rPr>
              <a:t>进关键工序</a:t>
            </a:r>
            <a:endParaRPr/>
          </a:p>
        </p:txBody>
      </p:sp>
      <p:sp>
        <p:nvSpPr>
          <p:cNvPr id="540" name=""/>
          <p:cNvSpPr/>
          <p:nvPr/>
        </p:nvSpPr>
        <p:spPr>
          <a:xfrm rot="0" flipH="0" flipV="0">
            <a:off x="5000625" y="1724025"/>
            <a:ext cx="1943100" cy="4486275"/>
          </a:xfrm>
          <a:custGeom>
            <a:pathLst>
              <a:path w="204" h="471">
                <a:moveTo>
                  <a:pt x="16" y="0"/>
                </a:moveTo>
                <a:lnTo>
                  <a:pt x="188" y="0"/>
                </a:lnTo>
                <a:cubicBezTo>
                  <a:pt x="197" y="0"/>
                  <a:pt x="204" y="7"/>
                  <a:pt x="204" y="16"/>
                </a:cubicBezTo>
                <a:lnTo>
                  <a:pt x="204" y="471"/>
                </a:lnTo>
                <a:lnTo>
                  <a:pt x="204" y="471"/>
                </a:lnTo>
                <a:lnTo>
                  <a:pt x="0" y="471"/>
                </a:lnTo>
                <a:lnTo>
                  <a:pt x="0" y="471"/>
                </a:lnTo>
                <a:lnTo>
                  <a:pt x="0" y="16"/>
                </a:lnTo>
                <a:cubicBezTo>
                  <a:pt x="0" y="7"/>
                  <a:pt x="7" y="0"/>
                  <a:pt x="16" y="0"/>
                </a:cubicBezTo>
                <a:close/>
              </a:path>
            </a:pathLst>
          </a:custGeom>
          <a:solidFill>
            <a:srgbClr val="1E3A8A"/>
          </a:solidFill>
          <a:ln/>
          <a:effectLst>
            <a:outerShdw blurRad="285750" dist="95250" dir="5400000">
              <a:srgbClr val="1E3A8A">
                <a:alpha val="28000"/>
              </a:srgbClr>
            </a:outerShdw>
          </a:effectLst>
        </p:spPr>
        <p:txBody>
          <a:bodyPr/>
          <a:p/>
        </p:txBody>
      </p:sp>
      <p:sp>
        <p:nvSpPr>
          <p:cNvPr id="541" name=""/>
          <p:cNvSpPr/>
          <p:nvPr/>
        </p:nvSpPr>
        <p:spPr>
          <a:xfrm rot="0" flipH="0" flipV="0">
            <a:off x="5000625" y="1724025"/>
            <a:ext cx="1943100" cy="4486275"/>
          </a:xfrm>
          <a:custGeom>
            <a:pathLst>
              <a:path w="204" h="471">
                <a:moveTo>
                  <a:pt x="189" y="0"/>
                </a:moveTo>
                <a:cubicBezTo>
                  <a:pt x="196" y="0"/>
                  <a:pt x="202" y="6"/>
                  <a:pt x="204" y="13"/>
                </a:cubicBezTo>
                <a:cubicBezTo>
                  <a:pt x="202" y="9"/>
                  <a:pt x="198" y="6"/>
                  <a:pt x="194" y="6"/>
                </a:cubicBezTo>
                <a:lnTo>
                  <a:pt x="10" y="6"/>
                </a:lnTo>
                <a:cubicBezTo>
                  <a:pt x="5" y="6"/>
                  <a:pt x="1" y="9"/>
                  <a:pt x="0" y="14"/>
                </a:cubicBezTo>
                <a:cubicBezTo>
                  <a:pt x="1" y="6"/>
                  <a:pt x="8" y="0"/>
                  <a:pt x="16" y="0"/>
                </a:cubicBezTo>
                <a:lnTo>
                  <a:pt x="188" y="0"/>
                </a:lnTo>
                <a:close/>
              </a:path>
            </a:pathLst>
          </a:custGeom>
          <a:solidFill>
            <a:srgbClr val="F59E0B"/>
          </a:solidFill>
          <a:ln/>
        </p:spPr>
        <p:txBody>
          <a:bodyPr/>
          <a:p/>
        </p:txBody>
      </p:sp>
      <p:sp>
        <p:nvSpPr>
          <p:cNvPr id="542" name="" descr="{&quot;isTemplate&quot;:true,&quot;type&quot;:&quot;text&quot;}"/>
          <p:cNvSpPr txBox="1"/>
          <p:nvPr/>
        </p:nvSpPr>
        <p:spPr>
          <a:xfrm rot="0" flipH="0" flipV="0">
            <a:off x="5210175" y="5019675"/>
            <a:ext cx="1524000" cy="2762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800" b="1">
                <a:solidFill>
                  <a:srgbClr val="FFFFFF"/>
                </a:solidFill>
                <a:latin typeface="PingFang SC"/>
                <a:ea typeface="PingFang SC"/>
              </a:rPr>
              <a:t>领航级</a:t>
            </a:r>
            <a:endParaRPr/>
          </a:p>
        </p:txBody>
      </p:sp>
      <p:sp>
        <p:nvSpPr>
          <p:cNvPr id="543" name="" descr="{&quot;isTemplate&quot;:true,&quot;type&quot;:&quot;text&quot;}"/>
          <p:cNvSpPr txBox="1"/>
          <p:nvPr/>
        </p:nvSpPr>
        <p:spPr>
          <a:xfrm rot="0" flipH="0" flipV="0">
            <a:off x="5210175" y="5391150"/>
            <a:ext cx="1524000" cy="5524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60000"/>
              </a:lnSpc>
            </a:pPr>
            <a:r>
              <a:rPr lang="zh-CN" sz="1125">
                <a:solidFill>
                  <a:srgbClr val="DCE9FB"/>
                </a:solidFill>
                <a:latin typeface="PingFang SC"/>
                <a:ea typeface="PingFang SC"/>
              </a:rPr>
              <a:t>智能体群、模数共振、自我优化</a:t>
            </a:r>
            <a:endParaRPr/>
          </a:p>
        </p:txBody>
      </p:sp>
      <p:sp>
        <p:nvSpPr>
          <p:cNvPr id="544" name=""/>
          <p:cNvSpPr/>
          <p:nvPr/>
        </p:nvSpPr>
        <p:spPr>
          <a:xfrm rot="0" flipH="0" flipV="0">
            <a:off x="7267575" y="1276350"/>
            <a:ext cx="4238625" cy="1181100"/>
          </a:xfrm>
          <a:prstGeom prst="roundRect">
            <a:avLst>
              <a:gd name="adj" fmla="val 12903"/>
            </a:avLst>
          </a:prstGeom>
          <a:solidFill>
            <a:srgbClr val="1E3A8A"/>
          </a:solidFill>
          <a:ln/>
        </p:spPr>
        <p:txBody>
          <a:bodyPr/>
          <a:p/>
        </p:txBody>
      </p:sp>
      <p:sp>
        <p:nvSpPr>
          <p:cNvPr id="545" name="" descr="{&quot;isTemplate&quot;:true,&quot;type&quot;:&quot;text&quot;}"/>
          <p:cNvSpPr txBox="1"/>
          <p:nvPr/>
        </p:nvSpPr>
        <p:spPr>
          <a:xfrm rot="0" flipH="0" flipV="0">
            <a:off x="7496175" y="1466850"/>
            <a:ext cx="3781425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 spc="150">
                <a:solidFill>
                  <a:srgbClr val="7FD9F0"/>
                </a:solidFill>
                <a:latin typeface="PingFang SC"/>
                <a:ea typeface="PingFang SC"/>
              </a:rPr>
              <a:t>2027 </a:t>
            </a:r>
            <a:r>
              <a:rPr lang="zh-CN" sz="1125" spc="150">
                <a:solidFill>
                  <a:srgbClr val="7FD9F0"/>
                </a:solidFill>
                <a:latin typeface="PingFang SC"/>
                <a:ea typeface="PingFang SC"/>
              </a:rPr>
              <a:t>政策锚点</a:t>
            </a:r>
            <a:endParaRPr/>
          </a:p>
        </p:txBody>
      </p:sp>
      <p:sp>
        <p:nvSpPr>
          <p:cNvPr id="546" name="" descr="{&quot;isTemplate&quot;:true,&quot;type&quot;:&quot;text&quot;}"/>
          <p:cNvSpPr txBox="1"/>
          <p:nvPr/>
        </p:nvSpPr>
        <p:spPr>
          <a:xfrm rot="0" flipH="0" flipV="0">
            <a:off x="7753350" y="1752600"/>
            <a:ext cx="638175" cy="3429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2250" b="1">
                <a:solidFill>
                  <a:srgbClr val="F8C471"/>
                </a:solidFill>
                <a:latin typeface="Space Grotesk"/>
                <a:ea typeface="Space Grotesk"/>
              </a:rPr>
              <a:t>1000</a:t>
            </a:r>
            <a:endParaRPr/>
          </a:p>
        </p:txBody>
      </p:sp>
      <p:sp>
        <p:nvSpPr>
          <p:cNvPr id="547" name="" descr="{&quot;isTemplate&quot;:true,&quot;type&quot;:&quot;text&quot;}"/>
          <p:cNvSpPr txBox="1"/>
          <p:nvPr/>
        </p:nvSpPr>
        <p:spPr>
          <a:xfrm rot="0" flipH="0" flipV="0">
            <a:off x="7762875" y="2114550"/>
            <a:ext cx="619125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>
                <a:solidFill>
                  <a:srgbClr val="DCE9FB"/>
                </a:solidFill>
                <a:latin typeface="PingFang SC"/>
                <a:ea typeface="PingFang SC"/>
              </a:rPr>
              <a:t>行业智能体</a:t>
            </a:r>
            <a:endParaRPr/>
          </a:p>
        </p:txBody>
      </p:sp>
      <p:sp>
        <p:nvSpPr>
          <p:cNvPr id="548" name="" descr="{&quot;isTemplate&quot;:true,&quot;type&quot;:&quot;text&quot;}"/>
          <p:cNvSpPr txBox="1"/>
          <p:nvPr/>
        </p:nvSpPr>
        <p:spPr>
          <a:xfrm rot="0" flipH="0" flipV="0">
            <a:off x="9144000" y="1752600"/>
            <a:ext cx="485775" cy="3429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2250" b="1">
                <a:solidFill>
                  <a:srgbClr val="F8C471"/>
                </a:solidFill>
                <a:latin typeface="Space Grotesk"/>
                <a:ea typeface="Space Grotesk"/>
              </a:rPr>
              <a:t>500</a:t>
            </a:r>
            <a:endParaRPr/>
          </a:p>
        </p:txBody>
      </p:sp>
      <p:sp>
        <p:nvSpPr>
          <p:cNvPr id="549" name="" descr="{&quot;isTemplate&quot;:true,&quot;type&quot;:&quot;text&quot;}"/>
          <p:cNvSpPr txBox="1"/>
          <p:nvPr/>
        </p:nvSpPr>
        <p:spPr>
          <a:xfrm rot="0" flipH="0" flipV="0">
            <a:off x="9144000" y="2114550"/>
            <a:ext cx="49530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>
                <a:solidFill>
                  <a:srgbClr val="DCE9FB"/>
                </a:solidFill>
                <a:latin typeface="PingFang SC"/>
                <a:ea typeface="PingFang SC"/>
              </a:rPr>
              <a:t>应用场景</a:t>
            </a:r>
            <a:endParaRPr/>
          </a:p>
        </p:txBody>
      </p:sp>
      <p:sp>
        <p:nvSpPr>
          <p:cNvPr id="550" name="" descr="{&quot;isTemplate&quot;:true,&quot;type&quot;:&quot;text&quot;}"/>
          <p:cNvSpPr txBox="1"/>
          <p:nvPr/>
        </p:nvSpPr>
        <p:spPr>
          <a:xfrm rot="0" flipH="0" flipV="0">
            <a:off x="10391775" y="1752600"/>
            <a:ext cx="638175" cy="3429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2250" b="1">
                <a:solidFill>
                  <a:srgbClr val="F8C471"/>
                </a:solidFill>
                <a:latin typeface="Space Grotesk"/>
                <a:ea typeface="Space Grotesk"/>
              </a:rPr>
              <a:t>1000</a:t>
            </a:r>
            <a:endParaRPr/>
          </a:p>
        </p:txBody>
      </p:sp>
      <p:sp>
        <p:nvSpPr>
          <p:cNvPr id="551" name="" descr="{&quot;isTemplate&quot;:true,&quot;type&quot;:&quot;text&quot;}"/>
          <p:cNvSpPr txBox="1"/>
          <p:nvPr/>
        </p:nvSpPr>
        <p:spPr>
          <a:xfrm rot="0" flipH="0" flipV="0">
            <a:off x="10458450" y="2114550"/>
            <a:ext cx="49530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>
                <a:solidFill>
                  <a:srgbClr val="DCE9FB"/>
                </a:solidFill>
                <a:latin typeface="PingFang SC"/>
                <a:ea typeface="PingFang SC"/>
              </a:rPr>
              <a:t>标杆试点</a:t>
            </a:r>
            <a:endParaRPr/>
          </a:p>
        </p:txBody>
      </p:sp>
      <p:sp>
        <p:nvSpPr>
          <p:cNvPr id="552" name=""/>
          <p:cNvSpPr/>
          <p:nvPr/>
        </p:nvSpPr>
        <p:spPr>
          <a:xfrm rot="0" flipH="0" flipV="0">
            <a:off x="7267575" y="2590800"/>
            <a:ext cx="4238625" cy="3562350"/>
          </a:xfrm>
          <a:prstGeom prst="roundRect">
            <a:avLst>
              <a:gd name="adj" fmla="val 4278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p/>
        </p:txBody>
      </p:sp>
      <p:sp>
        <p:nvSpPr>
          <p:cNvPr id="553" name="" descr="{&quot;isTemplate&quot;:true,&quot;type&quot;:&quot;text&quot;}"/>
          <p:cNvSpPr txBox="1"/>
          <p:nvPr/>
        </p:nvSpPr>
        <p:spPr>
          <a:xfrm rot="0" flipH="0" flipV="0">
            <a:off x="7496175" y="2762250"/>
            <a:ext cx="3781425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 b="1">
                <a:solidFill>
                  <a:srgbClr val="1E3A8A"/>
                </a:solidFill>
                <a:latin typeface="PingFang SC"/>
                <a:ea typeface="PingFang SC"/>
              </a:rPr>
              <a:t>对标：跨行业标杆晋级路径</a:t>
            </a:r>
            <a:endParaRPr/>
          </a:p>
        </p:txBody>
      </p:sp>
      <p:sp>
        <p:nvSpPr>
          <p:cNvPr id="554" name="" descr="{&quot;isTemplate&quot;:true,&quot;type&quot;:&quot;text&quot;}"/>
          <p:cNvSpPr txBox="1"/>
          <p:nvPr/>
        </p:nvSpPr>
        <p:spPr>
          <a:xfrm rot="0" flipH="0" flipV="0">
            <a:off x="7496175" y="3028950"/>
            <a:ext cx="3781425" cy="9334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80000"/>
              </a:lnSpc>
            </a:pPr>
            <a:r>
              <a:rPr lang="zh-CN" sz="1125">
                <a:solidFill>
                  <a:srgbClr val="43566B"/>
                </a:solidFill>
                <a:latin typeface="PingFang SC"/>
                <a:ea typeface="PingFang SC"/>
              </a:rPr>
              <a:t>从「基础级」到「领航级」用了五年：先打通数据</a:t>
            </a:r>
            <a:r>
              <a:rPr lang="en-US" sz="1125">
                <a:solidFill>
                  <a:srgbClr val="43566B"/>
                </a:solidFill>
                <a:latin typeface="PingFang SC"/>
                <a:ea typeface="PingFang SC"/>
              </a:rPr>
              <a:t> → </a:t>
            </a:r>
            <a:r>
              <a:rPr lang="zh-CN" sz="1125">
                <a:solidFill>
                  <a:srgbClr val="43566B"/>
                </a:solidFill>
                <a:latin typeface="PingFang SC"/>
                <a:ea typeface="PingFang SC"/>
              </a:rPr>
              <a:t>再上关键工序</a:t>
            </a:r>
            <a:r>
              <a:rPr lang="en-US" sz="1125">
                <a:solidFill>
                  <a:srgbClr val="43566B"/>
                </a:solidFill>
                <a:latin typeface="PingFang SC"/>
                <a:ea typeface="PingFang SC"/>
              </a:rPr>
              <a:t> AI → </a:t>
            </a:r>
            <a:r>
              <a:rPr lang="zh-CN" sz="1125">
                <a:solidFill>
                  <a:srgbClr val="43566B"/>
                </a:solidFill>
                <a:latin typeface="PingFang SC"/>
                <a:ea typeface="PingFang SC"/>
              </a:rPr>
              <a:t>最后建智能体群与飞轮。</a:t>
            </a:r>
            <a:endParaRPr/>
          </a:p>
          <a:p>
            <a:pPr>
              <a:lnSpc>
                <a:spcPct val="180000"/>
              </a:lnSpc>
            </a:pPr>
            <a:r>
              <a:rPr lang="zh-CN" sz="1125" b="1">
                <a:solidFill>
                  <a:srgbClr val="B45309"/>
                </a:solidFill>
                <a:latin typeface="PingFang SC"/>
                <a:ea typeface="PingFang SC"/>
              </a:rPr>
              <a:t>跳级不存在的</a:t>
            </a:r>
            <a:r>
              <a:rPr lang="en-US" sz="1125" b="1">
                <a:solidFill>
                  <a:srgbClr val="B45309"/>
                </a:solidFill>
                <a:latin typeface="PingFang SC"/>
                <a:ea typeface="PingFang SC"/>
              </a:rPr>
              <a:t> —— </a:t>
            </a:r>
            <a:r>
              <a:rPr lang="zh-CN" sz="1125" b="1">
                <a:solidFill>
                  <a:srgbClr val="B45309"/>
                </a:solidFill>
                <a:latin typeface="PingFang SC"/>
                <a:ea typeface="PingFang SC"/>
              </a:rPr>
              <a:t>每一阶都要先补齐上一阶的欠账。</a:t>
            </a:r>
            <a:endParaRPr/>
          </a:p>
        </p:txBody>
      </p:sp>
      <p:sp>
        <p:nvSpPr>
          <p:cNvPr id="555" name="" descr="{&quot;isTemplate&quot;:true,&quot;type&quot;:&quot;text&quot;}"/>
          <p:cNvSpPr txBox="1"/>
          <p:nvPr/>
        </p:nvSpPr>
        <p:spPr>
          <a:xfrm rot="0" flipH="0" flipV="0">
            <a:off x="685800" y="6362700"/>
            <a:ext cx="12573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64748B"/>
                </a:solidFill>
                <a:latin typeface="PingFang SC"/>
                <a:ea typeface="PingFang SC"/>
              </a:rPr>
              <a:t>AI </a:t>
            </a:r>
            <a:r>
              <a:rPr lang="zh-CN" sz="1050">
                <a:solidFill>
                  <a:srgbClr val="64748B"/>
                </a:solidFill>
                <a:latin typeface="PingFang SC"/>
                <a:ea typeface="PingFang SC"/>
              </a:rPr>
              <a:t>规划与治理</a:t>
            </a:r>
            <a:r>
              <a:rPr lang="en-US" sz="1050">
                <a:solidFill>
                  <a:srgbClr val="64748B"/>
                </a:solidFill>
                <a:latin typeface="PingFang SC"/>
                <a:ea typeface="PingFang SC"/>
              </a:rPr>
              <a:t> · </a:t>
            </a:r>
            <a:r>
              <a:rPr lang="zh-CN" sz="1050">
                <a:solidFill>
                  <a:srgbClr val="64748B"/>
                </a:solidFill>
                <a:latin typeface="PingFang SC"/>
                <a:ea typeface="PingFang SC"/>
              </a:rPr>
              <a:t>高级</a:t>
            </a:r>
            <a:endParaRPr/>
          </a:p>
        </p:txBody>
      </p:sp>
      <p:sp>
        <p:nvSpPr>
          <p:cNvPr id="556" name="" descr="{&quot;isTemplate&quot;:true,&quot;type&quot;:&quot;text&quot;}"/>
          <p:cNvSpPr txBox="1"/>
          <p:nvPr/>
        </p:nvSpPr>
        <p:spPr>
          <a:xfrm rot="0" flipH="0" flipV="0">
            <a:off x="11029950" y="6362700"/>
            <a:ext cx="4762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64748B"/>
                </a:solidFill>
                <a:latin typeface="PingFang SC"/>
                <a:ea typeface="PingFang SC"/>
              </a:rPr>
              <a:t>05 / 24</a:t>
            </a:r>
            <a:endParaRPr/>
          </a:p>
        </p:txBody>
      </p:sp>
    </p:spTree>
  </p:cSld>
</p:sld>
</file>

<file path=ppt/slides/slide6.xml><?xml version="1.0" encoding="utf-8"?>
<p:sld xmlns:asvg="http://schemas.microsoft.com/office/drawing/2016/SVG/main" xmlns:a="http://schemas.openxmlformats.org/drawingml/2006/main" xmlns:r="http://schemas.openxmlformats.org/officeDocument/2006/relationships" xmlns:p="http://schemas.openxmlformats.org/presentationml/2006/main" xmlns:mc="http://schemas.openxmlformats.org/markup-compatibility/2006" mc:Ignorable="asvg">
  <p:cSld>
    <p:spTree>
      <p:nvGrpSpPr>
        <p:cNvPr id="557" name="" descr="const dims = [&#10;    { icon: 'server', t: '数字化基础', d: '设备联网率 / MES·ERP 覆盖 / 网络带宽', s: 70 },&#10;    { icon: 'database', t: '数据贯通度', d: '跨系统接口 / 主数据统一 / 数据质量', s: 45 },&#10;    { icon: 'brain', t: '智能化深度', d: 'AI 场景数 / 关键工序占比 / 智能体数', s: 30 },&#10;    { icon: 'users', t: '组织就绪度', d: 'DRI 设置 / 倡导者网络 / 培训覆盖率', s: 55 },&#10;];&#10;&lt;Slide style={{ width: '1280px', height: '720px', background: '#F5F8FC', padding: '24px 72px', boxSizing: 'border-box', flexDirection: 'column', fontFamily: 'PingFang SC, Source Han Sans SC, sans-serif' }}&gt;&#10;    &lt;Box style={{ height: 96, flexDirection: 'row', alignItems: 'center', gap: 16 }}&gt;&#10;        &lt;Box style={{ width: 5, height: 46, background: '#06B6D4', borderRadius: 3 }} /&gt;&#10;        &lt;Box&gt;&#10;            &lt;Text style={{ fontSize: 34, fontWeight: 'bold', color: '#1E3A8A', lineHeight: 1.2 }}&gt;自评四维度：给工厂定坐标&lt;/Text&gt;&#10;            &lt;Text style={{ fontSize: 17, color: '#64748B', marginTop: 4 }}&gt;沙盘任务一就是用它 —— 先知道在哪，才谈得到哪&lt;/Text&gt;&#10;        &lt;/Box&gt;&#10;    &lt;/Box&gt;&#10;    &lt;Box style={{ flex: 1, flexDirection: 'row', gap: 20, marginTop: 16 }}&gt;&#10;        {dims.map((d, i) =&gt; (&#10;            &lt;Box key={i} style={{ flex: 1, background: '#FFFFFF', borderRadius: 16, padding: '24px 22px', border: '1px solid #E2E8F0', boxShadow: '0 4px 16px rgba(30,58,138,0.06)', flexDirection: 'column' }}&gt;&#10;                &lt;Box style={{ width: 58, height: 58, borderRadius: 14, background: i === 1 ? '#FEEFE0' : '#E0F7FA', justifyContent: 'center', alignItems: 'center', marginBottom: 14 }}&gt;&#10;                    &lt;FAIcon name={d.icon} style={{ fill: i === 1 ? '#F59E0B' : '#0891B2', width: 28, height: 28 }} /&gt;&#10;                &lt;/Box&gt;&#10;                &lt;Text style={{ fontSize: 20, fontWeight: 'bold', color: '#1E3A8A' }}&gt;{d.t}&lt;/Text&gt;&#10;                &lt;Text style={{ fontSize: 14, color: '#43566b', lineHeight: 1.6, marginTop: 10, flex: 1 }}&gt;{d.d}&lt;/Text&gt;&#10;                &lt;Box style={{ marginTop: 16, height: 10, background: '#EDF3FB', borderRadius: 5, overflow: 'hidden' }}&gt;&#10;                    &lt;Box style={{ width: d.s + '%', height: 10, background: i === 1 ? '#F59E0B' : '#06B6D4', borderRadius: 5 }} /&gt;&#10;                &lt;/Box&gt;&#10;                &lt;Text style={{ fontSize: 13, color: '#64748B', marginTop: 6 }}&gt;示例得分 {d.s} —— 短板维度就是路线图的第一优先级&lt;/Text&gt;&#10;            &lt;/Box&gt;&#10;        ))}&#10;    &lt;/Box&gt;&#10;    &lt;Box style={{ marginTop: 16, padding: '14px 24px', background: '#1E3A8A', borderRadius: 12, flexDirection: 'row', alignItems: 'center', gap: 14 }}&gt;&#10;        &lt;FAIcon name=&quot;lightbulb&quot; style={{ fill: '#F59E0B', width: 22, height: 22 }} /&gt;&#10;        &lt;Text style={{ fontSize: 18, fontWeight: 'bold', color: '#FFFFFF' }}&gt;用法：四个维度里最低的那一项，就是你未来 12 个月最该花钱的地方 —— 不是最时髦的技术。&lt;/Text&gt;&#10;    &lt;/Box&gt;&#10;    &lt;Box style={{ height: 40, flexDirection: 'row', justifyContent: 'space-between', alignItems: 'center', marginTop: 10 }}&gt;&#10;        &lt;Text style={{ fontSize: 14, color: '#64748B' }}&gt;AI 规划与治理 · 高级&lt;/Text&gt;&#10;        &lt;Text style={{ fontSize: 14, color: '#64748B' }}&gt;06 / 24&lt;/Text&gt;&#10;    &lt;/Box&gt;&#10;&lt;/Slide&gt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8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5F8FC"/>
          </a:solidFill>
          <a:ln/>
        </p:spPr>
        <p:txBody>
          <a:bodyPr/>
          <a:p/>
        </p:txBody>
      </p:sp>
      <p:sp>
        <p:nvSpPr>
          <p:cNvPr id="559" name=""/>
          <p:cNvSpPr/>
          <p:nvPr/>
        </p:nvSpPr>
        <p:spPr>
          <a:xfrm rot="0" flipH="0" flipV="0">
            <a:off x="685800" y="466725"/>
            <a:ext cx="47625" cy="438150"/>
          </a:xfrm>
          <a:prstGeom prst="roundRect">
            <a:avLst>
              <a:gd name="adj" fmla="val 60000"/>
            </a:avLst>
          </a:prstGeom>
          <a:solidFill>
            <a:srgbClr val="06B6D4"/>
          </a:solidFill>
          <a:ln/>
        </p:spPr>
        <p:txBody>
          <a:bodyPr/>
          <a:p/>
        </p:txBody>
      </p:sp>
      <p:sp>
        <p:nvSpPr>
          <p:cNvPr id="560" name="" descr="{&quot;isTemplate&quot;:true,&quot;type&quot;:&quot;text&quot;}"/>
          <p:cNvSpPr txBox="1"/>
          <p:nvPr/>
        </p:nvSpPr>
        <p:spPr>
          <a:xfrm rot="0" flipH="0" flipV="0">
            <a:off x="885825" y="333375"/>
            <a:ext cx="3886200" cy="466725"/>
          </a:xfrm>
          <a:prstGeom prst="rect"/>
        </p:spPr>
        <p:txBody>
          <a:bodyPr wrap="none" lIns="0" tIns="0" rIns="0" bIns="0"/>
          <a:p>
            <a:pPr>
              <a:lnSpc>
                <a:spcPct val="120000"/>
              </a:lnSpc>
            </a:pPr>
            <a:r>
              <a:rPr lang="zh-CN" sz="2550" b="1">
                <a:solidFill>
                  <a:srgbClr val="1E3A8A"/>
                </a:solidFill>
                <a:latin typeface="PingFang SC"/>
                <a:ea typeface="PingFang SC"/>
              </a:rPr>
              <a:t>自评四维度：给企业定坐标</a:t>
            </a:r>
            <a:endParaRPr/>
          </a:p>
        </p:txBody>
      </p:sp>
      <p:sp>
        <p:nvSpPr>
          <p:cNvPr id="561" name="" descr="{&quot;isTemplate&quot;:true,&quot;type&quot;:&quot;text&quot;}"/>
          <p:cNvSpPr txBox="1"/>
          <p:nvPr/>
        </p:nvSpPr>
        <p:spPr>
          <a:xfrm rot="0" flipH="0" flipV="0">
            <a:off x="885825" y="838200"/>
            <a:ext cx="388620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>
                <a:solidFill>
                  <a:srgbClr val="64748B"/>
                </a:solidFill>
                <a:latin typeface="PingFang SC"/>
                <a:ea typeface="PingFang SC"/>
              </a:rPr>
              <a:t>沙盘任务一就是用它</a:t>
            </a:r>
            <a:r>
              <a:rPr lang="en-US" sz="1275">
                <a:solidFill>
                  <a:srgbClr val="64748B"/>
                </a:solidFill>
                <a:latin typeface="PingFang SC"/>
                <a:ea typeface="PingFang SC"/>
              </a:rPr>
              <a:t> —— </a:t>
            </a:r>
            <a:r>
              <a:rPr lang="zh-CN" sz="1275">
                <a:solidFill>
                  <a:srgbClr val="64748B"/>
                </a:solidFill>
                <a:latin typeface="PingFang SC"/>
                <a:ea typeface="PingFang SC"/>
              </a:rPr>
              <a:t>先知道在哪，才谈得到哪</a:t>
            </a:r>
            <a:endParaRPr/>
          </a:p>
        </p:txBody>
      </p:sp>
      <p:sp>
        <p:nvSpPr>
          <p:cNvPr id="562" name=""/>
          <p:cNvSpPr/>
          <p:nvPr/>
        </p:nvSpPr>
        <p:spPr>
          <a:xfrm rot="0" flipH="0" flipV="0">
            <a:off x="685800" y="1295400"/>
            <a:ext cx="2562225" cy="4229100"/>
          </a:xfrm>
          <a:prstGeom prst="roundRect">
            <a:avLst>
              <a:gd name="adj" fmla="val 5948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52400" dist="38100" dir="5400000">
              <a:srgbClr val="1E3A8A">
                <a:alpha val="6000"/>
              </a:srgbClr>
            </a:outerShdw>
          </a:effectLst>
        </p:spPr>
        <p:txBody>
          <a:bodyPr/>
          <a:p/>
        </p:txBody>
      </p:sp>
      <p:sp>
        <p:nvSpPr>
          <p:cNvPr id="563" name=""/>
          <p:cNvSpPr/>
          <p:nvPr/>
        </p:nvSpPr>
        <p:spPr>
          <a:xfrm rot="0" flipH="0" flipV="0">
            <a:off x="895350" y="1524000"/>
            <a:ext cx="552450" cy="552450"/>
          </a:xfrm>
          <a:prstGeom prst="roundRect">
            <a:avLst>
              <a:gd name="adj" fmla="val 24138"/>
            </a:avLst>
          </a:prstGeom>
          <a:solidFill>
            <a:srgbClr val="E0F7FA"/>
          </a:solidFill>
          <a:ln/>
        </p:spPr>
        <p:txBody>
          <a:bodyPr/>
          <a:p/>
        </p:txBody>
      </p:sp>
      <p:pic>
        <p:nvPicPr>
          <p:cNvPr id="564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1"/>
              </a:ext>
            </a:extLst>
          </a:blip>
          <a:stretch>
            <a:fillRect/>
          </a:stretch>
        </p:blipFill>
        <p:spPr>
          <a:xfrm rot="0" flipH="0" flipV="0">
            <a:off x="1038225" y="1666875"/>
            <a:ext cx="266700" cy="266700"/>
          </a:xfrm>
          <a:prstGeom prst="rect">
            <a:avLst/>
          </a:prstGeom>
          <a:ln/>
        </p:spPr>
      </p:pic>
      <p:sp>
        <p:nvSpPr>
          <p:cNvPr id="565" name="" descr="{&quot;isTemplate&quot;:true,&quot;type&quot;:&quot;text&quot;}"/>
          <p:cNvSpPr txBox="1"/>
          <p:nvPr/>
        </p:nvSpPr>
        <p:spPr>
          <a:xfrm rot="0" flipH="0" flipV="0">
            <a:off x="895350" y="2209800"/>
            <a:ext cx="2143125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 b="1">
                <a:solidFill>
                  <a:srgbClr val="1E3A8A"/>
                </a:solidFill>
                <a:latin typeface="PingFang SC"/>
                <a:ea typeface="PingFang SC"/>
              </a:rPr>
              <a:t>数字化基础</a:t>
            </a:r>
            <a:endParaRPr/>
          </a:p>
        </p:txBody>
      </p:sp>
      <p:sp>
        <p:nvSpPr>
          <p:cNvPr id="566" name="" descr="{&quot;isTemplate&quot;:true,&quot;type&quot;:&quot;text&quot;}"/>
          <p:cNvSpPr txBox="1"/>
          <p:nvPr/>
        </p:nvSpPr>
        <p:spPr>
          <a:xfrm rot="0" flipH="0" flipV="0">
            <a:off x="895350" y="2533650"/>
            <a:ext cx="2143125" cy="21526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60000"/>
              </a:lnSpc>
            </a:pPr>
            <a:r>
              <a:rPr lang="zh-CN" sz="1050">
                <a:solidFill>
                  <a:srgbClr val="43566B"/>
                </a:solidFill>
                <a:latin typeface="PingFang SC"/>
                <a:ea typeface="PingFang SC"/>
              </a:rPr>
              <a:t>系统连通度 / 企业系统覆盖 / 网络带宽</a:t>
            </a:r>
            <a:r>
              <a:rPr lang="en-US" sz="1050">
                <a:solidFill>
                  <a:srgbClr val="43566B"/>
                </a:solidFill>
                <a:latin typeface="PingFang SC"/>
                <a:ea typeface="PingFang SC"/>
              </a:rPr>
              <a:t/>
            </a:r>
            <a:r>
              <a:rPr lang="zh-CN" sz="1050">
                <a:solidFill>
                  <a:srgbClr val="43566B"/>
                </a:solidFill>
                <a:latin typeface="PingFang SC"/>
                <a:ea typeface="PingFang SC"/>
              </a:rPr>
              <a:t/>
            </a:r>
            <a:r>
              <a:rPr lang="en-US" sz="1050">
                <a:solidFill>
                  <a:srgbClr val="43566B"/>
                </a:solidFill>
                <a:latin typeface="PingFang SC"/>
                <a:ea typeface="PingFang SC"/>
              </a:rPr>
              <a:t/>
            </a:r>
            <a:r>
              <a:rPr lang="zh-CN" sz="1050">
                <a:solidFill>
                  <a:srgbClr val="43566B"/>
                </a:solidFill>
                <a:latin typeface="PingFang SC"/>
                <a:ea typeface="PingFang SC"/>
              </a:rPr>
              <a:t/>
            </a:r>
            <a:endParaRPr/>
          </a:p>
        </p:txBody>
      </p:sp>
      <p:sp>
        <p:nvSpPr>
          <p:cNvPr id="567" name=""/>
          <p:cNvSpPr/>
          <p:nvPr/>
        </p:nvSpPr>
        <p:spPr>
          <a:xfrm rot="0" flipH="0" flipV="0">
            <a:off x="895350" y="4838700"/>
            <a:ext cx="2143125" cy="95250"/>
          </a:xfrm>
          <a:prstGeom prst="roundRect">
            <a:avLst>
              <a:gd name="adj" fmla="val 50000"/>
            </a:avLst>
          </a:prstGeom>
          <a:solidFill>
            <a:srgbClr val="EDF3FB"/>
          </a:solidFill>
          <a:ln/>
        </p:spPr>
        <p:txBody>
          <a:bodyPr/>
          <a:p/>
        </p:txBody>
      </p:sp>
      <p:sp>
        <p:nvSpPr>
          <p:cNvPr id="568" name=""/>
          <p:cNvSpPr/>
          <p:nvPr/>
        </p:nvSpPr>
        <p:spPr>
          <a:xfrm rot="0" flipH="0" flipV="0">
            <a:off x="895350" y="4838700"/>
            <a:ext cx="1504950" cy="95250"/>
          </a:xfrm>
          <a:prstGeom prst="roundRect">
            <a:avLst>
              <a:gd name="adj" fmla="val 50000"/>
            </a:avLst>
          </a:prstGeom>
          <a:solidFill>
            <a:srgbClr val="06B6D4"/>
          </a:solidFill>
          <a:ln/>
        </p:spPr>
        <p:txBody>
          <a:bodyPr/>
          <a:p/>
        </p:txBody>
      </p:sp>
      <p:sp>
        <p:nvSpPr>
          <p:cNvPr id="569" name="" descr="{&quot;isTemplate&quot;:true,&quot;type&quot;:&quot;text&quot;}"/>
          <p:cNvSpPr txBox="1"/>
          <p:nvPr/>
        </p:nvSpPr>
        <p:spPr>
          <a:xfrm rot="0" flipH="0" flipV="0">
            <a:off x="895350" y="4991100"/>
            <a:ext cx="2143125" cy="30480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00000"/>
              </a:lnSpc>
            </a:pPr>
            <a:r>
              <a:rPr lang="zh-CN" sz="975">
                <a:solidFill>
                  <a:srgbClr val="64748B"/>
                </a:solidFill>
                <a:latin typeface="PingFang SC"/>
                <a:ea typeface="PingFang SC"/>
              </a:rPr>
              <a:t>示例得分</a:t>
            </a:r>
            <a:r>
              <a:rPr lang="en-US" sz="975">
                <a:solidFill>
                  <a:srgbClr val="64748B"/>
                </a:solidFill>
                <a:latin typeface="PingFang SC"/>
                <a:ea typeface="PingFang SC"/>
              </a:rPr>
              <a:t> </a:t>
            </a:r>
            <a:r>
              <a:rPr lang="en-US" sz="975">
                <a:solidFill>
                  <a:srgbClr val="64748B"/>
                </a:solidFill>
                <a:latin typeface="PingFang SC"/>
                <a:ea typeface="PingFang SC"/>
              </a:rPr>
              <a:t>70</a:t>
            </a:r>
            <a:r>
              <a:rPr lang="en-US" sz="975">
                <a:solidFill>
                  <a:srgbClr val="64748B"/>
                </a:solidFill>
                <a:latin typeface="PingFang SC"/>
                <a:ea typeface="PingFang SC"/>
              </a:rPr>
              <a:t> —— </a:t>
            </a:r>
            <a:r>
              <a:rPr lang="zh-CN" sz="975">
                <a:solidFill>
                  <a:srgbClr val="64748B"/>
                </a:solidFill>
                <a:latin typeface="PingFang SC"/>
                <a:ea typeface="PingFang SC"/>
              </a:rPr>
              <a:t>短板维度就是路线图的第一优先级</a:t>
            </a:r>
            <a:endParaRPr/>
          </a:p>
        </p:txBody>
      </p:sp>
      <p:sp>
        <p:nvSpPr>
          <p:cNvPr id="570" name=""/>
          <p:cNvSpPr/>
          <p:nvPr/>
        </p:nvSpPr>
        <p:spPr>
          <a:xfrm rot="0" flipH="0" flipV="0">
            <a:off x="3438525" y="1295400"/>
            <a:ext cx="2562225" cy="4229100"/>
          </a:xfrm>
          <a:prstGeom prst="roundRect">
            <a:avLst>
              <a:gd name="adj" fmla="val 5948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52400" dist="38100" dir="5400000">
              <a:srgbClr val="1E3A8A">
                <a:alpha val="6000"/>
              </a:srgbClr>
            </a:outerShdw>
          </a:effectLst>
        </p:spPr>
        <p:txBody>
          <a:bodyPr/>
          <a:p/>
        </p:txBody>
      </p:sp>
      <p:sp>
        <p:nvSpPr>
          <p:cNvPr id="571" name=""/>
          <p:cNvSpPr/>
          <p:nvPr/>
        </p:nvSpPr>
        <p:spPr>
          <a:xfrm rot="0" flipH="0" flipV="0">
            <a:off x="3648075" y="1524000"/>
            <a:ext cx="552450" cy="552450"/>
          </a:xfrm>
          <a:prstGeom prst="roundRect">
            <a:avLst>
              <a:gd name="adj" fmla="val 24138"/>
            </a:avLst>
          </a:prstGeom>
          <a:solidFill>
            <a:srgbClr val="FEEFE0"/>
          </a:solidFill>
          <a:ln/>
        </p:spPr>
        <p:txBody>
          <a:bodyPr/>
          <a:p/>
        </p:txBody>
      </p:sp>
      <p:pic>
        <p:nvPicPr>
          <p:cNvPr id="572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2"/>
              </a:ext>
            </a:extLst>
          </a:blip>
          <a:stretch>
            <a:fillRect/>
          </a:stretch>
        </p:blipFill>
        <p:spPr>
          <a:xfrm rot="0" flipH="0" flipV="0">
            <a:off x="3790950" y="1666875"/>
            <a:ext cx="266700" cy="266700"/>
          </a:xfrm>
          <a:prstGeom prst="rect">
            <a:avLst/>
          </a:prstGeom>
          <a:ln/>
        </p:spPr>
      </p:pic>
      <p:sp>
        <p:nvSpPr>
          <p:cNvPr id="573" name="" descr="{&quot;isTemplate&quot;:true,&quot;type&quot;:&quot;text&quot;}"/>
          <p:cNvSpPr txBox="1"/>
          <p:nvPr/>
        </p:nvSpPr>
        <p:spPr>
          <a:xfrm rot="0" flipH="0" flipV="0">
            <a:off x="3648075" y="2209800"/>
            <a:ext cx="2143125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 b="1">
                <a:solidFill>
                  <a:srgbClr val="1E3A8A"/>
                </a:solidFill>
                <a:latin typeface="PingFang SC"/>
                <a:ea typeface="PingFang SC"/>
              </a:rPr>
              <a:t>数据贯通度</a:t>
            </a:r>
            <a:endParaRPr/>
          </a:p>
        </p:txBody>
      </p:sp>
      <p:sp>
        <p:nvSpPr>
          <p:cNvPr id="574" name="" descr="{&quot;isTemplate&quot;:true,&quot;type&quot;:&quot;text&quot;}"/>
          <p:cNvSpPr txBox="1"/>
          <p:nvPr/>
        </p:nvSpPr>
        <p:spPr>
          <a:xfrm rot="0" flipH="0" flipV="0">
            <a:off x="3648075" y="2533650"/>
            <a:ext cx="2143125" cy="21526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60000"/>
              </a:lnSpc>
            </a:pPr>
            <a:r>
              <a:rPr lang="zh-CN" sz="1050">
                <a:solidFill>
                  <a:srgbClr val="43566B"/>
                </a:solidFill>
                <a:latin typeface="PingFang SC"/>
                <a:ea typeface="PingFang SC"/>
              </a:rPr>
              <a:t>跨系统接口</a:t>
            </a:r>
            <a:r>
              <a:rPr lang="en-US" sz="1050">
                <a:solidFill>
                  <a:srgbClr val="43566B"/>
                </a:solidFill>
                <a:latin typeface="PingFang SC"/>
                <a:ea typeface="PingFang SC"/>
              </a:rPr>
              <a:t> / </a:t>
            </a:r>
            <a:r>
              <a:rPr lang="zh-CN" sz="1050">
                <a:solidFill>
                  <a:srgbClr val="43566B"/>
                </a:solidFill>
                <a:latin typeface="PingFang SC"/>
                <a:ea typeface="PingFang SC"/>
              </a:rPr>
              <a:t>主数据统一</a:t>
            </a:r>
            <a:r>
              <a:rPr lang="en-US" sz="1050">
                <a:solidFill>
                  <a:srgbClr val="43566B"/>
                </a:solidFill>
                <a:latin typeface="PingFang SC"/>
                <a:ea typeface="PingFang SC"/>
              </a:rPr>
              <a:t> / </a:t>
            </a:r>
            <a:r>
              <a:rPr lang="zh-CN" sz="1050">
                <a:solidFill>
                  <a:srgbClr val="43566B"/>
                </a:solidFill>
                <a:latin typeface="PingFang SC"/>
                <a:ea typeface="PingFang SC"/>
              </a:rPr>
              <a:t>数据质量</a:t>
            </a:r>
            <a:endParaRPr/>
          </a:p>
        </p:txBody>
      </p:sp>
      <p:sp>
        <p:nvSpPr>
          <p:cNvPr id="575" name=""/>
          <p:cNvSpPr/>
          <p:nvPr/>
        </p:nvSpPr>
        <p:spPr>
          <a:xfrm rot="0" flipH="0" flipV="0">
            <a:off x="3648075" y="4838700"/>
            <a:ext cx="2143125" cy="95250"/>
          </a:xfrm>
          <a:prstGeom prst="roundRect">
            <a:avLst>
              <a:gd name="adj" fmla="val 50000"/>
            </a:avLst>
          </a:prstGeom>
          <a:solidFill>
            <a:srgbClr val="EDF3FB"/>
          </a:solidFill>
          <a:ln/>
        </p:spPr>
        <p:txBody>
          <a:bodyPr/>
          <a:p/>
        </p:txBody>
      </p:sp>
      <p:sp>
        <p:nvSpPr>
          <p:cNvPr id="576" name=""/>
          <p:cNvSpPr/>
          <p:nvPr/>
        </p:nvSpPr>
        <p:spPr>
          <a:xfrm rot="0" flipH="0" flipV="0">
            <a:off x="3648075" y="4838700"/>
            <a:ext cx="962025" cy="95250"/>
          </a:xfrm>
          <a:prstGeom prst="roundRect">
            <a:avLst>
              <a:gd name="adj" fmla="val 50000"/>
            </a:avLst>
          </a:prstGeom>
          <a:solidFill>
            <a:srgbClr val="F59E0B"/>
          </a:solidFill>
          <a:ln/>
        </p:spPr>
        <p:txBody>
          <a:bodyPr/>
          <a:p/>
        </p:txBody>
      </p:sp>
      <p:sp>
        <p:nvSpPr>
          <p:cNvPr id="577" name="" descr="{&quot;isTemplate&quot;:true,&quot;type&quot;:&quot;text&quot;}"/>
          <p:cNvSpPr txBox="1"/>
          <p:nvPr/>
        </p:nvSpPr>
        <p:spPr>
          <a:xfrm rot="0" flipH="0" flipV="0">
            <a:off x="3648075" y="4991100"/>
            <a:ext cx="2143125" cy="30480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00000"/>
              </a:lnSpc>
            </a:pPr>
            <a:r>
              <a:rPr lang="zh-CN" sz="975">
                <a:solidFill>
                  <a:srgbClr val="64748B"/>
                </a:solidFill>
                <a:latin typeface="PingFang SC"/>
                <a:ea typeface="PingFang SC"/>
              </a:rPr>
              <a:t>示例得分</a:t>
            </a:r>
            <a:r>
              <a:rPr lang="en-US" sz="975">
                <a:solidFill>
                  <a:srgbClr val="64748B"/>
                </a:solidFill>
                <a:latin typeface="PingFang SC"/>
                <a:ea typeface="PingFang SC"/>
              </a:rPr>
              <a:t> </a:t>
            </a:r>
            <a:r>
              <a:rPr lang="en-US" sz="975">
                <a:solidFill>
                  <a:srgbClr val="64748B"/>
                </a:solidFill>
                <a:latin typeface="PingFang SC"/>
                <a:ea typeface="PingFang SC"/>
              </a:rPr>
              <a:t>45</a:t>
            </a:r>
            <a:r>
              <a:rPr lang="en-US" sz="975">
                <a:solidFill>
                  <a:srgbClr val="64748B"/>
                </a:solidFill>
                <a:latin typeface="PingFang SC"/>
                <a:ea typeface="PingFang SC"/>
              </a:rPr>
              <a:t> —— </a:t>
            </a:r>
            <a:r>
              <a:rPr lang="zh-CN" sz="975">
                <a:solidFill>
                  <a:srgbClr val="64748B"/>
                </a:solidFill>
                <a:latin typeface="PingFang SC"/>
                <a:ea typeface="PingFang SC"/>
              </a:rPr>
              <a:t>短板维度就是路线图的第一优先级</a:t>
            </a:r>
            <a:endParaRPr/>
          </a:p>
        </p:txBody>
      </p:sp>
      <p:sp>
        <p:nvSpPr>
          <p:cNvPr id="578" name=""/>
          <p:cNvSpPr/>
          <p:nvPr/>
        </p:nvSpPr>
        <p:spPr>
          <a:xfrm rot="0" flipH="0" flipV="0">
            <a:off x="6191250" y="1295400"/>
            <a:ext cx="2562225" cy="4229100"/>
          </a:xfrm>
          <a:prstGeom prst="roundRect">
            <a:avLst>
              <a:gd name="adj" fmla="val 5948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52400" dist="38100" dir="5400000">
              <a:srgbClr val="1E3A8A">
                <a:alpha val="6000"/>
              </a:srgbClr>
            </a:outerShdw>
          </a:effectLst>
        </p:spPr>
        <p:txBody>
          <a:bodyPr/>
          <a:p/>
        </p:txBody>
      </p:sp>
      <p:sp>
        <p:nvSpPr>
          <p:cNvPr id="579" name=""/>
          <p:cNvSpPr/>
          <p:nvPr/>
        </p:nvSpPr>
        <p:spPr>
          <a:xfrm rot="0" flipH="0" flipV="0">
            <a:off x="6400800" y="1524000"/>
            <a:ext cx="552450" cy="552450"/>
          </a:xfrm>
          <a:prstGeom prst="roundRect">
            <a:avLst>
              <a:gd name="adj" fmla="val 24138"/>
            </a:avLst>
          </a:prstGeom>
          <a:solidFill>
            <a:srgbClr val="E0F7FA"/>
          </a:solidFill>
          <a:ln/>
        </p:spPr>
        <p:txBody>
          <a:bodyPr/>
          <a:p/>
        </p:txBody>
      </p:sp>
      <p:pic>
        <p:nvPicPr>
          <p:cNvPr id="580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3"/>
              </a:ext>
            </a:extLst>
          </a:blip>
          <a:stretch>
            <a:fillRect/>
          </a:stretch>
        </p:blipFill>
        <p:spPr>
          <a:xfrm rot="0" flipH="0" flipV="0">
            <a:off x="6543675" y="1666875"/>
            <a:ext cx="266700" cy="266700"/>
          </a:xfrm>
          <a:prstGeom prst="rect">
            <a:avLst/>
          </a:prstGeom>
          <a:ln/>
        </p:spPr>
      </p:pic>
      <p:sp>
        <p:nvSpPr>
          <p:cNvPr id="581" name="" descr="{&quot;isTemplate&quot;:true,&quot;type&quot;:&quot;text&quot;}"/>
          <p:cNvSpPr txBox="1"/>
          <p:nvPr/>
        </p:nvSpPr>
        <p:spPr>
          <a:xfrm rot="0" flipH="0" flipV="0">
            <a:off x="6400800" y="2209800"/>
            <a:ext cx="2143125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 b="1">
                <a:solidFill>
                  <a:srgbClr val="1E3A8A"/>
                </a:solidFill>
                <a:latin typeface="PingFang SC"/>
                <a:ea typeface="PingFang SC"/>
              </a:rPr>
              <a:t>智能化深度</a:t>
            </a:r>
            <a:endParaRPr/>
          </a:p>
        </p:txBody>
      </p:sp>
      <p:sp>
        <p:nvSpPr>
          <p:cNvPr id="582" name="" descr="{&quot;isTemplate&quot;:true,&quot;type&quot;:&quot;text&quot;}"/>
          <p:cNvSpPr txBox="1"/>
          <p:nvPr/>
        </p:nvSpPr>
        <p:spPr>
          <a:xfrm rot="0" flipH="0" flipV="0">
            <a:off x="6400800" y="2533650"/>
            <a:ext cx="2143125" cy="21526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60000"/>
              </a:lnSpc>
            </a:pPr>
            <a:r>
              <a:rPr lang="en-US" sz="1050">
                <a:solidFill>
                  <a:srgbClr val="43566B"/>
                </a:solidFill>
                <a:latin typeface="PingFang SC"/>
                <a:ea typeface="PingFang SC"/>
              </a:rPr>
              <a:t>AI </a:t>
            </a:r>
            <a:r>
              <a:rPr lang="zh-CN" sz="1050">
                <a:solidFill>
                  <a:srgbClr val="43566B"/>
                </a:solidFill>
                <a:latin typeface="PingFang SC"/>
                <a:ea typeface="PingFang SC"/>
              </a:rPr>
              <a:t>场景数</a:t>
            </a:r>
            <a:r>
              <a:rPr lang="en-US" sz="1050">
                <a:solidFill>
                  <a:srgbClr val="43566B"/>
                </a:solidFill>
                <a:latin typeface="PingFang SC"/>
                <a:ea typeface="PingFang SC"/>
              </a:rPr>
              <a:t> / </a:t>
            </a:r>
            <a:r>
              <a:rPr lang="zh-CN" sz="1050">
                <a:solidFill>
                  <a:srgbClr val="43566B"/>
                </a:solidFill>
                <a:latin typeface="PingFang SC"/>
                <a:ea typeface="PingFang SC"/>
              </a:rPr>
              <a:t>关键工序占比</a:t>
            </a:r>
            <a:r>
              <a:rPr lang="en-US" sz="1050">
                <a:solidFill>
                  <a:srgbClr val="43566B"/>
                </a:solidFill>
                <a:latin typeface="PingFang SC"/>
                <a:ea typeface="PingFang SC"/>
              </a:rPr>
              <a:t> / </a:t>
            </a:r>
            <a:r>
              <a:rPr lang="zh-CN" sz="1050">
                <a:solidFill>
                  <a:srgbClr val="43566B"/>
                </a:solidFill>
                <a:latin typeface="PingFang SC"/>
                <a:ea typeface="PingFang SC"/>
              </a:rPr>
              <a:t>智能体数</a:t>
            </a:r>
            <a:endParaRPr/>
          </a:p>
        </p:txBody>
      </p:sp>
      <p:sp>
        <p:nvSpPr>
          <p:cNvPr id="583" name=""/>
          <p:cNvSpPr/>
          <p:nvPr/>
        </p:nvSpPr>
        <p:spPr>
          <a:xfrm rot="0" flipH="0" flipV="0">
            <a:off x="6400800" y="4838700"/>
            <a:ext cx="2143125" cy="95250"/>
          </a:xfrm>
          <a:prstGeom prst="roundRect">
            <a:avLst>
              <a:gd name="adj" fmla="val 50000"/>
            </a:avLst>
          </a:prstGeom>
          <a:solidFill>
            <a:srgbClr val="EDF3FB"/>
          </a:solidFill>
          <a:ln/>
        </p:spPr>
        <p:txBody>
          <a:bodyPr/>
          <a:p/>
        </p:txBody>
      </p:sp>
      <p:sp>
        <p:nvSpPr>
          <p:cNvPr id="584" name=""/>
          <p:cNvSpPr/>
          <p:nvPr/>
        </p:nvSpPr>
        <p:spPr>
          <a:xfrm rot="0" flipH="0" flipV="0">
            <a:off x="6400800" y="4838700"/>
            <a:ext cx="647700" cy="95250"/>
          </a:xfrm>
          <a:prstGeom prst="roundRect">
            <a:avLst>
              <a:gd name="adj" fmla="val 50000"/>
            </a:avLst>
          </a:prstGeom>
          <a:solidFill>
            <a:srgbClr val="06B6D4"/>
          </a:solidFill>
          <a:ln/>
        </p:spPr>
        <p:txBody>
          <a:bodyPr/>
          <a:p/>
        </p:txBody>
      </p:sp>
      <p:sp>
        <p:nvSpPr>
          <p:cNvPr id="585" name="" descr="{&quot;isTemplate&quot;:true,&quot;type&quot;:&quot;text&quot;}"/>
          <p:cNvSpPr txBox="1"/>
          <p:nvPr/>
        </p:nvSpPr>
        <p:spPr>
          <a:xfrm rot="0" flipH="0" flipV="0">
            <a:off x="6400800" y="4991100"/>
            <a:ext cx="2143125" cy="30480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00000"/>
              </a:lnSpc>
            </a:pPr>
            <a:r>
              <a:rPr lang="zh-CN" sz="975">
                <a:solidFill>
                  <a:srgbClr val="64748B"/>
                </a:solidFill>
                <a:latin typeface="PingFang SC"/>
                <a:ea typeface="PingFang SC"/>
              </a:rPr>
              <a:t>示例得分</a:t>
            </a:r>
            <a:r>
              <a:rPr lang="en-US" sz="975">
                <a:solidFill>
                  <a:srgbClr val="64748B"/>
                </a:solidFill>
                <a:latin typeface="PingFang SC"/>
                <a:ea typeface="PingFang SC"/>
              </a:rPr>
              <a:t> </a:t>
            </a:r>
            <a:r>
              <a:rPr lang="en-US" sz="975">
                <a:solidFill>
                  <a:srgbClr val="64748B"/>
                </a:solidFill>
                <a:latin typeface="PingFang SC"/>
                <a:ea typeface="PingFang SC"/>
              </a:rPr>
              <a:t>30</a:t>
            </a:r>
            <a:r>
              <a:rPr lang="en-US" sz="975">
                <a:solidFill>
                  <a:srgbClr val="64748B"/>
                </a:solidFill>
                <a:latin typeface="PingFang SC"/>
                <a:ea typeface="PingFang SC"/>
              </a:rPr>
              <a:t> —— </a:t>
            </a:r>
            <a:r>
              <a:rPr lang="zh-CN" sz="975">
                <a:solidFill>
                  <a:srgbClr val="64748B"/>
                </a:solidFill>
                <a:latin typeface="PingFang SC"/>
                <a:ea typeface="PingFang SC"/>
              </a:rPr>
              <a:t>短板维度就是路线图的第一优先级</a:t>
            </a:r>
            <a:endParaRPr/>
          </a:p>
        </p:txBody>
      </p:sp>
      <p:sp>
        <p:nvSpPr>
          <p:cNvPr id="586" name=""/>
          <p:cNvSpPr/>
          <p:nvPr/>
        </p:nvSpPr>
        <p:spPr>
          <a:xfrm rot="0" flipH="0" flipV="0">
            <a:off x="8943975" y="1295400"/>
            <a:ext cx="2562225" cy="4229100"/>
          </a:xfrm>
          <a:prstGeom prst="roundRect">
            <a:avLst>
              <a:gd name="adj" fmla="val 5948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52400" dist="38100" dir="5400000">
              <a:srgbClr val="1E3A8A">
                <a:alpha val="6000"/>
              </a:srgbClr>
            </a:outerShdw>
          </a:effectLst>
        </p:spPr>
        <p:txBody>
          <a:bodyPr/>
          <a:p/>
        </p:txBody>
      </p:sp>
      <p:sp>
        <p:nvSpPr>
          <p:cNvPr id="587" name=""/>
          <p:cNvSpPr/>
          <p:nvPr/>
        </p:nvSpPr>
        <p:spPr>
          <a:xfrm rot="0" flipH="0" flipV="0">
            <a:off x="9153525" y="1524000"/>
            <a:ext cx="552450" cy="552450"/>
          </a:xfrm>
          <a:prstGeom prst="roundRect">
            <a:avLst>
              <a:gd name="adj" fmla="val 24138"/>
            </a:avLst>
          </a:prstGeom>
          <a:solidFill>
            <a:srgbClr val="E0F7FA"/>
          </a:solidFill>
          <a:ln/>
        </p:spPr>
        <p:txBody>
          <a:bodyPr/>
          <a:p/>
        </p:txBody>
      </p:sp>
      <p:pic>
        <p:nvPicPr>
          <p:cNvPr id="588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4"/>
              </a:ext>
            </a:extLst>
          </a:blip>
          <a:stretch>
            <a:fillRect/>
          </a:stretch>
        </p:blipFill>
        <p:spPr>
          <a:xfrm rot="0" flipH="0" flipV="0">
            <a:off x="9296400" y="1666875"/>
            <a:ext cx="266700" cy="266700"/>
          </a:xfrm>
          <a:prstGeom prst="rect">
            <a:avLst/>
          </a:prstGeom>
          <a:ln/>
        </p:spPr>
      </p:pic>
      <p:sp>
        <p:nvSpPr>
          <p:cNvPr id="589" name="" descr="{&quot;isTemplate&quot;:true,&quot;type&quot;:&quot;text&quot;}"/>
          <p:cNvSpPr txBox="1"/>
          <p:nvPr/>
        </p:nvSpPr>
        <p:spPr>
          <a:xfrm rot="0" flipH="0" flipV="0">
            <a:off x="9153525" y="2209800"/>
            <a:ext cx="2143125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 b="1">
                <a:solidFill>
                  <a:srgbClr val="1E3A8A"/>
                </a:solidFill>
                <a:latin typeface="PingFang SC"/>
                <a:ea typeface="PingFang SC"/>
              </a:rPr>
              <a:t>组织就绪度</a:t>
            </a:r>
            <a:endParaRPr/>
          </a:p>
        </p:txBody>
      </p:sp>
      <p:sp>
        <p:nvSpPr>
          <p:cNvPr id="590" name="" descr="{&quot;isTemplate&quot;:true,&quot;type&quot;:&quot;text&quot;}"/>
          <p:cNvSpPr txBox="1"/>
          <p:nvPr/>
        </p:nvSpPr>
        <p:spPr>
          <a:xfrm rot="0" flipH="0" flipV="0">
            <a:off x="9153525" y="2533650"/>
            <a:ext cx="2143125" cy="21526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60000"/>
              </a:lnSpc>
            </a:pPr>
            <a:r>
              <a:rPr lang="en-US" sz="1050">
                <a:solidFill>
                  <a:srgbClr val="43566B"/>
                </a:solidFill>
                <a:latin typeface="PingFang SC"/>
                <a:ea typeface="PingFang SC"/>
              </a:rPr>
              <a:t>DRI </a:t>
            </a:r>
            <a:r>
              <a:rPr lang="zh-CN" sz="1050">
                <a:solidFill>
                  <a:srgbClr val="43566B"/>
                </a:solidFill>
                <a:latin typeface="PingFang SC"/>
                <a:ea typeface="PingFang SC"/>
              </a:rPr>
              <a:t>设置</a:t>
            </a:r>
            <a:r>
              <a:rPr lang="en-US" sz="1050">
                <a:solidFill>
                  <a:srgbClr val="43566B"/>
                </a:solidFill>
                <a:latin typeface="PingFang SC"/>
                <a:ea typeface="PingFang SC"/>
              </a:rPr>
              <a:t> / </a:t>
            </a:r>
            <a:r>
              <a:rPr lang="zh-CN" sz="1050">
                <a:solidFill>
                  <a:srgbClr val="43566B"/>
                </a:solidFill>
                <a:latin typeface="PingFang SC"/>
                <a:ea typeface="PingFang SC"/>
              </a:rPr>
              <a:t>倡导者网络</a:t>
            </a:r>
            <a:r>
              <a:rPr lang="en-US" sz="1050">
                <a:solidFill>
                  <a:srgbClr val="43566B"/>
                </a:solidFill>
                <a:latin typeface="PingFang SC"/>
                <a:ea typeface="PingFang SC"/>
              </a:rPr>
              <a:t> / </a:t>
            </a:r>
            <a:r>
              <a:rPr lang="zh-CN" sz="1050">
                <a:solidFill>
                  <a:srgbClr val="43566B"/>
                </a:solidFill>
                <a:latin typeface="PingFang SC"/>
                <a:ea typeface="PingFang SC"/>
              </a:rPr>
              <a:t>培训覆盖率</a:t>
            </a:r>
            <a:endParaRPr/>
          </a:p>
        </p:txBody>
      </p:sp>
      <p:sp>
        <p:nvSpPr>
          <p:cNvPr id="591" name=""/>
          <p:cNvSpPr/>
          <p:nvPr/>
        </p:nvSpPr>
        <p:spPr>
          <a:xfrm rot="0" flipH="0" flipV="0">
            <a:off x="9153525" y="4838700"/>
            <a:ext cx="2143125" cy="95250"/>
          </a:xfrm>
          <a:prstGeom prst="roundRect">
            <a:avLst>
              <a:gd name="adj" fmla="val 50000"/>
            </a:avLst>
          </a:prstGeom>
          <a:solidFill>
            <a:srgbClr val="EDF3FB"/>
          </a:solidFill>
          <a:ln/>
        </p:spPr>
        <p:txBody>
          <a:bodyPr/>
          <a:p/>
        </p:txBody>
      </p:sp>
      <p:sp>
        <p:nvSpPr>
          <p:cNvPr id="592" name=""/>
          <p:cNvSpPr/>
          <p:nvPr/>
        </p:nvSpPr>
        <p:spPr>
          <a:xfrm rot="0" flipH="0" flipV="0">
            <a:off x="9153525" y="4838700"/>
            <a:ext cx="1181100" cy="95250"/>
          </a:xfrm>
          <a:prstGeom prst="roundRect">
            <a:avLst>
              <a:gd name="adj" fmla="val 50000"/>
            </a:avLst>
          </a:prstGeom>
          <a:solidFill>
            <a:srgbClr val="06B6D4"/>
          </a:solidFill>
          <a:ln/>
        </p:spPr>
        <p:txBody>
          <a:bodyPr/>
          <a:p/>
        </p:txBody>
      </p:sp>
      <p:sp>
        <p:nvSpPr>
          <p:cNvPr id="593" name="" descr="{&quot;isTemplate&quot;:true,&quot;type&quot;:&quot;text&quot;}"/>
          <p:cNvSpPr txBox="1"/>
          <p:nvPr/>
        </p:nvSpPr>
        <p:spPr>
          <a:xfrm rot="0" flipH="0" flipV="0">
            <a:off x="9153525" y="4991100"/>
            <a:ext cx="2143125" cy="30480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00000"/>
              </a:lnSpc>
            </a:pPr>
            <a:r>
              <a:rPr lang="zh-CN" sz="975">
                <a:solidFill>
                  <a:srgbClr val="64748B"/>
                </a:solidFill>
                <a:latin typeface="PingFang SC"/>
                <a:ea typeface="PingFang SC"/>
              </a:rPr>
              <a:t>示例得分</a:t>
            </a:r>
            <a:r>
              <a:rPr lang="en-US" sz="975">
                <a:solidFill>
                  <a:srgbClr val="64748B"/>
                </a:solidFill>
                <a:latin typeface="PingFang SC"/>
                <a:ea typeface="PingFang SC"/>
              </a:rPr>
              <a:t> </a:t>
            </a:r>
            <a:r>
              <a:rPr lang="en-US" sz="975">
                <a:solidFill>
                  <a:srgbClr val="64748B"/>
                </a:solidFill>
                <a:latin typeface="PingFang SC"/>
                <a:ea typeface="PingFang SC"/>
              </a:rPr>
              <a:t>55</a:t>
            </a:r>
            <a:r>
              <a:rPr lang="en-US" sz="975">
                <a:solidFill>
                  <a:srgbClr val="64748B"/>
                </a:solidFill>
                <a:latin typeface="PingFang SC"/>
                <a:ea typeface="PingFang SC"/>
              </a:rPr>
              <a:t> —— </a:t>
            </a:r>
            <a:r>
              <a:rPr lang="zh-CN" sz="975">
                <a:solidFill>
                  <a:srgbClr val="64748B"/>
                </a:solidFill>
                <a:latin typeface="PingFang SC"/>
                <a:ea typeface="PingFang SC"/>
              </a:rPr>
              <a:t>短板维度就是路线图的第一优先级</a:t>
            </a:r>
            <a:endParaRPr/>
          </a:p>
        </p:txBody>
      </p:sp>
      <p:sp>
        <p:nvSpPr>
          <p:cNvPr id="594" name=""/>
          <p:cNvSpPr/>
          <p:nvPr/>
        </p:nvSpPr>
        <p:spPr>
          <a:xfrm rot="0" flipH="0" flipV="0">
            <a:off x="685800" y="5676900"/>
            <a:ext cx="10820400" cy="476250"/>
          </a:xfrm>
          <a:prstGeom prst="roundRect">
            <a:avLst>
              <a:gd name="adj" fmla="val 24000"/>
            </a:avLst>
          </a:prstGeom>
          <a:solidFill>
            <a:srgbClr val="1E3A8A"/>
          </a:solidFill>
          <a:ln/>
        </p:spPr>
        <p:txBody>
          <a:bodyPr/>
          <a:p/>
        </p:txBody>
      </p:sp>
      <p:pic>
        <p:nvPicPr>
          <p:cNvPr id="595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5"/>
              </a:ext>
            </a:extLst>
          </a:blip>
          <a:stretch>
            <a:fillRect/>
          </a:stretch>
        </p:blipFill>
        <p:spPr>
          <a:xfrm rot="0" flipH="0" flipV="0">
            <a:off x="914400" y="5810250"/>
            <a:ext cx="209550" cy="209550"/>
          </a:xfrm>
          <a:prstGeom prst="rect">
            <a:avLst/>
          </a:prstGeom>
          <a:ln/>
        </p:spPr>
      </p:pic>
      <p:sp>
        <p:nvSpPr>
          <p:cNvPr id="596" name="" descr="{&quot;isTemplate&quot;:true,&quot;type&quot;:&quot;text&quot;}"/>
          <p:cNvSpPr txBox="1"/>
          <p:nvPr/>
        </p:nvSpPr>
        <p:spPr>
          <a:xfrm rot="0" flipH="0" flipV="0">
            <a:off x="1257300" y="5810250"/>
            <a:ext cx="7267575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 b="1">
                <a:solidFill>
                  <a:srgbClr val="FFFFFF"/>
                </a:solidFill>
                <a:latin typeface="PingFang SC"/>
                <a:ea typeface="PingFang SC"/>
              </a:rPr>
              <a:t>用法：四个维度里最低的那一项，就是你未来</a:t>
            </a:r>
            <a:r>
              <a:rPr lang="en-US" sz="1350" b="1">
                <a:solidFill>
                  <a:srgbClr val="FFFFFF"/>
                </a:solidFill>
                <a:latin typeface="PingFang SC"/>
                <a:ea typeface="PingFang SC"/>
              </a:rPr>
              <a:t> 12 </a:t>
            </a:r>
            <a:r>
              <a:rPr lang="zh-CN" sz="1350" b="1">
                <a:solidFill>
                  <a:srgbClr val="FFFFFF"/>
                </a:solidFill>
                <a:latin typeface="PingFang SC"/>
                <a:ea typeface="PingFang SC"/>
              </a:rPr>
              <a:t>个月最该花钱的地方</a:t>
            </a:r>
            <a:r>
              <a:rPr lang="en-US" sz="1350" b="1">
                <a:solidFill>
                  <a:srgbClr val="FFFFFF"/>
                </a:solidFill>
                <a:latin typeface="PingFang SC"/>
                <a:ea typeface="PingFang SC"/>
              </a:rPr>
              <a:t> —— </a:t>
            </a:r>
            <a:r>
              <a:rPr lang="zh-CN" sz="1350" b="1">
                <a:solidFill>
                  <a:srgbClr val="FFFFFF"/>
                </a:solidFill>
                <a:latin typeface="PingFang SC"/>
                <a:ea typeface="PingFang SC"/>
              </a:rPr>
              <a:t>不是最时髦的技术。</a:t>
            </a:r>
            <a:endParaRPr/>
          </a:p>
        </p:txBody>
      </p:sp>
      <p:sp>
        <p:nvSpPr>
          <p:cNvPr id="597" name="" descr="{&quot;isTemplate&quot;:true,&quot;type&quot;:&quot;text&quot;}"/>
          <p:cNvSpPr txBox="1"/>
          <p:nvPr/>
        </p:nvSpPr>
        <p:spPr>
          <a:xfrm rot="0" flipH="0" flipV="0">
            <a:off x="685800" y="6362700"/>
            <a:ext cx="12573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64748B"/>
                </a:solidFill>
                <a:latin typeface="PingFang SC"/>
                <a:ea typeface="PingFang SC"/>
              </a:rPr>
              <a:t>AI </a:t>
            </a:r>
            <a:r>
              <a:rPr lang="zh-CN" sz="1050">
                <a:solidFill>
                  <a:srgbClr val="64748B"/>
                </a:solidFill>
                <a:latin typeface="PingFang SC"/>
                <a:ea typeface="PingFang SC"/>
              </a:rPr>
              <a:t>规划与治理</a:t>
            </a:r>
            <a:r>
              <a:rPr lang="en-US" sz="1050">
                <a:solidFill>
                  <a:srgbClr val="64748B"/>
                </a:solidFill>
                <a:latin typeface="PingFang SC"/>
                <a:ea typeface="PingFang SC"/>
              </a:rPr>
              <a:t> · </a:t>
            </a:r>
            <a:r>
              <a:rPr lang="zh-CN" sz="1050">
                <a:solidFill>
                  <a:srgbClr val="64748B"/>
                </a:solidFill>
                <a:latin typeface="PingFang SC"/>
                <a:ea typeface="PingFang SC"/>
              </a:rPr>
              <a:t>高级</a:t>
            </a:r>
            <a:endParaRPr/>
          </a:p>
        </p:txBody>
      </p:sp>
      <p:sp>
        <p:nvSpPr>
          <p:cNvPr id="598" name="" descr="{&quot;isTemplate&quot;:true,&quot;type&quot;:&quot;text&quot;}"/>
          <p:cNvSpPr txBox="1"/>
          <p:nvPr/>
        </p:nvSpPr>
        <p:spPr>
          <a:xfrm rot="0" flipH="0" flipV="0">
            <a:off x="11029950" y="6362700"/>
            <a:ext cx="4762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64748B"/>
                </a:solidFill>
                <a:latin typeface="PingFang SC"/>
                <a:ea typeface="PingFang SC"/>
              </a:rPr>
              <a:t>06 / 24</a:t>
            </a:r>
            <a:endParaRPr/>
          </a:p>
        </p:txBody>
      </p:sp>
    </p:spTree>
  </p:cSld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599" name="" descr="&lt;Slide style={{ width: '1280px', height: '720px', position: 'relative', background: '#1E3A8A', overflow: 'hidden', fontFamily: 'PingFang SC, Source Han Sans SC, sans-serif' }}&gt;&#10;    &lt;Box style={{ position: 'absolute', top: 0, right: 0, width: 500, height: '720px' }}&gt;&#10;        &lt;Image src=&quot;assets/hero_cover.png&quot; style={{ width: '500px', height: '720px', objectFit: 'cover', opacity: 0.5 }} /&gt;&#10;        &lt;Box style={{ position: 'absolute', top: 0, left: 0, width: '500px', height: '720px', background: 'linear-gradient(90deg, rgba(30,58,138,1) 0%, rgba(30,58,138,0.15) 100%)' }} /&gt;&#10;    &lt;/Box&gt;&#10;    &lt;Box style={{ position: 'relative', zIndex: 1, height: '720px', padding: '0 84px', justifyContent: 'center' }}&gt;&#10;        &lt;Text style={{ fontSize: 130, fontWeight: 'bold', color: 'rgba(6,182,212,0.5)', lineHeight: 1, fontFamily: 'Space Grotesk, Inter' }}&gt;02&lt;/Text&gt;&#10;        &lt;Text style={{ fontSize: 18, color: '#7FD9F0', letterSpacing: 5, marginTop: 6 }}&gt;H2 · 3 课时&lt;/Text&gt;&#10;        &lt;Text style={{ fontSize: 54, fontWeight: 'bold', color: '#FFFFFF', marginTop: 20, lineHeight: 1.18 }}&gt;技术架构&lt;br /&gt;先画骨架，再填血肉&lt;/Text&gt;&#10;        &lt;Box style={{ width: 84, height: 4, background: '#06B6D4', marginTop: 30 }} /&gt;&#10;        &lt;Text style={{ fontSize: 19, color: '#A9C4E8', marginTop: 22, lineHeight: 1.6 }}&gt;云-边-端三层 · 大小模型分工 · 数字孪生 · 工业智能体&lt;br /&gt;架构题只有两问：数据放哪跑？延迟够不够？&lt;/Text&gt;&#10;    &lt;/Box&gt;&#10;&lt;/Slide&gt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0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1E3A8A"/>
          </a:solidFill>
          <a:ln/>
        </p:spPr>
        <p:txBody>
          <a:bodyPr/>
          <a:p/>
        </p:txBody>
      </p:sp>
      <p:pic>
        <p:nvPicPr>
          <p:cNvPr id="601" name=""/>
          <p:cNvPicPr>
            <a:picLocks noChangeAspect="1"/>
          </p:cNvPicPr>
          <p:nvPr/>
        </p:nvPicPr>
        <p:blipFill>
          <a:blip r:embed="rId1">
            <a:alphaModFix amt="50000"/>
          </a:blip>
          <a:srcRect l="26242" t="0" r="26242" b="0"/>
          <a:stretch>
            <a:fillRect/>
          </a:stretch>
        </p:blipFill>
        <p:spPr>
          <a:xfrm rot="0" flipH="0" flipV="0">
            <a:off x="7429500" y="0"/>
            <a:ext cx="4762500" cy="6858000"/>
          </a:xfrm>
          <a:prstGeom prst="rect">
            <a:avLst/>
          </a:prstGeom>
          <a:ln/>
        </p:spPr>
      </p:pic>
      <p:sp>
        <p:nvSpPr>
          <p:cNvPr id="602" name=""/>
          <p:cNvSpPr/>
          <p:nvPr/>
        </p:nvSpPr>
        <p:spPr>
          <a:xfrm rot="0" flipH="0" flipV="0">
            <a:off x="7429500" y="0"/>
            <a:ext cx="4762500" cy="6858000"/>
          </a:xfrm>
          <a:prstGeom prst="rect">
            <a:avLst/>
          </a:prstGeom>
          <a:gradFill>
            <a:gsLst>
              <a:gs pos="0">
                <a:srgbClr val="1E3A8A">
                  <a:alpha val="100000"/>
                </a:srgbClr>
              </a:gs>
              <a:gs pos="100000">
                <a:srgbClr val="1E3A8A">
                  <a:alpha val="15000"/>
                </a:srgbClr>
              </a:gs>
            </a:gsLst>
            <a:lin ang="0" scaled="1"/>
          </a:gradFill>
          <a:ln/>
        </p:spPr>
        <p:txBody>
          <a:bodyPr/>
          <a:p/>
        </p:txBody>
      </p:sp>
      <p:sp>
        <p:nvSpPr>
          <p:cNvPr id="603" name="" descr="{&quot;isTemplate&quot;:true,&quot;type&quot;:&quot;text&quot;}"/>
          <p:cNvSpPr txBox="1"/>
          <p:nvPr/>
        </p:nvSpPr>
        <p:spPr>
          <a:xfrm rot="0" flipH="0" flipV="0">
            <a:off x="800100" y="1114425"/>
            <a:ext cx="10591800" cy="14859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0" b="1">
                <a:solidFill>
                  <a:srgbClr val="06B6D4">
                    <a:alpha val="50000"/>
                  </a:srgbClr>
                </a:solidFill>
                <a:latin typeface="Space Grotesk"/>
                <a:ea typeface="Space Grotesk"/>
              </a:rPr>
              <a:t>02</a:t>
            </a:r>
            <a:endParaRPr/>
          </a:p>
        </p:txBody>
      </p:sp>
      <p:sp>
        <p:nvSpPr>
          <p:cNvPr id="604" name="" descr="{&quot;isTemplate&quot;:true,&quot;type&quot;:&quot;text&quot;}"/>
          <p:cNvSpPr txBox="1"/>
          <p:nvPr/>
        </p:nvSpPr>
        <p:spPr>
          <a:xfrm rot="0" flipH="0" flipV="0">
            <a:off x="800100" y="2657475"/>
            <a:ext cx="1059180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350" spc="375">
                <a:solidFill>
                  <a:srgbClr val="7FD9F0"/>
                </a:solidFill>
                <a:latin typeface="PingFang SC"/>
                <a:ea typeface="PingFang SC"/>
              </a:rPr>
              <a:t>H2 · 3 </a:t>
            </a:r>
            <a:r>
              <a:rPr lang="zh-CN" sz="1350" spc="375">
                <a:solidFill>
                  <a:srgbClr val="7FD9F0"/>
                </a:solidFill>
                <a:latin typeface="PingFang SC"/>
                <a:ea typeface="PingFang SC"/>
              </a:rPr>
              <a:t>课时</a:t>
            </a:r>
            <a:endParaRPr/>
          </a:p>
        </p:txBody>
      </p:sp>
      <p:sp>
        <p:nvSpPr>
          <p:cNvPr id="605" name="" descr="{&quot;isTemplate&quot;:true,&quot;type&quot;:&quot;text&quot;}"/>
          <p:cNvSpPr txBox="1"/>
          <p:nvPr/>
        </p:nvSpPr>
        <p:spPr>
          <a:xfrm rot="0" flipH="0" flipV="0">
            <a:off x="800100" y="3057525"/>
            <a:ext cx="10591800" cy="1457325"/>
          </a:xfrm>
          <a:prstGeom prst="rect"/>
        </p:spPr>
        <p:txBody>
          <a:bodyPr wrap="none" lIns="0" tIns="0" rIns="0" bIns="0"/>
          <a:p>
            <a:pPr>
              <a:lnSpc>
                <a:spcPct val="118000"/>
              </a:lnSpc>
            </a:pPr>
            <a:r>
              <a:rPr lang="zh-CN" sz="4050" b="1">
                <a:solidFill>
                  <a:srgbClr val="FFFFFF"/>
                </a:solidFill>
                <a:latin typeface="PingFang SC"/>
                <a:ea typeface="PingFang SC"/>
              </a:rPr>
              <a:t>技术架构</a:t>
            </a:r>
            <a:endParaRPr/>
          </a:p>
          <a:p>
            <a:pPr>
              <a:lnSpc>
                <a:spcPct val="118000"/>
              </a:lnSpc>
            </a:pPr>
            <a:r>
              <a:rPr lang="zh-CN" sz="4050" b="1">
                <a:solidFill>
                  <a:srgbClr val="FFFFFF"/>
                </a:solidFill>
                <a:latin typeface="PingFang SC"/>
                <a:ea typeface="PingFang SC"/>
              </a:rPr>
              <a:t>先画骨架，再填血肉</a:t>
            </a:r>
            <a:endParaRPr/>
          </a:p>
        </p:txBody>
      </p:sp>
      <p:sp>
        <p:nvSpPr>
          <p:cNvPr id="606" name=""/>
          <p:cNvSpPr/>
          <p:nvPr/>
        </p:nvSpPr>
        <p:spPr>
          <a:xfrm rot="0" flipH="0" flipV="0">
            <a:off x="800100" y="4800600"/>
            <a:ext cx="800100" cy="38100"/>
          </a:xfrm>
          <a:prstGeom prst="rect">
            <a:avLst/>
          </a:prstGeom>
          <a:solidFill>
            <a:srgbClr val="06B6D4"/>
          </a:solidFill>
          <a:ln/>
        </p:spPr>
        <p:txBody>
          <a:bodyPr/>
          <a:p/>
        </p:txBody>
      </p:sp>
      <p:sp>
        <p:nvSpPr>
          <p:cNvPr id="607" name="" descr="{&quot;isTemplate&quot;:true,&quot;type&quot;:&quot;text&quot;}"/>
          <p:cNvSpPr txBox="1"/>
          <p:nvPr/>
        </p:nvSpPr>
        <p:spPr>
          <a:xfrm rot="0" flipH="0" flipV="0">
            <a:off x="800100" y="5048250"/>
            <a:ext cx="10591800" cy="695325"/>
          </a:xfrm>
          <a:prstGeom prst="rect"/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zh-CN" sz="1425">
                <a:solidFill>
                  <a:srgbClr val="A9C4E8"/>
                </a:solidFill>
                <a:latin typeface="PingFang SC"/>
                <a:ea typeface="PingFang SC"/>
              </a:rPr>
              <a:t>云</a:t>
            </a:r>
            <a:r>
              <a:rPr lang="en-US" sz="1425">
                <a:solidFill>
                  <a:srgbClr val="A9C4E8"/>
                </a:solidFill>
                <a:latin typeface="PingFang SC"/>
                <a:ea typeface="PingFang SC"/>
              </a:rPr>
              <a:t>-</a:t>
            </a:r>
            <a:r>
              <a:rPr lang="zh-CN" sz="1425">
                <a:solidFill>
                  <a:srgbClr val="A9C4E8"/>
                </a:solidFill>
                <a:latin typeface="PingFang SC"/>
                <a:ea typeface="PingFang SC"/>
              </a:rPr>
              <a:t>边</a:t>
            </a:r>
            <a:r>
              <a:rPr lang="en-US" sz="1425">
                <a:solidFill>
                  <a:srgbClr val="A9C4E8"/>
                </a:solidFill>
                <a:latin typeface="PingFang SC"/>
                <a:ea typeface="PingFang SC"/>
              </a:rPr>
              <a:t>-</a:t>
            </a:r>
            <a:r>
              <a:rPr lang="zh-CN" sz="1425">
                <a:solidFill>
                  <a:srgbClr val="A9C4E8"/>
                </a:solidFill>
                <a:latin typeface="PingFang SC"/>
                <a:ea typeface="PingFang SC"/>
              </a:rPr>
              <a:t>端三层</a:t>
            </a:r>
            <a:r>
              <a:rPr lang="en-US" sz="1425">
                <a:solidFill>
                  <a:srgbClr val="A9C4E8"/>
                </a:solidFill>
                <a:latin typeface="PingFang SC"/>
                <a:ea typeface="PingFang SC"/>
              </a:rPr>
              <a:t> · </a:t>
            </a:r>
            <a:r>
              <a:rPr lang="zh-CN" sz="1425">
                <a:solidFill>
                  <a:srgbClr val="A9C4E8"/>
                </a:solidFill>
                <a:latin typeface="PingFang SC"/>
                <a:ea typeface="PingFang SC"/>
              </a:rPr>
              <a:t>大小模型分工</a:t>
            </a:r>
            <a:r>
              <a:rPr lang="en-US" sz="1425">
                <a:solidFill>
                  <a:srgbClr val="A9C4E8"/>
                </a:solidFill>
                <a:latin typeface="PingFang SC"/>
                <a:ea typeface="PingFang SC"/>
              </a:rPr>
              <a:t> · </a:t>
            </a:r>
            <a:r>
              <a:rPr lang="zh-CN" sz="1425">
                <a:solidFill>
                  <a:srgbClr val="A9C4E8"/>
                </a:solidFill>
                <a:latin typeface="PingFang SC"/>
                <a:ea typeface="PingFang SC"/>
              </a:rPr>
              <a:t>仿真</a:t>
            </a:r>
            <a:r>
              <a:rPr lang="en-US" sz="1425">
                <a:solidFill>
                  <a:srgbClr val="A9C4E8"/>
                </a:solidFill>
                <a:latin typeface="PingFang SC"/>
                <a:ea typeface="PingFang SC"/>
              </a:rPr>
              <a:t> · </a:t>
            </a:r>
            <a:r>
              <a:rPr lang="zh-CN" sz="1425">
                <a:solidFill>
                  <a:srgbClr val="A9C4E8"/>
                </a:solidFill>
                <a:latin typeface="PingFang SC"/>
                <a:ea typeface="PingFang SC"/>
              </a:rPr>
              <a:t>行业智能体</a:t>
            </a:r>
            <a:endParaRPr/>
          </a:p>
          <a:p>
            <a:pPr>
              <a:lnSpc>
                <a:spcPct val="160000"/>
              </a:lnSpc>
            </a:pPr>
            <a:r>
              <a:rPr lang="zh-CN" sz="1425">
                <a:solidFill>
                  <a:srgbClr val="A9C4E8"/>
                </a:solidFill>
                <a:latin typeface="PingFang SC"/>
                <a:ea typeface="PingFang SC"/>
              </a:rPr>
              <a:t>架构题只有两问：数据放哪跑？延迟够不够？</a:t>
            </a:r>
            <a:endParaRPr/>
          </a:p>
        </p:txBody>
      </p:sp>
    </p:spTree>
  </p:cSld>
</p:sld>
</file>

<file path=ppt/slides/slide8.xml><?xml version="1.0" encoding="utf-8"?>
<p:sld xmlns:asvg="http://schemas.microsoft.com/office/drawing/2016/SVG/main" xmlns:a="http://schemas.openxmlformats.org/drawingml/2006/main" xmlns:r="http://schemas.openxmlformats.org/officeDocument/2006/relationships" xmlns:p="http://schemas.openxmlformats.org/presentationml/2006/main" xmlns:mc="http://schemas.openxmlformats.org/markup-compatibility/2006" mc:Ignorable="asvg">
  <p:cSld>
    <p:spTree>
      <p:nvGrpSpPr>
        <p:cNvPr id="608" name="" descr="const layers = [&#10;    { icon: 'cloud', t: '云（中心）', d: '大模型训练 / 知识中枢 / 跨厂协同', tag: '慢思考' },&#10;    { icon: 'microchip', t: '边（厂内）', d: '小模型推理 / 数据不出厂 / 低时延', tag: '快反应' },&#10;    { icon: 'mobile-alt', t: '端（设备）', d: '传感器 / 执行器 / 本地采集', tag: '神经末梢' },&#10;];&#10;&lt;Slide style={{ width: '1280px', height: '720px', background: '#F5F8FC', padding: '24px 72px', boxSizing: 'border-box', flexDirection: 'column', fontFamily: 'PingFang SC, Source Han Sans SC, sans-serif' }}&gt;&#10;    &lt;Box style={{ height: 96, flexDirection: 'row', alignItems: 'center', gap: 16 }}&gt;&#10;        &lt;Box style={{ width: 5, height: 46, background: '#06B6D4', borderRadius: 3 }} /&gt;&#10;        &lt;Box&gt;&#10;            &lt;Text style={{ fontSize: 34, fontWeight: 'bold', color: '#1E3A8A', lineHeight: 1.2 }}&gt;云-边-端 + 大小模型分工&lt;/Text&gt;&#10;            &lt;Text style={{ fontSize: 17, color: '#64748B', marginTop: 4 }}&gt;一句话判据：数据敏感度 × 时延要求，决定它跑在哪一层&lt;/Text&gt;&#10;        &lt;/Box&gt;&#10;    &lt;/Box&gt;&#10;    &lt;Box style={{ flex: 1, flexDirection: 'row', gap: 26, marginTop: 14 }}&gt;&#10;        &lt;Box style={{ flex: 55, flexDirection: 'column', gap: 14 }}&gt;&#10;            {layers.map((l, i) =&gt; (&#10;                &lt;Box key={i} style={{ flex: 1, background: i === 1 ? '#1E3A8A' : '#FFFFFF', borderRadius: 16, border: '1px solid ' + (i === 1 ? '#1E3A8A' : '#E2E8F0'), flexDirection: 'row', alignItems: 'center', gap: 18, padding: '0 26px', boxShadow: i === 1 ? '0 8px 24px rgba(30,58,138,0.25)' : '0 3px 12px rgba(30,58,138,0.05)' }}&gt;&#10;                    &lt;Box style={{ width: 54, height: 54, borderRadius: 13, background: i === 1 ? 'rgba(6,182,212,0.2)' : '#E0F7FA', justifyContent: 'center', alignItems: 'center' }}&gt;&#10;                        &lt;FAIcon name={l.icon} style={{ fill: i === 1 ? '#7FD9F0' : '#0891B2', width: 26, height: 26 }} /&gt;&#10;                    &lt;/Box&gt;&#10;                    &lt;Box style={{ width: 150 }}&gt;&#10;                        &lt;Text style={{ fontSize: 21, fontWeight: 'bold', color: i === 1 ? '#FFFFFF' : '#1E3A8A' }}&gt;{l.t}&lt;/Text&gt;&#10;                    &lt;/Box&gt;&#10;                    &lt;Text style={{ flex: 1, fontSize: 16, color: i === 1 ? '#DCE9FB' : '#43566b' }}&gt;{l.d}&lt;/Text&gt;&#10;                    &lt;Box style={{ padding: '6px 14px', background: i === 1 ? '#F59E0B' : '#EDF3FB', borderRadius: 999 }}&gt;&#10;                        &lt;Text style={{ fontSize: 14, fontWeight: 'bold', color: i === 1 ? '#FFFFFF' : '#64748B' }}&gt;{l.tag}&lt;/Text&gt;&#10;                    &lt;/Box&gt;&#10;                &lt;/Box&gt;&#10;            ))}&#10;        &lt;/Box&gt;&#10;        &lt;Box style={{ flex: 45, flexDirection: 'column', gap: 16 }}&gt;&#10;            &lt;Box style={{ flex: 1, padding: '20px 26px', background: '#FEEFE0', borderRadius: 16, border: '2px solid #F59E0B' }}&gt;&#10;                &lt;Text style={{ fontSize: 19, fontWeight: 'bold', color: '#B45309' }}&gt;架构第一原则&lt;/Text&gt;&#10;                &lt;Text style={{ fontSize: 21, fontWeight: 'bold', color: '#1E3A8A', marginTop: 10, lineHeight: 1.5 }}&gt;能用小模型，就别上大模型。&lt;/Text&gt;&#10;                &lt;Text style={{ fontSize: 14, color: '#43566b', marginTop: 10, lineHeight: 1.7 }}&gt;小模型：便宜、快、数据不出厂。大模型：通用、强，但贵、慢、常要上云。先用小模型把 80% 的活干了，剩下的 20% 再谈大模型。&lt;/Text&gt;&#10;            &lt;/Box&gt;&#10;            &lt;Box style={{ flex: 1, background: '#FFFFFF', borderRadius: 16, padding: '20px 26px', border: '1px solid #E2E8F0' }}&gt;&#10;                &lt;Text style={{ fontSize: 17, fontWeight: 'bold', color: '#1E3A8A', marginBottom: 8 }}&gt;数字孪生：给决策装个沙盘&lt;/Text&gt;&#10;                &lt;Text style={{ fontSize: 15, color: '#43566b', lineHeight: 1.7 }}&gt;产线在虚拟空间里先跑一遍 —— 换方案、调参数、验瓶颈，不耽误一天实际生产。领航级的标配，卓越级的加分项。&lt;/Text&gt;&#10;            &lt;/Box&gt;&#10;        &lt;/Box&gt;&#10;    &lt;/Box&gt;&#10;    &lt;Box style={{ height: 40, flexDirection: 'row', justifyContent: 'space-between', alignItems: 'center', marginTop: 10 }}&gt;&#10;        &lt;Text style={{ fontSize: 14, color: '#64748B' }}&gt;AI 规划与治理 · 高级&lt;/Text&gt;&#10;        &lt;Text style={{ fontSize: 14, color: '#64748B' }}&gt;08 / 24&lt;/Text&gt;&#10;    &lt;/Box&gt;&#10;&lt;/Slide&gt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9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5F8FC"/>
          </a:solidFill>
          <a:ln/>
        </p:spPr>
        <p:txBody>
          <a:bodyPr/>
          <a:p/>
        </p:txBody>
      </p:sp>
      <p:sp>
        <p:nvSpPr>
          <p:cNvPr id="610" name=""/>
          <p:cNvSpPr/>
          <p:nvPr/>
        </p:nvSpPr>
        <p:spPr>
          <a:xfrm rot="0" flipH="0" flipV="0">
            <a:off x="685800" y="466725"/>
            <a:ext cx="47625" cy="438150"/>
          </a:xfrm>
          <a:prstGeom prst="roundRect">
            <a:avLst>
              <a:gd name="adj" fmla="val 60000"/>
            </a:avLst>
          </a:prstGeom>
          <a:solidFill>
            <a:srgbClr val="06B6D4"/>
          </a:solidFill>
          <a:ln/>
        </p:spPr>
        <p:txBody>
          <a:bodyPr/>
          <a:p/>
        </p:txBody>
      </p:sp>
      <p:sp>
        <p:nvSpPr>
          <p:cNvPr id="611" name="" descr="{&quot;isTemplate&quot;:true,&quot;type&quot;:&quot;text&quot;}"/>
          <p:cNvSpPr txBox="1"/>
          <p:nvPr/>
        </p:nvSpPr>
        <p:spPr>
          <a:xfrm rot="0" flipH="0" flipV="0">
            <a:off x="885825" y="333375"/>
            <a:ext cx="4095750" cy="466725"/>
          </a:xfrm>
          <a:prstGeom prst="rect"/>
        </p:spPr>
        <p:txBody>
          <a:bodyPr wrap="none" lIns="0" tIns="0" rIns="0" bIns="0"/>
          <a:p>
            <a:pPr>
              <a:lnSpc>
                <a:spcPct val="120000"/>
              </a:lnSpc>
            </a:pPr>
            <a:r>
              <a:rPr lang="zh-CN" sz="2550" b="1">
                <a:solidFill>
                  <a:srgbClr val="1E3A8A"/>
                </a:solidFill>
                <a:latin typeface="PingFang SC"/>
                <a:ea typeface="PingFang SC"/>
              </a:rPr>
              <a:t>云</a:t>
            </a:r>
            <a:r>
              <a:rPr lang="en-US" sz="2550" b="1">
                <a:solidFill>
                  <a:srgbClr val="1E3A8A"/>
                </a:solidFill>
                <a:latin typeface="PingFang SC"/>
                <a:ea typeface="PingFang SC"/>
              </a:rPr>
              <a:t>-</a:t>
            </a:r>
            <a:r>
              <a:rPr lang="zh-CN" sz="2550" b="1">
                <a:solidFill>
                  <a:srgbClr val="1E3A8A"/>
                </a:solidFill>
                <a:latin typeface="PingFang SC"/>
                <a:ea typeface="PingFang SC"/>
              </a:rPr>
              <a:t>边</a:t>
            </a:r>
            <a:r>
              <a:rPr lang="en-US" sz="2550" b="1">
                <a:solidFill>
                  <a:srgbClr val="1E3A8A"/>
                </a:solidFill>
                <a:latin typeface="PingFang SC"/>
                <a:ea typeface="PingFang SC"/>
              </a:rPr>
              <a:t>-</a:t>
            </a:r>
            <a:r>
              <a:rPr lang="zh-CN" sz="2550" b="1">
                <a:solidFill>
                  <a:srgbClr val="1E3A8A"/>
                </a:solidFill>
                <a:latin typeface="PingFang SC"/>
                <a:ea typeface="PingFang SC"/>
              </a:rPr>
              <a:t>端</a:t>
            </a:r>
            <a:r>
              <a:rPr lang="en-US" sz="2550" b="1">
                <a:solidFill>
                  <a:srgbClr val="1E3A8A"/>
                </a:solidFill>
                <a:latin typeface="PingFang SC"/>
                <a:ea typeface="PingFang SC"/>
              </a:rPr>
              <a:t> + </a:t>
            </a:r>
            <a:r>
              <a:rPr lang="zh-CN" sz="2550" b="1">
                <a:solidFill>
                  <a:srgbClr val="1E3A8A"/>
                </a:solidFill>
                <a:latin typeface="PingFang SC"/>
                <a:ea typeface="PingFang SC"/>
              </a:rPr>
              <a:t>大小模型分工</a:t>
            </a:r>
            <a:endParaRPr/>
          </a:p>
        </p:txBody>
      </p:sp>
      <p:sp>
        <p:nvSpPr>
          <p:cNvPr id="612" name="" descr="{&quot;isTemplate&quot;:true,&quot;type&quot;:&quot;text&quot;}"/>
          <p:cNvSpPr txBox="1"/>
          <p:nvPr/>
        </p:nvSpPr>
        <p:spPr>
          <a:xfrm rot="0" flipH="0" flipV="0">
            <a:off x="885825" y="838200"/>
            <a:ext cx="409575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>
                <a:solidFill>
                  <a:srgbClr val="64748B"/>
                </a:solidFill>
                <a:latin typeface="PingFang SC"/>
                <a:ea typeface="PingFang SC"/>
              </a:rPr>
              <a:t>一句话判据：数据敏感度</a:t>
            </a:r>
            <a:r>
              <a:rPr lang="en-US" sz="1275">
                <a:solidFill>
                  <a:srgbClr val="64748B"/>
                </a:solidFill>
                <a:latin typeface="PingFang SC"/>
                <a:ea typeface="PingFang SC"/>
              </a:rPr>
              <a:t> × </a:t>
            </a:r>
            <a:r>
              <a:rPr lang="zh-CN" sz="1275">
                <a:solidFill>
                  <a:srgbClr val="64748B"/>
                </a:solidFill>
                <a:latin typeface="PingFang SC"/>
                <a:ea typeface="PingFang SC"/>
              </a:rPr>
              <a:t>时延要求，决定它跑在哪一层</a:t>
            </a:r>
            <a:endParaRPr/>
          </a:p>
        </p:txBody>
      </p:sp>
      <p:sp>
        <p:nvSpPr>
          <p:cNvPr id="613" name=""/>
          <p:cNvSpPr/>
          <p:nvPr/>
        </p:nvSpPr>
        <p:spPr>
          <a:xfrm rot="0" flipH="0" flipV="0">
            <a:off x="685800" y="1276350"/>
            <a:ext cx="5819775" cy="1533525"/>
          </a:xfrm>
          <a:prstGeom prst="roundRect">
            <a:avLst>
              <a:gd name="adj" fmla="val 9938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14300" dist="28575" dir="5400000">
              <a:srgbClr val="1E3A8A">
                <a:alpha val="5000"/>
              </a:srgbClr>
            </a:outerShdw>
          </a:effectLst>
        </p:spPr>
        <p:txBody>
          <a:bodyPr/>
          <a:p/>
        </p:txBody>
      </p:sp>
      <p:sp>
        <p:nvSpPr>
          <p:cNvPr id="614" name=""/>
          <p:cNvSpPr/>
          <p:nvPr/>
        </p:nvSpPr>
        <p:spPr>
          <a:xfrm rot="0" flipH="0" flipV="0">
            <a:off x="933450" y="1790700"/>
            <a:ext cx="514350" cy="514350"/>
          </a:xfrm>
          <a:prstGeom prst="roundRect">
            <a:avLst>
              <a:gd name="adj" fmla="val 24074"/>
            </a:avLst>
          </a:prstGeom>
          <a:solidFill>
            <a:srgbClr val="E0F7FA"/>
          </a:solidFill>
          <a:ln/>
        </p:spPr>
        <p:txBody>
          <a:bodyPr/>
          <a:p/>
        </p:txBody>
      </p:sp>
      <p:pic>
        <p:nvPicPr>
          <p:cNvPr id="615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1"/>
              </a:ext>
            </a:extLst>
          </a:blip>
          <a:stretch>
            <a:fillRect/>
          </a:stretch>
        </p:blipFill>
        <p:spPr>
          <a:xfrm rot="0" flipH="0" flipV="0">
            <a:off x="1066800" y="1924050"/>
            <a:ext cx="247650" cy="247650"/>
          </a:xfrm>
          <a:prstGeom prst="rect">
            <a:avLst/>
          </a:prstGeom>
          <a:ln/>
        </p:spPr>
      </p:pic>
      <p:sp>
        <p:nvSpPr>
          <p:cNvPr id="616" name="" descr="{&quot;isTemplate&quot;:true,&quot;type&quot;:&quot;text&quot;}"/>
          <p:cNvSpPr txBox="1"/>
          <p:nvPr/>
        </p:nvSpPr>
        <p:spPr>
          <a:xfrm rot="0" flipH="0" flipV="0">
            <a:off x="1619250" y="1924050"/>
            <a:ext cx="1428750" cy="2476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75" b="1">
                <a:solidFill>
                  <a:srgbClr val="1E3A8A"/>
                </a:solidFill>
                <a:latin typeface="PingFang SC"/>
                <a:ea typeface="PingFang SC"/>
              </a:rPr>
              <a:t>云（中心）</a:t>
            </a:r>
            <a:endParaRPr/>
          </a:p>
        </p:txBody>
      </p:sp>
      <p:sp>
        <p:nvSpPr>
          <p:cNvPr id="617" name="" descr="{&quot;isTemplate&quot;:true,&quot;type&quot;:&quot;text&quot;}"/>
          <p:cNvSpPr txBox="1"/>
          <p:nvPr/>
        </p:nvSpPr>
        <p:spPr>
          <a:xfrm rot="0" flipH="0" flipV="0">
            <a:off x="3219450" y="1952625"/>
            <a:ext cx="2200275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>
                <a:solidFill>
                  <a:srgbClr val="43566B"/>
                </a:solidFill>
                <a:latin typeface="PingFang SC"/>
                <a:ea typeface="PingFang SC"/>
              </a:rPr>
              <a:t>大模型训练</a:t>
            </a:r>
            <a:r>
              <a:rPr lang="en-US" sz="1200">
                <a:solidFill>
                  <a:srgbClr val="43566B"/>
                </a:solidFill>
                <a:latin typeface="PingFang SC"/>
                <a:ea typeface="PingFang SC"/>
              </a:rPr>
              <a:t> / </a:t>
            </a:r>
            <a:r>
              <a:rPr lang="zh-CN" sz="1200">
                <a:solidFill>
                  <a:srgbClr val="43566B"/>
                </a:solidFill>
                <a:latin typeface="PingFang SC"/>
                <a:ea typeface="PingFang SC"/>
              </a:rPr>
              <a:t>知识中枢</a:t>
            </a:r>
            <a:r>
              <a:rPr lang="en-US" sz="1200">
                <a:solidFill>
                  <a:srgbClr val="43566B"/>
                </a:solidFill>
                <a:latin typeface="PingFang SC"/>
                <a:ea typeface="PingFang SC"/>
              </a:rPr>
              <a:t> / </a:t>
            </a:r>
            <a:r>
              <a:rPr lang="zh-CN" sz="1200">
                <a:solidFill>
                  <a:srgbClr val="43566B"/>
                </a:solidFill>
                <a:latin typeface="PingFang SC"/>
                <a:ea typeface="PingFang SC"/>
              </a:rPr>
              <a:t>跨厂协同</a:t>
            </a:r>
            <a:endParaRPr/>
          </a:p>
        </p:txBody>
      </p:sp>
      <p:sp>
        <p:nvSpPr>
          <p:cNvPr id="618" name=""/>
          <p:cNvSpPr/>
          <p:nvPr/>
        </p:nvSpPr>
        <p:spPr>
          <a:xfrm rot="0" flipH="0" flipV="0">
            <a:off x="5591175" y="1905000"/>
            <a:ext cx="666750" cy="276225"/>
          </a:xfrm>
          <a:prstGeom prst="roundRect">
            <a:avLst>
              <a:gd name="adj" fmla="val 3444828"/>
            </a:avLst>
          </a:prstGeom>
          <a:solidFill>
            <a:srgbClr val="EDF3FB"/>
          </a:solidFill>
          <a:ln/>
        </p:spPr>
        <p:txBody>
          <a:bodyPr/>
          <a:p/>
        </p:txBody>
      </p:sp>
      <p:sp>
        <p:nvSpPr>
          <p:cNvPr id="619" name="" descr="{&quot;isTemplate&quot;:true,&quot;type&quot;:&quot;text&quot;}"/>
          <p:cNvSpPr txBox="1"/>
          <p:nvPr/>
        </p:nvSpPr>
        <p:spPr>
          <a:xfrm rot="0" flipH="0" flipV="0">
            <a:off x="5724525" y="1962150"/>
            <a:ext cx="4000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 b="1">
                <a:solidFill>
                  <a:srgbClr val="64748B"/>
                </a:solidFill>
                <a:latin typeface="PingFang SC"/>
                <a:ea typeface="PingFang SC"/>
              </a:rPr>
              <a:t>慢思考</a:t>
            </a:r>
            <a:endParaRPr/>
          </a:p>
        </p:txBody>
      </p:sp>
      <p:sp>
        <p:nvSpPr>
          <p:cNvPr id="620" name=""/>
          <p:cNvSpPr/>
          <p:nvPr/>
        </p:nvSpPr>
        <p:spPr>
          <a:xfrm rot="0" flipH="0" flipV="0">
            <a:off x="685800" y="2943225"/>
            <a:ext cx="5819775" cy="1543050"/>
          </a:xfrm>
          <a:prstGeom prst="roundRect">
            <a:avLst>
              <a:gd name="adj" fmla="val 9877"/>
            </a:avLst>
          </a:prstGeom>
          <a:solidFill>
            <a:srgbClr val="1E3A8A"/>
          </a:solidFill>
          <a:ln w="12700">
            <a:solidFill>
              <a:srgbClr val="1E3A8A"/>
            </a:solidFill>
            <a:prstDash val="solid"/>
          </a:ln>
          <a:effectLst>
            <a:outerShdw blurRad="228600" dist="76200" dir="5400000">
              <a:srgbClr val="1E3A8A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621" name=""/>
          <p:cNvSpPr/>
          <p:nvPr/>
        </p:nvSpPr>
        <p:spPr>
          <a:xfrm rot="0" flipH="0" flipV="0">
            <a:off x="933450" y="3457575"/>
            <a:ext cx="514350" cy="514350"/>
          </a:xfrm>
          <a:prstGeom prst="roundRect">
            <a:avLst>
              <a:gd name="adj" fmla="val 24074"/>
            </a:avLst>
          </a:prstGeom>
          <a:solidFill>
            <a:srgbClr val="06B6D4">
              <a:alpha val="20000"/>
            </a:srgbClr>
          </a:solidFill>
          <a:ln/>
        </p:spPr>
        <p:txBody>
          <a:bodyPr/>
          <a:p/>
        </p:txBody>
      </p:sp>
      <p:pic>
        <p:nvPicPr>
          <p:cNvPr id="622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2"/>
              </a:ext>
            </a:extLst>
          </a:blip>
          <a:stretch>
            <a:fillRect/>
          </a:stretch>
        </p:blipFill>
        <p:spPr>
          <a:xfrm rot="0" flipH="0" flipV="0">
            <a:off x="1066800" y="3590925"/>
            <a:ext cx="247650" cy="247650"/>
          </a:xfrm>
          <a:prstGeom prst="rect">
            <a:avLst/>
          </a:prstGeom>
          <a:ln/>
        </p:spPr>
      </p:pic>
      <p:sp>
        <p:nvSpPr>
          <p:cNvPr id="623" name="" descr="{&quot;isTemplate&quot;:true,&quot;type&quot;:&quot;text&quot;}"/>
          <p:cNvSpPr txBox="1"/>
          <p:nvPr/>
        </p:nvSpPr>
        <p:spPr>
          <a:xfrm rot="0" flipH="0" flipV="0">
            <a:off x="1619250" y="3590925"/>
            <a:ext cx="1428750" cy="2476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75" b="1">
                <a:solidFill>
                  <a:srgbClr val="FFFFFF"/>
                </a:solidFill>
                <a:latin typeface="PingFang SC"/>
                <a:ea typeface="PingFang SC"/>
              </a:rPr>
              <a:t>边（厂内）</a:t>
            </a:r>
            <a:endParaRPr/>
          </a:p>
        </p:txBody>
      </p:sp>
      <p:sp>
        <p:nvSpPr>
          <p:cNvPr id="624" name="" descr="{&quot;isTemplate&quot;:true,&quot;type&quot;:&quot;text&quot;}"/>
          <p:cNvSpPr txBox="1"/>
          <p:nvPr/>
        </p:nvSpPr>
        <p:spPr>
          <a:xfrm rot="0" flipH="0" flipV="0">
            <a:off x="3219450" y="3619500"/>
            <a:ext cx="2200275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>
                <a:solidFill>
                  <a:srgbClr val="DCE9FB"/>
                </a:solidFill>
                <a:latin typeface="PingFang SC"/>
                <a:ea typeface="PingFang SC"/>
              </a:rPr>
              <a:t>小模型推理</a:t>
            </a:r>
            <a:r>
              <a:rPr lang="en-US" sz="1200">
                <a:solidFill>
                  <a:srgbClr val="DCE9FB"/>
                </a:solidFill>
                <a:latin typeface="PingFang SC"/>
                <a:ea typeface="PingFang SC"/>
              </a:rPr>
              <a:t> / </a:t>
            </a:r>
            <a:r>
              <a:rPr lang="zh-CN" sz="1200">
                <a:solidFill>
                  <a:srgbClr val="DCE9FB"/>
                </a:solidFill>
                <a:latin typeface="PingFang SC"/>
                <a:ea typeface="PingFang SC"/>
              </a:rPr>
              <a:t>数据不出厂</a:t>
            </a:r>
            <a:r>
              <a:rPr lang="en-US" sz="1200">
                <a:solidFill>
                  <a:srgbClr val="DCE9FB"/>
                </a:solidFill>
                <a:latin typeface="PingFang SC"/>
                <a:ea typeface="PingFang SC"/>
              </a:rPr>
              <a:t> / </a:t>
            </a:r>
            <a:r>
              <a:rPr lang="zh-CN" sz="1200">
                <a:solidFill>
                  <a:srgbClr val="DCE9FB"/>
                </a:solidFill>
                <a:latin typeface="PingFang SC"/>
                <a:ea typeface="PingFang SC"/>
              </a:rPr>
              <a:t>低时延</a:t>
            </a:r>
            <a:endParaRPr/>
          </a:p>
        </p:txBody>
      </p:sp>
      <p:sp>
        <p:nvSpPr>
          <p:cNvPr id="625" name=""/>
          <p:cNvSpPr/>
          <p:nvPr/>
        </p:nvSpPr>
        <p:spPr>
          <a:xfrm rot="0" flipH="0" flipV="0">
            <a:off x="5591175" y="3581400"/>
            <a:ext cx="666750" cy="276225"/>
          </a:xfrm>
          <a:prstGeom prst="roundRect">
            <a:avLst>
              <a:gd name="adj" fmla="val 3444828"/>
            </a:avLst>
          </a:prstGeom>
          <a:solidFill>
            <a:srgbClr val="F59E0B"/>
          </a:solidFill>
          <a:ln/>
        </p:spPr>
        <p:txBody>
          <a:bodyPr/>
          <a:p/>
        </p:txBody>
      </p:sp>
      <p:sp>
        <p:nvSpPr>
          <p:cNvPr id="626" name="" descr="{&quot;isTemplate&quot;:true,&quot;type&quot;:&quot;text&quot;}"/>
          <p:cNvSpPr txBox="1"/>
          <p:nvPr/>
        </p:nvSpPr>
        <p:spPr>
          <a:xfrm rot="0" flipH="0" flipV="0">
            <a:off x="5724525" y="3638550"/>
            <a:ext cx="4000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 b="1">
                <a:solidFill>
                  <a:srgbClr val="FFFFFF"/>
                </a:solidFill>
                <a:latin typeface="PingFang SC"/>
                <a:ea typeface="PingFang SC"/>
              </a:rPr>
              <a:t>快反应</a:t>
            </a:r>
            <a:endParaRPr/>
          </a:p>
        </p:txBody>
      </p:sp>
      <p:sp>
        <p:nvSpPr>
          <p:cNvPr id="627" name=""/>
          <p:cNvSpPr/>
          <p:nvPr/>
        </p:nvSpPr>
        <p:spPr>
          <a:xfrm rot="0" flipH="0" flipV="0">
            <a:off x="685800" y="4619625"/>
            <a:ext cx="5819775" cy="1533525"/>
          </a:xfrm>
          <a:prstGeom prst="roundRect">
            <a:avLst>
              <a:gd name="adj" fmla="val 9938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14300" dist="28575" dir="5400000">
              <a:srgbClr val="1E3A8A">
                <a:alpha val="5000"/>
              </a:srgbClr>
            </a:outerShdw>
          </a:effectLst>
        </p:spPr>
        <p:txBody>
          <a:bodyPr/>
          <a:p/>
        </p:txBody>
      </p:sp>
      <p:sp>
        <p:nvSpPr>
          <p:cNvPr id="628" name=""/>
          <p:cNvSpPr/>
          <p:nvPr/>
        </p:nvSpPr>
        <p:spPr>
          <a:xfrm rot="0" flipH="0" flipV="0">
            <a:off x="933450" y="5133975"/>
            <a:ext cx="514350" cy="514350"/>
          </a:xfrm>
          <a:prstGeom prst="roundRect">
            <a:avLst>
              <a:gd name="adj" fmla="val 24074"/>
            </a:avLst>
          </a:prstGeom>
          <a:solidFill>
            <a:srgbClr val="E0F7FA"/>
          </a:solidFill>
          <a:ln/>
        </p:spPr>
        <p:txBody>
          <a:bodyPr/>
          <a:p/>
        </p:txBody>
      </p:sp>
      <p:pic>
        <p:nvPicPr>
          <p:cNvPr id="629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3"/>
              </a:ext>
            </a:extLst>
          </a:blip>
          <a:stretch>
            <a:fillRect/>
          </a:stretch>
        </p:blipFill>
        <p:spPr>
          <a:xfrm rot="0" flipH="0" flipV="0">
            <a:off x="1066800" y="5267325"/>
            <a:ext cx="247650" cy="247650"/>
          </a:xfrm>
          <a:prstGeom prst="rect">
            <a:avLst/>
          </a:prstGeom>
          <a:ln/>
        </p:spPr>
      </p:pic>
      <p:sp>
        <p:nvSpPr>
          <p:cNvPr id="630" name="" descr="{&quot;isTemplate&quot;:true,&quot;type&quot;:&quot;text&quot;}"/>
          <p:cNvSpPr txBox="1"/>
          <p:nvPr/>
        </p:nvSpPr>
        <p:spPr>
          <a:xfrm rot="0" flipH="0" flipV="0">
            <a:off x="1619250" y="5267325"/>
            <a:ext cx="1428750" cy="2476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75" b="1">
                <a:solidFill>
                  <a:srgbClr val="1E3A8A"/>
                </a:solidFill>
                <a:latin typeface="PingFang SC"/>
                <a:ea typeface="PingFang SC"/>
              </a:rPr>
              <a:t>端（系统）</a:t>
            </a:r>
            <a:endParaRPr/>
          </a:p>
        </p:txBody>
      </p:sp>
      <p:sp>
        <p:nvSpPr>
          <p:cNvPr id="631" name="" descr="{&quot;isTemplate&quot;:true,&quot;type&quot;:&quot;text&quot;}"/>
          <p:cNvSpPr txBox="1"/>
          <p:nvPr/>
        </p:nvSpPr>
        <p:spPr>
          <a:xfrm rot="0" flipH="0" flipV="0">
            <a:off x="3219450" y="5295900"/>
            <a:ext cx="2066925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>
                <a:solidFill>
                  <a:srgbClr val="43566B"/>
                </a:solidFill>
                <a:latin typeface="PingFang SC"/>
                <a:ea typeface="PingFang SC"/>
              </a:rPr>
              <a:t>传感器</a:t>
            </a:r>
            <a:r>
              <a:rPr lang="en-US" sz="1200">
                <a:solidFill>
                  <a:srgbClr val="43566B"/>
                </a:solidFill>
                <a:latin typeface="PingFang SC"/>
                <a:ea typeface="PingFang SC"/>
              </a:rPr>
              <a:t> / </a:t>
            </a:r>
            <a:r>
              <a:rPr lang="zh-CN" sz="1200">
                <a:solidFill>
                  <a:srgbClr val="43566B"/>
                </a:solidFill>
                <a:latin typeface="PingFang SC"/>
                <a:ea typeface="PingFang SC"/>
              </a:rPr>
              <a:t>执行器</a:t>
            </a:r>
            <a:r>
              <a:rPr lang="en-US" sz="1200">
                <a:solidFill>
                  <a:srgbClr val="43566B"/>
                </a:solidFill>
                <a:latin typeface="PingFang SC"/>
                <a:ea typeface="PingFang SC"/>
              </a:rPr>
              <a:t> / </a:t>
            </a:r>
            <a:r>
              <a:rPr lang="zh-CN" sz="1200">
                <a:solidFill>
                  <a:srgbClr val="43566B"/>
                </a:solidFill>
                <a:latin typeface="PingFang SC"/>
                <a:ea typeface="PingFang SC"/>
              </a:rPr>
              <a:t>本地采集</a:t>
            </a:r>
            <a:endParaRPr/>
          </a:p>
        </p:txBody>
      </p:sp>
      <p:sp>
        <p:nvSpPr>
          <p:cNvPr id="632" name=""/>
          <p:cNvSpPr/>
          <p:nvPr/>
        </p:nvSpPr>
        <p:spPr>
          <a:xfrm rot="0" flipH="0" flipV="0">
            <a:off x="5457825" y="5248275"/>
            <a:ext cx="800100" cy="276225"/>
          </a:xfrm>
          <a:prstGeom prst="roundRect">
            <a:avLst>
              <a:gd name="adj" fmla="val 3444828"/>
            </a:avLst>
          </a:prstGeom>
          <a:solidFill>
            <a:srgbClr val="EDF3FB"/>
          </a:solidFill>
          <a:ln/>
        </p:spPr>
        <p:txBody>
          <a:bodyPr/>
          <a:p/>
        </p:txBody>
      </p:sp>
      <p:sp>
        <p:nvSpPr>
          <p:cNvPr id="633" name="" descr="{&quot;isTemplate&quot;:true,&quot;type&quot;:&quot;text&quot;}"/>
          <p:cNvSpPr txBox="1"/>
          <p:nvPr/>
        </p:nvSpPr>
        <p:spPr>
          <a:xfrm rot="0" flipH="0" flipV="0">
            <a:off x="5591175" y="5305425"/>
            <a:ext cx="5334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 b="1">
                <a:solidFill>
                  <a:srgbClr val="64748B"/>
                </a:solidFill>
                <a:latin typeface="PingFang SC"/>
                <a:ea typeface="PingFang SC"/>
              </a:rPr>
              <a:t>神经末梢</a:t>
            </a:r>
            <a:endParaRPr/>
          </a:p>
        </p:txBody>
      </p:sp>
      <p:sp>
        <p:nvSpPr>
          <p:cNvPr id="634" name=""/>
          <p:cNvSpPr/>
          <p:nvPr/>
        </p:nvSpPr>
        <p:spPr>
          <a:xfrm rot="0" flipH="0" flipV="0">
            <a:off x="6753225" y="1276350"/>
            <a:ext cx="4752975" cy="2590800"/>
          </a:xfrm>
          <a:prstGeom prst="roundRect">
            <a:avLst>
              <a:gd name="adj" fmla="val 5882"/>
            </a:avLst>
          </a:prstGeom>
          <a:solidFill>
            <a:srgbClr val="FEEFE0"/>
          </a:solidFill>
          <a:ln w="25400">
            <a:solidFill>
              <a:srgbClr val="F59E0B"/>
            </a:solidFill>
            <a:prstDash val="solid"/>
          </a:ln>
        </p:spPr>
        <p:txBody>
          <a:bodyPr/>
          <a:p/>
        </p:txBody>
      </p:sp>
      <p:sp>
        <p:nvSpPr>
          <p:cNvPr id="635" name="" descr="{&quot;isTemplate&quot;:true,&quot;type&quot;:&quot;text&quot;}"/>
          <p:cNvSpPr txBox="1"/>
          <p:nvPr/>
        </p:nvSpPr>
        <p:spPr>
          <a:xfrm rot="0" flipH="0" flipV="0">
            <a:off x="7000875" y="1466850"/>
            <a:ext cx="4257675" cy="2190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425" b="1">
                <a:solidFill>
                  <a:srgbClr val="B45309"/>
                </a:solidFill>
                <a:latin typeface="PingFang SC"/>
                <a:ea typeface="PingFang SC"/>
              </a:rPr>
              <a:t>架构第一原则</a:t>
            </a:r>
            <a:endParaRPr/>
          </a:p>
        </p:txBody>
      </p:sp>
      <p:sp>
        <p:nvSpPr>
          <p:cNvPr id="636" name="" descr="{&quot;isTemplate&quot;:true,&quot;type&quot;:&quot;text&quot;}"/>
          <p:cNvSpPr txBox="1"/>
          <p:nvPr/>
        </p:nvSpPr>
        <p:spPr>
          <a:xfrm rot="0" flipH="0" flipV="0">
            <a:off x="7000875" y="1781175"/>
            <a:ext cx="4257675" cy="361950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575" b="1">
                <a:solidFill>
                  <a:srgbClr val="1E3A8A"/>
                </a:solidFill>
                <a:latin typeface="PingFang SC"/>
                <a:ea typeface="PingFang SC"/>
              </a:rPr>
              <a:t>能用小模型，就别上大模型。</a:t>
            </a:r>
            <a:endParaRPr/>
          </a:p>
        </p:txBody>
      </p:sp>
      <p:sp>
        <p:nvSpPr>
          <p:cNvPr id="637" name="" descr="{&quot;isTemplate&quot;:true,&quot;type&quot;:&quot;text&quot;}"/>
          <p:cNvSpPr txBox="1"/>
          <p:nvPr/>
        </p:nvSpPr>
        <p:spPr>
          <a:xfrm rot="0" flipH="0" flipV="0">
            <a:off x="7000875" y="2238375"/>
            <a:ext cx="4257675" cy="5524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70000"/>
              </a:lnSpc>
            </a:pPr>
            <a:r>
              <a:rPr lang="zh-CN" sz="1050">
                <a:solidFill>
                  <a:srgbClr val="43566B"/>
                </a:solidFill>
                <a:latin typeface="PingFang SC"/>
                <a:ea typeface="PingFang SC"/>
              </a:rPr>
              <a:t>小模型：便宜、快、数据不出厂。大模型：通用、强，但贵、慢、常要上云。先用小模型把</a:t>
            </a:r>
            <a:r>
              <a:rPr lang="en-US" sz="1050">
                <a:solidFill>
                  <a:srgbClr val="43566B"/>
                </a:solidFill>
                <a:latin typeface="PingFang SC"/>
                <a:ea typeface="PingFang SC"/>
              </a:rPr>
              <a:t> 80% </a:t>
            </a:r>
            <a:r>
              <a:rPr lang="zh-CN" sz="1050">
                <a:solidFill>
                  <a:srgbClr val="43566B"/>
                </a:solidFill>
                <a:latin typeface="PingFang SC"/>
                <a:ea typeface="PingFang SC"/>
              </a:rPr>
              <a:t>的活干了，剩下的</a:t>
            </a:r>
            <a:r>
              <a:rPr lang="en-US" sz="1050">
                <a:solidFill>
                  <a:srgbClr val="43566B"/>
                </a:solidFill>
                <a:latin typeface="PingFang SC"/>
                <a:ea typeface="PingFang SC"/>
              </a:rPr>
              <a:t> 20% </a:t>
            </a:r>
            <a:r>
              <a:rPr lang="zh-CN" sz="1050">
                <a:solidFill>
                  <a:srgbClr val="43566B"/>
                </a:solidFill>
                <a:latin typeface="PingFang SC"/>
                <a:ea typeface="PingFang SC"/>
              </a:rPr>
              <a:t>再谈大模型。</a:t>
            </a:r>
            <a:endParaRPr/>
          </a:p>
        </p:txBody>
      </p:sp>
      <p:sp>
        <p:nvSpPr>
          <p:cNvPr id="638" name=""/>
          <p:cNvSpPr/>
          <p:nvPr/>
        </p:nvSpPr>
        <p:spPr>
          <a:xfrm rot="0" flipH="0" flipV="0">
            <a:off x="6753225" y="4019550"/>
            <a:ext cx="4752975" cy="2133600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p/>
        </p:txBody>
      </p:sp>
      <p:sp>
        <p:nvSpPr>
          <p:cNvPr id="639" name="" descr="{&quot;isTemplate&quot;:true,&quot;type&quot;:&quot;text&quot;}"/>
          <p:cNvSpPr txBox="1"/>
          <p:nvPr/>
        </p:nvSpPr>
        <p:spPr>
          <a:xfrm rot="0" flipH="0" flipV="0">
            <a:off x="7000875" y="4210050"/>
            <a:ext cx="4257675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 b="1">
                <a:solidFill>
                  <a:srgbClr val="1E3A8A"/>
                </a:solidFill>
                <a:latin typeface="PingFang SC"/>
                <a:ea typeface="PingFang SC"/>
              </a:rPr>
              <a:t>仿真：给决策装个沙盘</a:t>
            </a:r>
            <a:endParaRPr/>
          </a:p>
        </p:txBody>
      </p:sp>
      <p:sp>
        <p:nvSpPr>
          <p:cNvPr id="640" name="" descr="{&quot;isTemplate&quot;:true,&quot;type&quot;:&quot;text&quot;}"/>
          <p:cNvSpPr txBox="1"/>
          <p:nvPr/>
        </p:nvSpPr>
        <p:spPr>
          <a:xfrm rot="0" flipH="0" flipV="0">
            <a:off x="7000875" y="4486275"/>
            <a:ext cx="4257675" cy="5905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70000"/>
              </a:lnSpc>
            </a:pPr>
            <a:r>
              <a:rPr lang="zh-CN" sz="1125">
                <a:solidFill>
                  <a:srgbClr val="43566B"/>
                </a:solidFill>
                <a:latin typeface="PingFang SC"/>
                <a:ea typeface="PingFang SC"/>
              </a:rPr>
              <a:t>流程在虚拟空间里先跑一遍</a:t>
            </a:r>
            <a:r>
              <a:rPr lang="en-US" sz="1125">
                <a:solidFill>
                  <a:srgbClr val="43566B"/>
                </a:solidFill>
                <a:latin typeface="PingFang SC"/>
                <a:ea typeface="PingFang SC"/>
              </a:rPr>
              <a:t> —— </a:t>
            </a:r>
            <a:r>
              <a:rPr lang="zh-CN" sz="1125">
                <a:solidFill>
                  <a:srgbClr val="43566B"/>
                </a:solidFill>
                <a:latin typeface="PingFang SC"/>
                <a:ea typeface="PingFang SC"/>
              </a:rPr>
              <a:t>换方案、调参数、验瓶颈，不耽误一天实际生产。领航级的标配，卓越级的加分项。</a:t>
            </a:r>
            <a:endParaRPr/>
          </a:p>
        </p:txBody>
      </p:sp>
      <p:sp>
        <p:nvSpPr>
          <p:cNvPr id="641" name="" descr="{&quot;isTemplate&quot;:true,&quot;type&quot;:&quot;text&quot;}"/>
          <p:cNvSpPr txBox="1"/>
          <p:nvPr/>
        </p:nvSpPr>
        <p:spPr>
          <a:xfrm rot="0" flipH="0" flipV="0">
            <a:off x="685800" y="6362700"/>
            <a:ext cx="12573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64748B"/>
                </a:solidFill>
                <a:latin typeface="PingFang SC"/>
                <a:ea typeface="PingFang SC"/>
              </a:rPr>
              <a:t>AI </a:t>
            </a:r>
            <a:r>
              <a:rPr lang="zh-CN" sz="1050">
                <a:solidFill>
                  <a:srgbClr val="64748B"/>
                </a:solidFill>
                <a:latin typeface="PingFang SC"/>
                <a:ea typeface="PingFang SC"/>
              </a:rPr>
              <a:t>规划与治理</a:t>
            </a:r>
            <a:r>
              <a:rPr lang="en-US" sz="1050">
                <a:solidFill>
                  <a:srgbClr val="64748B"/>
                </a:solidFill>
                <a:latin typeface="PingFang SC"/>
                <a:ea typeface="PingFang SC"/>
              </a:rPr>
              <a:t> · </a:t>
            </a:r>
            <a:r>
              <a:rPr lang="zh-CN" sz="1050">
                <a:solidFill>
                  <a:srgbClr val="64748B"/>
                </a:solidFill>
                <a:latin typeface="PingFang SC"/>
                <a:ea typeface="PingFang SC"/>
              </a:rPr>
              <a:t>高级</a:t>
            </a:r>
            <a:endParaRPr/>
          </a:p>
        </p:txBody>
      </p:sp>
      <p:sp>
        <p:nvSpPr>
          <p:cNvPr id="642" name="" descr="{&quot;isTemplate&quot;:true,&quot;type&quot;:&quot;text&quot;}"/>
          <p:cNvSpPr txBox="1"/>
          <p:nvPr/>
        </p:nvSpPr>
        <p:spPr>
          <a:xfrm rot="0" flipH="0" flipV="0">
            <a:off x="11029950" y="6362700"/>
            <a:ext cx="4762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64748B"/>
                </a:solidFill>
                <a:latin typeface="PingFang SC"/>
                <a:ea typeface="PingFang SC"/>
              </a:rPr>
              <a:t>08 / 24</a:t>
            </a:r>
            <a:endParaRPr/>
          </a:p>
        </p:txBody>
      </p:sp>
    </p:spTree>
  </p:cSld>
</p:sld>
</file>

<file path=ppt/slides/slide9.xml><?xml version="1.0" encoding="utf-8"?>
<p:sld xmlns:asvg="http://schemas.microsoft.com/office/drawing/2016/SVG/main" xmlns:a="http://schemas.openxmlformats.org/drawingml/2006/main" xmlns:r="http://schemas.openxmlformats.org/officeDocument/2006/relationships" xmlns:p="http://schemas.openxmlformats.org/presentationml/2006/main" xmlns:mc="http://schemas.openxmlformats.org/markup-compatibility/2006" mc:Ignorable="asvg">
  <p:cSld>
    <p:spTree>
      <p:nvGrpSpPr>
        <p:cNvPr id="643" name="" descr="const loops = [&#10;    { icon: 'eye', t: '感知', d: '读设备、物料、环境信号' },&#10;    { icon: 'brain', t: '规划', d: '选策略、拆步骤、排优先级' },&#10;    { icon: 'bolt', t: '行动', d: '调系统、下发指令、生成单据' },&#10;    { icon: 'sync-alt', t: '观察', d: '验结果、修正下一步' },&#10;];&#10;&lt;Slide style={{ width: '1280px', height: '720px', background: '#F5F8FC', padding: '24px 72px', boxSizing: 'border-box', flexDirection: 'column', fontFamily: 'PingFang SC, Source Han Sans SC, sans-serif' }}&gt;&#10;    &lt;Box style={{ height: 96, flexDirection: 'row', alignItems: 'center', gap: 16 }}&gt;&#10;        &lt;Box style={{ width: 5, height: 46, background: '#06B6D4', borderRadius: 3 }} /&gt;&#10;        &lt;Box&gt;&#10;            &lt;Text style={{ fontSize: 34, fontWeight: 'bold', color: '#1E3A8A', lineHeight: 1.2 }}&gt;工业智能体：感知-规划-行动-观察&lt;/Text&gt;&#10;            &lt;Text style={{ fontSize: 17, color: '#64748B', marginTop: 4 }}&gt;2027 年前 1000 个工业智能体的赛道 —— 你要的是「养一群」还是「看别人养」&lt;/Text&gt;&#10;        &lt;/Box&gt;&#10;    &lt;/Box&gt;&#10;    &lt;Box style={{ flex: 1, flexDirection: 'row', gap: 24, marginTop: 14 }}&gt;&#10;        &lt;Box style={{ flex: 62, flexDirection: 'column' }}&gt;&#10;            &lt;Box style={{ flexDirection: 'row', gap: 12, alignItems: 'stretch' }}&gt;&#10;                {loops.map((l, i) =&gt; (&#10;                    &lt;Box key={i} style={{ flexDirection: 'row', alignItems: 'center', gap: 12, flex: 1 }}&gt;&#10;                        &lt;Box key={'c' + i} style={{ flex: 1, background: '#FFFFFF', borderRadius: 14, border: '1px solid #E2E8F0', padding: '20px 14px', textAlign: 'center', boxShadow: '0 4px 14px rgba(30,58,138,0.06)' }}&gt;&#10;                            &lt;Box style={{ width: 54, height: 54, borderRadius: 13, background: i === 2 ? '#FEEFE0' : '#E0F7FA', justifyContent: 'center', alignItems: 'center', alignSelf: 'center', marginBottom: 12 }}&gt;&#10;                                &lt;FAIcon name={l.icon} style={{ fill: i === 2 ? '#F59E0B' : '#0891B2', width: 26, height: 26 }} /&gt;&#10;                            &lt;/Box&gt;&#10;                            &lt;Text style={{ fontSize: 19, fontWeight: 'bold', color: '#1E3A8A' }}&gt;{l.t}&lt;/Text&gt;&#10;                            &lt;Text style={{ fontSize: 13, color: '#43566b', lineHeight: 1.55, marginTop: 8 }}&gt;{l.d}&lt;/Text&gt;&#10;                        &lt;/Box&gt;&#10;                        {i &lt; loops.length - 1 &amp;&amp; &lt;FAIcon name=&quot;arrow-right&quot; style={{ fill: '#F59E0B', width: 18, height: 18 }} /&gt;}&#10;                    &lt;/Box&gt;&#10;                ))}&#10;            &lt;/Box&gt;&#10;            &lt;Box style={{ flex: 1, background: '#FFFFFF', borderRadius: 16, padding: '20px 26px', marginTop: 18, border: '1px solid #E2E8F0' }}&gt;&#10;                &lt;Text style={{ fontSize: 17, fontWeight: 'bold', color: '#1E3A8A', marginBottom: 10 }}&gt;规划者视角：智能体不是买来的，是「养」出来的&lt;/Text&gt;&#10;                &lt;Text style={{ fontSize: 15, color: '#43566b', lineHeight: 1.9 }}&gt;① 数据回路 —— 没有持续反馈，智能体会原地踏步&lt;br /&gt;② 权限边界 —— 哪些动作可自主、哪些必须人签&lt;br /&gt;③ 评测体系 —— 每个智能体要有「上岗考核 + 年度复评」&lt;br /&gt;&lt;span style={{ fontWeight: 'bold', color: '#B45309' }}&gt;路线图里请为「智能体运营」单列一条线，而不是当成软件采购。&lt;/span&gt;&lt;/Text&gt;&#10;            &lt;/Box&gt;&#10;        &lt;/Box&gt;&#10;        &lt;Box style={{ flex: 38, background: '#1E3A8A', borderRadius: 18, padding: '26px 30px', flexDirection: 'column', justifyContent: 'center', boxShadow: '0 8px 28px rgba(30,58,138,0.25)' }}&gt;&#10;            &lt;FAIcon name=&quot;wifi&quot; style={{ fill: '#F59E0B', width: 34, height: 34 }} /&gt;&#10;            &lt;Text style={{ fontSize: 22, fontWeight: 'bold', color: '#FFFFFF', marginTop: 16, lineHeight: 1.5 }}&gt;5G + AI：低时延是智能体闭环的前提&lt;/Text&gt;&#10;            &lt;Text style={{ fontSize: 15, color: '#DCE9FB', marginTop: 14, lineHeight: 1.8 }}&gt;「观察→规划→行动」要在秒级闭环，Wi-Fi 和有线网常常卡在这里。&lt;br /&gt;厂内 5G / 确定性网络，是领航级架构的隐形地基。&lt;/Text&gt;&#10;            &lt;Box style={{ marginTop: 'auto', paddingTop: 16, padding: '10px 16px', background: 'rgba(6,182,212,0.18)', borderRadius: 10, border: '1px solid rgba(6,182,212,0.6)', alignSelf: 'flex-start' }}&gt;&#10;                &lt;Text style={{ fontSize: 14, fontWeight: 'bold', color: '#7FD9F0' }}&gt;判断：毫秒级闭环 → 边 + 5G；分钟级以上 → 普通网络够用&lt;/Text&gt;&#10;            &lt;/Box&gt;&#10;        &lt;/Box&gt;&#10;    &lt;/Box&gt;&#10;    &lt;Box style={{ height: 40, flexDirection: 'row', justifyContent: 'space-between', alignItems: 'center', marginTop: 10 }}&gt;&#10;        &lt;Text style={{ fontSize: 14, color: '#64748B' }}&gt;AI 规划与治理 · 高级&lt;/Text&gt;&#10;        &lt;Text style={{ fontSize: 14, color: '#64748B' }}&gt;09 / 24&lt;/Text&gt;&#10;    &lt;/Box&gt;&#10;&lt;/Slide&gt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4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5F8FC"/>
          </a:solidFill>
          <a:ln/>
        </p:spPr>
        <p:txBody>
          <a:bodyPr/>
          <a:p/>
        </p:txBody>
      </p:sp>
      <p:sp>
        <p:nvSpPr>
          <p:cNvPr id="645" name=""/>
          <p:cNvSpPr/>
          <p:nvPr/>
        </p:nvSpPr>
        <p:spPr>
          <a:xfrm rot="0" flipH="0" flipV="0">
            <a:off x="685800" y="466725"/>
            <a:ext cx="47625" cy="438150"/>
          </a:xfrm>
          <a:prstGeom prst="roundRect">
            <a:avLst>
              <a:gd name="adj" fmla="val 60000"/>
            </a:avLst>
          </a:prstGeom>
          <a:solidFill>
            <a:srgbClr val="06B6D4"/>
          </a:solidFill>
          <a:ln/>
        </p:spPr>
        <p:txBody>
          <a:bodyPr/>
          <a:p/>
        </p:txBody>
      </p:sp>
      <p:sp>
        <p:nvSpPr>
          <p:cNvPr id="646" name="" descr="{&quot;isTemplate&quot;:true,&quot;type&quot;:&quot;text&quot;}"/>
          <p:cNvSpPr txBox="1"/>
          <p:nvPr/>
        </p:nvSpPr>
        <p:spPr>
          <a:xfrm rot="0" flipH="0" flipV="0">
            <a:off x="885825" y="333375"/>
            <a:ext cx="5867400" cy="466725"/>
          </a:xfrm>
          <a:prstGeom prst="rect"/>
        </p:spPr>
        <p:txBody>
          <a:bodyPr wrap="none" lIns="0" tIns="0" rIns="0" bIns="0"/>
          <a:p>
            <a:pPr>
              <a:lnSpc>
                <a:spcPct val="120000"/>
              </a:lnSpc>
            </a:pPr>
            <a:r>
              <a:rPr lang="zh-CN" sz="2550" b="1">
                <a:solidFill>
                  <a:srgbClr val="1E3A8A"/>
                </a:solidFill>
                <a:latin typeface="PingFang SC"/>
                <a:ea typeface="PingFang SC"/>
              </a:rPr>
              <a:t>行业智能体：感知</a:t>
            </a:r>
            <a:r>
              <a:rPr lang="en-US" sz="2550" b="1">
                <a:solidFill>
                  <a:srgbClr val="1E3A8A"/>
                </a:solidFill>
                <a:latin typeface="PingFang SC"/>
                <a:ea typeface="PingFang SC"/>
              </a:rPr>
              <a:t>-</a:t>
            </a:r>
            <a:r>
              <a:rPr lang="zh-CN" sz="2550" b="1">
                <a:solidFill>
                  <a:srgbClr val="1E3A8A"/>
                </a:solidFill>
                <a:latin typeface="PingFang SC"/>
                <a:ea typeface="PingFang SC"/>
              </a:rPr>
              <a:t>规划</a:t>
            </a:r>
            <a:r>
              <a:rPr lang="en-US" sz="2550" b="1">
                <a:solidFill>
                  <a:srgbClr val="1E3A8A"/>
                </a:solidFill>
                <a:latin typeface="PingFang SC"/>
                <a:ea typeface="PingFang SC"/>
              </a:rPr>
              <a:t>-</a:t>
            </a:r>
            <a:r>
              <a:rPr lang="zh-CN" sz="2550" b="1">
                <a:solidFill>
                  <a:srgbClr val="1E3A8A"/>
                </a:solidFill>
                <a:latin typeface="PingFang SC"/>
                <a:ea typeface="PingFang SC"/>
              </a:rPr>
              <a:t>行动</a:t>
            </a:r>
            <a:r>
              <a:rPr lang="en-US" sz="2550" b="1">
                <a:solidFill>
                  <a:srgbClr val="1E3A8A"/>
                </a:solidFill>
                <a:latin typeface="PingFang SC"/>
                <a:ea typeface="PingFang SC"/>
              </a:rPr>
              <a:t>-</a:t>
            </a:r>
            <a:r>
              <a:rPr lang="zh-CN" sz="2550" b="1">
                <a:solidFill>
                  <a:srgbClr val="1E3A8A"/>
                </a:solidFill>
                <a:latin typeface="PingFang SC"/>
                <a:ea typeface="PingFang SC"/>
              </a:rPr>
              <a:t>观察</a:t>
            </a:r>
            <a:endParaRPr/>
          </a:p>
        </p:txBody>
      </p:sp>
      <p:sp>
        <p:nvSpPr>
          <p:cNvPr id="647" name="" descr="{&quot;isTemplate&quot;:true,&quot;type&quot;:&quot;text&quot;}"/>
          <p:cNvSpPr txBox="1"/>
          <p:nvPr/>
        </p:nvSpPr>
        <p:spPr>
          <a:xfrm rot="0" flipH="0" flipV="0">
            <a:off x="885825" y="838200"/>
            <a:ext cx="586740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75">
                <a:solidFill>
                  <a:srgbClr val="64748B"/>
                </a:solidFill>
                <a:latin typeface="PingFang SC"/>
                <a:ea typeface="PingFang SC"/>
              </a:rPr>
              <a:t>2027 年前约 1000 个行业智能体的赛道 —— 你要的是「养一群」还是「看别人养」</a:t>
            </a:r>
            <a:r>
              <a:rPr lang="zh-CN" sz="1275">
                <a:solidFill>
                  <a:srgbClr val="64748B"/>
                </a:solidFill>
                <a:latin typeface="PingFang SC"/>
                <a:ea typeface="PingFang SC"/>
              </a:rPr>
              <a:t/>
            </a:r>
            <a:r>
              <a:rPr lang="en-US" sz="1275">
                <a:solidFill>
                  <a:srgbClr val="64748B"/>
                </a:solidFill>
                <a:latin typeface="PingFang SC"/>
                <a:ea typeface="PingFang SC"/>
              </a:rPr>
              <a:t/>
            </a:r>
            <a:r>
              <a:rPr lang="zh-CN" sz="1275">
                <a:solidFill>
                  <a:srgbClr val="64748B"/>
                </a:solidFill>
                <a:latin typeface="PingFang SC"/>
                <a:ea typeface="PingFang SC"/>
              </a:rPr>
              <a:t/>
            </a:r>
            <a:r>
              <a:rPr lang="en-US" sz="1275">
                <a:solidFill>
                  <a:srgbClr val="64748B"/>
                </a:solidFill>
                <a:latin typeface="PingFang SC"/>
                <a:ea typeface="PingFang SC"/>
              </a:rPr>
              <a:t/>
            </a:r>
            <a:r>
              <a:rPr lang="zh-CN" sz="1275">
                <a:solidFill>
                  <a:srgbClr val="64748B"/>
                </a:solidFill>
                <a:latin typeface="PingFang SC"/>
                <a:ea typeface="PingFang SC"/>
              </a:rPr>
              <a:t/>
            </a:r>
            <a:endParaRPr/>
          </a:p>
        </p:txBody>
      </p:sp>
      <p:sp>
        <p:nvSpPr>
          <p:cNvPr id="648" name=""/>
          <p:cNvSpPr/>
          <p:nvPr/>
        </p:nvSpPr>
        <p:spPr>
          <a:xfrm rot="0" flipH="0" flipV="0">
            <a:off x="685800" y="1276350"/>
            <a:ext cx="1266825" cy="1771650"/>
          </a:xfrm>
          <a:prstGeom prst="roundRect">
            <a:avLst>
              <a:gd name="adj" fmla="val 10526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33350" dist="38100" dir="5400000">
              <a:srgbClr val="1E3A8A">
                <a:alpha val="6000"/>
              </a:srgbClr>
            </a:outerShdw>
          </a:effectLst>
        </p:spPr>
        <p:txBody>
          <a:bodyPr/>
          <a:p/>
        </p:txBody>
      </p:sp>
      <p:sp>
        <p:nvSpPr>
          <p:cNvPr id="649" name=""/>
          <p:cNvSpPr/>
          <p:nvPr/>
        </p:nvSpPr>
        <p:spPr>
          <a:xfrm rot="0" flipH="0" flipV="0">
            <a:off x="1066800" y="1466850"/>
            <a:ext cx="514350" cy="514350"/>
          </a:xfrm>
          <a:prstGeom prst="roundRect">
            <a:avLst>
              <a:gd name="adj" fmla="val 24074"/>
            </a:avLst>
          </a:prstGeom>
          <a:solidFill>
            <a:srgbClr val="E0F7FA"/>
          </a:solidFill>
          <a:ln/>
        </p:spPr>
        <p:txBody>
          <a:bodyPr/>
          <a:p/>
        </p:txBody>
      </p:sp>
      <p:pic>
        <p:nvPicPr>
          <p:cNvPr id="650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1"/>
              </a:ext>
            </a:extLst>
          </a:blip>
          <a:stretch>
            <a:fillRect/>
          </a:stretch>
        </p:blipFill>
        <p:spPr>
          <a:xfrm rot="0" flipH="0" flipV="0">
            <a:off x="1200150" y="1600200"/>
            <a:ext cx="247650" cy="247650"/>
          </a:xfrm>
          <a:prstGeom prst="rect">
            <a:avLst/>
          </a:prstGeom>
          <a:ln/>
        </p:spPr>
      </p:pic>
      <p:sp>
        <p:nvSpPr>
          <p:cNvPr id="651" name="" descr="{&quot;isTemplate&quot;:true,&quot;type&quot;:&quot;text&quot;}"/>
          <p:cNvSpPr txBox="1"/>
          <p:nvPr/>
        </p:nvSpPr>
        <p:spPr>
          <a:xfrm rot="0" flipH="0" flipV="0">
            <a:off x="819150" y="2095500"/>
            <a:ext cx="1000125" cy="219075"/>
          </a:xfrm>
          <a:prstGeom prst="rect"/>
        </p:spPr>
        <p:txBody>
          <a:bodyPr wrap="none" lIns="0" tIns="0" rIns="0" bIns="0"/>
          <a:p>
            <a:pPr algn="ctr">
              <a:lnSpc>
                <a:spcPct val="100000"/>
              </a:lnSpc>
            </a:pPr>
            <a:r>
              <a:rPr lang="zh-CN" sz="1425" b="1">
                <a:solidFill>
                  <a:srgbClr val="1E3A8A"/>
                </a:solidFill>
                <a:latin typeface="PingFang SC"/>
                <a:ea typeface="PingFang SC"/>
              </a:rPr>
              <a:t>感知</a:t>
            </a:r>
            <a:endParaRPr/>
          </a:p>
        </p:txBody>
      </p:sp>
      <p:sp>
        <p:nvSpPr>
          <p:cNvPr id="652" name="" descr="{&quot;isTemplate&quot;:true,&quot;type&quot;:&quot;text&quot;}"/>
          <p:cNvSpPr txBox="1"/>
          <p:nvPr/>
        </p:nvSpPr>
        <p:spPr>
          <a:xfrm rot="0" flipH="0" flipV="0">
            <a:off x="819150" y="2390775"/>
            <a:ext cx="1000125" cy="466725"/>
          </a:xfrm>
          <a:prstGeom prst="rect"/>
        </p:spPr>
        <p:txBody>
          <a:bodyPr wrap="square" lIns="0" tIns="0" rIns="0" bIns="0">
            <a:normAutofit/>
          </a:bodyPr>
          <a:p>
            <a:pPr algn="ctr">
              <a:lnSpc>
                <a:spcPct val="155000"/>
              </a:lnSpc>
            </a:pPr>
            <a:r>
              <a:rPr lang="zh-CN" sz="975">
                <a:solidFill>
                  <a:srgbClr val="43566B"/>
                </a:solidFill>
                <a:latin typeface="PingFang SC"/>
                <a:ea typeface="PingFang SC"/>
              </a:rPr>
              <a:t>读系统、资源、环境信号</a:t>
            </a:r>
            <a:endParaRPr/>
          </a:p>
        </p:txBody>
      </p:sp>
      <p:pic>
        <p:nvPicPr>
          <p:cNvPr id="653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2"/>
              </a:ext>
            </a:extLst>
          </a:blip>
          <a:stretch>
            <a:fillRect/>
          </a:stretch>
        </p:blipFill>
        <p:spPr>
          <a:xfrm rot="0" flipH="0" flipV="0">
            <a:off x="2066925" y="2076450"/>
            <a:ext cx="171450" cy="171450"/>
          </a:xfrm>
          <a:prstGeom prst="rect">
            <a:avLst/>
          </a:prstGeom>
          <a:ln/>
        </p:spPr>
      </p:pic>
      <p:sp>
        <p:nvSpPr>
          <p:cNvPr id="654" name=""/>
          <p:cNvSpPr/>
          <p:nvPr/>
        </p:nvSpPr>
        <p:spPr>
          <a:xfrm rot="0" flipH="0" flipV="0">
            <a:off x="2352675" y="1276350"/>
            <a:ext cx="1276350" cy="1771650"/>
          </a:xfrm>
          <a:prstGeom prst="roundRect">
            <a:avLst>
              <a:gd name="adj" fmla="val 10448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33350" dist="38100" dir="5400000">
              <a:srgbClr val="1E3A8A">
                <a:alpha val="6000"/>
              </a:srgbClr>
            </a:outerShdw>
          </a:effectLst>
        </p:spPr>
        <p:txBody>
          <a:bodyPr/>
          <a:p/>
        </p:txBody>
      </p:sp>
      <p:sp>
        <p:nvSpPr>
          <p:cNvPr id="655" name=""/>
          <p:cNvSpPr/>
          <p:nvPr/>
        </p:nvSpPr>
        <p:spPr>
          <a:xfrm rot="0" flipH="0" flipV="0">
            <a:off x="2733675" y="1466850"/>
            <a:ext cx="514350" cy="514350"/>
          </a:xfrm>
          <a:prstGeom prst="roundRect">
            <a:avLst>
              <a:gd name="adj" fmla="val 24074"/>
            </a:avLst>
          </a:prstGeom>
          <a:solidFill>
            <a:srgbClr val="E0F7FA"/>
          </a:solidFill>
          <a:ln/>
        </p:spPr>
        <p:txBody>
          <a:bodyPr/>
          <a:p/>
        </p:txBody>
      </p:sp>
      <p:pic>
        <p:nvPicPr>
          <p:cNvPr id="656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3"/>
              </a:ext>
            </a:extLst>
          </a:blip>
          <a:stretch>
            <a:fillRect/>
          </a:stretch>
        </p:blipFill>
        <p:spPr>
          <a:xfrm rot="0" flipH="0" flipV="0">
            <a:off x="2867025" y="1600200"/>
            <a:ext cx="247650" cy="247650"/>
          </a:xfrm>
          <a:prstGeom prst="rect">
            <a:avLst/>
          </a:prstGeom>
          <a:ln/>
        </p:spPr>
      </p:pic>
      <p:sp>
        <p:nvSpPr>
          <p:cNvPr id="657" name="" descr="{&quot;isTemplate&quot;:true,&quot;type&quot;:&quot;text&quot;}"/>
          <p:cNvSpPr txBox="1"/>
          <p:nvPr/>
        </p:nvSpPr>
        <p:spPr>
          <a:xfrm rot="0" flipH="0" flipV="0">
            <a:off x="2486025" y="2095500"/>
            <a:ext cx="1009650" cy="219075"/>
          </a:xfrm>
          <a:prstGeom prst="rect"/>
        </p:spPr>
        <p:txBody>
          <a:bodyPr wrap="none" lIns="0" tIns="0" rIns="0" bIns="0"/>
          <a:p>
            <a:pPr algn="ctr">
              <a:lnSpc>
                <a:spcPct val="100000"/>
              </a:lnSpc>
            </a:pPr>
            <a:r>
              <a:rPr lang="zh-CN" sz="1425" b="1">
                <a:solidFill>
                  <a:srgbClr val="1E3A8A"/>
                </a:solidFill>
                <a:latin typeface="PingFang SC"/>
                <a:ea typeface="PingFang SC"/>
              </a:rPr>
              <a:t>规划</a:t>
            </a:r>
            <a:endParaRPr/>
          </a:p>
        </p:txBody>
      </p:sp>
      <p:sp>
        <p:nvSpPr>
          <p:cNvPr id="658" name="" descr="{&quot;isTemplate&quot;:true,&quot;type&quot;:&quot;text&quot;}"/>
          <p:cNvSpPr txBox="1"/>
          <p:nvPr/>
        </p:nvSpPr>
        <p:spPr>
          <a:xfrm rot="0" flipH="0" flipV="0">
            <a:off x="2486025" y="2390775"/>
            <a:ext cx="1009650" cy="466725"/>
          </a:xfrm>
          <a:prstGeom prst="rect"/>
        </p:spPr>
        <p:txBody>
          <a:bodyPr wrap="square" lIns="0" tIns="0" rIns="0" bIns="0">
            <a:normAutofit/>
          </a:bodyPr>
          <a:p>
            <a:pPr algn="ctr">
              <a:lnSpc>
                <a:spcPct val="155000"/>
              </a:lnSpc>
            </a:pPr>
            <a:r>
              <a:rPr lang="zh-CN" sz="975">
                <a:solidFill>
                  <a:srgbClr val="43566B"/>
                </a:solidFill>
                <a:latin typeface="PingFang SC"/>
                <a:ea typeface="PingFang SC"/>
              </a:rPr>
              <a:t>选策略、拆步骤、排优先级</a:t>
            </a:r>
            <a:endParaRPr/>
          </a:p>
        </p:txBody>
      </p:sp>
      <p:pic>
        <p:nvPicPr>
          <p:cNvPr id="659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2"/>
              </a:ext>
            </a:extLst>
          </a:blip>
          <a:stretch>
            <a:fillRect/>
          </a:stretch>
        </p:blipFill>
        <p:spPr>
          <a:xfrm rot="0" flipH="0" flipV="0">
            <a:off x="3743325" y="2076450"/>
            <a:ext cx="171450" cy="171450"/>
          </a:xfrm>
          <a:prstGeom prst="rect">
            <a:avLst/>
          </a:prstGeom>
          <a:ln/>
        </p:spPr>
      </p:pic>
      <p:sp>
        <p:nvSpPr>
          <p:cNvPr id="660" name=""/>
          <p:cNvSpPr/>
          <p:nvPr/>
        </p:nvSpPr>
        <p:spPr>
          <a:xfrm rot="0" flipH="0" flipV="0">
            <a:off x="4029075" y="1276350"/>
            <a:ext cx="1266825" cy="1771650"/>
          </a:xfrm>
          <a:prstGeom prst="roundRect">
            <a:avLst>
              <a:gd name="adj" fmla="val 10526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33350" dist="38100" dir="5400000">
              <a:srgbClr val="1E3A8A">
                <a:alpha val="6000"/>
              </a:srgbClr>
            </a:outerShdw>
          </a:effectLst>
        </p:spPr>
        <p:txBody>
          <a:bodyPr/>
          <a:p/>
        </p:txBody>
      </p:sp>
      <p:sp>
        <p:nvSpPr>
          <p:cNvPr id="661" name=""/>
          <p:cNvSpPr/>
          <p:nvPr/>
        </p:nvSpPr>
        <p:spPr>
          <a:xfrm rot="0" flipH="0" flipV="0">
            <a:off x="4410075" y="1466850"/>
            <a:ext cx="514350" cy="514350"/>
          </a:xfrm>
          <a:prstGeom prst="roundRect">
            <a:avLst>
              <a:gd name="adj" fmla="val 24074"/>
            </a:avLst>
          </a:prstGeom>
          <a:solidFill>
            <a:srgbClr val="FEEFE0"/>
          </a:solidFill>
          <a:ln/>
        </p:spPr>
        <p:txBody>
          <a:bodyPr/>
          <a:p/>
        </p:txBody>
      </p:sp>
      <p:pic>
        <p:nvPicPr>
          <p:cNvPr id="662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4"/>
              </a:ext>
            </a:extLst>
          </a:blip>
          <a:stretch>
            <a:fillRect/>
          </a:stretch>
        </p:blipFill>
        <p:spPr>
          <a:xfrm rot="0" flipH="0" flipV="0">
            <a:off x="4543425" y="1600200"/>
            <a:ext cx="247650" cy="247650"/>
          </a:xfrm>
          <a:prstGeom prst="rect">
            <a:avLst/>
          </a:prstGeom>
          <a:ln/>
        </p:spPr>
      </p:pic>
      <p:sp>
        <p:nvSpPr>
          <p:cNvPr id="663" name="" descr="{&quot;isTemplate&quot;:true,&quot;type&quot;:&quot;text&quot;}"/>
          <p:cNvSpPr txBox="1"/>
          <p:nvPr/>
        </p:nvSpPr>
        <p:spPr>
          <a:xfrm rot="0" flipH="0" flipV="0">
            <a:off x="4162425" y="2095500"/>
            <a:ext cx="1000125" cy="219075"/>
          </a:xfrm>
          <a:prstGeom prst="rect"/>
        </p:spPr>
        <p:txBody>
          <a:bodyPr wrap="none" lIns="0" tIns="0" rIns="0" bIns="0"/>
          <a:p>
            <a:pPr algn="ctr">
              <a:lnSpc>
                <a:spcPct val="100000"/>
              </a:lnSpc>
            </a:pPr>
            <a:r>
              <a:rPr lang="zh-CN" sz="1425" b="1">
                <a:solidFill>
                  <a:srgbClr val="1E3A8A"/>
                </a:solidFill>
                <a:latin typeface="PingFang SC"/>
                <a:ea typeface="PingFang SC"/>
              </a:rPr>
              <a:t>行动</a:t>
            </a:r>
            <a:endParaRPr/>
          </a:p>
        </p:txBody>
      </p:sp>
      <p:sp>
        <p:nvSpPr>
          <p:cNvPr id="664" name="" descr="{&quot;isTemplate&quot;:true,&quot;type&quot;:&quot;text&quot;}"/>
          <p:cNvSpPr txBox="1"/>
          <p:nvPr/>
        </p:nvSpPr>
        <p:spPr>
          <a:xfrm rot="0" flipH="0" flipV="0">
            <a:off x="4162425" y="2390775"/>
            <a:ext cx="1000125" cy="466725"/>
          </a:xfrm>
          <a:prstGeom prst="rect"/>
        </p:spPr>
        <p:txBody>
          <a:bodyPr wrap="square" lIns="0" tIns="0" rIns="0" bIns="0">
            <a:normAutofit/>
          </a:bodyPr>
          <a:p>
            <a:pPr algn="ctr">
              <a:lnSpc>
                <a:spcPct val="155000"/>
              </a:lnSpc>
            </a:pPr>
            <a:r>
              <a:rPr lang="zh-CN" sz="975">
                <a:solidFill>
                  <a:srgbClr val="43566B"/>
                </a:solidFill>
                <a:latin typeface="PingFang SC"/>
                <a:ea typeface="PingFang SC"/>
              </a:rPr>
              <a:t>调系统、下发指令、生成单据</a:t>
            </a:r>
            <a:endParaRPr/>
          </a:p>
        </p:txBody>
      </p:sp>
      <p:pic>
        <p:nvPicPr>
          <p:cNvPr id="665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2"/>
              </a:ext>
            </a:extLst>
          </a:blip>
          <a:stretch>
            <a:fillRect/>
          </a:stretch>
        </p:blipFill>
        <p:spPr>
          <a:xfrm rot="0" flipH="0" flipV="0">
            <a:off x="5410200" y="2076450"/>
            <a:ext cx="171450" cy="171450"/>
          </a:xfrm>
          <a:prstGeom prst="rect">
            <a:avLst/>
          </a:prstGeom>
          <a:ln/>
        </p:spPr>
      </p:pic>
      <p:sp>
        <p:nvSpPr>
          <p:cNvPr id="666" name=""/>
          <p:cNvSpPr/>
          <p:nvPr/>
        </p:nvSpPr>
        <p:spPr>
          <a:xfrm rot="0" flipH="0" flipV="0">
            <a:off x="5695950" y="1390650"/>
            <a:ext cx="1552575" cy="1543050"/>
          </a:xfrm>
          <a:prstGeom prst="roundRect">
            <a:avLst>
              <a:gd name="adj" fmla="val 8642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33350" dist="38100" dir="5400000">
              <a:srgbClr val="1E3A8A">
                <a:alpha val="6000"/>
              </a:srgbClr>
            </a:outerShdw>
          </a:effectLst>
        </p:spPr>
        <p:txBody>
          <a:bodyPr/>
          <a:p/>
        </p:txBody>
      </p:sp>
      <p:sp>
        <p:nvSpPr>
          <p:cNvPr id="667" name=""/>
          <p:cNvSpPr/>
          <p:nvPr/>
        </p:nvSpPr>
        <p:spPr>
          <a:xfrm rot="0" flipH="0" flipV="0">
            <a:off x="6219825" y="1581150"/>
            <a:ext cx="514350" cy="514350"/>
          </a:xfrm>
          <a:prstGeom prst="roundRect">
            <a:avLst>
              <a:gd name="adj" fmla="val 24074"/>
            </a:avLst>
          </a:prstGeom>
          <a:solidFill>
            <a:srgbClr val="E0F7FA"/>
          </a:solidFill>
          <a:ln/>
        </p:spPr>
        <p:txBody>
          <a:bodyPr/>
          <a:p/>
        </p:txBody>
      </p:sp>
      <p:pic>
        <p:nvPicPr>
          <p:cNvPr id="668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5"/>
              </a:ext>
            </a:extLst>
          </a:blip>
          <a:stretch>
            <a:fillRect/>
          </a:stretch>
        </p:blipFill>
        <p:spPr>
          <a:xfrm rot="0" flipH="0" flipV="0">
            <a:off x="6353175" y="1714500"/>
            <a:ext cx="247650" cy="247650"/>
          </a:xfrm>
          <a:prstGeom prst="rect">
            <a:avLst/>
          </a:prstGeom>
          <a:ln/>
        </p:spPr>
      </p:pic>
      <p:sp>
        <p:nvSpPr>
          <p:cNvPr id="669" name="" descr="{&quot;isTemplate&quot;:true,&quot;type&quot;:&quot;text&quot;}"/>
          <p:cNvSpPr txBox="1"/>
          <p:nvPr/>
        </p:nvSpPr>
        <p:spPr>
          <a:xfrm rot="0" flipH="0" flipV="0">
            <a:off x="5829300" y="2209800"/>
            <a:ext cx="1285875" cy="219075"/>
          </a:xfrm>
          <a:prstGeom prst="rect"/>
        </p:spPr>
        <p:txBody>
          <a:bodyPr wrap="none" lIns="0" tIns="0" rIns="0" bIns="0"/>
          <a:p>
            <a:pPr algn="ctr">
              <a:lnSpc>
                <a:spcPct val="100000"/>
              </a:lnSpc>
            </a:pPr>
            <a:r>
              <a:rPr lang="zh-CN" sz="1425" b="1">
                <a:solidFill>
                  <a:srgbClr val="1E3A8A"/>
                </a:solidFill>
                <a:latin typeface="PingFang SC"/>
                <a:ea typeface="PingFang SC"/>
              </a:rPr>
              <a:t>观察</a:t>
            </a:r>
            <a:endParaRPr/>
          </a:p>
        </p:txBody>
      </p:sp>
      <p:sp>
        <p:nvSpPr>
          <p:cNvPr id="670" name="" descr="{&quot;isTemplate&quot;:true,&quot;type&quot;:&quot;text&quot;}"/>
          <p:cNvSpPr txBox="1"/>
          <p:nvPr/>
        </p:nvSpPr>
        <p:spPr>
          <a:xfrm rot="0" flipH="0" flipV="0">
            <a:off x="5829300" y="2505075"/>
            <a:ext cx="1285875" cy="238125"/>
          </a:xfrm>
          <a:prstGeom prst="rect"/>
        </p:spPr>
        <p:txBody>
          <a:bodyPr wrap="none" lIns="0" tIns="0" rIns="0" bIns="0"/>
          <a:p>
            <a:pPr algn="ctr">
              <a:lnSpc>
                <a:spcPct val="155000"/>
              </a:lnSpc>
            </a:pPr>
            <a:r>
              <a:rPr lang="zh-CN" sz="975">
                <a:solidFill>
                  <a:srgbClr val="43566B"/>
                </a:solidFill>
                <a:latin typeface="PingFang SC"/>
                <a:ea typeface="PingFang SC"/>
              </a:rPr>
              <a:t>验结果、修正下一步</a:t>
            </a:r>
            <a:endParaRPr/>
          </a:p>
        </p:txBody>
      </p:sp>
      <p:sp>
        <p:nvSpPr>
          <p:cNvPr id="671" name=""/>
          <p:cNvSpPr/>
          <p:nvPr/>
        </p:nvSpPr>
        <p:spPr>
          <a:xfrm rot="0" flipH="0" flipV="0">
            <a:off x="685800" y="3219450"/>
            <a:ext cx="6562725" cy="2933700"/>
          </a:xfrm>
          <a:prstGeom prst="roundRect">
            <a:avLst>
              <a:gd name="adj" fmla="val 5195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p/>
        </p:txBody>
      </p:sp>
      <p:sp>
        <p:nvSpPr>
          <p:cNvPr id="672" name="" descr="{&quot;isTemplate&quot;:true,&quot;type&quot;:&quot;text&quot;}"/>
          <p:cNvSpPr txBox="1"/>
          <p:nvPr/>
        </p:nvSpPr>
        <p:spPr>
          <a:xfrm rot="0" flipH="0" flipV="0">
            <a:off x="933450" y="3409950"/>
            <a:ext cx="6067425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 b="1">
                <a:solidFill>
                  <a:srgbClr val="1E3A8A"/>
                </a:solidFill>
                <a:latin typeface="PingFang SC"/>
                <a:ea typeface="PingFang SC"/>
              </a:rPr>
              <a:t>规划者视角：智能体不是买来的，是「养」出来的</a:t>
            </a:r>
            <a:endParaRPr/>
          </a:p>
        </p:txBody>
      </p:sp>
      <p:sp>
        <p:nvSpPr>
          <p:cNvPr id="673" name="" descr="{&quot;isTemplate&quot;:true,&quot;type&quot;:&quot;text&quot;}"/>
          <p:cNvSpPr txBox="1"/>
          <p:nvPr/>
        </p:nvSpPr>
        <p:spPr>
          <a:xfrm rot="0" flipH="0" flipV="0">
            <a:off x="933450" y="3705225"/>
            <a:ext cx="6067425" cy="1304925"/>
          </a:xfrm>
          <a:prstGeom prst="rect"/>
        </p:spPr>
        <p:txBody>
          <a:bodyPr wrap="none" lIns="0" tIns="0" rIns="0" bIns="0"/>
          <a:p>
            <a:pPr>
              <a:lnSpc>
                <a:spcPct val="190000"/>
              </a:lnSpc>
            </a:pPr>
            <a:r>
              <a:rPr lang="en-US" sz="1125">
                <a:solidFill>
                  <a:srgbClr val="43566B"/>
                </a:solidFill>
                <a:latin typeface="PingFang SC"/>
                <a:ea typeface="PingFang SC"/>
              </a:rPr>
              <a:t>① </a:t>
            </a:r>
            <a:r>
              <a:rPr lang="zh-CN" sz="1125">
                <a:solidFill>
                  <a:srgbClr val="43566B"/>
                </a:solidFill>
                <a:latin typeface="PingFang SC"/>
                <a:ea typeface="PingFang SC"/>
              </a:rPr>
              <a:t>数据回路</a:t>
            </a:r>
            <a:r>
              <a:rPr lang="en-US" sz="1125">
                <a:solidFill>
                  <a:srgbClr val="43566B"/>
                </a:solidFill>
                <a:latin typeface="PingFang SC"/>
                <a:ea typeface="PingFang SC"/>
              </a:rPr>
              <a:t> —— </a:t>
            </a:r>
            <a:r>
              <a:rPr lang="zh-CN" sz="1125">
                <a:solidFill>
                  <a:srgbClr val="43566B"/>
                </a:solidFill>
                <a:latin typeface="PingFang SC"/>
                <a:ea typeface="PingFang SC"/>
              </a:rPr>
              <a:t>没有持续反馈，智能体会原地踏步</a:t>
            </a:r>
            <a:endParaRPr/>
          </a:p>
          <a:p>
            <a:pPr>
              <a:lnSpc>
                <a:spcPct val="190000"/>
              </a:lnSpc>
            </a:pPr>
            <a:r>
              <a:rPr lang="en-US" sz="1125">
                <a:solidFill>
                  <a:srgbClr val="43566B"/>
                </a:solidFill>
                <a:latin typeface="PingFang SC"/>
                <a:ea typeface="PingFang SC"/>
              </a:rPr>
              <a:t>② </a:t>
            </a:r>
            <a:r>
              <a:rPr lang="zh-CN" sz="1125">
                <a:solidFill>
                  <a:srgbClr val="43566B"/>
                </a:solidFill>
                <a:latin typeface="PingFang SC"/>
                <a:ea typeface="PingFang SC"/>
              </a:rPr>
              <a:t>权限边界</a:t>
            </a:r>
            <a:r>
              <a:rPr lang="en-US" sz="1125">
                <a:solidFill>
                  <a:srgbClr val="43566B"/>
                </a:solidFill>
                <a:latin typeface="PingFang SC"/>
                <a:ea typeface="PingFang SC"/>
              </a:rPr>
              <a:t> —— </a:t>
            </a:r>
            <a:r>
              <a:rPr lang="zh-CN" sz="1125">
                <a:solidFill>
                  <a:srgbClr val="43566B"/>
                </a:solidFill>
                <a:latin typeface="PingFang SC"/>
                <a:ea typeface="PingFang SC"/>
              </a:rPr>
              <a:t>哪些动作可自主、哪些必须人签</a:t>
            </a:r>
            <a:endParaRPr/>
          </a:p>
          <a:p>
            <a:pPr>
              <a:lnSpc>
                <a:spcPct val="190000"/>
              </a:lnSpc>
            </a:pPr>
            <a:r>
              <a:rPr lang="en-US" sz="1125">
                <a:solidFill>
                  <a:srgbClr val="43566B"/>
                </a:solidFill>
                <a:latin typeface="PingFang SC"/>
                <a:ea typeface="PingFang SC"/>
              </a:rPr>
              <a:t>③ </a:t>
            </a:r>
            <a:r>
              <a:rPr lang="zh-CN" sz="1125">
                <a:solidFill>
                  <a:srgbClr val="43566B"/>
                </a:solidFill>
                <a:latin typeface="PingFang SC"/>
                <a:ea typeface="PingFang SC"/>
              </a:rPr>
              <a:t>评测体系</a:t>
            </a:r>
            <a:r>
              <a:rPr lang="en-US" sz="1125">
                <a:solidFill>
                  <a:srgbClr val="43566B"/>
                </a:solidFill>
                <a:latin typeface="PingFang SC"/>
                <a:ea typeface="PingFang SC"/>
              </a:rPr>
              <a:t> —— </a:t>
            </a:r>
            <a:r>
              <a:rPr lang="zh-CN" sz="1125">
                <a:solidFill>
                  <a:srgbClr val="43566B"/>
                </a:solidFill>
                <a:latin typeface="PingFang SC"/>
                <a:ea typeface="PingFang SC"/>
              </a:rPr>
              <a:t>每个智能体要有「上岗考核</a:t>
            </a:r>
            <a:r>
              <a:rPr lang="en-US" sz="1125">
                <a:solidFill>
                  <a:srgbClr val="43566B"/>
                </a:solidFill>
                <a:latin typeface="PingFang SC"/>
                <a:ea typeface="PingFang SC"/>
              </a:rPr>
              <a:t> + </a:t>
            </a:r>
            <a:r>
              <a:rPr lang="zh-CN" sz="1125">
                <a:solidFill>
                  <a:srgbClr val="43566B"/>
                </a:solidFill>
                <a:latin typeface="PingFang SC"/>
                <a:ea typeface="PingFang SC"/>
              </a:rPr>
              <a:t>年度复评」</a:t>
            </a:r>
            <a:endParaRPr/>
          </a:p>
          <a:p>
            <a:pPr>
              <a:lnSpc>
                <a:spcPct val="190000"/>
              </a:lnSpc>
            </a:pPr>
            <a:r>
              <a:rPr lang="zh-CN" sz="1125" b="1">
                <a:solidFill>
                  <a:srgbClr val="B45309"/>
                </a:solidFill>
                <a:latin typeface="PingFang SC"/>
                <a:ea typeface="PingFang SC"/>
              </a:rPr>
              <a:t>路线图里请为「智能体运营」单列一条线，而不是当成软件采购。</a:t>
            </a:r>
            <a:endParaRPr/>
          </a:p>
        </p:txBody>
      </p:sp>
      <p:sp>
        <p:nvSpPr>
          <p:cNvPr id="674" name=""/>
          <p:cNvSpPr/>
          <p:nvPr/>
        </p:nvSpPr>
        <p:spPr>
          <a:xfrm rot="0" flipH="0" flipV="0">
            <a:off x="7477125" y="1276350"/>
            <a:ext cx="4029075" cy="4876800"/>
          </a:xfrm>
          <a:prstGeom prst="roundRect">
            <a:avLst>
              <a:gd name="adj" fmla="val 4255"/>
            </a:avLst>
          </a:prstGeom>
          <a:solidFill>
            <a:srgbClr val="1E3A8A"/>
          </a:solidFill>
          <a:ln/>
          <a:effectLst>
            <a:outerShdw blurRad="266700" dist="76200" dir="5400000">
              <a:srgbClr val="1E3A8A">
                <a:alpha val="25000"/>
              </a:srgbClr>
            </a:outerShdw>
          </a:effectLst>
        </p:spPr>
        <p:txBody>
          <a:bodyPr/>
          <a:p/>
        </p:txBody>
      </p:sp>
      <p:pic>
        <p:nvPicPr>
          <p:cNvPr id="675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6"/>
              </a:ext>
            </a:extLst>
          </a:blip>
          <a:stretch>
            <a:fillRect/>
          </a:stretch>
        </p:blipFill>
        <p:spPr>
          <a:xfrm rot="0" flipH="0" flipV="0">
            <a:off x="7762875" y="1524000"/>
            <a:ext cx="323850" cy="323850"/>
          </a:xfrm>
          <a:prstGeom prst="rect">
            <a:avLst/>
          </a:prstGeom>
          <a:ln/>
        </p:spPr>
      </p:pic>
      <p:sp>
        <p:nvSpPr>
          <p:cNvPr id="676" name="" descr="{&quot;isTemplate&quot;:true,&quot;type&quot;:&quot;text&quot;}"/>
          <p:cNvSpPr txBox="1"/>
          <p:nvPr/>
        </p:nvSpPr>
        <p:spPr>
          <a:xfrm rot="0" flipH="0" flipV="0">
            <a:off x="7762875" y="2000250"/>
            <a:ext cx="3457575" cy="76200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0000"/>
              </a:lnSpc>
            </a:pPr>
            <a:r>
              <a:rPr lang="en-US" sz="1650" b="1">
                <a:solidFill>
                  <a:srgbClr val="FFFFFF"/>
                </a:solidFill>
                <a:latin typeface="PingFang SC"/>
                <a:ea typeface="PingFang SC"/>
              </a:rPr>
              <a:t>实时连接 + AI</a:t>
            </a:r>
            <a:r>
              <a:rPr lang="zh-CN" sz="1650" b="1">
                <a:solidFill>
                  <a:srgbClr val="FFFFFF"/>
                </a:solidFill>
                <a:latin typeface="PingFang SC"/>
                <a:ea typeface="PingFang SC"/>
              </a:rPr>
              <a:t>：低时延是智能体闭环的前提</a:t>
            </a:r>
            <a:endParaRPr/>
          </a:p>
        </p:txBody>
      </p:sp>
      <p:sp>
        <p:nvSpPr>
          <p:cNvPr id="677" name="" descr="{&quot;isTemplate&quot;:true,&quot;type&quot;:&quot;text&quot;}"/>
          <p:cNvSpPr txBox="1"/>
          <p:nvPr/>
        </p:nvSpPr>
        <p:spPr>
          <a:xfrm rot="0" flipH="0" flipV="0">
            <a:off x="7762875" y="2895600"/>
            <a:ext cx="3457575" cy="9334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80000"/>
              </a:lnSpc>
            </a:pPr>
            <a:r>
              <a:rPr lang="zh-CN" sz="1125">
                <a:solidFill>
                  <a:srgbClr val="DCE9FB"/>
                </a:solidFill>
                <a:latin typeface="PingFang SC"/>
                <a:ea typeface="PingFang SC"/>
              </a:rPr>
              <a:t>「观察→规划→行动」要在秒级闭环，</a:t>
            </a:r>
            <a:r>
              <a:rPr lang="en-US" sz="1125">
                <a:solidFill>
                  <a:srgbClr val="DCE9FB"/>
                </a:solidFill>
                <a:latin typeface="PingFang SC"/>
                <a:ea typeface="PingFang SC"/>
              </a:rPr>
              <a:t>Wi-Fi </a:t>
            </a:r>
            <a:r>
              <a:rPr lang="zh-CN" sz="1125">
                <a:solidFill>
                  <a:srgbClr val="DCE9FB"/>
                </a:solidFill>
                <a:latin typeface="PingFang SC"/>
                <a:ea typeface="PingFang SC"/>
              </a:rPr>
              <a:t>和有线网常常卡在这里。</a:t>
            </a:r>
            <a:endParaRPr/>
          </a:p>
          <a:p>
            <a:pPr>
              <a:lnSpc>
                <a:spcPct val="180000"/>
              </a:lnSpc>
            </a:pPr>
            <a:r>
              <a:rPr lang="zh-CN" sz="1125">
                <a:solidFill>
                  <a:srgbClr val="DCE9FB"/>
                </a:solidFill>
                <a:latin typeface="PingFang SC"/>
                <a:ea typeface="PingFang SC"/>
              </a:rPr>
              <a:t>厂内</a:t>
            </a:r>
            <a:r>
              <a:rPr lang="en-US" sz="1125">
                <a:solidFill>
                  <a:srgbClr val="DCE9FB"/>
                </a:solidFill>
                <a:latin typeface="PingFang SC"/>
                <a:ea typeface="PingFang SC"/>
              </a:rPr>
              <a:t> 实时连接 / </a:t>
            </a:r>
            <a:r>
              <a:rPr lang="zh-CN" sz="1125">
                <a:solidFill>
                  <a:srgbClr val="DCE9FB"/>
                </a:solidFill>
                <a:latin typeface="PingFang SC"/>
                <a:ea typeface="PingFang SC"/>
              </a:rPr>
              <a:t>确定性网络，是领航级架构的隐形地基。</a:t>
            </a:r>
            <a:endParaRPr/>
          </a:p>
        </p:txBody>
      </p:sp>
      <p:sp>
        <p:nvSpPr>
          <p:cNvPr id="678" name=""/>
          <p:cNvSpPr/>
          <p:nvPr/>
        </p:nvSpPr>
        <p:spPr>
          <a:xfrm rot="0" flipH="0" flipV="0">
            <a:off x="7762875" y="5334000"/>
            <a:ext cx="3457575" cy="571500"/>
          </a:xfrm>
          <a:prstGeom prst="roundRect">
            <a:avLst>
              <a:gd name="adj" fmla="val 16667"/>
            </a:avLst>
          </a:prstGeom>
          <a:solidFill>
            <a:srgbClr val="06B6D4">
              <a:alpha val="18000"/>
            </a:srgbClr>
          </a:solidFill>
          <a:ln w="12700">
            <a:solidFill>
              <a:srgbClr val="06B6D4">
                <a:alpha val="60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679" name="" descr="{&quot;isTemplate&quot;:true,&quot;type&quot;:&quot;text&quot;}"/>
          <p:cNvSpPr txBox="1"/>
          <p:nvPr/>
        </p:nvSpPr>
        <p:spPr>
          <a:xfrm rot="0" flipH="0" flipV="0">
            <a:off x="7915275" y="5486400"/>
            <a:ext cx="3152775" cy="3238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00000"/>
              </a:lnSpc>
            </a:pPr>
            <a:r>
              <a:rPr lang="zh-CN" sz="1050" b="1">
                <a:solidFill>
                  <a:srgbClr val="7FD9F0"/>
                </a:solidFill>
                <a:latin typeface="PingFang SC"/>
                <a:ea typeface="PingFang SC"/>
              </a:rPr>
              <a:t>判断：毫秒级闭环</a:t>
            </a:r>
            <a:r>
              <a:rPr lang="en-US" sz="1050" b="1">
                <a:solidFill>
                  <a:srgbClr val="7FD9F0"/>
                </a:solidFill>
                <a:latin typeface="PingFang SC"/>
                <a:ea typeface="PingFang SC"/>
              </a:rPr>
              <a:t> → </a:t>
            </a:r>
            <a:r>
              <a:rPr lang="zh-CN" sz="1050" b="1">
                <a:solidFill>
                  <a:srgbClr val="7FD9F0"/>
                </a:solidFill>
                <a:latin typeface="PingFang SC"/>
                <a:ea typeface="PingFang SC"/>
              </a:rPr>
              <a:t>边</a:t>
            </a:r>
            <a:r>
              <a:rPr lang="en-US" sz="1050" b="1">
                <a:solidFill>
                  <a:srgbClr val="7FD9F0"/>
                </a:solidFill>
                <a:latin typeface="PingFang SC"/>
                <a:ea typeface="PingFang SC"/>
              </a:rPr>
              <a:t> + 实时连接</a:t>
            </a:r>
            <a:r>
              <a:rPr lang="zh-CN" sz="1050" b="1">
                <a:solidFill>
                  <a:srgbClr val="7FD9F0"/>
                </a:solidFill>
                <a:latin typeface="PingFang SC"/>
                <a:ea typeface="PingFang SC"/>
              </a:rPr>
              <a:t>；分钟级以上</a:t>
            </a:r>
            <a:r>
              <a:rPr lang="en-US" sz="1050" b="1">
                <a:solidFill>
                  <a:srgbClr val="7FD9F0"/>
                </a:solidFill>
                <a:latin typeface="PingFang SC"/>
                <a:ea typeface="PingFang SC"/>
              </a:rPr>
              <a:t> → </a:t>
            </a:r>
            <a:r>
              <a:rPr lang="zh-CN" sz="1050" b="1">
                <a:solidFill>
                  <a:srgbClr val="7FD9F0"/>
                </a:solidFill>
                <a:latin typeface="PingFang SC"/>
                <a:ea typeface="PingFang SC"/>
              </a:rPr>
              <a:t>普通网络够用</a:t>
            </a:r>
            <a:endParaRPr/>
          </a:p>
        </p:txBody>
      </p:sp>
      <p:sp>
        <p:nvSpPr>
          <p:cNvPr id="680" name="" descr="{&quot;isTemplate&quot;:true,&quot;type&quot;:&quot;text&quot;}"/>
          <p:cNvSpPr txBox="1"/>
          <p:nvPr/>
        </p:nvSpPr>
        <p:spPr>
          <a:xfrm rot="0" flipH="0" flipV="0">
            <a:off x="685800" y="6362700"/>
            <a:ext cx="12573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64748B"/>
                </a:solidFill>
                <a:latin typeface="PingFang SC"/>
                <a:ea typeface="PingFang SC"/>
              </a:rPr>
              <a:t>AI </a:t>
            </a:r>
            <a:r>
              <a:rPr lang="zh-CN" sz="1050">
                <a:solidFill>
                  <a:srgbClr val="64748B"/>
                </a:solidFill>
                <a:latin typeface="PingFang SC"/>
                <a:ea typeface="PingFang SC"/>
              </a:rPr>
              <a:t>规划与治理</a:t>
            </a:r>
            <a:r>
              <a:rPr lang="en-US" sz="1050">
                <a:solidFill>
                  <a:srgbClr val="64748B"/>
                </a:solidFill>
                <a:latin typeface="PingFang SC"/>
                <a:ea typeface="PingFang SC"/>
              </a:rPr>
              <a:t> · </a:t>
            </a:r>
            <a:r>
              <a:rPr lang="zh-CN" sz="1050">
                <a:solidFill>
                  <a:srgbClr val="64748B"/>
                </a:solidFill>
                <a:latin typeface="PingFang SC"/>
                <a:ea typeface="PingFang SC"/>
              </a:rPr>
              <a:t>高级</a:t>
            </a:r>
            <a:endParaRPr/>
          </a:p>
        </p:txBody>
      </p:sp>
      <p:sp>
        <p:nvSpPr>
          <p:cNvPr id="681" name="" descr="{&quot;isTemplate&quot;:true,&quot;type&quot;:&quot;text&quot;}"/>
          <p:cNvSpPr txBox="1"/>
          <p:nvPr/>
        </p:nvSpPr>
        <p:spPr>
          <a:xfrm rot="0" flipH="0" flipV="0">
            <a:off x="11029950" y="6362700"/>
            <a:ext cx="4762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64748B"/>
                </a:solidFill>
                <a:latin typeface="PingFang SC"/>
                <a:ea typeface="PingFang SC"/>
              </a:rPr>
              <a:t>09 / 24</a:t>
            </a:r>
            <a:endParaRPr/>
          </a:p>
        </p:txBody>
      </p:sp>
    </p:spTree>
  </p:cSld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7" name="" descr="&lt;Slide style={{ width: '1280px', height: '720px', position: 'relative', background: '#1E3A8A', overflow: 'hidden', fontFamily: 'PingFang SC, Source Han Sans SC, sans-serif' }}&gt;&#10;    &lt;Box style={{ position: 'absolute', top: 0, right: 0, width: 500, height: '720px' }}&gt;&#10;        &lt;Image src=&quot;assets/hero_cover.png&quot; style={{ width: '500px', height: '720px', objectFit: 'cover', opacity: 0.5 }} /&gt;&#10;        &lt;Box style={{ position: 'absolute', top: 0, left: 0, width: '500px', height: '720px', background: 'linear-gradient(90deg, rgba(30,58,138,1) 0%, rgba(30,58,138,0.15) 100%)' }} /&gt;&#10;    &lt;/Box&gt;&#10;    &lt;Box style={{ position: 'relative', zIndex: 1, height: '720px', padding: '0 84px', justifyContent: 'center' }}&gt;&#10;        &lt;Text style={{ fontSize: 130, fontWeight: 'bold', color: 'rgba(6,182,212,0.5)', lineHeight: 1, fontFamily: 'Space Grotesk, Inter' }}&gt;03&lt;/Text&gt;&#10;        &lt;Text style={{ fontSize: 18, color: '#7FD9F0', letterSpacing: 5, marginTop: 6 }}&gt;H3 · 2 课时&lt;/Text&gt;&#10;        &lt;Text style={{ fontSize: 54, fontWeight: 'bold', color: '#FFFFFF', marginTop: 20, lineHeight: 1.18 }}&gt;数据治理&lt;br /&gt;数据是 AI 的血统&lt;/Text&gt;&#10;        &lt;Box style={{ width: 84, height: 4, background: '#06B6D4', marginTop: 30 }} /&gt;&#10;        &lt;Text style={{ fontSize: 19, color: '#A9C4E8', marginTop: 22, lineHeight: 1.6 }}&gt;DCMM 跃迁 · 分类分级 / 主数据 / 资产入表&lt;br /&gt;CDO 怎么设、与 CIO 怎么分工 · 模数共振飞轮。&lt;/Text&gt;&#10;    &lt;/Box&gt;&#10;&lt;/Slide&gt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1E3A8A"/>
          </a:solidFill>
          <a:ln/>
        </p:spPr>
        <p:txBody>
          <a:bodyPr/>
          <a:p/>
        </p:txBody>
      </p:sp>
      <p:pic>
        <p:nvPicPr>
          <p:cNvPr id="19" name=""/>
          <p:cNvPicPr>
            <a:picLocks noChangeAspect="1"/>
          </p:cNvPicPr>
          <p:nvPr/>
        </p:nvPicPr>
        <p:blipFill>
          <a:blip r:embed="rId1">
            <a:alphaModFix amt="50000"/>
          </a:blip>
          <a:srcRect l="26242" t="0" r="26242" b="0"/>
          <a:stretch>
            <a:fillRect/>
          </a:stretch>
        </p:blipFill>
        <p:spPr>
          <a:xfrm rot="0" flipH="0" flipV="0">
            <a:off x="7429500" y="0"/>
            <a:ext cx="4762500" cy="6858000"/>
          </a:xfrm>
          <a:prstGeom prst="rect">
            <a:avLst/>
          </a:prstGeom>
          <a:ln/>
        </p:spPr>
      </p:pic>
      <p:sp>
        <p:nvSpPr>
          <p:cNvPr id="20" name=""/>
          <p:cNvSpPr/>
          <p:nvPr/>
        </p:nvSpPr>
        <p:spPr>
          <a:xfrm rot="0" flipH="0" flipV="0">
            <a:off x="7429500" y="0"/>
            <a:ext cx="4762500" cy="6858000"/>
          </a:xfrm>
          <a:prstGeom prst="rect">
            <a:avLst/>
          </a:prstGeom>
          <a:gradFill>
            <a:gsLst>
              <a:gs pos="0">
                <a:srgbClr val="1E3A8A">
                  <a:alpha val="100000"/>
                </a:srgbClr>
              </a:gs>
              <a:gs pos="100000">
                <a:srgbClr val="1E3A8A">
                  <a:alpha val="15000"/>
                </a:srgbClr>
              </a:gs>
            </a:gsLst>
            <a:lin ang="0" scaled="1"/>
          </a:gradFill>
          <a:ln/>
        </p:spPr>
        <p:txBody>
          <a:bodyPr/>
          <a:p/>
        </p:txBody>
      </p:sp>
      <p:sp>
        <p:nvSpPr>
          <p:cNvPr id="21" name="" descr="{&quot;isTemplate&quot;:true,&quot;type&quot;:&quot;text&quot;}"/>
          <p:cNvSpPr txBox="1"/>
          <p:nvPr/>
        </p:nvSpPr>
        <p:spPr>
          <a:xfrm rot="0" flipH="0" flipV="0">
            <a:off x="800100" y="1114425"/>
            <a:ext cx="10591800" cy="14859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0" b="1">
                <a:solidFill>
                  <a:srgbClr val="06B6D4">
                    <a:alpha val="50000"/>
                  </a:srgbClr>
                </a:solidFill>
                <a:latin typeface="Space Grotesk"/>
                <a:ea typeface="Space Grotesk"/>
              </a:rPr>
              <a:t>03</a:t>
            </a:r>
            <a:endParaRPr/>
          </a:p>
        </p:txBody>
      </p:sp>
      <p:sp>
        <p:nvSpPr>
          <p:cNvPr id="22" name="" descr="{&quot;isTemplate&quot;:true,&quot;type&quot;:&quot;text&quot;}"/>
          <p:cNvSpPr txBox="1"/>
          <p:nvPr/>
        </p:nvSpPr>
        <p:spPr>
          <a:xfrm rot="0" flipH="0" flipV="0">
            <a:off x="800100" y="2657475"/>
            <a:ext cx="1059180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350" spc="375">
                <a:solidFill>
                  <a:srgbClr val="7FD9F0"/>
                </a:solidFill>
                <a:latin typeface="PingFang SC"/>
                <a:ea typeface="PingFang SC"/>
              </a:rPr>
              <a:t>H3 · 2 </a:t>
            </a:r>
            <a:r>
              <a:rPr lang="zh-CN" sz="1350" spc="375">
                <a:solidFill>
                  <a:srgbClr val="7FD9F0"/>
                </a:solidFill>
                <a:latin typeface="PingFang SC"/>
                <a:ea typeface="PingFang SC"/>
              </a:rPr>
              <a:t>课时</a:t>
            </a:r>
            <a:endParaRPr/>
          </a:p>
        </p:txBody>
      </p:sp>
      <p:sp>
        <p:nvSpPr>
          <p:cNvPr id="23" name="" descr="{&quot;isTemplate&quot;:true,&quot;type&quot;:&quot;text&quot;}"/>
          <p:cNvSpPr txBox="1"/>
          <p:nvPr/>
        </p:nvSpPr>
        <p:spPr>
          <a:xfrm rot="0" flipH="0" flipV="0">
            <a:off x="800100" y="3057525"/>
            <a:ext cx="10591800" cy="1457325"/>
          </a:xfrm>
          <a:prstGeom prst="rect"/>
        </p:spPr>
        <p:txBody>
          <a:bodyPr wrap="none" lIns="0" tIns="0" rIns="0" bIns="0"/>
          <a:p>
            <a:pPr>
              <a:lnSpc>
                <a:spcPct val="118000"/>
              </a:lnSpc>
            </a:pPr>
            <a:r>
              <a:rPr lang="zh-CN" sz="4050" b="1">
                <a:solidFill>
                  <a:srgbClr val="FFFFFF"/>
                </a:solidFill>
                <a:latin typeface="PingFang SC"/>
                <a:ea typeface="PingFang SC"/>
              </a:rPr>
              <a:t>数据治理</a:t>
            </a:r>
            <a:endParaRPr/>
          </a:p>
          <a:p>
            <a:pPr>
              <a:lnSpc>
                <a:spcPct val="118000"/>
              </a:lnSpc>
            </a:pPr>
            <a:r>
              <a:rPr lang="zh-CN" sz="4050" b="1">
                <a:solidFill>
                  <a:srgbClr val="FFFFFF"/>
                </a:solidFill>
                <a:latin typeface="PingFang SC"/>
                <a:ea typeface="PingFang SC"/>
              </a:rPr>
              <a:t>数据是</a:t>
            </a:r>
            <a:r>
              <a:rPr lang="en-US" sz="4050" b="1">
                <a:solidFill>
                  <a:srgbClr val="FFFFFF"/>
                </a:solidFill>
                <a:latin typeface="PingFang SC"/>
                <a:ea typeface="PingFang SC"/>
              </a:rPr>
              <a:t> AI </a:t>
            </a:r>
            <a:r>
              <a:rPr lang="zh-CN" sz="4050" b="1">
                <a:solidFill>
                  <a:srgbClr val="FFFFFF"/>
                </a:solidFill>
                <a:latin typeface="PingFang SC"/>
                <a:ea typeface="PingFang SC"/>
              </a:rPr>
              <a:t>的血统</a:t>
            </a:r>
            <a:endParaRPr/>
          </a:p>
        </p:txBody>
      </p:sp>
      <p:sp>
        <p:nvSpPr>
          <p:cNvPr id="24" name=""/>
          <p:cNvSpPr/>
          <p:nvPr/>
        </p:nvSpPr>
        <p:spPr>
          <a:xfrm rot="0" flipH="0" flipV="0">
            <a:off x="800100" y="4800600"/>
            <a:ext cx="800100" cy="38100"/>
          </a:xfrm>
          <a:prstGeom prst="rect">
            <a:avLst/>
          </a:prstGeom>
          <a:solidFill>
            <a:srgbClr val="06B6D4"/>
          </a:solidFill>
          <a:ln/>
        </p:spPr>
        <p:txBody>
          <a:bodyPr/>
          <a:p/>
        </p:txBody>
      </p:sp>
      <p:sp>
        <p:nvSpPr>
          <p:cNvPr id="25" name="" descr="{&quot;isTemplate&quot;:true,&quot;type&quot;:&quot;text&quot;}"/>
          <p:cNvSpPr txBox="1"/>
          <p:nvPr/>
        </p:nvSpPr>
        <p:spPr>
          <a:xfrm rot="0" flipH="0" flipV="0">
            <a:off x="800100" y="5048250"/>
            <a:ext cx="10591800" cy="695325"/>
          </a:xfrm>
          <a:prstGeom prst="rect"/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en-US" sz="1425">
                <a:solidFill>
                  <a:srgbClr val="A9C4E8"/>
                </a:solidFill>
                <a:latin typeface="PingFang SC"/>
                <a:ea typeface="PingFang SC"/>
              </a:rPr>
              <a:t>DCMM </a:t>
            </a:r>
            <a:r>
              <a:rPr lang="zh-CN" sz="1425">
                <a:solidFill>
                  <a:srgbClr val="A9C4E8"/>
                </a:solidFill>
                <a:latin typeface="PingFang SC"/>
                <a:ea typeface="PingFang SC"/>
              </a:rPr>
              <a:t>跃迁</a:t>
            </a:r>
            <a:r>
              <a:rPr lang="en-US" sz="1425">
                <a:solidFill>
                  <a:srgbClr val="A9C4E8"/>
                </a:solidFill>
                <a:latin typeface="PingFang SC"/>
                <a:ea typeface="PingFang SC"/>
              </a:rPr>
              <a:t> · </a:t>
            </a:r>
            <a:r>
              <a:rPr lang="zh-CN" sz="1425">
                <a:solidFill>
                  <a:srgbClr val="A9C4E8"/>
                </a:solidFill>
                <a:latin typeface="PingFang SC"/>
                <a:ea typeface="PingFang SC"/>
              </a:rPr>
              <a:t>分类分级</a:t>
            </a:r>
            <a:r>
              <a:rPr lang="en-US" sz="1425">
                <a:solidFill>
                  <a:srgbClr val="A9C4E8"/>
                </a:solidFill>
                <a:latin typeface="PingFang SC"/>
                <a:ea typeface="PingFang SC"/>
              </a:rPr>
              <a:t> / </a:t>
            </a:r>
            <a:r>
              <a:rPr lang="zh-CN" sz="1425">
                <a:solidFill>
                  <a:srgbClr val="A9C4E8"/>
                </a:solidFill>
                <a:latin typeface="PingFang SC"/>
                <a:ea typeface="PingFang SC"/>
              </a:rPr>
              <a:t>主数据</a:t>
            </a:r>
            <a:r>
              <a:rPr lang="en-US" sz="1425">
                <a:solidFill>
                  <a:srgbClr val="A9C4E8"/>
                </a:solidFill>
                <a:latin typeface="PingFang SC"/>
                <a:ea typeface="PingFang SC"/>
              </a:rPr>
              <a:t> / </a:t>
            </a:r>
            <a:r>
              <a:rPr lang="zh-CN" sz="1425">
                <a:solidFill>
                  <a:srgbClr val="A9C4E8"/>
                </a:solidFill>
                <a:latin typeface="PingFang SC"/>
                <a:ea typeface="PingFang SC"/>
              </a:rPr>
              <a:t>资产入表</a:t>
            </a:r>
            <a:endParaRPr/>
          </a:p>
          <a:p>
            <a:pPr>
              <a:lnSpc>
                <a:spcPct val="160000"/>
              </a:lnSpc>
            </a:pPr>
            <a:r>
              <a:rPr lang="en-US" sz="1425">
                <a:solidFill>
                  <a:srgbClr val="A9C4E8"/>
                </a:solidFill>
                <a:latin typeface="PingFang SC"/>
                <a:ea typeface="PingFang SC"/>
              </a:rPr>
              <a:t>CDO </a:t>
            </a:r>
            <a:r>
              <a:rPr lang="zh-CN" sz="1425">
                <a:solidFill>
                  <a:srgbClr val="A9C4E8"/>
                </a:solidFill>
                <a:latin typeface="PingFang SC"/>
                <a:ea typeface="PingFang SC"/>
              </a:rPr>
              <a:t>怎么设、与</a:t>
            </a:r>
            <a:r>
              <a:rPr lang="en-US" sz="1425">
                <a:solidFill>
                  <a:srgbClr val="A9C4E8"/>
                </a:solidFill>
                <a:latin typeface="PingFang SC"/>
                <a:ea typeface="PingFang SC"/>
              </a:rPr>
              <a:t> CIO </a:t>
            </a:r>
            <a:r>
              <a:rPr lang="zh-CN" sz="1425">
                <a:solidFill>
                  <a:srgbClr val="A9C4E8"/>
                </a:solidFill>
                <a:latin typeface="PingFang SC"/>
                <a:ea typeface="PingFang SC"/>
              </a:rPr>
              <a:t>怎么分工</a:t>
            </a:r>
            <a:r>
              <a:rPr lang="en-US" sz="1425">
                <a:solidFill>
                  <a:srgbClr val="A9C4E8"/>
                </a:solidFill>
                <a:latin typeface="PingFang SC"/>
                <a:ea typeface="PingFang SC"/>
              </a:rPr>
              <a:t> · </a:t>
            </a:r>
            <a:r>
              <a:rPr lang="zh-CN" sz="1425">
                <a:solidFill>
                  <a:srgbClr val="A9C4E8"/>
                </a:solidFill>
                <a:latin typeface="PingFang SC"/>
                <a:ea typeface="PingFang SC"/>
              </a:rPr>
              <a:t>模数共振飞轮。</a:t>
            </a:r>
            <a:endParaRPr/>
          </a:p>
        </p:txBody>
      </p:sp>
    </p:spTree>
  </p:cSld>
</p:sld>
</file>

<file path=ppt/slides/slide11.xml><?xml version="1.0" encoding="utf-8"?>
<p:sld xmlns:asvg="http://schemas.microsoft.com/office/drawing/2016/SVG/main" xmlns:a="http://schemas.openxmlformats.org/drawingml/2006/main" xmlns:r="http://schemas.openxmlformats.org/officeDocument/2006/relationships" xmlns:p="http://schemas.openxmlformats.org/presentationml/2006/main" xmlns:mc="http://schemas.openxmlformats.org/markup-compatibility/2006" mc:Ignorable="asvg">
  <p:cSld>
    <p:spTree>
      <p:nvGrpSpPr>
        <p:cNvPr id="26" name="" descr="const three = [&#10;    { icon: 'layer-group', t: '分类分级', d: '数据按敏感级划分：公开 / 内部 / 敏感 / 核心 —— 不同级别不同权限、不同存储、不同出网策略。这是 H6 合规的地基。' },&#10;    { icon: 'sitemap', t: '主数据', d: '物料、BOM、设备台账「一个事实只有一个源头」。主数据不统一，AI 读到的全是互相打架的账。' },&#10;    { icon: 'money-check-alt', t: '资产入表', d: '数据资产进入资产负债表：可盘点、可估值、可抵押 —— 数据从成本项变成资产项，董事会才看得懂。' },&#10;];&#10;&lt;Slide style={{ width: '1280px', height: '720px', background: '#F5F8FC', padding: '24px 72px', boxSizing: 'border-box', flexDirection: 'column', fontFamily: 'PingFang SC, Source Han Sans SC, sans-serif' }}&gt;&#10;    &lt;Box style={{ height: 96, flexDirection: 'row', alignItems: 'center', gap: 16 }}&gt;&#10;        &lt;Box style={{ width: 5, height: 46, background: '#06B6D4', borderRadius: 3 }} /&gt;&#10;        &lt;Box&gt;&#10;            &lt;Text style={{ fontSize: 34, fontWeight: 'bold', color: '#1E3A8A', lineHeight: 1.2 }}&gt;DCMM 跃迁 + 三件事&lt;/Text&gt;&#10;            &lt;Text style={{ fontSize: 17, color: '#64748B', marginTop: 4 }}&gt;数据管理能力成熟度：3 级「稳健级」是 AI 项目的及格线&lt;/Text&gt;&#10;        &lt;/Box&gt;&#10;    &lt;/Box&gt;&#10;    &lt;Box style={{ flexDirection: 'row', alignItems: 'center', gap: 10, marginTop: 14 }}&gt;&#10;        {['1 初始级', '2 受管理级', '3 稳健级', '4 量化级', '5 优化级'].map((s, i) =&gt; (&#10;            &lt;Box key={i} style={{ flexDirection: 'row', alignItems: 'center', gap: 10 }}&gt;&#10;                &lt;Box style={{ padding: '10px 18px', background: i === 2 ? '#1E3A8A' : '#FFFFFF', borderRadius: 10, border: '1px solid ' + (i === 2 ? '#1E3A8A' : '#E2E8F0') }}&gt;&#10;                    &lt;Text style={{ fontSize: 16, fontWeight: 'bold', color: i === 2 ? '#FFFFFF' : '#1E3A8A' }}&gt;{s}&lt;/Text&gt;&#10;                &lt;/Box&gt;&#10;                {i &lt; 4 &amp;&amp; &lt;FAIcon name=&quot;arrow-right&quot; style={{ fill: '#06B6D4', width: 14, height: 14 }} /&gt;}&#10;            &lt;/Box&gt;&#10;        ))}&#10;        &lt;Text style={{ fontSize: 14, color: '#64748B', marginLeft: 12 }}&gt;3 级达标：数据质量、安全、标准都有制度有人管&lt;/Text&gt;&#10;    &lt;/Box&gt;&#10;    &lt;Box style={{ flex: 1, flexDirection: 'row', gap: 20, marginTop: 18 }}&gt;&#10;        {three.map((t, i) =&gt; (&#10;            &lt;Box key={i} style={{ flex: 1, background: '#FFFFFF', borderRadius: 16, padding: '24px 24px', border: '1px solid #E2E8F0', boxShadow: '0 4px 16px rgba(30,58,138,0.06)', flexDirection: 'column' }}&gt;&#10;                &lt;Box style={{ width: 60, height: 60, borderRadius: 15, background: i === 2 ? '#FEEFE0' : '#E0F7FA', justifyContent: 'center', alignItems: 'center', marginBottom: 16 }}&gt;&#10;                    &lt;FAIcon name={t.icon} style={{ fill: i === 2 ? '#F59E0B' : '#0891B2', width: 30, height: 30 }} /&gt;&#10;                &lt;/Box&gt;&#10;                &lt;Text style={{ fontSize: 21, fontWeight: 'bold', color: '#1E3A8A', marginBottom: 10 }}&gt;{t.t}&lt;/Text&gt;&#10;                &lt;Text style={{ fontSize: 15, color: '#43566b', lineHeight: 1.75, flex: 1 }}&gt;{t.d}&lt;/Text&gt;&#10;            &lt;/Box&gt;&#10;        ))}&#10;    &lt;/Box&gt;&#10;    &lt;Box style={{ height: 40, flexDirection: 'row', justifyContent: 'space-between', alignItems: 'center', marginTop: 12 }}&gt;&#10;        &lt;Text style={{ fontSize: 14, color: '#64748B' }}&gt;AI 规划与治理 · 高级&lt;/Text&gt;&#10;        &lt;Text style={{ fontSize: 14, color: '#64748B' }}&gt;11 / 24&lt;/Text&gt;&#10;    &lt;/Box&gt;&#10;&lt;/Slide&gt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5F8FC"/>
          </a:solidFill>
          <a:ln/>
        </p:spPr>
        <p:txBody>
          <a:bodyPr/>
          <a:p/>
        </p:txBody>
      </p:sp>
      <p:sp>
        <p:nvSpPr>
          <p:cNvPr id="28" name=""/>
          <p:cNvSpPr/>
          <p:nvPr/>
        </p:nvSpPr>
        <p:spPr>
          <a:xfrm rot="0" flipH="0" flipV="0">
            <a:off x="685800" y="466725"/>
            <a:ext cx="47625" cy="438150"/>
          </a:xfrm>
          <a:prstGeom prst="roundRect">
            <a:avLst>
              <a:gd name="adj" fmla="val 60000"/>
            </a:avLst>
          </a:prstGeom>
          <a:solidFill>
            <a:srgbClr val="06B6D4"/>
          </a:solidFill>
          <a:ln/>
        </p:spPr>
        <p:txBody>
          <a:bodyPr/>
          <a:p/>
        </p:txBody>
      </p:sp>
      <p:sp>
        <p:nvSpPr>
          <p:cNvPr id="29" name="" descr="{&quot;isTemplate&quot;:true,&quot;type&quot;:&quot;text&quot;}"/>
          <p:cNvSpPr txBox="1"/>
          <p:nvPr/>
        </p:nvSpPr>
        <p:spPr>
          <a:xfrm rot="0" flipH="0" flipV="0">
            <a:off x="885825" y="333375"/>
            <a:ext cx="4133850" cy="466725"/>
          </a:xfrm>
          <a:prstGeom prst="rect"/>
        </p:spPr>
        <p:txBody>
          <a:bodyPr wrap="none" lIns="0" tIns="0" rIns="0" bIns="0"/>
          <a:p>
            <a:pPr>
              <a:lnSpc>
                <a:spcPct val="120000"/>
              </a:lnSpc>
            </a:pPr>
            <a:r>
              <a:rPr lang="en-US" sz="2550" b="1">
                <a:solidFill>
                  <a:srgbClr val="1E3A8A"/>
                </a:solidFill>
                <a:latin typeface="PingFang SC"/>
                <a:ea typeface="PingFang SC"/>
              </a:rPr>
              <a:t>DCMM </a:t>
            </a:r>
            <a:r>
              <a:rPr lang="zh-CN" sz="2550" b="1">
                <a:solidFill>
                  <a:srgbClr val="1E3A8A"/>
                </a:solidFill>
                <a:latin typeface="PingFang SC"/>
                <a:ea typeface="PingFang SC"/>
              </a:rPr>
              <a:t>跃迁</a:t>
            </a:r>
            <a:r>
              <a:rPr lang="en-US" sz="2550" b="1">
                <a:solidFill>
                  <a:srgbClr val="1E3A8A"/>
                </a:solidFill>
                <a:latin typeface="PingFang SC"/>
                <a:ea typeface="PingFang SC"/>
              </a:rPr>
              <a:t> + </a:t>
            </a:r>
            <a:r>
              <a:rPr lang="zh-CN" sz="2550" b="1">
                <a:solidFill>
                  <a:srgbClr val="1E3A8A"/>
                </a:solidFill>
                <a:latin typeface="PingFang SC"/>
                <a:ea typeface="PingFang SC"/>
              </a:rPr>
              <a:t>三件事</a:t>
            </a:r>
            <a:endParaRPr/>
          </a:p>
        </p:txBody>
      </p:sp>
      <p:sp>
        <p:nvSpPr>
          <p:cNvPr id="30" name="" descr="{&quot;isTemplate&quot;:true,&quot;type&quot;:&quot;text&quot;}"/>
          <p:cNvSpPr txBox="1"/>
          <p:nvPr/>
        </p:nvSpPr>
        <p:spPr>
          <a:xfrm rot="0" flipH="0" flipV="0">
            <a:off x="885825" y="838200"/>
            <a:ext cx="413385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>
                <a:solidFill>
                  <a:srgbClr val="64748B"/>
                </a:solidFill>
                <a:latin typeface="PingFang SC"/>
                <a:ea typeface="PingFang SC"/>
              </a:rPr>
              <a:t>数据管理能力成熟度：</a:t>
            </a:r>
            <a:r>
              <a:rPr lang="en-US" sz="1275">
                <a:solidFill>
                  <a:srgbClr val="64748B"/>
                </a:solidFill>
                <a:latin typeface="PingFang SC"/>
                <a:ea typeface="PingFang SC"/>
              </a:rPr>
              <a:t>3 </a:t>
            </a:r>
            <a:r>
              <a:rPr lang="zh-CN" sz="1275">
                <a:solidFill>
                  <a:srgbClr val="64748B"/>
                </a:solidFill>
                <a:latin typeface="PingFang SC"/>
                <a:ea typeface="PingFang SC"/>
              </a:rPr>
              <a:t>级「稳健级」是</a:t>
            </a:r>
            <a:r>
              <a:rPr lang="en-US" sz="1275">
                <a:solidFill>
                  <a:srgbClr val="64748B"/>
                </a:solidFill>
                <a:latin typeface="PingFang SC"/>
                <a:ea typeface="PingFang SC"/>
              </a:rPr>
              <a:t> AI </a:t>
            </a:r>
            <a:r>
              <a:rPr lang="zh-CN" sz="1275">
                <a:solidFill>
                  <a:srgbClr val="64748B"/>
                </a:solidFill>
                <a:latin typeface="PingFang SC"/>
                <a:ea typeface="PingFang SC"/>
              </a:rPr>
              <a:t>项目的及格线</a:t>
            </a:r>
            <a:endParaRPr/>
          </a:p>
        </p:txBody>
      </p:sp>
      <p:sp>
        <p:nvSpPr>
          <p:cNvPr id="31" name=""/>
          <p:cNvSpPr/>
          <p:nvPr/>
        </p:nvSpPr>
        <p:spPr>
          <a:xfrm rot="0" flipH="0" flipV="0">
            <a:off x="685800" y="1276350"/>
            <a:ext cx="914400" cy="3810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p/>
        </p:txBody>
      </p:sp>
      <p:sp>
        <p:nvSpPr>
          <p:cNvPr id="32" name="" descr="{&quot;isTemplate&quot;:true,&quot;type&quot;:&quot;text&quot;}"/>
          <p:cNvSpPr txBox="1"/>
          <p:nvPr/>
        </p:nvSpPr>
        <p:spPr>
          <a:xfrm rot="0" flipH="0" flipV="0">
            <a:off x="857250" y="1371600"/>
            <a:ext cx="5715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00" b="1">
                <a:solidFill>
                  <a:srgbClr val="1E3A8A"/>
                </a:solidFill>
                <a:latin typeface="PingFang SC"/>
                <a:ea typeface="PingFang SC"/>
              </a:rPr>
              <a:t>1 </a:t>
            </a:r>
            <a:r>
              <a:rPr lang="zh-CN" sz="1200" b="1">
                <a:solidFill>
                  <a:srgbClr val="1E3A8A"/>
                </a:solidFill>
                <a:latin typeface="PingFang SC"/>
                <a:ea typeface="PingFang SC"/>
              </a:rPr>
              <a:t>初始级</a:t>
            </a:r>
            <a:endParaRPr/>
          </a:p>
        </p:txBody>
      </p:sp>
      <p:pic>
        <p:nvPicPr>
          <p:cNvPr id="33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1"/>
              </a:ext>
            </a:extLst>
          </a:blip>
          <a:stretch>
            <a:fillRect/>
          </a:stretch>
        </p:blipFill>
        <p:spPr>
          <a:xfrm rot="0" flipH="0" flipV="0">
            <a:off x="1695450" y="1400175"/>
            <a:ext cx="133350" cy="133350"/>
          </a:xfrm>
          <a:prstGeom prst="rect">
            <a:avLst/>
          </a:prstGeom>
          <a:ln/>
        </p:spPr>
      </p:pic>
      <p:sp>
        <p:nvSpPr>
          <p:cNvPr id="34" name=""/>
          <p:cNvSpPr/>
          <p:nvPr/>
        </p:nvSpPr>
        <p:spPr>
          <a:xfrm rot="0" flipH="0" flipV="0">
            <a:off x="1924050" y="1276350"/>
            <a:ext cx="1095375" cy="3810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p/>
        </p:txBody>
      </p:sp>
      <p:sp>
        <p:nvSpPr>
          <p:cNvPr id="35" name="" descr="{&quot;isTemplate&quot;:true,&quot;type&quot;:&quot;text&quot;}"/>
          <p:cNvSpPr txBox="1"/>
          <p:nvPr/>
        </p:nvSpPr>
        <p:spPr>
          <a:xfrm rot="0" flipH="0" flipV="0">
            <a:off x="2095500" y="1371600"/>
            <a:ext cx="752475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00" b="1">
                <a:solidFill>
                  <a:srgbClr val="1E3A8A"/>
                </a:solidFill>
                <a:latin typeface="PingFang SC"/>
                <a:ea typeface="PingFang SC"/>
              </a:rPr>
              <a:t>2 </a:t>
            </a:r>
            <a:r>
              <a:rPr lang="zh-CN" sz="1200" b="1">
                <a:solidFill>
                  <a:srgbClr val="1E3A8A"/>
                </a:solidFill>
                <a:latin typeface="PingFang SC"/>
                <a:ea typeface="PingFang SC"/>
              </a:rPr>
              <a:t>受管理级</a:t>
            </a:r>
            <a:endParaRPr/>
          </a:p>
        </p:txBody>
      </p:sp>
      <p:pic>
        <p:nvPicPr>
          <p:cNvPr id="36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1"/>
              </a:ext>
            </a:extLst>
          </a:blip>
          <a:stretch>
            <a:fillRect/>
          </a:stretch>
        </p:blipFill>
        <p:spPr>
          <a:xfrm rot="0" flipH="0" flipV="0">
            <a:off x="3114675" y="1400175"/>
            <a:ext cx="133350" cy="133350"/>
          </a:xfrm>
          <a:prstGeom prst="rect">
            <a:avLst/>
          </a:prstGeom>
          <a:ln/>
        </p:spPr>
      </p:pic>
      <p:sp>
        <p:nvSpPr>
          <p:cNvPr id="37" name=""/>
          <p:cNvSpPr/>
          <p:nvPr/>
        </p:nvSpPr>
        <p:spPr>
          <a:xfrm rot="0" flipH="0" flipV="0">
            <a:off x="3343275" y="1276350"/>
            <a:ext cx="942975" cy="381000"/>
          </a:xfrm>
          <a:prstGeom prst="roundRect">
            <a:avLst>
              <a:gd name="adj" fmla="val 25000"/>
            </a:avLst>
          </a:prstGeom>
          <a:solidFill>
            <a:srgbClr val="1E3A8A"/>
          </a:solidFill>
          <a:ln w="12700">
            <a:solidFill>
              <a:srgbClr val="1E3A8A"/>
            </a:solidFill>
            <a:prstDash val="solid"/>
          </a:ln>
        </p:spPr>
        <p:txBody>
          <a:bodyPr/>
          <a:p/>
        </p:txBody>
      </p:sp>
      <p:sp>
        <p:nvSpPr>
          <p:cNvPr id="38" name="" descr="{&quot;isTemplate&quot;:true,&quot;type&quot;:&quot;text&quot;}"/>
          <p:cNvSpPr txBox="1"/>
          <p:nvPr/>
        </p:nvSpPr>
        <p:spPr>
          <a:xfrm rot="0" flipH="0" flipV="0">
            <a:off x="3514725" y="1371600"/>
            <a:ext cx="600075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00" b="1">
                <a:solidFill>
                  <a:srgbClr val="FFFFFF"/>
                </a:solidFill>
                <a:latin typeface="PingFang SC"/>
                <a:ea typeface="PingFang SC"/>
              </a:rPr>
              <a:t>3 </a:t>
            </a:r>
            <a:r>
              <a:rPr lang="zh-CN" sz="1200" b="1">
                <a:solidFill>
                  <a:srgbClr val="FFFFFF"/>
                </a:solidFill>
                <a:latin typeface="PingFang SC"/>
                <a:ea typeface="PingFang SC"/>
              </a:rPr>
              <a:t>稳健级</a:t>
            </a:r>
            <a:endParaRPr/>
          </a:p>
        </p:txBody>
      </p:sp>
      <p:pic>
        <p:nvPicPr>
          <p:cNvPr id="39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1"/>
              </a:ext>
            </a:extLst>
          </a:blip>
          <a:stretch>
            <a:fillRect/>
          </a:stretch>
        </p:blipFill>
        <p:spPr>
          <a:xfrm rot="0" flipH="0" flipV="0">
            <a:off x="4381500" y="1400175"/>
            <a:ext cx="133350" cy="133350"/>
          </a:xfrm>
          <a:prstGeom prst="rect">
            <a:avLst/>
          </a:prstGeom>
          <a:ln/>
        </p:spPr>
      </p:pic>
      <p:sp>
        <p:nvSpPr>
          <p:cNvPr id="40" name=""/>
          <p:cNvSpPr/>
          <p:nvPr/>
        </p:nvSpPr>
        <p:spPr>
          <a:xfrm rot="0" flipH="0" flipV="0">
            <a:off x="4610100" y="1276350"/>
            <a:ext cx="942975" cy="3810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p/>
        </p:txBody>
      </p:sp>
      <p:sp>
        <p:nvSpPr>
          <p:cNvPr id="41" name="" descr="{&quot;isTemplate&quot;:true,&quot;type&quot;:&quot;text&quot;}"/>
          <p:cNvSpPr txBox="1"/>
          <p:nvPr/>
        </p:nvSpPr>
        <p:spPr>
          <a:xfrm rot="0" flipH="0" flipV="0">
            <a:off x="4781550" y="1371600"/>
            <a:ext cx="600075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00" b="1">
                <a:solidFill>
                  <a:srgbClr val="1E3A8A"/>
                </a:solidFill>
                <a:latin typeface="PingFang SC"/>
                <a:ea typeface="PingFang SC"/>
              </a:rPr>
              <a:t>4 </a:t>
            </a:r>
            <a:r>
              <a:rPr lang="zh-CN" sz="1200" b="1">
                <a:solidFill>
                  <a:srgbClr val="1E3A8A"/>
                </a:solidFill>
                <a:latin typeface="PingFang SC"/>
                <a:ea typeface="PingFang SC"/>
              </a:rPr>
              <a:t>量化级</a:t>
            </a:r>
            <a:endParaRPr/>
          </a:p>
        </p:txBody>
      </p:sp>
      <p:pic>
        <p:nvPicPr>
          <p:cNvPr id="42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1"/>
              </a:ext>
            </a:extLst>
          </a:blip>
          <a:stretch>
            <a:fillRect/>
          </a:stretch>
        </p:blipFill>
        <p:spPr>
          <a:xfrm rot="0" flipH="0" flipV="0">
            <a:off x="5648325" y="1400175"/>
            <a:ext cx="133350" cy="133350"/>
          </a:xfrm>
          <a:prstGeom prst="rect">
            <a:avLst/>
          </a:prstGeom>
          <a:ln/>
        </p:spPr>
      </p:pic>
      <p:sp>
        <p:nvSpPr>
          <p:cNvPr id="43" name=""/>
          <p:cNvSpPr/>
          <p:nvPr/>
        </p:nvSpPr>
        <p:spPr>
          <a:xfrm rot="0" flipH="0" flipV="0">
            <a:off x="5876925" y="1276350"/>
            <a:ext cx="942975" cy="3810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p/>
        </p:txBody>
      </p:sp>
      <p:sp>
        <p:nvSpPr>
          <p:cNvPr id="44" name="" descr="{&quot;isTemplate&quot;:true,&quot;type&quot;:&quot;text&quot;}"/>
          <p:cNvSpPr txBox="1"/>
          <p:nvPr/>
        </p:nvSpPr>
        <p:spPr>
          <a:xfrm rot="0" flipH="0" flipV="0">
            <a:off x="6048375" y="1371600"/>
            <a:ext cx="600075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00" b="1">
                <a:solidFill>
                  <a:srgbClr val="1E3A8A"/>
                </a:solidFill>
                <a:latin typeface="PingFang SC"/>
                <a:ea typeface="PingFang SC"/>
              </a:rPr>
              <a:t>5 </a:t>
            </a:r>
            <a:r>
              <a:rPr lang="zh-CN" sz="1200" b="1">
                <a:solidFill>
                  <a:srgbClr val="1E3A8A"/>
                </a:solidFill>
                <a:latin typeface="PingFang SC"/>
                <a:ea typeface="PingFang SC"/>
              </a:rPr>
              <a:t>优化级</a:t>
            </a:r>
            <a:endParaRPr/>
          </a:p>
        </p:txBody>
      </p:sp>
      <p:sp>
        <p:nvSpPr>
          <p:cNvPr id="45" name="" descr="{&quot;isTemplate&quot;:true,&quot;type&quot;:&quot;text&quot;}"/>
          <p:cNvSpPr txBox="1"/>
          <p:nvPr/>
        </p:nvSpPr>
        <p:spPr>
          <a:xfrm rot="0" flipH="0" flipV="0">
            <a:off x="7029450" y="1390650"/>
            <a:ext cx="29337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64748B"/>
                </a:solidFill>
                <a:latin typeface="PingFang SC"/>
                <a:ea typeface="PingFang SC"/>
              </a:rPr>
              <a:t>3 </a:t>
            </a:r>
            <a:r>
              <a:rPr lang="zh-CN" sz="1050">
                <a:solidFill>
                  <a:srgbClr val="64748B"/>
                </a:solidFill>
                <a:latin typeface="PingFang SC"/>
                <a:ea typeface="PingFang SC"/>
              </a:rPr>
              <a:t>级达标：数据质量、安全、标准都有制度有人管</a:t>
            </a:r>
            <a:endParaRPr/>
          </a:p>
        </p:txBody>
      </p:sp>
      <p:sp>
        <p:nvSpPr>
          <p:cNvPr id="46" name=""/>
          <p:cNvSpPr/>
          <p:nvPr/>
        </p:nvSpPr>
        <p:spPr>
          <a:xfrm rot="0" flipH="0" flipV="0">
            <a:off x="685800" y="1828800"/>
            <a:ext cx="3476625" cy="4305300"/>
          </a:xfrm>
          <a:prstGeom prst="roundRect">
            <a:avLst>
              <a:gd name="adj" fmla="val 4384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52400" dist="38100" dir="5400000">
              <a:srgbClr val="1E3A8A">
                <a:alpha val="6000"/>
              </a:srgbClr>
            </a:outerShdw>
          </a:effectLst>
        </p:spPr>
        <p:txBody>
          <a:bodyPr/>
          <a:p/>
        </p:txBody>
      </p:sp>
      <p:sp>
        <p:nvSpPr>
          <p:cNvPr id="47" name=""/>
          <p:cNvSpPr/>
          <p:nvPr/>
        </p:nvSpPr>
        <p:spPr>
          <a:xfrm rot="0" flipH="0" flipV="0">
            <a:off x="914400" y="2057400"/>
            <a:ext cx="571500" cy="571500"/>
          </a:xfrm>
          <a:prstGeom prst="roundRect">
            <a:avLst>
              <a:gd name="adj" fmla="val 25000"/>
            </a:avLst>
          </a:prstGeom>
          <a:solidFill>
            <a:srgbClr val="E0F7FA"/>
          </a:solidFill>
          <a:ln/>
        </p:spPr>
        <p:txBody>
          <a:bodyPr/>
          <a:p/>
        </p:txBody>
      </p:sp>
      <p:pic>
        <p:nvPicPr>
          <p:cNvPr id="48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2"/>
              </a:ext>
            </a:extLst>
          </a:blip>
          <a:stretch>
            <a:fillRect/>
          </a:stretch>
        </p:blipFill>
        <p:spPr>
          <a:xfrm rot="0" flipH="0" flipV="0">
            <a:off x="1057275" y="2200275"/>
            <a:ext cx="285750" cy="285750"/>
          </a:xfrm>
          <a:prstGeom prst="rect">
            <a:avLst/>
          </a:prstGeom>
          <a:ln/>
        </p:spPr>
      </p:pic>
      <p:sp>
        <p:nvSpPr>
          <p:cNvPr id="49" name="" descr="{&quot;isTemplate&quot;:true,&quot;type&quot;:&quot;text&quot;}"/>
          <p:cNvSpPr txBox="1"/>
          <p:nvPr/>
        </p:nvSpPr>
        <p:spPr>
          <a:xfrm rot="0" flipH="0" flipV="0">
            <a:off x="914400" y="2781300"/>
            <a:ext cx="3019425" cy="2476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75" b="1">
                <a:solidFill>
                  <a:srgbClr val="1E3A8A"/>
                </a:solidFill>
                <a:latin typeface="PingFang SC"/>
                <a:ea typeface="PingFang SC"/>
              </a:rPr>
              <a:t>分类分级</a:t>
            </a:r>
            <a:endParaRPr/>
          </a:p>
        </p:txBody>
      </p:sp>
      <p:sp>
        <p:nvSpPr>
          <p:cNvPr id="50" name="" descr="{&quot;isTemplate&quot;:true,&quot;type&quot;:&quot;text&quot;}"/>
          <p:cNvSpPr txBox="1"/>
          <p:nvPr/>
        </p:nvSpPr>
        <p:spPr>
          <a:xfrm rot="0" flipH="0" flipV="0">
            <a:off x="914400" y="3124200"/>
            <a:ext cx="3019425" cy="278130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75000"/>
              </a:lnSpc>
            </a:pPr>
            <a:r>
              <a:rPr lang="zh-CN" sz="1125">
                <a:solidFill>
                  <a:srgbClr val="43566B"/>
                </a:solidFill>
                <a:latin typeface="PingFang SC"/>
                <a:ea typeface="PingFang SC"/>
              </a:rPr>
              <a:t>数据按敏感级划分：公开</a:t>
            </a:r>
            <a:r>
              <a:rPr lang="en-US" sz="1125">
                <a:solidFill>
                  <a:srgbClr val="43566B"/>
                </a:solidFill>
                <a:latin typeface="PingFang SC"/>
                <a:ea typeface="PingFang SC"/>
              </a:rPr>
              <a:t> / </a:t>
            </a:r>
            <a:r>
              <a:rPr lang="zh-CN" sz="1125">
                <a:solidFill>
                  <a:srgbClr val="43566B"/>
                </a:solidFill>
                <a:latin typeface="PingFang SC"/>
                <a:ea typeface="PingFang SC"/>
              </a:rPr>
              <a:t>内部</a:t>
            </a:r>
            <a:r>
              <a:rPr lang="en-US" sz="1125">
                <a:solidFill>
                  <a:srgbClr val="43566B"/>
                </a:solidFill>
                <a:latin typeface="PingFang SC"/>
                <a:ea typeface="PingFang SC"/>
              </a:rPr>
              <a:t> / </a:t>
            </a:r>
            <a:r>
              <a:rPr lang="zh-CN" sz="1125">
                <a:solidFill>
                  <a:srgbClr val="43566B"/>
                </a:solidFill>
                <a:latin typeface="PingFang SC"/>
                <a:ea typeface="PingFang SC"/>
              </a:rPr>
              <a:t>敏感</a:t>
            </a:r>
            <a:r>
              <a:rPr lang="en-US" sz="1125">
                <a:solidFill>
                  <a:srgbClr val="43566B"/>
                </a:solidFill>
                <a:latin typeface="PingFang SC"/>
                <a:ea typeface="PingFang SC"/>
              </a:rPr>
              <a:t> / </a:t>
            </a:r>
            <a:r>
              <a:rPr lang="zh-CN" sz="1125">
                <a:solidFill>
                  <a:srgbClr val="43566B"/>
                </a:solidFill>
                <a:latin typeface="PingFang SC"/>
                <a:ea typeface="PingFang SC"/>
              </a:rPr>
              <a:t>核心</a:t>
            </a:r>
            <a:r>
              <a:rPr lang="en-US" sz="1125">
                <a:solidFill>
                  <a:srgbClr val="43566B"/>
                </a:solidFill>
                <a:latin typeface="PingFang SC"/>
                <a:ea typeface="PingFang SC"/>
              </a:rPr>
              <a:t> —— </a:t>
            </a:r>
            <a:r>
              <a:rPr lang="zh-CN" sz="1125">
                <a:solidFill>
                  <a:srgbClr val="43566B"/>
                </a:solidFill>
                <a:latin typeface="PingFang SC"/>
                <a:ea typeface="PingFang SC"/>
              </a:rPr>
              <a:t>不同级别不同权限、不同存储、不同出网策略。这是</a:t>
            </a:r>
            <a:r>
              <a:rPr lang="en-US" sz="1125">
                <a:solidFill>
                  <a:srgbClr val="43566B"/>
                </a:solidFill>
                <a:latin typeface="PingFang SC"/>
                <a:ea typeface="PingFang SC"/>
              </a:rPr>
              <a:t> H6 </a:t>
            </a:r>
            <a:r>
              <a:rPr lang="zh-CN" sz="1125">
                <a:solidFill>
                  <a:srgbClr val="43566B"/>
                </a:solidFill>
                <a:latin typeface="PingFang SC"/>
                <a:ea typeface="PingFang SC"/>
              </a:rPr>
              <a:t>合规的地基。</a:t>
            </a:r>
            <a:endParaRPr/>
          </a:p>
        </p:txBody>
      </p:sp>
      <p:sp>
        <p:nvSpPr>
          <p:cNvPr id="51" name=""/>
          <p:cNvSpPr/>
          <p:nvPr/>
        </p:nvSpPr>
        <p:spPr>
          <a:xfrm rot="0" flipH="0" flipV="0">
            <a:off x="4352925" y="1828800"/>
            <a:ext cx="3486150" cy="4305300"/>
          </a:xfrm>
          <a:prstGeom prst="roundRect">
            <a:avLst>
              <a:gd name="adj" fmla="val 4372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52400" dist="38100" dir="5400000">
              <a:srgbClr val="1E3A8A">
                <a:alpha val="6000"/>
              </a:srgbClr>
            </a:outerShdw>
          </a:effectLst>
        </p:spPr>
        <p:txBody>
          <a:bodyPr/>
          <a:p/>
        </p:txBody>
      </p:sp>
      <p:sp>
        <p:nvSpPr>
          <p:cNvPr id="52" name=""/>
          <p:cNvSpPr/>
          <p:nvPr/>
        </p:nvSpPr>
        <p:spPr>
          <a:xfrm rot="0" flipH="0" flipV="0">
            <a:off x="4581525" y="2057400"/>
            <a:ext cx="571500" cy="571500"/>
          </a:xfrm>
          <a:prstGeom prst="roundRect">
            <a:avLst>
              <a:gd name="adj" fmla="val 25000"/>
            </a:avLst>
          </a:prstGeom>
          <a:solidFill>
            <a:srgbClr val="E0F7FA"/>
          </a:solidFill>
          <a:ln/>
        </p:spPr>
        <p:txBody>
          <a:bodyPr/>
          <a:p/>
        </p:txBody>
      </p:sp>
      <p:pic>
        <p:nvPicPr>
          <p:cNvPr id="53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3"/>
              </a:ext>
            </a:extLst>
          </a:blip>
          <a:stretch>
            <a:fillRect/>
          </a:stretch>
        </p:blipFill>
        <p:spPr>
          <a:xfrm rot="0" flipH="0" flipV="0">
            <a:off x="4724400" y="2200275"/>
            <a:ext cx="285750" cy="285750"/>
          </a:xfrm>
          <a:prstGeom prst="rect">
            <a:avLst/>
          </a:prstGeom>
          <a:ln/>
        </p:spPr>
      </p:pic>
      <p:sp>
        <p:nvSpPr>
          <p:cNvPr id="54" name="" descr="{&quot;isTemplate&quot;:true,&quot;type&quot;:&quot;text&quot;}"/>
          <p:cNvSpPr txBox="1"/>
          <p:nvPr/>
        </p:nvSpPr>
        <p:spPr>
          <a:xfrm rot="0" flipH="0" flipV="0">
            <a:off x="4581525" y="2781300"/>
            <a:ext cx="3028950" cy="2476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75" b="1">
                <a:solidFill>
                  <a:srgbClr val="1E3A8A"/>
                </a:solidFill>
                <a:latin typeface="PingFang SC"/>
                <a:ea typeface="PingFang SC"/>
              </a:rPr>
              <a:t>主数据</a:t>
            </a:r>
            <a:endParaRPr/>
          </a:p>
        </p:txBody>
      </p:sp>
      <p:sp>
        <p:nvSpPr>
          <p:cNvPr id="55" name="" descr="{&quot;isTemplate&quot;:true,&quot;type&quot;:&quot;text&quot;}"/>
          <p:cNvSpPr txBox="1"/>
          <p:nvPr/>
        </p:nvSpPr>
        <p:spPr>
          <a:xfrm rot="0" flipH="0" flipV="0">
            <a:off x="4581525" y="3124200"/>
            <a:ext cx="3028950" cy="278130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75000"/>
              </a:lnSpc>
            </a:pPr>
            <a:r>
              <a:rPr lang="zh-CN" sz="1125">
                <a:solidFill>
                  <a:srgbClr val="43566B"/>
                </a:solidFill>
                <a:latin typeface="PingFang SC"/>
                <a:ea typeface="PingFang SC"/>
              </a:rPr>
              <a:t>资源、主数据、系统台账「一个事实只有一个源头」。主数据不统一，AI 读到的全是互相打架的账。</a:t>
            </a:r>
            <a:r>
              <a:rPr lang="en-US" sz="1125">
                <a:solidFill>
                  <a:srgbClr val="43566B"/>
                </a:solidFill>
                <a:latin typeface="PingFang SC"/>
                <a:ea typeface="PingFang SC"/>
              </a:rPr>
              <a:t/>
            </a:r>
            <a:r>
              <a:rPr lang="zh-CN" sz="1125">
                <a:solidFill>
                  <a:srgbClr val="43566B"/>
                </a:solidFill>
                <a:latin typeface="PingFang SC"/>
                <a:ea typeface="PingFang SC"/>
              </a:rPr>
              <a:t/>
            </a:r>
            <a:r>
              <a:rPr lang="en-US" sz="1125">
                <a:solidFill>
                  <a:srgbClr val="43566B"/>
                </a:solidFill>
                <a:latin typeface="PingFang SC"/>
                <a:ea typeface="PingFang SC"/>
              </a:rPr>
              <a:t/>
            </a:r>
            <a:r>
              <a:rPr lang="zh-CN" sz="1125">
                <a:solidFill>
                  <a:srgbClr val="43566B"/>
                </a:solidFill>
                <a:latin typeface="PingFang SC"/>
                <a:ea typeface="PingFang SC"/>
              </a:rPr>
              <a:t/>
            </a:r>
            <a:endParaRPr/>
          </a:p>
        </p:txBody>
      </p:sp>
      <p:sp>
        <p:nvSpPr>
          <p:cNvPr id="56" name=""/>
          <p:cNvSpPr/>
          <p:nvPr/>
        </p:nvSpPr>
        <p:spPr>
          <a:xfrm rot="0" flipH="0" flipV="0">
            <a:off x="8029575" y="1828800"/>
            <a:ext cx="3476625" cy="4305300"/>
          </a:xfrm>
          <a:prstGeom prst="roundRect">
            <a:avLst>
              <a:gd name="adj" fmla="val 4384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52400" dist="38100" dir="5400000">
              <a:srgbClr val="1E3A8A">
                <a:alpha val="6000"/>
              </a:srgbClr>
            </a:outerShdw>
          </a:effectLst>
        </p:spPr>
        <p:txBody>
          <a:bodyPr/>
          <a:p/>
        </p:txBody>
      </p:sp>
      <p:sp>
        <p:nvSpPr>
          <p:cNvPr id="57" name=""/>
          <p:cNvSpPr/>
          <p:nvPr/>
        </p:nvSpPr>
        <p:spPr>
          <a:xfrm rot="0" flipH="0" flipV="0">
            <a:off x="8258175" y="2057400"/>
            <a:ext cx="571500" cy="571500"/>
          </a:xfrm>
          <a:prstGeom prst="roundRect">
            <a:avLst>
              <a:gd name="adj" fmla="val 25000"/>
            </a:avLst>
          </a:prstGeom>
          <a:solidFill>
            <a:srgbClr val="FEEFE0"/>
          </a:solidFill>
          <a:ln/>
        </p:spPr>
        <p:txBody>
          <a:bodyPr/>
          <a:p/>
        </p:txBody>
      </p:sp>
      <p:pic>
        <p:nvPicPr>
          <p:cNvPr id="58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4"/>
              </a:ext>
            </a:extLst>
          </a:blip>
          <a:stretch>
            <a:fillRect/>
          </a:stretch>
        </p:blipFill>
        <p:spPr>
          <a:xfrm rot="0" flipH="0" flipV="0">
            <a:off x="8401050" y="2200275"/>
            <a:ext cx="285750" cy="285750"/>
          </a:xfrm>
          <a:prstGeom prst="rect">
            <a:avLst/>
          </a:prstGeom>
          <a:ln/>
        </p:spPr>
      </p:pic>
      <p:sp>
        <p:nvSpPr>
          <p:cNvPr id="59" name="" descr="{&quot;isTemplate&quot;:true,&quot;type&quot;:&quot;text&quot;}"/>
          <p:cNvSpPr txBox="1"/>
          <p:nvPr/>
        </p:nvSpPr>
        <p:spPr>
          <a:xfrm rot="0" flipH="0" flipV="0">
            <a:off x="8258175" y="2781300"/>
            <a:ext cx="3019425" cy="2476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75" b="1">
                <a:solidFill>
                  <a:srgbClr val="1E3A8A"/>
                </a:solidFill>
                <a:latin typeface="PingFang SC"/>
                <a:ea typeface="PingFang SC"/>
              </a:rPr>
              <a:t>资产入表</a:t>
            </a:r>
            <a:endParaRPr/>
          </a:p>
        </p:txBody>
      </p:sp>
      <p:sp>
        <p:nvSpPr>
          <p:cNvPr id="60" name="" descr="{&quot;isTemplate&quot;:true,&quot;type&quot;:&quot;text&quot;}"/>
          <p:cNvSpPr txBox="1"/>
          <p:nvPr/>
        </p:nvSpPr>
        <p:spPr>
          <a:xfrm rot="0" flipH="0" flipV="0">
            <a:off x="8258175" y="3124200"/>
            <a:ext cx="3019425" cy="278130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75000"/>
              </a:lnSpc>
            </a:pPr>
            <a:r>
              <a:rPr lang="zh-CN" sz="1125">
                <a:solidFill>
                  <a:srgbClr val="43566B"/>
                </a:solidFill>
                <a:latin typeface="PingFang SC"/>
                <a:ea typeface="PingFang SC"/>
              </a:rPr>
              <a:t>数据资产进入资产负债表：可盘点、可估值、可抵押</a:t>
            </a:r>
            <a:r>
              <a:rPr lang="en-US" sz="1125">
                <a:solidFill>
                  <a:srgbClr val="43566B"/>
                </a:solidFill>
                <a:latin typeface="PingFang SC"/>
                <a:ea typeface="PingFang SC"/>
              </a:rPr>
              <a:t> —— </a:t>
            </a:r>
            <a:r>
              <a:rPr lang="zh-CN" sz="1125">
                <a:solidFill>
                  <a:srgbClr val="43566B"/>
                </a:solidFill>
                <a:latin typeface="PingFang SC"/>
                <a:ea typeface="PingFang SC"/>
              </a:rPr>
              <a:t>数据从成本项变成资产项，董事会才看得懂。</a:t>
            </a:r>
            <a:endParaRPr/>
          </a:p>
        </p:txBody>
      </p:sp>
      <p:sp>
        <p:nvSpPr>
          <p:cNvPr id="61" name="" descr="{&quot;isTemplate&quot;:true,&quot;type&quot;:&quot;text&quot;}"/>
          <p:cNvSpPr txBox="1"/>
          <p:nvPr/>
        </p:nvSpPr>
        <p:spPr>
          <a:xfrm rot="0" flipH="0" flipV="0">
            <a:off x="685800" y="6362700"/>
            <a:ext cx="12573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64748B"/>
                </a:solidFill>
                <a:latin typeface="PingFang SC"/>
                <a:ea typeface="PingFang SC"/>
              </a:rPr>
              <a:t>AI </a:t>
            </a:r>
            <a:r>
              <a:rPr lang="zh-CN" sz="1050">
                <a:solidFill>
                  <a:srgbClr val="64748B"/>
                </a:solidFill>
                <a:latin typeface="PingFang SC"/>
                <a:ea typeface="PingFang SC"/>
              </a:rPr>
              <a:t>规划与治理</a:t>
            </a:r>
            <a:r>
              <a:rPr lang="en-US" sz="1050">
                <a:solidFill>
                  <a:srgbClr val="64748B"/>
                </a:solidFill>
                <a:latin typeface="PingFang SC"/>
                <a:ea typeface="PingFang SC"/>
              </a:rPr>
              <a:t> · </a:t>
            </a:r>
            <a:r>
              <a:rPr lang="zh-CN" sz="1050">
                <a:solidFill>
                  <a:srgbClr val="64748B"/>
                </a:solidFill>
                <a:latin typeface="PingFang SC"/>
                <a:ea typeface="PingFang SC"/>
              </a:rPr>
              <a:t>高级</a:t>
            </a:r>
            <a:endParaRPr/>
          </a:p>
        </p:txBody>
      </p:sp>
      <p:sp>
        <p:nvSpPr>
          <p:cNvPr id="62" name="" descr="{&quot;isTemplate&quot;:true,&quot;type&quot;:&quot;text&quot;}"/>
          <p:cNvSpPr txBox="1"/>
          <p:nvPr/>
        </p:nvSpPr>
        <p:spPr>
          <a:xfrm rot="0" flipH="0" flipV="0">
            <a:off x="11077575" y="6362700"/>
            <a:ext cx="42862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64748B"/>
                </a:solidFill>
                <a:latin typeface="PingFang SC"/>
                <a:ea typeface="PingFang SC"/>
              </a:rPr>
              <a:t>11 / 24</a:t>
            </a:r>
            <a:endParaRPr/>
          </a:p>
        </p:txBody>
      </p:sp>
    </p:spTree>
  </p:cSld>
</p:sld>
</file>

<file path=ppt/slides/slide12.xml><?xml version="1.0" encoding="utf-8"?>
<p:sld xmlns:asvg="http://schemas.microsoft.com/office/drawing/2016/SVG/main" xmlns:a="http://schemas.openxmlformats.org/drawingml/2006/main" xmlns:r="http://schemas.openxmlformats.org/officeDocument/2006/relationships" xmlns:p="http://schemas.openxmlformats.org/presentationml/2006/main" xmlns:mc="http://schemas.openxmlformats.org/markup-compatibility/2006" mc:Ignorable="asvg">
  <p:cSld>
    <p:spTree>
      <p:nvGrpSpPr>
        <p:cNvPr id="63" name="" descr="const cdo = [&#10;    { icon: 'cogs', t: '职责', d: '数据资产与 AI 应用的全生命周期：标准、质量、安全、变现' },&#10;    { icon: 'sitemap', t: '汇报线', d: '直接向 CEO / 厂长汇报，不挂在 IT 下面 —— 数据是业务资产，不是系统附件' },&#10;    { icon: 'handshake', t: '与 CIO 分工', d: 'CIO 管「管道」（系统、网络、安全底座），CDO 管「水流」（数据资产、AI 场景、价值）' },&#10;];&#10;&lt;Slide style={{ width: '1280px', height: '720px', background: '#F5F8FC', padding: '24px 72px', boxSizing: 'border-box', flexDirection: 'column', fontFamily: 'PingFang SC, Source Han Sans SC, sans-serif' }}&gt;&#10;    &lt;Box style={{ height: 96, flexDirection: 'row', alignItems: 'center', gap: 16 }}&gt;&#10;        &lt;Box style={{ width: 5, height: 46, background: '#06B6D4', borderRadius: 3 }} /&gt;&#10;        &lt;Box&gt;&#10;            &lt;Text style={{ fontSize: 34, fontWeight: 'bold', color: '#1E3A8A', lineHeight: 1.2 }}&gt;CDO 怎么设 + 模数共振飞轮&lt;/Text&gt;&#10;            &lt;Text style={{ fontSize: 17, color: '#64748B', marginTop: 4 }}&gt;没有 owner 的数据治理 = 没有治理&lt;/Text&gt;&#10;        &lt;/Box&gt;&#10;    &lt;/Box&gt;&#10;    &lt;Box style={{ flex: 1, flexDirection: 'row', gap: 26, marginTop: 14 }}&gt;&#10;        &lt;Box style={{ flex: 52, flexDirection: 'column', gap: 12 }}&gt;&#10;            {cdo.map((c, i) =&gt; (&#10;                &lt;Box key={i} style={{ flex: 1, background: '#FFFFFF', borderRadius: 14, border: '1px solid #E2E8F0', flexDirection: 'row', alignItems: 'center', gap: 16, padding: '0 22px', boxShadow: '0 3px 12px rgba(30,58,138,0.05)' }}&gt;&#10;                    &lt;Box style={{ width: 50, height: 50, borderRadius: 12, background: '#E0F7FA', justifyContent: 'center', alignItems: 'center' }}&gt;&#10;                        &lt;FAIcon name={c.icon} style={{ fill: '#0891B2', width: 24, height: 24 }} /&gt;&#10;                    &lt;/Box&gt;&#10;                    &lt;Box style={{ width: 110 }}&gt;&#10;                        &lt;Text style={{ fontSize: 19, fontWeight: 'bold', color: '#1E3A8A' }}&gt;{c.t}&lt;/Text&gt;&#10;                    &lt;/Box&gt;&#10;                    &lt;Text style={{ flex: 1, fontSize: 15, color: '#43566b', lineHeight: 1.6 }}&gt;{c.d}&lt;/Text&gt;&#10;                &lt;/Box&gt;&#10;            ))}&#10;        &lt;/Box&gt;&#10;        &lt;Box style={{ flex: 48, background: '#1E3A8A', borderRadius: 18, padding: '26px 30px', flexDirection: 'column', justifyContent: 'center', boxShadow: '0 8px 28px rgba(30,58,138,0.25)' }}&gt;&#10;            &lt;Text style={{ fontSize: 16, color: '#7FD9F0', letterSpacing: 2 }}&gt;「模数共振」飞轮&lt;/Text&gt;&#10;            &lt;Box style={{ flexDirection: 'column', gap: 10, marginTop: 18 }}&gt;&#10;                {[&#10;                    ['模型越多', '场景越广、调用越频繁'],&#10;                    ['数据越准', '反馈越多、质量越高'],&#10;                    ['模型越强', '用户越多、再产生更多数据'],&#10;                ].map((f, i) =&gt; (&#10;                    &lt;Box key={i} style={{ flexDirection: 'row', alignItems: 'center', gap: 12, padding: '10px 18px', background: 'rgba(6,182,212,0.15)', borderRadius: 10, border: '1px solid rgba(6,182,212,0.45)' }}&gt;&#10;                        &lt;Text style={{ fontSize: 18, fontWeight: 'bold', color: '#F8C471', width: 90 }}&gt;{f[0]}&lt;/Text&gt;&#10;                        &lt;Text style={{ flex: 1, fontSize: 14, color: '#DCE9FB' }}&gt;{f[1]}&lt;/Text&gt;&#10;                        &lt;FAIcon name=&quot;redo&quot; style={{ fill: '#7FD9F0', width: 16, height: 16 }} /&gt;&#10;                    &lt;/Box&gt;&#10;                ))}&#10;            &lt;/Box&gt;&#10;            &lt;Text style={{ fontSize: 15, color: '#A9C4E8', marginTop: 'auto', paddingTop: 16, lineHeight: 1.7 }}&gt;飞轮转起来的工厂，AI 是越用越便宜；转不起来的，是越用越贵。&lt;br /&gt;&lt;span style={{ fontWeight: 'bold', color: '#F8C471' }}&gt;CDO 的核心 KPI：飞轮转速，不是项目数量。&lt;/span&gt;&lt;/Text&gt;&#10;        &lt;/Box&gt;&#10;    &lt;/Box&gt;&#10;    &lt;Box style={{ height: 40, flexDirection: 'row', justifyContent: 'space-between', alignItems: 'center', marginTop: 10 }}&gt;&#10;        &lt;Text style={{ fontSize: 14, color: '#64748B' }}&gt;AI 规划与治理 · 高级&lt;/Text&gt;&#10;        &lt;Text style={{ fontSize: 14, color: '#64748B' }}&gt;12 / 24&lt;/Text&gt;&#10;    &lt;/Box&gt;&#10;&lt;/Slide&gt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5F8FC"/>
          </a:solidFill>
          <a:ln/>
        </p:spPr>
        <p:txBody>
          <a:bodyPr/>
          <a:p/>
        </p:txBody>
      </p:sp>
      <p:sp>
        <p:nvSpPr>
          <p:cNvPr id="65" name=""/>
          <p:cNvSpPr/>
          <p:nvPr/>
        </p:nvSpPr>
        <p:spPr>
          <a:xfrm rot="0" flipH="0" flipV="0">
            <a:off x="685800" y="466725"/>
            <a:ext cx="47625" cy="438150"/>
          </a:xfrm>
          <a:prstGeom prst="roundRect">
            <a:avLst>
              <a:gd name="adj" fmla="val 60000"/>
            </a:avLst>
          </a:prstGeom>
          <a:solidFill>
            <a:srgbClr val="06B6D4"/>
          </a:solidFill>
          <a:ln/>
        </p:spPr>
        <p:txBody>
          <a:bodyPr/>
          <a:p/>
        </p:txBody>
      </p:sp>
      <p:sp>
        <p:nvSpPr>
          <p:cNvPr id="66" name="" descr="{&quot;isTemplate&quot;:true,&quot;type&quot;:&quot;text&quot;}"/>
          <p:cNvSpPr txBox="1"/>
          <p:nvPr/>
        </p:nvSpPr>
        <p:spPr>
          <a:xfrm rot="0" flipH="0" flipV="0">
            <a:off x="885825" y="333375"/>
            <a:ext cx="4162425" cy="466725"/>
          </a:xfrm>
          <a:prstGeom prst="rect"/>
        </p:spPr>
        <p:txBody>
          <a:bodyPr wrap="none" lIns="0" tIns="0" rIns="0" bIns="0"/>
          <a:p>
            <a:pPr>
              <a:lnSpc>
                <a:spcPct val="120000"/>
              </a:lnSpc>
            </a:pPr>
            <a:r>
              <a:rPr lang="en-US" sz="2550" b="1">
                <a:solidFill>
                  <a:srgbClr val="1E3A8A"/>
                </a:solidFill>
                <a:latin typeface="PingFang SC"/>
                <a:ea typeface="PingFang SC"/>
              </a:rPr>
              <a:t>CDO </a:t>
            </a:r>
            <a:r>
              <a:rPr lang="zh-CN" sz="2550" b="1">
                <a:solidFill>
                  <a:srgbClr val="1E3A8A"/>
                </a:solidFill>
                <a:latin typeface="PingFang SC"/>
                <a:ea typeface="PingFang SC"/>
              </a:rPr>
              <a:t>怎么设</a:t>
            </a:r>
            <a:r>
              <a:rPr lang="en-US" sz="2550" b="1">
                <a:solidFill>
                  <a:srgbClr val="1E3A8A"/>
                </a:solidFill>
                <a:latin typeface="PingFang SC"/>
                <a:ea typeface="PingFang SC"/>
              </a:rPr>
              <a:t> + </a:t>
            </a:r>
            <a:r>
              <a:rPr lang="zh-CN" sz="2550" b="1">
                <a:solidFill>
                  <a:srgbClr val="1E3A8A"/>
                </a:solidFill>
                <a:latin typeface="PingFang SC"/>
                <a:ea typeface="PingFang SC"/>
              </a:rPr>
              <a:t>模数共振飞轮</a:t>
            </a:r>
            <a:endParaRPr/>
          </a:p>
        </p:txBody>
      </p:sp>
      <p:sp>
        <p:nvSpPr>
          <p:cNvPr id="67" name="" descr="{&quot;isTemplate&quot;:true,&quot;type&quot;:&quot;text&quot;}"/>
          <p:cNvSpPr txBox="1"/>
          <p:nvPr/>
        </p:nvSpPr>
        <p:spPr>
          <a:xfrm rot="0" flipH="0" flipV="0">
            <a:off x="885825" y="838200"/>
            <a:ext cx="4162425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>
                <a:solidFill>
                  <a:srgbClr val="64748B"/>
                </a:solidFill>
                <a:latin typeface="PingFang SC"/>
                <a:ea typeface="PingFang SC"/>
              </a:rPr>
              <a:t>没有</a:t>
            </a:r>
            <a:r>
              <a:rPr lang="en-US" sz="1275">
                <a:solidFill>
                  <a:srgbClr val="64748B"/>
                </a:solidFill>
                <a:latin typeface="PingFang SC"/>
                <a:ea typeface="PingFang SC"/>
              </a:rPr>
              <a:t> owner </a:t>
            </a:r>
            <a:r>
              <a:rPr lang="zh-CN" sz="1275">
                <a:solidFill>
                  <a:srgbClr val="64748B"/>
                </a:solidFill>
                <a:latin typeface="PingFang SC"/>
                <a:ea typeface="PingFang SC"/>
              </a:rPr>
              <a:t>的数据治理</a:t>
            </a:r>
            <a:r>
              <a:rPr lang="en-US" sz="1275">
                <a:solidFill>
                  <a:srgbClr val="64748B"/>
                </a:solidFill>
                <a:latin typeface="PingFang SC"/>
                <a:ea typeface="PingFang SC"/>
              </a:rPr>
              <a:t> = </a:t>
            </a:r>
            <a:r>
              <a:rPr lang="zh-CN" sz="1275">
                <a:solidFill>
                  <a:srgbClr val="64748B"/>
                </a:solidFill>
                <a:latin typeface="PingFang SC"/>
                <a:ea typeface="PingFang SC"/>
              </a:rPr>
              <a:t>没有治理</a:t>
            </a:r>
            <a:endParaRPr/>
          </a:p>
        </p:txBody>
      </p:sp>
      <p:sp>
        <p:nvSpPr>
          <p:cNvPr id="68" name=""/>
          <p:cNvSpPr/>
          <p:nvPr/>
        </p:nvSpPr>
        <p:spPr>
          <a:xfrm rot="0" flipH="0" flipV="0">
            <a:off x="685800" y="1276350"/>
            <a:ext cx="5495925" cy="1552575"/>
          </a:xfrm>
          <a:prstGeom prst="roundRect">
            <a:avLst>
              <a:gd name="adj" fmla="val 8589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14300" dist="28575" dir="5400000">
              <a:srgbClr val="1E3A8A">
                <a:alpha val="5000"/>
              </a:srgbClr>
            </a:outerShdw>
          </a:effectLst>
        </p:spPr>
        <p:txBody>
          <a:bodyPr/>
          <a:p/>
        </p:txBody>
      </p:sp>
      <p:sp>
        <p:nvSpPr>
          <p:cNvPr id="69" name=""/>
          <p:cNvSpPr/>
          <p:nvPr/>
        </p:nvSpPr>
        <p:spPr>
          <a:xfrm rot="0" flipH="0" flipV="0">
            <a:off x="895350" y="1819275"/>
            <a:ext cx="476250" cy="476250"/>
          </a:xfrm>
          <a:prstGeom prst="roundRect">
            <a:avLst>
              <a:gd name="adj" fmla="val 24000"/>
            </a:avLst>
          </a:prstGeom>
          <a:solidFill>
            <a:srgbClr val="E0F7FA"/>
          </a:solidFill>
          <a:ln/>
        </p:spPr>
        <p:txBody>
          <a:bodyPr/>
          <a:p/>
        </p:txBody>
      </p:sp>
      <p:pic>
        <p:nvPicPr>
          <p:cNvPr id="70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1"/>
              </a:ext>
            </a:extLst>
          </a:blip>
          <a:stretch>
            <a:fillRect/>
          </a:stretch>
        </p:blipFill>
        <p:spPr>
          <a:xfrm rot="0" flipH="0" flipV="0">
            <a:off x="1019175" y="1943100"/>
            <a:ext cx="228600" cy="228600"/>
          </a:xfrm>
          <a:prstGeom prst="rect">
            <a:avLst/>
          </a:prstGeom>
          <a:ln/>
        </p:spPr>
      </p:pic>
      <p:sp>
        <p:nvSpPr>
          <p:cNvPr id="71" name="" descr="{&quot;isTemplate&quot;:true,&quot;type&quot;:&quot;text&quot;}"/>
          <p:cNvSpPr txBox="1"/>
          <p:nvPr/>
        </p:nvSpPr>
        <p:spPr>
          <a:xfrm rot="0" flipH="0" flipV="0">
            <a:off x="1524000" y="1943100"/>
            <a:ext cx="1047750" cy="2190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425" b="1">
                <a:solidFill>
                  <a:srgbClr val="1E3A8A"/>
                </a:solidFill>
                <a:latin typeface="PingFang SC"/>
                <a:ea typeface="PingFang SC"/>
              </a:rPr>
              <a:t>职责</a:t>
            </a:r>
            <a:endParaRPr/>
          </a:p>
        </p:txBody>
      </p:sp>
      <p:sp>
        <p:nvSpPr>
          <p:cNvPr id="72" name="" descr="{&quot;isTemplate&quot;:true,&quot;type&quot;:&quot;text&quot;}"/>
          <p:cNvSpPr txBox="1"/>
          <p:nvPr/>
        </p:nvSpPr>
        <p:spPr>
          <a:xfrm rot="0" flipH="0" flipV="0">
            <a:off x="2724150" y="1781175"/>
            <a:ext cx="3248025" cy="5524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60000"/>
              </a:lnSpc>
            </a:pPr>
            <a:r>
              <a:rPr lang="zh-CN" sz="1125">
                <a:solidFill>
                  <a:srgbClr val="43566B"/>
                </a:solidFill>
                <a:latin typeface="PingFang SC"/>
                <a:ea typeface="PingFang SC"/>
              </a:rPr>
              <a:t>数据资产与</a:t>
            </a:r>
            <a:r>
              <a:rPr lang="en-US" sz="1125">
                <a:solidFill>
                  <a:srgbClr val="43566B"/>
                </a:solidFill>
                <a:latin typeface="PingFang SC"/>
                <a:ea typeface="PingFang SC"/>
              </a:rPr>
              <a:t> AI </a:t>
            </a:r>
            <a:r>
              <a:rPr lang="zh-CN" sz="1125">
                <a:solidFill>
                  <a:srgbClr val="43566B"/>
                </a:solidFill>
                <a:latin typeface="PingFang SC"/>
                <a:ea typeface="PingFang SC"/>
              </a:rPr>
              <a:t>应用的全生命周期：标准、质量、安全、变现</a:t>
            </a:r>
            <a:endParaRPr/>
          </a:p>
        </p:txBody>
      </p:sp>
      <p:sp>
        <p:nvSpPr>
          <p:cNvPr id="73" name=""/>
          <p:cNvSpPr/>
          <p:nvPr/>
        </p:nvSpPr>
        <p:spPr>
          <a:xfrm rot="0" flipH="0" flipV="0">
            <a:off x="685800" y="2943225"/>
            <a:ext cx="5495925" cy="1543050"/>
          </a:xfrm>
          <a:prstGeom prst="roundRect">
            <a:avLst>
              <a:gd name="adj" fmla="val 8642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14300" dist="28575" dir="5400000">
              <a:srgbClr val="1E3A8A">
                <a:alpha val="5000"/>
              </a:srgbClr>
            </a:outerShdw>
          </a:effectLst>
        </p:spPr>
        <p:txBody>
          <a:bodyPr/>
          <a:p/>
        </p:txBody>
      </p:sp>
      <p:sp>
        <p:nvSpPr>
          <p:cNvPr id="74" name=""/>
          <p:cNvSpPr/>
          <p:nvPr/>
        </p:nvSpPr>
        <p:spPr>
          <a:xfrm rot="0" flipH="0" flipV="0">
            <a:off x="895350" y="3476625"/>
            <a:ext cx="476250" cy="476250"/>
          </a:xfrm>
          <a:prstGeom prst="roundRect">
            <a:avLst>
              <a:gd name="adj" fmla="val 24000"/>
            </a:avLst>
          </a:prstGeom>
          <a:solidFill>
            <a:srgbClr val="E0F7FA"/>
          </a:solidFill>
          <a:ln/>
        </p:spPr>
        <p:txBody>
          <a:bodyPr/>
          <a:p/>
        </p:txBody>
      </p:sp>
      <p:pic>
        <p:nvPicPr>
          <p:cNvPr id="75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2"/>
              </a:ext>
            </a:extLst>
          </a:blip>
          <a:stretch>
            <a:fillRect/>
          </a:stretch>
        </p:blipFill>
        <p:spPr>
          <a:xfrm rot="0" flipH="0" flipV="0">
            <a:off x="1019175" y="3600450"/>
            <a:ext cx="228600" cy="228600"/>
          </a:xfrm>
          <a:prstGeom prst="rect">
            <a:avLst/>
          </a:prstGeom>
          <a:ln/>
        </p:spPr>
      </p:pic>
      <p:sp>
        <p:nvSpPr>
          <p:cNvPr id="76" name="" descr="{&quot;isTemplate&quot;:true,&quot;type&quot;:&quot;text&quot;}"/>
          <p:cNvSpPr txBox="1"/>
          <p:nvPr/>
        </p:nvSpPr>
        <p:spPr>
          <a:xfrm rot="0" flipH="0" flipV="0">
            <a:off x="1524000" y="3609975"/>
            <a:ext cx="1047750" cy="2190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425" b="1">
                <a:solidFill>
                  <a:srgbClr val="1E3A8A"/>
                </a:solidFill>
                <a:latin typeface="PingFang SC"/>
                <a:ea typeface="PingFang SC"/>
              </a:rPr>
              <a:t>汇报线</a:t>
            </a:r>
            <a:endParaRPr/>
          </a:p>
        </p:txBody>
      </p:sp>
      <p:sp>
        <p:nvSpPr>
          <p:cNvPr id="77" name="" descr="{&quot;isTemplate&quot;:true,&quot;type&quot;:&quot;text&quot;}"/>
          <p:cNvSpPr txBox="1"/>
          <p:nvPr/>
        </p:nvSpPr>
        <p:spPr>
          <a:xfrm rot="0" flipH="0" flipV="0">
            <a:off x="2724150" y="3438525"/>
            <a:ext cx="3248025" cy="5524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60000"/>
              </a:lnSpc>
            </a:pPr>
            <a:r>
              <a:rPr lang="zh-CN" sz="1125">
                <a:solidFill>
                  <a:srgbClr val="43566B"/>
                </a:solidFill>
                <a:latin typeface="PingFang SC"/>
                <a:ea typeface="PingFang SC"/>
              </a:rPr>
              <a:t>直接向</a:t>
            </a:r>
            <a:r>
              <a:rPr lang="en-US" sz="1125">
                <a:solidFill>
                  <a:srgbClr val="43566B"/>
                </a:solidFill>
                <a:latin typeface="PingFang SC"/>
                <a:ea typeface="PingFang SC"/>
              </a:rPr>
              <a:t> CEO / </a:t>
            </a:r>
            <a:r>
              <a:rPr lang="zh-CN" sz="1125">
                <a:solidFill>
                  <a:srgbClr val="43566B"/>
                </a:solidFill>
                <a:latin typeface="PingFang SC"/>
                <a:ea typeface="PingFang SC"/>
              </a:rPr>
              <a:t>一把手汇报，不挂在</a:t>
            </a:r>
            <a:r>
              <a:rPr lang="en-US" sz="1125">
                <a:solidFill>
                  <a:srgbClr val="43566B"/>
                </a:solidFill>
                <a:latin typeface="PingFang SC"/>
                <a:ea typeface="PingFang SC"/>
              </a:rPr>
              <a:t> IT </a:t>
            </a:r>
            <a:r>
              <a:rPr lang="zh-CN" sz="1125">
                <a:solidFill>
                  <a:srgbClr val="43566B"/>
                </a:solidFill>
                <a:latin typeface="PingFang SC"/>
                <a:ea typeface="PingFang SC"/>
              </a:rPr>
              <a:t>下面</a:t>
            </a:r>
            <a:r>
              <a:rPr lang="en-US" sz="1125">
                <a:solidFill>
                  <a:srgbClr val="43566B"/>
                </a:solidFill>
                <a:latin typeface="PingFang SC"/>
                <a:ea typeface="PingFang SC"/>
              </a:rPr>
              <a:t> —— </a:t>
            </a:r>
            <a:r>
              <a:rPr lang="zh-CN" sz="1125">
                <a:solidFill>
                  <a:srgbClr val="43566B"/>
                </a:solidFill>
                <a:latin typeface="PingFang SC"/>
                <a:ea typeface="PingFang SC"/>
              </a:rPr>
              <a:t>数据是业务资产，不是系统附件</a:t>
            </a:r>
            <a:endParaRPr/>
          </a:p>
        </p:txBody>
      </p:sp>
      <p:sp>
        <p:nvSpPr>
          <p:cNvPr id="78" name=""/>
          <p:cNvSpPr/>
          <p:nvPr/>
        </p:nvSpPr>
        <p:spPr>
          <a:xfrm rot="0" flipH="0" flipV="0">
            <a:off x="685800" y="4600575"/>
            <a:ext cx="5495925" cy="1552575"/>
          </a:xfrm>
          <a:prstGeom prst="roundRect">
            <a:avLst>
              <a:gd name="adj" fmla="val 8589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14300" dist="28575" dir="5400000">
              <a:srgbClr val="1E3A8A">
                <a:alpha val="5000"/>
              </a:srgbClr>
            </a:outerShdw>
          </a:effectLst>
        </p:spPr>
        <p:txBody>
          <a:bodyPr/>
          <a:p/>
        </p:txBody>
      </p:sp>
      <p:sp>
        <p:nvSpPr>
          <p:cNvPr id="79" name=""/>
          <p:cNvSpPr/>
          <p:nvPr/>
        </p:nvSpPr>
        <p:spPr>
          <a:xfrm rot="0" flipH="0" flipV="0">
            <a:off x="895350" y="5143500"/>
            <a:ext cx="476250" cy="476250"/>
          </a:xfrm>
          <a:prstGeom prst="roundRect">
            <a:avLst>
              <a:gd name="adj" fmla="val 24000"/>
            </a:avLst>
          </a:prstGeom>
          <a:solidFill>
            <a:srgbClr val="E0F7FA"/>
          </a:solidFill>
          <a:ln/>
        </p:spPr>
        <p:txBody>
          <a:bodyPr/>
          <a:p/>
        </p:txBody>
      </p:sp>
      <p:pic>
        <p:nvPicPr>
          <p:cNvPr id="80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3"/>
              </a:ext>
            </a:extLst>
          </a:blip>
          <a:stretch>
            <a:fillRect/>
          </a:stretch>
        </p:blipFill>
        <p:spPr>
          <a:xfrm rot="0" flipH="0" flipV="0">
            <a:off x="1019175" y="5267325"/>
            <a:ext cx="228600" cy="228600"/>
          </a:xfrm>
          <a:prstGeom prst="rect">
            <a:avLst/>
          </a:prstGeom>
          <a:ln/>
        </p:spPr>
      </p:pic>
      <p:sp>
        <p:nvSpPr>
          <p:cNvPr id="81" name="" descr="{&quot;isTemplate&quot;:true,&quot;type&quot;:&quot;text&quot;}"/>
          <p:cNvSpPr txBox="1"/>
          <p:nvPr/>
        </p:nvSpPr>
        <p:spPr>
          <a:xfrm rot="0" flipH="0" flipV="0">
            <a:off x="1524000" y="5267325"/>
            <a:ext cx="1047750" cy="2190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425" b="1">
                <a:solidFill>
                  <a:srgbClr val="1E3A8A"/>
                </a:solidFill>
                <a:latin typeface="PingFang SC"/>
                <a:ea typeface="PingFang SC"/>
              </a:rPr>
              <a:t>与</a:t>
            </a:r>
            <a:r>
              <a:rPr lang="en-US" sz="1425" b="1">
                <a:solidFill>
                  <a:srgbClr val="1E3A8A"/>
                </a:solidFill>
                <a:latin typeface="PingFang SC"/>
                <a:ea typeface="PingFang SC"/>
              </a:rPr>
              <a:t> CIO </a:t>
            </a:r>
            <a:r>
              <a:rPr lang="zh-CN" sz="1425" b="1">
                <a:solidFill>
                  <a:srgbClr val="1E3A8A"/>
                </a:solidFill>
                <a:latin typeface="PingFang SC"/>
                <a:ea typeface="PingFang SC"/>
              </a:rPr>
              <a:t>分工</a:t>
            </a:r>
            <a:endParaRPr/>
          </a:p>
        </p:txBody>
      </p:sp>
      <p:sp>
        <p:nvSpPr>
          <p:cNvPr id="82" name="" descr="{&quot;isTemplate&quot;:true,&quot;type&quot;:&quot;text&quot;}"/>
          <p:cNvSpPr txBox="1"/>
          <p:nvPr/>
        </p:nvSpPr>
        <p:spPr>
          <a:xfrm rot="0" flipH="0" flipV="0">
            <a:off x="2724150" y="5105400"/>
            <a:ext cx="3248025" cy="5524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60000"/>
              </a:lnSpc>
            </a:pPr>
            <a:r>
              <a:rPr lang="en-US" sz="1125">
                <a:solidFill>
                  <a:srgbClr val="43566B"/>
                </a:solidFill>
                <a:latin typeface="PingFang SC"/>
                <a:ea typeface="PingFang SC"/>
              </a:rPr>
              <a:t>CIO </a:t>
            </a:r>
            <a:r>
              <a:rPr lang="zh-CN" sz="1125">
                <a:solidFill>
                  <a:srgbClr val="43566B"/>
                </a:solidFill>
                <a:latin typeface="PingFang SC"/>
                <a:ea typeface="PingFang SC"/>
              </a:rPr>
              <a:t>管「管道」（系统、网络、安全底座），</a:t>
            </a:r>
            <a:r>
              <a:rPr lang="en-US" sz="1125">
                <a:solidFill>
                  <a:srgbClr val="43566B"/>
                </a:solidFill>
                <a:latin typeface="PingFang SC"/>
                <a:ea typeface="PingFang SC"/>
              </a:rPr>
              <a:t>CDO </a:t>
            </a:r>
            <a:r>
              <a:rPr lang="zh-CN" sz="1125">
                <a:solidFill>
                  <a:srgbClr val="43566B"/>
                </a:solidFill>
                <a:latin typeface="PingFang SC"/>
                <a:ea typeface="PingFang SC"/>
              </a:rPr>
              <a:t>管「水流」（数据资产、</a:t>
            </a:r>
            <a:r>
              <a:rPr lang="en-US" sz="1125">
                <a:solidFill>
                  <a:srgbClr val="43566B"/>
                </a:solidFill>
                <a:latin typeface="PingFang SC"/>
                <a:ea typeface="PingFang SC"/>
              </a:rPr>
              <a:t>AI </a:t>
            </a:r>
            <a:r>
              <a:rPr lang="zh-CN" sz="1125">
                <a:solidFill>
                  <a:srgbClr val="43566B"/>
                </a:solidFill>
                <a:latin typeface="PingFang SC"/>
                <a:ea typeface="PingFang SC"/>
              </a:rPr>
              <a:t>场景、价值）</a:t>
            </a:r>
            <a:endParaRPr/>
          </a:p>
        </p:txBody>
      </p:sp>
      <p:sp>
        <p:nvSpPr>
          <p:cNvPr id="83" name=""/>
          <p:cNvSpPr/>
          <p:nvPr/>
        </p:nvSpPr>
        <p:spPr>
          <a:xfrm rot="0" flipH="0" flipV="0">
            <a:off x="6429375" y="1276350"/>
            <a:ext cx="5076825" cy="4876800"/>
          </a:xfrm>
          <a:prstGeom prst="roundRect">
            <a:avLst>
              <a:gd name="adj" fmla="val 3516"/>
            </a:avLst>
          </a:prstGeom>
          <a:solidFill>
            <a:srgbClr val="1E3A8A"/>
          </a:solidFill>
          <a:ln/>
          <a:effectLst>
            <a:outerShdw blurRad="266700" dist="76200" dir="5400000">
              <a:srgbClr val="1E3A8A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84" name="" descr="{&quot;isTemplate&quot;:true,&quot;type&quot;:&quot;text&quot;}"/>
          <p:cNvSpPr txBox="1"/>
          <p:nvPr/>
        </p:nvSpPr>
        <p:spPr>
          <a:xfrm rot="0" flipH="0" flipV="0">
            <a:off x="6715125" y="1524000"/>
            <a:ext cx="4505325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 spc="150">
                <a:solidFill>
                  <a:srgbClr val="7FD9F0"/>
                </a:solidFill>
                <a:latin typeface="PingFang SC"/>
                <a:ea typeface="PingFang SC"/>
              </a:rPr>
              <a:t>「模数共振」飞轮</a:t>
            </a:r>
            <a:endParaRPr/>
          </a:p>
        </p:txBody>
      </p:sp>
      <p:sp>
        <p:nvSpPr>
          <p:cNvPr id="85" name=""/>
          <p:cNvSpPr/>
          <p:nvPr/>
        </p:nvSpPr>
        <p:spPr>
          <a:xfrm rot="0" flipH="0" flipV="0">
            <a:off x="6715125" y="1885950"/>
            <a:ext cx="4505325" cy="400050"/>
          </a:xfrm>
          <a:prstGeom prst="roundRect">
            <a:avLst>
              <a:gd name="adj" fmla="val 23810"/>
            </a:avLst>
          </a:prstGeom>
          <a:solidFill>
            <a:srgbClr val="06B6D4">
              <a:alpha val="15000"/>
            </a:srgbClr>
          </a:solidFill>
          <a:ln w="12700">
            <a:solidFill>
              <a:srgbClr val="06B6D4">
                <a:alpha val="45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86" name="" descr="{&quot;isTemplate&quot;:true,&quot;type&quot;:&quot;text&quot;}"/>
          <p:cNvSpPr txBox="1"/>
          <p:nvPr/>
        </p:nvSpPr>
        <p:spPr>
          <a:xfrm rot="0" flipH="0" flipV="0">
            <a:off x="6886575" y="1981200"/>
            <a:ext cx="85725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 b="1">
                <a:solidFill>
                  <a:srgbClr val="F8C471"/>
                </a:solidFill>
                <a:latin typeface="PingFang SC"/>
                <a:ea typeface="PingFang SC"/>
              </a:rPr>
              <a:t>模型越多</a:t>
            </a:r>
            <a:endParaRPr/>
          </a:p>
        </p:txBody>
      </p:sp>
      <p:sp>
        <p:nvSpPr>
          <p:cNvPr id="87" name="" descr="{&quot;isTemplate&quot;:true,&quot;type&quot;:&quot;text&quot;}"/>
          <p:cNvSpPr txBox="1"/>
          <p:nvPr/>
        </p:nvSpPr>
        <p:spPr>
          <a:xfrm rot="0" flipH="0" flipV="0">
            <a:off x="7858125" y="2009775"/>
            <a:ext cx="292417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DCE9FB"/>
                </a:solidFill>
                <a:latin typeface="PingFang SC"/>
                <a:ea typeface="PingFang SC"/>
              </a:rPr>
              <a:t>场景越广、调用越频繁</a:t>
            </a:r>
            <a:endParaRPr/>
          </a:p>
        </p:txBody>
      </p:sp>
      <p:pic>
        <p:nvPicPr>
          <p:cNvPr id="88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4"/>
              </a:ext>
            </a:extLst>
          </a:blip>
          <a:stretch>
            <a:fillRect/>
          </a:stretch>
        </p:blipFill>
        <p:spPr>
          <a:xfrm rot="0" flipH="0" flipV="0">
            <a:off x="10896600" y="2009775"/>
            <a:ext cx="152400" cy="152400"/>
          </a:xfrm>
          <a:prstGeom prst="rect">
            <a:avLst/>
          </a:prstGeom>
          <a:ln/>
        </p:spPr>
      </p:pic>
      <p:sp>
        <p:nvSpPr>
          <p:cNvPr id="89" name=""/>
          <p:cNvSpPr/>
          <p:nvPr/>
        </p:nvSpPr>
        <p:spPr>
          <a:xfrm rot="0" flipH="0" flipV="0">
            <a:off x="6715125" y="2381250"/>
            <a:ext cx="4505325" cy="400050"/>
          </a:xfrm>
          <a:prstGeom prst="roundRect">
            <a:avLst>
              <a:gd name="adj" fmla="val 23810"/>
            </a:avLst>
          </a:prstGeom>
          <a:solidFill>
            <a:srgbClr val="06B6D4">
              <a:alpha val="15000"/>
            </a:srgbClr>
          </a:solidFill>
          <a:ln w="12700">
            <a:solidFill>
              <a:srgbClr val="06B6D4">
                <a:alpha val="45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90" name="" descr="{&quot;isTemplate&quot;:true,&quot;type&quot;:&quot;text&quot;}"/>
          <p:cNvSpPr txBox="1"/>
          <p:nvPr/>
        </p:nvSpPr>
        <p:spPr>
          <a:xfrm rot="0" flipH="0" flipV="0">
            <a:off x="6886575" y="2476500"/>
            <a:ext cx="85725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 b="1">
                <a:solidFill>
                  <a:srgbClr val="F8C471"/>
                </a:solidFill>
                <a:latin typeface="PingFang SC"/>
                <a:ea typeface="PingFang SC"/>
              </a:rPr>
              <a:t>数据越准</a:t>
            </a:r>
            <a:endParaRPr/>
          </a:p>
        </p:txBody>
      </p:sp>
      <p:sp>
        <p:nvSpPr>
          <p:cNvPr id="91" name="" descr="{&quot;isTemplate&quot;:true,&quot;type&quot;:&quot;text&quot;}"/>
          <p:cNvSpPr txBox="1"/>
          <p:nvPr/>
        </p:nvSpPr>
        <p:spPr>
          <a:xfrm rot="0" flipH="0" flipV="0">
            <a:off x="7858125" y="2505075"/>
            <a:ext cx="292417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DCE9FB"/>
                </a:solidFill>
                <a:latin typeface="PingFang SC"/>
                <a:ea typeface="PingFang SC"/>
              </a:rPr>
              <a:t>反馈越多、质量越高</a:t>
            </a:r>
            <a:endParaRPr/>
          </a:p>
        </p:txBody>
      </p:sp>
      <p:pic>
        <p:nvPicPr>
          <p:cNvPr id="92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4"/>
              </a:ext>
            </a:extLst>
          </a:blip>
          <a:stretch>
            <a:fillRect/>
          </a:stretch>
        </p:blipFill>
        <p:spPr>
          <a:xfrm rot="0" flipH="0" flipV="0">
            <a:off x="10896600" y="2505075"/>
            <a:ext cx="152400" cy="152400"/>
          </a:xfrm>
          <a:prstGeom prst="rect">
            <a:avLst/>
          </a:prstGeom>
          <a:ln/>
        </p:spPr>
      </p:pic>
      <p:sp>
        <p:nvSpPr>
          <p:cNvPr id="93" name=""/>
          <p:cNvSpPr/>
          <p:nvPr/>
        </p:nvSpPr>
        <p:spPr>
          <a:xfrm rot="0" flipH="0" flipV="0">
            <a:off x="6715125" y="2876550"/>
            <a:ext cx="4505325" cy="400050"/>
          </a:xfrm>
          <a:prstGeom prst="roundRect">
            <a:avLst>
              <a:gd name="adj" fmla="val 23810"/>
            </a:avLst>
          </a:prstGeom>
          <a:solidFill>
            <a:srgbClr val="06B6D4">
              <a:alpha val="15000"/>
            </a:srgbClr>
          </a:solidFill>
          <a:ln w="12700">
            <a:solidFill>
              <a:srgbClr val="06B6D4">
                <a:alpha val="45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94" name="" descr="{&quot;isTemplate&quot;:true,&quot;type&quot;:&quot;text&quot;}"/>
          <p:cNvSpPr txBox="1"/>
          <p:nvPr/>
        </p:nvSpPr>
        <p:spPr>
          <a:xfrm rot="0" flipH="0" flipV="0">
            <a:off x="6886575" y="2971800"/>
            <a:ext cx="85725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 b="1">
                <a:solidFill>
                  <a:srgbClr val="F8C471"/>
                </a:solidFill>
                <a:latin typeface="PingFang SC"/>
                <a:ea typeface="PingFang SC"/>
              </a:rPr>
              <a:t>模型越强</a:t>
            </a:r>
            <a:endParaRPr/>
          </a:p>
        </p:txBody>
      </p:sp>
      <p:sp>
        <p:nvSpPr>
          <p:cNvPr id="95" name="" descr="{&quot;isTemplate&quot;:true,&quot;type&quot;:&quot;text&quot;}"/>
          <p:cNvSpPr txBox="1"/>
          <p:nvPr/>
        </p:nvSpPr>
        <p:spPr>
          <a:xfrm rot="0" flipH="0" flipV="0">
            <a:off x="7858125" y="3000375"/>
            <a:ext cx="292417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DCE9FB"/>
                </a:solidFill>
                <a:latin typeface="PingFang SC"/>
                <a:ea typeface="PingFang SC"/>
              </a:rPr>
              <a:t>用户越多、再产生更多数据</a:t>
            </a:r>
            <a:endParaRPr/>
          </a:p>
        </p:txBody>
      </p:sp>
      <p:pic>
        <p:nvPicPr>
          <p:cNvPr id="96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4"/>
              </a:ext>
            </a:extLst>
          </a:blip>
          <a:stretch>
            <a:fillRect/>
          </a:stretch>
        </p:blipFill>
        <p:spPr>
          <a:xfrm rot="0" flipH="0" flipV="0">
            <a:off x="10896600" y="3000375"/>
            <a:ext cx="152400" cy="152400"/>
          </a:xfrm>
          <a:prstGeom prst="rect">
            <a:avLst/>
          </a:prstGeom>
          <a:ln/>
        </p:spPr>
      </p:pic>
      <p:sp>
        <p:nvSpPr>
          <p:cNvPr id="97" name="" descr="{&quot;isTemplate&quot;:true,&quot;type&quot;:&quot;text&quot;}"/>
          <p:cNvSpPr txBox="1"/>
          <p:nvPr/>
        </p:nvSpPr>
        <p:spPr>
          <a:xfrm rot="0" flipH="0" flipV="0">
            <a:off x="6715125" y="5162550"/>
            <a:ext cx="4505325" cy="742950"/>
          </a:xfrm>
          <a:prstGeom prst="rect"/>
        </p:spPr>
        <p:txBody>
          <a:bodyPr wrap="none" lIns="0" tIns="114300" rIns="0" bIns="0"/>
          <a:p>
            <a:pPr>
              <a:lnSpc>
                <a:spcPct val="170000"/>
              </a:lnSpc>
            </a:pPr>
            <a:r>
              <a:rPr lang="zh-CN" sz="1125">
                <a:solidFill>
                  <a:srgbClr val="A9C4E8"/>
                </a:solidFill>
                <a:latin typeface="PingFang SC"/>
                <a:ea typeface="PingFang SC"/>
              </a:rPr>
              <a:t>飞轮转起来的企业，</a:t>
            </a:r>
            <a:r>
              <a:rPr lang="en-US" sz="1125">
                <a:solidFill>
                  <a:srgbClr val="A9C4E8"/>
                </a:solidFill>
                <a:latin typeface="PingFang SC"/>
                <a:ea typeface="PingFang SC"/>
              </a:rPr>
              <a:t>AI </a:t>
            </a:r>
            <a:r>
              <a:rPr lang="zh-CN" sz="1125">
                <a:solidFill>
                  <a:srgbClr val="A9C4E8"/>
                </a:solidFill>
                <a:latin typeface="PingFang SC"/>
                <a:ea typeface="PingFang SC"/>
              </a:rPr>
              <a:t>是越用越便宜；转不起来的，是越用越贵。</a:t>
            </a:r>
            <a:endParaRPr/>
          </a:p>
          <a:p>
            <a:pPr>
              <a:lnSpc>
                <a:spcPct val="170000"/>
              </a:lnSpc>
            </a:pPr>
            <a:r>
              <a:rPr lang="en-US" sz="1125" b="1">
                <a:solidFill>
                  <a:srgbClr val="F8C471"/>
                </a:solidFill>
                <a:latin typeface="PingFang SC"/>
                <a:ea typeface="PingFang SC"/>
              </a:rPr>
              <a:t>CDO </a:t>
            </a:r>
            <a:r>
              <a:rPr lang="zh-CN" sz="1125" b="1">
                <a:solidFill>
                  <a:srgbClr val="F8C471"/>
                </a:solidFill>
                <a:latin typeface="PingFang SC"/>
                <a:ea typeface="PingFang SC"/>
              </a:rPr>
              <a:t>的核心</a:t>
            </a:r>
            <a:r>
              <a:rPr lang="en-US" sz="1125" b="1">
                <a:solidFill>
                  <a:srgbClr val="F8C471"/>
                </a:solidFill>
                <a:latin typeface="PingFang SC"/>
                <a:ea typeface="PingFang SC"/>
              </a:rPr>
              <a:t> KPI</a:t>
            </a:r>
            <a:r>
              <a:rPr lang="zh-CN" sz="1125" b="1">
                <a:solidFill>
                  <a:srgbClr val="F8C471"/>
                </a:solidFill>
                <a:latin typeface="PingFang SC"/>
                <a:ea typeface="PingFang SC"/>
              </a:rPr>
              <a:t>：飞轮转速，不是项目数量。</a:t>
            </a:r>
            <a:endParaRPr/>
          </a:p>
        </p:txBody>
      </p:sp>
      <p:sp>
        <p:nvSpPr>
          <p:cNvPr id="98" name="" descr="{&quot;isTemplate&quot;:true,&quot;type&quot;:&quot;text&quot;}"/>
          <p:cNvSpPr txBox="1"/>
          <p:nvPr/>
        </p:nvSpPr>
        <p:spPr>
          <a:xfrm rot="0" flipH="0" flipV="0">
            <a:off x="685800" y="6362700"/>
            <a:ext cx="12573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64748B"/>
                </a:solidFill>
                <a:latin typeface="PingFang SC"/>
                <a:ea typeface="PingFang SC"/>
              </a:rPr>
              <a:t>AI </a:t>
            </a:r>
            <a:r>
              <a:rPr lang="zh-CN" sz="1050">
                <a:solidFill>
                  <a:srgbClr val="64748B"/>
                </a:solidFill>
                <a:latin typeface="PingFang SC"/>
                <a:ea typeface="PingFang SC"/>
              </a:rPr>
              <a:t>规划与治理</a:t>
            </a:r>
            <a:r>
              <a:rPr lang="en-US" sz="1050">
                <a:solidFill>
                  <a:srgbClr val="64748B"/>
                </a:solidFill>
                <a:latin typeface="PingFang SC"/>
                <a:ea typeface="PingFang SC"/>
              </a:rPr>
              <a:t> · </a:t>
            </a:r>
            <a:r>
              <a:rPr lang="zh-CN" sz="1050">
                <a:solidFill>
                  <a:srgbClr val="64748B"/>
                </a:solidFill>
                <a:latin typeface="PingFang SC"/>
                <a:ea typeface="PingFang SC"/>
              </a:rPr>
              <a:t>高级</a:t>
            </a:r>
            <a:endParaRPr/>
          </a:p>
        </p:txBody>
      </p:sp>
      <p:sp>
        <p:nvSpPr>
          <p:cNvPr id="99" name="" descr="{&quot;isTemplate&quot;:true,&quot;type&quot;:&quot;text&quot;}"/>
          <p:cNvSpPr txBox="1"/>
          <p:nvPr/>
        </p:nvSpPr>
        <p:spPr>
          <a:xfrm rot="0" flipH="0" flipV="0">
            <a:off x="11049000" y="6362700"/>
            <a:ext cx="4572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64748B"/>
                </a:solidFill>
                <a:latin typeface="PingFang SC"/>
                <a:ea typeface="PingFang SC"/>
              </a:rPr>
              <a:t>12 / 24</a:t>
            </a:r>
            <a:endParaRPr/>
          </a:p>
        </p:txBody>
      </p:sp>
    </p:spTree>
  </p:cSld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00" name="" descr="&lt;Slide style={{ width: '1280px', height: '720px', position: 'relative', background: '#1E3A8A', overflow: 'hidden', fontFamily: 'PingFang SC, Source Han Sans SC, sans-serif' }}&gt;&#10;    &lt;Box style={{ position: 'absolute', top: 0, right: 0, width: 500, height: '720px' }}&gt;&#10;        &lt;Image src=&quot;assets/hero_cover.png&quot; style={{ width: '500px', height: '720px', objectFit: 'cover', opacity: 0.5 }} /&gt;&#10;        &lt;Box style={{ position: 'absolute', top: 0, left: 0, width: '500px', height: '720px', background: 'linear-gradient(90deg, rgba(30,58,138,1) 0%, rgba(30,58,138,0.15) 100%)' }} /&gt;&#10;    &lt;/Box&gt;&#10;    &lt;Box style={{ position: 'relative', zIndex: 1, height: '720px', padding: '0 84px', justifyContent: 'center' }}&gt;&#10;        &lt;Text style={{ fontSize: 130, fontWeight: 'bold', color: 'rgba(6,182,212,0.5)', lineHeight: 1, fontFamily: 'Space Grotesk, Inter' }}&gt;04&lt;/Text&gt;&#10;        &lt;Text style={{ fontSize: 18, color: '#7FD9F0', letterSpacing: 5, marginTop: 6 }}&gt;H4 · 3 课时&lt;/Text&gt;&#10;        &lt;Text style={{ fontSize: 54, fontWeight: 'bold', color: '#FFFFFF', marginTop: 20, lineHeight: 1.18 }}&gt;ROI 与价值&lt;br /&gt;算得清账&lt;/Text&gt;&#10;        &lt;Box style={{ width: 84, height: 4, background: '#06B6D4', marginTop: 30 }} /&gt;&#10;        &lt;Text style={{ fontSize: 19, color: '#A9C4E8', marginTop: 22, lineHeight: 1.6 }}&gt;制造五指标 + 采纳双指标 · 用户分层 · ROI 五步&lt;br /&gt;「先建指标看板，再谈投入」—— 没有基线就没有 ROI。&lt;/Text&gt;&#10;    &lt;/Box&gt;&#10;&lt;/Slide&gt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1E3A8A"/>
          </a:solidFill>
          <a:ln/>
        </p:spPr>
        <p:txBody>
          <a:bodyPr/>
          <a:p/>
        </p:txBody>
      </p:sp>
      <p:pic>
        <p:nvPicPr>
          <p:cNvPr id="102" name=""/>
          <p:cNvPicPr>
            <a:picLocks noChangeAspect="1"/>
          </p:cNvPicPr>
          <p:nvPr/>
        </p:nvPicPr>
        <p:blipFill>
          <a:blip r:embed="rId1">
            <a:alphaModFix amt="50000"/>
          </a:blip>
          <a:srcRect l="26242" t="0" r="26242" b="0"/>
          <a:stretch>
            <a:fillRect/>
          </a:stretch>
        </p:blipFill>
        <p:spPr>
          <a:xfrm rot="0" flipH="0" flipV="0">
            <a:off x="7429500" y="0"/>
            <a:ext cx="4762500" cy="6858000"/>
          </a:xfrm>
          <a:prstGeom prst="rect">
            <a:avLst/>
          </a:prstGeom>
          <a:ln/>
        </p:spPr>
      </p:pic>
      <p:sp>
        <p:nvSpPr>
          <p:cNvPr id="103" name=""/>
          <p:cNvSpPr/>
          <p:nvPr/>
        </p:nvSpPr>
        <p:spPr>
          <a:xfrm rot="0" flipH="0" flipV="0">
            <a:off x="7429500" y="0"/>
            <a:ext cx="4762500" cy="6858000"/>
          </a:xfrm>
          <a:prstGeom prst="rect">
            <a:avLst/>
          </a:prstGeom>
          <a:gradFill>
            <a:gsLst>
              <a:gs pos="0">
                <a:srgbClr val="1E3A8A">
                  <a:alpha val="100000"/>
                </a:srgbClr>
              </a:gs>
              <a:gs pos="100000">
                <a:srgbClr val="1E3A8A">
                  <a:alpha val="15000"/>
                </a:srgbClr>
              </a:gs>
            </a:gsLst>
            <a:lin ang="0" scaled="1"/>
          </a:gradFill>
          <a:ln/>
        </p:spPr>
        <p:txBody>
          <a:bodyPr/>
          <a:p/>
        </p:txBody>
      </p:sp>
      <p:sp>
        <p:nvSpPr>
          <p:cNvPr id="104" name="" descr="{&quot;isTemplate&quot;:true,&quot;type&quot;:&quot;text&quot;}"/>
          <p:cNvSpPr txBox="1"/>
          <p:nvPr/>
        </p:nvSpPr>
        <p:spPr>
          <a:xfrm rot="0" flipH="0" flipV="0">
            <a:off x="800100" y="1114425"/>
            <a:ext cx="10591800" cy="14859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0" b="1">
                <a:solidFill>
                  <a:srgbClr val="06B6D4">
                    <a:alpha val="50000"/>
                  </a:srgbClr>
                </a:solidFill>
                <a:latin typeface="Space Grotesk"/>
                <a:ea typeface="Space Grotesk"/>
              </a:rPr>
              <a:t>04</a:t>
            </a:r>
            <a:endParaRPr/>
          </a:p>
        </p:txBody>
      </p:sp>
      <p:sp>
        <p:nvSpPr>
          <p:cNvPr id="105" name="" descr="{&quot;isTemplate&quot;:true,&quot;type&quot;:&quot;text&quot;}"/>
          <p:cNvSpPr txBox="1"/>
          <p:nvPr/>
        </p:nvSpPr>
        <p:spPr>
          <a:xfrm rot="0" flipH="0" flipV="0">
            <a:off x="800100" y="2657475"/>
            <a:ext cx="1059180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350" spc="375">
                <a:solidFill>
                  <a:srgbClr val="7FD9F0"/>
                </a:solidFill>
                <a:latin typeface="PingFang SC"/>
                <a:ea typeface="PingFang SC"/>
              </a:rPr>
              <a:t>H4 · 3 </a:t>
            </a:r>
            <a:r>
              <a:rPr lang="zh-CN" sz="1350" spc="375">
                <a:solidFill>
                  <a:srgbClr val="7FD9F0"/>
                </a:solidFill>
                <a:latin typeface="PingFang SC"/>
                <a:ea typeface="PingFang SC"/>
              </a:rPr>
              <a:t>课时</a:t>
            </a:r>
            <a:endParaRPr/>
          </a:p>
        </p:txBody>
      </p:sp>
      <p:sp>
        <p:nvSpPr>
          <p:cNvPr id="106" name="" descr="{&quot;isTemplate&quot;:true,&quot;type&quot;:&quot;text&quot;}"/>
          <p:cNvSpPr txBox="1"/>
          <p:nvPr/>
        </p:nvSpPr>
        <p:spPr>
          <a:xfrm rot="0" flipH="0" flipV="0">
            <a:off x="800100" y="3057525"/>
            <a:ext cx="10591800" cy="1457325"/>
          </a:xfrm>
          <a:prstGeom prst="rect"/>
        </p:spPr>
        <p:txBody>
          <a:bodyPr wrap="none" lIns="0" tIns="0" rIns="0" bIns="0"/>
          <a:p>
            <a:pPr>
              <a:lnSpc>
                <a:spcPct val="118000"/>
              </a:lnSpc>
            </a:pPr>
            <a:r>
              <a:rPr lang="en-US" sz="4050" b="1">
                <a:solidFill>
                  <a:srgbClr val="FFFFFF"/>
                </a:solidFill>
                <a:latin typeface="PingFang SC"/>
                <a:ea typeface="PingFang SC"/>
              </a:rPr>
              <a:t>ROI </a:t>
            </a:r>
            <a:r>
              <a:rPr lang="zh-CN" sz="4050" b="1">
                <a:solidFill>
                  <a:srgbClr val="FFFFFF"/>
                </a:solidFill>
                <a:latin typeface="PingFang SC"/>
                <a:ea typeface="PingFang SC"/>
              </a:rPr>
              <a:t>与价值</a:t>
            </a:r>
            <a:endParaRPr/>
          </a:p>
          <a:p>
            <a:pPr>
              <a:lnSpc>
                <a:spcPct val="118000"/>
              </a:lnSpc>
            </a:pPr>
            <a:r>
              <a:rPr lang="zh-CN" sz="4050" b="1">
                <a:solidFill>
                  <a:srgbClr val="FFFFFF"/>
                </a:solidFill>
                <a:latin typeface="PingFang SC"/>
                <a:ea typeface="PingFang SC"/>
              </a:rPr>
              <a:t>算得清账</a:t>
            </a:r>
            <a:endParaRPr/>
          </a:p>
        </p:txBody>
      </p:sp>
      <p:sp>
        <p:nvSpPr>
          <p:cNvPr id="107" name=""/>
          <p:cNvSpPr/>
          <p:nvPr/>
        </p:nvSpPr>
        <p:spPr>
          <a:xfrm rot="0" flipH="0" flipV="0">
            <a:off x="800100" y="4800600"/>
            <a:ext cx="800100" cy="38100"/>
          </a:xfrm>
          <a:prstGeom prst="rect">
            <a:avLst/>
          </a:prstGeom>
          <a:solidFill>
            <a:srgbClr val="06B6D4"/>
          </a:solidFill>
          <a:ln/>
        </p:spPr>
        <p:txBody>
          <a:bodyPr/>
          <a:p/>
        </p:txBody>
      </p:sp>
      <p:sp>
        <p:nvSpPr>
          <p:cNvPr id="108" name="" descr="{&quot;isTemplate&quot;:true,&quot;type&quot;:&quot;text&quot;}"/>
          <p:cNvSpPr txBox="1"/>
          <p:nvPr/>
        </p:nvSpPr>
        <p:spPr>
          <a:xfrm rot="0" flipH="0" flipV="0">
            <a:off x="800100" y="5048250"/>
            <a:ext cx="10591800" cy="695325"/>
          </a:xfrm>
          <a:prstGeom prst="rect"/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zh-CN" sz="1425">
                <a:solidFill>
                  <a:srgbClr val="A9C4E8"/>
                </a:solidFill>
                <a:latin typeface="PingFang SC"/>
                <a:ea typeface="PingFang SC"/>
              </a:rPr>
              <a:t>制造五指标</a:t>
            </a:r>
            <a:r>
              <a:rPr lang="en-US" sz="1425">
                <a:solidFill>
                  <a:srgbClr val="A9C4E8"/>
                </a:solidFill>
                <a:latin typeface="PingFang SC"/>
                <a:ea typeface="PingFang SC"/>
              </a:rPr>
              <a:t> + </a:t>
            </a:r>
            <a:r>
              <a:rPr lang="zh-CN" sz="1425">
                <a:solidFill>
                  <a:srgbClr val="A9C4E8"/>
                </a:solidFill>
                <a:latin typeface="PingFang SC"/>
                <a:ea typeface="PingFang SC"/>
              </a:rPr>
              <a:t>采纳双指标</a:t>
            </a:r>
            <a:r>
              <a:rPr lang="en-US" sz="1425">
                <a:solidFill>
                  <a:srgbClr val="A9C4E8"/>
                </a:solidFill>
                <a:latin typeface="PingFang SC"/>
                <a:ea typeface="PingFang SC"/>
              </a:rPr>
              <a:t> · </a:t>
            </a:r>
            <a:r>
              <a:rPr lang="zh-CN" sz="1425">
                <a:solidFill>
                  <a:srgbClr val="A9C4E8"/>
                </a:solidFill>
                <a:latin typeface="PingFang SC"/>
                <a:ea typeface="PingFang SC"/>
              </a:rPr>
              <a:t>用户分层</a:t>
            </a:r>
            <a:r>
              <a:rPr lang="en-US" sz="1425">
                <a:solidFill>
                  <a:srgbClr val="A9C4E8"/>
                </a:solidFill>
                <a:latin typeface="PingFang SC"/>
                <a:ea typeface="PingFang SC"/>
              </a:rPr>
              <a:t> · ROI </a:t>
            </a:r>
            <a:r>
              <a:rPr lang="zh-CN" sz="1425">
                <a:solidFill>
                  <a:srgbClr val="A9C4E8"/>
                </a:solidFill>
                <a:latin typeface="PingFang SC"/>
                <a:ea typeface="PingFang SC"/>
              </a:rPr>
              <a:t>五步</a:t>
            </a:r>
            <a:endParaRPr/>
          </a:p>
          <a:p>
            <a:pPr>
              <a:lnSpc>
                <a:spcPct val="160000"/>
              </a:lnSpc>
            </a:pPr>
            <a:r>
              <a:rPr lang="zh-CN" sz="1425">
                <a:solidFill>
                  <a:srgbClr val="A9C4E8"/>
                </a:solidFill>
                <a:latin typeface="PingFang SC"/>
                <a:ea typeface="PingFang SC"/>
              </a:rPr>
              <a:t>「先建指标看板，再谈投入」——</a:t>
            </a:r>
            <a:r>
              <a:rPr lang="en-US" sz="1425">
                <a:solidFill>
                  <a:srgbClr val="A9C4E8"/>
                </a:solidFill>
                <a:latin typeface="PingFang SC"/>
                <a:ea typeface="PingFang SC"/>
              </a:rPr>
              <a:t> </a:t>
            </a:r>
            <a:r>
              <a:rPr lang="zh-CN" sz="1425">
                <a:solidFill>
                  <a:srgbClr val="A9C4E8"/>
                </a:solidFill>
                <a:latin typeface="PingFang SC"/>
                <a:ea typeface="PingFang SC"/>
              </a:rPr>
              <a:t>没有基线就没有</a:t>
            </a:r>
            <a:r>
              <a:rPr lang="en-US" sz="1425">
                <a:solidFill>
                  <a:srgbClr val="A9C4E8"/>
                </a:solidFill>
                <a:latin typeface="PingFang SC"/>
                <a:ea typeface="PingFang SC"/>
              </a:rPr>
              <a:t> ROI</a:t>
            </a:r>
            <a:r>
              <a:rPr lang="zh-CN" sz="1425">
                <a:solidFill>
                  <a:srgbClr val="A9C4E8"/>
                </a:solidFill>
                <a:latin typeface="PingFang SC"/>
                <a:ea typeface="PingFang SC"/>
              </a:rPr>
              <a:t>。</a:t>
            </a:r>
            <a:endParaRPr/>
          </a:p>
        </p:txBody>
      </p:sp>
    </p:spTree>
  </p:cSld>
</p:sld>
</file>

<file path=ppt/slides/slide14.xml><?xml version="1.0" encoding="utf-8"?>
<p:sld xmlns:a="http://schemas.openxmlformats.org/drawingml/2006/main" xmlns:p="http://schemas.openxmlformats.org/presentationml/2006/main">
  <p:cSld>
    <p:spTree>
      <p:nvGrpSpPr>
        <p:cNvPr id="109" name="" descr="const biz = ['OEE 综合效率', 'MTBF 平均故障间隔', 'MTTR 平均修复时间', '不良率 / PPM', '单位能耗'];&#10;const tiers = [&#10;    { t: '铁粉', d: '每天用、主动提需求', c: '#F59E0B', w: 25 },&#10;    { t: '偶尔', d: '想起来才用', c: '#06B6D4', w: 45 },&#10;    { t: '尝鲜', d: '试用过一次就没了', c: '#64748B', w: 70 },&#10;];&#10;&lt;Slide style={{ width: '1280px', height: '720px', background: '#F5F8FC', padding: '24px 72px', boxSizing: 'border-box', flexDirection: 'column', fontFamily: 'PingFang SC, Source Han Sans SC, sans-serif' }}&gt;&#10;    &lt;Box style={{ height: 96, flexDirection: 'row', alignItems: 'center', gap: 16 }}&gt;&#10;        &lt;Box style={{ width: 5, height: 46, background: '#06B6D4', borderRadius: 3 }} /&gt;&#10;        &lt;Box&gt;&#10;            &lt;Text style={{ fontSize: 34, fontWeight: 'bold', color: '#1E3A8A', lineHeight: 1.2 }}&gt;双指标体系：业务账 + 采纳账&lt;/Text&gt;&#10;            &lt;Text style={{ fontSize: 17, color: '#64748B', marginTop: 4 }}&gt;AI 项目死因 TOP1 不是模型差，是没人用 —— 所以要两条线一起看&lt;/Text&gt;&#10;        &lt;/Box&gt;&#10;    &lt;/Box&gt;&#10;    &lt;Box style={{ flex: 1, flexDirection: 'row', gap: 24, marginTop: 14 }}&gt;&#10;        &lt;Box style={{ flex: 48, background: '#FFFFFF', borderRadius: 16, padding: '22px 26px', border: '1px solid #E2E8F0', flexDirection: 'column' }}&gt;&#10;            &lt;Text style={{ fontSize: 18, fontWeight: 'bold', color: '#1E3A8A', marginBottom: 12 }}&gt;业务侧 · 制造五指标（AI 要动的账）&lt;/Text&gt;&#10;            {biz.map((b, i) =&gt; (&#10;                &lt;Box key={i} style={{ flexDirection: 'row', alignItems: 'center', gap: 12, padding: '9px 16px', background: '#F5F8FC', borderRadius: 10, marginBottom: 8, border: '1px solid #E2E8F0' }}&gt;&#10;                    &lt;Text style={{ fontSize: 16, fontWeight: 'bold', color: '#0891B2', fontFamily: 'Space Grotesk, Inter', width: 26 }}&gt;{'0' + (i + 1)}&lt;/Text&gt;&#10;                    &lt;Text style={{ flex: 1, fontSize: 16, fontWeight: 'bold', color: '#1E3A8A' }}&gt;{b}&lt;/Text&gt;&#10;                &lt;/Box&gt;&#10;            ))}&#10;            &lt;Text style={{ fontSize: 13, color: '#64748B', marginTop: 'auto', paddingTop: 8 }}&gt;每个 AI 项目立项时，必须先锁定它要改善的 1–2 个指标 + 基线值。&lt;/Text&gt;&#10;        &lt;/Box&gt;&#10;        &lt;Box style={{ flex: 52, background: '#1E3A8A', borderRadius: 16, padding: '22px 28px', flexDirection: 'column', boxShadow: '0 8px 28px rgba(30,58,138,0.25)' }}&gt;&#10;            &lt;Text style={{ fontSize: 18, fontWeight: 'bold', color: '#FFFFFF', marginBottom: 12 }}&gt;采纳侧 · MAU / MEU + 用户分层&lt;/Text&gt;&#10;            &lt;Box style={{ flexDirection: 'row', gap: 16, marginBottom: 16 }}&gt;&#10;                &lt;Box style={{ flex: 1, background: 'rgba(6,182,212,0.15)', borderRadius: 12, padding: '14px 18px', border: '1px solid rgba(6,182,212,0.5)', alignItems: 'center' }}&gt;&#10;                    &lt;Text style={{ fontSize: 14, color: '#7FD9F0' }}&gt;MAU 月活用户&lt;/Text&gt;&#10;                    &lt;Text style={{ fontSize: 26, fontWeight: 'bold', color: '#FFFFFF', fontFamily: 'Space Grotesk, Inter', marginTop: 4 }}&gt;用了就算&lt;/Text&gt;&#10;                &lt;/Box&gt;&#10;                &lt;Box style={{ flex: 1, background: 'rgba(245,158,11,0.15)', borderRadius: 12, padding: '14px 18px', border: '1px solid rgba(245,158,11,0.6)', alignItems: 'center' }}&gt;&#10;                    &lt;Text style={{ fontSize: 14, color: '#F8C471' }}&gt;MEU 月有效用户&lt;/Text&gt;&#10;                    &lt;Text style={{ fontSize: 26, fontWeight: 'bold', color: '#F8C471', fontFamily: 'Space Grotesk, Inter', marginTop: 4 }}&gt;产生价值才算&lt;/Text&gt;&#10;                &lt;/Box&gt;&#10;            &lt;/Box&gt;&#10;            {tiers.map((t, i) =&gt; (&#10;                &lt;Box key={i} style={{ flexDirection: 'row', alignItems: 'center', gap: 12, marginBottom: 9 }}&gt;&#10;                    &lt;Text style={{ fontSize: 15, fontWeight: 'bold', color: t.c, width: 44 }}&gt;{t.t}&lt;/Text&gt;&#10;                    &lt;Box style={{ flex: 1, height: 10, background: 'rgba(255,255,255,0.12)', borderRadius: 5, overflow: 'hidden' }}&gt;&#10;                        &lt;Box style={{ width: t.w + '%', height: 10, background: t.c, borderRadius: 5 }} /&gt;&#10;                    &lt;/Box&gt;&#10;                    &lt;Text style={{ width: 170, fontSize: 13, color: '#DCE9FB' }}&gt;{t.d}&lt;/Text&gt;&#10;                &lt;/Box&gt;&#10;            ))}&#10;            &lt;Text style={{ fontSize: 14, color: '#A9C4E8', marginTop: 'auto', paddingTop: 10 }}&gt;健康线：MEU/MAU ＞ 40%，铁粉占比逐月上升 —— 采纳看板每周上会。&lt;/Text&gt;&#10;        &lt;/Box&gt;&#10;    &lt;/Box&gt;&#10;    &lt;Box style={{ height: 40, flexDirection: 'row', justifyContent: 'space-between', alignItems: 'center', marginTop: 10 }}&gt;&#10;        &lt;Text style={{ fontSize: 14, color: '#64748B' }}&gt;AI 规划与治理 · 高级&lt;/Text&gt;&#10;        &lt;Text style={{ fontSize: 14, color: '#64748B' }}&gt;14 / 24&lt;/Text&gt;&#10;    &lt;/Box&gt;&#10;&lt;/Slide&gt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5F8FC"/>
          </a:solidFill>
          <a:ln/>
        </p:spPr>
        <p:txBody>
          <a:bodyPr/>
          <a:p/>
        </p:txBody>
      </p:sp>
      <p:sp>
        <p:nvSpPr>
          <p:cNvPr id="111" name=""/>
          <p:cNvSpPr/>
          <p:nvPr/>
        </p:nvSpPr>
        <p:spPr>
          <a:xfrm rot="0" flipH="0" flipV="0">
            <a:off x="685800" y="466725"/>
            <a:ext cx="47625" cy="438150"/>
          </a:xfrm>
          <a:prstGeom prst="roundRect">
            <a:avLst>
              <a:gd name="adj" fmla="val 60000"/>
            </a:avLst>
          </a:prstGeom>
          <a:solidFill>
            <a:srgbClr val="06B6D4"/>
          </a:solidFill>
          <a:ln/>
        </p:spPr>
        <p:txBody>
          <a:bodyPr/>
          <a:p/>
        </p:txBody>
      </p:sp>
      <p:sp>
        <p:nvSpPr>
          <p:cNvPr id="112" name="" descr="{&quot;isTemplate&quot;:true,&quot;type&quot;:&quot;text&quot;}"/>
          <p:cNvSpPr txBox="1"/>
          <p:nvPr/>
        </p:nvSpPr>
        <p:spPr>
          <a:xfrm rot="0" flipH="0" flipV="0">
            <a:off x="885825" y="333375"/>
            <a:ext cx="4857750" cy="466725"/>
          </a:xfrm>
          <a:prstGeom prst="rect"/>
        </p:spPr>
        <p:txBody>
          <a:bodyPr wrap="none" lIns="0" tIns="0" rIns="0" bIns="0"/>
          <a:p>
            <a:pPr>
              <a:lnSpc>
                <a:spcPct val="120000"/>
              </a:lnSpc>
            </a:pPr>
            <a:r>
              <a:rPr lang="zh-CN" sz="2550" b="1">
                <a:solidFill>
                  <a:srgbClr val="1E3A8A"/>
                </a:solidFill>
                <a:latin typeface="PingFang SC"/>
                <a:ea typeface="PingFang SC"/>
              </a:rPr>
              <a:t>双指标体系：业务账</a:t>
            </a:r>
            <a:r>
              <a:rPr lang="en-US" sz="2550" b="1">
                <a:solidFill>
                  <a:srgbClr val="1E3A8A"/>
                </a:solidFill>
                <a:latin typeface="PingFang SC"/>
                <a:ea typeface="PingFang SC"/>
              </a:rPr>
              <a:t> + </a:t>
            </a:r>
            <a:r>
              <a:rPr lang="zh-CN" sz="2550" b="1">
                <a:solidFill>
                  <a:srgbClr val="1E3A8A"/>
                </a:solidFill>
                <a:latin typeface="PingFang SC"/>
                <a:ea typeface="PingFang SC"/>
              </a:rPr>
              <a:t>采纳账</a:t>
            </a:r>
            <a:endParaRPr/>
          </a:p>
        </p:txBody>
      </p:sp>
      <p:sp>
        <p:nvSpPr>
          <p:cNvPr id="113" name="" descr="{&quot;isTemplate&quot;:true,&quot;type&quot;:&quot;text&quot;}"/>
          <p:cNvSpPr txBox="1"/>
          <p:nvPr/>
        </p:nvSpPr>
        <p:spPr>
          <a:xfrm rot="0" flipH="0" flipV="0">
            <a:off x="885825" y="838200"/>
            <a:ext cx="485775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75">
                <a:solidFill>
                  <a:srgbClr val="64748B"/>
                </a:solidFill>
                <a:latin typeface="PingFang SC"/>
                <a:ea typeface="PingFang SC"/>
              </a:rPr>
              <a:t>AI </a:t>
            </a:r>
            <a:r>
              <a:rPr lang="zh-CN" sz="1275">
                <a:solidFill>
                  <a:srgbClr val="64748B"/>
                </a:solidFill>
                <a:latin typeface="PingFang SC"/>
                <a:ea typeface="PingFang SC"/>
              </a:rPr>
              <a:t>项目死因</a:t>
            </a:r>
            <a:r>
              <a:rPr lang="en-US" sz="1275">
                <a:solidFill>
                  <a:srgbClr val="64748B"/>
                </a:solidFill>
                <a:latin typeface="PingFang SC"/>
                <a:ea typeface="PingFang SC"/>
              </a:rPr>
              <a:t> TOP1 </a:t>
            </a:r>
            <a:r>
              <a:rPr lang="zh-CN" sz="1275">
                <a:solidFill>
                  <a:srgbClr val="64748B"/>
                </a:solidFill>
                <a:latin typeface="PingFang SC"/>
                <a:ea typeface="PingFang SC"/>
              </a:rPr>
              <a:t>不是模型差，是没人用</a:t>
            </a:r>
            <a:r>
              <a:rPr lang="en-US" sz="1275">
                <a:solidFill>
                  <a:srgbClr val="64748B"/>
                </a:solidFill>
                <a:latin typeface="PingFang SC"/>
                <a:ea typeface="PingFang SC"/>
              </a:rPr>
              <a:t> —— </a:t>
            </a:r>
            <a:r>
              <a:rPr lang="zh-CN" sz="1275">
                <a:solidFill>
                  <a:srgbClr val="64748B"/>
                </a:solidFill>
                <a:latin typeface="PingFang SC"/>
                <a:ea typeface="PingFang SC"/>
              </a:rPr>
              <a:t>所以要两条线一起看</a:t>
            </a:r>
            <a:endParaRPr/>
          </a:p>
        </p:txBody>
      </p:sp>
      <p:sp>
        <p:nvSpPr>
          <p:cNvPr id="114" name=""/>
          <p:cNvSpPr/>
          <p:nvPr/>
        </p:nvSpPr>
        <p:spPr>
          <a:xfrm rot="0" flipH="0" flipV="0">
            <a:off x="685800" y="1276350"/>
            <a:ext cx="5086350" cy="4876800"/>
          </a:xfrm>
          <a:prstGeom prst="roundRect">
            <a:avLst>
              <a:gd name="adj" fmla="val 3125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p/>
        </p:txBody>
      </p:sp>
      <p:sp>
        <p:nvSpPr>
          <p:cNvPr id="115" name="" descr="{&quot;isTemplate&quot;:true,&quot;type&quot;:&quot;text&quot;}"/>
          <p:cNvSpPr txBox="1"/>
          <p:nvPr/>
        </p:nvSpPr>
        <p:spPr>
          <a:xfrm rot="0" flipH="0" flipV="0">
            <a:off x="933450" y="1485900"/>
            <a:ext cx="459105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 b="1">
                <a:solidFill>
                  <a:srgbClr val="1E3A8A"/>
                </a:solidFill>
                <a:latin typeface="PingFang SC"/>
                <a:ea typeface="PingFang SC"/>
              </a:rPr>
              <a:t>业务侧</a:t>
            </a:r>
            <a:r>
              <a:rPr lang="en-US" sz="1350" b="1">
                <a:solidFill>
                  <a:srgbClr val="1E3A8A"/>
                </a:solidFill>
                <a:latin typeface="PingFang SC"/>
                <a:ea typeface="PingFang SC"/>
              </a:rPr>
              <a:t> · </a:t>
            </a:r>
            <a:r>
              <a:rPr lang="zh-CN" sz="1350" b="1">
                <a:solidFill>
                  <a:srgbClr val="1E3A8A"/>
                </a:solidFill>
                <a:latin typeface="PingFang SC"/>
                <a:ea typeface="PingFang SC"/>
              </a:rPr>
              <a:t>制造五指标（</a:t>
            </a:r>
            <a:r>
              <a:rPr lang="en-US" sz="1350" b="1">
                <a:solidFill>
                  <a:srgbClr val="1E3A8A"/>
                </a:solidFill>
                <a:latin typeface="PingFang SC"/>
                <a:ea typeface="PingFang SC"/>
              </a:rPr>
              <a:t>AI </a:t>
            </a:r>
            <a:r>
              <a:rPr lang="zh-CN" sz="1350" b="1">
                <a:solidFill>
                  <a:srgbClr val="1E3A8A"/>
                </a:solidFill>
                <a:latin typeface="PingFang SC"/>
                <a:ea typeface="PingFang SC"/>
              </a:rPr>
              <a:t>要动的账）</a:t>
            </a:r>
            <a:endParaRPr/>
          </a:p>
        </p:txBody>
      </p:sp>
      <p:sp>
        <p:nvSpPr>
          <p:cNvPr id="116" name=""/>
          <p:cNvSpPr/>
          <p:nvPr/>
        </p:nvSpPr>
        <p:spPr>
          <a:xfrm rot="0" flipH="0" flipV="0">
            <a:off x="933450" y="1809750"/>
            <a:ext cx="4591050" cy="361950"/>
          </a:xfrm>
          <a:prstGeom prst="roundRect">
            <a:avLst>
              <a:gd name="adj" fmla="val 26316"/>
            </a:avLst>
          </a:prstGeom>
          <a:solidFill>
            <a:srgbClr val="F5F8FC"/>
          </a:solidFill>
          <a:ln w="12700">
            <a:solidFill>
              <a:srgbClr val="E2E8F0"/>
            </a:solidFill>
            <a:prstDash val="solid"/>
          </a:ln>
        </p:spPr>
        <p:txBody>
          <a:bodyPr/>
          <a:p/>
        </p:txBody>
      </p:sp>
      <p:sp>
        <p:nvSpPr>
          <p:cNvPr id="117" name="" descr="{&quot;isTemplate&quot;:true,&quot;type&quot;:&quot;text&quot;}"/>
          <p:cNvSpPr txBox="1"/>
          <p:nvPr/>
        </p:nvSpPr>
        <p:spPr>
          <a:xfrm rot="0" flipH="0" flipV="0">
            <a:off x="1085850" y="1895475"/>
            <a:ext cx="24765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00" b="1">
                <a:solidFill>
                  <a:srgbClr val="0891B2"/>
                </a:solidFill>
                <a:latin typeface="Space Grotesk"/>
                <a:ea typeface="Space Grotesk"/>
              </a:rPr>
              <a:t>01</a:t>
            </a:r>
            <a:endParaRPr/>
          </a:p>
        </p:txBody>
      </p:sp>
      <p:sp>
        <p:nvSpPr>
          <p:cNvPr id="118" name="" descr="{&quot;isTemplate&quot;:true,&quot;type&quot;:&quot;text&quot;}"/>
          <p:cNvSpPr txBox="1"/>
          <p:nvPr/>
        </p:nvSpPr>
        <p:spPr>
          <a:xfrm rot="0" flipH="0" flipV="0">
            <a:off x="1447800" y="1895475"/>
            <a:ext cx="39243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00" b="1">
                <a:solidFill>
                  <a:srgbClr val="1E3A8A"/>
                </a:solidFill>
                <a:latin typeface="PingFang SC"/>
                <a:ea typeface="PingFang SC"/>
              </a:rPr>
              <a:t>效率 </a:t>
            </a:r>
            <a:r>
              <a:rPr lang="zh-CN" sz="1200" b="1">
                <a:solidFill>
                  <a:srgbClr val="1E3A8A"/>
                </a:solidFill>
                <a:latin typeface="PingFang SC"/>
                <a:ea typeface="PingFang SC"/>
              </a:rPr>
              <a:t>综合效率</a:t>
            </a:r>
            <a:endParaRPr/>
          </a:p>
        </p:txBody>
      </p:sp>
      <p:sp>
        <p:nvSpPr>
          <p:cNvPr id="119" name=""/>
          <p:cNvSpPr/>
          <p:nvPr/>
        </p:nvSpPr>
        <p:spPr>
          <a:xfrm rot="0" flipH="0" flipV="0">
            <a:off x="933450" y="2247900"/>
            <a:ext cx="4591050" cy="361950"/>
          </a:xfrm>
          <a:prstGeom prst="roundRect">
            <a:avLst>
              <a:gd name="adj" fmla="val 26316"/>
            </a:avLst>
          </a:prstGeom>
          <a:solidFill>
            <a:srgbClr val="F5F8FC"/>
          </a:solidFill>
          <a:ln w="12700">
            <a:solidFill>
              <a:srgbClr val="E2E8F0"/>
            </a:solidFill>
            <a:prstDash val="solid"/>
          </a:ln>
        </p:spPr>
        <p:txBody>
          <a:bodyPr/>
          <a:p/>
        </p:txBody>
      </p:sp>
      <p:sp>
        <p:nvSpPr>
          <p:cNvPr id="120" name="" descr="{&quot;isTemplate&quot;:true,&quot;type&quot;:&quot;text&quot;}"/>
          <p:cNvSpPr txBox="1"/>
          <p:nvPr/>
        </p:nvSpPr>
        <p:spPr>
          <a:xfrm rot="0" flipH="0" flipV="0">
            <a:off x="1085850" y="2333625"/>
            <a:ext cx="24765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00" b="1">
                <a:solidFill>
                  <a:srgbClr val="0891B2"/>
                </a:solidFill>
                <a:latin typeface="Space Grotesk"/>
                <a:ea typeface="Space Grotesk"/>
              </a:rPr>
              <a:t>02</a:t>
            </a:r>
            <a:endParaRPr/>
          </a:p>
        </p:txBody>
      </p:sp>
      <p:sp>
        <p:nvSpPr>
          <p:cNvPr id="121" name="" descr="{&quot;isTemplate&quot;:true,&quot;type&quot;:&quot;text&quot;}"/>
          <p:cNvSpPr txBox="1"/>
          <p:nvPr/>
        </p:nvSpPr>
        <p:spPr>
          <a:xfrm rot="0" flipH="0" flipV="0">
            <a:off x="1447800" y="2333625"/>
            <a:ext cx="39243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00" b="1">
                <a:solidFill>
                  <a:srgbClr val="1E3A8A"/>
                </a:solidFill>
                <a:latin typeface="PingFang SC"/>
                <a:ea typeface="PingFang SC"/>
              </a:rPr>
              <a:t>质量（差错率/一次通过）</a:t>
            </a:r>
            <a:r>
              <a:rPr lang="zh-CN" sz="1200" b="1">
                <a:solidFill>
                  <a:srgbClr val="1E3A8A"/>
                </a:solidFill>
                <a:latin typeface="PingFang SC"/>
                <a:ea typeface="PingFang SC"/>
              </a:rPr>
              <a:t/>
            </a:r>
            <a:endParaRPr/>
          </a:p>
        </p:txBody>
      </p:sp>
      <p:sp>
        <p:nvSpPr>
          <p:cNvPr id="122" name=""/>
          <p:cNvSpPr/>
          <p:nvPr/>
        </p:nvSpPr>
        <p:spPr>
          <a:xfrm rot="0" flipH="0" flipV="0">
            <a:off x="933450" y="2686050"/>
            <a:ext cx="4591050" cy="361950"/>
          </a:xfrm>
          <a:prstGeom prst="roundRect">
            <a:avLst>
              <a:gd name="adj" fmla="val 26316"/>
            </a:avLst>
          </a:prstGeom>
          <a:solidFill>
            <a:srgbClr val="F5F8FC"/>
          </a:solidFill>
          <a:ln w="12700">
            <a:solidFill>
              <a:srgbClr val="E2E8F0"/>
            </a:solidFill>
            <a:prstDash val="solid"/>
          </a:ln>
        </p:spPr>
        <p:txBody>
          <a:bodyPr/>
          <a:p/>
        </p:txBody>
      </p:sp>
      <p:sp>
        <p:nvSpPr>
          <p:cNvPr id="123" name="" descr="{&quot;isTemplate&quot;:true,&quot;type&quot;:&quot;text&quot;}"/>
          <p:cNvSpPr txBox="1"/>
          <p:nvPr/>
        </p:nvSpPr>
        <p:spPr>
          <a:xfrm rot="0" flipH="0" flipV="0">
            <a:off x="1085850" y="2771775"/>
            <a:ext cx="24765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00" b="1">
                <a:solidFill>
                  <a:srgbClr val="0891B2"/>
                </a:solidFill>
                <a:latin typeface="Space Grotesk"/>
                <a:ea typeface="Space Grotesk"/>
              </a:rPr>
              <a:t>03</a:t>
            </a:r>
            <a:endParaRPr/>
          </a:p>
        </p:txBody>
      </p:sp>
      <p:sp>
        <p:nvSpPr>
          <p:cNvPr id="124" name="" descr="{&quot;isTemplate&quot;:true,&quot;type&quot;:&quot;text&quot;}"/>
          <p:cNvSpPr txBox="1"/>
          <p:nvPr/>
        </p:nvSpPr>
        <p:spPr>
          <a:xfrm rot="0" flipH="0" flipV="0">
            <a:off x="1447800" y="2771775"/>
            <a:ext cx="39243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00" b="1">
                <a:solidFill>
                  <a:srgbClr val="1E3A8A"/>
                </a:solidFill>
                <a:latin typeface="PingFang SC"/>
                <a:ea typeface="PingFang SC"/>
              </a:rPr>
              <a:t>成本（节约工时/单位成本）</a:t>
            </a:r>
            <a:r>
              <a:rPr lang="zh-CN" sz="1200" b="1">
                <a:solidFill>
                  <a:srgbClr val="1E3A8A"/>
                </a:solidFill>
                <a:latin typeface="PingFang SC"/>
                <a:ea typeface="PingFang SC"/>
              </a:rPr>
              <a:t/>
            </a:r>
            <a:endParaRPr/>
          </a:p>
        </p:txBody>
      </p:sp>
      <p:sp>
        <p:nvSpPr>
          <p:cNvPr id="125" name=""/>
          <p:cNvSpPr/>
          <p:nvPr/>
        </p:nvSpPr>
        <p:spPr>
          <a:xfrm rot="0" flipH="0" flipV="0">
            <a:off x="933450" y="3124200"/>
            <a:ext cx="4591050" cy="361950"/>
          </a:xfrm>
          <a:prstGeom prst="roundRect">
            <a:avLst>
              <a:gd name="adj" fmla="val 26316"/>
            </a:avLst>
          </a:prstGeom>
          <a:solidFill>
            <a:srgbClr val="F5F8FC"/>
          </a:solidFill>
          <a:ln w="12700">
            <a:solidFill>
              <a:srgbClr val="E2E8F0"/>
            </a:solidFill>
            <a:prstDash val="solid"/>
          </a:ln>
        </p:spPr>
        <p:txBody>
          <a:bodyPr/>
          <a:p/>
        </p:txBody>
      </p:sp>
      <p:sp>
        <p:nvSpPr>
          <p:cNvPr id="126" name="" descr="{&quot;isTemplate&quot;:true,&quot;type&quot;:&quot;text&quot;}"/>
          <p:cNvSpPr txBox="1"/>
          <p:nvPr/>
        </p:nvSpPr>
        <p:spPr>
          <a:xfrm rot="0" flipH="0" flipV="0">
            <a:off x="1085850" y="3209925"/>
            <a:ext cx="24765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00" b="1">
                <a:solidFill>
                  <a:srgbClr val="0891B2"/>
                </a:solidFill>
                <a:latin typeface="Space Grotesk"/>
                <a:ea typeface="Space Grotesk"/>
              </a:rPr>
              <a:t>04</a:t>
            </a:r>
            <a:endParaRPr/>
          </a:p>
        </p:txBody>
      </p:sp>
      <p:sp>
        <p:nvSpPr>
          <p:cNvPr id="127" name="" descr="{&quot;isTemplate&quot;:true,&quot;type&quot;:&quot;text&quot;}"/>
          <p:cNvSpPr txBox="1"/>
          <p:nvPr/>
        </p:nvSpPr>
        <p:spPr>
          <a:xfrm rot="0" flipH="0" flipV="0">
            <a:off x="1447800" y="3209925"/>
            <a:ext cx="39243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 b="1">
                <a:solidFill>
                  <a:srgbClr val="1E3A8A"/>
                </a:solidFill>
                <a:latin typeface="PingFang SC"/>
                <a:ea typeface="PingFang SC"/>
              </a:rPr>
              <a:t>差错率</a:t>
            </a:r>
            <a:r>
              <a:rPr lang="en-US" sz="1200" b="1">
                <a:solidFill>
                  <a:srgbClr val="1E3A8A"/>
                </a:solidFill>
                <a:latin typeface="PingFang SC"/>
                <a:ea typeface="PingFang SC"/>
              </a:rPr>
              <a:t> / PPM</a:t>
            </a:r>
            <a:endParaRPr/>
          </a:p>
        </p:txBody>
      </p:sp>
      <p:sp>
        <p:nvSpPr>
          <p:cNvPr id="128" name=""/>
          <p:cNvSpPr/>
          <p:nvPr/>
        </p:nvSpPr>
        <p:spPr>
          <a:xfrm rot="0" flipH="0" flipV="0">
            <a:off x="933450" y="3562350"/>
            <a:ext cx="4591050" cy="361950"/>
          </a:xfrm>
          <a:prstGeom prst="roundRect">
            <a:avLst>
              <a:gd name="adj" fmla="val 26316"/>
            </a:avLst>
          </a:prstGeom>
          <a:solidFill>
            <a:srgbClr val="F5F8FC"/>
          </a:solidFill>
          <a:ln w="12700">
            <a:solidFill>
              <a:srgbClr val="E2E8F0"/>
            </a:solidFill>
            <a:prstDash val="solid"/>
          </a:ln>
        </p:spPr>
        <p:txBody>
          <a:bodyPr/>
          <a:p/>
        </p:txBody>
      </p:sp>
      <p:sp>
        <p:nvSpPr>
          <p:cNvPr id="129" name="" descr="{&quot;isTemplate&quot;:true,&quot;type&quot;:&quot;text&quot;}"/>
          <p:cNvSpPr txBox="1"/>
          <p:nvPr/>
        </p:nvSpPr>
        <p:spPr>
          <a:xfrm rot="0" flipH="0" flipV="0">
            <a:off x="1085850" y="3648075"/>
            <a:ext cx="24765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00" b="1">
                <a:solidFill>
                  <a:srgbClr val="0891B2"/>
                </a:solidFill>
                <a:latin typeface="Space Grotesk"/>
                <a:ea typeface="Space Grotesk"/>
              </a:rPr>
              <a:t>05</a:t>
            </a:r>
            <a:endParaRPr/>
          </a:p>
        </p:txBody>
      </p:sp>
      <p:sp>
        <p:nvSpPr>
          <p:cNvPr id="130" name="" descr="{&quot;isTemplate&quot;:true,&quot;type&quot;:&quot;text&quot;}"/>
          <p:cNvSpPr txBox="1"/>
          <p:nvPr/>
        </p:nvSpPr>
        <p:spPr>
          <a:xfrm rot="0" flipH="0" flipV="0">
            <a:off x="1447800" y="3648075"/>
            <a:ext cx="39243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 b="1">
                <a:solidFill>
                  <a:srgbClr val="1E3A8A"/>
                </a:solidFill>
                <a:latin typeface="PingFang SC"/>
                <a:ea typeface="PingFang SC"/>
              </a:rPr>
              <a:t>单位能耗</a:t>
            </a:r>
            <a:endParaRPr/>
          </a:p>
        </p:txBody>
      </p:sp>
      <p:sp>
        <p:nvSpPr>
          <p:cNvPr id="131" name="" descr="{&quot;isTemplate&quot;:true,&quot;type&quot;:&quot;text&quot;}"/>
          <p:cNvSpPr txBox="1"/>
          <p:nvPr/>
        </p:nvSpPr>
        <p:spPr>
          <a:xfrm rot="0" flipH="0" flipV="0">
            <a:off x="933450" y="5715000"/>
            <a:ext cx="4591050" cy="228600"/>
          </a:xfrm>
          <a:prstGeom prst="rect"/>
        </p:spPr>
        <p:txBody>
          <a:bodyPr wrap="none" lIns="0" tIns="57150" rIns="0" bIns="0"/>
          <a:p>
            <a:pPr>
              <a:lnSpc>
                <a:spcPct val="100000"/>
              </a:lnSpc>
            </a:pPr>
            <a:r>
              <a:rPr lang="zh-CN" sz="975">
                <a:solidFill>
                  <a:srgbClr val="64748B"/>
                </a:solidFill>
                <a:latin typeface="PingFang SC"/>
                <a:ea typeface="PingFang SC"/>
              </a:rPr>
              <a:t>每个</a:t>
            </a:r>
            <a:r>
              <a:rPr lang="en-US" sz="975">
                <a:solidFill>
                  <a:srgbClr val="64748B"/>
                </a:solidFill>
                <a:latin typeface="PingFang SC"/>
                <a:ea typeface="PingFang SC"/>
              </a:rPr>
              <a:t> AI </a:t>
            </a:r>
            <a:r>
              <a:rPr lang="zh-CN" sz="975">
                <a:solidFill>
                  <a:srgbClr val="64748B"/>
                </a:solidFill>
                <a:latin typeface="PingFang SC"/>
                <a:ea typeface="PingFang SC"/>
              </a:rPr>
              <a:t>项目立项时，必须先锁定它要改善的</a:t>
            </a:r>
            <a:r>
              <a:rPr lang="en-US" sz="975">
                <a:solidFill>
                  <a:srgbClr val="64748B"/>
                </a:solidFill>
                <a:latin typeface="PingFang SC"/>
                <a:ea typeface="PingFang SC"/>
              </a:rPr>
              <a:t> 1–2 </a:t>
            </a:r>
            <a:r>
              <a:rPr lang="zh-CN" sz="975">
                <a:solidFill>
                  <a:srgbClr val="64748B"/>
                </a:solidFill>
                <a:latin typeface="PingFang SC"/>
                <a:ea typeface="PingFang SC"/>
              </a:rPr>
              <a:t>个指标</a:t>
            </a:r>
            <a:r>
              <a:rPr lang="en-US" sz="975">
                <a:solidFill>
                  <a:srgbClr val="64748B"/>
                </a:solidFill>
                <a:latin typeface="PingFang SC"/>
                <a:ea typeface="PingFang SC"/>
              </a:rPr>
              <a:t> + </a:t>
            </a:r>
            <a:r>
              <a:rPr lang="zh-CN" sz="975">
                <a:solidFill>
                  <a:srgbClr val="64748B"/>
                </a:solidFill>
                <a:latin typeface="PingFang SC"/>
                <a:ea typeface="PingFang SC"/>
              </a:rPr>
              <a:t>基线值。</a:t>
            </a:r>
            <a:endParaRPr/>
          </a:p>
        </p:txBody>
      </p:sp>
      <p:sp>
        <p:nvSpPr>
          <p:cNvPr id="132" name=""/>
          <p:cNvSpPr/>
          <p:nvPr/>
        </p:nvSpPr>
        <p:spPr>
          <a:xfrm rot="0" flipH="0" flipV="0">
            <a:off x="6000750" y="1276350"/>
            <a:ext cx="5505450" cy="4876800"/>
          </a:xfrm>
          <a:prstGeom prst="roundRect">
            <a:avLst>
              <a:gd name="adj" fmla="val 3125"/>
            </a:avLst>
          </a:prstGeom>
          <a:solidFill>
            <a:srgbClr val="1E3A8A"/>
          </a:solidFill>
          <a:ln/>
          <a:effectLst>
            <a:outerShdw blurRad="266700" dist="76200" dir="5400000">
              <a:srgbClr val="1E3A8A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133" name="" descr="{&quot;isTemplate&quot;:true,&quot;type&quot;:&quot;text&quot;}"/>
          <p:cNvSpPr txBox="1"/>
          <p:nvPr/>
        </p:nvSpPr>
        <p:spPr>
          <a:xfrm rot="0" flipH="0" flipV="0">
            <a:off x="6267450" y="1485900"/>
            <a:ext cx="497205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 b="1">
                <a:solidFill>
                  <a:srgbClr val="FFFFFF"/>
                </a:solidFill>
                <a:latin typeface="PingFang SC"/>
                <a:ea typeface="PingFang SC"/>
              </a:rPr>
              <a:t>采纳侧</a:t>
            </a:r>
            <a:r>
              <a:rPr lang="en-US" sz="1350" b="1">
                <a:solidFill>
                  <a:srgbClr val="FFFFFF"/>
                </a:solidFill>
                <a:latin typeface="PingFang SC"/>
                <a:ea typeface="PingFang SC"/>
              </a:rPr>
              <a:t> · MAU / MEU + </a:t>
            </a:r>
            <a:r>
              <a:rPr lang="zh-CN" sz="1350" b="1">
                <a:solidFill>
                  <a:srgbClr val="FFFFFF"/>
                </a:solidFill>
                <a:latin typeface="PingFang SC"/>
                <a:ea typeface="PingFang SC"/>
              </a:rPr>
              <a:t>用户分层</a:t>
            </a:r>
            <a:endParaRPr/>
          </a:p>
        </p:txBody>
      </p:sp>
      <p:sp>
        <p:nvSpPr>
          <p:cNvPr id="134" name=""/>
          <p:cNvSpPr/>
          <p:nvPr/>
        </p:nvSpPr>
        <p:spPr>
          <a:xfrm rot="0" flipH="0" flipV="0">
            <a:off x="6267450" y="1809750"/>
            <a:ext cx="2409825" cy="771525"/>
          </a:xfrm>
          <a:prstGeom prst="roundRect">
            <a:avLst>
              <a:gd name="adj" fmla="val 14815"/>
            </a:avLst>
          </a:prstGeom>
          <a:solidFill>
            <a:srgbClr val="06B6D4">
              <a:alpha val="15000"/>
            </a:srgbClr>
          </a:solidFill>
          <a:ln w="12700">
            <a:solidFill>
              <a:srgbClr val="06B6D4">
                <a:alpha val="50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35" name="" descr="{&quot;isTemplate&quot;:true,&quot;type&quot;:&quot;text&quot;}"/>
          <p:cNvSpPr txBox="1"/>
          <p:nvPr/>
        </p:nvSpPr>
        <p:spPr>
          <a:xfrm rot="0" flipH="0" flipV="0">
            <a:off x="7029450" y="1943100"/>
            <a:ext cx="88582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7FD9F0"/>
                </a:solidFill>
                <a:latin typeface="PingFang SC"/>
                <a:ea typeface="PingFang SC"/>
              </a:rPr>
              <a:t>MAU </a:t>
            </a:r>
            <a:r>
              <a:rPr lang="zh-CN" sz="1050">
                <a:solidFill>
                  <a:srgbClr val="7FD9F0"/>
                </a:solidFill>
                <a:latin typeface="PingFang SC"/>
                <a:ea typeface="PingFang SC"/>
              </a:rPr>
              <a:t>月活用户</a:t>
            </a:r>
            <a:endParaRPr/>
          </a:p>
        </p:txBody>
      </p:sp>
      <p:sp>
        <p:nvSpPr>
          <p:cNvPr id="136" name="" descr="{&quot;isTemplate&quot;:true,&quot;type&quot;:&quot;text&quot;}"/>
          <p:cNvSpPr txBox="1"/>
          <p:nvPr/>
        </p:nvSpPr>
        <p:spPr>
          <a:xfrm rot="0" flipH="0" flipV="0">
            <a:off x="6981825" y="2143125"/>
            <a:ext cx="990600" cy="3048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950" b="1">
                <a:solidFill>
                  <a:srgbClr val="FFFFFF"/>
                </a:solidFill>
                <a:latin typeface="Space Grotesk"/>
                <a:ea typeface="Space Grotesk"/>
              </a:rPr>
              <a:t>用了就算</a:t>
            </a:r>
            <a:endParaRPr/>
          </a:p>
        </p:txBody>
      </p:sp>
      <p:sp>
        <p:nvSpPr>
          <p:cNvPr id="137" name=""/>
          <p:cNvSpPr/>
          <p:nvPr/>
        </p:nvSpPr>
        <p:spPr>
          <a:xfrm rot="0" flipH="0" flipV="0">
            <a:off x="8829675" y="1809750"/>
            <a:ext cx="2409825" cy="771525"/>
          </a:xfrm>
          <a:prstGeom prst="roundRect">
            <a:avLst>
              <a:gd name="adj" fmla="val 14815"/>
            </a:avLst>
          </a:prstGeom>
          <a:solidFill>
            <a:srgbClr val="F59E0B">
              <a:alpha val="15000"/>
            </a:srgbClr>
          </a:solidFill>
          <a:ln w="12700">
            <a:solidFill>
              <a:srgbClr val="F59E0B">
                <a:alpha val="60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38" name="" descr="{&quot;isTemplate&quot;:true,&quot;type&quot;:&quot;text&quot;}"/>
          <p:cNvSpPr txBox="1"/>
          <p:nvPr/>
        </p:nvSpPr>
        <p:spPr>
          <a:xfrm rot="0" flipH="0" flipV="0">
            <a:off x="9534525" y="1943100"/>
            <a:ext cx="10096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F8C471"/>
                </a:solidFill>
                <a:latin typeface="PingFang SC"/>
                <a:ea typeface="PingFang SC"/>
              </a:rPr>
              <a:t>MEU </a:t>
            </a:r>
            <a:r>
              <a:rPr lang="zh-CN" sz="1050">
                <a:solidFill>
                  <a:srgbClr val="F8C471"/>
                </a:solidFill>
                <a:latin typeface="PingFang SC"/>
                <a:ea typeface="PingFang SC"/>
              </a:rPr>
              <a:t>月有效用户</a:t>
            </a:r>
            <a:endParaRPr/>
          </a:p>
        </p:txBody>
      </p:sp>
      <p:sp>
        <p:nvSpPr>
          <p:cNvPr id="139" name="" descr="{&quot;isTemplate&quot;:true,&quot;type&quot;:&quot;text&quot;}"/>
          <p:cNvSpPr txBox="1"/>
          <p:nvPr/>
        </p:nvSpPr>
        <p:spPr>
          <a:xfrm rot="0" flipH="0" flipV="0">
            <a:off x="9296400" y="2143125"/>
            <a:ext cx="1485900" cy="3048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950" b="1">
                <a:solidFill>
                  <a:srgbClr val="F8C471"/>
                </a:solidFill>
                <a:latin typeface="Space Grotesk"/>
                <a:ea typeface="Space Grotesk"/>
              </a:rPr>
              <a:t>产生价值才算</a:t>
            </a:r>
            <a:endParaRPr/>
          </a:p>
        </p:txBody>
      </p:sp>
      <p:sp>
        <p:nvSpPr>
          <p:cNvPr id="140" name="" descr="{&quot;isTemplate&quot;:true,&quot;type&quot;:&quot;text&quot;}"/>
          <p:cNvSpPr txBox="1"/>
          <p:nvPr/>
        </p:nvSpPr>
        <p:spPr>
          <a:xfrm rot="0" flipH="0" flipV="0">
            <a:off x="6267450" y="2733675"/>
            <a:ext cx="4191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 b="1">
                <a:solidFill>
                  <a:srgbClr val="F59E0B"/>
                </a:solidFill>
                <a:latin typeface="PingFang SC"/>
                <a:ea typeface="PingFang SC"/>
              </a:rPr>
              <a:t>铁粉</a:t>
            </a:r>
            <a:endParaRPr/>
          </a:p>
        </p:txBody>
      </p:sp>
      <p:sp>
        <p:nvSpPr>
          <p:cNvPr id="141" name=""/>
          <p:cNvSpPr/>
          <p:nvPr/>
        </p:nvSpPr>
        <p:spPr>
          <a:xfrm rot="0" flipH="0" flipV="0">
            <a:off x="6800850" y="2771775"/>
            <a:ext cx="2705100" cy="95250"/>
          </a:xfrm>
          <a:prstGeom prst="roundRect">
            <a:avLst>
              <a:gd name="adj" fmla="val 50000"/>
            </a:avLst>
          </a:prstGeom>
          <a:solidFill>
            <a:srgbClr val="FFFFFF">
              <a:alpha val="12000"/>
            </a:srgbClr>
          </a:solidFill>
          <a:ln/>
        </p:spPr>
        <p:txBody>
          <a:bodyPr/>
          <a:p/>
        </p:txBody>
      </p:sp>
      <p:sp>
        <p:nvSpPr>
          <p:cNvPr id="142" name=""/>
          <p:cNvSpPr/>
          <p:nvPr/>
        </p:nvSpPr>
        <p:spPr>
          <a:xfrm rot="0" flipH="0" flipV="0">
            <a:off x="6800850" y="2771775"/>
            <a:ext cx="676275" cy="95250"/>
          </a:xfrm>
          <a:prstGeom prst="roundRect">
            <a:avLst>
              <a:gd name="adj" fmla="val 50000"/>
            </a:avLst>
          </a:prstGeom>
          <a:solidFill>
            <a:srgbClr val="F59E0B"/>
          </a:solidFill>
          <a:ln/>
        </p:spPr>
        <p:txBody>
          <a:bodyPr/>
          <a:p/>
        </p:txBody>
      </p:sp>
      <p:sp>
        <p:nvSpPr>
          <p:cNvPr id="143" name="" descr="{&quot;isTemplate&quot;:true,&quot;type&quot;:&quot;text&quot;}"/>
          <p:cNvSpPr txBox="1"/>
          <p:nvPr/>
        </p:nvSpPr>
        <p:spPr>
          <a:xfrm rot="0" flipH="0" flipV="0">
            <a:off x="9620250" y="2743200"/>
            <a:ext cx="161925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>
                <a:solidFill>
                  <a:srgbClr val="DCE9FB"/>
                </a:solidFill>
                <a:latin typeface="PingFang SC"/>
                <a:ea typeface="PingFang SC"/>
              </a:rPr>
              <a:t>每天用、主动提需求</a:t>
            </a:r>
            <a:endParaRPr/>
          </a:p>
        </p:txBody>
      </p:sp>
      <p:sp>
        <p:nvSpPr>
          <p:cNvPr id="144" name="" descr="{&quot;isTemplate&quot;:true,&quot;type&quot;:&quot;text&quot;}"/>
          <p:cNvSpPr txBox="1"/>
          <p:nvPr/>
        </p:nvSpPr>
        <p:spPr>
          <a:xfrm rot="0" flipH="0" flipV="0">
            <a:off x="6267450" y="2990850"/>
            <a:ext cx="4191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 b="1">
                <a:solidFill>
                  <a:srgbClr val="06B6D4"/>
                </a:solidFill>
                <a:latin typeface="PingFang SC"/>
                <a:ea typeface="PingFang SC"/>
              </a:rPr>
              <a:t>偶尔</a:t>
            </a:r>
            <a:endParaRPr/>
          </a:p>
        </p:txBody>
      </p:sp>
      <p:sp>
        <p:nvSpPr>
          <p:cNvPr id="145" name=""/>
          <p:cNvSpPr/>
          <p:nvPr/>
        </p:nvSpPr>
        <p:spPr>
          <a:xfrm rot="0" flipH="0" flipV="0">
            <a:off x="6800850" y="3028950"/>
            <a:ext cx="2705100" cy="95250"/>
          </a:xfrm>
          <a:prstGeom prst="roundRect">
            <a:avLst>
              <a:gd name="adj" fmla="val 50000"/>
            </a:avLst>
          </a:prstGeom>
          <a:solidFill>
            <a:srgbClr val="FFFFFF">
              <a:alpha val="12000"/>
            </a:srgbClr>
          </a:solidFill>
          <a:ln/>
        </p:spPr>
        <p:txBody>
          <a:bodyPr/>
          <a:p/>
        </p:txBody>
      </p:sp>
      <p:sp>
        <p:nvSpPr>
          <p:cNvPr id="146" name=""/>
          <p:cNvSpPr/>
          <p:nvPr/>
        </p:nvSpPr>
        <p:spPr>
          <a:xfrm rot="0" flipH="0" flipV="0">
            <a:off x="6800850" y="3028950"/>
            <a:ext cx="1219200" cy="95250"/>
          </a:xfrm>
          <a:prstGeom prst="roundRect">
            <a:avLst>
              <a:gd name="adj" fmla="val 50000"/>
            </a:avLst>
          </a:prstGeom>
          <a:solidFill>
            <a:srgbClr val="06B6D4"/>
          </a:solidFill>
          <a:ln/>
        </p:spPr>
        <p:txBody>
          <a:bodyPr/>
          <a:p/>
        </p:txBody>
      </p:sp>
      <p:sp>
        <p:nvSpPr>
          <p:cNvPr id="147" name="" descr="{&quot;isTemplate&quot;:true,&quot;type&quot;:&quot;text&quot;}"/>
          <p:cNvSpPr txBox="1"/>
          <p:nvPr/>
        </p:nvSpPr>
        <p:spPr>
          <a:xfrm rot="0" flipH="0" flipV="0">
            <a:off x="9620250" y="3000375"/>
            <a:ext cx="161925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>
                <a:solidFill>
                  <a:srgbClr val="DCE9FB"/>
                </a:solidFill>
                <a:latin typeface="PingFang SC"/>
                <a:ea typeface="PingFang SC"/>
              </a:rPr>
              <a:t>想起来才用</a:t>
            </a:r>
            <a:endParaRPr/>
          </a:p>
        </p:txBody>
      </p:sp>
      <p:sp>
        <p:nvSpPr>
          <p:cNvPr id="148" name="" descr="{&quot;isTemplate&quot;:true,&quot;type&quot;:&quot;text&quot;}"/>
          <p:cNvSpPr txBox="1"/>
          <p:nvPr/>
        </p:nvSpPr>
        <p:spPr>
          <a:xfrm rot="0" flipH="0" flipV="0">
            <a:off x="6267450" y="3248025"/>
            <a:ext cx="4191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 b="1">
                <a:solidFill>
                  <a:srgbClr val="64748B"/>
                </a:solidFill>
                <a:latin typeface="PingFang SC"/>
                <a:ea typeface="PingFang SC"/>
              </a:rPr>
              <a:t>尝鲜</a:t>
            </a:r>
            <a:endParaRPr/>
          </a:p>
        </p:txBody>
      </p:sp>
      <p:sp>
        <p:nvSpPr>
          <p:cNvPr id="149" name=""/>
          <p:cNvSpPr/>
          <p:nvPr/>
        </p:nvSpPr>
        <p:spPr>
          <a:xfrm rot="0" flipH="0" flipV="0">
            <a:off x="6800850" y="3286125"/>
            <a:ext cx="2705100" cy="95250"/>
          </a:xfrm>
          <a:prstGeom prst="roundRect">
            <a:avLst>
              <a:gd name="adj" fmla="val 50000"/>
            </a:avLst>
          </a:prstGeom>
          <a:solidFill>
            <a:srgbClr val="FFFFFF">
              <a:alpha val="12000"/>
            </a:srgbClr>
          </a:solidFill>
          <a:ln/>
        </p:spPr>
        <p:txBody>
          <a:bodyPr/>
          <a:p/>
        </p:txBody>
      </p:sp>
      <p:sp>
        <p:nvSpPr>
          <p:cNvPr id="150" name=""/>
          <p:cNvSpPr/>
          <p:nvPr/>
        </p:nvSpPr>
        <p:spPr>
          <a:xfrm rot="0" flipH="0" flipV="0">
            <a:off x="6800850" y="3286125"/>
            <a:ext cx="1895475" cy="95250"/>
          </a:xfrm>
          <a:prstGeom prst="roundRect">
            <a:avLst>
              <a:gd name="adj" fmla="val 50000"/>
            </a:avLst>
          </a:prstGeom>
          <a:solidFill>
            <a:srgbClr val="64748B"/>
          </a:solidFill>
          <a:ln/>
        </p:spPr>
        <p:txBody>
          <a:bodyPr/>
          <a:p/>
        </p:txBody>
      </p:sp>
      <p:sp>
        <p:nvSpPr>
          <p:cNvPr id="151" name="" descr="{&quot;isTemplate&quot;:true,&quot;type&quot;:&quot;text&quot;}"/>
          <p:cNvSpPr txBox="1"/>
          <p:nvPr/>
        </p:nvSpPr>
        <p:spPr>
          <a:xfrm rot="0" flipH="0" flipV="0">
            <a:off x="9620250" y="3257550"/>
            <a:ext cx="161925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>
                <a:solidFill>
                  <a:srgbClr val="DCE9FB"/>
                </a:solidFill>
                <a:latin typeface="PingFang SC"/>
                <a:ea typeface="PingFang SC"/>
              </a:rPr>
              <a:t>试用过一次就没了</a:t>
            </a:r>
            <a:endParaRPr/>
          </a:p>
        </p:txBody>
      </p:sp>
      <p:sp>
        <p:nvSpPr>
          <p:cNvPr id="152" name="" descr="{&quot;isTemplate&quot;:true,&quot;type&quot;:&quot;text&quot;}"/>
          <p:cNvSpPr txBox="1"/>
          <p:nvPr/>
        </p:nvSpPr>
        <p:spPr>
          <a:xfrm rot="0" flipH="0" flipV="0">
            <a:off x="6267450" y="5686425"/>
            <a:ext cx="4972050" cy="257175"/>
          </a:xfrm>
          <a:prstGeom prst="rect"/>
        </p:spPr>
        <p:txBody>
          <a:bodyPr wrap="none" lIns="0" tIns="71438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A9C4E8"/>
                </a:solidFill>
                <a:latin typeface="PingFang SC"/>
                <a:ea typeface="PingFang SC"/>
              </a:rPr>
              <a:t>健康线：</a:t>
            </a:r>
            <a:r>
              <a:rPr lang="en-US" sz="1050">
                <a:solidFill>
                  <a:srgbClr val="A9C4E8"/>
                </a:solidFill>
                <a:latin typeface="PingFang SC"/>
                <a:ea typeface="PingFang SC"/>
              </a:rPr>
              <a:t>MEU/MAU </a:t>
            </a:r>
            <a:r>
              <a:rPr lang="zh-CN" sz="1050">
                <a:solidFill>
                  <a:srgbClr val="A9C4E8"/>
                </a:solidFill>
                <a:latin typeface="PingFang SC"/>
                <a:ea typeface="PingFang SC"/>
              </a:rPr>
              <a:t>＞</a:t>
            </a:r>
            <a:r>
              <a:rPr lang="en-US" sz="1050">
                <a:solidFill>
                  <a:srgbClr val="A9C4E8"/>
                </a:solidFill>
                <a:latin typeface="PingFang SC"/>
                <a:ea typeface="PingFang SC"/>
              </a:rPr>
              <a:t> 40%</a:t>
            </a:r>
            <a:r>
              <a:rPr lang="zh-CN" sz="1050">
                <a:solidFill>
                  <a:srgbClr val="A9C4E8"/>
                </a:solidFill>
                <a:latin typeface="PingFang SC"/>
                <a:ea typeface="PingFang SC"/>
              </a:rPr>
              <a:t>，铁粉占比逐月上升</a:t>
            </a:r>
            <a:r>
              <a:rPr lang="en-US" sz="1050">
                <a:solidFill>
                  <a:srgbClr val="A9C4E8"/>
                </a:solidFill>
                <a:latin typeface="PingFang SC"/>
                <a:ea typeface="PingFang SC"/>
              </a:rPr>
              <a:t> —— </a:t>
            </a:r>
            <a:r>
              <a:rPr lang="zh-CN" sz="1050">
                <a:solidFill>
                  <a:srgbClr val="A9C4E8"/>
                </a:solidFill>
                <a:latin typeface="PingFang SC"/>
                <a:ea typeface="PingFang SC"/>
              </a:rPr>
              <a:t>采纳看板每周上会。</a:t>
            </a:r>
            <a:endParaRPr/>
          </a:p>
        </p:txBody>
      </p:sp>
      <p:sp>
        <p:nvSpPr>
          <p:cNvPr id="153" name="" descr="{&quot;isTemplate&quot;:true,&quot;type&quot;:&quot;text&quot;}"/>
          <p:cNvSpPr txBox="1"/>
          <p:nvPr/>
        </p:nvSpPr>
        <p:spPr>
          <a:xfrm rot="0" flipH="0" flipV="0">
            <a:off x="685800" y="6362700"/>
            <a:ext cx="12573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64748B"/>
                </a:solidFill>
                <a:latin typeface="PingFang SC"/>
                <a:ea typeface="PingFang SC"/>
              </a:rPr>
              <a:t>AI </a:t>
            </a:r>
            <a:r>
              <a:rPr lang="zh-CN" sz="1050">
                <a:solidFill>
                  <a:srgbClr val="64748B"/>
                </a:solidFill>
                <a:latin typeface="PingFang SC"/>
                <a:ea typeface="PingFang SC"/>
              </a:rPr>
              <a:t>规划与治理</a:t>
            </a:r>
            <a:r>
              <a:rPr lang="en-US" sz="1050">
                <a:solidFill>
                  <a:srgbClr val="64748B"/>
                </a:solidFill>
                <a:latin typeface="PingFang SC"/>
                <a:ea typeface="PingFang SC"/>
              </a:rPr>
              <a:t> · </a:t>
            </a:r>
            <a:r>
              <a:rPr lang="zh-CN" sz="1050">
                <a:solidFill>
                  <a:srgbClr val="64748B"/>
                </a:solidFill>
                <a:latin typeface="PingFang SC"/>
                <a:ea typeface="PingFang SC"/>
              </a:rPr>
              <a:t>高级</a:t>
            </a:r>
            <a:endParaRPr/>
          </a:p>
        </p:txBody>
      </p:sp>
      <p:sp>
        <p:nvSpPr>
          <p:cNvPr id="154" name="" descr="{&quot;isTemplate&quot;:true,&quot;type&quot;:&quot;text&quot;}"/>
          <p:cNvSpPr txBox="1"/>
          <p:nvPr/>
        </p:nvSpPr>
        <p:spPr>
          <a:xfrm rot="0" flipH="0" flipV="0">
            <a:off x="11049000" y="6362700"/>
            <a:ext cx="4572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64748B"/>
                </a:solidFill>
                <a:latin typeface="PingFang SC"/>
                <a:ea typeface="PingFang SC"/>
              </a:rPr>
              <a:t>14 / 24</a:t>
            </a:r>
            <a:endParaRPr/>
          </a:p>
        </p:txBody>
      </p:sp>
    </p:spTree>
  </p:cSld>
</p:sld>
</file>

<file path=ppt/slides/slide15.xml><?xml version="1.0" encoding="utf-8"?>
<p:sld xmlns:asvg="http://schemas.microsoft.com/office/drawing/2016/SVG/main" xmlns:a="http://schemas.openxmlformats.org/drawingml/2006/main" xmlns:r="http://schemas.openxmlformats.org/officeDocument/2006/relationships" xmlns:p="http://schemas.openxmlformats.org/presentationml/2006/main" xmlns:mc="http://schemas.openxmlformats.org/markup-compatibility/2006" mc:Ignorable="asvg">
  <p:cSld>
    <p:spTree>
      <p:nvGrpSpPr>
        <p:cNvPr id="155" name="" descr="const steps = [&#10;    { t: '基线', d: '先量现状：停机几小时、不良几 PPM' },&#10;    { t: '实验', d: '小范围 A/B 或前后对照，别全网铺开' },&#10;    { t: '价值量化', d: '收益 = 基线改善 × 业务价值系数' },&#10;    { t: '危害成本扣减', d: '漏检风险、误停损失要算进成本侧' },&#10;    { t: '回收期', d: '（收益 − 投入）÷ 投入，给出回本月数' },&#10;];&#10;&lt;Slide style={{ width: '1280px', height: '720px', background: '#F5F8FC', padding: '24px 72px', boxSizing: 'border-box', flexDirection: 'column', fontFamily: 'PingFang SC, Source Han Sans SC, sans-serif' }}&gt;&#10;    &lt;Box style={{ height: 96, flexDirection: 'row', alignItems: 'center', gap: 16 }}&gt;&#10;        &lt;Box style={{ width: 5, height: 46, background: '#06B6D4', borderRadius: 3 }} /&gt;&#10;        &lt;Box&gt;&#10;            &lt;Text style={{ fontSize: 34, fontWeight: 'bold', color: '#1E3A8A', lineHeight: 1.2 }}&gt;ROI 五步：把「感觉有用」变成「数字说话」&lt;/Text&gt;&#10;            &lt;Text style={{ fontSize: 17, color: '#64748B', marginTop: 4 }}&gt;沙盘任务二：用这套模板算你厂里的一个真实项目&lt;/Text&gt;&#10;        &lt;/Box&gt;&#10;    &lt;/Box&gt;&#10;    &lt;Box style={{ flex: 1, flexDirection: 'column', gap: 12, marginTop: 14 }}&gt;&#10;        {steps.map((s, i) =&gt; (&#10;            &lt;Box key={i} style={{ flexDirection: 'row', alignItems: 'center', gap: 18, background: '#FFFFFF', borderRadius: 14, border: '1px solid #E2E8F0', padding: '14px 24px', boxShadow: '0 3px 12px rgba(30,58,138,0.05)' }}&gt;&#10;                &lt;Box style={{ width: 52, height: 52, borderRadius: 13, background: i === 3 ? '#FEEFE0' : i === 4 ? '#1E3A8A' : '#E0F7FA', justifyContent: 'center', alignItems: 'center' }}&gt;&#10;                    &lt;Text style={{ fontSize: 22, fontWeight: 'bold', color: i === 3 ? '#F59E0B' : i === 4 ? '#FFFFFF' : '#0891B2', fontFamily: 'Space Grotesk, Inter' }}&gt;{i + 1}&lt;/Text&gt;&#10;                &lt;/Box&gt;&#10;                &lt;Box style={{ width: 150 }}&gt;&#10;                    &lt;Text style={{ fontSize: 20, fontWeight: 'bold', color: '#1E3A8A' }}&gt;{s.t}&lt;/Text&gt;&#10;                &lt;/Box&gt;&#10;                &lt;Text style={{ flex: 1, fontSize: 16, color: '#43566b' }}&gt;{s.d}&lt;/Text&gt;&#10;                &lt;Text style={{ fontSize: 13, color: '#64748B', width: 250, textAlign: 'right' }}&gt;{['没有它，后面全是估', '对照组是可信度的来源', '系数要有业务负责人签字', '最容易被漏算的一步', '这个数字写进路线图'].map((x) =&gt; x)}&lt;/Text&gt;&#10;            &lt;/Box&gt;&#10;        ))}&#10;    &lt;/Box&gt;&#10;    &lt;Box style={{ marginTop: 16, padding: '14px 24px', background: '#1E3A8A', borderRadius: 12, flexDirection: 'row', alignItems: 'center', gap: 14 }}&gt;&#10;        &lt;FAIcon name=&quot;lightbulb&quot; style={{ fill: '#F59E0B', width: 22, height: 22 }} /&gt;&#10;        &lt;Text style={{ fontSize: 19, fontWeight: 'bold', color: '#FFFFFF' }}&gt;「先建指标看板，再谈投入」—— 没有基线的 ROI，是给供应商写的安慰剂。&lt;/Text&gt;&#10;    &lt;/Box&gt;&#10;    &lt;Box style={{ height: 40, flexDirection: 'row', justifyContent: 'space-between', alignItems: 'center', marginTop: 10 }}&gt;&#10;        &lt;Text style={{ fontSize: 14, color: '#64748B' }}&gt;AI 规划与治理 · 高级&lt;/Text&gt;&#10;        &lt;Text style={{ fontSize: 14, color: '#64748B' }}&gt;15 / 24&lt;/Text&gt;&#10;    &lt;/Box&gt;&#10;&lt;/Slide&gt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5F8FC"/>
          </a:solidFill>
          <a:ln/>
        </p:spPr>
        <p:txBody>
          <a:bodyPr/>
          <a:p/>
        </p:txBody>
      </p:sp>
      <p:sp>
        <p:nvSpPr>
          <p:cNvPr id="157" name=""/>
          <p:cNvSpPr/>
          <p:nvPr/>
        </p:nvSpPr>
        <p:spPr>
          <a:xfrm rot="0" flipH="0" flipV="0">
            <a:off x="685800" y="466725"/>
            <a:ext cx="47625" cy="438150"/>
          </a:xfrm>
          <a:prstGeom prst="roundRect">
            <a:avLst>
              <a:gd name="adj" fmla="val 60000"/>
            </a:avLst>
          </a:prstGeom>
          <a:solidFill>
            <a:srgbClr val="06B6D4"/>
          </a:solidFill>
          <a:ln/>
        </p:spPr>
        <p:txBody>
          <a:bodyPr/>
          <a:p/>
        </p:txBody>
      </p:sp>
      <p:sp>
        <p:nvSpPr>
          <p:cNvPr id="158" name="" descr="{&quot;isTemplate&quot;:true,&quot;type&quot;:&quot;text&quot;}"/>
          <p:cNvSpPr txBox="1"/>
          <p:nvPr/>
        </p:nvSpPr>
        <p:spPr>
          <a:xfrm rot="0" flipH="0" flipV="0">
            <a:off x="885825" y="333375"/>
            <a:ext cx="6505575" cy="466725"/>
          </a:xfrm>
          <a:prstGeom prst="rect"/>
        </p:spPr>
        <p:txBody>
          <a:bodyPr wrap="none" lIns="0" tIns="0" rIns="0" bIns="0"/>
          <a:p>
            <a:pPr>
              <a:lnSpc>
                <a:spcPct val="120000"/>
              </a:lnSpc>
            </a:pPr>
            <a:r>
              <a:rPr lang="en-US" sz="2550" b="1">
                <a:solidFill>
                  <a:srgbClr val="1E3A8A"/>
                </a:solidFill>
                <a:latin typeface="PingFang SC"/>
                <a:ea typeface="PingFang SC"/>
              </a:rPr>
              <a:t>ROI </a:t>
            </a:r>
            <a:r>
              <a:rPr lang="zh-CN" sz="2550" b="1">
                <a:solidFill>
                  <a:srgbClr val="1E3A8A"/>
                </a:solidFill>
                <a:latin typeface="PingFang SC"/>
                <a:ea typeface="PingFang SC"/>
              </a:rPr>
              <a:t>五步：把「感觉有用」变成「数字说话」</a:t>
            </a:r>
            <a:endParaRPr/>
          </a:p>
        </p:txBody>
      </p:sp>
      <p:sp>
        <p:nvSpPr>
          <p:cNvPr id="159" name="" descr="{&quot;isTemplate&quot;:true,&quot;type&quot;:&quot;text&quot;}"/>
          <p:cNvSpPr txBox="1"/>
          <p:nvPr/>
        </p:nvSpPr>
        <p:spPr>
          <a:xfrm rot="0" flipH="0" flipV="0">
            <a:off x="885825" y="838200"/>
            <a:ext cx="6505575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>
                <a:solidFill>
                  <a:srgbClr val="64748B"/>
                </a:solidFill>
                <a:latin typeface="PingFang SC"/>
                <a:ea typeface="PingFang SC"/>
              </a:rPr>
              <a:t>沙盘任务二：用这套模板算你厂里的一个真实项目</a:t>
            </a:r>
            <a:endParaRPr/>
          </a:p>
        </p:txBody>
      </p:sp>
      <p:sp>
        <p:nvSpPr>
          <p:cNvPr id="160" name=""/>
          <p:cNvSpPr/>
          <p:nvPr/>
        </p:nvSpPr>
        <p:spPr>
          <a:xfrm rot="0" flipH="0" flipV="0">
            <a:off x="685800" y="1276350"/>
            <a:ext cx="10820400" cy="762000"/>
          </a:xfrm>
          <a:prstGeom prst="roundRect">
            <a:avLst>
              <a:gd name="adj" fmla="val 1750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14300" dist="28575" dir="5400000">
              <a:srgbClr val="1E3A8A">
                <a:alpha val="5000"/>
              </a:srgbClr>
            </a:outerShdw>
          </a:effectLst>
        </p:spPr>
        <p:txBody>
          <a:bodyPr/>
          <a:p/>
        </p:txBody>
      </p:sp>
      <p:sp>
        <p:nvSpPr>
          <p:cNvPr id="161" name=""/>
          <p:cNvSpPr/>
          <p:nvPr/>
        </p:nvSpPr>
        <p:spPr>
          <a:xfrm rot="0" flipH="0" flipV="0">
            <a:off x="914400" y="1409700"/>
            <a:ext cx="495300" cy="495300"/>
          </a:xfrm>
          <a:prstGeom prst="roundRect">
            <a:avLst>
              <a:gd name="adj" fmla="val 25000"/>
            </a:avLst>
          </a:prstGeom>
          <a:solidFill>
            <a:srgbClr val="E0F7FA"/>
          </a:solidFill>
          <a:ln/>
        </p:spPr>
        <p:txBody>
          <a:bodyPr/>
          <a:p/>
        </p:txBody>
      </p:sp>
      <p:sp>
        <p:nvSpPr>
          <p:cNvPr id="162" name="" descr="{&quot;isTemplate&quot;:true,&quot;type&quot;:&quot;text&quot;}"/>
          <p:cNvSpPr txBox="1"/>
          <p:nvPr/>
        </p:nvSpPr>
        <p:spPr>
          <a:xfrm rot="0" flipH="0" flipV="0">
            <a:off x="1104900" y="1533525"/>
            <a:ext cx="123825" cy="2571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650" b="1">
                <a:solidFill>
                  <a:srgbClr val="0891B2"/>
                </a:solidFill>
                <a:latin typeface="Space Grotesk"/>
                <a:ea typeface="Space Grotesk"/>
              </a:rPr>
              <a:t>1</a:t>
            </a:r>
            <a:endParaRPr/>
          </a:p>
        </p:txBody>
      </p:sp>
      <p:sp>
        <p:nvSpPr>
          <p:cNvPr id="163" name="" descr="{&quot;isTemplate&quot;:true,&quot;type&quot;:&quot;text&quot;}"/>
          <p:cNvSpPr txBox="1"/>
          <p:nvPr/>
        </p:nvSpPr>
        <p:spPr>
          <a:xfrm rot="0" flipH="0" flipV="0">
            <a:off x="1581150" y="1543050"/>
            <a:ext cx="142875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 b="1">
                <a:solidFill>
                  <a:srgbClr val="1E3A8A"/>
                </a:solidFill>
                <a:latin typeface="PingFang SC"/>
                <a:ea typeface="PingFang SC"/>
              </a:rPr>
              <a:t>基线</a:t>
            </a:r>
            <a:endParaRPr/>
          </a:p>
        </p:txBody>
      </p:sp>
      <p:sp>
        <p:nvSpPr>
          <p:cNvPr id="164" name="" descr="{&quot;isTemplate&quot;:true,&quot;type&quot;:&quot;text&quot;}"/>
          <p:cNvSpPr txBox="1"/>
          <p:nvPr/>
        </p:nvSpPr>
        <p:spPr>
          <a:xfrm rot="0" flipH="0" flipV="0">
            <a:off x="3181350" y="1562100"/>
            <a:ext cx="554355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>
                <a:solidFill>
                  <a:srgbClr val="43566B"/>
                </a:solidFill>
                <a:latin typeface="PingFang SC"/>
                <a:ea typeface="PingFang SC"/>
              </a:rPr>
              <a:t>先量现状：中断多久、差错几</a:t>
            </a:r>
            <a:r>
              <a:rPr lang="en-US" sz="1200">
                <a:solidFill>
                  <a:srgbClr val="43566B"/>
                </a:solidFill>
                <a:latin typeface="PingFang SC"/>
                <a:ea typeface="PingFang SC"/>
              </a:rPr>
              <a:t> PPM</a:t>
            </a:r>
            <a:endParaRPr/>
          </a:p>
        </p:txBody>
      </p:sp>
      <p:sp>
        <p:nvSpPr>
          <p:cNvPr id="165" name="" descr="{&quot;isTemplate&quot;:true,&quot;type&quot;:&quot;text&quot;}"/>
          <p:cNvSpPr txBox="1"/>
          <p:nvPr/>
        </p:nvSpPr>
        <p:spPr>
          <a:xfrm rot="0" flipH="0" flipV="0">
            <a:off x="8896350" y="1438275"/>
            <a:ext cx="2381250" cy="447675"/>
          </a:xfrm>
          <a:prstGeom prst="rect"/>
        </p:spPr>
        <p:txBody>
          <a:bodyPr wrap="square" lIns="0" tIns="0" rIns="0" bIns="0">
            <a:normAutofit/>
          </a:bodyPr>
          <a:p>
            <a:pPr algn="r">
              <a:lnSpc>
                <a:spcPct val="100000"/>
              </a:lnSpc>
            </a:pPr>
            <a:r>
              <a:rPr lang="zh-CN" sz="975">
                <a:solidFill>
                  <a:srgbClr val="64748B"/>
                </a:solidFill>
                <a:latin typeface="PingFang SC"/>
                <a:ea typeface="PingFang SC"/>
              </a:rPr>
              <a:t>没有它，后面全是估</a:t>
            </a:r>
            <a:r>
              <a:rPr lang="zh-CN" sz="975">
                <a:solidFill>
                  <a:srgbClr val="64748B"/>
                </a:solidFill>
                <a:latin typeface="PingFang SC"/>
                <a:ea typeface="PingFang SC"/>
              </a:rPr>
              <a:t>对照组是可信度的来源</a:t>
            </a:r>
            <a:r>
              <a:rPr lang="zh-CN" sz="975">
                <a:solidFill>
                  <a:srgbClr val="64748B"/>
                </a:solidFill>
                <a:latin typeface="PingFang SC"/>
                <a:ea typeface="PingFang SC"/>
              </a:rPr>
              <a:t>系数要有业务负责人签字</a:t>
            </a:r>
            <a:r>
              <a:rPr lang="zh-CN" sz="975">
                <a:solidFill>
                  <a:srgbClr val="64748B"/>
                </a:solidFill>
                <a:latin typeface="PingFang SC"/>
                <a:ea typeface="PingFang SC"/>
              </a:rPr>
              <a:t>最容易被漏算的一步</a:t>
            </a:r>
            <a:r>
              <a:rPr lang="zh-CN" sz="975">
                <a:solidFill>
                  <a:srgbClr val="64748B"/>
                </a:solidFill>
                <a:latin typeface="PingFang SC"/>
                <a:ea typeface="PingFang SC"/>
              </a:rPr>
              <a:t>这个数字写进路线图</a:t>
            </a:r>
            <a:endParaRPr/>
          </a:p>
        </p:txBody>
      </p:sp>
      <p:sp>
        <p:nvSpPr>
          <p:cNvPr id="166" name=""/>
          <p:cNvSpPr/>
          <p:nvPr/>
        </p:nvSpPr>
        <p:spPr>
          <a:xfrm rot="0" flipH="0" flipV="0">
            <a:off x="685800" y="2152650"/>
            <a:ext cx="10820400" cy="762000"/>
          </a:xfrm>
          <a:prstGeom prst="roundRect">
            <a:avLst>
              <a:gd name="adj" fmla="val 1750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14300" dist="28575" dir="5400000">
              <a:srgbClr val="1E3A8A">
                <a:alpha val="5000"/>
              </a:srgbClr>
            </a:outerShdw>
          </a:effectLst>
        </p:spPr>
        <p:txBody>
          <a:bodyPr/>
          <a:p/>
        </p:txBody>
      </p:sp>
      <p:sp>
        <p:nvSpPr>
          <p:cNvPr id="167" name=""/>
          <p:cNvSpPr/>
          <p:nvPr/>
        </p:nvSpPr>
        <p:spPr>
          <a:xfrm rot="0" flipH="0" flipV="0">
            <a:off x="914400" y="2286000"/>
            <a:ext cx="495300" cy="495300"/>
          </a:xfrm>
          <a:prstGeom prst="roundRect">
            <a:avLst>
              <a:gd name="adj" fmla="val 25000"/>
            </a:avLst>
          </a:prstGeom>
          <a:solidFill>
            <a:srgbClr val="E0F7FA"/>
          </a:solidFill>
          <a:ln/>
        </p:spPr>
        <p:txBody>
          <a:bodyPr/>
          <a:p/>
        </p:txBody>
      </p:sp>
      <p:sp>
        <p:nvSpPr>
          <p:cNvPr id="168" name="" descr="{&quot;isTemplate&quot;:true,&quot;type&quot;:&quot;text&quot;}"/>
          <p:cNvSpPr txBox="1"/>
          <p:nvPr/>
        </p:nvSpPr>
        <p:spPr>
          <a:xfrm rot="0" flipH="0" flipV="0">
            <a:off x="1104900" y="2409825"/>
            <a:ext cx="123825" cy="2571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650" b="1">
                <a:solidFill>
                  <a:srgbClr val="0891B2"/>
                </a:solidFill>
                <a:latin typeface="Space Grotesk"/>
                <a:ea typeface="Space Grotesk"/>
              </a:rPr>
              <a:t>2</a:t>
            </a:r>
            <a:endParaRPr/>
          </a:p>
        </p:txBody>
      </p:sp>
      <p:sp>
        <p:nvSpPr>
          <p:cNvPr id="169" name="" descr="{&quot;isTemplate&quot;:true,&quot;type&quot;:&quot;text&quot;}"/>
          <p:cNvSpPr txBox="1"/>
          <p:nvPr/>
        </p:nvSpPr>
        <p:spPr>
          <a:xfrm rot="0" flipH="0" flipV="0">
            <a:off x="1581150" y="2419350"/>
            <a:ext cx="142875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 b="1">
                <a:solidFill>
                  <a:srgbClr val="1E3A8A"/>
                </a:solidFill>
                <a:latin typeface="PingFang SC"/>
                <a:ea typeface="PingFang SC"/>
              </a:rPr>
              <a:t>实验</a:t>
            </a:r>
            <a:endParaRPr/>
          </a:p>
        </p:txBody>
      </p:sp>
      <p:sp>
        <p:nvSpPr>
          <p:cNvPr id="170" name="" descr="{&quot;isTemplate&quot;:true,&quot;type&quot;:&quot;text&quot;}"/>
          <p:cNvSpPr txBox="1"/>
          <p:nvPr/>
        </p:nvSpPr>
        <p:spPr>
          <a:xfrm rot="0" flipH="0" flipV="0">
            <a:off x="3181350" y="2438400"/>
            <a:ext cx="554355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>
                <a:solidFill>
                  <a:srgbClr val="43566B"/>
                </a:solidFill>
                <a:latin typeface="PingFang SC"/>
                <a:ea typeface="PingFang SC"/>
              </a:rPr>
              <a:t>小范围</a:t>
            </a:r>
            <a:r>
              <a:rPr lang="en-US" sz="1200">
                <a:solidFill>
                  <a:srgbClr val="43566B"/>
                </a:solidFill>
                <a:latin typeface="PingFang SC"/>
                <a:ea typeface="PingFang SC"/>
              </a:rPr>
              <a:t> A/B </a:t>
            </a:r>
            <a:r>
              <a:rPr lang="zh-CN" sz="1200">
                <a:solidFill>
                  <a:srgbClr val="43566B"/>
                </a:solidFill>
                <a:latin typeface="PingFang SC"/>
                <a:ea typeface="PingFang SC"/>
              </a:rPr>
              <a:t>或前后对照，别全网铺开</a:t>
            </a:r>
            <a:endParaRPr/>
          </a:p>
        </p:txBody>
      </p:sp>
      <p:sp>
        <p:nvSpPr>
          <p:cNvPr id="171" name="" descr="{&quot;isTemplate&quot;:true,&quot;type&quot;:&quot;text&quot;}"/>
          <p:cNvSpPr txBox="1"/>
          <p:nvPr/>
        </p:nvSpPr>
        <p:spPr>
          <a:xfrm rot="0" flipH="0" flipV="0">
            <a:off x="8896350" y="2314575"/>
            <a:ext cx="2381250" cy="447675"/>
          </a:xfrm>
          <a:prstGeom prst="rect"/>
        </p:spPr>
        <p:txBody>
          <a:bodyPr wrap="square" lIns="0" tIns="0" rIns="0" bIns="0">
            <a:normAutofit/>
          </a:bodyPr>
          <a:p>
            <a:pPr algn="r">
              <a:lnSpc>
                <a:spcPct val="100000"/>
              </a:lnSpc>
            </a:pPr>
            <a:r>
              <a:rPr lang="zh-CN" sz="975">
                <a:solidFill>
                  <a:srgbClr val="64748B"/>
                </a:solidFill>
                <a:latin typeface="PingFang SC"/>
                <a:ea typeface="PingFang SC"/>
              </a:rPr>
              <a:t>没有它，后面全是估</a:t>
            </a:r>
            <a:r>
              <a:rPr lang="zh-CN" sz="975">
                <a:solidFill>
                  <a:srgbClr val="64748B"/>
                </a:solidFill>
                <a:latin typeface="PingFang SC"/>
                <a:ea typeface="PingFang SC"/>
              </a:rPr>
              <a:t>对照组是可信度的来源</a:t>
            </a:r>
            <a:r>
              <a:rPr lang="zh-CN" sz="975">
                <a:solidFill>
                  <a:srgbClr val="64748B"/>
                </a:solidFill>
                <a:latin typeface="PingFang SC"/>
                <a:ea typeface="PingFang SC"/>
              </a:rPr>
              <a:t>系数要有业务负责人签字</a:t>
            </a:r>
            <a:r>
              <a:rPr lang="zh-CN" sz="975">
                <a:solidFill>
                  <a:srgbClr val="64748B"/>
                </a:solidFill>
                <a:latin typeface="PingFang SC"/>
                <a:ea typeface="PingFang SC"/>
              </a:rPr>
              <a:t>最容易被漏算的一步</a:t>
            </a:r>
            <a:r>
              <a:rPr lang="zh-CN" sz="975">
                <a:solidFill>
                  <a:srgbClr val="64748B"/>
                </a:solidFill>
                <a:latin typeface="PingFang SC"/>
                <a:ea typeface="PingFang SC"/>
              </a:rPr>
              <a:t>这个数字写进路线图</a:t>
            </a:r>
            <a:endParaRPr/>
          </a:p>
        </p:txBody>
      </p:sp>
      <p:sp>
        <p:nvSpPr>
          <p:cNvPr id="172" name=""/>
          <p:cNvSpPr/>
          <p:nvPr/>
        </p:nvSpPr>
        <p:spPr>
          <a:xfrm rot="0" flipH="0" flipV="0">
            <a:off x="685800" y="3028950"/>
            <a:ext cx="10820400" cy="762000"/>
          </a:xfrm>
          <a:prstGeom prst="roundRect">
            <a:avLst>
              <a:gd name="adj" fmla="val 1750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14300" dist="28575" dir="5400000">
              <a:srgbClr val="1E3A8A">
                <a:alpha val="5000"/>
              </a:srgbClr>
            </a:outerShdw>
          </a:effectLst>
        </p:spPr>
        <p:txBody>
          <a:bodyPr/>
          <a:p/>
        </p:txBody>
      </p:sp>
      <p:sp>
        <p:nvSpPr>
          <p:cNvPr id="173" name=""/>
          <p:cNvSpPr/>
          <p:nvPr/>
        </p:nvSpPr>
        <p:spPr>
          <a:xfrm rot="0" flipH="0" flipV="0">
            <a:off x="914400" y="3162300"/>
            <a:ext cx="495300" cy="495300"/>
          </a:xfrm>
          <a:prstGeom prst="roundRect">
            <a:avLst>
              <a:gd name="adj" fmla="val 25000"/>
            </a:avLst>
          </a:prstGeom>
          <a:solidFill>
            <a:srgbClr val="E0F7FA"/>
          </a:solidFill>
          <a:ln/>
        </p:spPr>
        <p:txBody>
          <a:bodyPr/>
          <a:p/>
        </p:txBody>
      </p:sp>
      <p:sp>
        <p:nvSpPr>
          <p:cNvPr id="174" name="" descr="{&quot;isTemplate&quot;:true,&quot;type&quot;:&quot;text&quot;}"/>
          <p:cNvSpPr txBox="1"/>
          <p:nvPr/>
        </p:nvSpPr>
        <p:spPr>
          <a:xfrm rot="0" flipH="0" flipV="0">
            <a:off x="1104900" y="3286125"/>
            <a:ext cx="123825" cy="2571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650" b="1">
                <a:solidFill>
                  <a:srgbClr val="0891B2"/>
                </a:solidFill>
                <a:latin typeface="Space Grotesk"/>
                <a:ea typeface="Space Grotesk"/>
              </a:rPr>
              <a:t>3</a:t>
            </a:r>
            <a:endParaRPr/>
          </a:p>
        </p:txBody>
      </p:sp>
      <p:sp>
        <p:nvSpPr>
          <p:cNvPr id="175" name="" descr="{&quot;isTemplate&quot;:true,&quot;type&quot;:&quot;text&quot;}"/>
          <p:cNvSpPr txBox="1"/>
          <p:nvPr/>
        </p:nvSpPr>
        <p:spPr>
          <a:xfrm rot="0" flipH="0" flipV="0">
            <a:off x="1581150" y="3295650"/>
            <a:ext cx="142875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 b="1">
                <a:solidFill>
                  <a:srgbClr val="1E3A8A"/>
                </a:solidFill>
                <a:latin typeface="PingFang SC"/>
                <a:ea typeface="PingFang SC"/>
              </a:rPr>
              <a:t>价值量化</a:t>
            </a:r>
            <a:endParaRPr/>
          </a:p>
        </p:txBody>
      </p:sp>
      <p:sp>
        <p:nvSpPr>
          <p:cNvPr id="176" name="" descr="{&quot;isTemplate&quot;:true,&quot;type&quot;:&quot;text&quot;}"/>
          <p:cNvSpPr txBox="1"/>
          <p:nvPr/>
        </p:nvSpPr>
        <p:spPr>
          <a:xfrm rot="0" flipH="0" flipV="0">
            <a:off x="3181350" y="3314700"/>
            <a:ext cx="554355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>
                <a:solidFill>
                  <a:srgbClr val="43566B"/>
                </a:solidFill>
                <a:latin typeface="PingFang SC"/>
                <a:ea typeface="PingFang SC"/>
              </a:rPr>
              <a:t>收益</a:t>
            </a:r>
            <a:r>
              <a:rPr lang="en-US" sz="1200">
                <a:solidFill>
                  <a:srgbClr val="43566B"/>
                </a:solidFill>
                <a:latin typeface="PingFang SC"/>
                <a:ea typeface="PingFang SC"/>
              </a:rPr>
              <a:t> = </a:t>
            </a:r>
            <a:r>
              <a:rPr lang="zh-CN" sz="1200">
                <a:solidFill>
                  <a:srgbClr val="43566B"/>
                </a:solidFill>
                <a:latin typeface="PingFang SC"/>
                <a:ea typeface="PingFang SC"/>
              </a:rPr>
              <a:t>基线改善</a:t>
            </a:r>
            <a:r>
              <a:rPr lang="en-US" sz="1200">
                <a:solidFill>
                  <a:srgbClr val="43566B"/>
                </a:solidFill>
                <a:latin typeface="PingFang SC"/>
                <a:ea typeface="PingFang SC"/>
              </a:rPr>
              <a:t> × </a:t>
            </a:r>
            <a:r>
              <a:rPr lang="zh-CN" sz="1200">
                <a:solidFill>
                  <a:srgbClr val="43566B"/>
                </a:solidFill>
                <a:latin typeface="PingFang SC"/>
                <a:ea typeface="PingFang SC"/>
              </a:rPr>
              <a:t>业务价值系数</a:t>
            </a:r>
            <a:endParaRPr/>
          </a:p>
        </p:txBody>
      </p:sp>
      <p:sp>
        <p:nvSpPr>
          <p:cNvPr id="177" name="" descr="{&quot;isTemplate&quot;:true,&quot;type&quot;:&quot;text&quot;}"/>
          <p:cNvSpPr txBox="1"/>
          <p:nvPr/>
        </p:nvSpPr>
        <p:spPr>
          <a:xfrm rot="0" flipH="0" flipV="0">
            <a:off x="8896350" y="3190875"/>
            <a:ext cx="2381250" cy="447675"/>
          </a:xfrm>
          <a:prstGeom prst="rect"/>
        </p:spPr>
        <p:txBody>
          <a:bodyPr wrap="square" lIns="0" tIns="0" rIns="0" bIns="0">
            <a:normAutofit/>
          </a:bodyPr>
          <a:p>
            <a:pPr algn="r">
              <a:lnSpc>
                <a:spcPct val="100000"/>
              </a:lnSpc>
            </a:pPr>
            <a:r>
              <a:rPr lang="zh-CN" sz="975">
                <a:solidFill>
                  <a:srgbClr val="64748B"/>
                </a:solidFill>
                <a:latin typeface="PingFang SC"/>
                <a:ea typeface="PingFang SC"/>
              </a:rPr>
              <a:t>没有它，后面全是估</a:t>
            </a:r>
            <a:r>
              <a:rPr lang="zh-CN" sz="975">
                <a:solidFill>
                  <a:srgbClr val="64748B"/>
                </a:solidFill>
                <a:latin typeface="PingFang SC"/>
                <a:ea typeface="PingFang SC"/>
              </a:rPr>
              <a:t>对照组是可信度的来源</a:t>
            </a:r>
            <a:r>
              <a:rPr lang="zh-CN" sz="975">
                <a:solidFill>
                  <a:srgbClr val="64748B"/>
                </a:solidFill>
                <a:latin typeface="PingFang SC"/>
                <a:ea typeface="PingFang SC"/>
              </a:rPr>
              <a:t>系数要有业务负责人签字</a:t>
            </a:r>
            <a:r>
              <a:rPr lang="zh-CN" sz="975">
                <a:solidFill>
                  <a:srgbClr val="64748B"/>
                </a:solidFill>
                <a:latin typeface="PingFang SC"/>
                <a:ea typeface="PingFang SC"/>
              </a:rPr>
              <a:t>最容易被漏算的一步</a:t>
            </a:r>
            <a:r>
              <a:rPr lang="zh-CN" sz="975">
                <a:solidFill>
                  <a:srgbClr val="64748B"/>
                </a:solidFill>
                <a:latin typeface="PingFang SC"/>
                <a:ea typeface="PingFang SC"/>
              </a:rPr>
              <a:t>这个数字写进路线图</a:t>
            </a:r>
            <a:endParaRPr/>
          </a:p>
        </p:txBody>
      </p:sp>
      <p:sp>
        <p:nvSpPr>
          <p:cNvPr id="178" name=""/>
          <p:cNvSpPr/>
          <p:nvPr/>
        </p:nvSpPr>
        <p:spPr>
          <a:xfrm rot="0" flipH="0" flipV="0">
            <a:off x="685800" y="3905250"/>
            <a:ext cx="10820400" cy="762000"/>
          </a:xfrm>
          <a:prstGeom prst="roundRect">
            <a:avLst>
              <a:gd name="adj" fmla="val 1750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14300" dist="28575" dir="5400000">
              <a:srgbClr val="1E3A8A">
                <a:alpha val="5000"/>
              </a:srgbClr>
            </a:outerShdw>
          </a:effectLst>
        </p:spPr>
        <p:txBody>
          <a:bodyPr/>
          <a:p/>
        </p:txBody>
      </p:sp>
      <p:sp>
        <p:nvSpPr>
          <p:cNvPr id="179" name=""/>
          <p:cNvSpPr/>
          <p:nvPr/>
        </p:nvSpPr>
        <p:spPr>
          <a:xfrm rot="0" flipH="0" flipV="0">
            <a:off x="914400" y="4038600"/>
            <a:ext cx="495300" cy="495300"/>
          </a:xfrm>
          <a:prstGeom prst="roundRect">
            <a:avLst>
              <a:gd name="adj" fmla="val 25000"/>
            </a:avLst>
          </a:prstGeom>
          <a:solidFill>
            <a:srgbClr val="FEEFE0"/>
          </a:solidFill>
          <a:ln/>
        </p:spPr>
        <p:txBody>
          <a:bodyPr/>
          <a:p/>
        </p:txBody>
      </p:sp>
      <p:sp>
        <p:nvSpPr>
          <p:cNvPr id="180" name="" descr="{&quot;isTemplate&quot;:true,&quot;type&quot;:&quot;text&quot;}"/>
          <p:cNvSpPr txBox="1"/>
          <p:nvPr/>
        </p:nvSpPr>
        <p:spPr>
          <a:xfrm rot="0" flipH="0" flipV="0">
            <a:off x="1104900" y="4162425"/>
            <a:ext cx="123825" cy="2571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650" b="1">
                <a:solidFill>
                  <a:srgbClr val="F59E0B"/>
                </a:solidFill>
                <a:latin typeface="Space Grotesk"/>
                <a:ea typeface="Space Grotesk"/>
              </a:rPr>
              <a:t>4</a:t>
            </a:r>
            <a:endParaRPr/>
          </a:p>
        </p:txBody>
      </p:sp>
      <p:sp>
        <p:nvSpPr>
          <p:cNvPr id="181" name="" descr="{&quot;isTemplate&quot;:true,&quot;type&quot;:&quot;text&quot;}"/>
          <p:cNvSpPr txBox="1"/>
          <p:nvPr/>
        </p:nvSpPr>
        <p:spPr>
          <a:xfrm rot="0" flipH="0" flipV="0">
            <a:off x="1581150" y="4171950"/>
            <a:ext cx="142875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 b="1">
                <a:solidFill>
                  <a:srgbClr val="1E3A8A"/>
                </a:solidFill>
                <a:latin typeface="PingFang SC"/>
                <a:ea typeface="PingFang SC"/>
              </a:rPr>
              <a:t>危害成本扣减</a:t>
            </a:r>
            <a:endParaRPr/>
          </a:p>
        </p:txBody>
      </p:sp>
      <p:sp>
        <p:nvSpPr>
          <p:cNvPr id="182" name="" descr="{&quot;isTemplate&quot;:true,&quot;type&quot;:&quot;text&quot;}"/>
          <p:cNvSpPr txBox="1"/>
          <p:nvPr/>
        </p:nvSpPr>
        <p:spPr>
          <a:xfrm rot="0" flipH="0" flipV="0">
            <a:off x="3181350" y="4191000"/>
            <a:ext cx="554355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>
                <a:solidFill>
                  <a:srgbClr val="43566B"/>
                </a:solidFill>
                <a:latin typeface="PingFang SC"/>
                <a:ea typeface="PingFang SC"/>
              </a:rPr>
              <a:t>漏检风险、误停损失要算进成本侧</a:t>
            </a:r>
            <a:endParaRPr/>
          </a:p>
        </p:txBody>
      </p:sp>
      <p:sp>
        <p:nvSpPr>
          <p:cNvPr id="183" name="" descr="{&quot;isTemplate&quot;:true,&quot;type&quot;:&quot;text&quot;}"/>
          <p:cNvSpPr txBox="1"/>
          <p:nvPr/>
        </p:nvSpPr>
        <p:spPr>
          <a:xfrm rot="0" flipH="0" flipV="0">
            <a:off x="8896350" y="4067175"/>
            <a:ext cx="2381250" cy="447675"/>
          </a:xfrm>
          <a:prstGeom prst="rect"/>
        </p:spPr>
        <p:txBody>
          <a:bodyPr wrap="square" lIns="0" tIns="0" rIns="0" bIns="0">
            <a:normAutofit/>
          </a:bodyPr>
          <a:p>
            <a:pPr algn="r">
              <a:lnSpc>
                <a:spcPct val="100000"/>
              </a:lnSpc>
            </a:pPr>
            <a:r>
              <a:rPr lang="zh-CN" sz="975">
                <a:solidFill>
                  <a:srgbClr val="64748B"/>
                </a:solidFill>
                <a:latin typeface="PingFang SC"/>
                <a:ea typeface="PingFang SC"/>
              </a:rPr>
              <a:t>没有它，后面全是估</a:t>
            </a:r>
            <a:r>
              <a:rPr lang="zh-CN" sz="975">
                <a:solidFill>
                  <a:srgbClr val="64748B"/>
                </a:solidFill>
                <a:latin typeface="PingFang SC"/>
                <a:ea typeface="PingFang SC"/>
              </a:rPr>
              <a:t>对照组是可信度的来源</a:t>
            </a:r>
            <a:r>
              <a:rPr lang="zh-CN" sz="975">
                <a:solidFill>
                  <a:srgbClr val="64748B"/>
                </a:solidFill>
                <a:latin typeface="PingFang SC"/>
                <a:ea typeface="PingFang SC"/>
              </a:rPr>
              <a:t>系数要有业务负责人签字</a:t>
            </a:r>
            <a:r>
              <a:rPr lang="zh-CN" sz="975">
                <a:solidFill>
                  <a:srgbClr val="64748B"/>
                </a:solidFill>
                <a:latin typeface="PingFang SC"/>
                <a:ea typeface="PingFang SC"/>
              </a:rPr>
              <a:t>最容易被漏算的一步</a:t>
            </a:r>
            <a:r>
              <a:rPr lang="zh-CN" sz="975">
                <a:solidFill>
                  <a:srgbClr val="64748B"/>
                </a:solidFill>
                <a:latin typeface="PingFang SC"/>
                <a:ea typeface="PingFang SC"/>
              </a:rPr>
              <a:t>这个数字写进路线图</a:t>
            </a:r>
            <a:endParaRPr/>
          </a:p>
        </p:txBody>
      </p:sp>
      <p:sp>
        <p:nvSpPr>
          <p:cNvPr id="184" name=""/>
          <p:cNvSpPr/>
          <p:nvPr/>
        </p:nvSpPr>
        <p:spPr>
          <a:xfrm rot="0" flipH="0" flipV="0">
            <a:off x="685800" y="4781550"/>
            <a:ext cx="10820400" cy="762000"/>
          </a:xfrm>
          <a:prstGeom prst="roundRect">
            <a:avLst>
              <a:gd name="adj" fmla="val 1750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14300" dist="28575" dir="5400000">
              <a:srgbClr val="1E3A8A">
                <a:alpha val="5000"/>
              </a:srgbClr>
            </a:outerShdw>
          </a:effectLst>
        </p:spPr>
        <p:txBody>
          <a:bodyPr/>
          <a:p/>
        </p:txBody>
      </p:sp>
      <p:sp>
        <p:nvSpPr>
          <p:cNvPr id="185" name=""/>
          <p:cNvSpPr/>
          <p:nvPr/>
        </p:nvSpPr>
        <p:spPr>
          <a:xfrm rot="0" flipH="0" flipV="0">
            <a:off x="914400" y="4914900"/>
            <a:ext cx="495300" cy="495300"/>
          </a:xfrm>
          <a:prstGeom prst="roundRect">
            <a:avLst>
              <a:gd name="adj" fmla="val 25000"/>
            </a:avLst>
          </a:prstGeom>
          <a:solidFill>
            <a:srgbClr val="1E3A8A"/>
          </a:solidFill>
          <a:ln/>
        </p:spPr>
        <p:txBody>
          <a:bodyPr/>
          <a:p/>
        </p:txBody>
      </p:sp>
      <p:sp>
        <p:nvSpPr>
          <p:cNvPr id="186" name="" descr="{&quot;isTemplate&quot;:true,&quot;type&quot;:&quot;text&quot;}"/>
          <p:cNvSpPr txBox="1"/>
          <p:nvPr/>
        </p:nvSpPr>
        <p:spPr>
          <a:xfrm rot="0" flipH="0" flipV="0">
            <a:off x="1104900" y="5038725"/>
            <a:ext cx="123825" cy="2571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650" b="1">
                <a:solidFill>
                  <a:srgbClr val="FFFFFF"/>
                </a:solidFill>
                <a:latin typeface="Space Grotesk"/>
                <a:ea typeface="Space Grotesk"/>
              </a:rPr>
              <a:t>5</a:t>
            </a:r>
            <a:endParaRPr/>
          </a:p>
        </p:txBody>
      </p:sp>
      <p:sp>
        <p:nvSpPr>
          <p:cNvPr id="187" name="" descr="{&quot;isTemplate&quot;:true,&quot;type&quot;:&quot;text&quot;}"/>
          <p:cNvSpPr txBox="1"/>
          <p:nvPr/>
        </p:nvSpPr>
        <p:spPr>
          <a:xfrm rot="0" flipH="0" flipV="0">
            <a:off x="1581150" y="5048250"/>
            <a:ext cx="142875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 b="1">
                <a:solidFill>
                  <a:srgbClr val="1E3A8A"/>
                </a:solidFill>
                <a:latin typeface="PingFang SC"/>
                <a:ea typeface="PingFang SC"/>
              </a:rPr>
              <a:t>回收期</a:t>
            </a:r>
            <a:endParaRPr/>
          </a:p>
        </p:txBody>
      </p:sp>
      <p:sp>
        <p:nvSpPr>
          <p:cNvPr id="188" name="" descr="{&quot;isTemplate&quot;:true,&quot;type&quot;:&quot;text&quot;}"/>
          <p:cNvSpPr txBox="1"/>
          <p:nvPr/>
        </p:nvSpPr>
        <p:spPr>
          <a:xfrm rot="0" flipH="0" flipV="0">
            <a:off x="3181350" y="5067300"/>
            <a:ext cx="554355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>
                <a:solidFill>
                  <a:srgbClr val="43566B"/>
                </a:solidFill>
                <a:latin typeface="PingFang SC"/>
                <a:ea typeface="PingFang SC"/>
              </a:rPr>
              <a:t>（收益</a:t>
            </a:r>
            <a:r>
              <a:rPr lang="en-US" sz="1200">
                <a:solidFill>
                  <a:srgbClr val="43566B"/>
                </a:solidFill>
                <a:latin typeface="PingFang SC"/>
                <a:ea typeface="PingFang SC"/>
              </a:rPr>
              <a:t> − </a:t>
            </a:r>
            <a:r>
              <a:rPr lang="zh-CN" sz="1200">
                <a:solidFill>
                  <a:srgbClr val="43566B"/>
                </a:solidFill>
                <a:latin typeface="PingFang SC"/>
                <a:ea typeface="PingFang SC"/>
              </a:rPr>
              <a:t>投入）÷</a:t>
            </a:r>
            <a:r>
              <a:rPr lang="en-US" sz="1200">
                <a:solidFill>
                  <a:srgbClr val="43566B"/>
                </a:solidFill>
                <a:latin typeface="PingFang SC"/>
                <a:ea typeface="PingFang SC"/>
              </a:rPr>
              <a:t> </a:t>
            </a:r>
            <a:r>
              <a:rPr lang="zh-CN" sz="1200">
                <a:solidFill>
                  <a:srgbClr val="43566B"/>
                </a:solidFill>
                <a:latin typeface="PingFang SC"/>
                <a:ea typeface="PingFang SC"/>
              </a:rPr>
              <a:t>投入，给出回本月数</a:t>
            </a:r>
            <a:endParaRPr/>
          </a:p>
        </p:txBody>
      </p:sp>
      <p:sp>
        <p:nvSpPr>
          <p:cNvPr id="189" name="" descr="{&quot;isTemplate&quot;:true,&quot;type&quot;:&quot;text&quot;}"/>
          <p:cNvSpPr txBox="1"/>
          <p:nvPr/>
        </p:nvSpPr>
        <p:spPr>
          <a:xfrm rot="0" flipH="0" flipV="0">
            <a:off x="8896350" y="4943475"/>
            <a:ext cx="2381250" cy="447675"/>
          </a:xfrm>
          <a:prstGeom prst="rect"/>
        </p:spPr>
        <p:txBody>
          <a:bodyPr wrap="square" lIns="0" tIns="0" rIns="0" bIns="0">
            <a:normAutofit/>
          </a:bodyPr>
          <a:p>
            <a:pPr algn="r">
              <a:lnSpc>
                <a:spcPct val="100000"/>
              </a:lnSpc>
            </a:pPr>
            <a:r>
              <a:rPr lang="zh-CN" sz="975">
                <a:solidFill>
                  <a:srgbClr val="64748B"/>
                </a:solidFill>
                <a:latin typeface="PingFang SC"/>
                <a:ea typeface="PingFang SC"/>
              </a:rPr>
              <a:t>没有它，后面全是估</a:t>
            </a:r>
            <a:r>
              <a:rPr lang="zh-CN" sz="975">
                <a:solidFill>
                  <a:srgbClr val="64748B"/>
                </a:solidFill>
                <a:latin typeface="PingFang SC"/>
                <a:ea typeface="PingFang SC"/>
              </a:rPr>
              <a:t>对照组是可信度的来源</a:t>
            </a:r>
            <a:r>
              <a:rPr lang="zh-CN" sz="975">
                <a:solidFill>
                  <a:srgbClr val="64748B"/>
                </a:solidFill>
                <a:latin typeface="PingFang SC"/>
                <a:ea typeface="PingFang SC"/>
              </a:rPr>
              <a:t>系数要有业务负责人签字</a:t>
            </a:r>
            <a:r>
              <a:rPr lang="zh-CN" sz="975">
                <a:solidFill>
                  <a:srgbClr val="64748B"/>
                </a:solidFill>
                <a:latin typeface="PingFang SC"/>
                <a:ea typeface="PingFang SC"/>
              </a:rPr>
              <a:t>最容易被漏算的一步</a:t>
            </a:r>
            <a:r>
              <a:rPr lang="zh-CN" sz="975">
                <a:solidFill>
                  <a:srgbClr val="64748B"/>
                </a:solidFill>
                <a:latin typeface="PingFang SC"/>
                <a:ea typeface="PingFang SC"/>
              </a:rPr>
              <a:t>这个数字写进路线图</a:t>
            </a:r>
            <a:endParaRPr/>
          </a:p>
        </p:txBody>
      </p:sp>
      <p:sp>
        <p:nvSpPr>
          <p:cNvPr id="190" name=""/>
          <p:cNvSpPr/>
          <p:nvPr/>
        </p:nvSpPr>
        <p:spPr>
          <a:xfrm rot="0" flipH="0" flipV="0">
            <a:off x="685800" y="5695950"/>
            <a:ext cx="10820400" cy="485775"/>
          </a:xfrm>
          <a:prstGeom prst="roundRect">
            <a:avLst>
              <a:gd name="adj" fmla="val 23529"/>
            </a:avLst>
          </a:prstGeom>
          <a:solidFill>
            <a:srgbClr val="1E3A8A"/>
          </a:solidFill>
          <a:ln/>
        </p:spPr>
        <p:txBody>
          <a:bodyPr/>
          <a:p/>
        </p:txBody>
      </p:sp>
      <p:pic>
        <p:nvPicPr>
          <p:cNvPr id="191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1"/>
              </a:ext>
            </a:extLst>
          </a:blip>
          <a:stretch>
            <a:fillRect/>
          </a:stretch>
        </p:blipFill>
        <p:spPr>
          <a:xfrm rot="0" flipH="0" flipV="0">
            <a:off x="914400" y="5838825"/>
            <a:ext cx="209550" cy="209550"/>
          </a:xfrm>
          <a:prstGeom prst="rect">
            <a:avLst/>
          </a:prstGeom>
          <a:ln/>
        </p:spPr>
      </p:pic>
      <p:sp>
        <p:nvSpPr>
          <p:cNvPr id="192" name="" descr="{&quot;isTemplate&quot;:true,&quot;type&quot;:&quot;text&quot;}"/>
          <p:cNvSpPr txBox="1"/>
          <p:nvPr/>
        </p:nvSpPr>
        <p:spPr>
          <a:xfrm rot="0" flipH="0" flipV="0">
            <a:off x="1257300" y="5829300"/>
            <a:ext cx="6229350" cy="2190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425" b="1">
                <a:solidFill>
                  <a:srgbClr val="FFFFFF"/>
                </a:solidFill>
                <a:latin typeface="PingFang SC"/>
                <a:ea typeface="PingFang SC"/>
              </a:rPr>
              <a:t>「先建指标看板，再谈投入」——</a:t>
            </a:r>
            <a:r>
              <a:rPr lang="en-US" sz="1425" b="1">
                <a:solidFill>
                  <a:srgbClr val="FFFFFF"/>
                </a:solidFill>
                <a:latin typeface="PingFang SC"/>
                <a:ea typeface="PingFang SC"/>
              </a:rPr>
              <a:t> </a:t>
            </a:r>
            <a:r>
              <a:rPr lang="zh-CN" sz="1425" b="1">
                <a:solidFill>
                  <a:srgbClr val="FFFFFF"/>
                </a:solidFill>
                <a:latin typeface="PingFang SC"/>
                <a:ea typeface="PingFang SC"/>
              </a:rPr>
              <a:t>没有基线的</a:t>
            </a:r>
            <a:r>
              <a:rPr lang="en-US" sz="1425" b="1">
                <a:solidFill>
                  <a:srgbClr val="FFFFFF"/>
                </a:solidFill>
                <a:latin typeface="PingFang SC"/>
                <a:ea typeface="PingFang SC"/>
              </a:rPr>
              <a:t> ROI</a:t>
            </a:r>
            <a:r>
              <a:rPr lang="zh-CN" sz="1425" b="1">
                <a:solidFill>
                  <a:srgbClr val="FFFFFF"/>
                </a:solidFill>
                <a:latin typeface="PingFang SC"/>
                <a:ea typeface="PingFang SC"/>
              </a:rPr>
              <a:t>，是给供应商写的安慰剂。</a:t>
            </a:r>
            <a:endParaRPr/>
          </a:p>
        </p:txBody>
      </p:sp>
      <p:sp>
        <p:nvSpPr>
          <p:cNvPr id="193" name="" descr="{&quot;isTemplate&quot;:true,&quot;type&quot;:&quot;text&quot;}"/>
          <p:cNvSpPr txBox="1"/>
          <p:nvPr/>
        </p:nvSpPr>
        <p:spPr>
          <a:xfrm rot="0" flipH="0" flipV="0">
            <a:off x="685800" y="6391275"/>
            <a:ext cx="12573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64748B"/>
                </a:solidFill>
                <a:latin typeface="PingFang SC"/>
                <a:ea typeface="PingFang SC"/>
              </a:rPr>
              <a:t>AI </a:t>
            </a:r>
            <a:r>
              <a:rPr lang="zh-CN" sz="1050">
                <a:solidFill>
                  <a:srgbClr val="64748B"/>
                </a:solidFill>
                <a:latin typeface="PingFang SC"/>
                <a:ea typeface="PingFang SC"/>
              </a:rPr>
              <a:t>规划与治理</a:t>
            </a:r>
            <a:r>
              <a:rPr lang="en-US" sz="1050">
                <a:solidFill>
                  <a:srgbClr val="64748B"/>
                </a:solidFill>
                <a:latin typeface="PingFang SC"/>
                <a:ea typeface="PingFang SC"/>
              </a:rPr>
              <a:t> · </a:t>
            </a:r>
            <a:r>
              <a:rPr lang="zh-CN" sz="1050">
                <a:solidFill>
                  <a:srgbClr val="64748B"/>
                </a:solidFill>
                <a:latin typeface="PingFang SC"/>
                <a:ea typeface="PingFang SC"/>
              </a:rPr>
              <a:t>高级</a:t>
            </a:r>
            <a:endParaRPr/>
          </a:p>
        </p:txBody>
      </p:sp>
      <p:sp>
        <p:nvSpPr>
          <p:cNvPr id="194" name="" descr="{&quot;isTemplate&quot;:true,&quot;type&quot;:&quot;text&quot;}"/>
          <p:cNvSpPr txBox="1"/>
          <p:nvPr/>
        </p:nvSpPr>
        <p:spPr>
          <a:xfrm rot="0" flipH="0" flipV="0">
            <a:off x="11049000" y="6391275"/>
            <a:ext cx="4572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64748B"/>
                </a:solidFill>
                <a:latin typeface="PingFang SC"/>
                <a:ea typeface="PingFang SC"/>
              </a:rPr>
              <a:t>15 / 24</a:t>
            </a:r>
            <a:endParaRPr/>
          </a:p>
        </p:txBody>
      </p:sp>
    </p:spTree>
  </p:cSld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95" name="" descr="&lt;Slide style={{ width: '1280px', height: '720px', position: 'relative', background: '#1E3A8A', overflow: 'hidden', fontFamily: 'PingFang SC, Source Han Sans SC, sans-serif' }}&gt;&#10;    &lt;Box style={{ position: 'absolute', top: 0, right: 0, width: 500, height: '720px' }}&gt;&#10;        &lt;Image src=&quot;assets/hero_cover.png&quot; style={{ width: '500px', height: '720px', objectFit: 'cover', opacity: 0.5 }} /&gt;&#10;        &lt;Box style={{ position: 'absolute', top: 0, left: 0, width: '500px', height: '720px', background: 'linear-gradient(90deg, rgba(30,58,138,1) 0%, rgba(30,58,138,0.15) 100%)' }} /&gt;&#10;    &lt;/Box&gt;&#10;    &lt;Box style={{ position: 'relative', zIndex: 1, height: '720px', padding: '0 84px', justifyContent: 'center' }}&gt;&#10;        &lt;Text style={{ fontSize: 130, fontWeight: 'bold', color: 'rgba(6,182,212,0.5)', lineHeight: 1, fontFamily: 'Space Grotesk, Inter' }}&gt;05&lt;/Text&gt;&#10;        &lt;Text style={{ fontSize: 18, color: '#7FD9F0', letterSpacing: 5, marginTop: 6 }}&gt;H5 · 4 课时 · 核心&lt;/Text&gt;&#10;        &lt;Text style={{ fontSize: 54, fontWeight: 'bold', color: '#FFFFFF', marginTop: 20, lineHeight: 1.18 }}&gt;组织采纳&lt;br /&gt;系统上了，人不动？&lt;/Text&gt;&#10;        &lt;Box style={{ width: 84, height: 4, background: '#06B6D4', marginTop: 30 }} /&gt;&#10;        &lt;Text style={{ fontSize: 19, color: '#A9C4E8', marginTop: 22, lineHeight: 1.6 }}&gt;八支柱（GitHub 实践改编）· 三阶段推进 0–30 / 30–90 / 规模化&lt;br /&gt;采纳看板：MAU/MEU + OEE / 停机 / 不良 / 能耗同屏。&lt;/Text&gt;&#10;    &lt;/Box&gt;&#10;&lt;/Slide&gt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1E3A8A"/>
          </a:solidFill>
          <a:ln/>
        </p:spPr>
        <p:txBody>
          <a:bodyPr/>
          <a:p/>
        </p:txBody>
      </p:sp>
      <p:pic>
        <p:nvPicPr>
          <p:cNvPr id="197" name=""/>
          <p:cNvPicPr>
            <a:picLocks noChangeAspect="1"/>
          </p:cNvPicPr>
          <p:nvPr/>
        </p:nvPicPr>
        <p:blipFill>
          <a:blip r:embed="rId1">
            <a:alphaModFix amt="50000"/>
          </a:blip>
          <a:srcRect l="26242" t="0" r="26242" b="0"/>
          <a:stretch>
            <a:fillRect/>
          </a:stretch>
        </p:blipFill>
        <p:spPr>
          <a:xfrm rot="0" flipH="0" flipV="0">
            <a:off x="7429500" y="0"/>
            <a:ext cx="4762500" cy="6858000"/>
          </a:xfrm>
          <a:prstGeom prst="rect">
            <a:avLst/>
          </a:prstGeom>
          <a:ln/>
        </p:spPr>
      </p:pic>
      <p:sp>
        <p:nvSpPr>
          <p:cNvPr id="198" name=""/>
          <p:cNvSpPr/>
          <p:nvPr/>
        </p:nvSpPr>
        <p:spPr>
          <a:xfrm rot="0" flipH="0" flipV="0">
            <a:off x="7429500" y="0"/>
            <a:ext cx="4762500" cy="6858000"/>
          </a:xfrm>
          <a:prstGeom prst="rect">
            <a:avLst/>
          </a:prstGeom>
          <a:gradFill>
            <a:gsLst>
              <a:gs pos="0">
                <a:srgbClr val="1E3A8A">
                  <a:alpha val="100000"/>
                </a:srgbClr>
              </a:gs>
              <a:gs pos="100000">
                <a:srgbClr val="1E3A8A">
                  <a:alpha val="15000"/>
                </a:srgbClr>
              </a:gs>
            </a:gsLst>
            <a:lin ang="0" scaled="1"/>
          </a:gradFill>
          <a:ln/>
        </p:spPr>
        <p:txBody>
          <a:bodyPr/>
          <a:p/>
        </p:txBody>
      </p:sp>
      <p:sp>
        <p:nvSpPr>
          <p:cNvPr id="199" name="" descr="{&quot;isTemplate&quot;:true,&quot;type&quot;:&quot;text&quot;}"/>
          <p:cNvSpPr txBox="1"/>
          <p:nvPr/>
        </p:nvSpPr>
        <p:spPr>
          <a:xfrm rot="0" flipH="0" flipV="0">
            <a:off x="800100" y="1114425"/>
            <a:ext cx="10591800" cy="14859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0" b="1">
                <a:solidFill>
                  <a:srgbClr val="06B6D4">
                    <a:alpha val="50000"/>
                  </a:srgbClr>
                </a:solidFill>
                <a:latin typeface="Space Grotesk"/>
                <a:ea typeface="Space Grotesk"/>
              </a:rPr>
              <a:t>05</a:t>
            </a:r>
            <a:endParaRPr/>
          </a:p>
        </p:txBody>
      </p:sp>
      <p:sp>
        <p:nvSpPr>
          <p:cNvPr id="200" name="" descr="{&quot;isTemplate&quot;:true,&quot;type&quot;:&quot;text&quot;}"/>
          <p:cNvSpPr txBox="1"/>
          <p:nvPr/>
        </p:nvSpPr>
        <p:spPr>
          <a:xfrm rot="0" flipH="0" flipV="0">
            <a:off x="800100" y="2657475"/>
            <a:ext cx="1059180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350" spc="375">
                <a:solidFill>
                  <a:srgbClr val="7FD9F0"/>
                </a:solidFill>
                <a:latin typeface="PingFang SC"/>
                <a:ea typeface="PingFang SC"/>
              </a:rPr>
              <a:t>H5 · 4 </a:t>
            </a:r>
            <a:r>
              <a:rPr lang="zh-CN" sz="1350" spc="375">
                <a:solidFill>
                  <a:srgbClr val="7FD9F0"/>
                </a:solidFill>
                <a:latin typeface="PingFang SC"/>
                <a:ea typeface="PingFang SC"/>
              </a:rPr>
              <a:t>课时</a:t>
            </a:r>
            <a:r>
              <a:rPr lang="en-US" sz="1350" spc="375">
                <a:solidFill>
                  <a:srgbClr val="7FD9F0"/>
                </a:solidFill>
                <a:latin typeface="PingFang SC"/>
                <a:ea typeface="PingFang SC"/>
              </a:rPr>
              <a:t> · </a:t>
            </a:r>
            <a:r>
              <a:rPr lang="zh-CN" sz="1350" spc="375">
                <a:solidFill>
                  <a:srgbClr val="7FD9F0"/>
                </a:solidFill>
                <a:latin typeface="PingFang SC"/>
                <a:ea typeface="PingFang SC"/>
              </a:rPr>
              <a:t>核心</a:t>
            </a:r>
            <a:endParaRPr/>
          </a:p>
        </p:txBody>
      </p:sp>
      <p:sp>
        <p:nvSpPr>
          <p:cNvPr id="201" name="" descr="{&quot;isTemplate&quot;:true,&quot;type&quot;:&quot;text&quot;}"/>
          <p:cNvSpPr txBox="1"/>
          <p:nvPr/>
        </p:nvSpPr>
        <p:spPr>
          <a:xfrm rot="0" flipH="0" flipV="0">
            <a:off x="800100" y="3057525"/>
            <a:ext cx="10591800" cy="1457325"/>
          </a:xfrm>
          <a:prstGeom prst="rect"/>
        </p:spPr>
        <p:txBody>
          <a:bodyPr wrap="none" lIns="0" tIns="0" rIns="0" bIns="0"/>
          <a:p>
            <a:pPr>
              <a:lnSpc>
                <a:spcPct val="118000"/>
              </a:lnSpc>
            </a:pPr>
            <a:r>
              <a:rPr lang="zh-CN" sz="4050" b="1">
                <a:solidFill>
                  <a:srgbClr val="FFFFFF"/>
                </a:solidFill>
                <a:latin typeface="PingFang SC"/>
                <a:ea typeface="PingFang SC"/>
              </a:rPr>
              <a:t>组织采纳</a:t>
            </a:r>
            <a:endParaRPr/>
          </a:p>
          <a:p>
            <a:pPr>
              <a:lnSpc>
                <a:spcPct val="118000"/>
              </a:lnSpc>
            </a:pPr>
            <a:r>
              <a:rPr lang="zh-CN" sz="4050" b="1">
                <a:solidFill>
                  <a:srgbClr val="FFFFFF"/>
                </a:solidFill>
                <a:latin typeface="PingFang SC"/>
                <a:ea typeface="PingFang SC"/>
              </a:rPr>
              <a:t>系统上了，人不动？</a:t>
            </a:r>
            <a:endParaRPr/>
          </a:p>
        </p:txBody>
      </p:sp>
      <p:sp>
        <p:nvSpPr>
          <p:cNvPr id="202" name=""/>
          <p:cNvSpPr/>
          <p:nvPr/>
        </p:nvSpPr>
        <p:spPr>
          <a:xfrm rot="0" flipH="0" flipV="0">
            <a:off x="800100" y="4800600"/>
            <a:ext cx="800100" cy="38100"/>
          </a:xfrm>
          <a:prstGeom prst="rect">
            <a:avLst/>
          </a:prstGeom>
          <a:solidFill>
            <a:srgbClr val="06B6D4"/>
          </a:solidFill>
          <a:ln/>
        </p:spPr>
        <p:txBody>
          <a:bodyPr/>
          <a:p/>
        </p:txBody>
      </p:sp>
      <p:sp>
        <p:nvSpPr>
          <p:cNvPr id="203" name="" descr="{&quot;isTemplate&quot;:true,&quot;type&quot;:&quot;text&quot;}"/>
          <p:cNvSpPr txBox="1"/>
          <p:nvPr/>
        </p:nvSpPr>
        <p:spPr>
          <a:xfrm rot="0" flipH="0" flipV="0">
            <a:off x="800100" y="5048250"/>
            <a:ext cx="10591800" cy="695325"/>
          </a:xfrm>
          <a:prstGeom prst="rect"/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zh-CN" sz="1425">
                <a:solidFill>
                  <a:srgbClr val="A9C4E8"/>
                </a:solidFill>
                <a:latin typeface="PingFang SC"/>
                <a:ea typeface="PingFang SC"/>
              </a:rPr>
              <a:t>八支柱（</a:t>
            </a:r>
            <a:r>
              <a:rPr lang="en-US" sz="1425">
                <a:solidFill>
                  <a:srgbClr val="A9C4E8"/>
                </a:solidFill>
                <a:latin typeface="PingFang SC"/>
                <a:ea typeface="PingFang SC"/>
              </a:rPr>
              <a:t>GitHub </a:t>
            </a:r>
            <a:r>
              <a:rPr lang="zh-CN" sz="1425">
                <a:solidFill>
                  <a:srgbClr val="A9C4E8"/>
                </a:solidFill>
                <a:latin typeface="PingFang SC"/>
                <a:ea typeface="PingFang SC"/>
              </a:rPr>
              <a:t>实践改编）·</a:t>
            </a:r>
            <a:r>
              <a:rPr lang="en-US" sz="1425">
                <a:solidFill>
                  <a:srgbClr val="A9C4E8"/>
                </a:solidFill>
                <a:latin typeface="PingFang SC"/>
                <a:ea typeface="PingFang SC"/>
              </a:rPr>
              <a:t> </a:t>
            </a:r>
            <a:r>
              <a:rPr lang="zh-CN" sz="1425">
                <a:solidFill>
                  <a:srgbClr val="A9C4E8"/>
                </a:solidFill>
                <a:latin typeface="PingFang SC"/>
                <a:ea typeface="PingFang SC"/>
              </a:rPr>
              <a:t>三阶段推进</a:t>
            </a:r>
            <a:r>
              <a:rPr lang="en-US" sz="1425">
                <a:solidFill>
                  <a:srgbClr val="A9C4E8"/>
                </a:solidFill>
                <a:latin typeface="PingFang SC"/>
                <a:ea typeface="PingFang SC"/>
              </a:rPr>
              <a:t> 0–30 / 30–90 / </a:t>
            </a:r>
            <a:r>
              <a:rPr lang="zh-CN" sz="1425">
                <a:solidFill>
                  <a:srgbClr val="A9C4E8"/>
                </a:solidFill>
                <a:latin typeface="PingFang SC"/>
                <a:ea typeface="PingFang SC"/>
              </a:rPr>
              <a:t>规模化</a:t>
            </a:r>
            <a:endParaRPr/>
          </a:p>
          <a:p>
            <a:pPr>
              <a:lnSpc>
                <a:spcPct val="160000"/>
              </a:lnSpc>
            </a:pPr>
            <a:r>
              <a:rPr lang="zh-CN" sz="1425">
                <a:solidFill>
                  <a:srgbClr val="A9C4E8"/>
                </a:solidFill>
                <a:latin typeface="PingFang SC"/>
                <a:ea typeface="PingFang SC"/>
              </a:rPr>
              <a:t>采纳看板：</a:t>
            </a:r>
            <a:r>
              <a:rPr lang="en-US" sz="1425">
                <a:solidFill>
                  <a:srgbClr val="A9C4E8"/>
                </a:solidFill>
                <a:latin typeface="PingFang SC"/>
                <a:ea typeface="PingFang SC"/>
              </a:rPr>
              <a:t>MAU/MEU + 效率 / </a:t>
            </a:r>
            <a:r>
              <a:rPr lang="zh-CN" sz="1425">
                <a:solidFill>
                  <a:srgbClr val="A9C4E8"/>
                </a:solidFill>
                <a:latin typeface="PingFang SC"/>
                <a:ea typeface="PingFang SC"/>
              </a:rPr>
              <a:t>中断</a:t>
            </a:r>
            <a:r>
              <a:rPr lang="en-US" sz="1425">
                <a:solidFill>
                  <a:srgbClr val="A9C4E8"/>
                </a:solidFill>
                <a:latin typeface="PingFang SC"/>
                <a:ea typeface="PingFang SC"/>
              </a:rPr>
              <a:t> / </a:t>
            </a:r>
            <a:r>
              <a:rPr lang="zh-CN" sz="1425">
                <a:solidFill>
                  <a:srgbClr val="A9C4E8"/>
                </a:solidFill>
                <a:latin typeface="PingFang SC"/>
                <a:ea typeface="PingFang SC"/>
              </a:rPr>
              <a:t>差错</a:t>
            </a:r>
            <a:r>
              <a:rPr lang="en-US" sz="1425">
                <a:solidFill>
                  <a:srgbClr val="A9C4E8"/>
                </a:solidFill>
                <a:latin typeface="PingFang SC"/>
                <a:ea typeface="PingFang SC"/>
              </a:rPr>
              <a:t> / </a:t>
            </a:r>
            <a:r>
              <a:rPr lang="zh-CN" sz="1425">
                <a:solidFill>
                  <a:srgbClr val="A9C4E8"/>
                </a:solidFill>
                <a:latin typeface="PingFang SC"/>
                <a:ea typeface="PingFang SC"/>
              </a:rPr>
              <a:t>能耗同屏。</a:t>
            </a:r>
            <a:endParaRPr/>
          </a:p>
        </p:txBody>
      </p:sp>
    </p:spTree>
  </p:cSld>
</p:sld>
</file>

<file path=ppt/slides/slide17.xml><?xml version="1.0" encoding="utf-8"?>
<p:sld xmlns:asvg="http://schemas.microsoft.com/office/drawing/2016/SVG/main" xmlns:a="http://schemas.openxmlformats.org/drawingml/2006/main" xmlns:r="http://schemas.openxmlformats.org/officeDocument/2006/relationships" xmlns:p="http://schemas.openxmlformats.org/presentationml/2006/main" xmlns:mc="http://schemas.openxmlformats.org/markup-compatibility/2006" mc:Ignorable="asvg">
  <p:cSld>
    <p:spTree>
      <p:nvGrpSpPr>
        <p:cNvPr id="204" name="" descr="const pillars = [&#10;    { icon: 'star', t: 'AI 倡导者', d: '每车间 1–2 名 Champion，选-担-落，课后不熄火', hot: true },&#10;    { icon: 'users', t: '实践社区 CoP', d: '双周分享：谁用出了新招，谁踩了坑', hot: false },&#10;    { icon: 'graduation-cap', t: '培训 L&amp;D', d: '分层培养：会用 → 会改 → 会带，TTT 讲师制', hot: false },&#10;    { icon: 'sliders-h', t: '分级工具政策', d: '哪些场景用免费工具、哪些走受控平台，白纸黑字', hot: false },&#10;    { icon: 'user-tie', t: 'DRI 责任人', d: '每个场景一个直接负责人，「DRI」不是团队', hot: false },&#10;    { icon: 'handshake', t: '高管背书', d: '厂长发话 + 月度复盘列席 —— 采纳是态度问题', hot: true },&#10;    { icon: 'chart-bar', t: '数据驱动指标', d: 'MAU/MEU 上墙，用数字说话，不用感觉汇报', hot: false },&#10;    { icon: 'shield-alt', t: '负责任使用', d: '红线清单 + 停止条件，敢用，也敢停', hot: false },&#10;];&#10;&lt;Slide style={{ width: '1280px', height: '720px', background: '#F5F8FC', padding: '24px 72px', boxSizing: 'border-box', flexDirection: 'column', fontFamily: 'PingFang SC, Source Han Sans SC, sans-serif' }}&gt;&#10;    &lt;Box style={{ height: 92, flexDirection: 'row', alignItems: 'center', gap: 16 }}&gt;&#10;        &lt;Box style={{ width: 5, height: 44, background: '#06B6D4', borderRadius: 3 }} /&gt;&#10;        &lt;Box&gt;&#10;            &lt;Text style={{ fontSize: 32, fontWeight: 'bold', color: '#1E3A8A', lineHeight: 1.2 }}&gt;组织采纳八支柱（核心页）&lt;/Text&gt;&#10;            &lt;Text style={{ fontSize: 16, color: '#64748B', marginTop: 4 }}&gt;缺任何一根，AI 项目都会烂尾 —— 这是本课程 4 课时的全部理由&lt;/Text&gt;&#10;        &lt;/Box&gt;&#10;    &lt;/Box&gt;&#10;    &lt;Box style={{ flex: 1, flexDirection: 'column', gap: 12, marginTop: 12 }}&gt;&#10;        &lt;Box style={{ flex: 1, flexDirection: 'row', gap: 12 }}&gt;&#10;            {pillars.slice(0, 4).map((p, i) =&gt; (&#10;                &lt;Box key={i} style={{ flex: 1, background: p.hot ? '#1E3A8A' : '#FFFFFF', borderRadius: 14, border: '1px solid ' + (p.hot ? '#1E3A8A' : '#E2E8F0'), padding: '16px 18px', flexDirection: 'row', gap: 12, boxShadow: p.hot ? '0 6px 20px rgba(30,58,138,0.22)' : '0 3px 12px rgba(30,58,138,0.05)' }}&gt;&#10;                    &lt;Box style={{ width: 44, height: 44, borderRadius: 11, background: p.hot ? 'rgba(245,158,11,0.2)' : '#E0F7FA', justifyContent: 'center', alignItems: 'center' }}&gt;&#10;                        &lt;FAIcon name={p.icon} style={{ fill: p.hot ? '#F8C471' : '#0891B2', width: 22, height: 22 }} /&gt;&#10;                    &lt;/Box&gt;&#10;                    &lt;Box style={{ flex: 1 }}&gt;&#10;                        &lt;Text style={{ fontSize: 17, fontWeight: 'bold', color: p.hot ? '#FFFFFF' : '#1E3A8A' }}&gt;{p.t}&lt;/Text&gt;&#10;                        &lt;Text style={{ fontSize: 13, color: p.hot ? '#DCE9FB' : '#43566b', lineHeight: 1.5, marginTop: 5 }}&gt;{p.d}&lt;/Text&gt;&#10;                    &lt;/Box&gt;&#10;                &lt;/Box&gt;&#10;            ))}&#10;        &lt;/Box&gt;&#10;        &lt;Box style={{ flex: 1, flexDirection: 'row', gap: 12 }}&gt;&#10;            {pillars.slice(4, 8).map((p, i) =&gt; (&#10;                &lt;Box key={i} style={{ flex: 1, background: p.hot ? '#1E3A8A' : '#FFFFFF', borderRadius: 14, border: '1px solid ' + (p.hot ? '#1E3A8A' : '#E2E8F0'), padding: '16px 18px', flexDirection: 'row', gap: 12, boxShadow: p.hot ? '0 6px 20px rgba(30,58,138,0.22)' : '0 3px 12px rgba(30,58,138,0.05)' }}&gt;&#10;                    &lt;Box style={{ width: 44, height: 44, borderRadius: 11, background: p.hot ? 'rgba(245,158,11,0.2)' : '#E0F7FA', justifyContent: 'center', alignItems: 'center' }}&gt;&#10;                        &lt;FAIcon name={p.icon} style={{ fill: p.hot ? '#F8C471' : '#0891B2', width: 22, height: 22 }} /&gt;&#10;                    &lt;/Box&gt;&#10;                    &lt;Box style={{ flex: 1 }}&gt;&#10;                        &lt;Text style={{ fontSize: 17, fontWeight: 'bold', color: p.hot ? '#FFFFFF' : '#1E3A8A' }}&gt;{p.t}&lt;/Text&gt;&#10;                        &lt;Text style={{ fontSize: 13, color: p.hot ? '#DCE9FB' : '#43566b', lineHeight: 1.5, marginTop: 5 }}&gt;{p.d}&lt;/Text&gt;&#10;                    &lt;/Box&gt;&#10;                &lt;/Box&gt;&#10;            ))}&#10;        &lt;/Box&gt;&#10;    &lt;/Box&gt;&#10;    &lt;Box style={{ height: 40, flexDirection: 'row', justifyContent: 'space-between', alignItems: 'center', marginTop: 8 }}&gt;&#10;        &lt;Text style={{ fontSize: 14, color: '#64748B' }}&gt;AI 规划与治理 · 高级&lt;/Text&gt;&#10;        &lt;Text style={{ fontSize: 14, color: '#64748B' }}&gt;17 / 24&lt;/Text&gt;&#10;    &lt;/Box&gt;&#10;&lt;/Slide&gt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5F8FC"/>
          </a:solidFill>
          <a:ln/>
        </p:spPr>
        <p:txBody>
          <a:bodyPr/>
          <a:p/>
        </p:txBody>
      </p:sp>
      <p:sp>
        <p:nvSpPr>
          <p:cNvPr id="206" name=""/>
          <p:cNvSpPr/>
          <p:nvPr/>
        </p:nvSpPr>
        <p:spPr>
          <a:xfrm rot="0" flipH="0" flipV="0">
            <a:off x="685800" y="457200"/>
            <a:ext cx="47625" cy="419100"/>
          </a:xfrm>
          <a:prstGeom prst="roundRect">
            <a:avLst>
              <a:gd name="adj" fmla="val 60000"/>
            </a:avLst>
          </a:prstGeom>
          <a:solidFill>
            <a:srgbClr val="06B6D4"/>
          </a:solidFill>
          <a:ln/>
        </p:spPr>
        <p:txBody>
          <a:bodyPr/>
          <a:p/>
        </p:txBody>
      </p:sp>
      <p:sp>
        <p:nvSpPr>
          <p:cNvPr id="207" name="" descr="{&quot;isTemplate&quot;:true,&quot;type&quot;:&quot;text&quot;}"/>
          <p:cNvSpPr txBox="1"/>
          <p:nvPr/>
        </p:nvSpPr>
        <p:spPr>
          <a:xfrm rot="0" flipH="0" flipV="0">
            <a:off x="885825" y="333375"/>
            <a:ext cx="4448175" cy="447675"/>
          </a:xfrm>
          <a:prstGeom prst="rect"/>
        </p:spPr>
        <p:txBody>
          <a:bodyPr wrap="none" lIns="0" tIns="0" rIns="0" bIns="0"/>
          <a:p>
            <a:pPr>
              <a:lnSpc>
                <a:spcPct val="120000"/>
              </a:lnSpc>
            </a:pPr>
            <a:r>
              <a:rPr lang="zh-CN" sz="2400" b="1">
                <a:solidFill>
                  <a:srgbClr val="1E3A8A"/>
                </a:solidFill>
                <a:latin typeface="PingFang SC"/>
                <a:ea typeface="PingFang SC"/>
              </a:rPr>
              <a:t>组织采纳八支柱（核心页）</a:t>
            </a:r>
            <a:endParaRPr/>
          </a:p>
        </p:txBody>
      </p:sp>
      <p:sp>
        <p:nvSpPr>
          <p:cNvPr id="208" name="" descr="{&quot;isTemplate&quot;:true,&quot;type&quot;:&quot;text&quot;}"/>
          <p:cNvSpPr txBox="1"/>
          <p:nvPr/>
        </p:nvSpPr>
        <p:spPr>
          <a:xfrm rot="0" flipH="0" flipV="0">
            <a:off x="885825" y="819150"/>
            <a:ext cx="4448175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>
                <a:solidFill>
                  <a:srgbClr val="64748B"/>
                </a:solidFill>
                <a:latin typeface="PingFang SC"/>
                <a:ea typeface="PingFang SC"/>
              </a:rPr>
              <a:t>缺任何一根，</a:t>
            </a:r>
            <a:r>
              <a:rPr lang="en-US" sz="1200">
                <a:solidFill>
                  <a:srgbClr val="64748B"/>
                </a:solidFill>
                <a:latin typeface="PingFang SC"/>
                <a:ea typeface="PingFang SC"/>
              </a:rPr>
              <a:t>AI </a:t>
            </a:r>
            <a:r>
              <a:rPr lang="zh-CN" sz="1200">
                <a:solidFill>
                  <a:srgbClr val="64748B"/>
                </a:solidFill>
                <a:latin typeface="PingFang SC"/>
                <a:ea typeface="PingFang SC"/>
              </a:rPr>
              <a:t>项目都会烂尾</a:t>
            </a:r>
            <a:r>
              <a:rPr lang="en-US" sz="1200">
                <a:solidFill>
                  <a:srgbClr val="64748B"/>
                </a:solidFill>
                <a:latin typeface="PingFang SC"/>
                <a:ea typeface="PingFang SC"/>
              </a:rPr>
              <a:t> —— </a:t>
            </a:r>
            <a:r>
              <a:rPr lang="zh-CN" sz="1200">
                <a:solidFill>
                  <a:srgbClr val="64748B"/>
                </a:solidFill>
                <a:latin typeface="PingFang SC"/>
                <a:ea typeface="PingFang SC"/>
              </a:rPr>
              <a:t>这是本课程</a:t>
            </a:r>
            <a:r>
              <a:rPr lang="en-US" sz="1200">
                <a:solidFill>
                  <a:srgbClr val="64748B"/>
                </a:solidFill>
                <a:latin typeface="PingFang SC"/>
                <a:ea typeface="PingFang SC"/>
              </a:rPr>
              <a:t> 4 </a:t>
            </a:r>
            <a:r>
              <a:rPr lang="zh-CN" sz="1200">
                <a:solidFill>
                  <a:srgbClr val="64748B"/>
                </a:solidFill>
                <a:latin typeface="PingFang SC"/>
                <a:ea typeface="PingFang SC"/>
              </a:rPr>
              <a:t>课时的全部理由</a:t>
            </a:r>
            <a:endParaRPr/>
          </a:p>
        </p:txBody>
      </p:sp>
      <p:sp>
        <p:nvSpPr>
          <p:cNvPr id="209" name=""/>
          <p:cNvSpPr/>
          <p:nvPr/>
        </p:nvSpPr>
        <p:spPr>
          <a:xfrm rot="0" flipH="0" flipV="0">
            <a:off x="685800" y="1219200"/>
            <a:ext cx="2619375" cy="2419350"/>
          </a:xfrm>
          <a:prstGeom prst="roundRect">
            <a:avLst>
              <a:gd name="adj" fmla="val 5512"/>
            </a:avLst>
          </a:prstGeom>
          <a:solidFill>
            <a:srgbClr val="1E3A8A"/>
          </a:solidFill>
          <a:ln w="12700">
            <a:solidFill>
              <a:srgbClr val="1E3A8A"/>
            </a:solidFill>
            <a:prstDash val="solid"/>
          </a:ln>
          <a:effectLst>
            <a:outerShdw blurRad="190500" dist="57150" dir="5400000">
              <a:srgbClr val="1E3A8A">
                <a:alpha val="22000"/>
              </a:srgbClr>
            </a:outerShdw>
          </a:effectLst>
        </p:spPr>
        <p:txBody>
          <a:bodyPr/>
          <a:p/>
        </p:txBody>
      </p:sp>
      <p:sp>
        <p:nvSpPr>
          <p:cNvPr id="210" name=""/>
          <p:cNvSpPr/>
          <p:nvPr/>
        </p:nvSpPr>
        <p:spPr>
          <a:xfrm rot="0" flipH="0" flipV="0">
            <a:off x="857250" y="1371600"/>
            <a:ext cx="419100" cy="419100"/>
          </a:xfrm>
          <a:prstGeom prst="roundRect">
            <a:avLst>
              <a:gd name="adj" fmla="val 25000"/>
            </a:avLst>
          </a:prstGeom>
          <a:solidFill>
            <a:srgbClr val="F59E0B">
              <a:alpha val="20000"/>
            </a:srgbClr>
          </a:solidFill>
          <a:ln/>
        </p:spPr>
        <p:txBody>
          <a:bodyPr/>
          <a:p/>
        </p:txBody>
      </p:sp>
      <p:pic>
        <p:nvPicPr>
          <p:cNvPr id="211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1"/>
              </a:ext>
            </a:extLst>
          </a:blip>
          <a:stretch>
            <a:fillRect/>
          </a:stretch>
        </p:blipFill>
        <p:spPr>
          <a:xfrm rot="0" flipH="0" flipV="0">
            <a:off x="962025" y="1476375"/>
            <a:ext cx="209550" cy="209550"/>
          </a:xfrm>
          <a:prstGeom prst="rect">
            <a:avLst/>
          </a:prstGeom>
          <a:ln/>
        </p:spPr>
      </p:pic>
      <p:sp>
        <p:nvSpPr>
          <p:cNvPr id="212" name="" descr="{&quot;isTemplate&quot;:true,&quot;type&quot;:&quot;text&quot;}"/>
          <p:cNvSpPr txBox="1"/>
          <p:nvPr/>
        </p:nvSpPr>
        <p:spPr>
          <a:xfrm rot="0" flipH="0" flipV="0">
            <a:off x="1390650" y="1371600"/>
            <a:ext cx="1743075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75" b="1">
                <a:solidFill>
                  <a:srgbClr val="FFFFFF"/>
                </a:solidFill>
                <a:latin typeface="PingFang SC"/>
                <a:ea typeface="PingFang SC"/>
              </a:rPr>
              <a:t>AI </a:t>
            </a:r>
            <a:r>
              <a:rPr lang="zh-CN" sz="1275" b="1">
                <a:solidFill>
                  <a:srgbClr val="FFFFFF"/>
                </a:solidFill>
                <a:latin typeface="PingFang SC"/>
                <a:ea typeface="PingFang SC"/>
              </a:rPr>
              <a:t>倡导者</a:t>
            </a:r>
            <a:endParaRPr/>
          </a:p>
        </p:txBody>
      </p:sp>
      <p:sp>
        <p:nvSpPr>
          <p:cNvPr id="213" name="" descr="{&quot;isTemplate&quot;:true,&quot;type&quot;:&quot;text&quot;}"/>
          <p:cNvSpPr txBox="1"/>
          <p:nvPr/>
        </p:nvSpPr>
        <p:spPr>
          <a:xfrm rot="0" flipH="0" flipV="0">
            <a:off x="1390650" y="1619250"/>
            <a:ext cx="1743075" cy="44767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0000"/>
              </a:lnSpc>
            </a:pPr>
            <a:r>
              <a:rPr lang="zh-CN" sz="975">
                <a:solidFill>
                  <a:srgbClr val="DCE9FB"/>
                </a:solidFill>
                <a:latin typeface="PingFang SC"/>
                <a:ea typeface="PingFang SC"/>
              </a:rPr>
              <a:t>每部门 1–2 名 Champion，选-担-落，课后不熄火</a:t>
            </a:r>
            <a:r>
              <a:rPr lang="en-US" sz="975">
                <a:solidFill>
                  <a:srgbClr val="DCE9FB"/>
                </a:solidFill>
                <a:latin typeface="PingFang SC"/>
                <a:ea typeface="PingFang SC"/>
              </a:rPr>
              <a:t/>
            </a:r>
            <a:r>
              <a:rPr lang="zh-CN" sz="975">
                <a:solidFill>
                  <a:srgbClr val="DCE9FB"/>
                </a:solidFill>
                <a:latin typeface="PingFang SC"/>
                <a:ea typeface="PingFang SC"/>
              </a:rPr>
              <a:t/>
            </a:r>
            <a:r>
              <a:rPr lang="en-US" sz="975">
                <a:solidFill>
                  <a:srgbClr val="DCE9FB"/>
                </a:solidFill>
                <a:latin typeface="PingFang SC"/>
                <a:ea typeface="PingFang SC"/>
              </a:rPr>
              <a:t/>
            </a:r>
            <a:r>
              <a:rPr lang="zh-CN" sz="975">
                <a:solidFill>
                  <a:srgbClr val="DCE9FB"/>
                </a:solidFill>
                <a:latin typeface="PingFang SC"/>
                <a:ea typeface="PingFang SC"/>
              </a:rPr>
              <a:t/>
            </a:r>
            <a:r>
              <a:rPr lang="en-US" sz="975">
                <a:solidFill>
                  <a:srgbClr val="DCE9FB"/>
                </a:solidFill>
                <a:latin typeface="PingFang SC"/>
                <a:ea typeface="PingFang SC"/>
              </a:rPr>
              <a:t/>
            </a:r>
            <a:r>
              <a:rPr lang="zh-CN" sz="975">
                <a:solidFill>
                  <a:srgbClr val="DCE9FB"/>
                </a:solidFill>
                <a:latin typeface="PingFang SC"/>
                <a:ea typeface="PingFang SC"/>
              </a:rPr>
              <a:t/>
            </a:r>
            <a:r>
              <a:rPr lang="en-US" sz="975">
                <a:solidFill>
                  <a:srgbClr val="DCE9FB"/>
                </a:solidFill>
                <a:latin typeface="PingFang SC"/>
                <a:ea typeface="PingFang SC"/>
              </a:rPr>
              <a:t/>
            </a:r>
            <a:r>
              <a:rPr lang="zh-CN" sz="975">
                <a:solidFill>
                  <a:srgbClr val="DCE9FB"/>
                </a:solidFill>
                <a:latin typeface="PingFang SC"/>
                <a:ea typeface="PingFang SC"/>
              </a:rPr>
              <a:t/>
            </a:r>
            <a:endParaRPr/>
          </a:p>
        </p:txBody>
      </p:sp>
      <p:sp>
        <p:nvSpPr>
          <p:cNvPr id="214" name=""/>
          <p:cNvSpPr/>
          <p:nvPr/>
        </p:nvSpPr>
        <p:spPr>
          <a:xfrm rot="0" flipH="0" flipV="0">
            <a:off x="3419475" y="1219200"/>
            <a:ext cx="2619375" cy="2419350"/>
          </a:xfrm>
          <a:prstGeom prst="roundRect">
            <a:avLst>
              <a:gd name="adj" fmla="val 5512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14300" dist="28575" dir="5400000">
              <a:srgbClr val="1E3A8A">
                <a:alpha val="5000"/>
              </a:srgbClr>
            </a:outerShdw>
          </a:effectLst>
        </p:spPr>
        <p:txBody>
          <a:bodyPr/>
          <a:p/>
        </p:txBody>
      </p:sp>
      <p:sp>
        <p:nvSpPr>
          <p:cNvPr id="215" name=""/>
          <p:cNvSpPr/>
          <p:nvPr/>
        </p:nvSpPr>
        <p:spPr>
          <a:xfrm rot="0" flipH="0" flipV="0">
            <a:off x="3590925" y="1371600"/>
            <a:ext cx="419100" cy="419100"/>
          </a:xfrm>
          <a:prstGeom prst="roundRect">
            <a:avLst>
              <a:gd name="adj" fmla="val 25000"/>
            </a:avLst>
          </a:prstGeom>
          <a:solidFill>
            <a:srgbClr val="E0F7FA"/>
          </a:solidFill>
          <a:ln/>
        </p:spPr>
        <p:txBody>
          <a:bodyPr/>
          <a:p/>
        </p:txBody>
      </p:sp>
      <p:pic>
        <p:nvPicPr>
          <p:cNvPr id="216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2"/>
              </a:ext>
            </a:extLst>
          </a:blip>
          <a:stretch>
            <a:fillRect/>
          </a:stretch>
        </p:blipFill>
        <p:spPr>
          <a:xfrm rot="0" flipH="0" flipV="0">
            <a:off x="3695700" y="1476375"/>
            <a:ext cx="209550" cy="209550"/>
          </a:xfrm>
          <a:prstGeom prst="rect">
            <a:avLst/>
          </a:prstGeom>
          <a:ln/>
        </p:spPr>
      </p:pic>
      <p:sp>
        <p:nvSpPr>
          <p:cNvPr id="217" name="" descr="{&quot;isTemplate&quot;:true,&quot;type&quot;:&quot;text&quot;}"/>
          <p:cNvSpPr txBox="1"/>
          <p:nvPr/>
        </p:nvSpPr>
        <p:spPr>
          <a:xfrm rot="0" flipH="0" flipV="0">
            <a:off x="4124325" y="1371600"/>
            <a:ext cx="1743075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 b="1">
                <a:solidFill>
                  <a:srgbClr val="1E3A8A"/>
                </a:solidFill>
                <a:latin typeface="PingFang SC"/>
                <a:ea typeface="PingFang SC"/>
              </a:rPr>
              <a:t>实践社区</a:t>
            </a:r>
            <a:r>
              <a:rPr lang="en-US" sz="1275" b="1">
                <a:solidFill>
                  <a:srgbClr val="1E3A8A"/>
                </a:solidFill>
                <a:latin typeface="PingFang SC"/>
                <a:ea typeface="PingFang SC"/>
              </a:rPr>
              <a:t> CoP</a:t>
            </a:r>
            <a:endParaRPr/>
          </a:p>
        </p:txBody>
      </p:sp>
      <p:sp>
        <p:nvSpPr>
          <p:cNvPr id="218" name="" descr="{&quot;isTemplate&quot;:true,&quot;type&quot;:&quot;text&quot;}"/>
          <p:cNvSpPr txBox="1"/>
          <p:nvPr/>
        </p:nvSpPr>
        <p:spPr>
          <a:xfrm rot="0" flipH="0" flipV="0">
            <a:off x="4124325" y="1619250"/>
            <a:ext cx="1743075" cy="44767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0000"/>
              </a:lnSpc>
            </a:pPr>
            <a:r>
              <a:rPr lang="zh-CN" sz="975">
                <a:solidFill>
                  <a:srgbClr val="43566B"/>
                </a:solidFill>
                <a:latin typeface="PingFang SC"/>
                <a:ea typeface="PingFang SC"/>
              </a:rPr>
              <a:t>双周分享：谁用出了新招，谁踩了坑</a:t>
            </a:r>
            <a:endParaRPr/>
          </a:p>
        </p:txBody>
      </p:sp>
      <p:sp>
        <p:nvSpPr>
          <p:cNvPr id="219" name=""/>
          <p:cNvSpPr/>
          <p:nvPr/>
        </p:nvSpPr>
        <p:spPr>
          <a:xfrm rot="0" flipH="0" flipV="0">
            <a:off x="6153150" y="1219200"/>
            <a:ext cx="2619375" cy="2419350"/>
          </a:xfrm>
          <a:prstGeom prst="roundRect">
            <a:avLst>
              <a:gd name="adj" fmla="val 5512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14300" dist="28575" dir="5400000">
              <a:srgbClr val="1E3A8A">
                <a:alpha val="5000"/>
              </a:srgbClr>
            </a:outerShdw>
          </a:effectLst>
        </p:spPr>
        <p:txBody>
          <a:bodyPr/>
          <a:p/>
        </p:txBody>
      </p:sp>
      <p:sp>
        <p:nvSpPr>
          <p:cNvPr id="220" name=""/>
          <p:cNvSpPr/>
          <p:nvPr/>
        </p:nvSpPr>
        <p:spPr>
          <a:xfrm rot="0" flipH="0" flipV="0">
            <a:off x="6324600" y="1371600"/>
            <a:ext cx="419100" cy="419100"/>
          </a:xfrm>
          <a:prstGeom prst="roundRect">
            <a:avLst>
              <a:gd name="adj" fmla="val 25000"/>
            </a:avLst>
          </a:prstGeom>
          <a:solidFill>
            <a:srgbClr val="E0F7FA"/>
          </a:solidFill>
          <a:ln/>
        </p:spPr>
        <p:txBody>
          <a:bodyPr/>
          <a:p/>
        </p:txBody>
      </p:sp>
      <p:pic>
        <p:nvPicPr>
          <p:cNvPr id="221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3"/>
              </a:ext>
            </a:extLst>
          </a:blip>
          <a:stretch>
            <a:fillRect/>
          </a:stretch>
        </p:blipFill>
        <p:spPr>
          <a:xfrm rot="0" flipH="0" flipV="0">
            <a:off x="6429375" y="1476375"/>
            <a:ext cx="209550" cy="209550"/>
          </a:xfrm>
          <a:prstGeom prst="rect">
            <a:avLst/>
          </a:prstGeom>
          <a:ln/>
        </p:spPr>
      </p:pic>
      <p:sp>
        <p:nvSpPr>
          <p:cNvPr id="222" name="" descr="{&quot;isTemplate&quot;:true,&quot;type&quot;:&quot;text&quot;}"/>
          <p:cNvSpPr txBox="1"/>
          <p:nvPr/>
        </p:nvSpPr>
        <p:spPr>
          <a:xfrm rot="0" flipH="0" flipV="0">
            <a:off x="6858000" y="1371600"/>
            <a:ext cx="1743075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 b="1">
                <a:solidFill>
                  <a:srgbClr val="1E3A8A"/>
                </a:solidFill>
                <a:latin typeface="PingFang SC"/>
                <a:ea typeface="PingFang SC"/>
              </a:rPr>
              <a:t>培训</a:t>
            </a:r>
            <a:r>
              <a:rPr lang="en-US" sz="1275" b="1">
                <a:solidFill>
                  <a:srgbClr val="1E3A8A"/>
                </a:solidFill>
                <a:latin typeface="PingFang SC"/>
                <a:ea typeface="PingFang SC"/>
              </a:rPr>
              <a:t> L&amp;D</a:t>
            </a:r>
            <a:endParaRPr/>
          </a:p>
        </p:txBody>
      </p:sp>
      <p:sp>
        <p:nvSpPr>
          <p:cNvPr id="223" name="" descr="{&quot;isTemplate&quot;:true,&quot;type&quot;:&quot;text&quot;}"/>
          <p:cNvSpPr txBox="1"/>
          <p:nvPr/>
        </p:nvSpPr>
        <p:spPr>
          <a:xfrm rot="0" flipH="0" flipV="0">
            <a:off x="6858000" y="1619250"/>
            <a:ext cx="1743075" cy="44767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0000"/>
              </a:lnSpc>
            </a:pPr>
            <a:r>
              <a:rPr lang="zh-CN" sz="975">
                <a:solidFill>
                  <a:srgbClr val="43566B"/>
                </a:solidFill>
                <a:latin typeface="PingFang SC"/>
                <a:ea typeface="PingFang SC"/>
              </a:rPr>
              <a:t>分层培养：会用</a:t>
            </a:r>
            <a:r>
              <a:rPr lang="en-US" sz="975">
                <a:solidFill>
                  <a:srgbClr val="43566B"/>
                </a:solidFill>
                <a:latin typeface="PingFang SC"/>
                <a:ea typeface="PingFang SC"/>
              </a:rPr>
              <a:t> → </a:t>
            </a:r>
            <a:r>
              <a:rPr lang="zh-CN" sz="975">
                <a:solidFill>
                  <a:srgbClr val="43566B"/>
                </a:solidFill>
                <a:latin typeface="PingFang SC"/>
                <a:ea typeface="PingFang SC"/>
              </a:rPr>
              <a:t>会改</a:t>
            </a:r>
            <a:r>
              <a:rPr lang="en-US" sz="975">
                <a:solidFill>
                  <a:srgbClr val="43566B"/>
                </a:solidFill>
                <a:latin typeface="PingFang SC"/>
                <a:ea typeface="PingFang SC"/>
              </a:rPr>
              <a:t> → </a:t>
            </a:r>
            <a:r>
              <a:rPr lang="zh-CN" sz="975">
                <a:solidFill>
                  <a:srgbClr val="43566B"/>
                </a:solidFill>
                <a:latin typeface="PingFang SC"/>
                <a:ea typeface="PingFang SC"/>
              </a:rPr>
              <a:t>会带，</a:t>
            </a:r>
            <a:r>
              <a:rPr lang="en-US" sz="975">
                <a:solidFill>
                  <a:srgbClr val="43566B"/>
                </a:solidFill>
                <a:latin typeface="PingFang SC"/>
                <a:ea typeface="PingFang SC"/>
              </a:rPr>
              <a:t>TTT </a:t>
            </a:r>
            <a:r>
              <a:rPr lang="zh-CN" sz="975">
                <a:solidFill>
                  <a:srgbClr val="43566B"/>
                </a:solidFill>
                <a:latin typeface="PingFang SC"/>
                <a:ea typeface="PingFang SC"/>
              </a:rPr>
              <a:t>讲师制</a:t>
            </a:r>
            <a:endParaRPr/>
          </a:p>
        </p:txBody>
      </p:sp>
      <p:sp>
        <p:nvSpPr>
          <p:cNvPr id="224" name=""/>
          <p:cNvSpPr/>
          <p:nvPr/>
        </p:nvSpPr>
        <p:spPr>
          <a:xfrm rot="0" flipH="0" flipV="0">
            <a:off x="8886825" y="1219200"/>
            <a:ext cx="2619375" cy="2419350"/>
          </a:xfrm>
          <a:prstGeom prst="roundRect">
            <a:avLst>
              <a:gd name="adj" fmla="val 5512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14300" dist="28575" dir="5400000">
              <a:srgbClr val="1E3A8A">
                <a:alpha val="5000"/>
              </a:srgbClr>
            </a:outerShdw>
          </a:effectLst>
        </p:spPr>
        <p:txBody>
          <a:bodyPr/>
          <a:p/>
        </p:txBody>
      </p:sp>
      <p:sp>
        <p:nvSpPr>
          <p:cNvPr id="225" name=""/>
          <p:cNvSpPr/>
          <p:nvPr/>
        </p:nvSpPr>
        <p:spPr>
          <a:xfrm rot="0" flipH="0" flipV="0">
            <a:off x="9058275" y="1371600"/>
            <a:ext cx="419100" cy="419100"/>
          </a:xfrm>
          <a:prstGeom prst="roundRect">
            <a:avLst>
              <a:gd name="adj" fmla="val 25000"/>
            </a:avLst>
          </a:prstGeom>
          <a:solidFill>
            <a:srgbClr val="E0F7FA"/>
          </a:solidFill>
          <a:ln/>
        </p:spPr>
        <p:txBody>
          <a:bodyPr/>
          <a:p/>
        </p:txBody>
      </p:sp>
      <p:pic>
        <p:nvPicPr>
          <p:cNvPr id="226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4"/>
              </a:ext>
            </a:extLst>
          </a:blip>
          <a:stretch>
            <a:fillRect/>
          </a:stretch>
        </p:blipFill>
        <p:spPr>
          <a:xfrm rot="0" flipH="0" flipV="0">
            <a:off x="9163050" y="1476375"/>
            <a:ext cx="209550" cy="209550"/>
          </a:xfrm>
          <a:prstGeom prst="rect">
            <a:avLst/>
          </a:prstGeom>
          <a:ln/>
        </p:spPr>
      </p:pic>
      <p:sp>
        <p:nvSpPr>
          <p:cNvPr id="227" name="" descr="{&quot;isTemplate&quot;:true,&quot;type&quot;:&quot;text&quot;}"/>
          <p:cNvSpPr txBox="1"/>
          <p:nvPr/>
        </p:nvSpPr>
        <p:spPr>
          <a:xfrm rot="0" flipH="0" flipV="0">
            <a:off x="9591675" y="1371600"/>
            <a:ext cx="1743075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 b="1">
                <a:solidFill>
                  <a:srgbClr val="1E3A8A"/>
                </a:solidFill>
                <a:latin typeface="PingFang SC"/>
                <a:ea typeface="PingFang SC"/>
              </a:rPr>
              <a:t>分级工具政策</a:t>
            </a:r>
            <a:endParaRPr/>
          </a:p>
        </p:txBody>
      </p:sp>
      <p:sp>
        <p:nvSpPr>
          <p:cNvPr id="228" name="" descr="{&quot;isTemplate&quot;:true,&quot;type&quot;:&quot;text&quot;}"/>
          <p:cNvSpPr txBox="1"/>
          <p:nvPr/>
        </p:nvSpPr>
        <p:spPr>
          <a:xfrm rot="0" flipH="0" flipV="0">
            <a:off x="9591675" y="1619250"/>
            <a:ext cx="1743075" cy="44767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0000"/>
              </a:lnSpc>
            </a:pPr>
            <a:r>
              <a:rPr lang="zh-CN" sz="975">
                <a:solidFill>
                  <a:srgbClr val="43566B"/>
                </a:solidFill>
                <a:latin typeface="PingFang SC"/>
                <a:ea typeface="PingFang SC"/>
              </a:rPr>
              <a:t>哪些场景用免费工具、哪些走受控平台，白纸黑字</a:t>
            </a:r>
            <a:endParaRPr/>
          </a:p>
        </p:txBody>
      </p:sp>
      <p:sp>
        <p:nvSpPr>
          <p:cNvPr id="229" name=""/>
          <p:cNvSpPr/>
          <p:nvPr/>
        </p:nvSpPr>
        <p:spPr>
          <a:xfrm rot="0" flipH="0" flipV="0">
            <a:off x="685800" y="3752850"/>
            <a:ext cx="2619375" cy="2419350"/>
          </a:xfrm>
          <a:prstGeom prst="roundRect">
            <a:avLst>
              <a:gd name="adj" fmla="val 5512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14300" dist="28575" dir="5400000">
              <a:srgbClr val="1E3A8A">
                <a:alpha val="5000"/>
              </a:srgbClr>
            </a:outerShdw>
          </a:effectLst>
        </p:spPr>
        <p:txBody>
          <a:bodyPr/>
          <a:p/>
        </p:txBody>
      </p:sp>
      <p:sp>
        <p:nvSpPr>
          <p:cNvPr id="230" name=""/>
          <p:cNvSpPr/>
          <p:nvPr/>
        </p:nvSpPr>
        <p:spPr>
          <a:xfrm rot="0" flipH="0" flipV="0">
            <a:off x="857250" y="3905250"/>
            <a:ext cx="419100" cy="419100"/>
          </a:xfrm>
          <a:prstGeom prst="roundRect">
            <a:avLst>
              <a:gd name="adj" fmla="val 25000"/>
            </a:avLst>
          </a:prstGeom>
          <a:solidFill>
            <a:srgbClr val="E0F7FA"/>
          </a:solidFill>
          <a:ln/>
        </p:spPr>
        <p:txBody>
          <a:bodyPr/>
          <a:p/>
        </p:txBody>
      </p:sp>
      <p:pic>
        <p:nvPicPr>
          <p:cNvPr id="231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5"/>
              </a:ext>
            </a:extLst>
          </a:blip>
          <a:stretch>
            <a:fillRect/>
          </a:stretch>
        </p:blipFill>
        <p:spPr>
          <a:xfrm rot="0" flipH="0" flipV="0">
            <a:off x="962025" y="4010025"/>
            <a:ext cx="209550" cy="209550"/>
          </a:xfrm>
          <a:prstGeom prst="rect">
            <a:avLst/>
          </a:prstGeom>
          <a:ln/>
        </p:spPr>
      </p:pic>
      <p:sp>
        <p:nvSpPr>
          <p:cNvPr id="232" name="" descr="{&quot;isTemplate&quot;:true,&quot;type&quot;:&quot;text&quot;}"/>
          <p:cNvSpPr txBox="1"/>
          <p:nvPr/>
        </p:nvSpPr>
        <p:spPr>
          <a:xfrm rot="0" flipH="0" flipV="0">
            <a:off x="1390650" y="3905250"/>
            <a:ext cx="1743075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75" b="1">
                <a:solidFill>
                  <a:srgbClr val="1E3A8A"/>
                </a:solidFill>
                <a:latin typeface="PingFang SC"/>
                <a:ea typeface="PingFang SC"/>
              </a:rPr>
              <a:t>DRI </a:t>
            </a:r>
            <a:r>
              <a:rPr lang="zh-CN" sz="1275" b="1">
                <a:solidFill>
                  <a:srgbClr val="1E3A8A"/>
                </a:solidFill>
                <a:latin typeface="PingFang SC"/>
                <a:ea typeface="PingFang SC"/>
              </a:rPr>
              <a:t>责任人</a:t>
            </a:r>
            <a:endParaRPr/>
          </a:p>
        </p:txBody>
      </p:sp>
      <p:sp>
        <p:nvSpPr>
          <p:cNvPr id="233" name="" descr="{&quot;isTemplate&quot;:true,&quot;type&quot;:&quot;text&quot;}"/>
          <p:cNvSpPr txBox="1"/>
          <p:nvPr/>
        </p:nvSpPr>
        <p:spPr>
          <a:xfrm rot="0" flipH="0" flipV="0">
            <a:off x="1390650" y="4152900"/>
            <a:ext cx="1743075" cy="44767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0000"/>
              </a:lnSpc>
            </a:pPr>
            <a:r>
              <a:rPr lang="zh-CN" sz="975">
                <a:solidFill>
                  <a:srgbClr val="43566B"/>
                </a:solidFill>
                <a:latin typeface="PingFang SC"/>
                <a:ea typeface="PingFang SC"/>
              </a:rPr>
              <a:t>每个场景一个直接负责人，「</a:t>
            </a:r>
            <a:r>
              <a:rPr lang="en-US" sz="975">
                <a:solidFill>
                  <a:srgbClr val="43566B"/>
                </a:solidFill>
                <a:latin typeface="PingFang SC"/>
                <a:ea typeface="PingFang SC"/>
              </a:rPr>
              <a:t>DRI</a:t>
            </a:r>
            <a:r>
              <a:rPr lang="zh-CN" sz="975">
                <a:solidFill>
                  <a:srgbClr val="43566B"/>
                </a:solidFill>
                <a:latin typeface="PingFang SC"/>
                <a:ea typeface="PingFang SC"/>
              </a:rPr>
              <a:t>」不是团队</a:t>
            </a:r>
            <a:endParaRPr/>
          </a:p>
        </p:txBody>
      </p:sp>
      <p:sp>
        <p:nvSpPr>
          <p:cNvPr id="234" name=""/>
          <p:cNvSpPr/>
          <p:nvPr/>
        </p:nvSpPr>
        <p:spPr>
          <a:xfrm rot="0" flipH="0" flipV="0">
            <a:off x="3419475" y="3752850"/>
            <a:ext cx="2619375" cy="2419350"/>
          </a:xfrm>
          <a:prstGeom prst="roundRect">
            <a:avLst>
              <a:gd name="adj" fmla="val 5512"/>
            </a:avLst>
          </a:prstGeom>
          <a:solidFill>
            <a:srgbClr val="1E3A8A"/>
          </a:solidFill>
          <a:ln w="12700">
            <a:solidFill>
              <a:srgbClr val="1E3A8A"/>
            </a:solidFill>
            <a:prstDash val="solid"/>
          </a:ln>
          <a:effectLst>
            <a:outerShdw blurRad="190500" dist="57150" dir="5400000">
              <a:srgbClr val="1E3A8A">
                <a:alpha val="22000"/>
              </a:srgbClr>
            </a:outerShdw>
          </a:effectLst>
        </p:spPr>
        <p:txBody>
          <a:bodyPr/>
          <a:p/>
        </p:txBody>
      </p:sp>
      <p:sp>
        <p:nvSpPr>
          <p:cNvPr id="235" name=""/>
          <p:cNvSpPr/>
          <p:nvPr/>
        </p:nvSpPr>
        <p:spPr>
          <a:xfrm rot="0" flipH="0" flipV="0">
            <a:off x="3590925" y="3905250"/>
            <a:ext cx="419100" cy="419100"/>
          </a:xfrm>
          <a:prstGeom prst="roundRect">
            <a:avLst>
              <a:gd name="adj" fmla="val 25000"/>
            </a:avLst>
          </a:prstGeom>
          <a:solidFill>
            <a:srgbClr val="F59E0B">
              <a:alpha val="20000"/>
            </a:srgbClr>
          </a:solidFill>
          <a:ln/>
        </p:spPr>
        <p:txBody>
          <a:bodyPr/>
          <a:p/>
        </p:txBody>
      </p:sp>
      <p:pic>
        <p:nvPicPr>
          <p:cNvPr id="236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6"/>
              </a:ext>
            </a:extLst>
          </a:blip>
          <a:stretch>
            <a:fillRect/>
          </a:stretch>
        </p:blipFill>
        <p:spPr>
          <a:xfrm rot="0" flipH="0" flipV="0">
            <a:off x="3695700" y="4010025"/>
            <a:ext cx="209550" cy="209550"/>
          </a:xfrm>
          <a:prstGeom prst="rect">
            <a:avLst/>
          </a:prstGeom>
          <a:ln/>
        </p:spPr>
      </p:pic>
      <p:sp>
        <p:nvSpPr>
          <p:cNvPr id="237" name="" descr="{&quot;isTemplate&quot;:true,&quot;type&quot;:&quot;text&quot;}"/>
          <p:cNvSpPr txBox="1"/>
          <p:nvPr/>
        </p:nvSpPr>
        <p:spPr>
          <a:xfrm rot="0" flipH="0" flipV="0">
            <a:off x="4124325" y="3905250"/>
            <a:ext cx="1743075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 b="1">
                <a:solidFill>
                  <a:srgbClr val="FFFFFF"/>
                </a:solidFill>
                <a:latin typeface="PingFang SC"/>
                <a:ea typeface="PingFang SC"/>
              </a:rPr>
              <a:t>高管背书</a:t>
            </a:r>
            <a:endParaRPr/>
          </a:p>
        </p:txBody>
      </p:sp>
      <p:sp>
        <p:nvSpPr>
          <p:cNvPr id="238" name="" descr="{&quot;isTemplate&quot;:true,&quot;type&quot;:&quot;text&quot;}"/>
          <p:cNvSpPr txBox="1"/>
          <p:nvPr/>
        </p:nvSpPr>
        <p:spPr>
          <a:xfrm rot="0" flipH="0" flipV="0">
            <a:off x="4124325" y="4152900"/>
            <a:ext cx="1743075" cy="44767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0000"/>
              </a:lnSpc>
            </a:pPr>
            <a:r>
              <a:rPr lang="zh-CN" sz="975">
                <a:solidFill>
                  <a:srgbClr val="DCE9FB"/>
                </a:solidFill>
                <a:latin typeface="PingFang SC"/>
                <a:ea typeface="PingFang SC"/>
              </a:rPr>
              <a:t>一把手发话</a:t>
            </a:r>
            <a:r>
              <a:rPr lang="en-US" sz="975">
                <a:solidFill>
                  <a:srgbClr val="DCE9FB"/>
                </a:solidFill>
                <a:latin typeface="PingFang SC"/>
                <a:ea typeface="PingFang SC"/>
              </a:rPr>
              <a:t> + </a:t>
            </a:r>
            <a:r>
              <a:rPr lang="zh-CN" sz="975">
                <a:solidFill>
                  <a:srgbClr val="DCE9FB"/>
                </a:solidFill>
                <a:latin typeface="PingFang SC"/>
                <a:ea typeface="PingFang SC"/>
              </a:rPr>
              <a:t>月度复盘列席</a:t>
            </a:r>
            <a:r>
              <a:rPr lang="en-US" sz="975">
                <a:solidFill>
                  <a:srgbClr val="DCE9FB"/>
                </a:solidFill>
                <a:latin typeface="PingFang SC"/>
                <a:ea typeface="PingFang SC"/>
              </a:rPr>
              <a:t> —— </a:t>
            </a:r>
            <a:r>
              <a:rPr lang="zh-CN" sz="975">
                <a:solidFill>
                  <a:srgbClr val="DCE9FB"/>
                </a:solidFill>
                <a:latin typeface="PingFang SC"/>
                <a:ea typeface="PingFang SC"/>
              </a:rPr>
              <a:t>采纳是态度问题</a:t>
            </a:r>
            <a:endParaRPr/>
          </a:p>
        </p:txBody>
      </p:sp>
      <p:sp>
        <p:nvSpPr>
          <p:cNvPr id="239" name=""/>
          <p:cNvSpPr/>
          <p:nvPr/>
        </p:nvSpPr>
        <p:spPr>
          <a:xfrm rot="0" flipH="0" flipV="0">
            <a:off x="6153150" y="3752850"/>
            <a:ext cx="2619375" cy="2419350"/>
          </a:xfrm>
          <a:prstGeom prst="roundRect">
            <a:avLst>
              <a:gd name="adj" fmla="val 5512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14300" dist="28575" dir="5400000">
              <a:srgbClr val="1E3A8A">
                <a:alpha val="5000"/>
              </a:srgbClr>
            </a:outerShdw>
          </a:effectLst>
        </p:spPr>
        <p:txBody>
          <a:bodyPr/>
          <a:p/>
        </p:txBody>
      </p:sp>
      <p:sp>
        <p:nvSpPr>
          <p:cNvPr id="240" name=""/>
          <p:cNvSpPr/>
          <p:nvPr/>
        </p:nvSpPr>
        <p:spPr>
          <a:xfrm rot="0" flipH="0" flipV="0">
            <a:off x="6324600" y="3905250"/>
            <a:ext cx="419100" cy="419100"/>
          </a:xfrm>
          <a:prstGeom prst="roundRect">
            <a:avLst>
              <a:gd name="adj" fmla="val 25000"/>
            </a:avLst>
          </a:prstGeom>
          <a:solidFill>
            <a:srgbClr val="E0F7FA"/>
          </a:solidFill>
          <a:ln/>
        </p:spPr>
        <p:txBody>
          <a:bodyPr/>
          <a:p/>
        </p:txBody>
      </p:sp>
      <p:pic>
        <p:nvPicPr>
          <p:cNvPr id="241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7"/>
              </a:ext>
            </a:extLst>
          </a:blip>
          <a:stretch>
            <a:fillRect/>
          </a:stretch>
        </p:blipFill>
        <p:spPr>
          <a:xfrm rot="0" flipH="0" flipV="0">
            <a:off x="6429375" y="4010025"/>
            <a:ext cx="209550" cy="209550"/>
          </a:xfrm>
          <a:prstGeom prst="rect">
            <a:avLst/>
          </a:prstGeom>
          <a:ln/>
        </p:spPr>
      </p:pic>
      <p:sp>
        <p:nvSpPr>
          <p:cNvPr id="242" name="" descr="{&quot;isTemplate&quot;:true,&quot;type&quot;:&quot;text&quot;}"/>
          <p:cNvSpPr txBox="1"/>
          <p:nvPr/>
        </p:nvSpPr>
        <p:spPr>
          <a:xfrm rot="0" flipH="0" flipV="0">
            <a:off x="6858000" y="3905250"/>
            <a:ext cx="1743075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 b="1">
                <a:solidFill>
                  <a:srgbClr val="1E3A8A"/>
                </a:solidFill>
                <a:latin typeface="PingFang SC"/>
                <a:ea typeface="PingFang SC"/>
              </a:rPr>
              <a:t>数据驱动指标</a:t>
            </a:r>
            <a:endParaRPr/>
          </a:p>
        </p:txBody>
      </p:sp>
      <p:sp>
        <p:nvSpPr>
          <p:cNvPr id="243" name="" descr="{&quot;isTemplate&quot;:true,&quot;type&quot;:&quot;text&quot;}"/>
          <p:cNvSpPr txBox="1"/>
          <p:nvPr/>
        </p:nvSpPr>
        <p:spPr>
          <a:xfrm rot="0" flipH="0" flipV="0">
            <a:off x="6858000" y="4152900"/>
            <a:ext cx="1743075" cy="44767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0000"/>
              </a:lnSpc>
            </a:pPr>
            <a:r>
              <a:rPr lang="en-US" sz="975">
                <a:solidFill>
                  <a:srgbClr val="43566B"/>
                </a:solidFill>
                <a:latin typeface="PingFang SC"/>
                <a:ea typeface="PingFang SC"/>
              </a:rPr>
              <a:t>MAU/MEU </a:t>
            </a:r>
            <a:r>
              <a:rPr lang="zh-CN" sz="975">
                <a:solidFill>
                  <a:srgbClr val="43566B"/>
                </a:solidFill>
                <a:latin typeface="PingFang SC"/>
                <a:ea typeface="PingFang SC"/>
              </a:rPr>
              <a:t>上墙，用数字说话，不用感觉汇报</a:t>
            </a:r>
            <a:endParaRPr/>
          </a:p>
        </p:txBody>
      </p:sp>
      <p:sp>
        <p:nvSpPr>
          <p:cNvPr id="244" name=""/>
          <p:cNvSpPr/>
          <p:nvPr/>
        </p:nvSpPr>
        <p:spPr>
          <a:xfrm rot="0" flipH="0" flipV="0">
            <a:off x="8886825" y="3752850"/>
            <a:ext cx="2619375" cy="2419350"/>
          </a:xfrm>
          <a:prstGeom prst="roundRect">
            <a:avLst>
              <a:gd name="adj" fmla="val 5512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14300" dist="28575" dir="5400000">
              <a:srgbClr val="1E3A8A">
                <a:alpha val="5000"/>
              </a:srgbClr>
            </a:outerShdw>
          </a:effectLst>
        </p:spPr>
        <p:txBody>
          <a:bodyPr/>
          <a:p/>
        </p:txBody>
      </p:sp>
      <p:sp>
        <p:nvSpPr>
          <p:cNvPr id="245" name=""/>
          <p:cNvSpPr/>
          <p:nvPr/>
        </p:nvSpPr>
        <p:spPr>
          <a:xfrm rot="0" flipH="0" flipV="0">
            <a:off x="9058275" y="3905250"/>
            <a:ext cx="419100" cy="419100"/>
          </a:xfrm>
          <a:prstGeom prst="roundRect">
            <a:avLst>
              <a:gd name="adj" fmla="val 25000"/>
            </a:avLst>
          </a:prstGeom>
          <a:solidFill>
            <a:srgbClr val="E0F7FA"/>
          </a:solidFill>
          <a:ln/>
        </p:spPr>
        <p:txBody>
          <a:bodyPr/>
          <a:p/>
        </p:txBody>
      </p:sp>
      <p:pic>
        <p:nvPicPr>
          <p:cNvPr id="246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8"/>
              </a:ext>
            </a:extLst>
          </a:blip>
          <a:stretch>
            <a:fillRect/>
          </a:stretch>
        </p:blipFill>
        <p:spPr>
          <a:xfrm rot="0" flipH="0" flipV="0">
            <a:off x="9163050" y="4010025"/>
            <a:ext cx="209550" cy="209550"/>
          </a:xfrm>
          <a:prstGeom prst="rect">
            <a:avLst/>
          </a:prstGeom>
          <a:ln/>
        </p:spPr>
      </p:pic>
      <p:sp>
        <p:nvSpPr>
          <p:cNvPr id="247" name="" descr="{&quot;isTemplate&quot;:true,&quot;type&quot;:&quot;text&quot;}"/>
          <p:cNvSpPr txBox="1"/>
          <p:nvPr/>
        </p:nvSpPr>
        <p:spPr>
          <a:xfrm rot="0" flipH="0" flipV="0">
            <a:off x="9591675" y="3905250"/>
            <a:ext cx="1743075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 b="1">
                <a:solidFill>
                  <a:srgbClr val="1E3A8A"/>
                </a:solidFill>
                <a:latin typeface="PingFang SC"/>
                <a:ea typeface="PingFang SC"/>
              </a:rPr>
              <a:t>负责任使用</a:t>
            </a:r>
            <a:endParaRPr/>
          </a:p>
        </p:txBody>
      </p:sp>
      <p:sp>
        <p:nvSpPr>
          <p:cNvPr id="248" name="" descr="{&quot;isTemplate&quot;:true,&quot;type&quot;:&quot;text&quot;}"/>
          <p:cNvSpPr txBox="1"/>
          <p:nvPr/>
        </p:nvSpPr>
        <p:spPr>
          <a:xfrm rot="0" flipH="0" flipV="0">
            <a:off x="9591675" y="4152900"/>
            <a:ext cx="1743075" cy="44767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0000"/>
              </a:lnSpc>
            </a:pPr>
            <a:r>
              <a:rPr lang="zh-CN" sz="975">
                <a:solidFill>
                  <a:srgbClr val="43566B"/>
                </a:solidFill>
                <a:latin typeface="PingFang SC"/>
                <a:ea typeface="PingFang SC"/>
              </a:rPr>
              <a:t>红线清单</a:t>
            </a:r>
            <a:r>
              <a:rPr lang="en-US" sz="975">
                <a:solidFill>
                  <a:srgbClr val="43566B"/>
                </a:solidFill>
                <a:latin typeface="PingFang SC"/>
                <a:ea typeface="PingFang SC"/>
              </a:rPr>
              <a:t> + </a:t>
            </a:r>
            <a:r>
              <a:rPr lang="zh-CN" sz="975">
                <a:solidFill>
                  <a:srgbClr val="43566B"/>
                </a:solidFill>
                <a:latin typeface="PingFang SC"/>
                <a:ea typeface="PingFang SC"/>
              </a:rPr>
              <a:t>停止条件，敢用，也敢停</a:t>
            </a:r>
            <a:endParaRPr/>
          </a:p>
        </p:txBody>
      </p:sp>
      <p:sp>
        <p:nvSpPr>
          <p:cNvPr id="249" name="" descr="{&quot;isTemplate&quot;:true,&quot;type&quot;:&quot;text&quot;}"/>
          <p:cNvSpPr txBox="1"/>
          <p:nvPr/>
        </p:nvSpPr>
        <p:spPr>
          <a:xfrm rot="0" flipH="0" flipV="0">
            <a:off x="685800" y="6362700"/>
            <a:ext cx="12573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64748B"/>
                </a:solidFill>
                <a:latin typeface="PingFang SC"/>
                <a:ea typeface="PingFang SC"/>
              </a:rPr>
              <a:t>AI </a:t>
            </a:r>
            <a:r>
              <a:rPr lang="zh-CN" sz="1050">
                <a:solidFill>
                  <a:srgbClr val="64748B"/>
                </a:solidFill>
                <a:latin typeface="PingFang SC"/>
                <a:ea typeface="PingFang SC"/>
              </a:rPr>
              <a:t>规划与治理</a:t>
            </a:r>
            <a:r>
              <a:rPr lang="en-US" sz="1050">
                <a:solidFill>
                  <a:srgbClr val="64748B"/>
                </a:solidFill>
                <a:latin typeface="PingFang SC"/>
                <a:ea typeface="PingFang SC"/>
              </a:rPr>
              <a:t> · </a:t>
            </a:r>
            <a:r>
              <a:rPr lang="zh-CN" sz="1050">
                <a:solidFill>
                  <a:srgbClr val="64748B"/>
                </a:solidFill>
                <a:latin typeface="PingFang SC"/>
                <a:ea typeface="PingFang SC"/>
              </a:rPr>
              <a:t>高级</a:t>
            </a:r>
            <a:endParaRPr/>
          </a:p>
        </p:txBody>
      </p:sp>
      <p:sp>
        <p:nvSpPr>
          <p:cNvPr id="250" name="" descr="{&quot;isTemplate&quot;:true,&quot;type&quot;:&quot;text&quot;}"/>
          <p:cNvSpPr txBox="1"/>
          <p:nvPr/>
        </p:nvSpPr>
        <p:spPr>
          <a:xfrm rot="0" flipH="0" flipV="0">
            <a:off x="11058525" y="6362700"/>
            <a:ext cx="44767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64748B"/>
                </a:solidFill>
                <a:latin typeface="PingFang SC"/>
                <a:ea typeface="PingFang SC"/>
              </a:rPr>
              <a:t>17 / 24</a:t>
            </a:r>
            <a:endParaRPr/>
          </a:p>
        </p:txBody>
      </p:sp>
    </p:spTree>
  </p:cSld>
</p:sld>
</file>

<file path=ppt/slides/slide18.xml><?xml version="1.0" encoding="utf-8"?>
<p:sld xmlns:a="http://schemas.openxmlformats.org/drawingml/2006/main" xmlns:p="http://schemas.openxmlformats.org/presentationml/2006/main">
  <p:cSld>
    <p:spTree>
      <p:nvGrpSpPr>
        <p:cNvPr id="251" name="" descr="const phases = [&#10;    { t: '0–30 天 · 奠基', d: '定 DRI / 选首批 3 个场景 / 建 CoP / 发工具政策', c: '#06B6D4' },&#10;    { t: '30–90 天 · 起势', d: '首批场景上线 / 月度复盘 / 看板公开 / 树立 1–2 个样板', c: '#1E3A8A' },&#10;    { t: '持续 · 规模化', d: 'TTT 讲师复制 / 场景扩线扩厂 / 季度 ROI 盘点 / 淘汰不达标场景', c: '#F59E0B' },&#10;];&#10;const board = ['MAU / MEU + 用户分层', 'OEE / 停机时间', '不良率 / 复检量', '单位能耗'];&#10;&lt;Slide style={{ width: '1280px', height: '720px', background: '#F5F8FC', padding: '24px 72px', boxSizing: 'border-box', flexDirection: 'column', fontFamily: 'PingFang SC, Source Han Sans SC, sans-serif' }}&gt;&#10;    &lt;Box style={{ height: 96, flexDirection: 'row', alignItems: 'center', gap: 16 }}&gt;&#10;        &lt;Box style={{ width: 5, height: 46, background: '#06B6D4', borderRadius: 3 }} /&gt;&#10;        &lt;Box&gt;&#10;            &lt;Text style={{ fontSize: 34, fontWeight: 'bold', color: '#1E3A8A', lineHeight: 1.2 }}&gt;三阶段推进 + 采纳看板&lt;/Text&gt;&#10;            &lt;Text style={{ fontSize: 17, color: '#64748B', marginTop: 4 }}&gt;节奏比热情重要：先小胜，再复制，最后规模化&lt;/Text&gt;&#10;        &lt;/Box&gt;&#10;    &lt;/Box&gt;&#10;    &lt;Box style={{ flex: 1, flexDirection: 'row', gap: 24, marginTop: 14 }}&gt;&#10;        &lt;Box style={{ flex: 55, flexDirection: 'row', gap: 14 }}&gt;&#10;            {phases.map((p, i) =&gt; (&#10;                &lt;Box key={i} style={{ flex: 1, background: i === 1 ? '#1E3A8A' : '#FFFFFF', borderRadius: 16, border: '1px solid ' + (i === 1 ? '#1E3A8A' : '#E2E8F0'), padding: '22px 20px', flexDirection: 'column', boxShadow: i === 1 ? '0 8px 24px rgba(30,58,138,0.25)' : '0 3px 12px rgba(30,58,138,0.05)' }}&gt;&#10;                    &lt;Box style={{ width: 56, height: 6, background: p.c, borderRadius: 3, marginBottom: 14 }} /&gt;&#10;                    &lt;Text style={{ fontSize: 19, fontWeight: 'bold', color: i === 1 ? '#FFFFFF' : '#1E3A8A' }}&gt;{p.t}&lt;/Text&gt;&#10;                    &lt;Text style={{ fontSize: 14, color: i === 1 ? '#DCE9FB' : '#43566b', lineHeight: 1.75, marginTop: 10, flex: 1 }}&gt;{p.d}&lt;/Text&gt;&#10;                    {i &lt; 2 &amp;&amp; &lt;Text style={{ fontSize: 13, color: i === 1 ? '#7FD9F0' : '#64748B', marginTop: 10 }}&gt;里程碑：{['3 个场景开跑', '首张看板公开'][i]}&lt;/Text&gt;}&#10;                &lt;/Box&gt;&#10;            ))}&#10;        &lt;/Box&gt;&#10;        &lt;Box style={{ flex: 45, background: '#1E3A8A', borderRadius: 18, padding: '24px 28px', flexDirection: 'column', boxShadow: '0 8px 28px rgba(30,58,138,0.25)' }}&gt;&#10;            &lt;Text style={{ fontSize: 18, fontWeight: 'bold', color: '#FFFFFF' }}&gt;采纳看板：业务账 + 采纳账同屏&lt;/Text&gt;&#10;            &lt;Box style={{ flexDirection: 'column', gap: 10, marginTop: 16 }}&gt;&#10;                {board.map((b, i) =&gt; (&#10;                    &lt;Box key={i} style={{ padding: '11px 18px', background: 'rgba(6,182,212,0.15)', borderRadius: 10, border: '1px solid rgba(6,182,212,0.45)' }}&gt;&#10;                        &lt;Text style={{ fontSize: 16, fontWeight: 'bold', color: i &lt; 2 ? '#7FD9F0' : '#F8C471' }}&gt;{b}&lt;/Text&gt;&#10;                    &lt;/Box&gt;&#10;                ))}&#10;            &lt;/Box&gt;&#10;            &lt;Text style={{ fontSize: 14, color: '#A9C4E8', marginTop: 'auto', paddingTop: 14, lineHeight: 1.7 }}&gt;每周一屏、每月一议 —— 连续 2 个月 MEU 不涨的场景，进「整改 or 下线」评审。&lt;/Text&gt;&#10;        &lt;/Box&gt;&#10;    &lt;/Box&gt;&#10;    &lt;Box style={{ height: 40, flexDirection: 'row', justifyContent: 'space-between', alignItems: 'center', marginTop: 10 }}&gt;&#10;        &lt;Text style={{ fontSize: 14, color: '#64748B' }}&gt;AI 规划与治理 · 高级&lt;/Text&gt;&#10;        &lt;Text style={{ fontSize: 14, color: '#64748B' }}&gt;18 / 24&lt;/Text&gt;&#10;    &lt;/Box&gt;&#10;&lt;/Slide&gt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2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5F8FC"/>
          </a:solidFill>
          <a:ln/>
        </p:spPr>
        <p:txBody>
          <a:bodyPr/>
          <a:p/>
        </p:txBody>
      </p:sp>
      <p:sp>
        <p:nvSpPr>
          <p:cNvPr id="253" name=""/>
          <p:cNvSpPr/>
          <p:nvPr/>
        </p:nvSpPr>
        <p:spPr>
          <a:xfrm rot="0" flipH="0" flipV="0">
            <a:off x="685800" y="466725"/>
            <a:ext cx="47625" cy="438150"/>
          </a:xfrm>
          <a:prstGeom prst="roundRect">
            <a:avLst>
              <a:gd name="adj" fmla="val 60000"/>
            </a:avLst>
          </a:prstGeom>
          <a:solidFill>
            <a:srgbClr val="06B6D4"/>
          </a:solidFill>
          <a:ln/>
        </p:spPr>
        <p:txBody>
          <a:bodyPr/>
          <a:p/>
        </p:txBody>
      </p:sp>
      <p:sp>
        <p:nvSpPr>
          <p:cNvPr id="254" name="" descr="{&quot;isTemplate&quot;:true,&quot;type&quot;:&quot;text&quot;}"/>
          <p:cNvSpPr txBox="1"/>
          <p:nvPr/>
        </p:nvSpPr>
        <p:spPr>
          <a:xfrm rot="0" flipH="0" flipV="0">
            <a:off x="885825" y="333375"/>
            <a:ext cx="3400425" cy="466725"/>
          </a:xfrm>
          <a:prstGeom prst="rect"/>
        </p:spPr>
        <p:txBody>
          <a:bodyPr wrap="none" lIns="0" tIns="0" rIns="0" bIns="0"/>
          <a:p>
            <a:pPr>
              <a:lnSpc>
                <a:spcPct val="120000"/>
              </a:lnSpc>
            </a:pPr>
            <a:r>
              <a:rPr lang="zh-CN" sz="2550" b="1">
                <a:solidFill>
                  <a:srgbClr val="1E3A8A"/>
                </a:solidFill>
                <a:latin typeface="PingFang SC"/>
                <a:ea typeface="PingFang SC"/>
              </a:rPr>
              <a:t>三阶段推进</a:t>
            </a:r>
            <a:r>
              <a:rPr lang="en-US" sz="2550" b="1">
                <a:solidFill>
                  <a:srgbClr val="1E3A8A"/>
                </a:solidFill>
                <a:latin typeface="PingFang SC"/>
                <a:ea typeface="PingFang SC"/>
              </a:rPr>
              <a:t> + </a:t>
            </a:r>
            <a:r>
              <a:rPr lang="zh-CN" sz="2550" b="1">
                <a:solidFill>
                  <a:srgbClr val="1E3A8A"/>
                </a:solidFill>
                <a:latin typeface="PingFang SC"/>
                <a:ea typeface="PingFang SC"/>
              </a:rPr>
              <a:t>采纳看板</a:t>
            </a:r>
            <a:endParaRPr/>
          </a:p>
        </p:txBody>
      </p:sp>
      <p:sp>
        <p:nvSpPr>
          <p:cNvPr id="255" name="" descr="{&quot;isTemplate&quot;:true,&quot;type&quot;:&quot;text&quot;}"/>
          <p:cNvSpPr txBox="1"/>
          <p:nvPr/>
        </p:nvSpPr>
        <p:spPr>
          <a:xfrm rot="0" flipH="0" flipV="0">
            <a:off x="885825" y="838200"/>
            <a:ext cx="3400425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>
                <a:solidFill>
                  <a:srgbClr val="64748B"/>
                </a:solidFill>
                <a:latin typeface="PingFang SC"/>
                <a:ea typeface="PingFang SC"/>
              </a:rPr>
              <a:t>节奏比热情重要：先小胜，再复制，最后规模化</a:t>
            </a:r>
            <a:endParaRPr/>
          </a:p>
        </p:txBody>
      </p:sp>
      <p:sp>
        <p:nvSpPr>
          <p:cNvPr id="256" name=""/>
          <p:cNvSpPr/>
          <p:nvPr/>
        </p:nvSpPr>
        <p:spPr>
          <a:xfrm rot="0" flipH="0" flipV="0">
            <a:off x="685800" y="1276350"/>
            <a:ext cx="1857375" cy="4876800"/>
          </a:xfrm>
          <a:prstGeom prst="roundRect">
            <a:avLst>
              <a:gd name="adj" fmla="val 8205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14300" dist="28575" dir="5400000">
              <a:srgbClr val="1E3A8A">
                <a:alpha val="5000"/>
              </a:srgbClr>
            </a:outerShdw>
          </a:effectLst>
        </p:spPr>
        <p:txBody>
          <a:bodyPr/>
          <a:p/>
        </p:txBody>
      </p:sp>
      <p:sp>
        <p:nvSpPr>
          <p:cNvPr id="257" name=""/>
          <p:cNvSpPr/>
          <p:nvPr/>
        </p:nvSpPr>
        <p:spPr>
          <a:xfrm rot="0" flipH="0" flipV="0">
            <a:off x="876300" y="1485900"/>
            <a:ext cx="533400" cy="57150"/>
          </a:xfrm>
          <a:prstGeom prst="roundRect">
            <a:avLst>
              <a:gd name="adj" fmla="val 50000"/>
            </a:avLst>
          </a:prstGeom>
          <a:solidFill>
            <a:srgbClr val="06B6D4"/>
          </a:solidFill>
          <a:ln/>
        </p:spPr>
        <p:txBody>
          <a:bodyPr/>
          <a:p/>
        </p:txBody>
      </p:sp>
      <p:sp>
        <p:nvSpPr>
          <p:cNvPr id="258" name="" descr="{&quot;isTemplate&quot;:true,&quot;type&quot;:&quot;text&quot;}"/>
          <p:cNvSpPr txBox="1"/>
          <p:nvPr/>
        </p:nvSpPr>
        <p:spPr>
          <a:xfrm rot="0" flipH="0" flipV="0">
            <a:off x="876300" y="1676400"/>
            <a:ext cx="1476375" cy="2190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425" b="1">
                <a:solidFill>
                  <a:srgbClr val="1E3A8A"/>
                </a:solidFill>
                <a:latin typeface="PingFang SC"/>
                <a:ea typeface="PingFang SC"/>
              </a:rPr>
              <a:t>0–30 </a:t>
            </a:r>
            <a:r>
              <a:rPr lang="zh-CN" sz="1425" b="1">
                <a:solidFill>
                  <a:srgbClr val="1E3A8A"/>
                </a:solidFill>
                <a:latin typeface="PingFang SC"/>
                <a:ea typeface="PingFang SC"/>
              </a:rPr>
              <a:t>天</a:t>
            </a:r>
            <a:r>
              <a:rPr lang="en-US" sz="1425" b="1">
                <a:solidFill>
                  <a:srgbClr val="1E3A8A"/>
                </a:solidFill>
                <a:latin typeface="PingFang SC"/>
                <a:ea typeface="PingFang SC"/>
              </a:rPr>
              <a:t> · </a:t>
            </a:r>
            <a:r>
              <a:rPr lang="zh-CN" sz="1425" b="1">
                <a:solidFill>
                  <a:srgbClr val="1E3A8A"/>
                </a:solidFill>
                <a:latin typeface="PingFang SC"/>
                <a:ea typeface="PingFang SC"/>
              </a:rPr>
              <a:t>奠基</a:t>
            </a:r>
            <a:endParaRPr/>
          </a:p>
        </p:txBody>
      </p:sp>
      <p:sp>
        <p:nvSpPr>
          <p:cNvPr id="259" name="" descr="{&quot;isTemplate&quot;:true,&quot;type&quot;:&quot;text&quot;}"/>
          <p:cNvSpPr txBox="1"/>
          <p:nvPr/>
        </p:nvSpPr>
        <p:spPr>
          <a:xfrm rot="0" flipH="0" flipV="0">
            <a:off x="876300" y="1990725"/>
            <a:ext cx="1476375" cy="370522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75000"/>
              </a:lnSpc>
            </a:pPr>
            <a:r>
              <a:rPr lang="zh-CN" sz="1050">
                <a:solidFill>
                  <a:srgbClr val="43566B"/>
                </a:solidFill>
                <a:latin typeface="PingFang SC"/>
                <a:ea typeface="PingFang SC"/>
              </a:rPr>
              <a:t>定</a:t>
            </a:r>
            <a:r>
              <a:rPr lang="en-US" sz="1050">
                <a:solidFill>
                  <a:srgbClr val="43566B"/>
                </a:solidFill>
                <a:latin typeface="PingFang SC"/>
                <a:ea typeface="PingFang SC"/>
              </a:rPr>
              <a:t> DRI / </a:t>
            </a:r>
            <a:r>
              <a:rPr lang="zh-CN" sz="1050">
                <a:solidFill>
                  <a:srgbClr val="43566B"/>
                </a:solidFill>
                <a:latin typeface="PingFang SC"/>
                <a:ea typeface="PingFang SC"/>
              </a:rPr>
              <a:t>选首批</a:t>
            </a:r>
            <a:r>
              <a:rPr lang="en-US" sz="1050">
                <a:solidFill>
                  <a:srgbClr val="43566B"/>
                </a:solidFill>
                <a:latin typeface="PingFang SC"/>
                <a:ea typeface="PingFang SC"/>
              </a:rPr>
              <a:t> 3 </a:t>
            </a:r>
            <a:r>
              <a:rPr lang="zh-CN" sz="1050">
                <a:solidFill>
                  <a:srgbClr val="43566B"/>
                </a:solidFill>
                <a:latin typeface="PingFang SC"/>
                <a:ea typeface="PingFang SC"/>
              </a:rPr>
              <a:t>个场景</a:t>
            </a:r>
            <a:r>
              <a:rPr lang="en-US" sz="1050">
                <a:solidFill>
                  <a:srgbClr val="43566B"/>
                </a:solidFill>
                <a:latin typeface="PingFang SC"/>
                <a:ea typeface="PingFang SC"/>
              </a:rPr>
              <a:t> / </a:t>
            </a:r>
            <a:r>
              <a:rPr lang="zh-CN" sz="1050">
                <a:solidFill>
                  <a:srgbClr val="43566B"/>
                </a:solidFill>
                <a:latin typeface="PingFang SC"/>
                <a:ea typeface="PingFang SC"/>
              </a:rPr>
              <a:t>建</a:t>
            </a:r>
            <a:r>
              <a:rPr lang="en-US" sz="1050">
                <a:solidFill>
                  <a:srgbClr val="43566B"/>
                </a:solidFill>
                <a:latin typeface="PingFang SC"/>
                <a:ea typeface="PingFang SC"/>
              </a:rPr>
              <a:t> CoP / </a:t>
            </a:r>
            <a:r>
              <a:rPr lang="zh-CN" sz="1050">
                <a:solidFill>
                  <a:srgbClr val="43566B"/>
                </a:solidFill>
                <a:latin typeface="PingFang SC"/>
                <a:ea typeface="PingFang SC"/>
              </a:rPr>
              <a:t>发工具政策</a:t>
            </a:r>
            <a:endParaRPr/>
          </a:p>
        </p:txBody>
      </p:sp>
      <p:sp>
        <p:nvSpPr>
          <p:cNvPr id="260" name="" descr="{&quot;isTemplate&quot;:true,&quot;type&quot;:&quot;text&quot;}"/>
          <p:cNvSpPr txBox="1"/>
          <p:nvPr/>
        </p:nvSpPr>
        <p:spPr>
          <a:xfrm rot="0" flipH="0" flipV="0">
            <a:off x="876300" y="5791200"/>
            <a:ext cx="1476375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>
                <a:solidFill>
                  <a:srgbClr val="64748B"/>
                </a:solidFill>
                <a:latin typeface="PingFang SC"/>
                <a:ea typeface="PingFang SC"/>
              </a:rPr>
              <a:t>里程碑：</a:t>
            </a:r>
            <a:r>
              <a:rPr lang="en-US" sz="975">
                <a:solidFill>
                  <a:srgbClr val="64748B"/>
                </a:solidFill>
                <a:latin typeface="PingFang SC"/>
                <a:ea typeface="PingFang SC"/>
              </a:rPr>
              <a:t>3 </a:t>
            </a:r>
            <a:r>
              <a:rPr lang="zh-CN" sz="975">
                <a:solidFill>
                  <a:srgbClr val="64748B"/>
                </a:solidFill>
                <a:latin typeface="PingFang SC"/>
                <a:ea typeface="PingFang SC"/>
              </a:rPr>
              <a:t>个场景开跑</a:t>
            </a:r>
            <a:endParaRPr/>
          </a:p>
        </p:txBody>
      </p:sp>
      <p:sp>
        <p:nvSpPr>
          <p:cNvPr id="261" name=""/>
          <p:cNvSpPr/>
          <p:nvPr/>
        </p:nvSpPr>
        <p:spPr>
          <a:xfrm rot="0" flipH="0" flipV="0">
            <a:off x="2676525" y="1276350"/>
            <a:ext cx="1847850" cy="4876800"/>
          </a:xfrm>
          <a:prstGeom prst="roundRect">
            <a:avLst>
              <a:gd name="adj" fmla="val 8247"/>
            </a:avLst>
          </a:prstGeom>
          <a:solidFill>
            <a:srgbClr val="1E3A8A"/>
          </a:solidFill>
          <a:ln w="12700">
            <a:solidFill>
              <a:srgbClr val="1E3A8A"/>
            </a:solidFill>
            <a:prstDash val="solid"/>
          </a:ln>
          <a:effectLst>
            <a:outerShdw blurRad="228600" dist="76200" dir="5400000">
              <a:srgbClr val="1E3A8A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262" name=""/>
          <p:cNvSpPr/>
          <p:nvPr/>
        </p:nvSpPr>
        <p:spPr>
          <a:xfrm rot="0" flipH="0" flipV="0">
            <a:off x="2867025" y="1485900"/>
            <a:ext cx="533400" cy="57150"/>
          </a:xfrm>
          <a:prstGeom prst="roundRect">
            <a:avLst>
              <a:gd name="adj" fmla="val 50000"/>
            </a:avLst>
          </a:prstGeom>
          <a:solidFill>
            <a:srgbClr val="1E3A8A"/>
          </a:solidFill>
          <a:ln/>
        </p:spPr>
        <p:txBody>
          <a:bodyPr/>
          <a:p/>
        </p:txBody>
      </p:sp>
      <p:sp>
        <p:nvSpPr>
          <p:cNvPr id="263" name="" descr="{&quot;isTemplate&quot;:true,&quot;type&quot;:&quot;text&quot;}"/>
          <p:cNvSpPr txBox="1"/>
          <p:nvPr/>
        </p:nvSpPr>
        <p:spPr>
          <a:xfrm rot="0" flipH="0" flipV="0">
            <a:off x="2867025" y="1676400"/>
            <a:ext cx="1466850" cy="2190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425" b="1">
                <a:solidFill>
                  <a:srgbClr val="FFFFFF"/>
                </a:solidFill>
                <a:latin typeface="PingFang SC"/>
                <a:ea typeface="PingFang SC"/>
              </a:rPr>
              <a:t>30–90 </a:t>
            </a:r>
            <a:r>
              <a:rPr lang="zh-CN" sz="1425" b="1">
                <a:solidFill>
                  <a:srgbClr val="FFFFFF"/>
                </a:solidFill>
                <a:latin typeface="PingFang SC"/>
                <a:ea typeface="PingFang SC"/>
              </a:rPr>
              <a:t>天</a:t>
            </a:r>
            <a:r>
              <a:rPr lang="en-US" sz="1425" b="1">
                <a:solidFill>
                  <a:srgbClr val="FFFFFF"/>
                </a:solidFill>
                <a:latin typeface="PingFang SC"/>
                <a:ea typeface="PingFang SC"/>
              </a:rPr>
              <a:t> · </a:t>
            </a:r>
            <a:r>
              <a:rPr lang="zh-CN" sz="1425" b="1">
                <a:solidFill>
                  <a:srgbClr val="FFFFFF"/>
                </a:solidFill>
                <a:latin typeface="PingFang SC"/>
                <a:ea typeface="PingFang SC"/>
              </a:rPr>
              <a:t>起势</a:t>
            </a:r>
            <a:endParaRPr/>
          </a:p>
        </p:txBody>
      </p:sp>
      <p:sp>
        <p:nvSpPr>
          <p:cNvPr id="264" name="" descr="{&quot;isTemplate&quot;:true,&quot;type&quot;:&quot;text&quot;}"/>
          <p:cNvSpPr txBox="1"/>
          <p:nvPr/>
        </p:nvSpPr>
        <p:spPr>
          <a:xfrm rot="0" flipH="0" flipV="0">
            <a:off x="2867025" y="1990725"/>
            <a:ext cx="1466850" cy="370522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75000"/>
              </a:lnSpc>
            </a:pPr>
            <a:r>
              <a:rPr lang="zh-CN" sz="1050">
                <a:solidFill>
                  <a:srgbClr val="DCE9FB"/>
                </a:solidFill>
                <a:latin typeface="PingFang SC"/>
                <a:ea typeface="PingFang SC"/>
              </a:rPr>
              <a:t>首批场景上线</a:t>
            </a:r>
            <a:r>
              <a:rPr lang="en-US" sz="1050">
                <a:solidFill>
                  <a:srgbClr val="DCE9FB"/>
                </a:solidFill>
                <a:latin typeface="PingFang SC"/>
                <a:ea typeface="PingFang SC"/>
              </a:rPr>
              <a:t> / </a:t>
            </a:r>
            <a:r>
              <a:rPr lang="zh-CN" sz="1050">
                <a:solidFill>
                  <a:srgbClr val="DCE9FB"/>
                </a:solidFill>
                <a:latin typeface="PingFang SC"/>
                <a:ea typeface="PingFang SC"/>
              </a:rPr>
              <a:t>月度复盘</a:t>
            </a:r>
            <a:r>
              <a:rPr lang="en-US" sz="1050">
                <a:solidFill>
                  <a:srgbClr val="DCE9FB"/>
                </a:solidFill>
                <a:latin typeface="PingFang SC"/>
                <a:ea typeface="PingFang SC"/>
              </a:rPr>
              <a:t> / </a:t>
            </a:r>
            <a:r>
              <a:rPr lang="zh-CN" sz="1050">
                <a:solidFill>
                  <a:srgbClr val="DCE9FB"/>
                </a:solidFill>
                <a:latin typeface="PingFang SC"/>
                <a:ea typeface="PingFang SC"/>
              </a:rPr>
              <a:t>看板公开</a:t>
            </a:r>
            <a:r>
              <a:rPr lang="en-US" sz="1050">
                <a:solidFill>
                  <a:srgbClr val="DCE9FB"/>
                </a:solidFill>
                <a:latin typeface="PingFang SC"/>
                <a:ea typeface="PingFang SC"/>
              </a:rPr>
              <a:t> / </a:t>
            </a:r>
            <a:r>
              <a:rPr lang="zh-CN" sz="1050">
                <a:solidFill>
                  <a:srgbClr val="DCE9FB"/>
                </a:solidFill>
                <a:latin typeface="PingFang SC"/>
                <a:ea typeface="PingFang SC"/>
              </a:rPr>
              <a:t>树立</a:t>
            </a:r>
            <a:r>
              <a:rPr lang="en-US" sz="1050">
                <a:solidFill>
                  <a:srgbClr val="DCE9FB"/>
                </a:solidFill>
                <a:latin typeface="PingFang SC"/>
                <a:ea typeface="PingFang SC"/>
              </a:rPr>
              <a:t> 1–2 </a:t>
            </a:r>
            <a:r>
              <a:rPr lang="zh-CN" sz="1050">
                <a:solidFill>
                  <a:srgbClr val="DCE9FB"/>
                </a:solidFill>
                <a:latin typeface="PingFang SC"/>
                <a:ea typeface="PingFang SC"/>
              </a:rPr>
              <a:t>个样板</a:t>
            </a:r>
            <a:endParaRPr/>
          </a:p>
        </p:txBody>
      </p:sp>
      <p:sp>
        <p:nvSpPr>
          <p:cNvPr id="265" name="" descr="{&quot;isTemplate&quot;:true,&quot;type&quot;:&quot;text&quot;}"/>
          <p:cNvSpPr txBox="1"/>
          <p:nvPr/>
        </p:nvSpPr>
        <p:spPr>
          <a:xfrm rot="0" flipH="0" flipV="0">
            <a:off x="2867025" y="5791200"/>
            <a:ext cx="146685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>
                <a:solidFill>
                  <a:srgbClr val="7FD9F0"/>
                </a:solidFill>
                <a:latin typeface="PingFang SC"/>
                <a:ea typeface="PingFang SC"/>
              </a:rPr>
              <a:t>里程碑：</a:t>
            </a:r>
            <a:r>
              <a:rPr lang="zh-CN" sz="975">
                <a:solidFill>
                  <a:srgbClr val="7FD9F0"/>
                </a:solidFill>
                <a:latin typeface="PingFang SC"/>
                <a:ea typeface="PingFang SC"/>
              </a:rPr>
              <a:t>首张看板公开</a:t>
            </a:r>
            <a:endParaRPr/>
          </a:p>
        </p:txBody>
      </p:sp>
      <p:sp>
        <p:nvSpPr>
          <p:cNvPr id="266" name=""/>
          <p:cNvSpPr/>
          <p:nvPr/>
        </p:nvSpPr>
        <p:spPr>
          <a:xfrm rot="0" flipH="0" flipV="0">
            <a:off x="4657725" y="1276350"/>
            <a:ext cx="1857375" cy="4876800"/>
          </a:xfrm>
          <a:prstGeom prst="roundRect">
            <a:avLst>
              <a:gd name="adj" fmla="val 8205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14300" dist="28575" dir="5400000">
              <a:srgbClr val="1E3A8A">
                <a:alpha val="5000"/>
              </a:srgbClr>
            </a:outerShdw>
          </a:effectLst>
        </p:spPr>
        <p:txBody>
          <a:bodyPr/>
          <a:p/>
        </p:txBody>
      </p:sp>
      <p:sp>
        <p:nvSpPr>
          <p:cNvPr id="267" name=""/>
          <p:cNvSpPr/>
          <p:nvPr/>
        </p:nvSpPr>
        <p:spPr>
          <a:xfrm rot="0" flipH="0" flipV="0">
            <a:off x="4848225" y="1485900"/>
            <a:ext cx="533400" cy="57150"/>
          </a:xfrm>
          <a:prstGeom prst="roundRect">
            <a:avLst>
              <a:gd name="adj" fmla="val 50000"/>
            </a:avLst>
          </a:prstGeom>
          <a:solidFill>
            <a:srgbClr val="F59E0B"/>
          </a:solidFill>
          <a:ln/>
        </p:spPr>
        <p:txBody>
          <a:bodyPr/>
          <a:p/>
        </p:txBody>
      </p:sp>
      <p:sp>
        <p:nvSpPr>
          <p:cNvPr id="268" name="" descr="{&quot;isTemplate&quot;:true,&quot;type&quot;:&quot;text&quot;}"/>
          <p:cNvSpPr txBox="1"/>
          <p:nvPr/>
        </p:nvSpPr>
        <p:spPr>
          <a:xfrm rot="0" flipH="0" flipV="0">
            <a:off x="4848225" y="1676400"/>
            <a:ext cx="1476375" cy="2190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425" b="1">
                <a:solidFill>
                  <a:srgbClr val="1E3A8A"/>
                </a:solidFill>
                <a:latin typeface="PingFang SC"/>
                <a:ea typeface="PingFang SC"/>
              </a:rPr>
              <a:t>持续</a:t>
            </a:r>
            <a:r>
              <a:rPr lang="en-US" sz="1425" b="1">
                <a:solidFill>
                  <a:srgbClr val="1E3A8A"/>
                </a:solidFill>
                <a:latin typeface="PingFang SC"/>
                <a:ea typeface="PingFang SC"/>
              </a:rPr>
              <a:t> · </a:t>
            </a:r>
            <a:r>
              <a:rPr lang="zh-CN" sz="1425" b="1">
                <a:solidFill>
                  <a:srgbClr val="1E3A8A"/>
                </a:solidFill>
                <a:latin typeface="PingFang SC"/>
                <a:ea typeface="PingFang SC"/>
              </a:rPr>
              <a:t>规模化</a:t>
            </a:r>
            <a:endParaRPr/>
          </a:p>
        </p:txBody>
      </p:sp>
      <p:sp>
        <p:nvSpPr>
          <p:cNvPr id="269" name="" descr="{&quot;isTemplate&quot;:true,&quot;type&quot;:&quot;text&quot;}"/>
          <p:cNvSpPr txBox="1"/>
          <p:nvPr/>
        </p:nvSpPr>
        <p:spPr>
          <a:xfrm rot="0" flipH="0" flipV="0">
            <a:off x="4848225" y="1990725"/>
            <a:ext cx="1476375" cy="395287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75000"/>
              </a:lnSpc>
            </a:pPr>
            <a:r>
              <a:rPr lang="en-US" sz="1050">
                <a:solidFill>
                  <a:srgbClr val="43566B"/>
                </a:solidFill>
                <a:latin typeface="PingFang SC"/>
                <a:ea typeface="PingFang SC"/>
              </a:rPr>
              <a:t>TTT </a:t>
            </a:r>
            <a:r>
              <a:rPr lang="zh-CN" sz="1050">
                <a:solidFill>
                  <a:srgbClr val="43566B"/>
                </a:solidFill>
                <a:latin typeface="PingFang SC"/>
                <a:ea typeface="PingFang SC"/>
              </a:rPr>
              <a:t>讲师复制</a:t>
            </a:r>
            <a:r>
              <a:rPr lang="en-US" sz="1050">
                <a:solidFill>
                  <a:srgbClr val="43566B"/>
                </a:solidFill>
                <a:latin typeface="PingFang SC"/>
                <a:ea typeface="PingFang SC"/>
              </a:rPr>
              <a:t> / </a:t>
            </a:r>
            <a:r>
              <a:rPr lang="zh-CN" sz="1050">
                <a:solidFill>
                  <a:srgbClr val="43566B"/>
                </a:solidFill>
                <a:latin typeface="PingFang SC"/>
                <a:ea typeface="PingFang SC"/>
              </a:rPr>
              <a:t>场景扩线扩厂</a:t>
            </a:r>
            <a:r>
              <a:rPr lang="en-US" sz="1050">
                <a:solidFill>
                  <a:srgbClr val="43566B"/>
                </a:solidFill>
                <a:latin typeface="PingFang SC"/>
                <a:ea typeface="PingFang SC"/>
              </a:rPr>
              <a:t> / </a:t>
            </a:r>
            <a:r>
              <a:rPr lang="zh-CN" sz="1050">
                <a:solidFill>
                  <a:srgbClr val="43566B"/>
                </a:solidFill>
                <a:latin typeface="PingFang SC"/>
                <a:ea typeface="PingFang SC"/>
              </a:rPr>
              <a:t>季度</a:t>
            </a:r>
            <a:r>
              <a:rPr lang="en-US" sz="1050">
                <a:solidFill>
                  <a:srgbClr val="43566B"/>
                </a:solidFill>
                <a:latin typeface="PingFang SC"/>
                <a:ea typeface="PingFang SC"/>
              </a:rPr>
              <a:t> ROI </a:t>
            </a:r>
            <a:r>
              <a:rPr lang="zh-CN" sz="1050">
                <a:solidFill>
                  <a:srgbClr val="43566B"/>
                </a:solidFill>
                <a:latin typeface="PingFang SC"/>
                <a:ea typeface="PingFang SC"/>
              </a:rPr>
              <a:t>盘点</a:t>
            </a:r>
            <a:r>
              <a:rPr lang="en-US" sz="1050">
                <a:solidFill>
                  <a:srgbClr val="43566B"/>
                </a:solidFill>
                <a:latin typeface="PingFang SC"/>
                <a:ea typeface="PingFang SC"/>
              </a:rPr>
              <a:t> / </a:t>
            </a:r>
            <a:r>
              <a:rPr lang="zh-CN" sz="1050">
                <a:solidFill>
                  <a:srgbClr val="43566B"/>
                </a:solidFill>
                <a:latin typeface="PingFang SC"/>
                <a:ea typeface="PingFang SC"/>
              </a:rPr>
              <a:t>淘汰不达标场景</a:t>
            </a:r>
            <a:endParaRPr/>
          </a:p>
        </p:txBody>
      </p:sp>
      <p:sp>
        <p:nvSpPr>
          <p:cNvPr id="270" name=""/>
          <p:cNvSpPr/>
          <p:nvPr/>
        </p:nvSpPr>
        <p:spPr>
          <a:xfrm rot="0" flipH="0" flipV="0">
            <a:off x="6743700" y="1276350"/>
            <a:ext cx="4762500" cy="4876800"/>
          </a:xfrm>
          <a:prstGeom prst="roundRect">
            <a:avLst>
              <a:gd name="adj" fmla="val 3600"/>
            </a:avLst>
          </a:prstGeom>
          <a:solidFill>
            <a:srgbClr val="1E3A8A"/>
          </a:solidFill>
          <a:ln/>
          <a:effectLst>
            <a:outerShdw blurRad="266700" dist="76200" dir="5400000">
              <a:srgbClr val="1E3A8A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271" name="" descr="{&quot;isTemplate&quot;:true,&quot;type&quot;:&quot;text&quot;}"/>
          <p:cNvSpPr txBox="1"/>
          <p:nvPr/>
        </p:nvSpPr>
        <p:spPr>
          <a:xfrm rot="0" flipH="0" flipV="0">
            <a:off x="7010400" y="1504950"/>
            <a:ext cx="422910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 b="1">
                <a:solidFill>
                  <a:srgbClr val="FFFFFF"/>
                </a:solidFill>
                <a:latin typeface="PingFang SC"/>
                <a:ea typeface="PingFang SC"/>
              </a:rPr>
              <a:t>采纳看板：业务账</a:t>
            </a:r>
            <a:r>
              <a:rPr lang="en-US" sz="1350" b="1">
                <a:solidFill>
                  <a:srgbClr val="FFFFFF"/>
                </a:solidFill>
                <a:latin typeface="PingFang SC"/>
                <a:ea typeface="PingFang SC"/>
              </a:rPr>
              <a:t> + </a:t>
            </a:r>
            <a:r>
              <a:rPr lang="zh-CN" sz="1350" b="1">
                <a:solidFill>
                  <a:srgbClr val="FFFFFF"/>
                </a:solidFill>
                <a:latin typeface="PingFang SC"/>
                <a:ea typeface="PingFang SC"/>
              </a:rPr>
              <a:t>采纳账同屏</a:t>
            </a:r>
            <a:endParaRPr/>
          </a:p>
        </p:txBody>
      </p:sp>
      <p:sp>
        <p:nvSpPr>
          <p:cNvPr id="272" name=""/>
          <p:cNvSpPr/>
          <p:nvPr/>
        </p:nvSpPr>
        <p:spPr>
          <a:xfrm rot="0" flipH="0" flipV="0">
            <a:off x="7010400" y="1866900"/>
            <a:ext cx="4229100" cy="400050"/>
          </a:xfrm>
          <a:prstGeom prst="roundRect">
            <a:avLst>
              <a:gd name="adj" fmla="val 23810"/>
            </a:avLst>
          </a:prstGeom>
          <a:solidFill>
            <a:srgbClr val="06B6D4">
              <a:alpha val="15000"/>
            </a:srgbClr>
          </a:solidFill>
          <a:ln w="12700">
            <a:solidFill>
              <a:srgbClr val="06B6D4">
                <a:alpha val="45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273" name="" descr="{&quot;isTemplate&quot;:true,&quot;type&quot;:&quot;text&quot;}"/>
          <p:cNvSpPr txBox="1"/>
          <p:nvPr/>
        </p:nvSpPr>
        <p:spPr>
          <a:xfrm rot="0" flipH="0" flipV="0">
            <a:off x="7181850" y="1971675"/>
            <a:ext cx="38862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00" b="1">
                <a:solidFill>
                  <a:srgbClr val="7FD9F0"/>
                </a:solidFill>
                <a:latin typeface="PingFang SC"/>
                <a:ea typeface="PingFang SC"/>
              </a:rPr>
              <a:t>MAU / MEU + </a:t>
            </a:r>
            <a:r>
              <a:rPr lang="zh-CN" sz="1200" b="1">
                <a:solidFill>
                  <a:srgbClr val="7FD9F0"/>
                </a:solidFill>
                <a:latin typeface="PingFang SC"/>
                <a:ea typeface="PingFang SC"/>
              </a:rPr>
              <a:t>用户分层</a:t>
            </a:r>
            <a:endParaRPr/>
          </a:p>
        </p:txBody>
      </p:sp>
      <p:sp>
        <p:nvSpPr>
          <p:cNvPr id="274" name=""/>
          <p:cNvSpPr/>
          <p:nvPr/>
        </p:nvSpPr>
        <p:spPr>
          <a:xfrm rot="0" flipH="0" flipV="0">
            <a:off x="7010400" y="2362200"/>
            <a:ext cx="4229100" cy="400050"/>
          </a:xfrm>
          <a:prstGeom prst="roundRect">
            <a:avLst>
              <a:gd name="adj" fmla="val 23810"/>
            </a:avLst>
          </a:prstGeom>
          <a:solidFill>
            <a:srgbClr val="06B6D4">
              <a:alpha val="15000"/>
            </a:srgbClr>
          </a:solidFill>
          <a:ln w="12700">
            <a:solidFill>
              <a:srgbClr val="06B6D4">
                <a:alpha val="45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275" name="" descr="{&quot;isTemplate&quot;:true,&quot;type&quot;:&quot;text&quot;}"/>
          <p:cNvSpPr txBox="1"/>
          <p:nvPr/>
        </p:nvSpPr>
        <p:spPr>
          <a:xfrm rot="0" flipH="0" flipV="0">
            <a:off x="7181850" y="2466975"/>
            <a:ext cx="38862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00" b="1">
                <a:solidFill>
                  <a:srgbClr val="7FD9F0"/>
                </a:solidFill>
                <a:latin typeface="PingFang SC"/>
                <a:ea typeface="PingFang SC"/>
              </a:rPr>
              <a:t>效率 / </a:t>
            </a:r>
            <a:r>
              <a:rPr lang="zh-CN" sz="1200" b="1">
                <a:solidFill>
                  <a:srgbClr val="7FD9F0"/>
                </a:solidFill>
                <a:latin typeface="PingFang SC"/>
                <a:ea typeface="PingFang SC"/>
              </a:rPr>
              <a:t>中断时间</a:t>
            </a:r>
            <a:endParaRPr/>
          </a:p>
        </p:txBody>
      </p:sp>
      <p:sp>
        <p:nvSpPr>
          <p:cNvPr id="276" name=""/>
          <p:cNvSpPr/>
          <p:nvPr/>
        </p:nvSpPr>
        <p:spPr>
          <a:xfrm rot="0" flipH="0" flipV="0">
            <a:off x="7010400" y="2857500"/>
            <a:ext cx="4229100" cy="400050"/>
          </a:xfrm>
          <a:prstGeom prst="roundRect">
            <a:avLst>
              <a:gd name="adj" fmla="val 23810"/>
            </a:avLst>
          </a:prstGeom>
          <a:solidFill>
            <a:srgbClr val="06B6D4">
              <a:alpha val="15000"/>
            </a:srgbClr>
          </a:solidFill>
          <a:ln w="12700">
            <a:solidFill>
              <a:srgbClr val="06B6D4">
                <a:alpha val="45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277" name="" descr="{&quot;isTemplate&quot;:true,&quot;type&quot;:&quot;text&quot;}"/>
          <p:cNvSpPr txBox="1"/>
          <p:nvPr/>
        </p:nvSpPr>
        <p:spPr>
          <a:xfrm rot="0" flipH="0" flipV="0">
            <a:off x="7181850" y="2962275"/>
            <a:ext cx="38862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 b="1">
                <a:solidFill>
                  <a:srgbClr val="F8C471"/>
                </a:solidFill>
                <a:latin typeface="PingFang SC"/>
                <a:ea typeface="PingFang SC"/>
              </a:rPr>
              <a:t>差错率</a:t>
            </a:r>
            <a:r>
              <a:rPr lang="en-US" sz="1200" b="1">
                <a:solidFill>
                  <a:srgbClr val="F8C471"/>
                </a:solidFill>
                <a:latin typeface="PingFang SC"/>
                <a:ea typeface="PingFang SC"/>
              </a:rPr>
              <a:t> / </a:t>
            </a:r>
            <a:r>
              <a:rPr lang="zh-CN" sz="1200" b="1">
                <a:solidFill>
                  <a:srgbClr val="F8C471"/>
                </a:solidFill>
                <a:latin typeface="PingFang SC"/>
                <a:ea typeface="PingFang SC"/>
              </a:rPr>
              <a:t>复检量</a:t>
            </a:r>
            <a:endParaRPr/>
          </a:p>
        </p:txBody>
      </p:sp>
      <p:sp>
        <p:nvSpPr>
          <p:cNvPr id="278" name=""/>
          <p:cNvSpPr/>
          <p:nvPr/>
        </p:nvSpPr>
        <p:spPr>
          <a:xfrm rot="0" flipH="0" flipV="0">
            <a:off x="7010400" y="3352800"/>
            <a:ext cx="4229100" cy="400050"/>
          </a:xfrm>
          <a:prstGeom prst="roundRect">
            <a:avLst>
              <a:gd name="adj" fmla="val 23810"/>
            </a:avLst>
          </a:prstGeom>
          <a:solidFill>
            <a:srgbClr val="06B6D4">
              <a:alpha val="15000"/>
            </a:srgbClr>
          </a:solidFill>
          <a:ln w="12700">
            <a:solidFill>
              <a:srgbClr val="06B6D4">
                <a:alpha val="45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279" name="" descr="{&quot;isTemplate&quot;:true,&quot;type&quot;:&quot;text&quot;}"/>
          <p:cNvSpPr txBox="1"/>
          <p:nvPr/>
        </p:nvSpPr>
        <p:spPr>
          <a:xfrm rot="0" flipH="0" flipV="0">
            <a:off x="7181850" y="3457575"/>
            <a:ext cx="38862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 b="1">
                <a:solidFill>
                  <a:srgbClr val="F8C471"/>
                </a:solidFill>
                <a:latin typeface="PingFang SC"/>
                <a:ea typeface="PingFang SC"/>
              </a:rPr>
              <a:t>单位能耗</a:t>
            </a:r>
            <a:endParaRPr/>
          </a:p>
        </p:txBody>
      </p:sp>
      <p:sp>
        <p:nvSpPr>
          <p:cNvPr id="280" name="" descr="{&quot;isTemplate&quot;:true,&quot;type&quot;:&quot;text&quot;}"/>
          <p:cNvSpPr txBox="1"/>
          <p:nvPr/>
        </p:nvSpPr>
        <p:spPr>
          <a:xfrm rot="0" flipH="0" flipV="0">
            <a:off x="7010400" y="5238750"/>
            <a:ext cx="4229100" cy="685800"/>
          </a:xfrm>
          <a:prstGeom prst="rect"/>
        </p:spPr>
        <p:txBody>
          <a:bodyPr wrap="square" lIns="0" tIns="100013" rIns="0" bIns="0">
            <a:normAutofit/>
          </a:bodyPr>
          <a:p>
            <a:pPr>
              <a:lnSpc>
                <a:spcPct val="170000"/>
              </a:lnSpc>
            </a:pPr>
            <a:r>
              <a:rPr lang="zh-CN" sz="1050">
                <a:solidFill>
                  <a:srgbClr val="A9C4E8"/>
                </a:solidFill>
                <a:latin typeface="PingFang SC"/>
                <a:ea typeface="PingFang SC"/>
              </a:rPr>
              <a:t>每周一屏、每月一议</a:t>
            </a:r>
            <a:r>
              <a:rPr lang="en-US" sz="1050">
                <a:solidFill>
                  <a:srgbClr val="A9C4E8"/>
                </a:solidFill>
                <a:latin typeface="PingFang SC"/>
                <a:ea typeface="PingFang SC"/>
              </a:rPr>
              <a:t> —— </a:t>
            </a:r>
            <a:r>
              <a:rPr lang="zh-CN" sz="1050">
                <a:solidFill>
                  <a:srgbClr val="A9C4E8"/>
                </a:solidFill>
                <a:latin typeface="PingFang SC"/>
                <a:ea typeface="PingFang SC"/>
              </a:rPr>
              <a:t>连续</a:t>
            </a:r>
            <a:r>
              <a:rPr lang="en-US" sz="1050">
                <a:solidFill>
                  <a:srgbClr val="A9C4E8"/>
                </a:solidFill>
                <a:latin typeface="PingFang SC"/>
                <a:ea typeface="PingFang SC"/>
              </a:rPr>
              <a:t> 2 </a:t>
            </a:r>
            <a:r>
              <a:rPr lang="zh-CN" sz="1050">
                <a:solidFill>
                  <a:srgbClr val="A9C4E8"/>
                </a:solidFill>
                <a:latin typeface="PingFang SC"/>
                <a:ea typeface="PingFang SC"/>
              </a:rPr>
              <a:t>个月</a:t>
            </a:r>
            <a:r>
              <a:rPr lang="en-US" sz="1050">
                <a:solidFill>
                  <a:srgbClr val="A9C4E8"/>
                </a:solidFill>
                <a:latin typeface="PingFang SC"/>
                <a:ea typeface="PingFang SC"/>
              </a:rPr>
              <a:t> MEU </a:t>
            </a:r>
            <a:r>
              <a:rPr lang="zh-CN" sz="1050">
                <a:solidFill>
                  <a:srgbClr val="A9C4E8"/>
                </a:solidFill>
                <a:latin typeface="PingFang SC"/>
                <a:ea typeface="PingFang SC"/>
              </a:rPr>
              <a:t>不涨的场景，进「整改</a:t>
            </a:r>
            <a:r>
              <a:rPr lang="en-US" sz="1050">
                <a:solidFill>
                  <a:srgbClr val="A9C4E8"/>
                </a:solidFill>
                <a:latin typeface="PingFang SC"/>
                <a:ea typeface="PingFang SC"/>
              </a:rPr>
              <a:t> or </a:t>
            </a:r>
            <a:r>
              <a:rPr lang="zh-CN" sz="1050">
                <a:solidFill>
                  <a:srgbClr val="A9C4E8"/>
                </a:solidFill>
                <a:latin typeface="PingFang SC"/>
                <a:ea typeface="PingFang SC"/>
              </a:rPr>
              <a:t>下线」评审。</a:t>
            </a:r>
            <a:endParaRPr/>
          </a:p>
        </p:txBody>
      </p:sp>
      <p:sp>
        <p:nvSpPr>
          <p:cNvPr id="281" name="" descr="{&quot;isTemplate&quot;:true,&quot;type&quot;:&quot;text&quot;}"/>
          <p:cNvSpPr txBox="1"/>
          <p:nvPr/>
        </p:nvSpPr>
        <p:spPr>
          <a:xfrm rot="0" flipH="0" flipV="0">
            <a:off x="685800" y="6362700"/>
            <a:ext cx="12573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64748B"/>
                </a:solidFill>
                <a:latin typeface="PingFang SC"/>
                <a:ea typeface="PingFang SC"/>
              </a:rPr>
              <a:t>AI </a:t>
            </a:r>
            <a:r>
              <a:rPr lang="zh-CN" sz="1050">
                <a:solidFill>
                  <a:srgbClr val="64748B"/>
                </a:solidFill>
                <a:latin typeface="PingFang SC"/>
                <a:ea typeface="PingFang SC"/>
              </a:rPr>
              <a:t>规划与治理</a:t>
            </a:r>
            <a:r>
              <a:rPr lang="en-US" sz="1050">
                <a:solidFill>
                  <a:srgbClr val="64748B"/>
                </a:solidFill>
                <a:latin typeface="PingFang SC"/>
                <a:ea typeface="PingFang SC"/>
              </a:rPr>
              <a:t> · </a:t>
            </a:r>
            <a:r>
              <a:rPr lang="zh-CN" sz="1050">
                <a:solidFill>
                  <a:srgbClr val="64748B"/>
                </a:solidFill>
                <a:latin typeface="PingFang SC"/>
                <a:ea typeface="PingFang SC"/>
              </a:rPr>
              <a:t>高级</a:t>
            </a:r>
            <a:endParaRPr/>
          </a:p>
        </p:txBody>
      </p:sp>
      <p:sp>
        <p:nvSpPr>
          <p:cNvPr id="282" name="" descr="{&quot;isTemplate&quot;:true,&quot;type&quot;:&quot;text&quot;}"/>
          <p:cNvSpPr txBox="1"/>
          <p:nvPr/>
        </p:nvSpPr>
        <p:spPr>
          <a:xfrm rot="0" flipH="0" flipV="0">
            <a:off x="11049000" y="6362700"/>
            <a:ext cx="4572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64748B"/>
                </a:solidFill>
                <a:latin typeface="PingFang SC"/>
                <a:ea typeface="PingFang SC"/>
              </a:rPr>
              <a:t>18 / 24</a:t>
            </a:r>
            <a:endParaRPr/>
          </a:p>
        </p:txBody>
      </p:sp>
    </p:spTree>
  </p:cSld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83" name="" descr="&lt;Slide style={{ width: '1280px', height: '720px', position: 'relative', background: '#1E3A8A', overflow: 'hidden', fontFamily: 'PingFang SC, Source Han Sans SC, sans-serif' }}&gt;&#10;    &lt;Box style={{ position: 'absolute', top: 0, right: 0, width: 500, height: '720px' }}&gt;&#10;        &lt;Image src=&quot;assets/hero_cover.png&quot; style={{ width: '500px', height: '720px', objectFit: 'cover', opacity: 0.5 }} /&gt;&#10;        &lt;Box style={{ position: 'absolute', top: 0, left: 0, width: '500px', height: '720px', background: 'linear-gradient(90deg, rgba(30,58,138,1) 0%, rgba(30,58,138,0.15) 100%)' }} /&gt;&#10;    &lt;/Box&gt;&#10;    &lt;Box style={{ position: 'relative', zIndex: 1, height: '720px', padding: '0 84px', justifyContent: 'center' }}&gt;&#10;        &lt;Text style={{ fontSize: 130, fontWeight: 'bold', color: 'rgba(6,182,212,0.5)', lineHeight: 1, fontFamily: 'Space Grotesk, Inter' }}&gt;06&lt;/Text&gt;&#10;        &lt;Text style={{ fontSize: 18, color: '#7FD9F0', letterSpacing: 5, marginTop: 6 }}&gt;H6 · 2 课时&lt;/Text&gt;&#10;        &lt;Text style={{ fontSize: 54, fontWeight: 'bold', color: '#FFFFFF', marginTop: 20, lineHeight: 1.18 }}&gt;治理与合规&lt;br /&gt;守得住底线&lt;/Text&gt;&#10;        &lt;Box style={{ width: 84, height: 4, background: '#06B6D4', marginTop: 30 }} /&gt;&#10;        &lt;Text style={{ fontSize: 19, color: '#A9C4E8', marginTop: 22, lineHeight: 1.6 }}&gt;分类分级 · 幻觉防控 · 伦理四底线 · NIST 映射&lt;br /&gt;前瞻：算法备案 · 数据出境 —— 合规是路线图的前置条件，不是附录。&lt;/Text&gt;&#10;    &lt;/Box&gt;&#10;&lt;/Slide&gt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4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1E3A8A"/>
          </a:solidFill>
          <a:ln/>
        </p:spPr>
        <p:txBody>
          <a:bodyPr/>
          <a:p/>
        </p:txBody>
      </p:sp>
      <p:pic>
        <p:nvPicPr>
          <p:cNvPr id="285" name=""/>
          <p:cNvPicPr>
            <a:picLocks noChangeAspect="1"/>
          </p:cNvPicPr>
          <p:nvPr/>
        </p:nvPicPr>
        <p:blipFill>
          <a:blip r:embed="rId1">
            <a:alphaModFix amt="50000"/>
          </a:blip>
          <a:srcRect l="26242" t="0" r="26242" b="0"/>
          <a:stretch>
            <a:fillRect/>
          </a:stretch>
        </p:blipFill>
        <p:spPr>
          <a:xfrm rot="0" flipH="0" flipV="0">
            <a:off x="7429500" y="0"/>
            <a:ext cx="4762500" cy="6858000"/>
          </a:xfrm>
          <a:prstGeom prst="rect">
            <a:avLst/>
          </a:prstGeom>
          <a:ln/>
        </p:spPr>
      </p:pic>
      <p:sp>
        <p:nvSpPr>
          <p:cNvPr id="286" name=""/>
          <p:cNvSpPr/>
          <p:nvPr/>
        </p:nvSpPr>
        <p:spPr>
          <a:xfrm rot="0" flipH="0" flipV="0">
            <a:off x="7429500" y="0"/>
            <a:ext cx="4762500" cy="6858000"/>
          </a:xfrm>
          <a:prstGeom prst="rect">
            <a:avLst/>
          </a:prstGeom>
          <a:gradFill>
            <a:gsLst>
              <a:gs pos="0">
                <a:srgbClr val="1E3A8A">
                  <a:alpha val="100000"/>
                </a:srgbClr>
              </a:gs>
              <a:gs pos="100000">
                <a:srgbClr val="1E3A8A">
                  <a:alpha val="15000"/>
                </a:srgbClr>
              </a:gs>
            </a:gsLst>
            <a:lin ang="0" scaled="1"/>
          </a:gradFill>
          <a:ln/>
        </p:spPr>
        <p:txBody>
          <a:bodyPr/>
          <a:p/>
        </p:txBody>
      </p:sp>
      <p:sp>
        <p:nvSpPr>
          <p:cNvPr id="287" name="" descr="{&quot;isTemplate&quot;:true,&quot;type&quot;:&quot;text&quot;}"/>
          <p:cNvSpPr txBox="1"/>
          <p:nvPr/>
        </p:nvSpPr>
        <p:spPr>
          <a:xfrm rot="0" flipH="0" flipV="0">
            <a:off x="800100" y="1114425"/>
            <a:ext cx="10591800" cy="14859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0" b="1">
                <a:solidFill>
                  <a:srgbClr val="06B6D4">
                    <a:alpha val="50000"/>
                  </a:srgbClr>
                </a:solidFill>
                <a:latin typeface="Space Grotesk"/>
                <a:ea typeface="Space Grotesk"/>
              </a:rPr>
              <a:t>06</a:t>
            </a:r>
            <a:endParaRPr/>
          </a:p>
        </p:txBody>
      </p:sp>
      <p:sp>
        <p:nvSpPr>
          <p:cNvPr id="288" name="" descr="{&quot;isTemplate&quot;:true,&quot;type&quot;:&quot;text&quot;}"/>
          <p:cNvSpPr txBox="1"/>
          <p:nvPr/>
        </p:nvSpPr>
        <p:spPr>
          <a:xfrm rot="0" flipH="0" flipV="0">
            <a:off x="800100" y="2657475"/>
            <a:ext cx="1059180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350" spc="375">
                <a:solidFill>
                  <a:srgbClr val="7FD9F0"/>
                </a:solidFill>
                <a:latin typeface="PingFang SC"/>
                <a:ea typeface="PingFang SC"/>
              </a:rPr>
              <a:t>H6 · 2 </a:t>
            </a:r>
            <a:r>
              <a:rPr lang="zh-CN" sz="1350" spc="375">
                <a:solidFill>
                  <a:srgbClr val="7FD9F0"/>
                </a:solidFill>
                <a:latin typeface="PingFang SC"/>
                <a:ea typeface="PingFang SC"/>
              </a:rPr>
              <a:t>课时</a:t>
            </a:r>
            <a:endParaRPr/>
          </a:p>
        </p:txBody>
      </p:sp>
      <p:sp>
        <p:nvSpPr>
          <p:cNvPr id="289" name="" descr="{&quot;isTemplate&quot;:true,&quot;type&quot;:&quot;text&quot;}"/>
          <p:cNvSpPr txBox="1"/>
          <p:nvPr/>
        </p:nvSpPr>
        <p:spPr>
          <a:xfrm rot="0" flipH="0" flipV="0">
            <a:off x="800100" y="3057525"/>
            <a:ext cx="10591800" cy="1457325"/>
          </a:xfrm>
          <a:prstGeom prst="rect"/>
        </p:spPr>
        <p:txBody>
          <a:bodyPr wrap="none" lIns="0" tIns="0" rIns="0" bIns="0"/>
          <a:p>
            <a:pPr>
              <a:lnSpc>
                <a:spcPct val="118000"/>
              </a:lnSpc>
            </a:pPr>
            <a:r>
              <a:rPr lang="zh-CN" sz="4050" b="1">
                <a:solidFill>
                  <a:srgbClr val="FFFFFF"/>
                </a:solidFill>
                <a:latin typeface="PingFang SC"/>
                <a:ea typeface="PingFang SC"/>
              </a:rPr>
              <a:t>治理与合规</a:t>
            </a:r>
            <a:endParaRPr/>
          </a:p>
          <a:p>
            <a:pPr>
              <a:lnSpc>
                <a:spcPct val="118000"/>
              </a:lnSpc>
            </a:pPr>
            <a:r>
              <a:rPr lang="zh-CN" sz="4050" b="1">
                <a:solidFill>
                  <a:srgbClr val="FFFFFF"/>
                </a:solidFill>
                <a:latin typeface="PingFang SC"/>
                <a:ea typeface="PingFang SC"/>
              </a:rPr>
              <a:t>守得住底线</a:t>
            </a:r>
            <a:endParaRPr/>
          </a:p>
        </p:txBody>
      </p:sp>
      <p:sp>
        <p:nvSpPr>
          <p:cNvPr id="290" name=""/>
          <p:cNvSpPr/>
          <p:nvPr/>
        </p:nvSpPr>
        <p:spPr>
          <a:xfrm rot="0" flipH="0" flipV="0">
            <a:off x="800100" y="4800600"/>
            <a:ext cx="800100" cy="38100"/>
          </a:xfrm>
          <a:prstGeom prst="rect">
            <a:avLst/>
          </a:prstGeom>
          <a:solidFill>
            <a:srgbClr val="06B6D4"/>
          </a:solidFill>
          <a:ln/>
        </p:spPr>
        <p:txBody>
          <a:bodyPr/>
          <a:p/>
        </p:txBody>
      </p:sp>
      <p:sp>
        <p:nvSpPr>
          <p:cNvPr id="291" name="" descr="{&quot;isTemplate&quot;:true,&quot;type&quot;:&quot;text&quot;}"/>
          <p:cNvSpPr txBox="1"/>
          <p:nvPr/>
        </p:nvSpPr>
        <p:spPr>
          <a:xfrm rot="0" flipH="0" flipV="0">
            <a:off x="800100" y="5048250"/>
            <a:ext cx="10591800" cy="695325"/>
          </a:xfrm>
          <a:prstGeom prst="rect"/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zh-CN" sz="1425">
                <a:solidFill>
                  <a:srgbClr val="A9C4E8"/>
                </a:solidFill>
                <a:latin typeface="PingFang SC"/>
                <a:ea typeface="PingFang SC"/>
              </a:rPr>
              <a:t>分类分级</a:t>
            </a:r>
            <a:r>
              <a:rPr lang="en-US" sz="1425">
                <a:solidFill>
                  <a:srgbClr val="A9C4E8"/>
                </a:solidFill>
                <a:latin typeface="PingFang SC"/>
                <a:ea typeface="PingFang SC"/>
              </a:rPr>
              <a:t> · </a:t>
            </a:r>
            <a:r>
              <a:rPr lang="zh-CN" sz="1425">
                <a:solidFill>
                  <a:srgbClr val="A9C4E8"/>
                </a:solidFill>
                <a:latin typeface="PingFang SC"/>
                <a:ea typeface="PingFang SC"/>
              </a:rPr>
              <a:t>幻觉防控</a:t>
            </a:r>
            <a:r>
              <a:rPr lang="en-US" sz="1425">
                <a:solidFill>
                  <a:srgbClr val="A9C4E8"/>
                </a:solidFill>
                <a:latin typeface="PingFang SC"/>
                <a:ea typeface="PingFang SC"/>
              </a:rPr>
              <a:t> · </a:t>
            </a:r>
            <a:r>
              <a:rPr lang="zh-CN" sz="1425">
                <a:solidFill>
                  <a:srgbClr val="A9C4E8"/>
                </a:solidFill>
                <a:latin typeface="PingFang SC"/>
                <a:ea typeface="PingFang SC"/>
              </a:rPr>
              <a:t>伦理四底线</a:t>
            </a:r>
            <a:r>
              <a:rPr lang="en-US" sz="1425">
                <a:solidFill>
                  <a:srgbClr val="A9C4E8"/>
                </a:solidFill>
                <a:latin typeface="PingFang SC"/>
                <a:ea typeface="PingFang SC"/>
              </a:rPr>
              <a:t> · NIST </a:t>
            </a:r>
            <a:r>
              <a:rPr lang="zh-CN" sz="1425">
                <a:solidFill>
                  <a:srgbClr val="A9C4E8"/>
                </a:solidFill>
                <a:latin typeface="PingFang SC"/>
                <a:ea typeface="PingFang SC"/>
              </a:rPr>
              <a:t>映射</a:t>
            </a:r>
            <a:endParaRPr/>
          </a:p>
          <a:p>
            <a:pPr>
              <a:lnSpc>
                <a:spcPct val="160000"/>
              </a:lnSpc>
            </a:pPr>
            <a:r>
              <a:rPr lang="zh-CN" sz="1425">
                <a:solidFill>
                  <a:srgbClr val="A9C4E8"/>
                </a:solidFill>
                <a:latin typeface="PingFang SC"/>
                <a:ea typeface="PingFang SC"/>
              </a:rPr>
              <a:t>前瞻：算法备案</a:t>
            </a:r>
            <a:r>
              <a:rPr lang="en-US" sz="1425">
                <a:solidFill>
                  <a:srgbClr val="A9C4E8"/>
                </a:solidFill>
                <a:latin typeface="PingFang SC"/>
                <a:ea typeface="PingFang SC"/>
              </a:rPr>
              <a:t> · </a:t>
            </a:r>
            <a:r>
              <a:rPr lang="zh-CN" sz="1425">
                <a:solidFill>
                  <a:srgbClr val="A9C4E8"/>
                </a:solidFill>
                <a:latin typeface="PingFang SC"/>
                <a:ea typeface="PingFang SC"/>
              </a:rPr>
              <a:t>数据出境</a:t>
            </a:r>
            <a:r>
              <a:rPr lang="en-US" sz="1425">
                <a:solidFill>
                  <a:srgbClr val="A9C4E8"/>
                </a:solidFill>
                <a:latin typeface="PingFang SC"/>
                <a:ea typeface="PingFang SC"/>
              </a:rPr>
              <a:t> —— </a:t>
            </a:r>
            <a:r>
              <a:rPr lang="zh-CN" sz="1425">
                <a:solidFill>
                  <a:srgbClr val="A9C4E8"/>
                </a:solidFill>
                <a:latin typeface="PingFang SC"/>
                <a:ea typeface="PingFang SC"/>
              </a:rPr>
              <a:t>合规是路线图的前置条件，不是附录。</a:t>
            </a:r>
            <a:endParaRPr/>
          </a:p>
        </p:txBody>
      </p:sp>
    </p:spTree>
  </p:cSld>
</p:sld>
</file>

<file path=ppt/slides/slide20.xml><?xml version="1.0" encoding="utf-8"?>
<p:sld xmlns:asvg="http://schemas.microsoft.com/office/drawing/2016/SVG/main" xmlns:a="http://schemas.openxmlformats.org/drawingml/2006/main" xmlns:r="http://schemas.openxmlformats.org/officeDocument/2006/relationships" xmlns:p="http://schemas.openxmlformats.org/presentationml/2006/main" xmlns:mc="http://schemas.openxmlformats.org/markup-compatibility/2006" mc:Ignorable="asvg">
  <p:cSld>
    <p:spTree>
      <p:nvGrpSpPr>
        <p:cNvPr id="340" name="" descr="const items = [&#10;    { icon: 'layer-group', t: '分类分级', d: '数据与算法按敏感级管理：核心数据不出厂，出网的先脱敏' },&#10;    { icon: 'shield-alt', t: '幻觉防控', d: 'HITL + 置信度 + 证据链三件套；安全关键件处置权永远归人' },&#10;    { icon: 'balance-scale', t: '伦理四底线', d: '公平 · 可解释 · 问责 · 不替代判断 —— 写进制度，不挂嘴边' },&#10;    { icon: 'cogs', t: 'NIST 映射', d: 'Govern-Map-Measure-Manage 落到岗位与流程，季度审计一次' },&#10;];&#10;&lt;Slide style={{ width: '1280px', height: '720px', background: '#F5F8FC', padding: '24px 72px', boxSizing: 'border-box', flexDirection: 'column', fontFamily: 'PingFang SC, Source Han Sans SC, sans-serif' }}&gt;&#10;    &lt;Box style={{ height: 92, flexDirection: 'row', alignItems: 'center', gap: 16 }}&gt;&#10;        &lt;Box style={{ width: 5, height: 44, background: '#06B6D4', borderRadius: 3 }} /&gt;&#10;        &lt;Box&gt;&#10;            &lt;Text style={{ fontSize: 32, fontWeight: 'bold', color: '#1E3A8A', lineHeight: 1.2 }}&gt;治理四议题 + 合规前瞻&lt;/Text&gt;&#10;            &lt;Text style={{ fontSize: 16, color: '#64748B', marginTop: 4 }}&gt;高管要做的不是「懂技术」，是「定规矩、认责任、敢叫停」&lt;/Text&gt;&#10;        &lt;/Box&gt;&#10;    &lt;/Box&gt;&#10;    &lt;Box style={{ flexDirection: 'row', gap: 18, marginTop: 14 }}&gt;&#10;        {items.map((x, i) =&gt; (&#10;            &lt;Box key={i} style={{ flex: 1, background: '#FFFFFF', borderRadius: 14, padding: '20px 18px', border: '1px solid #E2E8F0', boxShadow: '0 3px 12px rgba(30,58,138,0.05)', flexDirection: 'column' }}&gt;&#10;                &lt;Box style={{ width: 52, height: 52, borderRadius: 13, background: i === 1 ? '#FEEFE0' : '#E0F7FA', justifyContent: 'center', alignItems: 'center', marginBottom: 12 }}&gt;&#10;                    &lt;FAIcon name={x.icon} style={{ fill: i === 1 ? '#F59E0B' : '#0891B2', width: 26, height: 26 }} /&gt;&#10;                &lt;/Box&gt;&#10;                &lt;Text style={{ fontSize: 19, fontWeight: 'bold', color: '#1E3A8A', marginBottom: 8 }}&gt;{x.t}&lt;/Text&gt;&#10;                &lt;Text style={{ fontSize: 14, color: '#43566b', lineHeight: 1.6, flex: 1 }}&gt;{x.d}&lt;/Text&gt;&#10;            &lt;/Box&gt;&#10;        ))}&#10;    &lt;/Box&gt;&#10;    &lt;Box style={{ flex: 1, flexDirection: 'row', gap: 24, marginTop: 18 }}&gt;&#10;        &lt;Box style={{ flex: 1, background: '#1E3A8A', borderRadius: 16, padding: '20px 26px', flexDirection: 'column', boxShadow: '0 8px 24px rgba(30,58,138,0.22)' }}&gt;&#10;            &lt;Text style={{ fontSize: 18, fontWeight: 'bold', color: '#FFFFFF', marginBottom: 10 }}&gt;合规前瞻：路线图里要预留的两条线&lt;/Text&gt;&#10;            &lt;Box style={{ flexDirection: 'row', gap: 16 }}&gt;&#10;                &lt;Box style={{ flex: 1, padding: '14px 18px', background: 'rgba(6,182,212,0.15)', borderRadius: 12, border: '1px solid rgba(6,182,212,0.5)' }}&gt;&#10;                    &lt;Text style={{ fontSize: 16, fontWeight: 'bold', color: '#7FD9F0' }}&gt;算法备案&lt;/Text&gt;&#10;                    &lt;Text style={{ fontSize: 14, color: '#DCE9FB', lineHeight: 1.6, marginTop: 6 }}&gt;面向公众服务的生成式 AI 需备案 —— 对客 AI 先查门槛再上线&lt;/Text&gt;&#10;                &lt;/Box&gt;&#10;                &lt;Box style={{ flex: 1, padding: '14px 18px', background: 'rgba(245,158,11,0.15)', borderRadius: 12, border: '1px solid rgba(245,158,11,0.6)' }}&gt;&#10;                    &lt;Text style={{ fontSize: 16, fontWeight: 'bold', color: '#F8C471' }}&gt;数据出境&lt;/Text&gt;&#10;                    &lt;Text style={{ fontSize: 14, color: '#DCE9FB', lineHeight: 1.6, marginTop: 6 }}&gt;境外云 / 境外供应商碰核心数据，先走安全评估，再谈合作&lt;/Text&gt;&#10;                &lt;/Box&gt;&#10;            &lt;/Box&gt;&#10;            &lt;Text style={{ fontSize: 14, color: '#A9C4E8', marginTop: 'auto', paddingTop: 12 }}&gt;判断口径：不出厂的数据没有出境问题；出不了厂的数据就别出厂。&lt;/Text&gt;&#10;        &lt;/Box&gt;&#10;        &lt;Box style={{ flex: 1, padding: '20px 26px', background: '#FEEFE0', borderRadius: 16, border: '2px solid #F59E0B', flexDirection: 'column', justifyContent: 'center' }}&gt;&#10;            &lt;Text style={{ fontSize: 20, fontWeight: 'bold', color: '#B45309' }}&gt;高管的一句话职责&lt;/Text&gt;&#10;            &lt;Text style={{ fontSize: 18, color: '#43566b', lineHeight: 1.8, marginTop: 12 }}&gt;AI 判错了，责任链条必须清晰：&lt;span style={{ fontWeight: 'bold', color: '#B45309' }}&gt;谁批准上线、谁保留处置权、谁承担后果&lt;/span&gt; —— 三个名字写进制度，出事才知道找谁。&lt;/Text&gt;&#10;        &lt;/Box&gt;&#10;    &lt;/Box&gt;&#10;    &lt;Box style={{ height: 40, flexDirection: 'row', justifyContent: 'space-between', alignItems: 'center', marginTop: 10 }}&gt;&#10;        &lt;Text style={{ fontSize: 14, color: '#64748B' }}&gt;AI 规划与治理 · 高级&lt;/Text&gt;&#10;        &lt;Text style={{ fontSize: 14, color: '#64748B' }}&gt;20 / 24&lt;/Text&gt;&#10;    &lt;/Box&gt;&#10;&lt;/Slide&gt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1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5F8FC"/>
          </a:solidFill>
          <a:ln/>
        </p:spPr>
        <p:txBody>
          <a:bodyPr/>
          <a:p/>
        </p:txBody>
      </p:sp>
      <p:sp>
        <p:nvSpPr>
          <p:cNvPr id="342" name=""/>
          <p:cNvSpPr/>
          <p:nvPr/>
        </p:nvSpPr>
        <p:spPr>
          <a:xfrm rot="0" flipH="0" flipV="0">
            <a:off x="685800" y="457200"/>
            <a:ext cx="47625" cy="419100"/>
          </a:xfrm>
          <a:prstGeom prst="roundRect">
            <a:avLst>
              <a:gd name="adj" fmla="val 60000"/>
            </a:avLst>
          </a:prstGeom>
          <a:solidFill>
            <a:srgbClr val="06B6D4"/>
          </a:solidFill>
          <a:ln/>
        </p:spPr>
        <p:txBody>
          <a:bodyPr/>
          <a:p/>
        </p:txBody>
      </p:sp>
      <p:sp>
        <p:nvSpPr>
          <p:cNvPr id="343" name="" descr="{&quot;isTemplate&quot;:true,&quot;type&quot;:&quot;text&quot;}"/>
          <p:cNvSpPr txBox="1"/>
          <p:nvPr/>
        </p:nvSpPr>
        <p:spPr>
          <a:xfrm rot="0" flipH="0" flipV="0">
            <a:off x="885825" y="333375"/>
            <a:ext cx="4114800" cy="447675"/>
          </a:xfrm>
          <a:prstGeom prst="rect"/>
        </p:spPr>
        <p:txBody>
          <a:bodyPr wrap="none" lIns="0" tIns="0" rIns="0" bIns="0"/>
          <a:p>
            <a:pPr>
              <a:lnSpc>
                <a:spcPct val="120000"/>
              </a:lnSpc>
            </a:pPr>
            <a:r>
              <a:rPr lang="zh-CN" sz="2400" b="1">
                <a:solidFill>
                  <a:srgbClr val="1E3A8A"/>
                </a:solidFill>
                <a:latin typeface="PingFang SC"/>
                <a:ea typeface="PingFang SC"/>
              </a:rPr>
              <a:t>治理四议题</a:t>
            </a:r>
            <a:r>
              <a:rPr lang="en-US" sz="2400" b="1">
                <a:solidFill>
                  <a:srgbClr val="1E3A8A"/>
                </a:solidFill>
                <a:latin typeface="PingFang SC"/>
                <a:ea typeface="PingFang SC"/>
              </a:rPr>
              <a:t> + </a:t>
            </a:r>
            <a:r>
              <a:rPr lang="zh-CN" sz="2400" b="1">
                <a:solidFill>
                  <a:srgbClr val="1E3A8A"/>
                </a:solidFill>
                <a:latin typeface="PingFang SC"/>
                <a:ea typeface="PingFang SC"/>
              </a:rPr>
              <a:t>合规前瞻</a:t>
            </a:r>
            <a:endParaRPr/>
          </a:p>
        </p:txBody>
      </p:sp>
      <p:sp>
        <p:nvSpPr>
          <p:cNvPr id="344" name="" descr="{&quot;isTemplate&quot;:true,&quot;type&quot;:&quot;text&quot;}"/>
          <p:cNvSpPr txBox="1"/>
          <p:nvPr/>
        </p:nvSpPr>
        <p:spPr>
          <a:xfrm rot="0" flipH="0" flipV="0">
            <a:off x="885825" y="819150"/>
            <a:ext cx="41148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>
                <a:solidFill>
                  <a:srgbClr val="64748B"/>
                </a:solidFill>
                <a:latin typeface="PingFang SC"/>
                <a:ea typeface="PingFang SC"/>
              </a:rPr>
              <a:t>高管要做的不是「懂技术」，是「定规矩、认责任、敢叫停」</a:t>
            </a:r>
            <a:endParaRPr/>
          </a:p>
        </p:txBody>
      </p:sp>
      <p:sp>
        <p:nvSpPr>
          <p:cNvPr id="345" name=""/>
          <p:cNvSpPr/>
          <p:nvPr/>
        </p:nvSpPr>
        <p:spPr>
          <a:xfrm rot="0" flipH="0" flipV="0">
            <a:off x="685800" y="1238250"/>
            <a:ext cx="2581275" cy="1800225"/>
          </a:xfrm>
          <a:prstGeom prst="roundRect">
            <a:avLst>
              <a:gd name="adj" fmla="val 7407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14300" dist="28575" dir="5400000">
              <a:srgbClr val="1E3A8A">
                <a:alpha val="5000"/>
              </a:srgbClr>
            </a:outerShdw>
          </a:effectLst>
        </p:spPr>
        <p:txBody>
          <a:bodyPr/>
          <a:p/>
        </p:txBody>
      </p:sp>
      <p:sp>
        <p:nvSpPr>
          <p:cNvPr id="346" name=""/>
          <p:cNvSpPr/>
          <p:nvPr/>
        </p:nvSpPr>
        <p:spPr>
          <a:xfrm rot="0" flipH="0" flipV="0">
            <a:off x="857250" y="1428750"/>
            <a:ext cx="495300" cy="495300"/>
          </a:xfrm>
          <a:prstGeom prst="roundRect">
            <a:avLst>
              <a:gd name="adj" fmla="val 25000"/>
            </a:avLst>
          </a:prstGeom>
          <a:solidFill>
            <a:srgbClr val="E0F7FA"/>
          </a:solidFill>
          <a:ln/>
        </p:spPr>
        <p:txBody>
          <a:bodyPr/>
          <a:p/>
        </p:txBody>
      </p:sp>
      <p:pic>
        <p:nvPicPr>
          <p:cNvPr id="347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1"/>
              </a:ext>
            </a:extLst>
          </a:blip>
          <a:stretch>
            <a:fillRect/>
          </a:stretch>
        </p:blipFill>
        <p:spPr>
          <a:xfrm rot="0" flipH="0" flipV="0">
            <a:off x="981075" y="1552575"/>
            <a:ext cx="247650" cy="247650"/>
          </a:xfrm>
          <a:prstGeom prst="rect">
            <a:avLst/>
          </a:prstGeom>
          <a:ln/>
        </p:spPr>
      </p:pic>
      <p:sp>
        <p:nvSpPr>
          <p:cNvPr id="348" name="" descr="{&quot;isTemplate&quot;:true,&quot;type&quot;:&quot;text&quot;}"/>
          <p:cNvSpPr txBox="1"/>
          <p:nvPr/>
        </p:nvSpPr>
        <p:spPr>
          <a:xfrm rot="0" flipH="0" flipV="0">
            <a:off x="857250" y="2038350"/>
            <a:ext cx="2238375" cy="2190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425" b="1">
                <a:solidFill>
                  <a:srgbClr val="1E3A8A"/>
                </a:solidFill>
                <a:latin typeface="PingFang SC"/>
                <a:ea typeface="PingFang SC"/>
              </a:rPr>
              <a:t>分类分级</a:t>
            </a:r>
            <a:endParaRPr/>
          </a:p>
        </p:txBody>
      </p:sp>
      <p:sp>
        <p:nvSpPr>
          <p:cNvPr id="349" name="" descr="{&quot;isTemplate&quot;:true,&quot;type&quot;:&quot;text&quot;}"/>
          <p:cNvSpPr txBox="1"/>
          <p:nvPr/>
        </p:nvSpPr>
        <p:spPr>
          <a:xfrm rot="0" flipH="0" flipV="0">
            <a:off x="857250" y="2333625"/>
            <a:ext cx="2238375" cy="5143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60000"/>
              </a:lnSpc>
            </a:pPr>
            <a:r>
              <a:rPr lang="zh-CN" sz="1050">
                <a:solidFill>
                  <a:srgbClr val="43566B"/>
                </a:solidFill>
                <a:latin typeface="PingFang SC"/>
                <a:ea typeface="PingFang SC"/>
              </a:rPr>
              <a:t>数据与算法按敏感级管理：核心数据不出厂，出网的先脱敏</a:t>
            </a:r>
            <a:endParaRPr/>
          </a:p>
        </p:txBody>
      </p:sp>
      <p:sp>
        <p:nvSpPr>
          <p:cNvPr id="350" name=""/>
          <p:cNvSpPr/>
          <p:nvPr/>
        </p:nvSpPr>
        <p:spPr>
          <a:xfrm rot="0" flipH="0" flipV="0">
            <a:off x="3438525" y="1238250"/>
            <a:ext cx="2571750" cy="1800225"/>
          </a:xfrm>
          <a:prstGeom prst="roundRect">
            <a:avLst>
              <a:gd name="adj" fmla="val 7407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14300" dist="28575" dir="5400000">
              <a:srgbClr val="1E3A8A">
                <a:alpha val="5000"/>
              </a:srgbClr>
            </a:outerShdw>
          </a:effectLst>
        </p:spPr>
        <p:txBody>
          <a:bodyPr/>
          <a:p/>
        </p:txBody>
      </p:sp>
      <p:sp>
        <p:nvSpPr>
          <p:cNvPr id="351" name=""/>
          <p:cNvSpPr/>
          <p:nvPr/>
        </p:nvSpPr>
        <p:spPr>
          <a:xfrm rot="0" flipH="0" flipV="0">
            <a:off x="3609975" y="1428750"/>
            <a:ext cx="495300" cy="495300"/>
          </a:xfrm>
          <a:prstGeom prst="roundRect">
            <a:avLst>
              <a:gd name="adj" fmla="val 25000"/>
            </a:avLst>
          </a:prstGeom>
          <a:solidFill>
            <a:srgbClr val="FEEFE0"/>
          </a:solidFill>
          <a:ln/>
        </p:spPr>
        <p:txBody>
          <a:bodyPr/>
          <a:p/>
        </p:txBody>
      </p:sp>
      <p:pic>
        <p:nvPicPr>
          <p:cNvPr id="352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2"/>
              </a:ext>
            </a:extLst>
          </a:blip>
          <a:stretch>
            <a:fillRect/>
          </a:stretch>
        </p:blipFill>
        <p:spPr>
          <a:xfrm rot="0" flipH="0" flipV="0">
            <a:off x="3733800" y="1552575"/>
            <a:ext cx="247650" cy="247650"/>
          </a:xfrm>
          <a:prstGeom prst="rect">
            <a:avLst/>
          </a:prstGeom>
          <a:ln/>
        </p:spPr>
      </p:pic>
      <p:sp>
        <p:nvSpPr>
          <p:cNvPr id="353" name="" descr="{&quot;isTemplate&quot;:true,&quot;type&quot;:&quot;text&quot;}"/>
          <p:cNvSpPr txBox="1"/>
          <p:nvPr/>
        </p:nvSpPr>
        <p:spPr>
          <a:xfrm rot="0" flipH="0" flipV="0">
            <a:off x="3609975" y="2038350"/>
            <a:ext cx="2228850" cy="2190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425" b="1">
                <a:solidFill>
                  <a:srgbClr val="1E3A8A"/>
                </a:solidFill>
                <a:latin typeface="PingFang SC"/>
                <a:ea typeface="PingFang SC"/>
              </a:rPr>
              <a:t>幻觉防控</a:t>
            </a:r>
            <a:endParaRPr/>
          </a:p>
        </p:txBody>
      </p:sp>
      <p:sp>
        <p:nvSpPr>
          <p:cNvPr id="354" name="" descr="{&quot;isTemplate&quot;:true,&quot;type&quot;:&quot;text&quot;}"/>
          <p:cNvSpPr txBox="1"/>
          <p:nvPr/>
        </p:nvSpPr>
        <p:spPr>
          <a:xfrm rot="0" flipH="0" flipV="0">
            <a:off x="3609975" y="2333625"/>
            <a:ext cx="2228850" cy="5143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60000"/>
              </a:lnSpc>
            </a:pPr>
            <a:r>
              <a:rPr lang="en-US" sz="1050">
                <a:solidFill>
                  <a:srgbClr val="43566B"/>
                </a:solidFill>
                <a:latin typeface="PingFang SC"/>
                <a:ea typeface="PingFang SC"/>
              </a:rPr>
              <a:t>HITL + </a:t>
            </a:r>
            <a:r>
              <a:rPr lang="zh-CN" sz="1050">
                <a:solidFill>
                  <a:srgbClr val="43566B"/>
                </a:solidFill>
                <a:latin typeface="PingFang SC"/>
                <a:ea typeface="PingFang SC"/>
              </a:rPr>
              <a:t>置信度</a:t>
            </a:r>
            <a:r>
              <a:rPr lang="en-US" sz="1050">
                <a:solidFill>
                  <a:srgbClr val="43566B"/>
                </a:solidFill>
                <a:latin typeface="PingFang SC"/>
                <a:ea typeface="PingFang SC"/>
              </a:rPr>
              <a:t> + </a:t>
            </a:r>
            <a:r>
              <a:rPr lang="zh-CN" sz="1050">
                <a:solidFill>
                  <a:srgbClr val="43566B"/>
                </a:solidFill>
                <a:latin typeface="PingFang SC"/>
                <a:ea typeface="PingFang SC"/>
              </a:rPr>
              <a:t>证据链三件套；安全关键件处置权永远归人</a:t>
            </a:r>
            <a:endParaRPr/>
          </a:p>
        </p:txBody>
      </p:sp>
      <p:sp>
        <p:nvSpPr>
          <p:cNvPr id="355" name=""/>
          <p:cNvSpPr/>
          <p:nvPr/>
        </p:nvSpPr>
        <p:spPr>
          <a:xfrm rot="0" flipH="0" flipV="0">
            <a:off x="6181725" y="1238250"/>
            <a:ext cx="2581275" cy="1800225"/>
          </a:xfrm>
          <a:prstGeom prst="roundRect">
            <a:avLst>
              <a:gd name="adj" fmla="val 7407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14300" dist="28575" dir="5400000">
              <a:srgbClr val="1E3A8A">
                <a:alpha val="5000"/>
              </a:srgbClr>
            </a:outerShdw>
          </a:effectLst>
        </p:spPr>
        <p:txBody>
          <a:bodyPr/>
          <a:p/>
        </p:txBody>
      </p:sp>
      <p:sp>
        <p:nvSpPr>
          <p:cNvPr id="356" name=""/>
          <p:cNvSpPr/>
          <p:nvPr/>
        </p:nvSpPr>
        <p:spPr>
          <a:xfrm rot="0" flipH="0" flipV="0">
            <a:off x="6353175" y="1428750"/>
            <a:ext cx="495300" cy="495300"/>
          </a:xfrm>
          <a:prstGeom prst="roundRect">
            <a:avLst>
              <a:gd name="adj" fmla="val 25000"/>
            </a:avLst>
          </a:prstGeom>
          <a:solidFill>
            <a:srgbClr val="E0F7FA"/>
          </a:solidFill>
          <a:ln/>
        </p:spPr>
        <p:txBody>
          <a:bodyPr/>
          <a:p/>
        </p:txBody>
      </p:sp>
      <p:pic>
        <p:nvPicPr>
          <p:cNvPr id="357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3"/>
              </a:ext>
            </a:extLst>
          </a:blip>
          <a:stretch>
            <a:fillRect/>
          </a:stretch>
        </p:blipFill>
        <p:spPr>
          <a:xfrm rot="0" flipH="0" flipV="0">
            <a:off x="6477000" y="1552575"/>
            <a:ext cx="247650" cy="247650"/>
          </a:xfrm>
          <a:prstGeom prst="rect">
            <a:avLst/>
          </a:prstGeom>
          <a:ln/>
        </p:spPr>
      </p:pic>
      <p:sp>
        <p:nvSpPr>
          <p:cNvPr id="358" name="" descr="{&quot;isTemplate&quot;:true,&quot;type&quot;:&quot;text&quot;}"/>
          <p:cNvSpPr txBox="1"/>
          <p:nvPr/>
        </p:nvSpPr>
        <p:spPr>
          <a:xfrm rot="0" flipH="0" flipV="0">
            <a:off x="6353175" y="2038350"/>
            <a:ext cx="2238375" cy="2190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425" b="1">
                <a:solidFill>
                  <a:srgbClr val="1E3A8A"/>
                </a:solidFill>
                <a:latin typeface="PingFang SC"/>
                <a:ea typeface="PingFang SC"/>
              </a:rPr>
              <a:t>伦理四底线</a:t>
            </a:r>
            <a:endParaRPr/>
          </a:p>
        </p:txBody>
      </p:sp>
      <p:sp>
        <p:nvSpPr>
          <p:cNvPr id="359" name="" descr="{&quot;isTemplate&quot;:true,&quot;type&quot;:&quot;text&quot;}"/>
          <p:cNvSpPr txBox="1"/>
          <p:nvPr/>
        </p:nvSpPr>
        <p:spPr>
          <a:xfrm rot="0" flipH="0" flipV="0">
            <a:off x="6353175" y="2333625"/>
            <a:ext cx="2238375" cy="5143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60000"/>
              </a:lnSpc>
            </a:pPr>
            <a:r>
              <a:rPr lang="zh-CN" sz="1050">
                <a:solidFill>
                  <a:srgbClr val="43566B"/>
                </a:solidFill>
                <a:latin typeface="PingFang SC"/>
                <a:ea typeface="PingFang SC"/>
              </a:rPr>
              <a:t>公平</a:t>
            </a:r>
            <a:r>
              <a:rPr lang="en-US" sz="1050">
                <a:solidFill>
                  <a:srgbClr val="43566B"/>
                </a:solidFill>
                <a:latin typeface="PingFang SC"/>
                <a:ea typeface="PingFang SC"/>
              </a:rPr>
              <a:t> · </a:t>
            </a:r>
            <a:r>
              <a:rPr lang="zh-CN" sz="1050">
                <a:solidFill>
                  <a:srgbClr val="43566B"/>
                </a:solidFill>
                <a:latin typeface="PingFang SC"/>
                <a:ea typeface="PingFang SC"/>
              </a:rPr>
              <a:t>可解释</a:t>
            </a:r>
            <a:r>
              <a:rPr lang="en-US" sz="1050">
                <a:solidFill>
                  <a:srgbClr val="43566B"/>
                </a:solidFill>
                <a:latin typeface="PingFang SC"/>
                <a:ea typeface="PingFang SC"/>
              </a:rPr>
              <a:t> · </a:t>
            </a:r>
            <a:r>
              <a:rPr lang="zh-CN" sz="1050">
                <a:solidFill>
                  <a:srgbClr val="43566B"/>
                </a:solidFill>
                <a:latin typeface="PingFang SC"/>
                <a:ea typeface="PingFang SC"/>
              </a:rPr>
              <a:t>问责</a:t>
            </a:r>
            <a:r>
              <a:rPr lang="en-US" sz="1050">
                <a:solidFill>
                  <a:srgbClr val="43566B"/>
                </a:solidFill>
                <a:latin typeface="PingFang SC"/>
                <a:ea typeface="PingFang SC"/>
              </a:rPr>
              <a:t> · </a:t>
            </a:r>
            <a:r>
              <a:rPr lang="zh-CN" sz="1050">
                <a:solidFill>
                  <a:srgbClr val="43566B"/>
                </a:solidFill>
                <a:latin typeface="PingFang SC"/>
                <a:ea typeface="PingFang SC"/>
              </a:rPr>
              <a:t>不替代判断</a:t>
            </a:r>
            <a:r>
              <a:rPr lang="en-US" sz="1050">
                <a:solidFill>
                  <a:srgbClr val="43566B"/>
                </a:solidFill>
                <a:latin typeface="PingFang SC"/>
                <a:ea typeface="PingFang SC"/>
              </a:rPr>
              <a:t> —— </a:t>
            </a:r>
            <a:r>
              <a:rPr lang="zh-CN" sz="1050">
                <a:solidFill>
                  <a:srgbClr val="43566B"/>
                </a:solidFill>
                <a:latin typeface="PingFang SC"/>
                <a:ea typeface="PingFang SC"/>
              </a:rPr>
              <a:t>写进制度，不挂嘴边</a:t>
            </a:r>
            <a:endParaRPr/>
          </a:p>
        </p:txBody>
      </p:sp>
      <p:sp>
        <p:nvSpPr>
          <p:cNvPr id="360" name=""/>
          <p:cNvSpPr/>
          <p:nvPr/>
        </p:nvSpPr>
        <p:spPr>
          <a:xfrm rot="0" flipH="0" flipV="0">
            <a:off x="8934450" y="1238250"/>
            <a:ext cx="2571750" cy="1800225"/>
          </a:xfrm>
          <a:prstGeom prst="roundRect">
            <a:avLst>
              <a:gd name="adj" fmla="val 7407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14300" dist="28575" dir="5400000">
              <a:srgbClr val="1E3A8A">
                <a:alpha val="5000"/>
              </a:srgbClr>
            </a:outerShdw>
          </a:effectLst>
        </p:spPr>
        <p:txBody>
          <a:bodyPr/>
          <a:p/>
        </p:txBody>
      </p:sp>
      <p:sp>
        <p:nvSpPr>
          <p:cNvPr id="361" name=""/>
          <p:cNvSpPr/>
          <p:nvPr/>
        </p:nvSpPr>
        <p:spPr>
          <a:xfrm rot="0" flipH="0" flipV="0">
            <a:off x="9105900" y="1428750"/>
            <a:ext cx="495300" cy="495300"/>
          </a:xfrm>
          <a:prstGeom prst="roundRect">
            <a:avLst>
              <a:gd name="adj" fmla="val 25000"/>
            </a:avLst>
          </a:prstGeom>
          <a:solidFill>
            <a:srgbClr val="E0F7FA"/>
          </a:solidFill>
          <a:ln/>
        </p:spPr>
        <p:txBody>
          <a:bodyPr/>
          <a:p/>
        </p:txBody>
      </p:sp>
      <p:pic>
        <p:nvPicPr>
          <p:cNvPr id="362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4"/>
              </a:ext>
            </a:extLst>
          </a:blip>
          <a:stretch>
            <a:fillRect/>
          </a:stretch>
        </p:blipFill>
        <p:spPr>
          <a:xfrm rot="0" flipH="0" flipV="0">
            <a:off x="9229725" y="1552575"/>
            <a:ext cx="247650" cy="247650"/>
          </a:xfrm>
          <a:prstGeom prst="rect">
            <a:avLst/>
          </a:prstGeom>
          <a:ln/>
        </p:spPr>
      </p:pic>
      <p:sp>
        <p:nvSpPr>
          <p:cNvPr id="363" name="" descr="{&quot;isTemplate&quot;:true,&quot;type&quot;:&quot;text&quot;}"/>
          <p:cNvSpPr txBox="1"/>
          <p:nvPr/>
        </p:nvSpPr>
        <p:spPr>
          <a:xfrm rot="0" flipH="0" flipV="0">
            <a:off x="9105900" y="2038350"/>
            <a:ext cx="2228850" cy="2190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425" b="1">
                <a:solidFill>
                  <a:srgbClr val="1E3A8A"/>
                </a:solidFill>
                <a:latin typeface="PingFang SC"/>
                <a:ea typeface="PingFang SC"/>
              </a:rPr>
              <a:t>NIST </a:t>
            </a:r>
            <a:r>
              <a:rPr lang="zh-CN" sz="1425" b="1">
                <a:solidFill>
                  <a:srgbClr val="1E3A8A"/>
                </a:solidFill>
                <a:latin typeface="PingFang SC"/>
                <a:ea typeface="PingFang SC"/>
              </a:rPr>
              <a:t>映射</a:t>
            </a:r>
            <a:endParaRPr/>
          </a:p>
        </p:txBody>
      </p:sp>
      <p:sp>
        <p:nvSpPr>
          <p:cNvPr id="364" name="" descr="{&quot;isTemplate&quot;:true,&quot;type&quot;:&quot;text&quot;}"/>
          <p:cNvSpPr txBox="1"/>
          <p:nvPr/>
        </p:nvSpPr>
        <p:spPr>
          <a:xfrm rot="0" flipH="0" flipV="0">
            <a:off x="9105900" y="2333625"/>
            <a:ext cx="2228850" cy="5143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60000"/>
              </a:lnSpc>
            </a:pPr>
            <a:r>
              <a:rPr lang="en-US" sz="1050">
                <a:solidFill>
                  <a:srgbClr val="43566B"/>
                </a:solidFill>
                <a:latin typeface="PingFang SC"/>
                <a:ea typeface="PingFang SC"/>
              </a:rPr>
              <a:t>Govern-Map-Measure-Manage </a:t>
            </a:r>
            <a:r>
              <a:rPr lang="zh-CN" sz="1050">
                <a:solidFill>
                  <a:srgbClr val="43566B"/>
                </a:solidFill>
                <a:latin typeface="PingFang SC"/>
                <a:ea typeface="PingFang SC"/>
              </a:rPr>
              <a:t>落到岗位与流程，季度审计一次</a:t>
            </a:r>
            <a:endParaRPr/>
          </a:p>
        </p:txBody>
      </p:sp>
      <p:sp>
        <p:nvSpPr>
          <p:cNvPr id="365" name=""/>
          <p:cNvSpPr/>
          <p:nvPr/>
        </p:nvSpPr>
        <p:spPr>
          <a:xfrm rot="0" flipH="0" flipV="0">
            <a:off x="685800" y="3209925"/>
            <a:ext cx="5295900" cy="2943225"/>
          </a:xfrm>
          <a:prstGeom prst="roundRect">
            <a:avLst>
              <a:gd name="adj" fmla="val 5178"/>
            </a:avLst>
          </a:prstGeom>
          <a:solidFill>
            <a:srgbClr val="1E3A8A"/>
          </a:solidFill>
          <a:ln/>
          <a:effectLst>
            <a:outerShdw blurRad="228600" dist="76200" dir="5400000">
              <a:srgbClr val="1E3A8A">
                <a:alpha val="22000"/>
              </a:srgbClr>
            </a:outerShdw>
          </a:effectLst>
        </p:spPr>
        <p:txBody>
          <a:bodyPr/>
          <a:p/>
        </p:txBody>
      </p:sp>
      <p:sp>
        <p:nvSpPr>
          <p:cNvPr id="366" name="" descr="{&quot;isTemplate&quot;:true,&quot;type&quot;:&quot;text&quot;}"/>
          <p:cNvSpPr txBox="1"/>
          <p:nvPr/>
        </p:nvSpPr>
        <p:spPr>
          <a:xfrm rot="0" flipH="0" flipV="0">
            <a:off x="933450" y="3400425"/>
            <a:ext cx="480060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 b="1">
                <a:solidFill>
                  <a:srgbClr val="FFFFFF"/>
                </a:solidFill>
                <a:latin typeface="PingFang SC"/>
                <a:ea typeface="PingFang SC"/>
              </a:rPr>
              <a:t>合规前瞻：路线图里要预留的两条线</a:t>
            </a:r>
            <a:endParaRPr/>
          </a:p>
        </p:txBody>
      </p:sp>
      <p:sp>
        <p:nvSpPr>
          <p:cNvPr id="367" name=""/>
          <p:cNvSpPr/>
          <p:nvPr/>
        </p:nvSpPr>
        <p:spPr>
          <a:xfrm rot="0" flipH="0" flipV="0">
            <a:off x="933450" y="3705225"/>
            <a:ext cx="2324100" cy="1028700"/>
          </a:xfrm>
          <a:prstGeom prst="roundRect">
            <a:avLst>
              <a:gd name="adj" fmla="val 11111"/>
            </a:avLst>
          </a:prstGeom>
          <a:solidFill>
            <a:srgbClr val="06B6D4">
              <a:alpha val="15000"/>
            </a:srgbClr>
          </a:solidFill>
          <a:ln w="12700">
            <a:solidFill>
              <a:srgbClr val="06B6D4">
                <a:alpha val="50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368" name="" descr="{&quot;isTemplate&quot;:true,&quot;type&quot;:&quot;text&quot;}"/>
          <p:cNvSpPr txBox="1"/>
          <p:nvPr/>
        </p:nvSpPr>
        <p:spPr>
          <a:xfrm rot="0" flipH="0" flipV="0">
            <a:off x="1104900" y="3838575"/>
            <a:ext cx="19812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 b="1">
                <a:solidFill>
                  <a:srgbClr val="7FD9F0"/>
                </a:solidFill>
                <a:latin typeface="PingFang SC"/>
                <a:ea typeface="PingFang SC"/>
              </a:rPr>
              <a:t>算法备案</a:t>
            </a:r>
            <a:endParaRPr/>
          </a:p>
        </p:txBody>
      </p:sp>
      <p:sp>
        <p:nvSpPr>
          <p:cNvPr id="369" name="" descr="{&quot;isTemplate&quot;:true,&quot;type&quot;:&quot;text&quot;}"/>
          <p:cNvSpPr txBox="1"/>
          <p:nvPr/>
        </p:nvSpPr>
        <p:spPr>
          <a:xfrm rot="0" flipH="0" flipV="0">
            <a:off x="1104900" y="4086225"/>
            <a:ext cx="1981200" cy="5143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60000"/>
              </a:lnSpc>
            </a:pPr>
            <a:r>
              <a:rPr lang="zh-CN" sz="1050">
                <a:solidFill>
                  <a:srgbClr val="DCE9FB"/>
                </a:solidFill>
                <a:latin typeface="PingFang SC"/>
                <a:ea typeface="PingFang SC"/>
              </a:rPr>
              <a:t>面向公众服务的生成式</a:t>
            </a:r>
            <a:r>
              <a:rPr lang="en-US" sz="1050">
                <a:solidFill>
                  <a:srgbClr val="DCE9FB"/>
                </a:solidFill>
                <a:latin typeface="PingFang SC"/>
                <a:ea typeface="PingFang SC"/>
              </a:rPr>
              <a:t> AI </a:t>
            </a:r>
            <a:r>
              <a:rPr lang="zh-CN" sz="1050">
                <a:solidFill>
                  <a:srgbClr val="DCE9FB"/>
                </a:solidFill>
                <a:latin typeface="PingFang SC"/>
                <a:ea typeface="PingFang SC"/>
              </a:rPr>
              <a:t>需备案</a:t>
            </a:r>
            <a:r>
              <a:rPr lang="en-US" sz="1050">
                <a:solidFill>
                  <a:srgbClr val="DCE9FB"/>
                </a:solidFill>
                <a:latin typeface="PingFang SC"/>
                <a:ea typeface="PingFang SC"/>
              </a:rPr>
              <a:t> —— </a:t>
            </a:r>
            <a:r>
              <a:rPr lang="zh-CN" sz="1050">
                <a:solidFill>
                  <a:srgbClr val="DCE9FB"/>
                </a:solidFill>
                <a:latin typeface="PingFang SC"/>
                <a:ea typeface="PingFang SC"/>
              </a:rPr>
              <a:t>对客</a:t>
            </a:r>
            <a:r>
              <a:rPr lang="en-US" sz="1050">
                <a:solidFill>
                  <a:srgbClr val="DCE9FB"/>
                </a:solidFill>
                <a:latin typeface="PingFang SC"/>
                <a:ea typeface="PingFang SC"/>
              </a:rPr>
              <a:t> AI </a:t>
            </a:r>
            <a:r>
              <a:rPr lang="zh-CN" sz="1050">
                <a:solidFill>
                  <a:srgbClr val="DCE9FB"/>
                </a:solidFill>
                <a:latin typeface="PingFang SC"/>
                <a:ea typeface="PingFang SC"/>
              </a:rPr>
              <a:t>先查门槛再上线</a:t>
            </a:r>
            <a:endParaRPr/>
          </a:p>
        </p:txBody>
      </p:sp>
      <p:sp>
        <p:nvSpPr>
          <p:cNvPr id="370" name=""/>
          <p:cNvSpPr/>
          <p:nvPr/>
        </p:nvSpPr>
        <p:spPr>
          <a:xfrm rot="0" flipH="0" flipV="0">
            <a:off x="3409950" y="3705225"/>
            <a:ext cx="2324100" cy="1028700"/>
          </a:xfrm>
          <a:prstGeom prst="roundRect">
            <a:avLst>
              <a:gd name="adj" fmla="val 11111"/>
            </a:avLst>
          </a:prstGeom>
          <a:solidFill>
            <a:srgbClr val="F59E0B">
              <a:alpha val="15000"/>
            </a:srgbClr>
          </a:solidFill>
          <a:ln w="12700">
            <a:solidFill>
              <a:srgbClr val="F59E0B">
                <a:alpha val="60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371" name="" descr="{&quot;isTemplate&quot;:true,&quot;type&quot;:&quot;text&quot;}"/>
          <p:cNvSpPr txBox="1"/>
          <p:nvPr/>
        </p:nvSpPr>
        <p:spPr>
          <a:xfrm rot="0" flipH="0" flipV="0">
            <a:off x="3581400" y="3838575"/>
            <a:ext cx="19812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 b="1">
                <a:solidFill>
                  <a:srgbClr val="F8C471"/>
                </a:solidFill>
                <a:latin typeface="PingFang SC"/>
                <a:ea typeface="PingFang SC"/>
              </a:rPr>
              <a:t>数据出境</a:t>
            </a:r>
            <a:endParaRPr/>
          </a:p>
        </p:txBody>
      </p:sp>
      <p:sp>
        <p:nvSpPr>
          <p:cNvPr id="372" name="" descr="{&quot;isTemplate&quot;:true,&quot;type&quot;:&quot;text&quot;}"/>
          <p:cNvSpPr txBox="1"/>
          <p:nvPr/>
        </p:nvSpPr>
        <p:spPr>
          <a:xfrm rot="0" flipH="0" flipV="0">
            <a:off x="3581400" y="4086225"/>
            <a:ext cx="1981200" cy="5143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60000"/>
              </a:lnSpc>
            </a:pPr>
            <a:r>
              <a:rPr lang="zh-CN" sz="1050">
                <a:solidFill>
                  <a:srgbClr val="DCE9FB"/>
                </a:solidFill>
                <a:latin typeface="PingFang SC"/>
                <a:ea typeface="PingFang SC"/>
              </a:rPr>
              <a:t>境外云</a:t>
            </a:r>
            <a:r>
              <a:rPr lang="en-US" sz="1050">
                <a:solidFill>
                  <a:srgbClr val="DCE9FB"/>
                </a:solidFill>
                <a:latin typeface="PingFang SC"/>
                <a:ea typeface="PingFang SC"/>
              </a:rPr>
              <a:t> / </a:t>
            </a:r>
            <a:r>
              <a:rPr lang="zh-CN" sz="1050">
                <a:solidFill>
                  <a:srgbClr val="DCE9FB"/>
                </a:solidFill>
                <a:latin typeface="PingFang SC"/>
                <a:ea typeface="PingFang SC"/>
              </a:rPr>
              <a:t>境外供应商碰核心数据，先走安全评估，再谈合作</a:t>
            </a:r>
            <a:endParaRPr/>
          </a:p>
        </p:txBody>
      </p:sp>
      <p:sp>
        <p:nvSpPr>
          <p:cNvPr id="373" name="" descr="{&quot;isTemplate&quot;:true,&quot;type&quot;:&quot;text&quot;}"/>
          <p:cNvSpPr txBox="1"/>
          <p:nvPr/>
        </p:nvSpPr>
        <p:spPr>
          <a:xfrm rot="0" flipH="0" flipV="0">
            <a:off x="933450" y="5686425"/>
            <a:ext cx="4800600" cy="276225"/>
          </a:xfrm>
          <a:prstGeom prst="rect"/>
        </p:spPr>
        <p:txBody>
          <a:bodyPr wrap="none" lIns="0" tIns="85725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A9C4E8"/>
                </a:solidFill>
                <a:latin typeface="PingFang SC"/>
                <a:ea typeface="PingFang SC"/>
              </a:rPr>
              <a:t>判断口径：不出厂的数据没有出境问题；出不了厂的数据就别出厂。</a:t>
            </a:r>
            <a:endParaRPr/>
          </a:p>
        </p:txBody>
      </p:sp>
      <p:sp>
        <p:nvSpPr>
          <p:cNvPr id="374" name=""/>
          <p:cNvSpPr/>
          <p:nvPr/>
        </p:nvSpPr>
        <p:spPr>
          <a:xfrm rot="0" flipH="0" flipV="0">
            <a:off x="6210300" y="3209925"/>
            <a:ext cx="5295900" cy="2943225"/>
          </a:xfrm>
          <a:prstGeom prst="roundRect">
            <a:avLst>
              <a:gd name="adj" fmla="val 5178"/>
            </a:avLst>
          </a:prstGeom>
          <a:solidFill>
            <a:srgbClr val="FEEFE0"/>
          </a:solidFill>
          <a:ln w="25400">
            <a:solidFill>
              <a:srgbClr val="F59E0B"/>
            </a:solidFill>
            <a:prstDash val="solid"/>
          </a:ln>
        </p:spPr>
        <p:txBody>
          <a:bodyPr/>
          <a:p/>
        </p:txBody>
      </p:sp>
      <p:sp>
        <p:nvSpPr>
          <p:cNvPr id="375" name="" descr="{&quot;isTemplate&quot;:true,&quot;type&quot;:&quot;text&quot;}"/>
          <p:cNvSpPr txBox="1"/>
          <p:nvPr/>
        </p:nvSpPr>
        <p:spPr>
          <a:xfrm rot="0" flipH="0" flipV="0">
            <a:off x="6457950" y="4143375"/>
            <a:ext cx="480060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 b="1">
                <a:solidFill>
                  <a:srgbClr val="B45309"/>
                </a:solidFill>
                <a:latin typeface="PingFang SC"/>
                <a:ea typeface="PingFang SC"/>
              </a:rPr>
              <a:t>高管的一句话职责</a:t>
            </a:r>
            <a:endParaRPr/>
          </a:p>
        </p:txBody>
      </p:sp>
      <p:sp>
        <p:nvSpPr>
          <p:cNvPr id="376" name="" descr="{&quot;isTemplate&quot;:true,&quot;type&quot;:&quot;text&quot;}"/>
          <p:cNvSpPr txBox="1"/>
          <p:nvPr/>
        </p:nvSpPr>
        <p:spPr>
          <a:xfrm rot="0" flipH="0" flipV="0">
            <a:off x="6457950" y="4486275"/>
            <a:ext cx="4800600" cy="7429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80000"/>
              </a:lnSpc>
            </a:pPr>
            <a:r>
              <a:rPr lang="en-US" sz="1350">
                <a:solidFill>
                  <a:srgbClr val="43566B"/>
                </a:solidFill>
                <a:latin typeface="PingFang SC"/>
                <a:ea typeface="PingFang SC"/>
              </a:rPr>
              <a:t>AI </a:t>
            </a:r>
            <a:r>
              <a:rPr lang="zh-CN" sz="1350">
                <a:solidFill>
                  <a:srgbClr val="43566B"/>
                </a:solidFill>
                <a:latin typeface="PingFang SC"/>
                <a:ea typeface="PingFang SC"/>
              </a:rPr>
              <a:t>判错了，责任链条必须清晰：</a:t>
            </a:r>
            <a:r>
              <a:rPr lang="zh-CN" sz="1350" b="1">
                <a:solidFill>
                  <a:srgbClr val="B45309"/>
                </a:solidFill>
                <a:latin typeface="PingFang SC"/>
                <a:ea typeface="PingFang SC"/>
              </a:rPr>
              <a:t>谁批准上线、谁保留处置权、谁承担后果</a:t>
            </a:r>
            <a:r>
              <a:rPr lang="en-US" sz="1350">
                <a:solidFill>
                  <a:srgbClr val="43566B"/>
                </a:solidFill>
                <a:latin typeface="PingFang SC"/>
                <a:ea typeface="PingFang SC"/>
              </a:rPr>
              <a:t> —— </a:t>
            </a:r>
            <a:r>
              <a:rPr lang="zh-CN" sz="1350">
                <a:solidFill>
                  <a:srgbClr val="43566B"/>
                </a:solidFill>
                <a:latin typeface="PingFang SC"/>
                <a:ea typeface="PingFang SC"/>
              </a:rPr>
              <a:t>三个名字写进制度，出事才知道找谁。</a:t>
            </a:r>
            <a:endParaRPr/>
          </a:p>
        </p:txBody>
      </p:sp>
      <p:sp>
        <p:nvSpPr>
          <p:cNvPr id="377" name="" descr="{&quot;isTemplate&quot;:true,&quot;type&quot;:&quot;text&quot;}"/>
          <p:cNvSpPr txBox="1"/>
          <p:nvPr/>
        </p:nvSpPr>
        <p:spPr>
          <a:xfrm rot="0" flipH="0" flipV="0">
            <a:off x="685800" y="6362700"/>
            <a:ext cx="12573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64748B"/>
                </a:solidFill>
                <a:latin typeface="PingFang SC"/>
                <a:ea typeface="PingFang SC"/>
              </a:rPr>
              <a:t>AI </a:t>
            </a:r>
            <a:r>
              <a:rPr lang="zh-CN" sz="1050">
                <a:solidFill>
                  <a:srgbClr val="64748B"/>
                </a:solidFill>
                <a:latin typeface="PingFang SC"/>
                <a:ea typeface="PingFang SC"/>
              </a:rPr>
              <a:t>规划与治理</a:t>
            </a:r>
            <a:r>
              <a:rPr lang="en-US" sz="1050">
                <a:solidFill>
                  <a:srgbClr val="64748B"/>
                </a:solidFill>
                <a:latin typeface="PingFang SC"/>
                <a:ea typeface="PingFang SC"/>
              </a:rPr>
              <a:t> · </a:t>
            </a:r>
            <a:r>
              <a:rPr lang="zh-CN" sz="1050">
                <a:solidFill>
                  <a:srgbClr val="64748B"/>
                </a:solidFill>
                <a:latin typeface="PingFang SC"/>
                <a:ea typeface="PingFang SC"/>
              </a:rPr>
              <a:t>高级</a:t>
            </a:r>
            <a:endParaRPr/>
          </a:p>
        </p:txBody>
      </p:sp>
      <p:sp>
        <p:nvSpPr>
          <p:cNvPr id="378" name="" descr="{&quot;isTemplate&quot;:true,&quot;type&quot;:&quot;text&quot;}"/>
          <p:cNvSpPr txBox="1"/>
          <p:nvPr/>
        </p:nvSpPr>
        <p:spPr>
          <a:xfrm rot="0" flipH="0" flipV="0">
            <a:off x="11029950" y="6362700"/>
            <a:ext cx="4762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64748B"/>
                </a:solidFill>
                <a:latin typeface="PingFang SC"/>
                <a:ea typeface="PingFang SC"/>
              </a:rPr>
              <a:t>20 / 24</a:t>
            </a:r>
            <a:endParaRPr/>
          </a:p>
        </p:txBody>
      </p:sp>
    </p:spTree>
  </p:cSld>
</p:sld>
</file>

<file path=ppt/slides/slide21.xml><?xml version="1.0" encoding="utf-8"?>
<p:sld xmlns:asvg="http://schemas.microsoft.com/office/drawing/2016/SVG/main" xmlns:a="http://schemas.openxmlformats.org/drawingml/2006/main" xmlns:r="http://schemas.openxmlformats.org/officeDocument/2006/relationships" xmlns:p="http://schemas.openxmlformats.org/presentationml/2006/main" xmlns:mc="http://schemas.openxmlformats.org/markup-compatibility/2006" mc:Ignorable="asvg">
  <p:cSld>
    <p:spTree>
      <p:nvGrpSpPr>
        <p:cNvPr id="379" name="" descr="const tasks = [&#10;    { icon: 'map-marked-alt', t: '任务一 · 梯度自评', d: '用四维度模型给本厂定位，找到短板维度与晋级路径', n: '第 1 天上午' },&#10;    { icon: 'calculator', t: '任务二 · ROI 实算', d: '用五步模板算一个真实项目：基线、对照、价值、危害、回收期', n: '第 1 天下午' },&#10;    { icon: 'chess', t: '任务三 · 路线图沙盘', d: '三年路线图推演：资源、节奏、风险、止损点，高管评委组答辩', n: '第 2 天' },&#10;];&#10;&lt;Slide style={{ width: '1280px', height: '720px', background: '#F5F8FC', padding: '24px 72px', boxSizing: 'border-box', flexDirection: 'column', fontFamily: 'PingFang SC, Source Han Sans SC, sans-serif' }}&gt;&#10;    &lt;Box style={{ height: 96, flexDirection: 'row', alignItems: 'center', gap: 16 }}&gt;&#10;        &lt;Box style={{ width: 5, height: 46, background: '#06B6D4', borderRadius: 3 }} /&gt;&#10;        &lt;Box&gt;&#10;            &lt;Text style={{ fontSize: 34, fontWeight: 'bold', color: '#1E3A8A', lineHeight: 1.2 }}&gt;H7 战略沙盘：2 天 3 任务&lt;/Text&gt;&#10;            &lt;Text style={{ fontSize: 17, color: '#64748B', marginTop: 4 }}&gt;结业不是考试，是把「你厂里的路线图」做完&lt;/Text&gt;&#10;        &lt;/Box&gt;&#10;    &lt;/Box&gt;&#10;    &lt;Box style={{ flex: 1, flexDirection: 'row', gap: 20, marginTop: 14 }}&gt;&#10;        {tasks.map((t, i) =&gt; (&#10;            &lt;Box key={i} style={{ flex: 1, background: '#FFFFFF', borderRadius: 16, padding: '24px 22px', border: '1px solid #E2E8F0', boxShadow: '0 4px 16px rgba(30,58,138,0.06)', flexDirection: 'column' }}&gt;&#10;                &lt;Box style={{ flexDirection: 'row', justifyContent: 'space-between', alignItems: 'center', marginBottom: 14 }}&gt;&#10;                    &lt;Box style={{ width: 54, height: 54, borderRadius: 14, background: i === 2 ? '#FEEFE0' : '#E0F7FA', justifyContent: 'center', alignItems: 'center' }}&gt;&#10;                        &lt;FAIcon name={t.icon} style={{ fill: i === 2 ? '#F59E0B' : '#0891B2', width: 26, height: 26 }} /&gt;&#10;                    &lt;/Box&gt;&#10;                    &lt;Text style={{ fontSize: 13, fontWeight: 'bold', color: '#64748B' }}&gt;{t.n}&lt;/Text&gt;&#10;                &lt;/Box&gt;&#10;                &lt;Text style={{ fontSize: 20, fontWeight: 'bold', color: '#1E3A8A', marginBottom: 10 }}&gt;{t.t}&lt;/Text&gt;&#10;                &lt;Text style={{ fontSize: 15, color: '#43566b', lineHeight: 1.65, flex: 1 }}&gt;{t.d}&lt;/Text&gt;&#10;            &lt;/Box&gt;&#10;        ))}&#10;    &lt;/Box&gt;&#10;    &lt;Box style={{ flex: 1, flexDirection: 'row', gap: 24, marginTop: 18 }}&gt;&#10;        &lt;Box style={{ flex: 1, background: '#1E3A8A', borderRadius: 16, padding: '20px 26px', flexDirection: 'column', boxShadow: '0 8px 24px rgba(30,58,138,0.22)' }}&gt;&#10;            &lt;Text style={{ fontSize: 17, fontWeight: 'bold', color: '#FFFFFF', marginBottom: 10 }}&gt;标杆参照系&lt;/Text&gt;&#10;            &lt;Text style={{ fontSize: 15, color: '#DCE9FB', lineHeight: 1.8 }}&gt;陕汽「数字工匠」+ 青蓝蓄能站：技能认证与人才梯队并进&lt;br /&gt;WEF 灯塔工厂 220+：全球最佳实践的公开坐标系&lt;/Text&gt;&#10;        &lt;/Box&gt;&#10;        &lt;Box style={{ flex: 1, padding: '20px 26px', background: '#FEEFE0', borderRadius: 16, border: '1px solid #FDE7C8', flexDirection: 'column', justifyContent: 'center' }}&gt;&#10;            &lt;Text style={{ fontSize: 18, fontWeight: 'bold', color: '#B45309' }}&gt;沙盘产出物&lt;/Text&gt;&#10;            &lt;Text style={{ fontSize: 15, color: '#43566b', lineHeight: 1.8, marginTop: 8 }}&gt;① 工厂梯度自评报告（含短板与晋级路径）&lt;br /&gt;② 单项目 ROI 测算书（可直接进立项会）&lt;br /&gt;③ 三年 AI 路线图（PPT，结业答辩用）&lt;/Text&gt;&#10;        &lt;/Box&gt;&#10;    &lt;/Box&gt;&#10;    &lt;Box style={{ height: 40, flexDirection: 'row', justifyContent: 'space-between', alignItems: 'center', marginTop: 12 }}&gt;&#10;        &lt;Text style={{ fontSize: 14, color: '#64748B' }}&gt;AI 规划与治理 · 高级&lt;/Text&gt;&#10;        &lt;Text style={{ fontSize: 14, color: '#64748B' }}&gt;21 / 24&lt;/Text&gt;&#10;    &lt;/Box&gt;&#10;&lt;/Slide&gt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0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5F8FC"/>
          </a:solidFill>
          <a:ln/>
        </p:spPr>
        <p:txBody>
          <a:bodyPr/>
          <a:p/>
        </p:txBody>
      </p:sp>
      <p:sp>
        <p:nvSpPr>
          <p:cNvPr id="381" name=""/>
          <p:cNvSpPr/>
          <p:nvPr/>
        </p:nvSpPr>
        <p:spPr>
          <a:xfrm rot="0" flipH="0" flipV="0">
            <a:off x="685800" y="466725"/>
            <a:ext cx="47625" cy="438150"/>
          </a:xfrm>
          <a:prstGeom prst="roundRect">
            <a:avLst>
              <a:gd name="adj" fmla="val 60000"/>
            </a:avLst>
          </a:prstGeom>
          <a:solidFill>
            <a:srgbClr val="06B6D4"/>
          </a:solidFill>
          <a:ln/>
        </p:spPr>
        <p:txBody>
          <a:bodyPr/>
          <a:p/>
        </p:txBody>
      </p:sp>
      <p:sp>
        <p:nvSpPr>
          <p:cNvPr id="382" name="" descr="{&quot;isTemplate&quot;:true,&quot;type&quot;:&quot;text&quot;}"/>
          <p:cNvSpPr txBox="1"/>
          <p:nvPr/>
        </p:nvSpPr>
        <p:spPr>
          <a:xfrm rot="0" flipH="0" flipV="0">
            <a:off x="885825" y="333375"/>
            <a:ext cx="3829050" cy="466725"/>
          </a:xfrm>
          <a:prstGeom prst="rect"/>
        </p:spPr>
        <p:txBody>
          <a:bodyPr wrap="none" lIns="0" tIns="0" rIns="0" bIns="0"/>
          <a:p>
            <a:pPr>
              <a:lnSpc>
                <a:spcPct val="120000"/>
              </a:lnSpc>
            </a:pPr>
            <a:r>
              <a:rPr lang="en-US" sz="2550" b="1">
                <a:solidFill>
                  <a:srgbClr val="1E3A8A"/>
                </a:solidFill>
                <a:latin typeface="PingFang SC"/>
                <a:ea typeface="PingFang SC"/>
              </a:rPr>
              <a:t>H7 </a:t>
            </a:r>
            <a:r>
              <a:rPr lang="zh-CN" sz="2550" b="1">
                <a:solidFill>
                  <a:srgbClr val="1E3A8A"/>
                </a:solidFill>
                <a:latin typeface="PingFang SC"/>
                <a:ea typeface="PingFang SC"/>
              </a:rPr>
              <a:t>战略沙盘：</a:t>
            </a:r>
            <a:r>
              <a:rPr lang="en-US" sz="2550" b="1">
                <a:solidFill>
                  <a:srgbClr val="1E3A8A"/>
                </a:solidFill>
                <a:latin typeface="PingFang SC"/>
                <a:ea typeface="PingFang SC"/>
              </a:rPr>
              <a:t>2 </a:t>
            </a:r>
            <a:r>
              <a:rPr lang="zh-CN" sz="2550" b="1">
                <a:solidFill>
                  <a:srgbClr val="1E3A8A"/>
                </a:solidFill>
                <a:latin typeface="PingFang SC"/>
                <a:ea typeface="PingFang SC"/>
              </a:rPr>
              <a:t>天</a:t>
            </a:r>
            <a:r>
              <a:rPr lang="en-US" sz="2550" b="1">
                <a:solidFill>
                  <a:srgbClr val="1E3A8A"/>
                </a:solidFill>
                <a:latin typeface="PingFang SC"/>
                <a:ea typeface="PingFang SC"/>
              </a:rPr>
              <a:t> 3 </a:t>
            </a:r>
            <a:r>
              <a:rPr lang="zh-CN" sz="2550" b="1">
                <a:solidFill>
                  <a:srgbClr val="1E3A8A"/>
                </a:solidFill>
                <a:latin typeface="PingFang SC"/>
                <a:ea typeface="PingFang SC"/>
              </a:rPr>
              <a:t>任务</a:t>
            </a:r>
            <a:endParaRPr/>
          </a:p>
        </p:txBody>
      </p:sp>
      <p:sp>
        <p:nvSpPr>
          <p:cNvPr id="383" name="" descr="{&quot;isTemplate&quot;:true,&quot;type&quot;:&quot;text&quot;}"/>
          <p:cNvSpPr txBox="1"/>
          <p:nvPr/>
        </p:nvSpPr>
        <p:spPr>
          <a:xfrm rot="0" flipH="0" flipV="0">
            <a:off x="885825" y="838200"/>
            <a:ext cx="382905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>
                <a:solidFill>
                  <a:srgbClr val="64748B"/>
                </a:solidFill>
                <a:latin typeface="PingFang SC"/>
                <a:ea typeface="PingFang SC"/>
              </a:rPr>
              <a:t>结业不是考试，是把「你厂里的路线图」做完</a:t>
            </a:r>
            <a:endParaRPr/>
          </a:p>
        </p:txBody>
      </p:sp>
      <p:sp>
        <p:nvSpPr>
          <p:cNvPr id="384" name=""/>
          <p:cNvSpPr/>
          <p:nvPr/>
        </p:nvSpPr>
        <p:spPr>
          <a:xfrm rot="0" flipH="0" flipV="0">
            <a:off x="685800" y="1276350"/>
            <a:ext cx="3476625" cy="2543175"/>
          </a:xfrm>
          <a:prstGeom prst="roundRect">
            <a:avLst>
              <a:gd name="adj" fmla="val 599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52400" dist="38100" dir="5400000">
              <a:srgbClr val="1E3A8A">
                <a:alpha val="6000"/>
              </a:srgbClr>
            </a:outerShdw>
          </a:effectLst>
        </p:spPr>
        <p:txBody>
          <a:bodyPr/>
          <a:p/>
        </p:txBody>
      </p:sp>
      <p:sp>
        <p:nvSpPr>
          <p:cNvPr id="385" name=""/>
          <p:cNvSpPr/>
          <p:nvPr/>
        </p:nvSpPr>
        <p:spPr>
          <a:xfrm rot="0" flipH="0" flipV="0">
            <a:off x="895350" y="1504950"/>
            <a:ext cx="514350" cy="514350"/>
          </a:xfrm>
          <a:prstGeom prst="roundRect">
            <a:avLst>
              <a:gd name="adj" fmla="val 25926"/>
            </a:avLst>
          </a:prstGeom>
          <a:solidFill>
            <a:srgbClr val="E0F7FA"/>
          </a:solidFill>
          <a:ln/>
        </p:spPr>
        <p:txBody>
          <a:bodyPr/>
          <a:p/>
        </p:txBody>
      </p:sp>
      <p:pic>
        <p:nvPicPr>
          <p:cNvPr id="386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1"/>
              </a:ext>
            </a:extLst>
          </a:blip>
          <a:stretch>
            <a:fillRect/>
          </a:stretch>
        </p:blipFill>
        <p:spPr>
          <a:xfrm rot="0" flipH="0" flipV="0">
            <a:off x="1028700" y="1638300"/>
            <a:ext cx="247650" cy="247650"/>
          </a:xfrm>
          <a:prstGeom prst="rect">
            <a:avLst/>
          </a:prstGeom>
          <a:ln/>
        </p:spPr>
      </p:pic>
      <p:sp>
        <p:nvSpPr>
          <p:cNvPr id="387" name="" descr="{&quot;isTemplate&quot;:true,&quot;type&quot;:&quot;text&quot;}"/>
          <p:cNvSpPr txBox="1"/>
          <p:nvPr/>
        </p:nvSpPr>
        <p:spPr>
          <a:xfrm rot="0" flipH="0" flipV="0">
            <a:off x="3324225" y="1685925"/>
            <a:ext cx="62865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 b="1">
                <a:solidFill>
                  <a:srgbClr val="64748B"/>
                </a:solidFill>
                <a:latin typeface="PingFang SC"/>
                <a:ea typeface="PingFang SC"/>
              </a:rPr>
              <a:t>第</a:t>
            </a:r>
            <a:r>
              <a:rPr lang="en-US" sz="975" b="1">
                <a:solidFill>
                  <a:srgbClr val="64748B"/>
                </a:solidFill>
                <a:latin typeface="PingFang SC"/>
                <a:ea typeface="PingFang SC"/>
              </a:rPr>
              <a:t> 1 </a:t>
            </a:r>
            <a:r>
              <a:rPr lang="zh-CN" sz="975" b="1">
                <a:solidFill>
                  <a:srgbClr val="64748B"/>
                </a:solidFill>
                <a:latin typeface="PingFang SC"/>
                <a:ea typeface="PingFang SC"/>
              </a:rPr>
              <a:t>天上午</a:t>
            </a:r>
            <a:endParaRPr/>
          </a:p>
        </p:txBody>
      </p:sp>
      <p:sp>
        <p:nvSpPr>
          <p:cNvPr id="388" name="" descr="{&quot;isTemplate&quot;:true,&quot;type&quot;:&quot;text&quot;}"/>
          <p:cNvSpPr txBox="1"/>
          <p:nvPr/>
        </p:nvSpPr>
        <p:spPr>
          <a:xfrm rot="0" flipH="0" flipV="0">
            <a:off x="895350" y="2152650"/>
            <a:ext cx="3057525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 b="1">
                <a:solidFill>
                  <a:srgbClr val="1E3A8A"/>
                </a:solidFill>
                <a:latin typeface="PingFang SC"/>
                <a:ea typeface="PingFang SC"/>
              </a:rPr>
              <a:t>任务一</a:t>
            </a:r>
            <a:r>
              <a:rPr lang="en-US" sz="1500" b="1">
                <a:solidFill>
                  <a:srgbClr val="1E3A8A"/>
                </a:solidFill>
                <a:latin typeface="PingFang SC"/>
                <a:ea typeface="PingFang SC"/>
              </a:rPr>
              <a:t> · </a:t>
            </a:r>
            <a:r>
              <a:rPr lang="zh-CN" sz="1500" b="1">
                <a:solidFill>
                  <a:srgbClr val="1E3A8A"/>
                </a:solidFill>
                <a:latin typeface="PingFang SC"/>
                <a:ea typeface="PingFang SC"/>
              </a:rPr>
              <a:t>梯度自评</a:t>
            </a:r>
            <a:endParaRPr/>
          </a:p>
        </p:txBody>
      </p:sp>
      <p:sp>
        <p:nvSpPr>
          <p:cNvPr id="389" name="" descr="{&quot;isTemplate&quot;:true,&quot;type&quot;:&quot;text&quot;}"/>
          <p:cNvSpPr txBox="1"/>
          <p:nvPr/>
        </p:nvSpPr>
        <p:spPr>
          <a:xfrm rot="0" flipH="0" flipV="0">
            <a:off x="895350" y="2476500"/>
            <a:ext cx="3057525" cy="111442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65000"/>
              </a:lnSpc>
            </a:pPr>
            <a:r>
              <a:rPr lang="zh-CN" sz="1125">
                <a:solidFill>
                  <a:srgbClr val="43566B"/>
                </a:solidFill>
                <a:latin typeface="PingFang SC"/>
                <a:ea typeface="PingFang SC"/>
              </a:rPr>
              <a:t>用四维度模型给本厂定位，找到短板维度与晋级路径</a:t>
            </a:r>
            <a:endParaRPr/>
          </a:p>
        </p:txBody>
      </p:sp>
      <p:sp>
        <p:nvSpPr>
          <p:cNvPr id="390" name=""/>
          <p:cNvSpPr/>
          <p:nvPr/>
        </p:nvSpPr>
        <p:spPr>
          <a:xfrm rot="0" flipH="0" flipV="0">
            <a:off x="4352925" y="1276350"/>
            <a:ext cx="3486150" cy="2543175"/>
          </a:xfrm>
          <a:prstGeom prst="roundRect">
            <a:avLst>
              <a:gd name="adj" fmla="val 599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52400" dist="38100" dir="5400000">
              <a:srgbClr val="1E3A8A">
                <a:alpha val="6000"/>
              </a:srgbClr>
            </a:outerShdw>
          </a:effectLst>
        </p:spPr>
        <p:txBody>
          <a:bodyPr/>
          <a:p/>
        </p:txBody>
      </p:sp>
      <p:sp>
        <p:nvSpPr>
          <p:cNvPr id="391" name=""/>
          <p:cNvSpPr/>
          <p:nvPr/>
        </p:nvSpPr>
        <p:spPr>
          <a:xfrm rot="0" flipH="0" flipV="0">
            <a:off x="4562475" y="1504950"/>
            <a:ext cx="514350" cy="514350"/>
          </a:xfrm>
          <a:prstGeom prst="roundRect">
            <a:avLst>
              <a:gd name="adj" fmla="val 25926"/>
            </a:avLst>
          </a:prstGeom>
          <a:solidFill>
            <a:srgbClr val="E0F7FA"/>
          </a:solidFill>
          <a:ln/>
        </p:spPr>
        <p:txBody>
          <a:bodyPr/>
          <a:p/>
        </p:txBody>
      </p:sp>
      <p:pic>
        <p:nvPicPr>
          <p:cNvPr id="392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2"/>
              </a:ext>
            </a:extLst>
          </a:blip>
          <a:stretch>
            <a:fillRect/>
          </a:stretch>
        </p:blipFill>
        <p:spPr>
          <a:xfrm rot="0" flipH="0" flipV="0">
            <a:off x="4695825" y="1638300"/>
            <a:ext cx="247650" cy="247650"/>
          </a:xfrm>
          <a:prstGeom prst="rect">
            <a:avLst/>
          </a:prstGeom>
          <a:ln/>
        </p:spPr>
      </p:pic>
      <p:sp>
        <p:nvSpPr>
          <p:cNvPr id="393" name="" descr="{&quot;isTemplate&quot;:true,&quot;type&quot;:&quot;text&quot;}"/>
          <p:cNvSpPr txBox="1"/>
          <p:nvPr/>
        </p:nvSpPr>
        <p:spPr>
          <a:xfrm rot="0" flipH="0" flipV="0">
            <a:off x="7000875" y="1685925"/>
            <a:ext cx="62865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 b="1">
                <a:solidFill>
                  <a:srgbClr val="64748B"/>
                </a:solidFill>
                <a:latin typeface="PingFang SC"/>
                <a:ea typeface="PingFang SC"/>
              </a:rPr>
              <a:t>第</a:t>
            </a:r>
            <a:r>
              <a:rPr lang="en-US" sz="975" b="1">
                <a:solidFill>
                  <a:srgbClr val="64748B"/>
                </a:solidFill>
                <a:latin typeface="PingFang SC"/>
                <a:ea typeface="PingFang SC"/>
              </a:rPr>
              <a:t> 1 </a:t>
            </a:r>
            <a:r>
              <a:rPr lang="zh-CN" sz="975" b="1">
                <a:solidFill>
                  <a:srgbClr val="64748B"/>
                </a:solidFill>
                <a:latin typeface="PingFang SC"/>
                <a:ea typeface="PingFang SC"/>
              </a:rPr>
              <a:t>天下午</a:t>
            </a:r>
            <a:endParaRPr/>
          </a:p>
        </p:txBody>
      </p:sp>
      <p:sp>
        <p:nvSpPr>
          <p:cNvPr id="394" name="" descr="{&quot;isTemplate&quot;:true,&quot;type&quot;:&quot;text&quot;}"/>
          <p:cNvSpPr txBox="1"/>
          <p:nvPr/>
        </p:nvSpPr>
        <p:spPr>
          <a:xfrm rot="0" flipH="0" flipV="0">
            <a:off x="4562475" y="2152650"/>
            <a:ext cx="306705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 b="1">
                <a:solidFill>
                  <a:srgbClr val="1E3A8A"/>
                </a:solidFill>
                <a:latin typeface="PingFang SC"/>
                <a:ea typeface="PingFang SC"/>
              </a:rPr>
              <a:t>任务二</a:t>
            </a:r>
            <a:r>
              <a:rPr lang="en-US" sz="1500" b="1">
                <a:solidFill>
                  <a:srgbClr val="1E3A8A"/>
                </a:solidFill>
                <a:latin typeface="PingFang SC"/>
                <a:ea typeface="PingFang SC"/>
              </a:rPr>
              <a:t> · ROI </a:t>
            </a:r>
            <a:r>
              <a:rPr lang="zh-CN" sz="1500" b="1">
                <a:solidFill>
                  <a:srgbClr val="1E3A8A"/>
                </a:solidFill>
                <a:latin typeface="PingFang SC"/>
                <a:ea typeface="PingFang SC"/>
              </a:rPr>
              <a:t>实算</a:t>
            </a:r>
            <a:endParaRPr/>
          </a:p>
        </p:txBody>
      </p:sp>
      <p:sp>
        <p:nvSpPr>
          <p:cNvPr id="395" name="" descr="{&quot;isTemplate&quot;:true,&quot;type&quot;:&quot;text&quot;}"/>
          <p:cNvSpPr txBox="1"/>
          <p:nvPr/>
        </p:nvSpPr>
        <p:spPr>
          <a:xfrm rot="0" flipH="0" flipV="0">
            <a:off x="4562475" y="2476500"/>
            <a:ext cx="3067050" cy="111442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65000"/>
              </a:lnSpc>
            </a:pPr>
            <a:r>
              <a:rPr lang="zh-CN" sz="1125">
                <a:solidFill>
                  <a:srgbClr val="43566B"/>
                </a:solidFill>
                <a:latin typeface="PingFang SC"/>
                <a:ea typeface="PingFang SC"/>
              </a:rPr>
              <a:t>用五步模板算一个真实项目：基线、对照、价值、危害、回收期</a:t>
            </a:r>
            <a:endParaRPr/>
          </a:p>
        </p:txBody>
      </p:sp>
      <p:sp>
        <p:nvSpPr>
          <p:cNvPr id="396" name=""/>
          <p:cNvSpPr/>
          <p:nvPr/>
        </p:nvSpPr>
        <p:spPr>
          <a:xfrm rot="0" flipH="0" flipV="0">
            <a:off x="8029575" y="1276350"/>
            <a:ext cx="3476625" cy="2543175"/>
          </a:xfrm>
          <a:prstGeom prst="roundRect">
            <a:avLst>
              <a:gd name="adj" fmla="val 599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52400" dist="38100" dir="5400000">
              <a:srgbClr val="1E3A8A">
                <a:alpha val="6000"/>
              </a:srgbClr>
            </a:outerShdw>
          </a:effectLst>
        </p:spPr>
        <p:txBody>
          <a:bodyPr/>
          <a:p/>
        </p:txBody>
      </p:sp>
      <p:sp>
        <p:nvSpPr>
          <p:cNvPr id="397" name=""/>
          <p:cNvSpPr/>
          <p:nvPr/>
        </p:nvSpPr>
        <p:spPr>
          <a:xfrm rot="0" flipH="0" flipV="0">
            <a:off x="8239125" y="1504950"/>
            <a:ext cx="514350" cy="514350"/>
          </a:xfrm>
          <a:prstGeom prst="roundRect">
            <a:avLst>
              <a:gd name="adj" fmla="val 25926"/>
            </a:avLst>
          </a:prstGeom>
          <a:solidFill>
            <a:srgbClr val="FEEFE0"/>
          </a:solidFill>
          <a:ln/>
        </p:spPr>
        <p:txBody>
          <a:bodyPr/>
          <a:p/>
        </p:txBody>
      </p:sp>
      <p:pic>
        <p:nvPicPr>
          <p:cNvPr id="398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3"/>
              </a:ext>
            </a:extLst>
          </a:blip>
          <a:stretch>
            <a:fillRect/>
          </a:stretch>
        </p:blipFill>
        <p:spPr>
          <a:xfrm rot="0" flipH="0" flipV="0">
            <a:off x="8372475" y="1638300"/>
            <a:ext cx="247650" cy="247650"/>
          </a:xfrm>
          <a:prstGeom prst="rect">
            <a:avLst/>
          </a:prstGeom>
          <a:ln/>
        </p:spPr>
      </p:pic>
      <p:sp>
        <p:nvSpPr>
          <p:cNvPr id="399" name="" descr="{&quot;isTemplate&quot;:true,&quot;type&quot;:&quot;text&quot;}"/>
          <p:cNvSpPr txBox="1"/>
          <p:nvPr/>
        </p:nvSpPr>
        <p:spPr>
          <a:xfrm rot="0" flipH="0" flipV="0">
            <a:off x="10887075" y="1685925"/>
            <a:ext cx="409575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 b="1">
                <a:solidFill>
                  <a:srgbClr val="64748B"/>
                </a:solidFill>
                <a:latin typeface="PingFang SC"/>
                <a:ea typeface="PingFang SC"/>
              </a:rPr>
              <a:t>第</a:t>
            </a:r>
            <a:r>
              <a:rPr lang="en-US" sz="975" b="1">
                <a:solidFill>
                  <a:srgbClr val="64748B"/>
                </a:solidFill>
                <a:latin typeface="PingFang SC"/>
                <a:ea typeface="PingFang SC"/>
              </a:rPr>
              <a:t> 2 </a:t>
            </a:r>
            <a:r>
              <a:rPr lang="zh-CN" sz="975" b="1">
                <a:solidFill>
                  <a:srgbClr val="64748B"/>
                </a:solidFill>
                <a:latin typeface="PingFang SC"/>
                <a:ea typeface="PingFang SC"/>
              </a:rPr>
              <a:t>天</a:t>
            </a:r>
            <a:endParaRPr/>
          </a:p>
        </p:txBody>
      </p:sp>
      <p:sp>
        <p:nvSpPr>
          <p:cNvPr id="400" name="" descr="{&quot;isTemplate&quot;:true,&quot;type&quot;:&quot;text&quot;}"/>
          <p:cNvSpPr txBox="1"/>
          <p:nvPr/>
        </p:nvSpPr>
        <p:spPr>
          <a:xfrm rot="0" flipH="0" flipV="0">
            <a:off x="8239125" y="2152650"/>
            <a:ext cx="3057525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 b="1">
                <a:solidFill>
                  <a:srgbClr val="1E3A8A"/>
                </a:solidFill>
                <a:latin typeface="PingFang SC"/>
                <a:ea typeface="PingFang SC"/>
              </a:rPr>
              <a:t>任务三</a:t>
            </a:r>
            <a:r>
              <a:rPr lang="en-US" sz="1500" b="1">
                <a:solidFill>
                  <a:srgbClr val="1E3A8A"/>
                </a:solidFill>
                <a:latin typeface="PingFang SC"/>
                <a:ea typeface="PingFang SC"/>
              </a:rPr>
              <a:t> · </a:t>
            </a:r>
            <a:r>
              <a:rPr lang="zh-CN" sz="1500" b="1">
                <a:solidFill>
                  <a:srgbClr val="1E3A8A"/>
                </a:solidFill>
                <a:latin typeface="PingFang SC"/>
                <a:ea typeface="PingFang SC"/>
              </a:rPr>
              <a:t>路线图沙盘</a:t>
            </a:r>
            <a:endParaRPr/>
          </a:p>
        </p:txBody>
      </p:sp>
      <p:sp>
        <p:nvSpPr>
          <p:cNvPr id="401" name="" descr="{&quot;isTemplate&quot;:true,&quot;type&quot;:&quot;text&quot;}"/>
          <p:cNvSpPr txBox="1"/>
          <p:nvPr/>
        </p:nvSpPr>
        <p:spPr>
          <a:xfrm rot="0" flipH="0" flipV="0">
            <a:off x="8239125" y="2476500"/>
            <a:ext cx="3057525" cy="111442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65000"/>
              </a:lnSpc>
            </a:pPr>
            <a:r>
              <a:rPr lang="zh-CN" sz="1125">
                <a:solidFill>
                  <a:srgbClr val="43566B"/>
                </a:solidFill>
                <a:latin typeface="PingFang SC"/>
                <a:ea typeface="PingFang SC"/>
              </a:rPr>
              <a:t>三年路线图推演：资源、节奏、风险、止损点，高管评委组答辩</a:t>
            </a:r>
            <a:endParaRPr/>
          </a:p>
        </p:txBody>
      </p:sp>
      <p:sp>
        <p:nvSpPr>
          <p:cNvPr id="402" name=""/>
          <p:cNvSpPr/>
          <p:nvPr/>
        </p:nvSpPr>
        <p:spPr>
          <a:xfrm rot="0" flipH="0" flipV="0">
            <a:off x="685800" y="3990975"/>
            <a:ext cx="5295900" cy="2143125"/>
          </a:xfrm>
          <a:prstGeom prst="roundRect">
            <a:avLst>
              <a:gd name="adj" fmla="val 7111"/>
            </a:avLst>
          </a:prstGeom>
          <a:solidFill>
            <a:srgbClr val="1E3A8A"/>
          </a:solidFill>
          <a:ln/>
          <a:effectLst>
            <a:outerShdw blurRad="228600" dist="76200" dir="5400000">
              <a:srgbClr val="1E3A8A">
                <a:alpha val="22000"/>
              </a:srgbClr>
            </a:outerShdw>
          </a:effectLst>
        </p:spPr>
        <p:txBody>
          <a:bodyPr/>
          <a:p/>
        </p:txBody>
      </p:sp>
      <p:sp>
        <p:nvSpPr>
          <p:cNvPr id="403" name="" descr="{&quot;isTemplate&quot;:true,&quot;type&quot;:&quot;text&quot;}"/>
          <p:cNvSpPr txBox="1"/>
          <p:nvPr/>
        </p:nvSpPr>
        <p:spPr>
          <a:xfrm rot="0" flipH="0" flipV="0">
            <a:off x="933450" y="4181475"/>
            <a:ext cx="480060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 b="1">
                <a:solidFill>
                  <a:srgbClr val="FFFFFF"/>
                </a:solidFill>
                <a:latin typeface="PingFang SC"/>
                <a:ea typeface="PingFang SC"/>
              </a:rPr>
              <a:t>标杆参照系</a:t>
            </a:r>
            <a:endParaRPr/>
          </a:p>
        </p:txBody>
      </p:sp>
      <p:sp>
        <p:nvSpPr>
          <p:cNvPr id="404" name="" descr="{&quot;isTemplate&quot;:true,&quot;type&quot;:&quot;text&quot;}"/>
          <p:cNvSpPr txBox="1"/>
          <p:nvPr/>
        </p:nvSpPr>
        <p:spPr>
          <a:xfrm rot="0" flipH="0" flipV="0">
            <a:off x="933450" y="4476750"/>
            <a:ext cx="4800600" cy="619125"/>
          </a:xfrm>
          <a:prstGeom prst="rect"/>
        </p:spPr>
        <p:txBody>
          <a:bodyPr wrap="none" lIns="0" tIns="0" rIns="0" bIns="0"/>
          <a:p>
            <a:pPr>
              <a:lnSpc>
                <a:spcPct val="180000"/>
              </a:lnSpc>
            </a:pPr>
            <a:r>
              <a:rPr lang="zh-CN" sz="1125">
                <a:solidFill>
                  <a:srgbClr val="DCE9FB"/>
                </a:solidFill>
                <a:latin typeface="PingFang SC"/>
                <a:ea typeface="PingFang SC"/>
              </a:rPr>
              <a:t>跨行业标杆：技能认证与人才梯队并进</a:t>
            </a:r>
            <a:r>
              <a:rPr lang="en-US" sz="1125">
                <a:solidFill>
                  <a:srgbClr val="DCE9FB"/>
                </a:solidFill>
                <a:latin typeface="PingFang SC"/>
                <a:ea typeface="PingFang SC"/>
              </a:rPr>
              <a:t/>
            </a:r>
            <a:r>
              <a:rPr lang="zh-CN" sz="1125">
                <a:solidFill>
                  <a:srgbClr val="DCE9FB"/>
                </a:solidFill>
                <a:latin typeface="PingFang SC"/>
                <a:ea typeface="PingFang SC"/>
              </a:rPr>
              <a:t/>
            </a:r>
            <a:endParaRPr/>
          </a:p>
          <a:p>
            <a:pPr>
              <a:lnSpc>
                <a:spcPct val="180000"/>
              </a:lnSpc>
            </a:pPr>
            <a:r>
              <a:rPr lang="en-US" sz="1125">
                <a:solidFill>
                  <a:srgbClr val="DCE9FB"/>
                </a:solidFill>
                <a:latin typeface="PingFang SC"/>
                <a:ea typeface="PingFang SC"/>
              </a:rPr>
              <a:t>WEF </a:t>
            </a:r>
            <a:r>
              <a:rPr lang="zh-CN" sz="1125">
                <a:solidFill>
                  <a:srgbClr val="DCE9FB"/>
                </a:solidFill>
                <a:latin typeface="PingFang SC"/>
                <a:ea typeface="PingFang SC"/>
              </a:rPr>
              <a:t>灯塔企业</a:t>
            </a:r>
            <a:r>
              <a:rPr lang="en-US" sz="1125">
                <a:solidFill>
                  <a:srgbClr val="DCE9FB"/>
                </a:solidFill>
                <a:latin typeface="PingFang SC"/>
                <a:ea typeface="PingFang SC"/>
              </a:rPr>
              <a:t> 220+</a:t>
            </a:r>
            <a:r>
              <a:rPr lang="zh-CN" sz="1125">
                <a:solidFill>
                  <a:srgbClr val="DCE9FB"/>
                </a:solidFill>
                <a:latin typeface="PingFang SC"/>
                <a:ea typeface="PingFang SC"/>
              </a:rPr>
              <a:t>：全球最佳实践的公开坐标系</a:t>
            </a:r>
            <a:endParaRPr/>
          </a:p>
        </p:txBody>
      </p:sp>
      <p:sp>
        <p:nvSpPr>
          <p:cNvPr id="405" name=""/>
          <p:cNvSpPr/>
          <p:nvPr/>
        </p:nvSpPr>
        <p:spPr>
          <a:xfrm rot="0" flipH="0" flipV="0">
            <a:off x="6210300" y="3990975"/>
            <a:ext cx="5295900" cy="2143125"/>
          </a:xfrm>
          <a:prstGeom prst="roundRect">
            <a:avLst>
              <a:gd name="adj" fmla="val 7111"/>
            </a:avLst>
          </a:prstGeom>
          <a:solidFill>
            <a:srgbClr val="FEEFE0"/>
          </a:solidFill>
          <a:ln w="12700">
            <a:solidFill>
              <a:srgbClr val="FDE7C8"/>
            </a:solidFill>
            <a:prstDash val="solid"/>
          </a:ln>
        </p:spPr>
        <p:txBody>
          <a:bodyPr/>
          <a:p/>
        </p:txBody>
      </p:sp>
      <p:sp>
        <p:nvSpPr>
          <p:cNvPr id="406" name="" descr="{&quot;isTemplate&quot;:true,&quot;type&quot;:&quot;text&quot;}"/>
          <p:cNvSpPr txBox="1"/>
          <p:nvPr/>
        </p:nvSpPr>
        <p:spPr>
          <a:xfrm rot="0" flipH="0" flipV="0">
            <a:off x="6457950" y="4457700"/>
            <a:ext cx="480060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 b="1">
                <a:solidFill>
                  <a:srgbClr val="B45309"/>
                </a:solidFill>
                <a:latin typeface="PingFang SC"/>
                <a:ea typeface="PingFang SC"/>
              </a:rPr>
              <a:t>沙盘产出物</a:t>
            </a:r>
            <a:endParaRPr/>
          </a:p>
        </p:txBody>
      </p:sp>
      <p:sp>
        <p:nvSpPr>
          <p:cNvPr id="407" name="" descr="{&quot;isTemplate&quot;:true,&quot;type&quot;:&quot;text&quot;}"/>
          <p:cNvSpPr txBox="1"/>
          <p:nvPr/>
        </p:nvSpPr>
        <p:spPr>
          <a:xfrm rot="0" flipH="0" flipV="0">
            <a:off x="6457950" y="4743450"/>
            <a:ext cx="4800600" cy="933450"/>
          </a:xfrm>
          <a:prstGeom prst="rect"/>
        </p:spPr>
        <p:txBody>
          <a:bodyPr wrap="none" lIns="0" tIns="0" rIns="0" bIns="0"/>
          <a:p>
            <a:pPr>
              <a:lnSpc>
                <a:spcPct val="180000"/>
              </a:lnSpc>
            </a:pPr>
            <a:r>
              <a:rPr lang="en-US" sz="1125">
                <a:solidFill>
                  <a:srgbClr val="43566B"/>
                </a:solidFill>
                <a:latin typeface="PingFang SC"/>
                <a:ea typeface="PingFang SC"/>
              </a:rPr>
              <a:t>① </a:t>
            </a:r>
            <a:r>
              <a:rPr lang="zh-CN" sz="1125">
                <a:solidFill>
                  <a:srgbClr val="43566B"/>
                </a:solidFill>
                <a:latin typeface="PingFang SC"/>
                <a:ea typeface="PingFang SC"/>
              </a:rPr>
              <a:t>企业梯度自评报告（含短板与晋级路径）</a:t>
            </a:r>
            <a:endParaRPr/>
          </a:p>
          <a:p>
            <a:pPr>
              <a:lnSpc>
                <a:spcPct val="180000"/>
              </a:lnSpc>
            </a:pPr>
            <a:r>
              <a:rPr lang="en-US" sz="1125">
                <a:solidFill>
                  <a:srgbClr val="43566B"/>
                </a:solidFill>
                <a:latin typeface="PingFang SC"/>
                <a:ea typeface="PingFang SC"/>
              </a:rPr>
              <a:t>② </a:t>
            </a:r>
            <a:r>
              <a:rPr lang="zh-CN" sz="1125">
                <a:solidFill>
                  <a:srgbClr val="43566B"/>
                </a:solidFill>
                <a:latin typeface="PingFang SC"/>
                <a:ea typeface="PingFang SC"/>
              </a:rPr>
              <a:t>单项目</a:t>
            </a:r>
            <a:r>
              <a:rPr lang="en-US" sz="1125">
                <a:solidFill>
                  <a:srgbClr val="43566B"/>
                </a:solidFill>
                <a:latin typeface="PingFang SC"/>
                <a:ea typeface="PingFang SC"/>
              </a:rPr>
              <a:t> ROI </a:t>
            </a:r>
            <a:r>
              <a:rPr lang="zh-CN" sz="1125">
                <a:solidFill>
                  <a:srgbClr val="43566B"/>
                </a:solidFill>
                <a:latin typeface="PingFang SC"/>
                <a:ea typeface="PingFang SC"/>
              </a:rPr>
              <a:t>测算书（可直接进立项会）</a:t>
            </a:r>
            <a:endParaRPr/>
          </a:p>
          <a:p>
            <a:pPr>
              <a:lnSpc>
                <a:spcPct val="180000"/>
              </a:lnSpc>
            </a:pPr>
            <a:r>
              <a:rPr lang="en-US" sz="1125">
                <a:solidFill>
                  <a:srgbClr val="43566B"/>
                </a:solidFill>
                <a:latin typeface="PingFang SC"/>
                <a:ea typeface="PingFang SC"/>
              </a:rPr>
              <a:t>③ </a:t>
            </a:r>
            <a:r>
              <a:rPr lang="zh-CN" sz="1125">
                <a:solidFill>
                  <a:srgbClr val="43566B"/>
                </a:solidFill>
                <a:latin typeface="PingFang SC"/>
                <a:ea typeface="PingFang SC"/>
              </a:rPr>
              <a:t>三年</a:t>
            </a:r>
            <a:r>
              <a:rPr lang="en-US" sz="1125">
                <a:solidFill>
                  <a:srgbClr val="43566B"/>
                </a:solidFill>
                <a:latin typeface="PingFang SC"/>
                <a:ea typeface="PingFang SC"/>
              </a:rPr>
              <a:t> AI </a:t>
            </a:r>
            <a:r>
              <a:rPr lang="zh-CN" sz="1125">
                <a:solidFill>
                  <a:srgbClr val="43566B"/>
                </a:solidFill>
                <a:latin typeface="PingFang SC"/>
                <a:ea typeface="PingFang SC"/>
              </a:rPr>
              <a:t>路线图（</a:t>
            </a:r>
            <a:r>
              <a:rPr lang="en-US" sz="1125">
                <a:solidFill>
                  <a:srgbClr val="43566B"/>
                </a:solidFill>
                <a:latin typeface="PingFang SC"/>
                <a:ea typeface="PingFang SC"/>
              </a:rPr>
              <a:t>PPT</a:t>
            </a:r>
            <a:r>
              <a:rPr lang="zh-CN" sz="1125">
                <a:solidFill>
                  <a:srgbClr val="43566B"/>
                </a:solidFill>
                <a:latin typeface="PingFang SC"/>
                <a:ea typeface="PingFang SC"/>
              </a:rPr>
              <a:t>，结业答辩用）</a:t>
            </a:r>
            <a:endParaRPr/>
          </a:p>
        </p:txBody>
      </p:sp>
      <p:sp>
        <p:nvSpPr>
          <p:cNvPr id="408" name="" descr="{&quot;isTemplate&quot;:true,&quot;type&quot;:&quot;text&quot;}"/>
          <p:cNvSpPr txBox="1"/>
          <p:nvPr/>
        </p:nvSpPr>
        <p:spPr>
          <a:xfrm rot="0" flipH="0" flipV="0">
            <a:off x="685800" y="6362700"/>
            <a:ext cx="12573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64748B"/>
                </a:solidFill>
                <a:latin typeface="PingFang SC"/>
                <a:ea typeface="PingFang SC"/>
              </a:rPr>
              <a:t>AI </a:t>
            </a:r>
            <a:r>
              <a:rPr lang="zh-CN" sz="1050">
                <a:solidFill>
                  <a:srgbClr val="64748B"/>
                </a:solidFill>
                <a:latin typeface="PingFang SC"/>
                <a:ea typeface="PingFang SC"/>
              </a:rPr>
              <a:t>规划与治理</a:t>
            </a:r>
            <a:r>
              <a:rPr lang="en-US" sz="1050">
                <a:solidFill>
                  <a:srgbClr val="64748B"/>
                </a:solidFill>
                <a:latin typeface="PingFang SC"/>
                <a:ea typeface="PingFang SC"/>
              </a:rPr>
              <a:t> · </a:t>
            </a:r>
            <a:r>
              <a:rPr lang="zh-CN" sz="1050">
                <a:solidFill>
                  <a:srgbClr val="64748B"/>
                </a:solidFill>
                <a:latin typeface="PingFang SC"/>
                <a:ea typeface="PingFang SC"/>
              </a:rPr>
              <a:t>高级</a:t>
            </a:r>
            <a:endParaRPr/>
          </a:p>
        </p:txBody>
      </p:sp>
      <p:sp>
        <p:nvSpPr>
          <p:cNvPr id="409" name="" descr="{&quot;isTemplate&quot;:true,&quot;type&quot;:&quot;text&quot;}"/>
          <p:cNvSpPr txBox="1"/>
          <p:nvPr/>
        </p:nvSpPr>
        <p:spPr>
          <a:xfrm rot="0" flipH="0" flipV="0">
            <a:off x="11049000" y="6362700"/>
            <a:ext cx="4572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64748B"/>
                </a:solidFill>
                <a:latin typeface="PingFang SC"/>
                <a:ea typeface="PingFang SC"/>
              </a:rPr>
              <a:t>21 / 24</a:t>
            </a:r>
            <a:endParaRPr/>
          </a:p>
        </p:txBody>
      </p:sp>
    </p:spTree>
  </p:cSld>
</p:sld>
</file>

<file path=ppt/slides/slide22.xml><?xml version="1.0" encoding="utf-8"?>
<p:sld xmlns:a="http://schemas.openxmlformats.org/drawingml/2006/main" xmlns:p="http://schemas.openxmlformats.org/presentationml/2006/main">
  <p:cSld>
    <p:spTree>
      <p:nvGrpSpPr>
        <p:cNvPr id="410" name="" descr="const spiral = [&#10;    { t: '初级 · 通识', d: '回答「为什么学」：AI 是什么、我能用、怎么用', c: '#06B6D4' },&#10;    { t: '中级 · 落地', d: '回答「怎么拿资源」：找场景、做试点、写申报书', c: '#1E3A8A' },&#10;    { t: '高级 · 规划', d: '回答「未来怎么变、怎么合规」：梯度、架构、组织、治理', c: '#F59E0B' },&#10;];&#10;&lt;Slide style={{ width: '1280px', height: '720px', background: '#F5F8FC', padding: '24px 72px', boxSizing: 'border-box', flexDirection: 'column', fontFamily: 'PingFang SC, Source Han Sans SC, sans-serif' }}&gt;&#10;    &lt;Box style={{ height: 96, flexDirection: 'row', alignItems: 'center', gap: 16 }}&gt;&#10;        &lt;Box style={{ width: 5, height: 46, background: '#06B6D4', borderRadius: 3 }} /&gt;&#10;        &lt;Box&gt;&#10;            &lt;Text style={{ fontSize: 34, fontWeight: 'bold', color: '#1E3A8A', lineHeight: 1.2 }}&gt;政策螺旋：三级课程怎么咬合&lt;/Text&gt;&#10;            &lt;Text style={{ fontSize: 17, color: '#64748B', marginTop: 4 }}&gt;279 号文 →「十五五」规划 → 算法备案 / 数据出境：政策每转一圈，能力要求升一级&lt;/Text&gt;&#10;        &lt;/Box&gt;&#10;    &lt;/Box&gt;&#10;    &lt;Box style={{ flex: 1, flexDirection: 'row', gap: 24, marginTop: 14 }}&gt;&#10;        &lt;Box style={{ flex: 55, flexDirection: 'column', gap: 14 }}&gt;&#10;            {spiral.map((s, i) =&gt; (&#10;                &lt;Box key={i} style={{ flex: 1, background: i === 2 ? '#1E3A8A' : '#FFFFFF', borderRadius: 16, border: '1px solid ' + (i === 2 ? '#1E3A8A' : '#E2E8F0'), flexDirection: 'row', alignItems: 'center', gap: 20, padding: '0 26px', boxShadow: i === 2 ? '0 8px 24px rgba(30,58,138,0.25)' : '0 3px 12px rgba(30,58,138,0.05)' }}&gt;&#10;                    &lt;Box style={{ width: 8, alignSelf: 'stretch', background: s.c, borderTopLeftRadius: 16, borderBottomLeftRadius: 16 }} /&gt;&#10;                    &lt;Text style={{ fontSize: 21, fontWeight: 'bold', color: i === 2 ? '#FFFFFF' : '#1E3A8A', width: 150 }}&gt;{s.t}&lt;/Text&gt;&#10;                    &lt;Text style={{ flex: 1, fontSize: 16, color: i === 2 ? '#DCE9FB' : '#43566b' }}&gt;{s.d}&lt;/Text&gt;&#10;                    &lt;Text style={{ fontSize: 15, fontWeight: 'bold', color: i === 2 ? '#F8C471' : s.c, fontFamily: 'Space Grotesk, Inter' }}&gt;L{i === 0 ? '0-1' : i === 1 ? '2-3' : '4'}&lt;/Text&gt;&#10;                &lt;/Box&gt;&#10;            ))}&#10;        &lt;/Box&gt;&#10;        &lt;Box style={{ flex: 45, background: '#FFFFFF', borderRadius: 16, padding: '22px 26px', border: '1px solid #E2E8F0', flexDirection: 'column' }}&gt;&#10;            &lt;Text style={{ fontSize: 18, fontWeight: 'bold', color: '#1E3A8A', marginBottom: 12 }}&gt;面向高管的三条前瞻信号&lt;/Text&gt;&#10;            &lt;Text style={{ fontSize: 15, color: '#43566b', lineHeight: 1.9 }}&gt;&#10;                &lt;span style={{ fontWeight: 'bold', color: '#B45309' }}&gt;「十五五」规划&lt;/span&gt; —— 智能制造与 AI+制造仍是主线，标杆示范扩围&lt;br /&gt;&#10;                &lt;span style={{ fontWeight: 'bold', color: '#B45309' }}&gt;算法备案&lt;/span&gt; —— 对客生成式 AI 的准入门槛，路线图预留合规工期&lt;br /&gt;&#10;                &lt;span style={{ fontWeight: 'bold', color: '#B45309' }}&gt;数据出境&lt;/span&gt; —— 用境外云 / 大模型前先做安全评估，别等出事&lt;br /&gt;&lt;br /&gt;&#10;                &lt;span style={{ fontWeight: 'bold', color: '#0891B2' }}&gt;一句话：政策定的是下限，你要的是上限。&lt;/span&gt;&#10;            &lt;/Text&gt;&#10;        &lt;/Box&gt;&#10;    &lt;/Box&gt;&#10;    &lt;Box style={{ height: 40, flexDirection: 'row', justifyContent: 'space-between', alignItems: 'center', marginTop: 10 }}&gt;&#10;        &lt;Text style={{ fontSize: 14, color: '#64748B' }}&gt;AI 规划与治理 · 高级&lt;/Text&gt;&#10;        &lt;Text style={{ fontSize: 14, color: '#64748B' }}&gt;22 / 24&lt;/Text&gt;&#10;    &lt;/Box&gt;&#10;&lt;/Slide&gt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1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5F8FC"/>
          </a:solidFill>
          <a:ln/>
        </p:spPr>
        <p:txBody>
          <a:bodyPr/>
          <a:p/>
        </p:txBody>
      </p:sp>
      <p:sp>
        <p:nvSpPr>
          <p:cNvPr id="412" name=""/>
          <p:cNvSpPr/>
          <p:nvPr/>
        </p:nvSpPr>
        <p:spPr>
          <a:xfrm rot="0" flipH="0" flipV="0">
            <a:off x="685800" y="466725"/>
            <a:ext cx="47625" cy="438150"/>
          </a:xfrm>
          <a:prstGeom prst="roundRect">
            <a:avLst>
              <a:gd name="adj" fmla="val 60000"/>
            </a:avLst>
          </a:prstGeom>
          <a:solidFill>
            <a:srgbClr val="06B6D4"/>
          </a:solidFill>
          <a:ln/>
        </p:spPr>
        <p:txBody>
          <a:bodyPr/>
          <a:p/>
        </p:txBody>
      </p:sp>
      <p:sp>
        <p:nvSpPr>
          <p:cNvPr id="413" name="" descr="{&quot;isTemplate&quot;:true,&quot;type&quot;:&quot;text&quot;}"/>
          <p:cNvSpPr txBox="1"/>
          <p:nvPr/>
        </p:nvSpPr>
        <p:spPr>
          <a:xfrm rot="0" flipH="0" flipV="0">
            <a:off x="885825" y="333375"/>
            <a:ext cx="6200775" cy="466725"/>
          </a:xfrm>
          <a:prstGeom prst="rect"/>
        </p:spPr>
        <p:txBody>
          <a:bodyPr wrap="none" lIns="0" tIns="0" rIns="0" bIns="0"/>
          <a:p>
            <a:pPr>
              <a:lnSpc>
                <a:spcPct val="120000"/>
              </a:lnSpc>
            </a:pPr>
            <a:r>
              <a:rPr lang="zh-CN" sz="2550" b="1">
                <a:solidFill>
                  <a:srgbClr val="1E3A8A"/>
                </a:solidFill>
                <a:latin typeface="PingFang SC"/>
                <a:ea typeface="PingFang SC"/>
              </a:rPr>
              <a:t>政策螺旋：三级课程怎么咬合</a:t>
            </a:r>
            <a:endParaRPr/>
          </a:p>
        </p:txBody>
      </p:sp>
      <p:sp>
        <p:nvSpPr>
          <p:cNvPr id="414" name="" descr="{&quot;isTemplate&quot;:true,&quot;type&quot;:&quot;text&quot;}"/>
          <p:cNvSpPr txBox="1"/>
          <p:nvPr/>
        </p:nvSpPr>
        <p:spPr>
          <a:xfrm rot="0" flipH="0" flipV="0">
            <a:off x="885825" y="838200"/>
            <a:ext cx="6200775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75">
                <a:solidFill>
                  <a:srgbClr val="64748B"/>
                </a:solidFill>
                <a:latin typeface="PingFang SC"/>
                <a:ea typeface="PingFang SC"/>
              </a:rPr>
              <a:t>279 </a:t>
            </a:r>
            <a:r>
              <a:rPr lang="zh-CN" sz="1275">
                <a:solidFill>
                  <a:srgbClr val="64748B"/>
                </a:solidFill>
                <a:latin typeface="PingFang SC"/>
                <a:ea typeface="PingFang SC"/>
              </a:rPr>
              <a:t>号文</a:t>
            </a:r>
            <a:r>
              <a:rPr lang="en-US" sz="1275">
                <a:solidFill>
                  <a:srgbClr val="64748B"/>
                </a:solidFill>
                <a:latin typeface="PingFang SC"/>
                <a:ea typeface="PingFang SC"/>
              </a:rPr>
              <a:t> →</a:t>
            </a:r>
            <a:r>
              <a:rPr lang="zh-CN" sz="1275">
                <a:solidFill>
                  <a:srgbClr val="64748B"/>
                </a:solidFill>
                <a:latin typeface="PingFang SC"/>
                <a:ea typeface="PingFang SC"/>
              </a:rPr>
              <a:t>「十五五」规划</a:t>
            </a:r>
            <a:r>
              <a:rPr lang="en-US" sz="1275">
                <a:solidFill>
                  <a:srgbClr val="64748B"/>
                </a:solidFill>
                <a:latin typeface="PingFang SC"/>
                <a:ea typeface="PingFang SC"/>
              </a:rPr>
              <a:t> → </a:t>
            </a:r>
            <a:r>
              <a:rPr lang="zh-CN" sz="1275">
                <a:solidFill>
                  <a:srgbClr val="64748B"/>
                </a:solidFill>
                <a:latin typeface="PingFang SC"/>
                <a:ea typeface="PingFang SC"/>
              </a:rPr>
              <a:t>算法备案</a:t>
            </a:r>
            <a:r>
              <a:rPr lang="en-US" sz="1275">
                <a:solidFill>
                  <a:srgbClr val="64748B"/>
                </a:solidFill>
                <a:latin typeface="PingFang SC"/>
                <a:ea typeface="PingFang SC"/>
              </a:rPr>
              <a:t> / </a:t>
            </a:r>
            <a:r>
              <a:rPr lang="zh-CN" sz="1275">
                <a:solidFill>
                  <a:srgbClr val="64748B"/>
                </a:solidFill>
                <a:latin typeface="PingFang SC"/>
                <a:ea typeface="PingFang SC"/>
              </a:rPr>
              <a:t>数据出境：政策每转一圈，能力要求升一级</a:t>
            </a:r>
            <a:endParaRPr/>
          </a:p>
        </p:txBody>
      </p:sp>
      <p:sp>
        <p:nvSpPr>
          <p:cNvPr id="415" name=""/>
          <p:cNvSpPr/>
          <p:nvPr/>
        </p:nvSpPr>
        <p:spPr>
          <a:xfrm rot="0" flipH="0" flipV="0">
            <a:off x="685800" y="1276350"/>
            <a:ext cx="5829300" cy="1457325"/>
          </a:xfrm>
          <a:prstGeom prst="roundRect">
            <a:avLst>
              <a:gd name="adj" fmla="val 10458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14300" dist="28575" dir="5400000">
              <a:srgbClr val="1E3A8A">
                <a:alpha val="5000"/>
              </a:srgbClr>
            </a:outerShdw>
          </a:effectLst>
        </p:spPr>
        <p:txBody>
          <a:bodyPr/>
          <a:p/>
        </p:txBody>
      </p:sp>
      <p:sp>
        <p:nvSpPr>
          <p:cNvPr id="416" name=""/>
          <p:cNvSpPr/>
          <p:nvPr/>
        </p:nvSpPr>
        <p:spPr>
          <a:xfrm rot="0" flipH="0" flipV="0">
            <a:off x="933450" y="2009775"/>
            <a:ext cx="76200" cy="0"/>
          </a:xfrm>
          <a:custGeom>
            <a:pathLst>
              <a:path w="8" h="0">
                <a:moveTo>
                  <a:pt x="0" y="0"/>
                </a:moveTo>
                <a:lnTo>
                  <a:pt x="8" y="0"/>
                </a:lnTo>
                <a:lnTo>
                  <a:pt x="8" y="0"/>
                </a:lnTo>
                <a:lnTo>
                  <a:pt x="8" y="0"/>
                </a:lnTo>
                <a:lnTo>
                  <a:pt x="8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close/>
              </a:path>
            </a:pathLst>
          </a:custGeom>
          <a:solidFill>
            <a:srgbClr val="06B6D4"/>
          </a:solidFill>
          <a:ln/>
        </p:spPr>
        <p:txBody>
          <a:bodyPr/>
          <a:p/>
        </p:txBody>
      </p:sp>
      <p:sp>
        <p:nvSpPr>
          <p:cNvPr id="417" name="" descr="{&quot;isTemplate&quot;:true,&quot;type&quot;:&quot;text&quot;}"/>
          <p:cNvSpPr txBox="1"/>
          <p:nvPr/>
        </p:nvSpPr>
        <p:spPr>
          <a:xfrm rot="0" flipH="0" flipV="0">
            <a:off x="1200150" y="1885950"/>
            <a:ext cx="1428750" cy="2476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75" b="1">
                <a:solidFill>
                  <a:srgbClr val="1E3A8A"/>
                </a:solidFill>
                <a:latin typeface="PingFang SC"/>
                <a:ea typeface="PingFang SC"/>
              </a:rPr>
              <a:t>初级</a:t>
            </a:r>
            <a:r>
              <a:rPr lang="en-US" sz="1575" b="1">
                <a:solidFill>
                  <a:srgbClr val="1E3A8A"/>
                </a:solidFill>
                <a:latin typeface="PingFang SC"/>
                <a:ea typeface="PingFang SC"/>
              </a:rPr>
              <a:t> · </a:t>
            </a:r>
            <a:r>
              <a:rPr lang="zh-CN" sz="1575" b="1">
                <a:solidFill>
                  <a:srgbClr val="1E3A8A"/>
                </a:solidFill>
                <a:latin typeface="PingFang SC"/>
                <a:ea typeface="PingFang SC"/>
              </a:rPr>
              <a:t>通识</a:t>
            </a:r>
            <a:endParaRPr/>
          </a:p>
        </p:txBody>
      </p:sp>
      <p:sp>
        <p:nvSpPr>
          <p:cNvPr id="418" name="" descr="{&quot;isTemplate&quot;:true,&quot;type&quot;:&quot;text&quot;}"/>
          <p:cNvSpPr txBox="1"/>
          <p:nvPr/>
        </p:nvSpPr>
        <p:spPr>
          <a:xfrm rot="0" flipH="0" flipV="0">
            <a:off x="2819400" y="1914525"/>
            <a:ext cx="2962275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>
                <a:solidFill>
                  <a:srgbClr val="43566B"/>
                </a:solidFill>
                <a:latin typeface="PingFang SC"/>
                <a:ea typeface="PingFang SC"/>
              </a:rPr>
              <a:t>回答「为什么学」：</a:t>
            </a:r>
            <a:r>
              <a:rPr lang="en-US" sz="1200">
                <a:solidFill>
                  <a:srgbClr val="43566B"/>
                </a:solidFill>
                <a:latin typeface="PingFang SC"/>
                <a:ea typeface="PingFang SC"/>
              </a:rPr>
              <a:t>AI </a:t>
            </a:r>
            <a:r>
              <a:rPr lang="zh-CN" sz="1200">
                <a:solidFill>
                  <a:srgbClr val="43566B"/>
                </a:solidFill>
                <a:latin typeface="PingFang SC"/>
                <a:ea typeface="PingFang SC"/>
              </a:rPr>
              <a:t>是什么、我能用、怎么用</a:t>
            </a:r>
            <a:endParaRPr/>
          </a:p>
        </p:txBody>
      </p:sp>
      <p:sp>
        <p:nvSpPr>
          <p:cNvPr id="419" name="" descr="{&quot;isTemplate&quot;:true,&quot;type&quot;:&quot;text&quot;}"/>
          <p:cNvSpPr txBox="1"/>
          <p:nvPr/>
        </p:nvSpPr>
        <p:spPr>
          <a:xfrm rot="0" flipH="0" flipV="0">
            <a:off x="5972175" y="1924050"/>
            <a:ext cx="295275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 b="1">
                <a:solidFill>
                  <a:srgbClr val="06B6D4"/>
                </a:solidFill>
                <a:latin typeface="Space Grotesk"/>
                <a:ea typeface="Space Grotesk"/>
              </a:rPr>
              <a:t>L</a:t>
            </a:r>
            <a:r>
              <a:rPr lang="en-US" sz="1125" b="1">
                <a:solidFill>
                  <a:srgbClr val="06B6D4"/>
                </a:solidFill>
                <a:latin typeface="Space Grotesk"/>
                <a:ea typeface="Space Grotesk"/>
              </a:rPr>
              <a:t>0-1</a:t>
            </a:r>
            <a:endParaRPr/>
          </a:p>
        </p:txBody>
      </p:sp>
      <p:sp>
        <p:nvSpPr>
          <p:cNvPr id="420" name=""/>
          <p:cNvSpPr/>
          <p:nvPr/>
        </p:nvSpPr>
        <p:spPr>
          <a:xfrm rot="0" flipH="0" flipV="0">
            <a:off x="685800" y="2867025"/>
            <a:ext cx="5829300" cy="1571625"/>
          </a:xfrm>
          <a:prstGeom prst="roundRect">
            <a:avLst>
              <a:gd name="adj" fmla="val 9697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14300" dist="28575" dir="5400000">
              <a:srgbClr val="1E3A8A">
                <a:alpha val="5000"/>
              </a:srgbClr>
            </a:outerShdw>
          </a:effectLst>
        </p:spPr>
        <p:txBody>
          <a:bodyPr/>
          <a:p/>
        </p:txBody>
      </p:sp>
      <p:sp>
        <p:nvSpPr>
          <p:cNvPr id="421" name=""/>
          <p:cNvSpPr/>
          <p:nvPr/>
        </p:nvSpPr>
        <p:spPr>
          <a:xfrm rot="0" flipH="0" flipV="0">
            <a:off x="933450" y="3657600"/>
            <a:ext cx="76200" cy="0"/>
          </a:xfrm>
          <a:custGeom>
            <a:pathLst>
              <a:path w="8" h="0">
                <a:moveTo>
                  <a:pt x="0" y="0"/>
                </a:moveTo>
                <a:lnTo>
                  <a:pt x="8" y="0"/>
                </a:lnTo>
                <a:lnTo>
                  <a:pt x="8" y="0"/>
                </a:lnTo>
                <a:lnTo>
                  <a:pt x="8" y="0"/>
                </a:lnTo>
                <a:lnTo>
                  <a:pt x="8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close/>
              </a:path>
            </a:pathLst>
          </a:custGeom>
          <a:solidFill>
            <a:srgbClr val="1E3A8A"/>
          </a:solidFill>
          <a:ln/>
        </p:spPr>
        <p:txBody>
          <a:bodyPr/>
          <a:p/>
        </p:txBody>
      </p:sp>
      <p:sp>
        <p:nvSpPr>
          <p:cNvPr id="422" name="" descr="{&quot;isTemplate&quot;:true,&quot;type&quot;:&quot;text&quot;}"/>
          <p:cNvSpPr txBox="1"/>
          <p:nvPr/>
        </p:nvSpPr>
        <p:spPr>
          <a:xfrm rot="0" flipH="0" flipV="0">
            <a:off x="1200150" y="3533775"/>
            <a:ext cx="1428750" cy="2476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75" b="1">
                <a:solidFill>
                  <a:srgbClr val="1E3A8A"/>
                </a:solidFill>
                <a:latin typeface="PingFang SC"/>
                <a:ea typeface="PingFang SC"/>
              </a:rPr>
              <a:t>中级</a:t>
            </a:r>
            <a:r>
              <a:rPr lang="en-US" sz="1575" b="1">
                <a:solidFill>
                  <a:srgbClr val="1E3A8A"/>
                </a:solidFill>
                <a:latin typeface="PingFang SC"/>
                <a:ea typeface="PingFang SC"/>
              </a:rPr>
              <a:t> · </a:t>
            </a:r>
            <a:r>
              <a:rPr lang="zh-CN" sz="1575" b="1">
                <a:solidFill>
                  <a:srgbClr val="1E3A8A"/>
                </a:solidFill>
                <a:latin typeface="PingFang SC"/>
                <a:ea typeface="PingFang SC"/>
              </a:rPr>
              <a:t>落地</a:t>
            </a:r>
            <a:endParaRPr/>
          </a:p>
        </p:txBody>
      </p:sp>
      <p:sp>
        <p:nvSpPr>
          <p:cNvPr id="423" name="" descr="{&quot;isTemplate&quot;:true,&quot;type&quot;:&quot;text&quot;}"/>
          <p:cNvSpPr txBox="1"/>
          <p:nvPr/>
        </p:nvSpPr>
        <p:spPr>
          <a:xfrm rot="0" flipH="0" flipV="0">
            <a:off x="2819400" y="3467100"/>
            <a:ext cx="2962275" cy="37147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00000"/>
              </a:lnSpc>
            </a:pPr>
            <a:r>
              <a:rPr lang="zh-CN" sz="1200">
                <a:solidFill>
                  <a:srgbClr val="43566B"/>
                </a:solidFill>
                <a:latin typeface="PingFang SC"/>
                <a:ea typeface="PingFang SC"/>
              </a:rPr>
              <a:t>回答「怎么拿资源」：找场景、做试点、写申报书</a:t>
            </a:r>
            <a:endParaRPr/>
          </a:p>
        </p:txBody>
      </p:sp>
      <p:sp>
        <p:nvSpPr>
          <p:cNvPr id="424" name="" descr="{&quot;isTemplate&quot;:true,&quot;type&quot;:&quot;text&quot;}"/>
          <p:cNvSpPr txBox="1"/>
          <p:nvPr/>
        </p:nvSpPr>
        <p:spPr>
          <a:xfrm rot="0" flipH="0" flipV="0">
            <a:off x="5972175" y="3571875"/>
            <a:ext cx="295275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 b="1">
                <a:solidFill>
                  <a:srgbClr val="1E3A8A"/>
                </a:solidFill>
                <a:latin typeface="Space Grotesk"/>
                <a:ea typeface="Space Grotesk"/>
              </a:rPr>
              <a:t>L</a:t>
            </a:r>
            <a:r>
              <a:rPr lang="en-US" sz="1125" b="1">
                <a:solidFill>
                  <a:srgbClr val="1E3A8A"/>
                </a:solidFill>
                <a:latin typeface="Space Grotesk"/>
                <a:ea typeface="Space Grotesk"/>
              </a:rPr>
              <a:t>2-3</a:t>
            </a:r>
            <a:endParaRPr/>
          </a:p>
        </p:txBody>
      </p:sp>
      <p:sp>
        <p:nvSpPr>
          <p:cNvPr id="425" name=""/>
          <p:cNvSpPr/>
          <p:nvPr/>
        </p:nvSpPr>
        <p:spPr>
          <a:xfrm rot="0" flipH="0" flipV="0">
            <a:off x="685800" y="4572000"/>
            <a:ext cx="5829300" cy="1581150"/>
          </a:xfrm>
          <a:prstGeom prst="roundRect">
            <a:avLst>
              <a:gd name="adj" fmla="val 9639"/>
            </a:avLst>
          </a:prstGeom>
          <a:solidFill>
            <a:srgbClr val="1E3A8A"/>
          </a:solidFill>
          <a:ln w="12700">
            <a:solidFill>
              <a:srgbClr val="1E3A8A"/>
            </a:solidFill>
            <a:prstDash val="solid"/>
          </a:ln>
          <a:effectLst>
            <a:outerShdw blurRad="228600" dist="76200" dir="5400000">
              <a:srgbClr val="1E3A8A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426" name=""/>
          <p:cNvSpPr/>
          <p:nvPr/>
        </p:nvSpPr>
        <p:spPr>
          <a:xfrm rot="0" flipH="0" flipV="0">
            <a:off x="933450" y="5362575"/>
            <a:ext cx="76200" cy="0"/>
          </a:xfrm>
          <a:custGeom>
            <a:pathLst>
              <a:path w="8" h="0">
                <a:moveTo>
                  <a:pt x="0" y="0"/>
                </a:moveTo>
                <a:lnTo>
                  <a:pt x="8" y="0"/>
                </a:lnTo>
                <a:lnTo>
                  <a:pt x="8" y="0"/>
                </a:lnTo>
                <a:lnTo>
                  <a:pt x="8" y="0"/>
                </a:lnTo>
                <a:lnTo>
                  <a:pt x="8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close/>
              </a:path>
            </a:pathLst>
          </a:custGeom>
          <a:solidFill>
            <a:srgbClr val="F59E0B"/>
          </a:solidFill>
          <a:ln/>
        </p:spPr>
        <p:txBody>
          <a:bodyPr/>
          <a:p/>
        </p:txBody>
      </p:sp>
      <p:sp>
        <p:nvSpPr>
          <p:cNvPr id="427" name="" descr="{&quot;isTemplate&quot;:true,&quot;type&quot;:&quot;text&quot;}"/>
          <p:cNvSpPr txBox="1"/>
          <p:nvPr/>
        </p:nvSpPr>
        <p:spPr>
          <a:xfrm rot="0" flipH="0" flipV="0">
            <a:off x="1200150" y="5238750"/>
            <a:ext cx="1428750" cy="2476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75" b="1">
                <a:solidFill>
                  <a:srgbClr val="FFFFFF"/>
                </a:solidFill>
                <a:latin typeface="PingFang SC"/>
                <a:ea typeface="PingFang SC"/>
              </a:rPr>
              <a:t>高级</a:t>
            </a:r>
            <a:r>
              <a:rPr lang="en-US" sz="1575" b="1">
                <a:solidFill>
                  <a:srgbClr val="FFFFFF"/>
                </a:solidFill>
                <a:latin typeface="PingFang SC"/>
                <a:ea typeface="PingFang SC"/>
              </a:rPr>
              <a:t> · </a:t>
            </a:r>
            <a:r>
              <a:rPr lang="zh-CN" sz="1575" b="1">
                <a:solidFill>
                  <a:srgbClr val="FFFFFF"/>
                </a:solidFill>
                <a:latin typeface="PingFang SC"/>
                <a:ea typeface="PingFang SC"/>
              </a:rPr>
              <a:t>规划</a:t>
            </a:r>
            <a:endParaRPr/>
          </a:p>
        </p:txBody>
      </p:sp>
      <p:sp>
        <p:nvSpPr>
          <p:cNvPr id="428" name="" descr="{&quot;isTemplate&quot;:true,&quot;type&quot;:&quot;text&quot;}"/>
          <p:cNvSpPr txBox="1"/>
          <p:nvPr/>
        </p:nvSpPr>
        <p:spPr>
          <a:xfrm rot="0" flipH="0" flipV="0">
            <a:off x="2819400" y="5181600"/>
            <a:ext cx="3086100" cy="37147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00000"/>
              </a:lnSpc>
            </a:pPr>
            <a:r>
              <a:rPr lang="zh-CN" sz="1200">
                <a:solidFill>
                  <a:srgbClr val="DCE9FB"/>
                </a:solidFill>
                <a:latin typeface="PingFang SC"/>
                <a:ea typeface="PingFang SC"/>
              </a:rPr>
              <a:t>回答「未来怎么变、怎么合规」：梯度、架构、组织、治理</a:t>
            </a:r>
            <a:endParaRPr/>
          </a:p>
        </p:txBody>
      </p:sp>
      <p:sp>
        <p:nvSpPr>
          <p:cNvPr id="429" name="" descr="{&quot;isTemplate&quot;:true,&quot;type&quot;:&quot;text&quot;}"/>
          <p:cNvSpPr txBox="1"/>
          <p:nvPr/>
        </p:nvSpPr>
        <p:spPr>
          <a:xfrm rot="0" flipH="0" flipV="0">
            <a:off x="6096000" y="5276850"/>
            <a:ext cx="17145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 b="1">
                <a:solidFill>
                  <a:srgbClr val="F8C471"/>
                </a:solidFill>
                <a:latin typeface="Space Grotesk"/>
                <a:ea typeface="Space Grotesk"/>
              </a:rPr>
              <a:t>L</a:t>
            </a:r>
            <a:r>
              <a:rPr lang="en-US" sz="1125" b="1">
                <a:solidFill>
                  <a:srgbClr val="F8C471"/>
                </a:solidFill>
                <a:latin typeface="Space Grotesk"/>
                <a:ea typeface="Space Grotesk"/>
              </a:rPr>
              <a:t>4</a:t>
            </a:r>
            <a:endParaRPr/>
          </a:p>
        </p:txBody>
      </p:sp>
      <p:sp>
        <p:nvSpPr>
          <p:cNvPr id="430" name=""/>
          <p:cNvSpPr/>
          <p:nvPr/>
        </p:nvSpPr>
        <p:spPr>
          <a:xfrm rot="0" flipH="0" flipV="0">
            <a:off x="6743700" y="1276350"/>
            <a:ext cx="4762500" cy="4876800"/>
          </a:xfrm>
          <a:prstGeom prst="roundRect">
            <a:avLst>
              <a:gd name="adj" fmla="val 320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p/>
        </p:txBody>
      </p:sp>
      <p:sp>
        <p:nvSpPr>
          <p:cNvPr id="431" name="" descr="{&quot;isTemplate&quot;:true,&quot;type&quot;:&quot;text&quot;}"/>
          <p:cNvSpPr txBox="1"/>
          <p:nvPr/>
        </p:nvSpPr>
        <p:spPr>
          <a:xfrm rot="0" flipH="0" flipV="0">
            <a:off x="6991350" y="1485900"/>
            <a:ext cx="426720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 b="1">
                <a:solidFill>
                  <a:srgbClr val="1E3A8A"/>
                </a:solidFill>
                <a:latin typeface="PingFang SC"/>
                <a:ea typeface="PingFang SC"/>
              </a:rPr>
              <a:t>面向高管的三条前瞻信号</a:t>
            </a:r>
            <a:endParaRPr/>
          </a:p>
        </p:txBody>
      </p:sp>
      <p:sp>
        <p:nvSpPr>
          <p:cNvPr id="432" name="" descr="{&quot;isTemplate&quot;:true,&quot;type&quot;:&quot;text&quot;}"/>
          <p:cNvSpPr txBox="1"/>
          <p:nvPr/>
        </p:nvSpPr>
        <p:spPr>
          <a:xfrm rot="0" flipH="0" flipV="0">
            <a:off x="6991350" y="1809750"/>
            <a:ext cx="4267200" cy="1628775"/>
          </a:xfrm>
          <a:prstGeom prst="rect"/>
        </p:spPr>
        <p:txBody>
          <a:bodyPr wrap="none" lIns="0" tIns="0" rIns="0" bIns="0"/>
          <a:p>
            <a:pPr>
              <a:lnSpc>
                <a:spcPct val="190000"/>
              </a:lnSpc>
            </a:pPr>
            <a:r>
              <a:rPr lang="zh-CN" sz="1125" b="1">
                <a:solidFill>
                  <a:srgbClr val="B45309"/>
                </a:solidFill>
                <a:latin typeface="PingFang SC"/>
                <a:ea typeface="PingFang SC"/>
              </a:rPr>
              <a:t>「十五五」规划</a:t>
            </a:r>
            <a:r>
              <a:rPr lang="en-US" sz="1125">
                <a:solidFill>
                  <a:srgbClr val="43566B"/>
                </a:solidFill>
                <a:latin typeface="PingFang SC"/>
                <a:ea typeface="PingFang SC"/>
              </a:rPr>
              <a:t> —— </a:t>
            </a:r>
            <a:r>
              <a:rPr lang="zh-CN" sz="1125">
                <a:solidFill>
                  <a:srgbClr val="43566B"/>
                </a:solidFill>
                <a:latin typeface="PingFang SC"/>
                <a:ea typeface="PingFang SC"/>
              </a:rPr>
              <a:t>智能制造与</a:t>
            </a:r>
            <a:r>
              <a:rPr lang="en-US" sz="1125">
                <a:solidFill>
                  <a:srgbClr val="43566B"/>
                </a:solidFill>
                <a:latin typeface="PingFang SC"/>
                <a:ea typeface="PingFang SC"/>
              </a:rPr>
              <a:t> AI+</a:t>
            </a:r>
            <a:r>
              <a:rPr lang="zh-CN" sz="1125">
                <a:solidFill>
                  <a:srgbClr val="43566B"/>
                </a:solidFill>
                <a:latin typeface="PingFang SC"/>
                <a:ea typeface="PingFang SC"/>
              </a:rPr>
              <a:t>制造仍是主线，标杆示范扩围</a:t>
            </a:r>
            <a:endParaRPr/>
          </a:p>
          <a:p>
            <a:pPr>
              <a:lnSpc>
                <a:spcPct val="190000"/>
              </a:lnSpc>
            </a:pPr>
            <a:r>
              <a:rPr lang="zh-CN" sz="1125" b="1">
                <a:solidFill>
                  <a:srgbClr val="B45309"/>
                </a:solidFill>
                <a:latin typeface="PingFang SC"/>
                <a:ea typeface="PingFang SC"/>
              </a:rPr>
              <a:t>算法备案</a:t>
            </a:r>
            <a:r>
              <a:rPr lang="en-US" sz="1125">
                <a:solidFill>
                  <a:srgbClr val="43566B"/>
                </a:solidFill>
                <a:latin typeface="PingFang SC"/>
                <a:ea typeface="PingFang SC"/>
              </a:rPr>
              <a:t> —— </a:t>
            </a:r>
            <a:r>
              <a:rPr lang="zh-CN" sz="1125">
                <a:solidFill>
                  <a:srgbClr val="43566B"/>
                </a:solidFill>
                <a:latin typeface="PingFang SC"/>
                <a:ea typeface="PingFang SC"/>
              </a:rPr>
              <a:t>对客生成式</a:t>
            </a:r>
            <a:r>
              <a:rPr lang="en-US" sz="1125">
                <a:solidFill>
                  <a:srgbClr val="43566B"/>
                </a:solidFill>
                <a:latin typeface="PingFang SC"/>
                <a:ea typeface="PingFang SC"/>
              </a:rPr>
              <a:t> AI </a:t>
            </a:r>
            <a:r>
              <a:rPr lang="zh-CN" sz="1125">
                <a:solidFill>
                  <a:srgbClr val="43566B"/>
                </a:solidFill>
                <a:latin typeface="PingFang SC"/>
                <a:ea typeface="PingFang SC"/>
              </a:rPr>
              <a:t>的准入门槛，路线图预留合规工期</a:t>
            </a:r>
            <a:endParaRPr/>
          </a:p>
          <a:p>
            <a:pPr>
              <a:lnSpc>
                <a:spcPct val="190000"/>
              </a:lnSpc>
            </a:pPr>
            <a:r>
              <a:rPr lang="zh-CN" sz="1125" b="1">
                <a:solidFill>
                  <a:srgbClr val="B45309"/>
                </a:solidFill>
                <a:latin typeface="PingFang SC"/>
                <a:ea typeface="PingFang SC"/>
              </a:rPr>
              <a:t>数据出境</a:t>
            </a:r>
            <a:r>
              <a:rPr lang="en-US" sz="1125">
                <a:solidFill>
                  <a:srgbClr val="43566B"/>
                </a:solidFill>
                <a:latin typeface="PingFang SC"/>
                <a:ea typeface="PingFang SC"/>
              </a:rPr>
              <a:t> —— </a:t>
            </a:r>
            <a:r>
              <a:rPr lang="zh-CN" sz="1125">
                <a:solidFill>
                  <a:srgbClr val="43566B"/>
                </a:solidFill>
                <a:latin typeface="PingFang SC"/>
                <a:ea typeface="PingFang SC"/>
              </a:rPr>
              <a:t>用境外云</a:t>
            </a:r>
            <a:r>
              <a:rPr lang="en-US" sz="1125">
                <a:solidFill>
                  <a:srgbClr val="43566B"/>
                </a:solidFill>
                <a:latin typeface="PingFang SC"/>
                <a:ea typeface="PingFang SC"/>
              </a:rPr>
              <a:t> / </a:t>
            </a:r>
            <a:r>
              <a:rPr lang="zh-CN" sz="1125">
                <a:solidFill>
                  <a:srgbClr val="43566B"/>
                </a:solidFill>
                <a:latin typeface="PingFang SC"/>
                <a:ea typeface="PingFang SC"/>
              </a:rPr>
              <a:t>大模型前先做安全评估，别等出事</a:t>
            </a:r>
            <a:endParaRPr/>
          </a:p>
          <a:p>
            <a:pPr>
              <a:lnSpc>
                <a:spcPct val="190000"/>
              </a:lnSpc>
            </a:pPr>
            <a:r>
              <a:rPr sz="1125">
                <a:solidFill>
                  <a:srgbClr val="43566B"/>
                </a:solidFill>
                <a:latin typeface="PingFang SC"/>
                <a:ea typeface="PingFang SC"/>
              </a:rPr>
              <a:t> </a:t>
            </a:r>
            <a:endParaRPr/>
          </a:p>
          <a:p>
            <a:pPr>
              <a:lnSpc>
                <a:spcPct val="190000"/>
              </a:lnSpc>
            </a:pPr>
            <a:r>
              <a:rPr lang="zh-CN" sz="1125" b="1">
                <a:solidFill>
                  <a:srgbClr val="0891B2"/>
                </a:solidFill>
                <a:latin typeface="PingFang SC"/>
                <a:ea typeface="PingFang SC"/>
              </a:rPr>
              <a:t>一句话：政策定的是下限，你要的是上限。</a:t>
            </a:r>
            <a:endParaRPr/>
          </a:p>
        </p:txBody>
      </p:sp>
      <p:sp>
        <p:nvSpPr>
          <p:cNvPr id="433" name="" descr="{&quot;isTemplate&quot;:true,&quot;type&quot;:&quot;text&quot;}"/>
          <p:cNvSpPr txBox="1"/>
          <p:nvPr/>
        </p:nvSpPr>
        <p:spPr>
          <a:xfrm rot="0" flipH="0" flipV="0">
            <a:off x="685800" y="6362700"/>
            <a:ext cx="12573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64748B"/>
                </a:solidFill>
                <a:latin typeface="PingFang SC"/>
                <a:ea typeface="PingFang SC"/>
              </a:rPr>
              <a:t>AI </a:t>
            </a:r>
            <a:r>
              <a:rPr lang="zh-CN" sz="1050">
                <a:solidFill>
                  <a:srgbClr val="64748B"/>
                </a:solidFill>
                <a:latin typeface="PingFang SC"/>
                <a:ea typeface="PingFang SC"/>
              </a:rPr>
              <a:t>规划与治理</a:t>
            </a:r>
            <a:r>
              <a:rPr lang="en-US" sz="1050">
                <a:solidFill>
                  <a:srgbClr val="64748B"/>
                </a:solidFill>
                <a:latin typeface="PingFang SC"/>
                <a:ea typeface="PingFang SC"/>
              </a:rPr>
              <a:t> · </a:t>
            </a:r>
            <a:r>
              <a:rPr lang="zh-CN" sz="1050">
                <a:solidFill>
                  <a:srgbClr val="64748B"/>
                </a:solidFill>
                <a:latin typeface="PingFang SC"/>
                <a:ea typeface="PingFang SC"/>
              </a:rPr>
              <a:t>高级</a:t>
            </a:r>
            <a:endParaRPr/>
          </a:p>
        </p:txBody>
      </p:sp>
      <p:sp>
        <p:nvSpPr>
          <p:cNvPr id="434" name="" descr="{&quot;isTemplate&quot;:true,&quot;type&quot;:&quot;text&quot;}"/>
          <p:cNvSpPr txBox="1"/>
          <p:nvPr/>
        </p:nvSpPr>
        <p:spPr>
          <a:xfrm rot="0" flipH="0" flipV="0">
            <a:off x="11029950" y="6362700"/>
            <a:ext cx="4762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64748B"/>
                </a:solidFill>
                <a:latin typeface="PingFang SC"/>
                <a:ea typeface="PingFang SC"/>
              </a:rPr>
              <a:t>22 / 24</a:t>
            </a:r>
            <a:endParaRPr/>
          </a:p>
        </p:txBody>
      </p:sp>
    </p:spTree>
  </p:cSld>
</p:sld>
</file>

<file path=ppt/slides/slide23.xml><?xml version="1.0" encoding="utf-8"?>
<p:sld xmlns:asvg="http://schemas.microsoft.com/office/drawing/2016/SVG/main" xmlns:a="http://schemas.openxmlformats.org/drawingml/2006/main" xmlns:r="http://schemas.openxmlformats.org/officeDocument/2006/relationships" xmlns:p="http://schemas.openxmlformats.org/presentationml/2006/main" xmlns:mc="http://schemas.openxmlformats.org/markup-compatibility/2006" mc:Ignorable="asvg">
  <p:cSld>
    <p:spTree>
      <p:nvGrpSpPr>
        <p:cNvPr id="435" name="" descr="const deliv = [&#10;    { icon: 'book', t: '学员手册', d: '四维度自评模板 + 八支柱工具包' },&#10;    { icon: 'star', t: '标杆案例集', d: '陕汽 / 西门子 / 博世等 12 个案例卡' },&#10;    { icon: 'chart-line', t: 'ROI 看板模板', d: '业务五指标 + MAU/MEU 分层' },&#10;    { icon: 'toolbox', t: '八支柱工具包', d: '倡导者手册 / CoP 议程 / 工具政策范本' },&#10;];&#10;&lt;Slide style={{ width: '1280px', height: '720px', background: '#F5F8FC', padding: '24px 72px', boxSizing: 'border-box', flexDirection: 'column', fontFamily: 'PingFang SC, Source Han Sans SC, sans-serif' }}&gt;&#10;    &lt;Box style={{ height: 96, flexDirection: 'row', alignItems: 'center', gap: 16 }}&gt;&#10;        &lt;Box style={{ width: 5, height: 46, background: '#06B6D4', borderRadius: 3 }} /&gt;&#10;        &lt;Box&gt;&#10;            &lt;Text style={{ fontSize: 34, fontWeight: 'bold', color: '#1E3A8A', lineHeight: 1.2 }}&gt;考核与交付物&lt;/Text&gt;&#10;            &lt;Text style={{ fontSize: 17, color: '#64748B', marginTop: 4 }}&gt;不考选择题 —— 考「你那份路线图能不能过董事会」&lt;/Text&gt;&#10;        &lt;/Box&gt;&#10;    &lt;/Box&gt;&#10;    &lt;Box style={{ flex: 1, flexDirection: 'row', gap: 24, marginTop: 14 }}&gt;&#10;        &lt;Box style={{ flex: 1, background: '#1E3A8A', borderRadius: 18, padding: '28px 32px', flexDirection: 'column', boxShadow: '0 8px 28px rgba(30,58,138,0.25)' }}&gt;&#10;            &lt;Box style={{ flexDirection: 'row', alignItems: 'center', gap: 12 }}&gt;&#10;                &lt;FAIcon name=&quot;gavel&quot; style={{ fill: '#F59E0B', width: 30, height: 30 }} /&gt;&#10;                &lt;Text style={{ fontSize: 24, fontWeight: 'bold', color: '#FFFFFF' }}&gt;考核方式&lt;/Text&gt;&#10;            &lt;/Box&gt;&#10;            &lt;Text style={{ fontSize: 19, color: '#DCE9FB', lineHeight: 1.9, marginTop: 18 }}&gt;① 规划方案（书面）：自评 + ROI + 路线图&lt;br /&gt;② 路线图答辩（现场）：高管评委组质询&lt;br /&gt;③ 三问：钱从哪来？人谁来推？错了谁担责？&lt;/Text&gt;&#10;            &lt;Box style={{ marginTop: 'auto', padding: '14px 20px', background: 'rgba(6,182,212,0.18)', borderRadius: 12, border: '1px solid rgba(6,182,212,0.6)' }}&gt;&#10;                &lt;Text style={{ fontSize: 18, fontWeight: 'bold', color: '#7FD9F0' }}&gt;通过标准：评委组 ≥ 3/5 票 —— 授「AI 规划师」认证&lt;/Text&gt;&#10;            &lt;/Box&gt;&#10;        &lt;/Box&gt;&#10;        &lt;Box style={{ flex: 1, flexDirection: 'column', gap: 12 }}&gt;&#10;            &lt;Text style={{ fontSize: 18, fontWeight: 'bold', color: '#1E3A8A' }}&gt;随课交付物（带走的四件）&lt;/Text&gt;&#10;            {deliv.map((d, i) =&gt; (&#10;                &lt;Box key={i} style={{ flex: 1, background: '#FFFFFF', borderRadius: 12, border: '1px solid #E2E8F0', flexDirection: 'row', alignItems: 'center', gap: 14, padding: '0 20px', boxShadow: '0 2px 10px rgba(30,58,138,0.04)' }}&gt;&#10;                    &lt;Box style={{ width: 44, height: 44, borderRadius: 11, background: '#FEEFE0', justifyContent: 'center', alignItems: 'center' }}&gt;&#10;                        &lt;FAIcon name={d.icon} style={{ fill: '#F59E0B', width: 22, height: 22 }} /&gt;&#10;                    &lt;/Box&gt;&#10;                    &lt;Box style={{ width: 150 }}&gt;&#10;                        &lt;Text style={{ fontSize: 17, fontWeight: 'bold', color: '#1E3A8A' }}&gt;{d.t}&lt;/Text&gt;&#10;                    &lt;/Box&gt;&#10;                    &lt;Text style={{ flex: 1, fontSize: 14, color: '#43566b' }}&gt;{d.d}&lt;/Text&gt;&#10;                &lt;/Box&gt;&#10;            ))}&#10;        &lt;/Box&gt;&#10;    &lt;/Box&gt;&#10;    &lt;Box style={{ height: 40, flexDirection: 'row', justifyContent: 'space-between', alignItems: 'center', marginTop: 10 }}&gt;&#10;        &lt;Text style={{ fontSize: 14, color: '#64748B' }}&gt;AI 规划与治理 · 高级&lt;/Text&gt;&#10;        &lt;Text style={{ fontSize: 14, color: '#64748B' }}&gt;23 / 24&lt;/Text&gt;&#10;    &lt;/Box&gt;&#10;&lt;/Slide&gt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6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5F8FC"/>
          </a:solidFill>
          <a:ln/>
        </p:spPr>
        <p:txBody>
          <a:bodyPr/>
          <a:p/>
        </p:txBody>
      </p:sp>
      <p:sp>
        <p:nvSpPr>
          <p:cNvPr id="437" name=""/>
          <p:cNvSpPr/>
          <p:nvPr/>
        </p:nvSpPr>
        <p:spPr>
          <a:xfrm rot="0" flipH="0" flipV="0">
            <a:off x="685800" y="466725"/>
            <a:ext cx="47625" cy="438150"/>
          </a:xfrm>
          <a:prstGeom prst="roundRect">
            <a:avLst>
              <a:gd name="adj" fmla="val 60000"/>
            </a:avLst>
          </a:prstGeom>
          <a:solidFill>
            <a:srgbClr val="06B6D4"/>
          </a:solidFill>
          <a:ln/>
        </p:spPr>
        <p:txBody>
          <a:bodyPr/>
          <a:p/>
        </p:txBody>
      </p:sp>
      <p:sp>
        <p:nvSpPr>
          <p:cNvPr id="438" name="" descr="{&quot;isTemplate&quot;:true,&quot;type&quot;:&quot;text&quot;}"/>
          <p:cNvSpPr txBox="1"/>
          <p:nvPr/>
        </p:nvSpPr>
        <p:spPr>
          <a:xfrm rot="0" flipH="0" flipV="0">
            <a:off x="885825" y="333375"/>
            <a:ext cx="3838575" cy="466725"/>
          </a:xfrm>
          <a:prstGeom prst="rect"/>
        </p:spPr>
        <p:txBody>
          <a:bodyPr wrap="none" lIns="0" tIns="0" rIns="0" bIns="0"/>
          <a:p>
            <a:pPr>
              <a:lnSpc>
                <a:spcPct val="120000"/>
              </a:lnSpc>
            </a:pPr>
            <a:r>
              <a:rPr lang="zh-CN" sz="2550" b="1">
                <a:solidFill>
                  <a:srgbClr val="1E3A8A"/>
                </a:solidFill>
                <a:latin typeface="PingFang SC"/>
                <a:ea typeface="PingFang SC"/>
              </a:rPr>
              <a:t>考核与交付物</a:t>
            </a:r>
            <a:endParaRPr/>
          </a:p>
        </p:txBody>
      </p:sp>
      <p:sp>
        <p:nvSpPr>
          <p:cNvPr id="439" name="" descr="{&quot;isTemplate&quot;:true,&quot;type&quot;:&quot;text&quot;}"/>
          <p:cNvSpPr txBox="1"/>
          <p:nvPr/>
        </p:nvSpPr>
        <p:spPr>
          <a:xfrm rot="0" flipH="0" flipV="0">
            <a:off x="885825" y="838200"/>
            <a:ext cx="3838575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>
                <a:solidFill>
                  <a:srgbClr val="64748B"/>
                </a:solidFill>
                <a:latin typeface="PingFang SC"/>
                <a:ea typeface="PingFang SC"/>
              </a:rPr>
              <a:t>不考选择题</a:t>
            </a:r>
            <a:r>
              <a:rPr lang="en-US" sz="1275">
                <a:solidFill>
                  <a:srgbClr val="64748B"/>
                </a:solidFill>
                <a:latin typeface="PingFang SC"/>
                <a:ea typeface="PingFang SC"/>
              </a:rPr>
              <a:t> —— </a:t>
            </a:r>
            <a:r>
              <a:rPr lang="zh-CN" sz="1275">
                <a:solidFill>
                  <a:srgbClr val="64748B"/>
                </a:solidFill>
                <a:latin typeface="PingFang SC"/>
                <a:ea typeface="PingFang SC"/>
              </a:rPr>
              <a:t>考「你那份路线图能不能过董事会」</a:t>
            </a:r>
            <a:endParaRPr/>
          </a:p>
        </p:txBody>
      </p:sp>
      <p:sp>
        <p:nvSpPr>
          <p:cNvPr id="440" name=""/>
          <p:cNvSpPr/>
          <p:nvPr/>
        </p:nvSpPr>
        <p:spPr>
          <a:xfrm rot="0" flipH="0" flipV="0">
            <a:off x="685800" y="1276350"/>
            <a:ext cx="5295900" cy="4876800"/>
          </a:xfrm>
          <a:prstGeom prst="roundRect">
            <a:avLst>
              <a:gd name="adj" fmla="val 3516"/>
            </a:avLst>
          </a:prstGeom>
          <a:solidFill>
            <a:srgbClr val="1E3A8A"/>
          </a:solidFill>
          <a:ln/>
          <a:effectLst>
            <a:outerShdw blurRad="266700" dist="76200" dir="5400000">
              <a:srgbClr val="1E3A8A">
                <a:alpha val="25000"/>
              </a:srgbClr>
            </a:outerShdw>
          </a:effectLst>
        </p:spPr>
        <p:txBody>
          <a:bodyPr/>
          <a:p/>
        </p:txBody>
      </p:sp>
      <p:pic>
        <p:nvPicPr>
          <p:cNvPr id="441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1"/>
              </a:ext>
            </a:extLst>
          </a:blip>
          <a:stretch>
            <a:fillRect/>
          </a:stretch>
        </p:blipFill>
        <p:spPr>
          <a:xfrm rot="0" flipH="0" flipV="0">
            <a:off x="990600" y="1543050"/>
            <a:ext cx="285750" cy="285750"/>
          </a:xfrm>
          <a:prstGeom prst="rect">
            <a:avLst/>
          </a:prstGeom>
          <a:ln/>
        </p:spPr>
      </p:pic>
      <p:sp>
        <p:nvSpPr>
          <p:cNvPr id="442" name="" descr="{&quot;isTemplate&quot;:true,&quot;type&quot;:&quot;text&quot;}"/>
          <p:cNvSpPr txBox="1"/>
          <p:nvPr/>
        </p:nvSpPr>
        <p:spPr>
          <a:xfrm rot="0" flipH="0" flipV="0">
            <a:off x="1390650" y="1552575"/>
            <a:ext cx="914400" cy="2762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800" b="1">
                <a:solidFill>
                  <a:srgbClr val="FFFFFF"/>
                </a:solidFill>
                <a:latin typeface="PingFang SC"/>
                <a:ea typeface="PingFang SC"/>
              </a:rPr>
              <a:t>考核方式</a:t>
            </a:r>
            <a:endParaRPr/>
          </a:p>
        </p:txBody>
      </p:sp>
      <p:sp>
        <p:nvSpPr>
          <p:cNvPr id="443" name="" descr="{&quot;isTemplate&quot;:true,&quot;type&quot;:&quot;text&quot;}"/>
          <p:cNvSpPr txBox="1"/>
          <p:nvPr/>
        </p:nvSpPr>
        <p:spPr>
          <a:xfrm rot="0" flipH="0" flipV="0">
            <a:off x="990600" y="2000250"/>
            <a:ext cx="4686300" cy="1238250"/>
          </a:xfrm>
          <a:prstGeom prst="rect"/>
        </p:spPr>
        <p:txBody>
          <a:bodyPr wrap="none" lIns="0" tIns="0" rIns="0" bIns="0"/>
          <a:p>
            <a:pPr>
              <a:lnSpc>
                <a:spcPct val="190000"/>
              </a:lnSpc>
            </a:pPr>
            <a:r>
              <a:rPr lang="en-US" sz="1425">
                <a:solidFill>
                  <a:srgbClr val="DCE9FB"/>
                </a:solidFill>
                <a:latin typeface="PingFang SC"/>
                <a:ea typeface="PingFang SC"/>
              </a:rPr>
              <a:t>① </a:t>
            </a:r>
            <a:r>
              <a:rPr lang="zh-CN" sz="1425">
                <a:solidFill>
                  <a:srgbClr val="DCE9FB"/>
                </a:solidFill>
                <a:latin typeface="PingFang SC"/>
                <a:ea typeface="PingFang SC"/>
              </a:rPr>
              <a:t>规划方案（书面）：自评</a:t>
            </a:r>
            <a:r>
              <a:rPr lang="en-US" sz="1425">
                <a:solidFill>
                  <a:srgbClr val="DCE9FB"/>
                </a:solidFill>
                <a:latin typeface="PingFang SC"/>
                <a:ea typeface="PingFang SC"/>
              </a:rPr>
              <a:t> + ROI + </a:t>
            </a:r>
            <a:r>
              <a:rPr lang="zh-CN" sz="1425">
                <a:solidFill>
                  <a:srgbClr val="DCE9FB"/>
                </a:solidFill>
                <a:latin typeface="PingFang SC"/>
                <a:ea typeface="PingFang SC"/>
              </a:rPr>
              <a:t>路线图</a:t>
            </a:r>
            <a:endParaRPr/>
          </a:p>
          <a:p>
            <a:pPr>
              <a:lnSpc>
                <a:spcPct val="190000"/>
              </a:lnSpc>
            </a:pPr>
            <a:r>
              <a:rPr lang="en-US" sz="1425">
                <a:solidFill>
                  <a:srgbClr val="DCE9FB"/>
                </a:solidFill>
                <a:latin typeface="PingFang SC"/>
                <a:ea typeface="PingFang SC"/>
              </a:rPr>
              <a:t>② </a:t>
            </a:r>
            <a:r>
              <a:rPr lang="zh-CN" sz="1425">
                <a:solidFill>
                  <a:srgbClr val="DCE9FB"/>
                </a:solidFill>
                <a:latin typeface="PingFang SC"/>
                <a:ea typeface="PingFang SC"/>
              </a:rPr>
              <a:t>路线图答辩（现场）：高管评委组质询</a:t>
            </a:r>
            <a:endParaRPr/>
          </a:p>
          <a:p>
            <a:pPr>
              <a:lnSpc>
                <a:spcPct val="190000"/>
              </a:lnSpc>
            </a:pPr>
            <a:r>
              <a:rPr lang="en-US" sz="1425">
                <a:solidFill>
                  <a:srgbClr val="DCE9FB"/>
                </a:solidFill>
                <a:latin typeface="PingFang SC"/>
                <a:ea typeface="PingFang SC"/>
              </a:rPr>
              <a:t>③ </a:t>
            </a:r>
            <a:r>
              <a:rPr lang="zh-CN" sz="1425">
                <a:solidFill>
                  <a:srgbClr val="DCE9FB"/>
                </a:solidFill>
                <a:latin typeface="PingFang SC"/>
                <a:ea typeface="PingFang SC"/>
              </a:rPr>
              <a:t>三问：钱从哪来？人谁来推？错了谁担责？</a:t>
            </a:r>
            <a:endParaRPr/>
          </a:p>
        </p:txBody>
      </p:sp>
      <p:sp>
        <p:nvSpPr>
          <p:cNvPr id="444" name=""/>
          <p:cNvSpPr/>
          <p:nvPr/>
        </p:nvSpPr>
        <p:spPr>
          <a:xfrm rot="0" flipH="0" flipV="0">
            <a:off x="990600" y="5410200"/>
            <a:ext cx="4686300" cy="476250"/>
          </a:xfrm>
          <a:prstGeom prst="roundRect">
            <a:avLst>
              <a:gd name="adj" fmla="val 24000"/>
            </a:avLst>
          </a:prstGeom>
          <a:solidFill>
            <a:srgbClr val="06B6D4">
              <a:alpha val="18000"/>
            </a:srgbClr>
          </a:solidFill>
          <a:ln w="12700">
            <a:solidFill>
              <a:srgbClr val="06B6D4">
                <a:alpha val="60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445" name="" descr="{&quot;isTemplate&quot;:true,&quot;type&quot;:&quot;text&quot;}"/>
          <p:cNvSpPr txBox="1"/>
          <p:nvPr/>
        </p:nvSpPr>
        <p:spPr>
          <a:xfrm rot="0" flipH="0" flipV="0">
            <a:off x="1181100" y="5543550"/>
            <a:ext cx="430530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 b="1">
                <a:solidFill>
                  <a:srgbClr val="7FD9F0"/>
                </a:solidFill>
                <a:latin typeface="PingFang SC"/>
                <a:ea typeface="PingFang SC"/>
              </a:rPr>
              <a:t>通过标准：评委组</a:t>
            </a:r>
            <a:r>
              <a:rPr lang="en-US" sz="1350" b="1">
                <a:solidFill>
                  <a:srgbClr val="7FD9F0"/>
                </a:solidFill>
                <a:latin typeface="PingFang SC"/>
                <a:ea typeface="PingFang SC"/>
              </a:rPr>
              <a:t> ≥ 3/5 </a:t>
            </a:r>
            <a:r>
              <a:rPr lang="zh-CN" sz="1350" b="1">
                <a:solidFill>
                  <a:srgbClr val="7FD9F0"/>
                </a:solidFill>
                <a:latin typeface="PingFang SC"/>
                <a:ea typeface="PingFang SC"/>
              </a:rPr>
              <a:t>票</a:t>
            </a:r>
            <a:r>
              <a:rPr lang="en-US" sz="1350" b="1">
                <a:solidFill>
                  <a:srgbClr val="7FD9F0"/>
                </a:solidFill>
                <a:latin typeface="PingFang SC"/>
                <a:ea typeface="PingFang SC"/>
              </a:rPr>
              <a:t> —— </a:t>
            </a:r>
            <a:r>
              <a:rPr lang="zh-CN" sz="1350" b="1">
                <a:solidFill>
                  <a:srgbClr val="7FD9F0"/>
                </a:solidFill>
                <a:latin typeface="PingFang SC"/>
                <a:ea typeface="PingFang SC"/>
              </a:rPr>
              <a:t>授「</a:t>
            </a:r>
            <a:r>
              <a:rPr lang="en-US" sz="1350" b="1">
                <a:solidFill>
                  <a:srgbClr val="7FD9F0"/>
                </a:solidFill>
                <a:latin typeface="PingFang SC"/>
                <a:ea typeface="PingFang SC"/>
              </a:rPr>
              <a:t>AI </a:t>
            </a:r>
            <a:r>
              <a:rPr lang="zh-CN" sz="1350" b="1">
                <a:solidFill>
                  <a:srgbClr val="7FD9F0"/>
                </a:solidFill>
                <a:latin typeface="PingFang SC"/>
                <a:ea typeface="PingFang SC"/>
              </a:rPr>
              <a:t>规划师」认证</a:t>
            </a:r>
            <a:endParaRPr/>
          </a:p>
        </p:txBody>
      </p:sp>
      <p:sp>
        <p:nvSpPr>
          <p:cNvPr id="446" name="" descr="{&quot;isTemplate&quot;:true,&quot;type&quot;:&quot;text&quot;}"/>
          <p:cNvSpPr txBox="1"/>
          <p:nvPr/>
        </p:nvSpPr>
        <p:spPr>
          <a:xfrm rot="0" flipH="0" flipV="0">
            <a:off x="6210300" y="1276350"/>
            <a:ext cx="529590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 b="1">
                <a:solidFill>
                  <a:srgbClr val="1E3A8A"/>
                </a:solidFill>
                <a:latin typeface="PingFang SC"/>
                <a:ea typeface="PingFang SC"/>
              </a:rPr>
              <a:t>随课交付物（带走的四件）</a:t>
            </a:r>
            <a:endParaRPr/>
          </a:p>
        </p:txBody>
      </p:sp>
      <p:sp>
        <p:nvSpPr>
          <p:cNvPr id="447" name=""/>
          <p:cNvSpPr/>
          <p:nvPr/>
        </p:nvSpPr>
        <p:spPr>
          <a:xfrm rot="0" flipH="0" flipV="0">
            <a:off x="6210300" y="1600200"/>
            <a:ext cx="5295900" cy="1057275"/>
          </a:xfrm>
          <a:prstGeom prst="roundRect">
            <a:avLst>
              <a:gd name="adj" fmla="val 10811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95250" dist="19050" dir="5400000">
              <a:srgbClr val="1E3A8A">
                <a:alpha val="4000"/>
              </a:srgbClr>
            </a:outerShdw>
          </a:effectLst>
        </p:spPr>
        <p:txBody>
          <a:bodyPr/>
          <a:p/>
        </p:txBody>
      </p:sp>
      <p:sp>
        <p:nvSpPr>
          <p:cNvPr id="448" name=""/>
          <p:cNvSpPr/>
          <p:nvPr/>
        </p:nvSpPr>
        <p:spPr>
          <a:xfrm rot="0" flipH="0" flipV="0">
            <a:off x="6400800" y="1924050"/>
            <a:ext cx="419100" cy="419100"/>
          </a:xfrm>
          <a:prstGeom prst="roundRect">
            <a:avLst>
              <a:gd name="adj" fmla="val 25000"/>
            </a:avLst>
          </a:prstGeom>
          <a:solidFill>
            <a:srgbClr val="FEEFE0"/>
          </a:solidFill>
          <a:ln/>
        </p:spPr>
        <p:txBody>
          <a:bodyPr/>
          <a:p/>
        </p:txBody>
      </p:sp>
      <p:pic>
        <p:nvPicPr>
          <p:cNvPr id="449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2"/>
              </a:ext>
            </a:extLst>
          </a:blip>
          <a:stretch>
            <a:fillRect/>
          </a:stretch>
        </p:blipFill>
        <p:spPr>
          <a:xfrm rot="0" flipH="0" flipV="0">
            <a:off x="6505575" y="2028825"/>
            <a:ext cx="209550" cy="209550"/>
          </a:xfrm>
          <a:prstGeom prst="rect">
            <a:avLst/>
          </a:prstGeom>
          <a:ln/>
        </p:spPr>
      </p:pic>
      <p:sp>
        <p:nvSpPr>
          <p:cNvPr id="450" name="" descr="{&quot;isTemplate&quot;:true,&quot;type&quot;:&quot;text&quot;}"/>
          <p:cNvSpPr txBox="1"/>
          <p:nvPr/>
        </p:nvSpPr>
        <p:spPr>
          <a:xfrm rot="0" flipH="0" flipV="0">
            <a:off x="6953250" y="2028825"/>
            <a:ext cx="142875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 b="1">
                <a:solidFill>
                  <a:srgbClr val="1E3A8A"/>
                </a:solidFill>
                <a:latin typeface="PingFang SC"/>
                <a:ea typeface="PingFang SC"/>
              </a:rPr>
              <a:t>学员手册</a:t>
            </a:r>
            <a:endParaRPr/>
          </a:p>
        </p:txBody>
      </p:sp>
      <p:sp>
        <p:nvSpPr>
          <p:cNvPr id="451" name="" descr="{&quot;isTemplate&quot;:true,&quot;type&quot;:&quot;text&quot;}"/>
          <p:cNvSpPr txBox="1"/>
          <p:nvPr/>
        </p:nvSpPr>
        <p:spPr>
          <a:xfrm rot="0" flipH="0" flipV="0">
            <a:off x="8515350" y="2047875"/>
            <a:ext cx="28003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43566B"/>
                </a:solidFill>
                <a:latin typeface="PingFang SC"/>
                <a:ea typeface="PingFang SC"/>
              </a:rPr>
              <a:t>四维度自评模板</a:t>
            </a:r>
            <a:r>
              <a:rPr lang="en-US" sz="1050">
                <a:solidFill>
                  <a:srgbClr val="43566B"/>
                </a:solidFill>
                <a:latin typeface="PingFang SC"/>
                <a:ea typeface="PingFang SC"/>
              </a:rPr>
              <a:t> + </a:t>
            </a:r>
            <a:r>
              <a:rPr lang="zh-CN" sz="1050">
                <a:solidFill>
                  <a:srgbClr val="43566B"/>
                </a:solidFill>
                <a:latin typeface="PingFang SC"/>
                <a:ea typeface="PingFang SC"/>
              </a:rPr>
              <a:t>八支柱工具包</a:t>
            </a:r>
            <a:endParaRPr/>
          </a:p>
        </p:txBody>
      </p:sp>
      <p:sp>
        <p:nvSpPr>
          <p:cNvPr id="452" name=""/>
          <p:cNvSpPr/>
          <p:nvPr/>
        </p:nvSpPr>
        <p:spPr>
          <a:xfrm rot="0" flipH="0" flipV="0">
            <a:off x="6210300" y="2771775"/>
            <a:ext cx="5295900" cy="1047750"/>
          </a:xfrm>
          <a:prstGeom prst="roundRect">
            <a:avLst>
              <a:gd name="adj" fmla="val 10909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95250" dist="19050" dir="5400000">
              <a:srgbClr val="1E3A8A">
                <a:alpha val="4000"/>
              </a:srgbClr>
            </a:outerShdw>
          </a:effectLst>
        </p:spPr>
        <p:txBody>
          <a:bodyPr/>
          <a:p/>
        </p:txBody>
      </p:sp>
      <p:sp>
        <p:nvSpPr>
          <p:cNvPr id="453" name=""/>
          <p:cNvSpPr/>
          <p:nvPr/>
        </p:nvSpPr>
        <p:spPr>
          <a:xfrm rot="0" flipH="0" flipV="0">
            <a:off x="6400800" y="3086100"/>
            <a:ext cx="419100" cy="419100"/>
          </a:xfrm>
          <a:prstGeom prst="roundRect">
            <a:avLst>
              <a:gd name="adj" fmla="val 25000"/>
            </a:avLst>
          </a:prstGeom>
          <a:solidFill>
            <a:srgbClr val="FEEFE0"/>
          </a:solidFill>
          <a:ln/>
        </p:spPr>
        <p:txBody>
          <a:bodyPr/>
          <a:p/>
        </p:txBody>
      </p:sp>
      <p:pic>
        <p:nvPicPr>
          <p:cNvPr id="454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3"/>
              </a:ext>
            </a:extLst>
          </a:blip>
          <a:stretch>
            <a:fillRect/>
          </a:stretch>
        </p:blipFill>
        <p:spPr>
          <a:xfrm rot="0" flipH="0" flipV="0">
            <a:off x="6505575" y="3190875"/>
            <a:ext cx="209550" cy="209550"/>
          </a:xfrm>
          <a:prstGeom prst="rect">
            <a:avLst/>
          </a:prstGeom>
          <a:ln/>
        </p:spPr>
      </p:pic>
      <p:sp>
        <p:nvSpPr>
          <p:cNvPr id="455" name="" descr="{&quot;isTemplate&quot;:true,&quot;type&quot;:&quot;text&quot;}"/>
          <p:cNvSpPr txBox="1"/>
          <p:nvPr/>
        </p:nvSpPr>
        <p:spPr>
          <a:xfrm rot="0" flipH="0" flipV="0">
            <a:off x="6953250" y="3200400"/>
            <a:ext cx="142875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 b="1">
                <a:solidFill>
                  <a:srgbClr val="1E3A8A"/>
                </a:solidFill>
                <a:latin typeface="PingFang SC"/>
                <a:ea typeface="PingFang SC"/>
              </a:rPr>
              <a:t>标杆案例集</a:t>
            </a:r>
            <a:endParaRPr/>
          </a:p>
        </p:txBody>
      </p:sp>
      <p:sp>
        <p:nvSpPr>
          <p:cNvPr id="456" name="" descr="{&quot;isTemplate&quot;:true,&quot;type&quot;:&quot;text&quot;}"/>
          <p:cNvSpPr txBox="1"/>
          <p:nvPr/>
        </p:nvSpPr>
        <p:spPr>
          <a:xfrm rot="0" flipH="0" flipV="0">
            <a:off x="8515350" y="3219450"/>
            <a:ext cx="28003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43566B"/>
                </a:solidFill>
                <a:latin typeface="PingFang SC"/>
                <a:ea typeface="PingFang SC"/>
              </a:rPr>
              <a:t>跨行业标杆等 12 个案例卡</a:t>
            </a:r>
            <a:r>
              <a:rPr lang="en-US" sz="1050">
                <a:solidFill>
                  <a:srgbClr val="43566B"/>
                </a:solidFill>
                <a:latin typeface="PingFang SC"/>
                <a:ea typeface="PingFang SC"/>
              </a:rPr>
              <a:t/>
            </a:r>
            <a:r>
              <a:rPr lang="zh-CN" sz="1050">
                <a:solidFill>
                  <a:srgbClr val="43566B"/>
                </a:solidFill>
                <a:latin typeface="PingFang SC"/>
                <a:ea typeface="PingFang SC"/>
              </a:rPr>
              <a:t/>
            </a:r>
            <a:r>
              <a:rPr lang="en-US" sz="1050">
                <a:solidFill>
                  <a:srgbClr val="43566B"/>
                </a:solidFill>
                <a:latin typeface="PingFang SC"/>
                <a:ea typeface="PingFang SC"/>
              </a:rPr>
              <a:t/>
            </a:r>
            <a:r>
              <a:rPr lang="zh-CN" sz="1050">
                <a:solidFill>
                  <a:srgbClr val="43566B"/>
                </a:solidFill>
                <a:latin typeface="PingFang SC"/>
                <a:ea typeface="PingFang SC"/>
              </a:rPr>
              <a:t/>
            </a:r>
            <a:r>
              <a:rPr lang="en-US" sz="1050">
                <a:solidFill>
                  <a:srgbClr val="43566B"/>
                </a:solidFill>
                <a:latin typeface="PingFang SC"/>
                <a:ea typeface="PingFang SC"/>
              </a:rPr>
              <a:t/>
            </a:r>
            <a:r>
              <a:rPr lang="zh-CN" sz="1050">
                <a:solidFill>
                  <a:srgbClr val="43566B"/>
                </a:solidFill>
                <a:latin typeface="PingFang SC"/>
                <a:ea typeface="PingFang SC"/>
              </a:rPr>
              <a:t/>
            </a:r>
            <a:endParaRPr/>
          </a:p>
        </p:txBody>
      </p:sp>
      <p:sp>
        <p:nvSpPr>
          <p:cNvPr id="457" name=""/>
          <p:cNvSpPr/>
          <p:nvPr/>
        </p:nvSpPr>
        <p:spPr>
          <a:xfrm rot="0" flipH="0" flipV="0">
            <a:off x="6210300" y="3933825"/>
            <a:ext cx="5295900" cy="1057275"/>
          </a:xfrm>
          <a:prstGeom prst="roundRect">
            <a:avLst>
              <a:gd name="adj" fmla="val 10811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95250" dist="19050" dir="5400000">
              <a:srgbClr val="1E3A8A">
                <a:alpha val="4000"/>
              </a:srgbClr>
            </a:outerShdw>
          </a:effectLst>
        </p:spPr>
        <p:txBody>
          <a:bodyPr/>
          <a:p/>
        </p:txBody>
      </p:sp>
      <p:sp>
        <p:nvSpPr>
          <p:cNvPr id="458" name=""/>
          <p:cNvSpPr/>
          <p:nvPr/>
        </p:nvSpPr>
        <p:spPr>
          <a:xfrm rot="0" flipH="0" flipV="0">
            <a:off x="6400800" y="4257675"/>
            <a:ext cx="419100" cy="419100"/>
          </a:xfrm>
          <a:prstGeom prst="roundRect">
            <a:avLst>
              <a:gd name="adj" fmla="val 25000"/>
            </a:avLst>
          </a:prstGeom>
          <a:solidFill>
            <a:srgbClr val="FEEFE0"/>
          </a:solidFill>
          <a:ln/>
        </p:spPr>
        <p:txBody>
          <a:bodyPr/>
          <a:p/>
        </p:txBody>
      </p:sp>
      <p:pic>
        <p:nvPicPr>
          <p:cNvPr id="459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4"/>
              </a:ext>
            </a:extLst>
          </a:blip>
          <a:stretch>
            <a:fillRect/>
          </a:stretch>
        </p:blipFill>
        <p:spPr>
          <a:xfrm rot="0" flipH="0" flipV="0">
            <a:off x="6505575" y="4362450"/>
            <a:ext cx="209550" cy="209550"/>
          </a:xfrm>
          <a:prstGeom prst="rect">
            <a:avLst/>
          </a:prstGeom>
          <a:ln/>
        </p:spPr>
      </p:pic>
      <p:sp>
        <p:nvSpPr>
          <p:cNvPr id="460" name="" descr="{&quot;isTemplate&quot;:true,&quot;type&quot;:&quot;text&quot;}"/>
          <p:cNvSpPr txBox="1"/>
          <p:nvPr/>
        </p:nvSpPr>
        <p:spPr>
          <a:xfrm rot="0" flipH="0" flipV="0">
            <a:off x="6953250" y="4362450"/>
            <a:ext cx="142875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75" b="1">
                <a:solidFill>
                  <a:srgbClr val="1E3A8A"/>
                </a:solidFill>
                <a:latin typeface="PingFang SC"/>
                <a:ea typeface="PingFang SC"/>
              </a:rPr>
              <a:t>ROI </a:t>
            </a:r>
            <a:r>
              <a:rPr lang="zh-CN" sz="1275" b="1">
                <a:solidFill>
                  <a:srgbClr val="1E3A8A"/>
                </a:solidFill>
                <a:latin typeface="PingFang SC"/>
                <a:ea typeface="PingFang SC"/>
              </a:rPr>
              <a:t>看板模板</a:t>
            </a:r>
            <a:endParaRPr/>
          </a:p>
        </p:txBody>
      </p:sp>
      <p:sp>
        <p:nvSpPr>
          <p:cNvPr id="461" name="" descr="{&quot;isTemplate&quot;:true,&quot;type&quot;:&quot;text&quot;}"/>
          <p:cNvSpPr txBox="1"/>
          <p:nvPr/>
        </p:nvSpPr>
        <p:spPr>
          <a:xfrm rot="0" flipH="0" flipV="0">
            <a:off x="8515350" y="4381500"/>
            <a:ext cx="28003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43566B"/>
                </a:solidFill>
                <a:latin typeface="PingFang SC"/>
                <a:ea typeface="PingFang SC"/>
              </a:rPr>
              <a:t>业务五指标</a:t>
            </a:r>
            <a:r>
              <a:rPr lang="en-US" sz="1050">
                <a:solidFill>
                  <a:srgbClr val="43566B"/>
                </a:solidFill>
                <a:latin typeface="PingFang SC"/>
                <a:ea typeface="PingFang SC"/>
              </a:rPr>
              <a:t> + MAU/MEU </a:t>
            </a:r>
            <a:r>
              <a:rPr lang="zh-CN" sz="1050">
                <a:solidFill>
                  <a:srgbClr val="43566B"/>
                </a:solidFill>
                <a:latin typeface="PingFang SC"/>
                <a:ea typeface="PingFang SC"/>
              </a:rPr>
              <a:t>分层</a:t>
            </a:r>
            <a:endParaRPr/>
          </a:p>
        </p:txBody>
      </p:sp>
      <p:sp>
        <p:nvSpPr>
          <p:cNvPr id="462" name=""/>
          <p:cNvSpPr/>
          <p:nvPr/>
        </p:nvSpPr>
        <p:spPr>
          <a:xfrm rot="0" flipH="0" flipV="0">
            <a:off x="6210300" y="5105400"/>
            <a:ext cx="5295900" cy="1047750"/>
          </a:xfrm>
          <a:prstGeom prst="roundRect">
            <a:avLst>
              <a:gd name="adj" fmla="val 10909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95250" dist="19050" dir="5400000">
              <a:srgbClr val="1E3A8A">
                <a:alpha val="4000"/>
              </a:srgbClr>
            </a:outerShdw>
          </a:effectLst>
        </p:spPr>
        <p:txBody>
          <a:bodyPr/>
          <a:p/>
        </p:txBody>
      </p:sp>
      <p:sp>
        <p:nvSpPr>
          <p:cNvPr id="463" name=""/>
          <p:cNvSpPr/>
          <p:nvPr/>
        </p:nvSpPr>
        <p:spPr>
          <a:xfrm rot="0" flipH="0" flipV="0">
            <a:off x="6400800" y="5419725"/>
            <a:ext cx="419100" cy="419100"/>
          </a:xfrm>
          <a:prstGeom prst="roundRect">
            <a:avLst>
              <a:gd name="adj" fmla="val 25000"/>
            </a:avLst>
          </a:prstGeom>
          <a:solidFill>
            <a:srgbClr val="FEEFE0"/>
          </a:solidFill>
          <a:ln/>
        </p:spPr>
        <p:txBody>
          <a:bodyPr/>
          <a:p/>
        </p:txBody>
      </p:sp>
      <p:pic>
        <p:nvPicPr>
          <p:cNvPr id="464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5"/>
              </a:ext>
            </a:extLst>
          </a:blip>
          <a:stretch>
            <a:fillRect/>
          </a:stretch>
        </p:blipFill>
        <p:spPr>
          <a:xfrm rot="0" flipH="0" flipV="0">
            <a:off x="6505575" y="5524500"/>
            <a:ext cx="209550" cy="209550"/>
          </a:xfrm>
          <a:prstGeom prst="rect">
            <a:avLst/>
          </a:prstGeom>
          <a:ln/>
        </p:spPr>
      </p:pic>
      <p:sp>
        <p:nvSpPr>
          <p:cNvPr id="465" name="" descr="{&quot;isTemplate&quot;:true,&quot;type&quot;:&quot;text&quot;}"/>
          <p:cNvSpPr txBox="1"/>
          <p:nvPr/>
        </p:nvSpPr>
        <p:spPr>
          <a:xfrm rot="0" flipH="0" flipV="0">
            <a:off x="6953250" y="5534025"/>
            <a:ext cx="142875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 b="1">
                <a:solidFill>
                  <a:srgbClr val="1E3A8A"/>
                </a:solidFill>
                <a:latin typeface="PingFang SC"/>
                <a:ea typeface="PingFang SC"/>
              </a:rPr>
              <a:t>八支柱工具包</a:t>
            </a:r>
            <a:endParaRPr/>
          </a:p>
        </p:txBody>
      </p:sp>
      <p:sp>
        <p:nvSpPr>
          <p:cNvPr id="466" name="" descr="{&quot;isTemplate&quot;:true,&quot;type&quot;:&quot;text&quot;}"/>
          <p:cNvSpPr txBox="1"/>
          <p:nvPr/>
        </p:nvSpPr>
        <p:spPr>
          <a:xfrm rot="0" flipH="0" flipV="0">
            <a:off x="8515350" y="5553075"/>
            <a:ext cx="28003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43566B"/>
                </a:solidFill>
                <a:latin typeface="PingFang SC"/>
                <a:ea typeface="PingFang SC"/>
              </a:rPr>
              <a:t>倡导者手册</a:t>
            </a:r>
            <a:r>
              <a:rPr lang="en-US" sz="1050">
                <a:solidFill>
                  <a:srgbClr val="43566B"/>
                </a:solidFill>
                <a:latin typeface="PingFang SC"/>
                <a:ea typeface="PingFang SC"/>
              </a:rPr>
              <a:t> / CoP </a:t>
            </a:r>
            <a:r>
              <a:rPr lang="zh-CN" sz="1050">
                <a:solidFill>
                  <a:srgbClr val="43566B"/>
                </a:solidFill>
                <a:latin typeface="PingFang SC"/>
                <a:ea typeface="PingFang SC"/>
              </a:rPr>
              <a:t>议程</a:t>
            </a:r>
            <a:r>
              <a:rPr lang="en-US" sz="1050">
                <a:solidFill>
                  <a:srgbClr val="43566B"/>
                </a:solidFill>
                <a:latin typeface="PingFang SC"/>
                <a:ea typeface="PingFang SC"/>
              </a:rPr>
              <a:t> / </a:t>
            </a:r>
            <a:r>
              <a:rPr lang="zh-CN" sz="1050">
                <a:solidFill>
                  <a:srgbClr val="43566B"/>
                </a:solidFill>
                <a:latin typeface="PingFang SC"/>
                <a:ea typeface="PingFang SC"/>
              </a:rPr>
              <a:t>工具政策范本</a:t>
            </a:r>
            <a:endParaRPr/>
          </a:p>
        </p:txBody>
      </p:sp>
      <p:sp>
        <p:nvSpPr>
          <p:cNvPr id="467" name="" descr="{&quot;isTemplate&quot;:true,&quot;type&quot;:&quot;text&quot;}"/>
          <p:cNvSpPr txBox="1"/>
          <p:nvPr/>
        </p:nvSpPr>
        <p:spPr>
          <a:xfrm rot="0" flipH="0" flipV="0">
            <a:off x="685800" y="6362700"/>
            <a:ext cx="12573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64748B"/>
                </a:solidFill>
                <a:latin typeface="PingFang SC"/>
                <a:ea typeface="PingFang SC"/>
              </a:rPr>
              <a:t>AI </a:t>
            </a:r>
            <a:r>
              <a:rPr lang="zh-CN" sz="1050">
                <a:solidFill>
                  <a:srgbClr val="64748B"/>
                </a:solidFill>
                <a:latin typeface="PingFang SC"/>
                <a:ea typeface="PingFang SC"/>
              </a:rPr>
              <a:t>规划与治理</a:t>
            </a:r>
            <a:r>
              <a:rPr lang="en-US" sz="1050">
                <a:solidFill>
                  <a:srgbClr val="64748B"/>
                </a:solidFill>
                <a:latin typeface="PingFang SC"/>
                <a:ea typeface="PingFang SC"/>
              </a:rPr>
              <a:t> · </a:t>
            </a:r>
            <a:r>
              <a:rPr lang="zh-CN" sz="1050">
                <a:solidFill>
                  <a:srgbClr val="64748B"/>
                </a:solidFill>
                <a:latin typeface="PingFang SC"/>
                <a:ea typeface="PingFang SC"/>
              </a:rPr>
              <a:t>高级</a:t>
            </a:r>
            <a:endParaRPr/>
          </a:p>
        </p:txBody>
      </p:sp>
      <p:sp>
        <p:nvSpPr>
          <p:cNvPr id="468" name="" descr="{&quot;isTemplate&quot;:true,&quot;type&quot;:&quot;text&quot;}"/>
          <p:cNvSpPr txBox="1"/>
          <p:nvPr/>
        </p:nvSpPr>
        <p:spPr>
          <a:xfrm rot="0" flipH="0" flipV="0">
            <a:off x="11029950" y="6362700"/>
            <a:ext cx="4762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64748B"/>
                </a:solidFill>
                <a:latin typeface="PingFang SC"/>
                <a:ea typeface="PingFang SC"/>
              </a:rPr>
              <a:t>23 / 24</a:t>
            </a:r>
            <a:endParaRPr/>
          </a:p>
        </p:txBody>
      </p:sp>
    </p:spTree>
  </p:cSld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469" name="" descr="&lt;Slide style={{ width: '1280px', height: '720px', position: 'relative', background: '#1E3A8A', overflow: 'hidden', fontFamily: 'PingFang SC, Source Han Sans SC, sans-serif' }}&gt;&#10;    &lt;Image src=&quot;assets/hero_cover.png&quot; style={{ position: 'absolute', top: 0, left: 0, width: '1280px', height: '720px', objectFit: 'cover', opacity: 0.4 }} /&gt;&#10;    &lt;Box style={{ position: 'absolute', top: 0, left: 0, width: '1280px', height: '720px', background: 'linear-gradient(180deg, rgba(15,23,42,0.7) 0%, rgba(30,58,138,0.85) 100%)' }} /&gt;&#10;    &lt;Box style={{ position: 'relative', zIndex: 1, height: '720px', padding: '0 84px', justifyContent: 'center', alignItems: 'center', textAlign: 'center' }}&gt;&#10;        &lt;Text style={{ fontSize: 52, fontWeight: 'bold', color: '#FFFFFF', lineHeight: 1.3, textShadow: '0 4px 24px rgba(0,0,0,0.35)' }}&gt;先算清账，再搭架构，&lt;br /&gt;再推组织，再守底线。&lt;/Text&gt;&#10;        &lt;Box style={{ width: 90, height: 4, background: '#F59E0B', marginTop: 34 }} /&gt;&#10;        &lt;Text style={{ fontSize: 22, color: '#DCE9FB', marginTop: 28, fontWeight: '600' }}&gt;AI 规划与治理 · 高级 · 完&lt;/Text&gt;&#10;        &lt;Box style={{ flexDirection: 'row', gap: 14, marginTop: 26 }}&gt;&#10;            &lt;Box style={{ padding: '10px 22px', background: 'rgba(6,182,212,0.18)', border: '1px solid rgba(6,182,212,0.6)', borderRadius: 999 }}&gt;&#10;                &lt;Text style={{ fontSize: 16, color: '#7FD9F0', fontWeight: 'bold' }}&gt;初级：会用&lt;/Text&gt;&#10;            &lt;/Box&gt;&#10;            &lt;Text style={{ fontSize: 18, color: '#7FD9F0', alignSelf: 'center' }}&gt;→&lt;/Text&gt;&#10;            &lt;Box style={{ padding: '10px 22px', background: 'rgba(6,182,212,0.18)', border: '1px solid rgba(6,182,212,0.6)', borderRadius: 999 }}&gt;&#10;                &lt;Text style={{ fontSize: 16, color: '#7FD9F0', fontWeight: 'bold' }}&gt;中级：能落&lt;/Text&gt;&#10;            &lt;/Box&gt;&#10;            &lt;Text style={{ fontSize: 18, color: '#7FD9F0', alignSelf: 'center' }}&gt;→&lt;/Text&gt;&#10;            &lt;Box style={{ padding: '10px 22px', background: 'rgba(245,158,11,0.2)', border: '1px solid rgba(245,158,11,0.6)', borderRadius: 999 }}&gt;&#10;                &lt;Text style={{ fontSize: 16, color: '#F8C471', fontWeight: 'bold' }}&gt;高级：善谋&lt;/Text&gt;&#10;            &lt;/Box&gt;&#10;        &lt;/Box&gt;&#10;    &lt;/Box&gt;&#10;&lt;/Slide&gt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0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1E3A8A"/>
          </a:solidFill>
          <a:ln/>
        </p:spPr>
        <p:txBody>
          <a:bodyPr/>
          <a:p/>
        </p:txBody>
      </p:sp>
      <p:pic>
        <p:nvPicPr>
          <p:cNvPr id="471" name=""/>
          <p:cNvPicPr>
            <a:picLocks noChangeAspect="1"/>
          </p:cNvPicPr>
          <p:nvPr/>
        </p:nvPicPr>
        <p:blipFill>
          <a:blip r:embed="rId1">
            <a:alphaModFix amt="40000"/>
          </a:blip>
          <a:srcRect l="0" t="8894" r="0" b="8894"/>
          <a:stretch>
            <a:fillRect/>
          </a:stretch>
        </p:blipFill>
        <p:spPr>
          <a:xfrm rot="0" flipH="0" flipV="0">
            <a:off x="0" y="0"/>
            <a:ext cx="12192000" cy="6858000"/>
          </a:xfrm>
          <a:prstGeom prst="rect">
            <a:avLst/>
          </a:prstGeom>
          <a:ln/>
        </p:spPr>
      </p:pic>
      <p:sp>
        <p:nvSpPr>
          <p:cNvPr id="472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gradFill>
            <a:gsLst>
              <a:gs pos="0">
                <a:srgbClr val="0F172A">
                  <a:alpha val="70000"/>
                </a:srgbClr>
              </a:gs>
              <a:gs pos="100000">
                <a:srgbClr val="1E3A8A">
                  <a:alpha val="85000"/>
                </a:srgbClr>
              </a:gs>
            </a:gsLst>
            <a:lin ang="5400000" scaled="1"/>
          </a:gradFill>
          <a:ln/>
        </p:spPr>
        <p:txBody>
          <a:bodyPr/>
          <a:p/>
        </p:txBody>
      </p:sp>
      <p:sp>
        <p:nvSpPr>
          <p:cNvPr id="473" name="" descr="{&quot;isTemplate&quot;:true,&quot;type&quot;:&quot;text&quot;}"/>
          <p:cNvSpPr txBox="1"/>
          <p:nvPr/>
        </p:nvSpPr>
        <p:spPr>
          <a:xfrm rot="0" flipH="0" flipV="0">
            <a:off x="3619500" y="1895475"/>
            <a:ext cx="4953000" cy="1552575"/>
          </a:xfrm>
          <a:prstGeom prst="rect"/>
        </p:spPr>
        <p:txBody>
          <a:bodyPr wrap="none" lIns="0" tIns="0" rIns="0" bIns="0"/>
          <a:p>
            <a:pPr algn="ctr">
              <a:lnSpc>
                <a:spcPct val="130000"/>
              </a:lnSpc>
            </a:pPr>
            <a:r>
              <a:rPr lang="zh-CN" sz="3900" b="1">
                <a:solidFill>
                  <a:srgbClr val="FFFFFF"/>
                </a:solidFill>
                <a:effectLst>
                  <a:outerShdw blurRad="228600" dist="38100" dir="5400000">
                    <a:srgbClr val="000000">
                      <a:alpha val="35000"/>
                    </a:srgbClr>
                  </a:outerShdw>
                </a:effectLst>
                <a:latin typeface="PingFang SC"/>
                <a:ea typeface="PingFang SC"/>
              </a:rPr>
              <a:t>先算清账，再搭架构，</a:t>
            </a:r>
            <a:endParaRPr/>
          </a:p>
          <a:p>
            <a:pPr algn="ctr">
              <a:lnSpc>
                <a:spcPct val="130000"/>
              </a:lnSpc>
            </a:pPr>
            <a:r>
              <a:rPr lang="zh-CN" sz="3900" b="1">
                <a:solidFill>
                  <a:srgbClr val="FFFFFF"/>
                </a:solidFill>
                <a:effectLst>
                  <a:outerShdw blurRad="228600" dist="38100" dir="5400000">
                    <a:srgbClr val="000000">
                      <a:alpha val="35000"/>
                    </a:srgbClr>
                  </a:outerShdw>
                </a:effectLst>
                <a:latin typeface="PingFang SC"/>
                <a:ea typeface="PingFang SC"/>
              </a:rPr>
              <a:t>再推组织，再守底线。</a:t>
            </a:r>
            <a:endParaRPr/>
          </a:p>
        </p:txBody>
      </p:sp>
      <p:sp>
        <p:nvSpPr>
          <p:cNvPr id="474" name=""/>
          <p:cNvSpPr/>
          <p:nvPr/>
        </p:nvSpPr>
        <p:spPr>
          <a:xfrm rot="0" flipH="0" flipV="0">
            <a:off x="5667375" y="3771900"/>
            <a:ext cx="857250" cy="38100"/>
          </a:xfrm>
          <a:prstGeom prst="rect">
            <a:avLst/>
          </a:prstGeom>
          <a:solidFill>
            <a:srgbClr val="F59E0B"/>
          </a:solidFill>
          <a:ln/>
        </p:spPr>
        <p:txBody>
          <a:bodyPr/>
          <a:p/>
        </p:txBody>
      </p:sp>
      <p:sp>
        <p:nvSpPr>
          <p:cNvPr id="475" name="" descr="{&quot;isTemplate&quot;:true,&quot;type&quot;:&quot;text&quot;}"/>
          <p:cNvSpPr txBox="1"/>
          <p:nvPr/>
        </p:nvSpPr>
        <p:spPr>
          <a:xfrm rot="0" flipH="0" flipV="0">
            <a:off x="4876800" y="4076700"/>
            <a:ext cx="2438400" cy="257175"/>
          </a:xfrm>
          <a:prstGeom prst="rect"/>
        </p:spPr>
        <p:txBody>
          <a:bodyPr wrap="none" lIns="0" tIns="0" rIns="0" bIns="0"/>
          <a:p>
            <a:pPr algn="ctr">
              <a:lnSpc>
                <a:spcPct val="100000"/>
              </a:lnSpc>
            </a:pPr>
            <a:r>
              <a:rPr lang="en-US" sz="1650" b="1">
                <a:solidFill>
                  <a:srgbClr val="DCE9FB"/>
                </a:solidFill>
                <a:latin typeface="PingFang SC"/>
                <a:ea typeface="PingFang SC"/>
              </a:rPr>
              <a:t>AI </a:t>
            </a:r>
            <a:r>
              <a:rPr lang="zh-CN" sz="1650" b="1">
                <a:solidFill>
                  <a:srgbClr val="DCE9FB"/>
                </a:solidFill>
                <a:latin typeface="PingFang SC"/>
                <a:ea typeface="PingFang SC"/>
              </a:rPr>
              <a:t>规划与治理</a:t>
            </a:r>
            <a:r>
              <a:rPr lang="en-US" sz="1650" b="1">
                <a:solidFill>
                  <a:srgbClr val="DCE9FB"/>
                </a:solidFill>
                <a:latin typeface="PingFang SC"/>
                <a:ea typeface="PingFang SC"/>
              </a:rPr>
              <a:t> · </a:t>
            </a:r>
            <a:r>
              <a:rPr lang="zh-CN" sz="1650" b="1">
                <a:solidFill>
                  <a:srgbClr val="DCE9FB"/>
                </a:solidFill>
                <a:latin typeface="PingFang SC"/>
                <a:ea typeface="PingFang SC"/>
              </a:rPr>
              <a:t>高级</a:t>
            </a:r>
            <a:r>
              <a:rPr lang="en-US" sz="1650" b="1">
                <a:solidFill>
                  <a:srgbClr val="DCE9FB"/>
                </a:solidFill>
                <a:latin typeface="PingFang SC"/>
                <a:ea typeface="PingFang SC"/>
              </a:rPr>
              <a:t> · </a:t>
            </a:r>
            <a:r>
              <a:rPr lang="zh-CN" sz="1650" b="1">
                <a:solidFill>
                  <a:srgbClr val="DCE9FB"/>
                </a:solidFill>
                <a:latin typeface="PingFang SC"/>
                <a:ea typeface="PingFang SC"/>
              </a:rPr>
              <a:t>完</a:t>
            </a:r>
            <a:endParaRPr/>
          </a:p>
        </p:txBody>
      </p:sp>
      <p:sp>
        <p:nvSpPr>
          <p:cNvPr id="476" name=""/>
          <p:cNvSpPr/>
          <p:nvPr/>
        </p:nvSpPr>
        <p:spPr>
          <a:xfrm rot="0" flipH="0" flipV="0">
            <a:off x="3886200" y="4581525"/>
            <a:ext cx="1181100" cy="381000"/>
          </a:xfrm>
          <a:prstGeom prst="roundRect">
            <a:avLst>
              <a:gd name="adj" fmla="val 2497500"/>
            </a:avLst>
          </a:prstGeom>
          <a:solidFill>
            <a:srgbClr val="06B6D4">
              <a:alpha val="18000"/>
            </a:srgbClr>
          </a:solidFill>
          <a:ln w="12700">
            <a:solidFill>
              <a:srgbClr val="06B6D4">
                <a:alpha val="60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477" name="" descr="{&quot;isTemplate&quot;:true,&quot;type&quot;:&quot;text&quot;}"/>
          <p:cNvSpPr txBox="1"/>
          <p:nvPr/>
        </p:nvSpPr>
        <p:spPr>
          <a:xfrm rot="0" flipH="0" flipV="0">
            <a:off x="4095750" y="4676775"/>
            <a:ext cx="762000" cy="190500"/>
          </a:xfrm>
          <a:prstGeom prst="rect"/>
        </p:spPr>
        <p:txBody>
          <a:bodyPr wrap="none" lIns="0" tIns="0" rIns="0" bIns="0"/>
          <a:p>
            <a:pPr algn="ctr">
              <a:lnSpc>
                <a:spcPct val="100000"/>
              </a:lnSpc>
            </a:pPr>
            <a:r>
              <a:rPr lang="zh-CN" sz="1200" b="1">
                <a:solidFill>
                  <a:srgbClr val="7FD9F0"/>
                </a:solidFill>
                <a:latin typeface="PingFang SC"/>
                <a:ea typeface="PingFang SC"/>
              </a:rPr>
              <a:t>初级：会用</a:t>
            </a:r>
            <a:endParaRPr/>
          </a:p>
        </p:txBody>
      </p:sp>
      <p:sp>
        <p:nvSpPr>
          <p:cNvPr id="478" name="" descr="{&quot;isTemplate&quot;:true,&quot;type&quot;:&quot;text&quot;}"/>
          <p:cNvSpPr txBox="1"/>
          <p:nvPr/>
        </p:nvSpPr>
        <p:spPr>
          <a:xfrm rot="0" flipH="0" flipV="0">
            <a:off x="5200650" y="4667250"/>
            <a:ext cx="171450" cy="209550"/>
          </a:xfrm>
          <a:prstGeom prst="rect"/>
        </p:spPr>
        <p:txBody>
          <a:bodyPr wrap="none" lIns="0" tIns="0" rIns="0" bIns="0"/>
          <a:p>
            <a:pPr algn="ctr">
              <a:lnSpc>
                <a:spcPct val="100000"/>
              </a:lnSpc>
            </a:pPr>
            <a:r>
              <a:rPr sz="1350">
                <a:solidFill>
                  <a:srgbClr val="7FD9F0"/>
                </a:solidFill>
                <a:latin typeface="PingFang SC"/>
                <a:ea typeface="PingFang SC"/>
              </a:rPr>
              <a:t>→</a:t>
            </a:r>
            <a:endParaRPr/>
          </a:p>
        </p:txBody>
      </p:sp>
      <p:sp>
        <p:nvSpPr>
          <p:cNvPr id="479" name=""/>
          <p:cNvSpPr/>
          <p:nvPr/>
        </p:nvSpPr>
        <p:spPr>
          <a:xfrm rot="0" flipH="0" flipV="0">
            <a:off x="5505450" y="4581525"/>
            <a:ext cx="1181100" cy="381000"/>
          </a:xfrm>
          <a:prstGeom prst="roundRect">
            <a:avLst>
              <a:gd name="adj" fmla="val 2497500"/>
            </a:avLst>
          </a:prstGeom>
          <a:solidFill>
            <a:srgbClr val="06B6D4">
              <a:alpha val="18000"/>
            </a:srgbClr>
          </a:solidFill>
          <a:ln w="12700">
            <a:solidFill>
              <a:srgbClr val="06B6D4">
                <a:alpha val="60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480" name="" descr="{&quot;isTemplate&quot;:true,&quot;type&quot;:&quot;text&quot;}"/>
          <p:cNvSpPr txBox="1"/>
          <p:nvPr/>
        </p:nvSpPr>
        <p:spPr>
          <a:xfrm rot="0" flipH="0" flipV="0">
            <a:off x="5715000" y="4676775"/>
            <a:ext cx="762000" cy="190500"/>
          </a:xfrm>
          <a:prstGeom prst="rect"/>
        </p:spPr>
        <p:txBody>
          <a:bodyPr wrap="none" lIns="0" tIns="0" rIns="0" bIns="0"/>
          <a:p>
            <a:pPr algn="ctr">
              <a:lnSpc>
                <a:spcPct val="100000"/>
              </a:lnSpc>
            </a:pPr>
            <a:r>
              <a:rPr lang="zh-CN" sz="1200" b="1">
                <a:solidFill>
                  <a:srgbClr val="7FD9F0"/>
                </a:solidFill>
                <a:latin typeface="PingFang SC"/>
                <a:ea typeface="PingFang SC"/>
              </a:rPr>
              <a:t>中级：能落</a:t>
            </a:r>
            <a:endParaRPr/>
          </a:p>
        </p:txBody>
      </p:sp>
      <p:sp>
        <p:nvSpPr>
          <p:cNvPr id="481" name="" descr="{&quot;isTemplate&quot;:true,&quot;type&quot;:&quot;text&quot;}"/>
          <p:cNvSpPr txBox="1"/>
          <p:nvPr/>
        </p:nvSpPr>
        <p:spPr>
          <a:xfrm rot="0" flipH="0" flipV="0">
            <a:off x="6819900" y="4667250"/>
            <a:ext cx="171450" cy="209550"/>
          </a:xfrm>
          <a:prstGeom prst="rect"/>
        </p:spPr>
        <p:txBody>
          <a:bodyPr wrap="none" lIns="0" tIns="0" rIns="0" bIns="0"/>
          <a:p>
            <a:pPr algn="ctr">
              <a:lnSpc>
                <a:spcPct val="100000"/>
              </a:lnSpc>
            </a:pPr>
            <a:r>
              <a:rPr sz="1350">
                <a:solidFill>
                  <a:srgbClr val="7FD9F0"/>
                </a:solidFill>
                <a:latin typeface="PingFang SC"/>
                <a:ea typeface="PingFang SC"/>
              </a:rPr>
              <a:t>→</a:t>
            </a:r>
            <a:endParaRPr/>
          </a:p>
        </p:txBody>
      </p:sp>
      <p:sp>
        <p:nvSpPr>
          <p:cNvPr id="482" name=""/>
          <p:cNvSpPr/>
          <p:nvPr/>
        </p:nvSpPr>
        <p:spPr>
          <a:xfrm rot="0" flipH="0" flipV="0">
            <a:off x="7124700" y="4581525"/>
            <a:ext cx="1181100" cy="381000"/>
          </a:xfrm>
          <a:prstGeom prst="roundRect">
            <a:avLst>
              <a:gd name="adj" fmla="val 2497500"/>
            </a:avLst>
          </a:prstGeom>
          <a:solidFill>
            <a:srgbClr val="F59E0B">
              <a:alpha val="20000"/>
            </a:srgbClr>
          </a:solidFill>
          <a:ln w="12700">
            <a:solidFill>
              <a:srgbClr val="F59E0B">
                <a:alpha val="60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483" name="" descr="{&quot;isTemplate&quot;:true,&quot;type&quot;:&quot;text&quot;}"/>
          <p:cNvSpPr txBox="1"/>
          <p:nvPr/>
        </p:nvSpPr>
        <p:spPr>
          <a:xfrm rot="0" flipH="0" flipV="0">
            <a:off x="7334250" y="4676775"/>
            <a:ext cx="762000" cy="190500"/>
          </a:xfrm>
          <a:prstGeom prst="rect"/>
        </p:spPr>
        <p:txBody>
          <a:bodyPr wrap="none" lIns="0" tIns="0" rIns="0" bIns="0"/>
          <a:p>
            <a:pPr algn="ctr">
              <a:lnSpc>
                <a:spcPct val="100000"/>
              </a:lnSpc>
            </a:pPr>
            <a:r>
              <a:rPr lang="zh-CN" sz="1200" b="1">
                <a:solidFill>
                  <a:srgbClr val="F8C471"/>
                </a:solidFill>
                <a:latin typeface="PingFang SC"/>
                <a:ea typeface="PingFang SC"/>
              </a:rPr>
              <a:t>高级：善谋</a:t>
            </a:r>
            <a:endParaRPr/>
          </a:p>
        </p:txBody>
      </p:sp>
    </p:spTree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Properties xmlns:vt="http://schemas.openxmlformats.org/officeDocument/2006/docPropsVTypes" xmlns="http://schemas.openxmlformats.org/officeDocument/2006/extended-properties">
  <Application>Tencent office</Application>
</Properties>
</file>

<file path=docProps/core.xml><?xml version="1.0" encoding="utf-8"?>
<cp:coreProperties xmlns:xsi="http://www.w3.org/2001/XMLSchema-instance" xmlns:dcmitype="http://purl.org/dc/dcmitype/" xmlns:dcterms="http://purl.org/dc/terms/" xmlns:dc="http://purl.org/dc/elements/1.1/" xmlns:cp="http://schemas.openxmlformats.org/package/2006/metadata/core-properties">
  <dcterms:created xsi:type="dcterms:W3CDTF">2026-08-24T16:06:30Z</dcterms:created>
  <dcterms:modified xsi:type="dcterms:W3CDTF">2026-08-24T16:06:30Z</dcterms:modified>
</cp:coreProperties>
</file>