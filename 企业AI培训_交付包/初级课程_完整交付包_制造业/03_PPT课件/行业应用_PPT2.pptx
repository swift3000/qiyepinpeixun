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0.svg" ContentType="image/svg+xml"/>
  <Override PartName="/ppt/slides/media/image12.svg" ContentType="image/svg+xml"/>
  <Override PartName="/ppt/slides/media/image13.svg" ContentType="image/svg+xml"/>
  <Override PartName="/ppt/slides/media/image14.svg" ContentType="image/svg+xml"/>
  <Override PartName="/ppt/slides/media/image15.svg" ContentType="image/svg+xml"/>
  <Override PartName="/ppt/slides/media/image16.svg" ContentType="image/svg+xml"/>
  <Override PartName="/ppt/slides/media/image17.svg" ContentType="image/svg+xml"/>
  <Override PartName="/ppt/slides/media/image18.svg" ContentType="image/svg+xml"/>
  <Override PartName="/ppt/slides/media/image19.svg" ContentType="image/svg+xml"/>
  <Override PartName="/ppt/slides/media/image2.svg" ContentType="image/svg+xml"/>
  <Override PartName="/ppt/slides/media/image20.svg" ContentType="image/svg+xml"/>
  <Override PartName="/ppt/slides/media/image21.svg" ContentType="image/svg+xml"/>
  <Override PartName="/ppt/slides/media/image22.svg" ContentType="image/svg+xml"/>
  <Override PartName="/ppt/slides/media/image23.svg" ContentType="image/svg+xml"/>
  <Override PartName="/ppt/slides/media/image24.svg" ContentType="image/svg+xml"/>
  <Override PartName="/ppt/slides/media/image25.svg" ContentType="image/svg+xml"/>
  <Override PartName="/ppt/slides/media/image26.svg" ContentType="image/svg+xml"/>
  <Override PartName="/ppt/slides/media/image28.svg" ContentType="image/svg+xml"/>
  <Override PartName="/ppt/slides/media/image29.svg" ContentType="image/svg+xml"/>
  <Override PartName="/ppt/slides/media/image3.svg" ContentType="image/svg+xml"/>
  <Override PartName="/ppt/slides/media/image30.svg" ContentType="image/svg+xml"/>
  <Override PartName="/ppt/slides/media/image31.svg" ContentType="image/svg+xml"/>
  <Override PartName="/ppt/slides/media/image32.svg" ContentType="image/svg+xml"/>
  <Override PartName="/ppt/slides/media/image33.svg" ContentType="image/svg+xml"/>
  <Override PartName="/ppt/slides/media/image34.svg" ContentType="image/svg+xml"/>
  <Override PartName="/ppt/slides/media/image35.svg" ContentType="image/svg+xml"/>
  <Override PartName="/ppt/slides/media/image37.svg" ContentType="image/svg+xml"/>
  <Override PartName="/ppt/slides/media/image38.svg" ContentType="image/svg+xml"/>
  <Override PartName="/ppt/slides/media/image39.svg" ContentType="image/svg+xml"/>
  <Override PartName="/ppt/slides/media/image4.svg" ContentType="image/svg+xml"/>
  <Override PartName="/ppt/slides/media/image40.svg" ContentType="image/svg+xml"/>
  <Override PartName="/ppt/slides/media/image41.svg" ContentType="image/svg+xml"/>
  <Override PartName="/ppt/slides/media/image42.svg" ContentType="image/svg+xml"/>
  <Override PartName="/ppt/slides/media/image43.svg" ContentType="image/svg+xml"/>
  <Override PartName="/ppt/slides/media/image44.svg" ContentType="image/svg+xml"/>
  <Override PartName="/ppt/slides/media/image45.svg" ContentType="image/svg+xml"/>
  <Override PartName="/ppt/slides/media/image46.svg" ContentType="image/svg+xml"/>
  <Override PartName="/ppt/slides/media/image47.svg" ContentType="image/svg+xml"/>
  <Override PartName="/ppt/slides/media/image48.svg" ContentType="image/svg+xml"/>
  <Override PartName="/ppt/slides/media/image49.svg" ContentType="image/svg+xml"/>
  <Override PartName="/ppt/slides/media/image50.svg" ContentType="image/svg+xml"/>
  <Override PartName="/ppt/slides/media/image51.svg" ContentType="image/svg+xml"/>
  <Override PartName="/ppt/slides/media/image52.svg" ContentType="image/svg+xml"/>
  <Override PartName="/ppt/slides/media/image53.svg" ContentType="image/svg+xml"/>
  <Override PartName="/ppt/slides/media/image54.svg" ContentType="image/svg+xml"/>
  <Override PartName="/ppt/slides/media/image55.svg" ContentType="image/svg+xml"/>
  <Override PartName="/ppt/slides/media/image56.svg" ContentType="image/svg+xml"/>
  <Override PartName="/ppt/slides/media/image57.svg" ContentType="image/svg+xml"/>
  <Override PartName="/ppt/slides/media/image59.svg" ContentType="image/svg+xml"/>
  <Override PartName="/ppt/slides/media/image6.svg" ContentType="image/svg+xml"/>
  <Override PartName="/ppt/slides/media/image60.svg" ContentType="image/svg+xml"/>
  <Override PartName="/ppt/slides/media/image61.svg" ContentType="image/svg+xml"/>
  <Override PartName="/ppt/slides/media/image62.svg" ContentType="image/svg+xml"/>
  <Override PartName="/ppt/slides/media/image63.svg" ContentType="image/svg+xml"/>
  <Override PartName="/ppt/slides/media/image64.svg" ContentType="image/svg+xml"/>
  <Override PartName="/ppt/slides/media/image65.svg" ContentType="image/svg+xml"/>
  <Override PartName="/ppt/slides/media/image66.svg" ContentType="image/svg+xml"/>
  <Override PartName="/ppt/slides/media/image67.svg" ContentType="image/svg+xml"/>
  <Override PartName="/ppt/slides/media/image68.svg" ContentType="image/svg+xml"/>
  <Override PartName="/ppt/slides/media/image69.svg" ContentType="image/svg+xml"/>
  <Override PartName="/ppt/slides/media/image7.svg" ContentType="image/svg+xml"/>
  <Override PartName="/ppt/slides/media/image71.svg" ContentType="image/svg+xml"/>
  <Override PartName="/ppt/slides/media/image72.svg" ContentType="image/svg+xml"/>
  <Override PartName="/ppt/slides/media/image73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tableStyles" Target="tableStyles.xml"/><Relationship Id="rId3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1.svg"/><Relationship Id="rId2" Type="http://schemas.openxmlformats.org/officeDocument/2006/relationships/image" Target="media/image41.svg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1.svg"/><Relationship Id="rId2" Type="http://schemas.openxmlformats.org/officeDocument/2006/relationships/image" Target="media/image62.svg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3.svg"/><Relationship Id="rId2" Type="http://schemas.openxmlformats.org/officeDocument/2006/relationships/image" Target="media/image59.svg"/><Relationship Id="rId3" Type="http://schemas.openxmlformats.org/officeDocument/2006/relationships/image" Target="media/image64.svg"/><Relationship Id="rId4" Type="http://schemas.openxmlformats.org/officeDocument/2006/relationships/image" Target="media/image65.svg"/><Relationship Id="rId5" Type="http://schemas.openxmlformats.org/officeDocument/2006/relationships/image" Target="media/image41.sv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6.svg"/><Relationship Id="rId2" Type="http://schemas.openxmlformats.org/officeDocument/2006/relationships/image" Target="media/image55.svg"/><Relationship Id="rId3" Type="http://schemas.openxmlformats.org/officeDocument/2006/relationships/image" Target="media/image66.svg"/><Relationship Id="rId4" Type="http://schemas.openxmlformats.org/officeDocument/2006/relationships/image" Target="media/image67.svg"/><Relationship Id="rId5" Type="http://schemas.openxmlformats.org/officeDocument/2006/relationships/image" Target="media/image68.svg"/><Relationship Id="rId6" Type="http://schemas.openxmlformats.org/officeDocument/2006/relationships/image" Target="media/image69.svg"/><Relationship Id="rId7" Type="http://schemas.openxmlformats.org/officeDocument/2006/relationships/image" Target="media/image12.svg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0.png"/><Relationship Id="rId2" Type="http://schemas.openxmlformats.org/officeDocument/2006/relationships/image" Target="media/image71.svg"/><Relationship Id="rId3" Type="http://schemas.openxmlformats.org/officeDocument/2006/relationships/image" Target="media/image72.svg"/><Relationship Id="rId4" Type="http://schemas.openxmlformats.org/officeDocument/2006/relationships/image" Target="media/image73.svg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2" Type="http://schemas.openxmlformats.org/officeDocument/2006/relationships/image" Target="media/image3.svg"/><Relationship Id="rId3" Type="http://schemas.openxmlformats.org/officeDocument/2006/relationships/image" Target="media/image4.svg"/><Relationship Id="rId4" Type="http://schemas.openxmlformats.org/officeDocument/2006/relationships/image" Target="media/image5.pn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4" Type="http://schemas.openxmlformats.org/officeDocument/2006/relationships/image" Target="media/image9.svg"/><Relationship Id="rId5" Type="http://schemas.openxmlformats.org/officeDocument/2006/relationships/image" Target="media/image10.svg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pn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3.svg"/><Relationship Id="rId2" Type="http://schemas.openxmlformats.org/officeDocument/2006/relationships/image" Target="media/image14.svg"/><Relationship Id="rId3" Type="http://schemas.openxmlformats.org/officeDocument/2006/relationships/image" Target="media/image15.svg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6.svg"/><Relationship Id="rId2" Type="http://schemas.openxmlformats.org/officeDocument/2006/relationships/image" Target="media/image17.svg"/><Relationship Id="rId3" Type="http://schemas.openxmlformats.org/officeDocument/2006/relationships/image" Target="media/image18.svg"/><Relationship Id="rId4" Type="http://schemas.openxmlformats.org/officeDocument/2006/relationships/image" Target="media/image19.svg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0.svg"/><Relationship Id="rId2" Type="http://schemas.openxmlformats.org/officeDocument/2006/relationships/image" Target="media/image21.svg"/><Relationship Id="rId3" Type="http://schemas.openxmlformats.org/officeDocument/2006/relationships/image" Target="media/image22.svg"/><Relationship Id="rId4" Type="http://schemas.openxmlformats.org/officeDocument/2006/relationships/image" Target="media/image23.svg"/><Relationship Id="rId5" Type="http://schemas.openxmlformats.org/officeDocument/2006/relationships/image" Target="media/image24.svg"/><Relationship Id="rId6" Type="http://schemas.openxmlformats.org/officeDocument/2006/relationships/image" Target="media/image25.svg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6.svg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7.png"/><Relationship Id="rId2" Type="http://schemas.openxmlformats.org/officeDocument/2006/relationships/image" Target="media/image28.svg"/><Relationship Id="rId3" Type="http://schemas.openxmlformats.org/officeDocument/2006/relationships/image" Target="media/image4.svg"/><Relationship Id="rId4" Type="http://schemas.openxmlformats.org/officeDocument/2006/relationships/image" Target="media/image29.svg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0.svg"/><Relationship Id="rId2" Type="http://schemas.openxmlformats.org/officeDocument/2006/relationships/image" Target="media/image31.svg"/><Relationship Id="rId3" Type="http://schemas.openxmlformats.org/officeDocument/2006/relationships/image" Target="media/image32.svg"/><Relationship Id="rId4" Type="http://schemas.openxmlformats.org/officeDocument/2006/relationships/image" Target="media/image24.svg"/><Relationship Id="rId5" Type="http://schemas.openxmlformats.org/officeDocument/2006/relationships/image" Target="media/image33.svg"/><Relationship Id="rId6" Type="http://schemas.openxmlformats.org/officeDocument/2006/relationships/image" Target="media/image34.svg"/><Relationship Id="rId7" Type="http://schemas.openxmlformats.org/officeDocument/2006/relationships/image" Target="media/image35.svg"/><Relationship Id="rId8" Type="http://schemas.openxmlformats.org/officeDocument/2006/relationships/image" Target="media/image12.svg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6.png"/><Relationship Id="rId2" Type="http://schemas.openxmlformats.org/officeDocument/2006/relationships/image" Target="media/image31.svg"/><Relationship Id="rId3" Type="http://schemas.openxmlformats.org/officeDocument/2006/relationships/image" Target="media/image37.svg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8.svg"/><Relationship Id="rId2" Type="http://schemas.openxmlformats.org/officeDocument/2006/relationships/image" Target="media/image39.svg"/><Relationship Id="rId3" Type="http://schemas.openxmlformats.org/officeDocument/2006/relationships/image" Target="media/image40.svg"/><Relationship Id="rId4" Type="http://schemas.openxmlformats.org/officeDocument/2006/relationships/image" Target="media/image41.svg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2.svg"/><Relationship Id="rId2" Type="http://schemas.openxmlformats.org/officeDocument/2006/relationships/image" Target="media/image31.svg"/><Relationship Id="rId3" Type="http://schemas.openxmlformats.org/officeDocument/2006/relationships/image" Target="media/image43.svg"/><Relationship Id="rId4" Type="http://schemas.openxmlformats.org/officeDocument/2006/relationships/image" Target="media/image44.svg"/><Relationship Id="rId5" Type="http://schemas.openxmlformats.org/officeDocument/2006/relationships/image" Target="media/image45.svg"/><Relationship Id="rId6" Type="http://schemas.openxmlformats.org/officeDocument/2006/relationships/image" Target="media/image46.svg"/><Relationship Id="rId7" Type="http://schemas.openxmlformats.org/officeDocument/2006/relationships/image" Target="media/image47.svg"/><Relationship Id="rId8" Type="http://schemas.openxmlformats.org/officeDocument/2006/relationships/image" Target="media/image48.svg"/><Relationship Id="rId9" Type="http://schemas.openxmlformats.org/officeDocument/2006/relationships/image" Target="media/image49.svg"/><Relationship Id="rId10" Type="http://schemas.openxmlformats.org/officeDocument/2006/relationships/image" Target="media/image50.svg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1.svg"/><Relationship Id="rId2" Type="http://schemas.openxmlformats.org/officeDocument/2006/relationships/image" Target="media/image52.svg"/><Relationship Id="rId3" Type="http://schemas.openxmlformats.org/officeDocument/2006/relationships/image" Target="media/image53.svg"/><Relationship Id="rId4" Type="http://schemas.openxmlformats.org/officeDocument/2006/relationships/image" Target="media/image54.svg"/><Relationship Id="rId5" Type="http://schemas.openxmlformats.org/officeDocument/2006/relationships/image" Target="media/image12.svg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5.svg"/><Relationship Id="rId2" Type="http://schemas.openxmlformats.org/officeDocument/2006/relationships/image" Target="media/image56.svg"/><Relationship Id="rId3" Type="http://schemas.openxmlformats.org/officeDocument/2006/relationships/image" Target="media/image57.svg"/><Relationship Id="rId4" Type="http://schemas.openxmlformats.org/officeDocument/2006/relationships/image" Target="media/image58.png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9.svg"/><Relationship Id="rId2" Type="http://schemas.openxmlformats.org/officeDocument/2006/relationships/image" Target="media/image60.svg"/></Relationships>
</file>

<file path=ppt/slides/_rels/slide3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Relationship Id="rId2" Type="http://schemas.openxmlformats.org/officeDocument/2006/relationships/image" Target="media/image6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55000">
                <a:srgbClr val="1E3A8A">
                  <a:alpha val="60000"/>
                </a:srgbClr>
              </a:gs>
              <a:gs pos="100000">
                <a:srgbClr val="1E3A8A">
                  <a:alpha val="2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800100" y="1905000"/>
            <a:ext cx="55245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485900" y="180975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制造业企业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> AI </a:t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通识培训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> · </a:t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初级</a:t>
            </a:r>
            <a:r>
              <a:rPr lang="en-US" sz="1500" spc="225">
                <a:solidFill>
                  <a:srgbClr val="BFD9F5"/>
                </a:solidFill>
                <a:latin typeface="PingFang SC"/>
                <a:ea typeface="PingFang SC"/>
              </a:rPr>
              <a:t> · </a:t>
            </a:r>
            <a:r>
              <a:rPr lang="zh-CN" sz="1500" spc="225">
                <a:solidFill>
                  <a:srgbClr val="BFD9F5"/>
                </a:solidFill>
                <a:latin typeface="PingFang SC"/>
                <a:ea typeface="PingFang SC"/>
              </a:rPr>
              <a:t>下半场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10591800" cy="10763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63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行业应用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3552825"/>
            <a:ext cx="10591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CE9FB"/>
                </a:solidFill>
                <a:latin typeface="PingFang SC"/>
                <a:ea typeface="PingFang SC"/>
              </a:rPr>
              <a:t>AI </a:t>
            </a: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在制造业的落地</a:t>
            </a:r>
            <a:r>
              <a:rPr lang="en-US" sz="22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2250" b="1">
                <a:solidFill>
                  <a:srgbClr val="DCE9FB"/>
                </a:solidFill>
                <a:latin typeface="PingFang SC"/>
                <a:ea typeface="PingFang SC"/>
              </a:rPr>
              <a:t>精益版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4048125"/>
            <a:ext cx="1059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六大场景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精益速成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数据就绪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试点方法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—— 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从「我懂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AI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」到「我在岗位用</a:t>
            </a:r>
            <a:r>
              <a:rPr lang="en-US" sz="1500">
                <a:solidFill>
                  <a:srgbClr val="A9C4E8"/>
                </a:solidFill>
                <a:latin typeface="PingFang SC"/>
                <a:ea typeface="PingFang SC"/>
              </a:rPr>
              <a:t> AI</a:t>
            </a:r>
            <a:r>
              <a:rPr lang="zh-CN" sz="1500">
                <a:solidFill>
                  <a:srgbClr val="A9C4E8"/>
                </a:solidFill>
                <a:latin typeface="PingFang SC"/>
                <a:ea typeface="PingFang SC"/>
              </a:rPr>
              <a:t>」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00100" y="4657725"/>
            <a:ext cx="1057275" cy="390525"/>
          </a:xfrm>
          <a:prstGeom prst="roundRect">
            <a:avLst>
              <a:gd name="adj" fmla="val 2436585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09650" y="4752975"/>
            <a:ext cx="638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FD9F0"/>
                </a:solidFill>
                <a:latin typeface="PingFang SC"/>
                <a:ea typeface="PingFang SC"/>
              </a:rPr>
              <a:t>7 </a:t>
            </a:r>
            <a:r>
              <a:rPr lang="zh-CN" sz="1275" b="1">
                <a:solidFill>
                  <a:srgbClr val="7FD9F0"/>
                </a:solidFill>
                <a:latin typeface="PingFang SC"/>
                <a:ea typeface="PingFang SC"/>
              </a:rPr>
              <a:t>大模块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990725" y="4657725"/>
            <a:ext cx="800100" cy="390525"/>
          </a:xfrm>
          <a:prstGeom prst="roundRect">
            <a:avLst>
              <a:gd name="adj" fmla="val 243658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00275" y="4752975"/>
            <a:ext cx="38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C471"/>
                </a:solidFill>
                <a:latin typeface="PingFang SC"/>
                <a:ea typeface="PingFang SC"/>
              </a:rPr>
              <a:t>33 </a:t>
            </a:r>
            <a:r>
              <a:rPr lang="zh-CN" sz="1275" b="1">
                <a:solidFill>
                  <a:srgbClr val="F8C471"/>
                </a:solidFill>
                <a:latin typeface="PingFang SC"/>
                <a:ea typeface="PingFang SC"/>
              </a:rPr>
              <a:t>页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924175" y="4657725"/>
            <a:ext cx="1905000" cy="390525"/>
          </a:xfrm>
          <a:prstGeom prst="roundRect">
            <a:avLst>
              <a:gd name="adj" fmla="val 24365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133725" y="4752975"/>
            <a:ext cx="1485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全程零代码</a:t>
            </a:r>
            <a:r>
              <a:rPr lang="en-US" sz="1275" b="1">
                <a:solidFill>
                  <a:srgbClr val="EAF2FC"/>
                </a:solidFill>
                <a:latin typeface="PingFang SC"/>
                <a:ea typeface="PingFang SC"/>
              </a:rPr>
              <a:t> · </a:t>
            </a:r>
            <a:r>
              <a:rPr lang="zh-CN" sz="1275" b="1">
                <a:solidFill>
                  <a:srgbClr val="EAF2FC"/>
                </a:solidFill>
                <a:latin typeface="PingFang SC"/>
                <a:ea typeface="PingFang SC"/>
              </a:rPr>
              <a:t>带数据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3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3528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课程目录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35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接在《通用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基础》之后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· 7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个模块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· 2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学时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85800" y="1276350"/>
            <a:ext cx="3152775" cy="5105400"/>
          </a:xfrm>
          <a:prstGeom prst="roundRect">
            <a:avLst>
              <a:gd name="adj" fmla="val 5438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33450" y="1562100"/>
            <a:ext cx="2657475" cy="3429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FFFFFF"/>
                </a:solidFill>
                <a:latin typeface="PingFang SC"/>
                <a:ea typeface="PingFang SC"/>
              </a:rPr>
              <a:t>行业应用</a:t>
            </a:r>
            <a:endParaRPr/>
          </a:p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FFFFFF"/>
                </a:solidFill>
                <a:latin typeface="PingFang SC"/>
                <a:ea typeface="PingFang SC"/>
              </a:rPr>
              <a:t>不是通用课</a:t>
            </a:r>
            <a:endParaRPr/>
          </a:p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FFFFFF"/>
                </a:solidFill>
                <a:latin typeface="PingFang SC"/>
                <a:ea typeface="PingFang SC"/>
              </a:rPr>
              <a:t>的第二遍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33450" y="5162550"/>
            <a:ext cx="26574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A9C4E8"/>
                </a:solidFill>
                <a:latin typeface="PingFang SC"/>
                <a:ea typeface="PingFang SC"/>
              </a:rPr>
              <a:t>同一套原理，换上行业的外衣——数据从哪来、处置权在谁，才是落地时先变的两件事。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162425" y="1276350"/>
            <a:ext cx="73437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371975" y="138112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057775" y="140970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制造业为何要</a:t>
            </a:r>
            <a:r>
              <a:rPr lang="en-US" sz="1650" b="1">
                <a:solidFill>
                  <a:srgbClr val="1E3A8A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105775" y="1438275"/>
            <a:ext cx="3190875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精益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+ AI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的演进逻辑与选型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4162425" y="2028825"/>
            <a:ext cx="7343775" cy="581025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371975" y="217170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057775" y="21907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制造业</a:t>
            </a:r>
            <a:r>
              <a:rPr lang="en-US" sz="1650" b="1">
                <a:solidFill>
                  <a:srgbClr val="1E3A8A"/>
                </a:solidFill>
                <a:latin typeface="PingFang SC"/>
                <a:ea typeface="PingFang SC"/>
              </a:rPr>
              <a:t> AI </a:t>
            </a: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六大场景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105775" y="2133600"/>
            <a:ext cx="3190875" cy="3714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预测维护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视觉质检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工艺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孪生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· Copilot ·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补货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162425" y="2847975"/>
            <a:ext cx="73437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371975" y="295275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057775" y="29813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精益速成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105775" y="3009900"/>
            <a:ext cx="3190875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八大浪费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三钟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· OEE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：听得懂的行业语言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162425" y="3609975"/>
            <a:ext cx="73437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371975" y="371475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057775" y="37433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数据就绪与人在回路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105775" y="3771900"/>
            <a:ext cx="3190875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试点的门槛，以及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该信几分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4162425" y="4362450"/>
            <a:ext cx="73437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371975" y="446722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057775" y="449580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制造业</a:t>
            </a:r>
            <a:r>
              <a:rPr lang="en-US" sz="1650" b="1">
                <a:solidFill>
                  <a:srgbClr val="1E3A8A"/>
                </a:solidFill>
                <a:latin typeface="PingFang SC"/>
                <a:ea typeface="PingFang SC"/>
              </a:rPr>
              <a:t> Agent </a:t>
            </a: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与</a:t>
            </a:r>
            <a:r>
              <a:rPr lang="en-US" sz="1650" b="1">
                <a:solidFill>
                  <a:srgbClr val="1E3A8A"/>
                </a:solidFill>
                <a:latin typeface="PingFang SC"/>
                <a:ea typeface="PingFang SC"/>
              </a:rPr>
              <a:t> RAG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105775" y="4524375"/>
            <a:ext cx="3190875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把手册和工单变成标准作业知识库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162425" y="5114925"/>
            <a:ext cx="73437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371975" y="5219700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057775" y="524827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精益</a:t>
            </a:r>
            <a:r>
              <a:rPr lang="en-US" sz="1650" b="1">
                <a:solidFill>
                  <a:srgbClr val="1E3A8A"/>
                </a:solidFill>
                <a:latin typeface="PingFang SC"/>
                <a:ea typeface="PingFang SC"/>
              </a:rPr>
              <a:t>-AI </a:t>
            </a: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试点方法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105775" y="5276850"/>
            <a:ext cx="3190875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ROI · PDCA ·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避坑清单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162425" y="5867400"/>
            <a:ext cx="73437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371975" y="597217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057775" y="60007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案例工作坊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105775" y="6029325"/>
            <a:ext cx="3190875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真实活动包上手，交付试点章程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65913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10490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02 / 33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952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先对个速查表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PPT1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学的通用概念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在车间具体指什么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85800" y="1276350"/>
            <a:ext cx="2381250" cy="752475"/>
          </a:xfrm>
          <a:prstGeom prst="roundRect">
            <a:avLst>
              <a:gd name="adj" fmla="val 1519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1362075" y="1543050"/>
            <a:ext cx="1038225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大模型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LLM</a:t>
            </a:r>
            <a:endParaRPr/>
          </a:p>
        </p:txBody>
      </p:sp>
      <p:pic>
        <p:nvPicPr>
          <p:cNvPr id="6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00400" y="1543050"/>
            <a:ext cx="228600" cy="228600"/>
          </a:xfrm>
          <a:prstGeom prst="rect">
            <a:avLst/>
          </a:prstGeom>
          <a:ln/>
        </p:spPr>
      </p:pic>
      <p:sp>
        <p:nvSpPr>
          <p:cNvPr id="685" name=""/>
          <p:cNvSpPr/>
          <p:nvPr/>
        </p:nvSpPr>
        <p:spPr>
          <a:xfrm rot="0" flipH="0" flipV="0">
            <a:off x="3562350" y="1276350"/>
            <a:ext cx="7943850" cy="752475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3752850" y="15049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读懂手册</a:t>
            </a:r>
            <a:r>
              <a:rPr lang="en-US" sz="1425" b="1">
                <a:solidFill>
                  <a:srgbClr val="0E7490"/>
                </a:solidFill>
                <a:latin typeface="PingFang SC"/>
                <a:ea typeface="PingFang SC"/>
              </a:rPr>
              <a:t> / </a:t>
            </a: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工单</a:t>
            </a:r>
            <a:r>
              <a:rPr lang="en-US" sz="1425" b="1">
                <a:solidFill>
                  <a:srgbClr val="0E7490"/>
                </a:solidFill>
                <a:latin typeface="PingFang SC"/>
                <a:ea typeface="PingFang SC"/>
              </a:rPr>
              <a:t> / </a:t>
            </a: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标准的「文本大脑」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7086600" y="1400175"/>
            <a:ext cx="4229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查资料、总结工单、起草内容——它不替你决定，只替你把材料读明白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85800" y="2381250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1295400" y="2695575"/>
            <a:ext cx="1171575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智能体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Agent</a:t>
            </a:r>
            <a:endParaRPr/>
          </a:p>
        </p:txBody>
      </p:sp>
      <p:pic>
        <p:nvPicPr>
          <p:cNvPr id="6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00400" y="2695575"/>
            <a:ext cx="228600" cy="228600"/>
          </a:xfrm>
          <a:prstGeom prst="rect">
            <a:avLst/>
          </a:prstGeom>
          <a:ln/>
        </p:spPr>
      </p:pic>
      <p:sp>
        <p:nvSpPr>
          <p:cNvPr id="691" name=""/>
          <p:cNvSpPr/>
          <p:nvPr/>
        </p:nvSpPr>
        <p:spPr>
          <a:xfrm rot="0" flipH="0" flipV="0">
            <a:off x="3562350" y="2381250"/>
            <a:ext cx="79438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3752850" y="2505075"/>
            <a:ext cx="3143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制造</a:t>
            </a:r>
            <a:r>
              <a:rPr lang="en-US" sz="1425" b="1">
                <a:solidFill>
                  <a:srgbClr val="0E7490"/>
                </a:solidFill>
                <a:latin typeface="PingFang SC"/>
                <a:ea typeface="PingFang SC"/>
              </a:rPr>
              <a:t> Copilot</a:t>
            </a: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：查资料、起草受控文件、调度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086600" y="2686050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副驾定位：它跑腿起草，人主导拍板，越自主越要人盯着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85800" y="3590925"/>
            <a:ext cx="2381250" cy="552450"/>
          </a:xfrm>
          <a:prstGeom prst="roundRect">
            <a:avLst>
              <a:gd name="adj" fmla="val 2069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1276350" y="3752850"/>
            <a:ext cx="1200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知识库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· RAG</a:t>
            </a:r>
            <a:endParaRPr/>
          </a:p>
        </p:txBody>
      </p:sp>
      <p:pic>
        <p:nvPicPr>
          <p:cNvPr id="6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00400" y="3752850"/>
            <a:ext cx="228600" cy="228600"/>
          </a:xfrm>
          <a:prstGeom prst="rect">
            <a:avLst/>
          </a:prstGeom>
          <a:ln/>
        </p:spPr>
      </p:pic>
      <p:sp>
        <p:nvSpPr>
          <p:cNvPr id="697" name=""/>
          <p:cNvSpPr/>
          <p:nvPr/>
        </p:nvSpPr>
        <p:spPr>
          <a:xfrm rot="0" flipH="0" flipV="0">
            <a:off x="3562350" y="3590925"/>
            <a:ext cx="79438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3752850" y="371475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标准作业知识库：答案可追溯来源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086600" y="3743325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把维修手册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/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工单接进知识库，生成的每句话都带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出自哪一页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85800" y="4486275"/>
            <a:ext cx="2381250" cy="857250"/>
          </a:xfrm>
          <a:prstGeom prst="roundRect">
            <a:avLst>
              <a:gd name="adj" fmla="val 13333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495425" y="4800600"/>
            <a:ext cx="762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人在回路</a:t>
            </a:r>
            <a:endParaRPr/>
          </a:p>
        </p:txBody>
      </p:sp>
      <p:pic>
        <p:nvPicPr>
          <p:cNvPr id="7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00400" y="4800600"/>
            <a:ext cx="228600" cy="228600"/>
          </a:xfrm>
          <a:prstGeom prst="rect">
            <a:avLst/>
          </a:prstGeom>
          <a:ln/>
        </p:spPr>
      </p:pic>
      <p:sp>
        <p:nvSpPr>
          <p:cNvPr id="703" name=""/>
          <p:cNvSpPr/>
          <p:nvPr/>
        </p:nvSpPr>
        <p:spPr>
          <a:xfrm rot="0" flipH="0" flipV="0">
            <a:off x="3562350" y="4486275"/>
            <a:ext cx="79438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3752850" y="4610100"/>
            <a:ext cx="3143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车间版：</a:t>
            </a:r>
            <a:r>
              <a:rPr lang="en-US" sz="1425" b="1">
                <a:solidFill>
                  <a:srgbClr val="0E7490"/>
                </a:solidFill>
                <a:latin typeface="PingFang SC"/>
                <a:ea typeface="PingFang SC"/>
              </a:rPr>
              <a:t>AI </a:t>
            </a:r>
            <a:r>
              <a:rPr lang="zh-CN" sz="1425" b="1">
                <a:solidFill>
                  <a:srgbClr val="0E7490"/>
                </a:solidFill>
                <a:latin typeface="PingFang SC"/>
                <a:ea typeface="PingFang SC"/>
              </a:rPr>
              <a:t>给证据与置信度，人批处置权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086600" y="4791075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说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"85%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概率是轴承磨损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，是停不停机、换不换人，由你批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85800" y="569595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dash"/>
          </a:ln>
        </p:spPr>
        <p:txBody>
          <a:bodyPr/>
          <a:p>
            <a:pPr/>
            <a:endParaRPr/>
          </a:p>
        </p:txBody>
      </p:sp>
      <p:pic>
        <p:nvPicPr>
          <p:cNvPr id="7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5810250"/>
            <a:ext cx="228600" cy="228600"/>
          </a:xfrm>
          <a:prstGeom prst="rect">
            <a:avLst/>
          </a:prstGeom>
          <a:ln/>
        </p:spPr>
      </p:pic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257300" y="5819775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同一套原理，不同的皮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 ——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行业篇变的两件事：数据从哪来、处置权在谁。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03 / 33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09" name=""/>
          <p:cNvPicPr>
            <a:picLocks noChangeAspect="1"/>
          </p:cNvPicPr>
          <p:nvPr/>
        </p:nvPicPr>
        <p:blipFill>
          <a:blip r:embed="rId1">
            <a:alphaModFix amt="50000"/>
          </a:blip>
          <a:srcRect l="26242" t="0" r="26242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810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ONE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00100" y="3657600"/>
            <a:ext cx="10591800" cy="7334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制造业为何要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800100" y="467677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800100" y="492442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精益管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"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去浪费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"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，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AI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补五种能力：感知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预测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推荐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生成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·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学习。两条演进轴看懂这件事。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2766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两条演进轴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技术怎么走到生成式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，维护怎么走到预测式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85800" y="1276350"/>
            <a:ext cx="981075" cy="247650"/>
          </a:xfrm>
          <a:prstGeom prst="roundRect">
            <a:avLst>
              <a:gd name="adj" fmla="val 3842308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19150" y="13144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技术演进轴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1781175" y="132397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确定性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概率性：越往后越要「验证」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85800" y="1619250"/>
            <a:ext cx="22955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1533525" y="1771650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自动化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1238250" y="2076450"/>
            <a:ext cx="1200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按规则执行，确定性</a:t>
            </a:r>
            <a:endParaRPr/>
          </a:p>
        </p:txBody>
      </p:sp>
      <p:pic>
        <p:nvPicPr>
          <p:cNvPr id="8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95625" y="1933575"/>
            <a:ext cx="209550" cy="209550"/>
          </a:xfrm>
          <a:prstGeom prst="rect">
            <a:avLst/>
          </a:prstGeom>
          <a:ln/>
        </p:spPr>
      </p:pic>
      <p:sp>
        <p:nvSpPr>
          <p:cNvPr id="828" name=""/>
          <p:cNvSpPr/>
          <p:nvPr/>
        </p:nvSpPr>
        <p:spPr>
          <a:xfrm rot="0" flipH="0" flipV="0">
            <a:off x="3419475" y="1619250"/>
            <a:ext cx="22955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4371975" y="177165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分析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3838575" y="2076450"/>
            <a:ext cx="14668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描述与诊断，发生了什么</a:t>
            </a:r>
            <a:endParaRPr/>
          </a:p>
        </p:txBody>
      </p:sp>
      <p:pic>
        <p:nvPicPr>
          <p:cNvPr id="8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29300" y="1933575"/>
            <a:ext cx="209550" cy="209550"/>
          </a:xfrm>
          <a:prstGeom prst="rect">
            <a:avLst/>
          </a:prstGeom>
          <a:ln/>
        </p:spPr>
      </p:pic>
      <p:sp>
        <p:nvSpPr>
          <p:cNvPr id="832" name=""/>
          <p:cNvSpPr/>
          <p:nvPr/>
        </p:nvSpPr>
        <p:spPr>
          <a:xfrm rot="0" flipH="0" flipV="0">
            <a:off x="6153150" y="1619250"/>
            <a:ext cx="22955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6905625" y="177165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机器学习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6705600" y="2076450"/>
            <a:ext cx="1200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预测，将会发生什么</a:t>
            </a:r>
            <a:endParaRPr/>
          </a:p>
        </p:txBody>
      </p:sp>
      <p:pic>
        <p:nvPicPr>
          <p:cNvPr id="8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62975" y="1933575"/>
            <a:ext cx="209550" cy="209550"/>
          </a:xfrm>
          <a:prstGeom prst="rect">
            <a:avLst/>
          </a:prstGeom>
          <a:ln/>
        </p:spPr>
      </p:pic>
      <p:sp>
        <p:nvSpPr>
          <p:cNvPr id="836" name=""/>
          <p:cNvSpPr/>
          <p:nvPr/>
        </p:nvSpPr>
        <p:spPr>
          <a:xfrm rot="0" flipH="0" flipV="0">
            <a:off x="8886825" y="1619250"/>
            <a:ext cx="2619375" cy="838200"/>
          </a:xfrm>
          <a:prstGeom prst="roundRect">
            <a:avLst>
              <a:gd name="adj" fmla="val 15909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9772650" y="1771650"/>
            <a:ext cx="857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B45309"/>
                </a:solidFill>
                <a:latin typeface="PingFang SC"/>
                <a:ea typeface="PingFang SC"/>
              </a:rPr>
              <a:t>生成式</a:t>
            </a:r>
            <a:r>
              <a:rPr lang="en-US" sz="1575" b="1">
                <a:solidFill>
                  <a:srgbClr val="B45309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9601200" y="2076450"/>
            <a:ext cx="1200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创造文本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图像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代码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685800" y="3457575"/>
            <a:ext cx="838200" cy="247650"/>
          </a:xfrm>
          <a:prstGeom prst="roundRect">
            <a:avLst>
              <a:gd name="adj" fmla="val 3842308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19150" y="3495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维护四阶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1638300" y="35052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设备维护从「救火」走向「预知」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685800" y="3800475"/>
            <a:ext cx="22955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1533525" y="3952875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反应式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1238250" y="4257675"/>
            <a:ext cx="1200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坏了再修，代价最高</a:t>
            </a:r>
            <a:endParaRPr/>
          </a:p>
        </p:txBody>
      </p:sp>
      <p:pic>
        <p:nvPicPr>
          <p:cNvPr id="8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95625" y="4114800"/>
            <a:ext cx="209550" cy="209550"/>
          </a:xfrm>
          <a:prstGeom prst="rect">
            <a:avLst/>
          </a:prstGeom>
          <a:ln/>
        </p:spPr>
      </p:pic>
      <p:sp>
        <p:nvSpPr>
          <p:cNvPr id="846" name=""/>
          <p:cNvSpPr/>
          <p:nvPr/>
        </p:nvSpPr>
        <p:spPr>
          <a:xfrm rot="0" flipH="0" flipV="0">
            <a:off x="3419475" y="3800475"/>
            <a:ext cx="22955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4267200" y="3952875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预防式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3905250" y="4257675"/>
            <a:ext cx="1333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定期保养，稳妥但保守</a:t>
            </a:r>
            <a:endParaRPr/>
          </a:p>
        </p:txBody>
      </p:sp>
      <p:pic>
        <p:nvPicPr>
          <p:cNvPr id="8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29300" y="4114800"/>
            <a:ext cx="209550" cy="209550"/>
          </a:xfrm>
          <a:prstGeom prst="rect">
            <a:avLst/>
          </a:prstGeom>
          <a:ln/>
        </p:spPr>
      </p:pic>
      <p:sp>
        <p:nvSpPr>
          <p:cNvPr id="850" name=""/>
          <p:cNvSpPr/>
          <p:nvPr/>
        </p:nvSpPr>
        <p:spPr>
          <a:xfrm rot="0" flipH="0" flipV="0">
            <a:off x="6153150" y="3800475"/>
            <a:ext cx="22955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7000875" y="3952875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8A"/>
                </a:solidFill>
                <a:latin typeface="PingFang SC"/>
                <a:ea typeface="PingFang SC"/>
              </a:rPr>
              <a:t>状态式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6638925" y="4257675"/>
            <a:ext cx="1333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传感器监测，按需保养</a:t>
            </a:r>
            <a:endParaRPr/>
          </a:p>
        </p:txBody>
      </p:sp>
      <p:pic>
        <p:nvPicPr>
          <p:cNvPr id="8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62975" y="4114800"/>
            <a:ext cx="209550" cy="209550"/>
          </a:xfrm>
          <a:prstGeom prst="rect">
            <a:avLst/>
          </a:prstGeom>
          <a:ln/>
        </p:spPr>
      </p:pic>
      <p:sp>
        <p:nvSpPr>
          <p:cNvPr id="854" name=""/>
          <p:cNvSpPr/>
          <p:nvPr/>
        </p:nvSpPr>
        <p:spPr>
          <a:xfrm rot="0" flipH="0" flipV="0">
            <a:off x="8886825" y="3800475"/>
            <a:ext cx="2619375" cy="838200"/>
          </a:xfrm>
          <a:prstGeom prst="roundRect">
            <a:avLst>
              <a:gd name="adj" fmla="val 15909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9896475" y="3952875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B45309"/>
                </a:solidFill>
                <a:latin typeface="PingFang SC"/>
                <a:ea typeface="PingFang SC"/>
              </a:rPr>
              <a:t>预测式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9467850" y="4257675"/>
            <a:ext cx="14668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预测故障时间，提前排程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85800" y="5638800"/>
            <a:ext cx="10820400" cy="514350"/>
          </a:xfrm>
          <a:prstGeom prst="roundRect">
            <a:avLst>
              <a:gd name="adj" fmla="val 25926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772150"/>
            <a:ext cx="247650" cy="247650"/>
          </a:xfrm>
          <a:prstGeom prst="rect">
            <a:avLst/>
          </a:prstGeom>
          <a:ln/>
        </p:spPr>
      </p:pic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1295400" y="5791200"/>
            <a:ext cx="7534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「维护四阶」是理解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价值的最佳窗口：每升一阶，停机少一点、备件准一点、产线稳一点。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05 / 33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5433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两种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AI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两种活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经典机器学习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vs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生成式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：分工不同，别混着选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685800" y="1276350"/>
            <a:ext cx="636270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933450" y="15240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57275" y="1647825"/>
            <a:ext cx="247650" cy="247650"/>
          </a:xfrm>
          <a:prstGeom prst="rect">
            <a:avLst/>
          </a:prstGeom>
          <a:ln/>
        </p:spPr>
      </p:pic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1562100" y="1552575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经典机器学习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562100" y="18288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出「分数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 /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类别</a:t>
            </a:r>
            <a:r>
              <a:rPr lang="en-US" sz="1125" b="1">
                <a:solidFill>
                  <a:srgbClr val="0891B2"/>
                </a:solidFill>
                <a:latin typeface="PingFang SC"/>
                <a:ea typeface="PingFang SC"/>
              </a:rPr>
              <a:t> / </a:t>
            </a:r>
            <a:r>
              <a:rPr lang="zh-CN" sz="1125" b="1">
                <a:solidFill>
                  <a:srgbClr val="0891B2"/>
                </a:solidFill>
                <a:latin typeface="PingFang SC"/>
                <a:ea typeface="PingFang SC"/>
              </a:rPr>
              <a:t>预测」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933450" y="2171700"/>
            <a:ext cx="58674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85850" y="2276475"/>
            <a:ext cx="190500" cy="190500"/>
          </a:xfrm>
          <a:prstGeom prst="rect">
            <a:avLst/>
          </a:prstGeom>
          <a:ln/>
        </p:spPr>
      </p:pic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1390650" y="226695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质检缺陷分类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3124200" y="228600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这张片子是裂纹还是划痕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933450" y="3276600"/>
            <a:ext cx="58674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85850" y="3381375"/>
            <a:ext cx="190500" cy="190500"/>
          </a:xfrm>
          <a:prstGeom prst="rect">
            <a:avLst/>
          </a:prstGeom>
          <a:ln/>
        </p:spPr>
      </p:pic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1390650" y="337185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剩余寿命预测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3124200" y="339090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这台主轴还能跑多久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933450" y="4371975"/>
            <a:ext cx="5867400" cy="390525"/>
          </a:xfrm>
          <a:prstGeom prst="roundRect">
            <a:avLst>
              <a:gd name="adj" fmla="val 2439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85850" y="4476750"/>
            <a:ext cx="190500" cy="190500"/>
          </a:xfrm>
          <a:prstGeom prst="rect">
            <a:avLst/>
          </a:prstGeom>
          <a:ln/>
        </p:spPr>
      </p:pic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1390650" y="44672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需求预测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124200" y="4486275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下个月要备多少料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933450" y="4876800"/>
            <a:ext cx="586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强项：</a:t>
            </a:r>
            <a:r>
              <a:rPr lang="zh-CN" sz="1125" b="1">
                <a:solidFill>
                  <a:srgbClr val="0E7490"/>
                </a:solidFill>
                <a:latin typeface="PingFang SC"/>
                <a:ea typeface="PingFang SC"/>
              </a:rPr>
              <a:t>从数字里给出判断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，结果稳定可解释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7258050" y="1276350"/>
            <a:ext cx="4248150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7505700" y="152400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8EC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29525" y="1647825"/>
            <a:ext cx="247650" cy="247650"/>
          </a:xfrm>
          <a:prstGeom prst="rect">
            <a:avLst/>
          </a:prstGeom>
          <a:ln/>
        </p:spPr>
      </p:pic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8134350" y="1552575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生成式</a:t>
            </a:r>
            <a:r>
              <a:rPr lang="en-US" sz="1800" b="1">
                <a:solidFill>
                  <a:srgbClr val="1E3A8A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8134350" y="18288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出「文本</a:t>
            </a:r>
            <a:r>
              <a:rPr lang="en-US" sz="1125" b="1">
                <a:solidFill>
                  <a:srgbClr val="1E3A8A"/>
                </a:solidFill>
                <a:latin typeface="PingFang SC"/>
                <a:ea typeface="PingFang SC"/>
              </a:rPr>
              <a:t> / 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图像</a:t>
            </a:r>
            <a:r>
              <a:rPr lang="en-US" sz="1125" b="1">
                <a:solidFill>
                  <a:srgbClr val="1E3A8A"/>
                </a:solidFill>
                <a:latin typeface="PingFang SC"/>
                <a:ea typeface="PingFang SC"/>
              </a:rPr>
              <a:t> / 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代码」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7505700" y="2171700"/>
            <a:ext cx="3752850" cy="381000"/>
          </a:xfrm>
          <a:prstGeom prst="roundRect">
            <a:avLst>
              <a:gd name="adj" fmla="val 2500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58100" y="2266950"/>
            <a:ext cx="190500" cy="190500"/>
          </a:xfrm>
          <a:prstGeom prst="rect">
            <a:avLst/>
          </a:prstGeom>
          <a:ln/>
        </p:spPr>
      </p:pic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7962900" y="22669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起草作业规程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9315450" y="228600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把要点写成受控文档初稿</a:t>
            </a:r>
            <a:endParaRPr/>
          </a:p>
        </p:txBody>
      </p:sp>
      <p:sp>
        <p:nvSpPr>
          <p:cNvPr id="894" name=""/>
          <p:cNvSpPr/>
          <p:nvPr/>
        </p:nvSpPr>
        <p:spPr>
          <a:xfrm rot="0" flipH="0" flipV="0">
            <a:off x="7505700" y="3276600"/>
            <a:ext cx="3752850" cy="381000"/>
          </a:xfrm>
          <a:prstGeom prst="roundRect">
            <a:avLst>
              <a:gd name="adj" fmla="val 2500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58100" y="3371850"/>
            <a:ext cx="190500" cy="190500"/>
          </a:xfrm>
          <a:prstGeom prst="rect">
            <a:avLst/>
          </a:prstGeom>
          <a:ln/>
        </p:spPr>
      </p:pic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7962900" y="33718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总结工单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9315450" y="339090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几百条维修记录一页看完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7505700" y="4381500"/>
            <a:ext cx="3752850" cy="381000"/>
          </a:xfrm>
          <a:prstGeom prst="roundRect">
            <a:avLst>
              <a:gd name="adj" fmla="val 2500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58100" y="4476750"/>
            <a:ext cx="190500" cy="190500"/>
          </a:xfrm>
          <a:prstGeom prst="rect">
            <a:avLst/>
          </a:prstGeom>
          <a:ln/>
        </p:spPr>
      </p:pic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7962900" y="44767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写汇报材料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9315450" y="449580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数据讲成人话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505700" y="4876800"/>
            <a:ext cx="3752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强项：</a:t>
            </a:r>
            <a:r>
              <a:rPr lang="zh-CN" sz="1125" b="1">
                <a:solidFill>
                  <a:srgbClr val="1E3A8A"/>
                </a:solidFill>
                <a:latin typeface="PingFang SC"/>
                <a:ea typeface="PingFang SC"/>
              </a:rPr>
              <a:t>从语言里造出内容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，要防幻觉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685800" y="5448300"/>
            <a:ext cx="10820400" cy="704850"/>
          </a:xfrm>
          <a:prstGeom prst="roundRect">
            <a:avLst>
              <a:gd name="adj" fmla="val 1891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14400" y="5676900"/>
            <a:ext cx="247650" cy="247650"/>
          </a:xfrm>
          <a:prstGeom prst="rect">
            <a:avLst/>
          </a:prstGeom>
          <a:ln/>
        </p:spPr>
      </p:pic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1304925" y="5581650"/>
            <a:ext cx="99726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高阶方案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=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两者结合：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ML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报警预测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+ GenAI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解释证据起草应对。选型口诀：能可靠解决的最简方法优先，别一上来就上大模型。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06 / 33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9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9296400" y="438150"/>
            <a:ext cx="2381250" cy="2381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9296400" y="1866900"/>
            <a:ext cx="857250" cy="857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TWO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800100" y="3657600"/>
            <a:ext cx="10591800" cy="7334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制造业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六大场景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800100" y="467677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800100" y="492442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哪个离你最近？——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这六个场景，都是真在产线上干的事，不是概念。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六大场景全景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先见森林，再看两棵树：前两个是今天深讲的旗舰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685800" y="1276350"/>
            <a:ext cx="3495675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228600" dist="5715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914400" y="15049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1657350"/>
            <a:ext cx="285750" cy="285750"/>
          </a:xfrm>
          <a:prstGeom prst="rect">
            <a:avLst/>
          </a:prstGeom>
          <a:ln/>
        </p:spPr>
      </p:pic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914400" y="22479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预测性维护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2038350" y="2286000"/>
            <a:ext cx="647700" cy="180975"/>
          </a:xfrm>
          <a:prstGeom prst="roundRect">
            <a:avLst>
              <a:gd name="adj" fmla="val 5257895"/>
            </a:avLst>
          </a:prstGeom>
          <a:solidFill>
            <a:srgbClr val="FFF7E8"/>
          </a:solidFill>
          <a:ln w="127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2133600" y="23050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B45309"/>
                </a:solidFill>
                <a:latin typeface="PingFang SC"/>
                <a:ea typeface="PingFang SC"/>
              </a:rPr>
              <a:t>今天深讲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914400" y="2600325"/>
            <a:ext cx="30384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传感器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工单历史预测故障，减少非计划停机</a:t>
            </a:r>
            <a:endParaRPr/>
          </a:p>
        </p:txBody>
      </p:sp>
      <p:sp>
        <p:nvSpPr>
          <p:cNvPr id="929" name=""/>
          <p:cNvSpPr/>
          <p:nvPr/>
        </p:nvSpPr>
        <p:spPr>
          <a:xfrm rot="0" flipH="0" flipV="0">
            <a:off x="4352925" y="1276350"/>
            <a:ext cx="3486150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228600" dist="5715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4581525" y="15049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1657350"/>
            <a:ext cx="285750" cy="285750"/>
          </a:xfrm>
          <a:prstGeom prst="rect">
            <a:avLst/>
          </a:prstGeom>
          <a:ln/>
        </p:spPr>
      </p:pic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4581525" y="22479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视觉质检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5495925" y="2286000"/>
            <a:ext cx="647700" cy="180975"/>
          </a:xfrm>
          <a:prstGeom prst="roundRect">
            <a:avLst>
              <a:gd name="adj" fmla="val 5257895"/>
            </a:avLst>
          </a:prstGeom>
          <a:solidFill>
            <a:srgbClr val="FFF7E8"/>
          </a:solidFill>
          <a:ln w="127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5591175" y="23050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B45309"/>
                </a:solidFill>
                <a:latin typeface="PingFang SC"/>
                <a:ea typeface="PingFang SC"/>
              </a:rPr>
              <a:t>今天深讲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4581525" y="2600325"/>
            <a:ext cx="30289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图像分诊缺陷，质量的「第一道闸」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8010525" y="1276350"/>
            <a:ext cx="3495675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228600" dist="5715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37" name=""/>
          <p:cNvSpPr/>
          <p:nvPr/>
        </p:nvSpPr>
        <p:spPr>
          <a:xfrm rot="0" flipH="0" flipV="0">
            <a:off x="8239125" y="15049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F1F5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91525" y="1657350"/>
            <a:ext cx="285750" cy="285750"/>
          </a:xfrm>
          <a:prstGeom prst="rect">
            <a:avLst/>
          </a:prstGeom>
          <a:ln/>
        </p:spPr>
      </p:pic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8239125" y="22479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工艺优化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8239125" y="2600325"/>
            <a:ext cx="30384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定位瓶颈，推荐参数区间</a:t>
            </a:r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685800" y="3619500"/>
            <a:ext cx="3495675" cy="188595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228600" dist="5715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914400" y="38481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F1F5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66800" y="4000500"/>
            <a:ext cx="285750" cy="285750"/>
          </a:xfrm>
          <a:prstGeom prst="rect">
            <a:avLst/>
          </a:prstGeom>
          <a:ln/>
        </p:spPr>
      </p:pic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914400" y="45910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数字孪生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914400" y="4943475"/>
            <a:ext cx="30384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物理改动之前，先在虚拟里试一遍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4352925" y="3619500"/>
            <a:ext cx="3486150" cy="188595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228600" dist="5715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4581525" y="38481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F1F5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733925" y="4000500"/>
            <a:ext cx="285750" cy="285750"/>
          </a:xfrm>
          <a:prstGeom prst="rect">
            <a:avLst/>
          </a:prstGeom>
          <a:ln/>
        </p:spPr>
      </p:pic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4581525" y="4591050"/>
            <a:ext cx="1209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制造</a:t>
            </a:r>
            <a:r>
              <a:rPr lang="en-US" sz="1650" b="1">
                <a:solidFill>
                  <a:srgbClr val="1E3A8A"/>
                </a:solidFill>
                <a:latin typeface="PingFang SC"/>
                <a:ea typeface="PingFang SC"/>
              </a:rPr>
              <a:t> Copilot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4581525" y="4943475"/>
            <a:ext cx="30289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检索手册、总结工单、起草受控内容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8010525" y="3619500"/>
            <a:ext cx="3495675" cy="188595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228600" dist="5715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8239125" y="38481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F1F5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391525" y="4000500"/>
            <a:ext cx="285750" cy="285750"/>
          </a:xfrm>
          <a:prstGeom prst="rect">
            <a:avLst/>
          </a:prstGeom>
          <a:ln/>
        </p:spPr>
      </p:pic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智能补货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8239125" y="4943475"/>
            <a:ext cx="30384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按需求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库存数据给补货建议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6334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课堂试一下：六个场景里，哪个离你的岗位最近？圈出来，待会儿工作坊要用。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08 / 33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63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预测性维护：在它坏之前修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旗舰场景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①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数据最硬、最先落地的那一个</a:t>
            </a:r>
            <a:endParaRPr/>
          </a:p>
        </p:txBody>
      </p:sp>
      <p:sp>
        <p:nvSpPr>
          <p:cNvPr id="966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67" name=""/>
          <p:cNvPicPr>
            <a:picLocks noChangeAspect="1"/>
          </p:cNvPicPr>
          <p:nvPr/>
        </p:nvPicPr>
        <p:blipFill>
          <a:blip r:embed="rId1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1457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59E0B"/>
                </a:solidFill>
                <a:latin typeface="Space Grotesk"/>
                <a:ea typeface="Space Grotesk"/>
              </a:rPr>
              <a:t>10 </a:t>
            </a:r>
            <a:r>
              <a:rPr lang="zh-CN" sz="4800" b="1">
                <a:solidFill>
                  <a:srgbClr val="F59E0B"/>
                </a:solidFill>
                <a:latin typeface="Space Grotesk"/>
                <a:ea typeface="Space Grotesk"/>
              </a:rPr>
              <a:t>秒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8315325" y="1295400"/>
            <a:ext cx="1819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3566B"/>
                </a:solidFill>
                <a:latin typeface="PingFang SC"/>
                <a:ea typeface="PingFang SC"/>
              </a:rPr>
              <a:t>陕汽设备</a:t>
            </a:r>
            <a:r>
              <a:rPr lang="en-US" sz="1350" b="1">
                <a:solidFill>
                  <a:srgbClr val="43566B"/>
                </a:solidFill>
                <a:latin typeface="PingFang SC"/>
                <a:ea typeface="PingFang SC"/>
              </a:rPr>
              <a:t> AI </a:t>
            </a:r>
            <a:r>
              <a:rPr lang="zh-CN" sz="1350" b="1">
                <a:solidFill>
                  <a:srgbClr val="43566B"/>
                </a:solidFill>
                <a:latin typeface="PingFang SC"/>
                <a:ea typeface="PingFang SC"/>
              </a:rPr>
              <a:t>预维护预警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8315325" y="15049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从发现异常趋势到推送工单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6762750" y="2162175"/>
            <a:ext cx="474345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9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15150" y="2371725"/>
            <a:ext cx="228600" cy="228600"/>
          </a:xfrm>
          <a:prstGeom prst="rect">
            <a:avLst/>
          </a:prstGeom>
          <a:ln/>
        </p:spPr>
      </p:pic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7277100" y="2286000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数据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7277100" y="25146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振动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温度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电流传感器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历史工单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6762750" y="3457575"/>
            <a:ext cx="474345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9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15150" y="3667125"/>
            <a:ext cx="228600" cy="228600"/>
          </a:xfrm>
          <a:prstGeom prst="rect">
            <a:avLst/>
          </a:prstGeom>
          <a:ln/>
        </p:spPr>
      </p:pic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7277100" y="3581400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模型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7277100" y="38100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预测劣化趋势，给出「还能跑多久」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6762750" y="4752975"/>
            <a:ext cx="474345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9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15150" y="4962525"/>
            <a:ext cx="228600" cy="228600"/>
          </a:xfrm>
          <a:prstGeom prst="rect">
            <a:avLst/>
          </a:prstGeom>
          <a:ln/>
        </p:spPr>
      </p:pic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7277100" y="4876800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动作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7277100" y="51054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提前开工单：排备件、排人、排时段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6762750" y="5534025"/>
            <a:ext cx="4743450" cy="619125"/>
          </a:xfrm>
          <a:prstGeom prst="roundRect">
            <a:avLst>
              <a:gd name="adj" fmla="val 18462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6934200" y="5648325"/>
            <a:ext cx="44005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价值不是「不坏」，是「不在最坏的时刻坏」——不再停在全天最忙的班次。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09 / 33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7242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视觉质检：一只不累的眼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旗舰场景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② ——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与预测维护并列的两个硬数据场景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1295400"/>
            <a:ext cx="12763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Space Grotesk"/>
                <a:ea typeface="Space Grotesk"/>
              </a:rPr>
              <a:t>30 </a:t>
            </a:r>
            <a:r>
              <a:rPr lang="zh-CN" sz="4200" b="1">
                <a:solidFill>
                  <a:srgbClr val="F59E0B"/>
                </a:solidFill>
                <a:latin typeface="Space Grotesk"/>
                <a:ea typeface="Space Grotesk"/>
              </a:rPr>
              <a:t>秒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076450" y="1295400"/>
            <a:ext cx="2571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4748B"/>
                </a:solidFill>
                <a:latin typeface="PingFang SC"/>
                <a:ea typeface="PingFang SC"/>
              </a:rPr>
              <a:t>vs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447925" y="1295400"/>
            <a:ext cx="12096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3A8A"/>
                </a:solidFill>
                <a:latin typeface="Space Grotesk"/>
                <a:ea typeface="Space Grotesk"/>
              </a:rPr>
              <a:t>2-3 </a:t>
            </a:r>
            <a:r>
              <a:rPr lang="zh-CN" sz="2550" b="1">
                <a:solidFill>
                  <a:srgbClr val="1E3A8A"/>
                </a:solidFill>
                <a:latin typeface="Space Grotesk"/>
                <a:ea typeface="Space Grotesk"/>
              </a:rPr>
              <a:t>小时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5800" y="2076450"/>
            <a:ext cx="579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同一批件的检验耗时：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初筛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vs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人工逐件看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85800" y="2400300"/>
            <a:ext cx="57912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2609850"/>
            <a:ext cx="228600" cy="22860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200150" y="2524125"/>
            <a:ext cx="512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初筛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200150" y="2752725"/>
            <a:ext cx="512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先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100%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全扫一遍，不漏一件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85800" y="3676650"/>
            <a:ext cx="57912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3886200"/>
            <a:ext cx="228600" cy="2286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200150" y="3800475"/>
            <a:ext cx="512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分诊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200150" y="4029075"/>
            <a:ext cx="512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明显好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明显坏直通，可疑件才给人复判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5800" y="4943475"/>
            <a:ext cx="57912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8200" y="5153025"/>
            <a:ext cx="228600" cy="22860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512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人在回路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200150" y="5295900"/>
            <a:ext cx="512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缺陷的最终判定权，永远在人手里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85800" y="5724525"/>
            <a:ext cx="5791200" cy="428625"/>
          </a:xfrm>
          <a:prstGeom prst="roundRect">
            <a:avLst>
              <a:gd name="adj" fmla="val 2666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57250" y="583882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替代的是检验员「重复扫描」的活，不是检验员本人。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762750" y="1295400"/>
            <a:ext cx="4743450" cy="4857750"/>
          </a:xfrm>
          <a:prstGeom prst="roundRect">
            <a:avLst>
              <a:gd name="adj" fmla="val 361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Id4"/>
          <a:srcRect l="1176" t="0" r="1176" b="0"/>
          <a:stretch>
            <a:fillRect/>
          </a:stretch>
        </p:blipFill>
        <p:spPr>
          <a:xfrm rot="0" flipH="0" flipV="0">
            <a:off x="6762750" y="1295400"/>
            <a:ext cx="4743450" cy="4857750"/>
          </a:xfrm>
          <a:custGeom>
            <a:pathLst>
              <a:path w="498" h="510">
                <a:moveTo>
                  <a:pt x="480" y="0"/>
                </a:moveTo>
                <a:cubicBezTo>
                  <a:pt x="490" y="0"/>
                  <a:pt x="498" y="8"/>
                  <a:pt x="498" y="18"/>
                </a:cubicBezTo>
                <a:lnTo>
                  <a:pt x="498" y="492"/>
                </a:lnTo>
                <a:cubicBezTo>
                  <a:pt x="498" y="502"/>
                  <a:pt x="490" y="510"/>
                  <a:pt x="48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480" y="0"/>
                </a:lnTo>
                <a:close/>
              </a:path>
            </a:pathLst>
          </a:cu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10 / 33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7527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其余四场景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两句话一个，记住它们的共同结构就够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85800" y="1276350"/>
            <a:ext cx="531495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933450" y="1524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1657350"/>
            <a:ext cx="266700" cy="266700"/>
          </a:xfrm>
          <a:prstGeom prst="rect">
            <a:avLst/>
          </a:prstGeom>
          <a:ln/>
        </p:spPr>
      </p:pic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600200" y="165735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工艺优化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33450" y="2171700"/>
            <a:ext cx="4819650" cy="552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瓶颈决定产出，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推荐参数区间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933450" y="2724150"/>
            <a:ext cx="4819650" cy="342900"/>
          </a:xfrm>
          <a:custGeom>
            <a:pathLst>
              <a:path w="506" h="36">
                <a:moveTo>
                  <a:pt x="0" y="0"/>
                </a:moveTo>
                <a:lnTo>
                  <a:pt x="506" y="0"/>
                </a:lnTo>
                <a:lnTo>
                  <a:pt x="506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33450" y="28575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人用小批试验验证，再放量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191250" y="1276350"/>
            <a:ext cx="531495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438900" y="1524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72250" y="1657350"/>
            <a:ext cx="266700" cy="266700"/>
          </a:xfrm>
          <a:prstGeom prst="rect">
            <a:avLst/>
          </a:prstGeom>
          <a:ln/>
        </p:spPr>
      </p:pic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05650" y="165735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数字孪生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38900" y="2171700"/>
            <a:ext cx="4819650" cy="552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先改虚拟的，再改物理的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438900" y="2724150"/>
            <a:ext cx="4819650" cy="342900"/>
          </a:xfrm>
          <a:custGeom>
            <a:pathLst>
              <a:path w="506" h="36">
                <a:moveTo>
                  <a:pt x="0" y="0"/>
                </a:moveTo>
                <a:lnTo>
                  <a:pt x="506" y="0"/>
                </a:lnTo>
                <a:lnTo>
                  <a:pt x="506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38900" y="28575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试错成本降一个数量级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85800" y="3486150"/>
            <a:ext cx="531495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33450" y="37338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66800" y="3867150"/>
            <a:ext cx="266700" cy="266700"/>
          </a:xfrm>
          <a:prstGeom prst="rect">
            <a:avLst/>
          </a:prstGeom>
          <a:ln/>
        </p:spPr>
      </p:pic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600200" y="3867150"/>
            <a:ext cx="1323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制造</a:t>
            </a:r>
            <a:r>
              <a:rPr lang="en-US" sz="1800" b="1">
                <a:solidFill>
                  <a:srgbClr val="1E3A8A"/>
                </a:solidFill>
                <a:latin typeface="PingFang SC"/>
                <a:ea typeface="PingFang SC"/>
              </a:rPr>
              <a:t> Copilot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33450" y="4381500"/>
            <a:ext cx="4819650" cy="552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「受控」是关键词：产出带来源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933450" y="4933950"/>
            <a:ext cx="4819650" cy="342900"/>
          </a:xfrm>
          <a:custGeom>
            <a:pathLst>
              <a:path w="506" h="36">
                <a:moveTo>
                  <a:pt x="0" y="0"/>
                </a:moveTo>
                <a:lnTo>
                  <a:pt x="506" y="0"/>
                </a:lnTo>
                <a:lnTo>
                  <a:pt x="506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33450" y="50673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人签字才生效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191250" y="3486150"/>
            <a:ext cx="531495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438900" y="37338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572250" y="3867150"/>
            <a:ext cx="266700" cy="26670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105650" y="386715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智能补货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438900" y="4381500"/>
            <a:ext cx="4819650" cy="552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按需求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库存数据给补货建议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438900" y="4933950"/>
            <a:ext cx="4819650" cy="342900"/>
          </a:xfrm>
          <a:custGeom>
            <a:pathLst>
              <a:path w="506" h="36">
                <a:moveTo>
                  <a:pt x="0" y="0"/>
                </a:moveTo>
                <a:lnTo>
                  <a:pt x="506" y="0"/>
                </a:lnTo>
                <a:lnTo>
                  <a:pt x="506" y="2"/>
                </a:lnTo>
                <a:lnTo>
                  <a:pt x="0" y="2"/>
                </a:lnTo>
                <a:close/>
              </a:path>
            </a:pathLst>
          </a:custGeom>
          <a:solidFill>
            <a:srgbClr val="EAF1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438900" y="50673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建议</a:t>
            </a:r>
            <a:r>
              <a:rPr lang="en-US" sz="1200" b="1">
                <a:solidFill>
                  <a:srgbClr val="0891B2"/>
                </a:solidFill>
                <a:latin typeface="PingFang SC"/>
                <a:ea typeface="PingFang SC"/>
              </a:rPr>
              <a:t> ≠ </a:t>
            </a:r>
            <a:r>
              <a:rPr lang="zh-CN" sz="1200" b="1">
                <a:solidFill>
                  <a:srgbClr val="0891B2"/>
                </a:solidFill>
                <a:latin typeface="PingFang SC"/>
                <a:ea typeface="PingFang SC"/>
              </a:rPr>
              <a:t>决定，下单权在人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590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六场景的共同结构：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建议，人决定。——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后面每一章都在展开这句话。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06150" y="63627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11 / 33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3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15277" t="0" r="15277" b="0"/>
          <a:stretch>
            <a:fillRect/>
          </a:stretch>
        </p:blipFill>
        <p:spPr>
          <a:xfrm rot="0" flipH="0" flipV="0">
            <a:off x="7429500" y="0"/>
            <a:ext cx="4762500" cy="6858000"/>
          </a:xfrm>
          <a:prstGeom prst="rect">
            <a:avLst/>
          </a:prstGeom>
          <a:ln/>
        </p:spPr>
      </p:pic>
      <p:sp>
        <p:nvSpPr>
          <p:cNvPr id="84" name=""/>
          <p:cNvSpPr/>
          <p:nvPr/>
        </p:nvSpPr>
        <p:spPr>
          <a:xfrm rot="0" flipH="0" flipV="0"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1E3A8A">
                  <a:alpha val="100000"/>
                </a:srgbClr>
              </a:gs>
              <a:gs pos="100000">
                <a:srgbClr val="1E3A8A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THREE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0100" y="3657600"/>
            <a:ext cx="10591800" cy="7334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精益速成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00100" y="467677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0100" y="492442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不在产线也要听得懂——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4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页跟车间对话不卡壳。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191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八大浪费：口诀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DOWNTIME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精益的「去浪费」去的是哪八样——一个英文单词全装下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127635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57250" y="13716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90600" y="1438275"/>
            <a:ext cx="180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D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447800" y="1485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缺陷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Defects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86200" y="15049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返工与报废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85800" y="247650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857250" y="25717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81075" y="2638425"/>
            <a:ext cx="200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O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447800" y="268605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过量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Overproduction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86200" y="27051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做多了、做早了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85800" y="367665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57250" y="37719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62025" y="3838575"/>
            <a:ext cx="2381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W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447800" y="38862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等待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Waiting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886200" y="39052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人等机、机等人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85800" y="487680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57250" y="49720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90600" y="5038725"/>
            <a:ext cx="180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N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447800" y="508635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人才未用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Non-utilized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886200" y="51054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没用人脑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229350" y="127635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400800" y="13716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543675" y="1438275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T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991350" y="1485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搬运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Transportation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429750" y="15049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不必要的移动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229350" y="247650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400800" y="25717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581775" y="2638425"/>
            <a:ext cx="76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I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991350" y="268605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库存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Inventory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429750" y="27051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积压的料和件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229350" y="367665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400800" y="37719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515100" y="3838575"/>
            <a:ext cx="209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M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991350" y="38862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动作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Motion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429750" y="39052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多余的人体动作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229350" y="4876800"/>
            <a:ext cx="527685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400800" y="49720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534150" y="5038725"/>
            <a:ext cx="171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E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991350" y="508635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过度加工</a:t>
            </a:r>
            <a:r>
              <a:rPr lang="en-US" sz="1425" b="1">
                <a:solidFill>
                  <a:srgbClr val="1E3A8A"/>
                </a:solidFill>
                <a:latin typeface="PingFang SC"/>
                <a:ea typeface="PingFang SC"/>
              </a:rPr>
              <a:t> Extra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429750" y="51054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超出要求的精加工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6762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课堂试一下：在你的部门里找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1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个「浪费」，说出它属于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DOWNTIME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的哪个字母。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13 / 33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0195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三钟：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Takt / Cycle / Lead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019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三个都叫「时间」，但量的根本不是同一件事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85800" y="1343025"/>
            <a:ext cx="3467100" cy="4095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85800" y="1343025"/>
            <a:ext cx="3467100" cy="4095750"/>
          </a:xfrm>
          <a:custGeom>
            <a:pathLst>
              <a:path w="364" h="430">
                <a:moveTo>
                  <a:pt x="349" y="0"/>
                </a:moveTo>
                <a:cubicBezTo>
                  <a:pt x="356" y="0"/>
                  <a:pt x="362" y="6"/>
                  <a:pt x="364" y="13"/>
                </a:cubicBezTo>
                <a:cubicBezTo>
                  <a:pt x="362" y="8"/>
                  <a:pt x="358" y="5"/>
                  <a:pt x="353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48" y="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33450" y="15906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6325" y="1733550"/>
            <a:ext cx="304800" cy="30480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33450" y="23336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0891B2"/>
                </a:solidFill>
                <a:latin typeface="Space Grotesk"/>
                <a:ea typeface="Space Grotesk"/>
              </a:rPr>
              <a:t>Takt Time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33450" y="2543175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节拍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33450" y="2933700"/>
            <a:ext cx="2971800" cy="1981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客户需求的「心跳」——按需求倒推，每一件产品允许你用的生产时间。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933450" y="4914900"/>
            <a:ext cx="762000" cy="228600"/>
          </a:xfrm>
          <a:prstGeom prst="roundRect">
            <a:avLst>
              <a:gd name="adj" fmla="val 41625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66800" y="4953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91B2"/>
                </a:solidFill>
                <a:latin typeface="PingFang SC"/>
                <a:ea typeface="PingFang SC"/>
              </a:rPr>
              <a:t>需求决定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362450" y="1343025"/>
            <a:ext cx="3467100" cy="4095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362450" y="1343025"/>
            <a:ext cx="3467100" cy="4095750"/>
          </a:xfrm>
          <a:custGeom>
            <a:pathLst>
              <a:path w="364" h="430">
                <a:moveTo>
                  <a:pt x="349" y="0"/>
                </a:moveTo>
                <a:cubicBezTo>
                  <a:pt x="356" y="0"/>
                  <a:pt x="362" y="6"/>
                  <a:pt x="364" y="13"/>
                </a:cubicBezTo>
                <a:cubicBezTo>
                  <a:pt x="362" y="8"/>
                  <a:pt x="358" y="5"/>
                  <a:pt x="353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48" y="0"/>
                </a:lnTo>
                <a:close/>
              </a:path>
            </a:pathLst>
          </a:cu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4610100" y="15906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8EC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52975" y="1733550"/>
            <a:ext cx="304800" cy="30480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610100" y="23336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1E3A8A"/>
                </a:solidFill>
                <a:latin typeface="Space Grotesk"/>
                <a:ea typeface="Space Grotesk"/>
              </a:rPr>
              <a:t>Cycle Time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610100" y="2543175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周期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610100" y="2933700"/>
            <a:ext cx="2971800" cy="1981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你的设备实际做一件要花的时间——现实里跑出来的数字。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610100" y="4914900"/>
            <a:ext cx="762000" cy="228600"/>
          </a:xfrm>
          <a:prstGeom prst="roundRect">
            <a:avLst>
              <a:gd name="adj" fmla="val 4162500"/>
            </a:avLst>
          </a:prstGeom>
          <a:solidFill>
            <a:srgbClr val="E8ECFB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743450" y="4953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3A8A"/>
                </a:solidFill>
                <a:latin typeface="PingFang SC"/>
                <a:ea typeface="PingFang SC"/>
              </a:rPr>
              <a:t>现实决定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039100" y="1343025"/>
            <a:ext cx="3467100" cy="40957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039100" y="1343025"/>
            <a:ext cx="3467100" cy="4095750"/>
          </a:xfrm>
          <a:custGeom>
            <a:pathLst>
              <a:path w="364" h="430">
                <a:moveTo>
                  <a:pt x="349" y="0"/>
                </a:moveTo>
                <a:cubicBezTo>
                  <a:pt x="356" y="0"/>
                  <a:pt x="362" y="6"/>
                  <a:pt x="364" y="13"/>
                </a:cubicBezTo>
                <a:cubicBezTo>
                  <a:pt x="362" y="8"/>
                  <a:pt x="358" y="5"/>
                  <a:pt x="353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348" y="0"/>
                </a:lnTo>
                <a:close/>
              </a:path>
            </a:pathLst>
          </a:custGeom>
          <a:solidFill>
            <a:srgbClr val="B45309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286750" y="15906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FFF7E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29625" y="1733550"/>
            <a:ext cx="304800" cy="30480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286750" y="2333625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B45309"/>
                </a:solidFill>
                <a:latin typeface="Space Grotesk"/>
                <a:ea typeface="Space Grotesk"/>
              </a:rPr>
              <a:t>Lead Time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286750" y="2543175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PingFang SC"/>
                <a:ea typeface="PingFang SC"/>
              </a:rPr>
              <a:t>交付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286750" y="2933700"/>
            <a:ext cx="2971800" cy="1981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从客户下单到交付到手的总时长——体验的刻度尺。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286750" y="4914900"/>
            <a:ext cx="638175" cy="228600"/>
          </a:xfrm>
          <a:prstGeom prst="roundRect">
            <a:avLst>
              <a:gd name="adj" fmla="val 4162500"/>
            </a:avLst>
          </a:prstGeom>
          <a:solidFill>
            <a:srgbClr val="FFF7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420100" y="49530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B45309"/>
                </a:solidFill>
                <a:latin typeface="PingFang SC"/>
                <a:ea typeface="PingFang SC"/>
              </a:rPr>
              <a:t>端到端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85800" y="5581650"/>
            <a:ext cx="10820400" cy="571500"/>
          </a:xfrm>
          <a:prstGeom prst="roundRect">
            <a:avLst>
              <a:gd name="adj" fmla="val 23333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14400" y="5715000"/>
            <a:ext cx="1428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pace Grotesk"/>
                <a:ea typeface="Space Grotesk"/>
              </a:rPr>
              <a:t>Cycle ≤ Takt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495550" y="5762625"/>
            <a:ext cx="792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CE9FB"/>
                </a:solidFill>
                <a:latin typeface="PingFang SC"/>
                <a:ea typeface="PingFang SC"/>
              </a:rPr>
              <a:t>跟得上需求；</a:t>
            </a:r>
            <a:r>
              <a:rPr lang="en-US" sz="1350">
                <a:solidFill>
                  <a:srgbClr val="DCE9FB"/>
                </a:solidFill>
                <a:latin typeface="PingFang SC"/>
                <a:ea typeface="PingFang SC"/>
              </a:rPr>
              <a:t>Lead Time </a:t>
            </a:r>
            <a:r>
              <a:rPr lang="zh-CN" sz="1350">
                <a:solidFill>
                  <a:srgbClr val="DCE9FB"/>
                </a:solidFill>
                <a:latin typeface="PingFang SC"/>
                <a:ea typeface="PingFang SC"/>
              </a:rPr>
              <a:t>越短客户越满意。车间第一问：「你的</a:t>
            </a:r>
            <a:r>
              <a:rPr lang="en-US" sz="1350">
                <a:solidFill>
                  <a:srgbClr val="DCE9FB"/>
                </a:solidFill>
                <a:latin typeface="PingFang SC"/>
                <a:ea typeface="PingFang SC"/>
              </a:rPr>
              <a:t> Takt </a:t>
            </a:r>
            <a:r>
              <a:rPr lang="zh-CN" sz="1350">
                <a:solidFill>
                  <a:srgbClr val="DCE9FB"/>
                </a:solidFill>
                <a:latin typeface="PingFang SC"/>
                <a:ea typeface="PingFang SC"/>
              </a:rPr>
              <a:t>是多少？瓶颈那台的</a:t>
            </a:r>
            <a:r>
              <a:rPr lang="en-US" sz="1350">
                <a:solidFill>
                  <a:srgbClr val="DCE9FB"/>
                </a:solidFill>
                <a:latin typeface="PingFang SC"/>
                <a:ea typeface="PingFang SC"/>
              </a:rPr>
              <a:t> Cycle </a:t>
            </a:r>
            <a:r>
              <a:rPr lang="zh-CN" sz="1350">
                <a:solidFill>
                  <a:srgbClr val="DCE9FB"/>
                </a:solidFill>
                <a:latin typeface="PingFang SC"/>
                <a:ea typeface="PingFang SC"/>
              </a:rPr>
              <a:t>呢？」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14 / 33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26707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OEE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：设备效率一眼看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设备工程师嘴里的「效率」，就是一个乘法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85800" y="1276350"/>
            <a:ext cx="10820400" cy="1162050"/>
          </a:xfrm>
          <a:prstGeom prst="roundRect">
            <a:avLst>
              <a:gd name="adj" fmla="val 1475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467100" y="1504950"/>
            <a:ext cx="52673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150">
                <a:solidFill>
                  <a:srgbClr val="FFFFFF"/>
                </a:solidFill>
                <a:latin typeface="Space Grotesk"/>
                <a:ea typeface="Space Grotesk"/>
              </a:rPr>
              <a:t>OEE = </a:t>
            </a:r>
            <a:r>
              <a:rPr lang="zh-CN" sz="3000" b="1" spc="150">
                <a:solidFill>
                  <a:srgbClr val="FFFFFF"/>
                </a:solidFill>
                <a:latin typeface="Space Grotesk"/>
                <a:ea typeface="Space Grotesk"/>
              </a:rPr>
              <a:t>可用率</a:t>
            </a:r>
            <a:r>
              <a:rPr lang="en-US" sz="3000" b="1" spc="150">
                <a:solidFill>
                  <a:srgbClr val="FFFFFF"/>
                </a:solidFill>
                <a:latin typeface="Space Grotesk"/>
                <a:ea typeface="Space Grotesk"/>
              </a:rPr>
              <a:t> × </a:t>
            </a:r>
            <a:r>
              <a:rPr lang="zh-CN" sz="3000" b="1" spc="150">
                <a:solidFill>
                  <a:srgbClr val="FFFFFF"/>
                </a:solidFill>
                <a:latin typeface="Space Grotesk"/>
                <a:ea typeface="Space Grotesk"/>
              </a:rPr>
              <a:t>性能</a:t>
            </a:r>
            <a:r>
              <a:rPr lang="en-US" sz="3000" b="1" spc="150">
                <a:solidFill>
                  <a:srgbClr val="FFFFFF"/>
                </a:solidFill>
                <a:latin typeface="Space Grotesk"/>
                <a:ea typeface="Space Grotesk"/>
              </a:rPr>
              <a:t> × </a:t>
            </a:r>
            <a:r>
              <a:rPr lang="zh-CN" sz="3000" b="1" spc="150">
                <a:solidFill>
                  <a:srgbClr val="FFFFFF"/>
                </a:solidFill>
                <a:latin typeface="Space Grotesk"/>
                <a:ea typeface="Space Grotesk"/>
              </a:rPr>
              <a:t>质量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476625" y="2038350"/>
            <a:ext cx="524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三个数相乘，乘得越少，设备越「诚实」——世界平均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 OEE </a:t>
            </a: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约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 65%</a:t>
            </a:r>
            <a:r>
              <a:rPr lang="zh-CN" sz="1125">
                <a:solidFill>
                  <a:srgbClr val="A9C4E8"/>
                </a:solidFill>
                <a:latin typeface="PingFang SC"/>
                <a:ea typeface="PingFang SC"/>
              </a:rPr>
              <a:t>，世界级</a:t>
            </a:r>
            <a:r>
              <a:rPr lang="en-US" sz="1125">
                <a:solidFill>
                  <a:srgbClr val="A9C4E8"/>
                </a:solidFill>
                <a:latin typeface="PingFang SC"/>
                <a:ea typeface="PingFang SC"/>
              </a:rPr>
              <a:t> 85%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85800" y="2628900"/>
            <a:ext cx="3476625" cy="28765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914400" y="37909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57275" y="3933825"/>
            <a:ext cx="266700" cy="266700"/>
          </a:xfrm>
          <a:prstGeom prst="rect">
            <a:avLst/>
          </a:prstGeom>
          <a:ln/>
        </p:spPr>
      </p:pic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638300" y="3724275"/>
            <a:ext cx="2295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可用率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638300" y="401955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实际运转时间占比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638300" y="4248150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45309"/>
                </a:solidFill>
                <a:latin typeface="PingFang SC"/>
                <a:ea typeface="PingFang SC"/>
              </a:rPr>
              <a:t>扣：计划外停机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352925" y="2628900"/>
            <a:ext cx="3486150" cy="28765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581525" y="37909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24400" y="3933825"/>
            <a:ext cx="266700" cy="266700"/>
          </a:xfrm>
          <a:prstGeom prst="rect">
            <a:avLst/>
          </a:prstGeom>
          <a:ln/>
        </p:spPr>
      </p:pic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305425" y="3724275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性能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305425" y="401955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实际速度占比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305425" y="4248150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45309"/>
                </a:solidFill>
                <a:latin typeface="PingFang SC"/>
                <a:ea typeface="PingFang SC"/>
              </a:rPr>
              <a:t>扣：减速与短暂停顿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029575" y="2628900"/>
            <a:ext cx="3476625" cy="28765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8258175" y="37909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01050" y="3933825"/>
            <a:ext cx="266700" cy="26670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982075" y="3724275"/>
            <a:ext cx="2295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质量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982075" y="401955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一次做对的比例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982075" y="4248150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45309"/>
                </a:solidFill>
                <a:latin typeface="PingFang SC"/>
                <a:ea typeface="PingFang SC"/>
              </a:rPr>
              <a:t>扣：废品与返修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6000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2400E"/>
                </a:solidFill>
                <a:latin typeface="PingFang SC"/>
                <a:ea typeface="PingFang SC"/>
              </a:rPr>
              <a:t>瓶颈一句话：约束决定产出——只改瓶颈工位，全线才变快；改别的站，白改。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15 / 33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2100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五个精益工具：一句话各讲清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不用精通，只要车间提到它们你不走神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85800" y="1257300"/>
            <a:ext cx="108204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895350" y="1381125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19175" y="1504950"/>
            <a:ext cx="228600" cy="22860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543050" y="1485900"/>
            <a:ext cx="1047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3A8A"/>
                </a:solidFill>
                <a:latin typeface="Space Grotesk"/>
                <a:ea typeface="Space Grotesk"/>
              </a:rPr>
              <a:t>5S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762250" y="15430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整理整顿清扫清洁素养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029200" y="1524000"/>
            <a:ext cx="626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东西有地方放、有标记——目标是「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>30 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秒找到」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85800" y="2162175"/>
            <a:ext cx="108204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95350" y="22860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8EC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19175" y="2409825"/>
            <a:ext cx="228600" cy="22860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543050" y="2390775"/>
            <a:ext cx="1047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3A8A"/>
                </a:solidFill>
                <a:latin typeface="Space Grotesk"/>
                <a:ea typeface="Space Grotesk"/>
              </a:rPr>
              <a:t>JIT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762250" y="244792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准时制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029200" y="2428875"/>
            <a:ext cx="626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需要的时候按需要的量做——不多做、不囤货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85800" y="3057525"/>
            <a:ext cx="108204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895350" y="31813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19175" y="3305175"/>
            <a:ext cx="228600" cy="22860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543050" y="3286125"/>
            <a:ext cx="1047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8A"/>
                </a:solidFill>
                <a:latin typeface="Space Grotesk"/>
                <a:ea typeface="Space Grotesk"/>
              </a:rPr>
              <a:t>看板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2762250" y="334327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Kanban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029200" y="3324225"/>
            <a:ext cx="626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上下游靠视觉信号协作——下游拉动上游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85800" y="3962400"/>
            <a:ext cx="108204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95350" y="4086225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8EC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19175" y="4210050"/>
            <a:ext cx="228600" cy="228600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543050" y="4191000"/>
            <a:ext cx="1047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3A8A"/>
                </a:solidFill>
                <a:latin typeface="Space Grotesk"/>
                <a:ea typeface="Space Grotesk"/>
              </a:rPr>
              <a:t>SMED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2762250" y="42481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快速换模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029200" y="4229100"/>
            <a:ext cx="626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换型做到分钟级——批次越短越灵活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85800" y="4857750"/>
            <a:ext cx="108204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95350" y="4981575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19175" y="5105400"/>
            <a:ext cx="228600" cy="22860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543050" y="5086350"/>
            <a:ext cx="1047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3A8A"/>
                </a:solidFill>
                <a:latin typeface="Space Grotesk"/>
                <a:ea typeface="Space Grotesk"/>
              </a:rPr>
              <a:t>TPM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762250" y="51435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全员生产维护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029200" y="5124450"/>
            <a:ext cx="626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自己管自己的设备——操作工是设备的第一巡检员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85800" y="5715000"/>
            <a:ext cx="10820400" cy="438150"/>
          </a:xfrm>
          <a:prstGeom prst="roundRect">
            <a:avLst>
              <a:gd name="adj" fmla="val 3043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914400" y="5829300"/>
            <a:ext cx="209550" cy="2095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257300" y="5829300"/>
            <a:ext cx="5924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精益是「底子」，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是「增量」——底子不平，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放大的是浪费而不是价值。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16 / 33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14350" y="438150"/>
            <a:ext cx="2381250" cy="2381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10287000" y="5086350"/>
            <a:ext cx="1238250" cy="1238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FOUR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数据就绪与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人在回路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动手前先问两件事：数据够不够？处置权在谁？</a:t>
            </a:r>
            <a:endParaRPr/>
          </a:p>
        </p:txBody>
      </p:sp>
    </p:spTree>
  </p:cSld>
</p:sld>
</file>

<file path=ppt/slides/slide1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714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五关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一个治理框架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落地门槛：数据就绪五关；治理框架：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NIST AI RMF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6353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91B2"/>
                </a:solidFill>
                <a:latin typeface="PingFang SC"/>
                <a:ea typeface="PingFang SC"/>
              </a:rPr>
              <a:t>数据就绪五关——全过才准试点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85800" y="1590675"/>
            <a:ext cx="6353175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57250" y="16764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71550" y="1743075"/>
            <a:ext cx="9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314450" y="174307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基线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2362200" y="1752600"/>
            <a:ext cx="450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现在什么样？成本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工时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缺陷率的现状数字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85800" y="2447925"/>
            <a:ext cx="6353175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857250" y="25336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71550" y="2600325"/>
            <a:ext cx="9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314450" y="260032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代表数据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362200" y="2609850"/>
            <a:ext cx="450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样本够不够多、够不够典型，覆盖典型场景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85800" y="3314700"/>
            <a:ext cx="6353175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57250" y="34004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971550" y="3467100"/>
            <a:ext cx="9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314450" y="346710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标签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2362200" y="3476625"/>
            <a:ext cx="450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「缺陷」「故障」到底算不算——谁定的标准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85800" y="4171950"/>
            <a:ext cx="6353175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57250" y="42576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71550" y="4324350"/>
            <a:ext cx="9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314450" y="432435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归属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362200" y="4333875"/>
            <a:ext cx="450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数据谁拥有？结果谁负责？先说清楚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85800" y="5029200"/>
            <a:ext cx="6353175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857250" y="511492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71550" y="5181600"/>
            <a:ext cx="95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Space Grotesk"/>
                <a:ea typeface="Space Grotesk"/>
              </a:rPr>
              <a:t>5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314450" y="518160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动作流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362200" y="5191125"/>
            <a:ext cx="450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模型开口之后，谁干什么、按什么顺序干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267575" y="1276350"/>
            <a:ext cx="4238625" cy="4248150"/>
          </a:xfrm>
          <a:prstGeom prst="roundRect">
            <a:avLst>
              <a:gd name="adj" fmla="val 404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496175" y="1504950"/>
            <a:ext cx="3781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7FD9F0"/>
                </a:solidFill>
                <a:latin typeface="PingFang SC"/>
                <a:ea typeface="PingFang SC"/>
              </a:rPr>
              <a:t>NIST AI RMF · </a:t>
            </a:r>
            <a:r>
              <a:rPr lang="zh-CN" sz="1275" b="1">
                <a:solidFill>
                  <a:srgbClr val="7FD9F0"/>
                </a:solidFill>
                <a:latin typeface="PingFang SC"/>
                <a:ea typeface="PingFang SC"/>
              </a:rPr>
              <a:t>四步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496175" y="1800225"/>
            <a:ext cx="3781425" cy="361950"/>
          </a:xfrm>
          <a:prstGeom prst="roundRect">
            <a:avLst>
              <a:gd name="adj" fmla="val 26316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629525" y="188595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治理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277225" y="190500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D9F0"/>
                </a:solidFill>
                <a:latin typeface="Space Grotesk"/>
                <a:ea typeface="Space Grotesk"/>
              </a:rPr>
              <a:t>Govern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172575" y="190500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定规则：谁能用、数据边界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496175" y="2762250"/>
            <a:ext cx="3781425" cy="361950"/>
          </a:xfrm>
          <a:prstGeom prst="roundRect">
            <a:avLst>
              <a:gd name="adj" fmla="val 26316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629525" y="2847975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映射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277225" y="2867025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D9F0"/>
                </a:solidFill>
                <a:latin typeface="Space Grotesk"/>
                <a:ea typeface="Space Grotesk"/>
              </a:rPr>
              <a:t>Map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172575" y="28670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说清楚：这场景要解决什么风险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496175" y="3714750"/>
            <a:ext cx="3781425" cy="361950"/>
          </a:xfrm>
          <a:prstGeom prst="roundRect">
            <a:avLst>
              <a:gd name="adj" fmla="val 26316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629525" y="3800475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度量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277225" y="3819525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D9F0"/>
                </a:solidFill>
                <a:latin typeface="Space Grotesk"/>
                <a:ea typeface="Space Grotesk"/>
              </a:rPr>
              <a:t>Measure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9172575" y="38195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量化它：误判漏检各有多少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496175" y="4676775"/>
            <a:ext cx="3781425" cy="361950"/>
          </a:xfrm>
          <a:prstGeom prst="roundRect">
            <a:avLst>
              <a:gd name="adj" fmla="val 26316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629525" y="476250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管理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277225" y="47815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FD9F0"/>
                </a:solidFill>
                <a:latin typeface="Space Grotesk"/>
                <a:ea typeface="Space Grotesk"/>
              </a:rPr>
              <a:t>Manage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9172575" y="47815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9FB"/>
                </a:solidFill>
                <a:latin typeface="PingFang SC"/>
                <a:ea typeface="PingFang SC"/>
              </a:rPr>
              <a:t>处置它：超线就回退旧流程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496175" y="5133975"/>
            <a:ext cx="3781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国际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风险管理框架——甲方验收</a:t>
            </a:r>
            <a:r>
              <a:rPr lang="en-US" sz="1050">
                <a:solidFill>
                  <a:srgbClr val="A9C4E8"/>
                </a:solidFill>
                <a:latin typeface="PingFang SC"/>
                <a:ea typeface="PingFang SC"/>
              </a:rPr>
              <a:t> AI </a:t>
            </a:r>
            <a:r>
              <a:rPr lang="zh-CN" sz="1050">
                <a:solidFill>
                  <a:srgbClr val="A9C4E8"/>
                </a:solidFill>
                <a:latin typeface="PingFang SC"/>
                <a:ea typeface="PingFang SC"/>
              </a:rPr>
              <a:t>项目常引用的「规矩」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3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5162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2400E"/>
                </a:solidFill>
                <a:latin typeface="PingFang SC"/>
                <a:ea typeface="PingFang SC"/>
              </a:rPr>
              <a:t>一句话：先量化风险，再谈收益。风险没数，</a:t>
            </a:r>
            <a:r>
              <a:rPr lang="en-US" sz="1350" b="1">
                <a:solidFill>
                  <a:srgbClr val="92400E"/>
                </a:solidFill>
                <a:latin typeface="PingFang SC"/>
                <a:ea typeface="PingFang SC"/>
              </a:rPr>
              <a:t>ROI </a:t>
            </a:r>
            <a:r>
              <a:rPr lang="zh-CN" sz="1350" b="1">
                <a:solidFill>
                  <a:srgbClr val="92400E"/>
                </a:solidFill>
                <a:latin typeface="PingFang SC"/>
                <a:ea typeface="PingFang SC"/>
              </a:rPr>
              <a:t>再漂亮也别签字。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18 / 33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3242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混淆矩阵怎么读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为什么「整体准确率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98%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」在质检里仍不够用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333500" y="1276350"/>
            <a:ext cx="2686050" cy="323850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2181225" y="13525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模型预测：缺陷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133850" y="1276350"/>
            <a:ext cx="2686050" cy="323850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981575" y="13525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模型预测：正常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85800" y="2609850"/>
            <a:ext cx="5334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3566B"/>
                </a:solidFill>
                <a:latin typeface="PingFang SC"/>
                <a:ea typeface="PingFang SC"/>
              </a:rPr>
              <a:t>实际缺陷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1333500" y="1695450"/>
            <a:ext cx="2686050" cy="2171700"/>
          </a:xfrm>
          <a:prstGeom prst="roundRect">
            <a:avLst>
              <a:gd name="adj" fmla="val 5263"/>
            </a:avLst>
          </a:prstGeom>
          <a:solidFill>
            <a:srgbClr val="E0F7FA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2581275" y="2466975"/>
            <a:ext cx="19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891B2"/>
                </a:solidFill>
                <a:latin typeface="Space Grotesk"/>
                <a:ea typeface="Space Grotesk"/>
              </a:rPr>
              <a:t>TP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2390775" y="267652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91B2"/>
                </a:solidFill>
                <a:latin typeface="PingFang SC"/>
                <a:ea typeface="PingFang SC"/>
              </a:rPr>
              <a:t>抓对了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2305050" y="2943225"/>
            <a:ext cx="7429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真缺陷被拦下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133850" y="1695450"/>
            <a:ext cx="2686050" cy="2171700"/>
          </a:xfrm>
          <a:prstGeom prst="roundRect">
            <a:avLst>
              <a:gd name="adj" fmla="val 5263"/>
            </a:avLst>
          </a:prstGeom>
          <a:solidFill>
            <a:srgbClr val="F1F5FB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381625" y="2466975"/>
            <a:ext cx="19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3A8A"/>
                </a:solidFill>
                <a:latin typeface="Space Grotesk"/>
                <a:ea typeface="Space Grotesk"/>
              </a:rPr>
              <a:t>FP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286375" y="26765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8A"/>
                </a:solidFill>
                <a:latin typeface="PingFang SC"/>
                <a:ea typeface="PingFang SC"/>
              </a:rPr>
              <a:t>误报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733925" y="2943225"/>
            <a:ext cx="1485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好件报缺陷，浪费人工复判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85800" y="4895850"/>
            <a:ext cx="5334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3566B"/>
                </a:solidFill>
                <a:latin typeface="PingFang SC"/>
                <a:ea typeface="PingFang SC"/>
              </a:rPr>
              <a:t>实际正常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1333500" y="3981450"/>
            <a:ext cx="2686050" cy="2171700"/>
          </a:xfrm>
          <a:prstGeom prst="roundRect">
            <a:avLst>
              <a:gd name="adj" fmla="val 5263"/>
            </a:avLst>
          </a:prstGeom>
          <a:solidFill>
            <a:srgbClr val="FFF7E8"/>
          </a:solidFill>
          <a:ln w="381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2581275" y="4752975"/>
            <a:ext cx="19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B45309"/>
                </a:solidFill>
                <a:latin typeface="Space Grotesk"/>
                <a:ea typeface="Space Grotesk"/>
              </a:rPr>
              <a:t>FN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2486025" y="49625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45309"/>
                </a:solidFill>
                <a:latin typeface="PingFang SC"/>
                <a:ea typeface="PingFang SC"/>
              </a:rPr>
              <a:t>漏检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809750" y="5229225"/>
            <a:ext cx="1733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缺陷放走了——代价最高的一类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4133850" y="3981450"/>
            <a:ext cx="2686050" cy="2171700"/>
          </a:xfrm>
          <a:prstGeom prst="roundRect">
            <a:avLst>
              <a:gd name="adj" fmla="val 5263"/>
            </a:avLst>
          </a:prstGeom>
          <a:solidFill>
            <a:srgbClr val="F5F8FC"/>
          </a:solidFill>
          <a:ln w="12700">
            <a:solidFill>
              <a:srgbClr val="E2EAF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381625" y="4752975"/>
            <a:ext cx="19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4748B"/>
                </a:solidFill>
                <a:latin typeface="Space Grotesk"/>
                <a:ea typeface="Space Grotesk"/>
              </a:rPr>
              <a:t>TN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286375" y="49625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4748B"/>
                </a:solidFill>
                <a:latin typeface="PingFang SC"/>
                <a:ea typeface="PingFang SC"/>
              </a:rPr>
              <a:t>正常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981575" y="5229225"/>
            <a:ext cx="9906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好件放行，没问题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7067550" y="1276350"/>
            <a:ext cx="4438650" cy="4876800"/>
          </a:xfrm>
          <a:prstGeom prst="roundRect">
            <a:avLst>
              <a:gd name="adj" fmla="val 3863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315200" y="1524000"/>
            <a:ext cx="115252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F59E0B"/>
                </a:solidFill>
                <a:latin typeface="Space Grotesk"/>
                <a:ea typeface="Space Grotesk"/>
              </a:rPr>
              <a:t>98%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562975" y="1524000"/>
            <a:ext cx="12001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准确率仍不够用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315200" y="2324100"/>
            <a:ext cx="3943350" cy="3048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裂纹很罕见。整体准确率做到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98%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，漏掉的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2%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里恰好藏着安全关键缺陷——</a:t>
            </a:r>
            <a:r>
              <a:rPr lang="zh-CN" sz="1200" b="1">
                <a:solidFill>
                  <a:srgbClr val="B45309"/>
                </a:solidFill>
                <a:latin typeface="PingFang SC"/>
                <a:ea typeface="PingFang SC"/>
              </a:rPr>
              <a:t>漏检的代价可能是召回，误判的代价只是多看一眼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。所以要看「召回率」抓没抓住真缺陷，再看「精确率」别让人白复判。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315200" y="5505450"/>
            <a:ext cx="3943350" cy="400050"/>
          </a:xfrm>
          <a:prstGeom prst="roundRect">
            <a:avLst>
              <a:gd name="adj" fmla="val 28571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467600" y="5610225"/>
            <a:ext cx="3638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问两件事：误判代价多少？漏检代价多少？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0775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19 / 33</a:t>
            </a:r>
            <a:endParaRPr/>
          </a:p>
        </p:txBody>
      </p:sp>
    </p:spTree>
  </p:cSld>
</p:sld>
</file>

<file path=ppt/slides/slide2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4385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人在回路的车间版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438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给证据与置信度，人批处置权——责任不外包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91" name=""/>
          <p:cNvPicPr>
            <a:picLocks noChangeAspect="1"/>
          </p:cNvPicPr>
          <p:nvPr/>
        </p:nvPicPr>
        <p:blipFill>
          <a:blip r:embed="rId1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47434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0E7490"/>
                </a:solidFill>
                <a:latin typeface="PingFang SC"/>
                <a:ea typeface="PingFang SC"/>
              </a:rPr>
              <a:t>AI </a:t>
            </a:r>
            <a:r>
              <a:rPr lang="zh-CN" sz="1800" b="1">
                <a:solidFill>
                  <a:srgbClr val="0E7490"/>
                </a:solidFill>
                <a:latin typeface="PingFang SC"/>
                <a:ea typeface="PingFang SC"/>
              </a:rPr>
              <a:t>负责「看得全」，人负责「说了算」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6762750" y="1838325"/>
            <a:ext cx="474345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3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15150" y="2095500"/>
            <a:ext cx="228600" cy="228600"/>
          </a:xfrm>
          <a:prstGeom prst="rect">
            <a:avLst/>
          </a:prstGeom>
          <a:ln/>
        </p:spPr>
      </p:pic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277100" y="1962150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给什么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277100" y="2190750"/>
            <a:ext cx="4076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证据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置信度：「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85%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概率轴承磨损，依据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3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项振动特征」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762750" y="3352800"/>
            <a:ext cx="474345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3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15150" y="3609975"/>
            <a:ext cx="228600" cy="228600"/>
          </a:xfrm>
          <a:prstGeom prst="rect">
            <a:avLst/>
          </a:prstGeom>
          <a:ln/>
        </p:spPr>
      </p:pic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277100" y="3476625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人干什么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277100" y="3705225"/>
            <a:ext cx="4076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批准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驳回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要求补充证据——处置权在人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762750" y="4857750"/>
            <a:ext cx="474345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15150" y="5114925"/>
            <a:ext cx="228600" cy="228600"/>
          </a:xfrm>
          <a:prstGeom prst="rect">
            <a:avLst/>
          </a:prstGeom>
          <a:ln/>
        </p:spPr>
      </p:pic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277100" y="4981575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漂移与回退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277100" y="5210175"/>
            <a:ext cx="4076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模型上线后会退化：监控、再训练；退化过线回退旧流程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762750" y="5724525"/>
            <a:ext cx="4743450" cy="428625"/>
          </a:xfrm>
          <a:prstGeom prst="roundRect">
            <a:avLst>
              <a:gd name="adj" fmla="val 2666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934200" y="5838825"/>
            <a:ext cx="440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铁律：处置权不外包。出了事，签字的是人，不是模型。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20 / 33</a:t>
            </a:r>
            <a:endParaRPr/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4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9296400" y="438150"/>
            <a:ext cx="2381250" cy="2381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857250" y="5086350"/>
            <a:ext cx="1238250" cy="1238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FIVE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制造业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Agent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与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RAG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PPT1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的三件套——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Agent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、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RAG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、人在回路，今天换上车间的地坪。</a:t>
            </a:r>
            <a:endParaRPr/>
          </a:p>
        </p:txBody>
      </p:sp>
    </p:spTree>
  </p:cSld>
</p:sld>
</file>

<file path=ppt/slides/slide2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0481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Agent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的车间形态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「感知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规划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行动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观察」闭环，套进车间长这样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85800" y="1295400"/>
            <a:ext cx="1819275" cy="187642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1352550" y="14668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76375" y="1590675"/>
            <a:ext cx="247650" cy="247650"/>
          </a:xfrm>
          <a:prstGeom prst="rect">
            <a:avLst/>
          </a:prstGeom>
          <a:ln/>
        </p:spPr>
      </p:pic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352550" y="20764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419225" y="22669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感知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1590675" cy="4381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45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读取设备状态：振动、温度、工单</a:t>
            </a:r>
            <a:endParaRPr/>
          </a:p>
        </p:txBody>
      </p:sp>
      <p:pic>
        <p:nvPicPr>
          <p:cNvPr id="4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600325" y="2152650"/>
            <a:ext cx="171450" cy="171450"/>
          </a:xfrm>
          <a:prstGeom prst="rect">
            <a:avLst/>
          </a:prstGeom>
          <a:ln/>
        </p:spPr>
      </p:pic>
      <p:sp>
        <p:nvSpPr>
          <p:cNvPr id="430" name=""/>
          <p:cNvSpPr/>
          <p:nvPr/>
        </p:nvSpPr>
        <p:spPr>
          <a:xfrm rot="0" flipH="0" flipV="0">
            <a:off x="2867025" y="1295400"/>
            <a:ext cx="1819275" cy="187642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3533775" y="14668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657600" y="1590675"/>
            <a:ext cx="247650" cy="247650"/>
          </a:xfrm>
          <a:prstGeom prst="rect">
            <a:avLst/>
          </a:prstGeom>
          <a:ln/>
        </p:spPr>
      </p:pic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3533775" y="20764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600450" y="22669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规划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2981325" y="2562225"/>
            <a:ext cx="1590675" cy="4381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45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排出排查步骤：先查什么后查什么</a:t>
            </a:r>
            <a:endParaRPr/>
          </a:p>
        </p:txBody>
      </p:sp>
      <p:pic>
        <p:nvPicPr>
          <p:cNvPr id="4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81550" y="2152650"/>
            <a:ext cx="171450" cy="171450"/>
          </a:xfrm>
          <a:prstGeom prst="rect">
            <a:avLst/>
          </a:prstGeom>
          <a:ln/>
        </p:spPr>
      </p:pic>
      <p:sp>
        <p:nvSpPr>
          <p:cNvPr id="437" name=""/>
          <p:cNvSpPr/>
          <p:nvPr/>
        </p:nvSpPr>
        <p:spPr>
          <a:xfrm rot="0" flipH="0" flipV="0">
            <a:off x="5048250" y="1409700"/>
            <a:ext cx="1828800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5715000" y="15811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838825" y="1704975"/>
            <a:ext cx="247650" cy="247650"/>
          </a:xfrm>
          <a:prstGeom prst="rect">
            <a:avLst/>
          </a:prstGeom>
          <a:ln/>
        </p:spPr>
      </p:pic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5715000" y="21907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695950" y="23812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调工具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286375" y="2676525"/>
            <a:ext cx="136207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查手册、建工单、调备件</a:t>
            </a:r>
            <a:endParaRPr/>
          </a:p>
        </p:txBody>
      </p:sp>
      <p:pic>
        <p:nvPicPr>
          <p:cNvPr id="4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72300" y="2152650"/>
            <a:ext cx="171450" cy="171450"/>
          </a:xfrm>
          <a:prstGeom prst="rect">
            <a:avLst/>
          </a:prstGeom>
          <a:ln/>
        </p:spPr>
      </p:pic>
      <p:sp>
        <p:nvSpPr>
          <p:cNvPr id="444" name=""/>
          <p:cNvSpPr/>
          <p:nvPr/>
        </p:nvSpPr>
        <p:spPr>
          <a:xfrm rot="0" flipH="0" flipV="0">
            <a:off x="7239000" y="1409700"/>
            <a:ext cx="1819275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7905750" y="15811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029575" y="1704975"/>
            <a:ext cx="247650" cy="247650"/>
          </a:xfrm>
          <a:prstGeom prst="rect">
            <a:avLst/>
          </a:prstGeom>
          <a:ln/>
        </p:spPr>
      </p:pic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905750" y="21907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972425" y="23812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观察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658100" y="2676525"/>
            <a:ext cx="9906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看动作有没有生效</a:t>
            </a:r>
            <a:endParaRPr/>
          </a:p>
        </p:txBody>
      </p:sp>
      <p:pic>
        <p:nvPicPr>
          <p:cNvPr id="4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53525" y="2152650"/>
            <a:ext cx="171450" cy="171450"/>
          </a:xfrm>
          <a:prstGeom prst="rect">
            <a:avLst/>
          </a:prstGeom>
          <a:ln/>
        </p:spPr>
      </p:pic>
      <p:sp>
        <p:nvSpPr>
          <p:cNvPr id="451" name=""/>
          <p:cNvSpPr/>
          <p:nvPr/>
        </p:nvSpPr>
        <p:spPr>
          <a:xfrm rot="0" flipH="0" flipV="0">
            <a:off x="9420225" y="1409700"/>
            <a:ext cx="2085975" cy="1657350"/>
          </a:xfrm>
          <a:prstGeom prst="roundRect">
            <a:avLst>
              <a:gd name="adj" fmla="val 8046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10220325" y="15811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DEBC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344150" y="1704975"/>
            <a:ext cx="247650" cy="247650"/>
          </a:xfrm>
          <a:prstGeom prst="rect">
            <a:avLst/>
          </a:prstGeom>
          <a:ln/>
        </p:spPr>
      </p:pic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220325" y="21907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125" b="1">
                <a:solidFill>
                  <a:srgbClr val="06B6D4"/>
                </a:solidFill>
                <a:latin typeface="Space Grotesk"/>
                <a:ea typeface="Space Grotesk"/>
              </a:rPr>
              <a:t>5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0191750" y="23812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PingFang SC"/>
                <a:ea typeface="PingFang SC"/>
              </a:rPr>
              <a:t>人确认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9972675" y="2676525"/>
            <a:ext cx="9906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975">
                <a:solidFill>
                  <a:srgbClr val="64748B"/>
                </a:solidFill>
                <a:latin typeface="PingFang SC"/>
                <a:ea typeface="PingFang SC"/>
              </a:rPr>
              <a:t>关键动作由人放行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85800" y="3381375"/>
            <a:ext cx="6381750" cy="2124075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4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95350" y="4305300"/>
            <a:ext cx="285750" cy="285750"/>
          </a:xfrm>
          <a:prstGeom prst="rect">
            <a:avLst/>
          </a:prstGeom>
          <a:ln/>
        </p:spPr>
      </p:pic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333500" y="4124325"/>
            <a:ext cx="5524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制造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Copilot ≠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全自动。副驾定位：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人主导、</a:t>
            </a:r>
            <a:r>
              <a:rPr lang="en-US" sz="135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350" b="1">
                <a:solidFill>
                  <a:srgbClr val="1E3A8A"/>
                </a:solidFill>
                <a:latin typeface="PingFang SC"/>
                <a:ea typeface="PingFang SC"/>
              </a:rPr>
              <a:t>辅助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；它跑前四步，第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5 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步永远留给人。越自主的</a:t>
            </a:r>
            <a:r>
              <a:rPr lang="en-US" sz="1350">
                <a:solidFill>
                  <a:srgbClr val="43566B"/>
                </a:solidFill>
                <a:latin typeface="PingFang SC"/>
                <a:ea typeface="PingFang SC"/>
              </a:rPr>
              <a:t> Agent</a:t>
            </a:r>
            <a:r>
              <a:rPr lang="zh-CN" sz="1350">
                <a:solidFill>
                  <a:srgbClr val="43566B"/>
                </a:solidFill>
                <a:latin typeface="PingFang SC"/>
                <a:ea typeface="PingFang SC"/>
              </a:rPr>
              <a:t>，越要人盯着。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7258050" y="3381375"/>
            <a:ext cx="4248150" cy="2124075"/>
          </a:xfrm>
          <a:prstGeom prst="roundRect">
            <a:avLst>
              <a:gd name="adj" fmla="val 7175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524875" y="4105275"/>
            <a:ext cx="1714500" cy="6858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前四步可以越来越快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500" b="1">
                <a:solidFill>
                  <a:srgbClr val="F8C471"/>
                </a:solidFill>
                <a:latin typeface="PingFang SC"/>
                <a:ea typeface="PingFang SC"/>
              </a:rPr>
              <a:t>第</a:t>
            </a:r>
            <a:r>
              <a:rPr lang="en-US" sz="1500" b="1">
                <a:solidFill>
                  <a:srgbClr val="F8C471"/>
                </a:solidFill>
                <a:latin typeface="PingFang SC"/>
                <a:ea typeface="PingFang SC"/>
              </a:rPr>
              <a:t> 5 </a:t>
            </a:r>
            <a:r>
              <a:rPr lang="zh-CN" sz="1500" b="1">
                <a:solidFill>
                  <a:srgbClr val="F8C471"/>
                </a:solidFill>
                <a:latin typeface="PingFang SC"/>
                <a:ea typeface="PingFang SC"/>
              </a:rPr>
              <a:t>步永远不能省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8353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课堂试一下：设计一个「设备报修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Agent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」的最小闭环——它感知什么？调什么工具？人在哪一步确认？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22 / 33</a:t>
            </a:r>
            <a:endParaRPr/>
          </a:p>
        </p:txBody>
      </p:sp>
    </p:spTree>
  </p:cSld>
</p:sld>
</file>

<file path=ppt/slides/slide2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5339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接地式生成：把手册变成知识库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活动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09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原型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—— RAG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让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「开卷考试」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85800" y="1295400"/>
            <a:ext cx="5791200" cy="4857750"/>
          </a:xfrm>
          <a:prstGeom prst="roundRect">
            <a:avLst>
              <a:gd name="adj" fmla="val 3529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73" name=""/>
          <p:cNvPicPr>
            <a:picLocks noChangeAspect="1"/>
          </p:cNvPicPr>
          <p:nvPr/>
        </p:nvPicPr>
        <p:blipFill>
          <a:blip r:embed="rId1"/>
          <a:srcRect l="0" t="8059" r="0" b="8059"/>
          <a:stretch>
            <a:fillRect/>
          </a:stretch>
        </p:blipFill>
        <p:spPr>
          <a:xfrm rot="0" flipH="0" flipV="0">
            <a:off x="685800" y="1295400"/>
            <a:ext cx="5791200" cy="4857750"/>
          </a:xfrm>
          <a:custGeom>
            <a:pathLst>
              <a:path w="608" h="510">
                <a:moveTo>
                  <a:pt x="590" y="0"/>
                </a:moveTo>
                <a:cubicBezTo>
                  <a:pt x="600" y="0"/>
                  <a:pt x="608" y="8"/>
                  <a:pt x="608" y="18"/>
                </a:cubicBezTo>
                <a:lnTo>
                  <a:pt x="608" y="492"/>
                </a:lnTo>
                <a:cubicBezTo>
                  <a:pt x="608" y="502"/>
                  <a:pt x="600" y="510"/>
                  <a:pt x="590" y="510"/>
                </a:cubicBezTo>
                <a:lnTo>
                  <a:pt x="18" y="510"/>
                </a:lnTo>
                <a:cubicBezTo>
                  <a:pt x="8" y="510"/>
                  <a:pt x="0" y="502"/>
                  <a:pt x="0" y="492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590" y="0"/>
                </a:lnTo>
                <a:close/>
              </a:path>
            </a:pathLst>
          </a:custGeom>
          <a:ln/>
        </p:spPr>
      </p:pic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762750" y="1295400"/>
            <a:ext cx="47434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把维修手册</a:t>
            </a:r>
            <a:r>
              <a:rPr lang="en-US" sz="14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工单接进知识库，</a:t>
            </a:r>
            <a:r>
              <a:rPr lang="en-US" sz="1425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生成的每段受控作业内容都</a:t>
            </a: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带来源</a:t>
            </a:r>
            <a:r>
              <a:rPr lang="zh-CN" sz="1425">
                <a:solidFill>
                  <a:srgbClr val="43566B"/>
                </a:solidFill>
                <a:latin typeface="PingFang SC"/>
                <a:ea typeface="PingFang SC"/>
              </a:rPr>
              <a:t>——不是闭卷编，是开卷查。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6762750" y="2143125"/>
            <a:ext cx="781050" cy="333375"/>
          </a:xfrm>
          <a:prstGeom prst="roundRect">
            <a:avLst>
              <a:gd name="adj" fmla="val 28571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886575" y="2228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7490"/>
                </a:solidFill>
                <a:latin typeface="PingFang SC"/>
                <a:ea typeface="PingFang SC"/>
              </a:rPr>
              <a:t>切分手册</a:t>
            </a:r>
            <a:endParaRPr/>
          </a:p>
        </p:txBody>
      </p:sp>
      <p:pic>
        <p:nvPicPr>
          <p:cNvPr id="4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00950" y="2238375"/>
            <a:ext cx="142875" cy="142875"/>
          </a:xfrm>
          <a:prstGeom prst="rect">
            <a:avLst/>
          </a:prstGeom>
          <a:ln/>
        </p:spPr>
      </p:pic>
      <p:sp>
        <p:nvSpPr>
          <p:cNvPr id="478" name=""/>
          <p:cNvSpPr/>
          <p:nvPr/>
        </p:nvSpPr>
        <p:spPr>
          <a:xfrm rot="0" flipH="0" flipV="0">
            <a:off x="7800975" y="2143125"/>
            <a:ext cx="514350" cy="333375"/>
          </a:xfrm>
          <a:prstGeom prst="roundRect">
            <a:avLst>
              <a:gd name="adj" fmla="val 28571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924800" y="2228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7490"/>
                </a:solidFill>
                <a:latin typeface="PingFang SC"/>
                <a:ea typeface="PingFang SC"/>
              </a:rPr>
              <a:t>嵌入</a:t>
            </a:r>
            <a:endParaRPr/>
          </a:p>
        </p:txBody>
      </p:sp>
      <p:pic>
        <p:nvPicPr>
          <p:cNvPr id="4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72475" y="2238375"/>
            <a:ext cx="142875" cy="142875"/>
          </a:xfrm>
          <a:prstGeom prst="rect">
            <a:avLst/>
          </a:prstGeom>
          <a:ln/>
        </p:spPr>
      </p:pic>
      <p:sp>
        <p:nvSpPr>
          <p:cNvPr id="481" name=""/>
          <p:cNvSpPr/>
          <p:nvPr/>
        </p:nvSpPr>
        <p:spPr>
          <a:xfrm rot="0" flipH="0" flipV="0">
            <a:off x="8572500" y="2143125"/>
            <a:ext cx="647700" cy="333375"/>
          </a:xfrm>
          <a:prstGeom prst="roundRect">
            <a:avLst>
              <a:gd name="adj" fmla="val 28571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696325" y="22288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7490"/>
                </a:solidFill>
                <a:latin typeface="PingFang SC"/>
                <a:ea typeface="PingFang SC"/>
              </a:rPr>
              <a:t>向量库</a:t>
            </a:r>
            <a:endParaRPr/>
          </a:p>
        </p:txBody>
      </p:sp>
      <p:pic>
        <p:nvPicPr>
          <p:cNvPr id="4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77350" y="2238375"/>
            <a:ext cx="142875" cy="142875"/>
          </a:xfrm>
          <a:prstGeom prst="rect">
            <a:avLst/>
          </a:prstGeom>
          <a:ln/>
        </p:spPr>
      </p:pic>
      <p:sp>
        <p:nvSpPr>
          <p:cNvPr id="484" name=""/>
          <p:cNvSpPr/>
          <p:nvPr/>
        </p:nvSpPr>
        <p:spPr>
          <a:xfrm rot="0" flipH="0" flipV="0">
            <a:off x="9477375" y="2143125"/>
            <a:ext cx="514350" cy="333375"/>
          </a:xfrm>
          <a:prstGeom prst="roundRect">
            <a:avLst>
              <a:gd name="adj" fmla="val 28571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9601200" y="2228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7490"/>
                </a:solidFill>
                <a:latin typeface="PingFang SC"/>
                <a:ea typeface="PingFang SC"/>
              </a:rPr>
              <a:t>检索</a:t>
            </a:r>
            <a:endParaRPr/>
          </a:p>
        </p:txBody>
      </p:sp>
      <p:pic>
        <p:nvPicPr>
          <p:cNvPr id="4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48875" y="2238375"/>
            <a:ext cx="142875" cy="142875"/>
          </a:xfrm>
          <a:prstGeom prst="rect">
            <a:avLst/>
          </a:prstGeom>
          <a:ln/>
        </p:spPr>
      </p:pic>
      <p:sp>
        <p:nvSpPr>
          <p:cNvPr id="487" name=""/>
          <p:cNvSpPr/>
          <p:nvPr/>
        </p:nvSpPr>
        <p:spPr>
          <a:xfrm rot="0" flipH="0" flipV="0">
            <a:off x="10248900" y="2143125"/>
            <a:ext cx="514350" cy="333375"/>
          </a:xfrm>
          <a:prstGeom prst="roundRect">
            <a:avLst>
              <a:gd name="adj" fmla="val 28571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0372725" y="2228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45309"/>
                </a:solidFill>
                <a:latin typeface="PingFang SC"/>
                <a:ea typeface="PingFang SC"/>
              </a:rPr>
              <a:t>增强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762750" y="2647950"/>
            <a:ext cx="4743450" cy="2943225"/>
          </a:xfrm>
          <a:prstGeom prst="roundRect">
            <a:avLst>
              <a:gd name="adj" fmla="val 453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934200" y="2819400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AI </a:t>
            </a: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产出一段维修建议：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934200" y="3086100"/>
            <a:ext cx="44005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「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CNC-2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主轴异常：建议按《维护手册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v4.2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》第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12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节更换轴承，工单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#2026-0812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有同类案例……」</a:t>
            </a:r>
            <a:endParaRPr/>
          </a:p>
        </p:txBody>
      </p:sp>
      <p:pic>
        <p:nvPicPr>
          <p:cNvPr id="4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34200" y="5248275"/>
            <a:ext cx="171450" cy="171450"/>
          </a:xfrm>
          <a:prstGeom prst="rect">
            <a:avLst/>
          </a:prstGeom>
          <a:ln/>
        </p:spPr>
      </p:pic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200900" y="525780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7490"/>
                </a:solidFill>
                <a:latin typeface="PingFang SC"/>
                <a:ea typeface="PingFang SC"/>
              </a:rPr>
              <a:t>每句话都能点回出处</a:t>
            </a:r>
            <a:r>
              <a:rPr lang="en-US" sz="1050" b="1">
                <a:solidFill>
                  <a:srgbClr val="0E7490"/>
                </a:solidFill>
                <a:latin typeface="PingFang SC"/>
                <a:ea typeface="PingFang SC"/>
              </a:rPr>
              <a:t> → </a:t>
            </a:r>
            <a:r>
              <a:rPr lang="zh-CN" sz="1050" b="1">
                <a:solidFill>
                  <a:srgbClr val="0E7490"/>
                </a:solidFill>
                <a:latin typeface="PingFang SC"/>
                <a:ea typeface="PingFang SC"/>
              </a:rPr>
              <a:t>这就是「受控」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762750" y="5724525"/>
            <a:ext cx="4743450" cy="428625"/>
          </a:xfrm>
          <a:prstGeom prst="roundRect">
            <a:avLst>
              <a:gd name="adj" fmla="val 26667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934200" y="5838825"/>
            <a:ext cx="440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答案自带「出自哪本手册哪一页」，才敢进生产流程。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23 / 33</a:t>
            </a:r>
            <a:endParaRPr/>
          </a:p>
        </p:txBody>
      </p:sp>
    </p:spTree>
  </p:cSld>
</p:sld>
</file>

<file path=ppt/slides/slide2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3337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边缘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AI /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小模型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不是所有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都要住云端——车间有车间的活法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685800" y="1276350"/>
            <a:ext cx="108204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933450" y="14478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600200"/>
            <a:ext cx="285750" cy="285750"/>
          </a:xfrm>
          <a:prstGeom prst="rect">
            <a:avLst/>
          </a:prstGeom>
          <a:ln/>
        </p:spPr>
      </p:pic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714500" y="1457325"/>
            <a:ext cx="888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数据不出厂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714500" y="1762125"/>
            <a:ext cx="8886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生产数据不离开车间网络，守住数据安全红线（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PPT1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讲过「影子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AI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」，这就是解法）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0791825" y="149542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3A8A">
                    <a:alpha val="10000"/>
                  </a:srgbClr>
                </a:solidFill>
                <a:latin typeface="Space Grotesk"/>
                <a:ea typeface="Space Grotesk"/>
              </a:rPr>
              <a:t>0</a:t>
            </a:r>
            <a:r>
              <a:rPr lang="en-US" sz="3300" b="1">
                <a:solidFill>
                  <a:srgbClr val="1E3A8A">
                    <a:alpha val="10000"/>
                  </a:srgbClr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85800" y="2905125"/>
            <a:ext cx="108204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933450" y="30765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85850" y="3228975"/>
            <a:ext cx="285750" cy="285750"/>
          </a:xfrm>
          <a:prstGeom prst="rect">
            <a:avLst/>
          </a:prstGeom>
          <a:ln/>
        </p:spPr>
      </p:pic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714500" y="3086100"/>
            <a:ext cx="888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断网可用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714500" y="3390900"/>
            <a:ext cx="8886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车间网络时好时坏——端侧推理不依赖云端，断网也能检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0791825" y="3124200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3A8A">
                    <a:alpha val="10000"/>
                  </a:srgbClr>
                </a:solidFill>
                <a:latin typeface="Space Grotesk"/>
                <a:ea typeface="Space Grotesk"/>
              </a:rPr>
              <a:t>0</a:t>
            </a:r>
            <a:r>
              <a:rPr lang="en-US" sz="3300" b="1">
                <a:solidFill>
                  <a:srgbClr val="1E3A8A">
                    <a:alpha val="10000"/>
                  </a:srgbClr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85800" y="4533900"/>
            <a:ext cx="108204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933450" y="470535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85850" y="4857750"/>
            <a:ext cx="285750" cy="285750"/>
          </a:xfrm>
          <a:prstGeom prst="rect">
            <a:avLst/>
          </a:prstGeom>
          <a:ln/>
        </p:spPr>
      </p:pic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714500" y="4714875"/>
            <a:ext cx="888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8A"/>
                </a:solidFill>
                <a:latin typeface="PingFang SC"/>
                <a:ea typeface="PingFang SC"/>
              </a:rPr>
              <a:t>低延迟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714500" y="5019675"/>
            <a:ext cx="8886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毫秒级响应：在线质检要的是当下判，等不了云端的往返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0791825" y="475297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3A8A">
                    <a:alpha val="10000"/>
                  </a:srgbClr>
                </a:solidFill>
                <a:latin typeface="Space Grotesk"/>
                <a:ea typeface="Space Grotesk"/>
              </a:rPr>
              <a:t>0</a:t>
            </a:r>
            <a:r>
              <a:rPr lang="en-US" sz="3300" b="1">
                <a:solidFill>
                  <a:srgbClr val="1E3A8A">
                    <a:alpha val="10000"/>
                  </a:srgbClr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85800" y="5638800"/>
            <a:ext cx="10820400" cy="514350"/>
          </a:xfrm>
          <a:prstGeom prst="roundRect">
            <a:avLst>
              <a:gd name="adj" fmla="val 25926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4400" y="5772150"/>
            <a:ext cx="247650" cy="247650"/>
          </a:xfrm>
          <a:prstGeom prst="rect">
            <a:avLst/>
          </a:prstGeom>
          <a:ln/>
        </p:spPr>
      </p:pic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314450" y="5791200"/>
            <a:ext cx="8143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分工口诀：大模型管「想」（分析、生成、复杂决策），小模型管「快」（在线、端侧、高频执行）。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24 / 33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5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9296400" y="438150"/>
            <a:ext cx="2381250" cy="2381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857250" y="5086350"/>
            <a:ext cx="1238250" cy="1238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00100" y="135255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SIX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10591800" cy="1457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精益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-AI</a:t>
            </a:r>
            <a:endParaRPr/>
          </a:p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试点方法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800100" y="503872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00100" y="528637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别一次铺太大——先跑一个小闭环，用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ROI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和</a:t>
            </a:r>
            <a:r>
              <a:rPr lang="en-US" sz="1425">
                <a:solidFill>
                  <a:srgbClr val="A9C4E8"/>
                </a:solidFill>
                <a:latin typeface="PingFang SC"/>
                <a:ea typeface="PingFang SC"/>
              </a:rPr>
              <a:t> PDCA </a:t>
            </a: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把它圈住。</a:t>
            </a:r>
            <a:endParaRPr/>
          </a:p>
        </p:txBody>
      </p:sp>
    </p:spTree>
  </p:cSld>
</p:sld>
</file>

<file path=ppt/slides/slide2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0481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试点生命周期：六步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从「想试试」到「全厂推广」或「体面止损」的完整路径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85800" y="1590675"/>
            <a:ext cx="1476375" cy="1495425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1200150" y="1743075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314450" y="1857375"/>
            <a:ext cx="228600" cy="228600"/>
          </a:xfrm>
          <a:prstGeom prst="rect">
            <a:avLst/>
          </a:prstGeom>
          <a:ln/>
        </p:spPr>
      </p:pic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1190625" y="22955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1104900" y="2476500"/>
            <a:ext cx="6477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问题基线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95350" y="2733675"/>
            <a:ext cx="10668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定义问题</a:t>
            </a:r>
            <a:r>
              <a:rPr lang="en-US" sz="900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现状数字</a:t>
            </a:r>
            <a:endParaRPr/>
          </a:p>
        </p:txBody>
      </p:sp>
      <p:pic>
        <p:nvPicPr>
          <p:cNvPr id="5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257425" y="2266950"/>
            <a:ext cx="152400" cy="152400"/>
          </a:xfrm>
          <a:prstGeom prst="rect">
            <a:avLst/>
          </a:prstGeom>
          <a:ln/>
        </p:spPr>
      </p:pic>
      <p:sp>
        <p:nvSpPr>
          <p:cNvPr id="547" name=""/>
          <p:cNvSpPr/>
          <p:nvPr/>
        </p:nvSpPr>
        <p:spPr>
          <a:xfrm rot="0" flipH="0" flipV="0">
            <a:off x="2505075" y="1590675"/>
            <a:ext cx="1476375" cy="1495425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3019425" y="1743075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133725" y="1857375"/>
            <a:ext cx="228600" cy="228600"/>
          </a:xfrm>
          <a:prstGeom prst="rect">
            <a:avLst/>
          </a:prstGeom>
          <a:ln/>
        </p:spPr>
      </p:pic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009900" y="22955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2676525" y="2476500"/>
            <a:ext cx="11334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数据与风险就绪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2828925" y="2733675"/>
            <a:ext cx="8382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过五关</a:t>
            </a:r>
            <a:r>
              <a:rPr lang="en-US" sz="900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评风险</a:t>
            </a:r>
            <a:endParaRPr/>
          </a:p>
        </p:txBody>
      </p:sp>
      <p:pic>
        <p:nvPicPr>
          <p:cNvPr id="5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76700" y="2266950"/>
            <a:ext cx="152400" cy="152400"/>
          </a:xfrm>
          <a:prstGeom prst="rect">
            <a:avLst/>
          </a:prstGeom>
          <a:ln/>
        </p:spPr>
      </p:pic>
      <p:sp>
        <p:nvSpPr>
          <p:cNvPr id="554" name=""/>
          <p:cNvSpPr/>
          <p:nvPr/>
        </p:nvSpPr>
        <p:spPr>
          <a:xfrm rot="0" flipH="0" flipV="0">
            <a:off x="4324350" y="1590675"/>
            <a:ext cx="1476375" cy="1495425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4838700" y="1743075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953000" y="1857375"/>
            <a:ext cx="228600" cy="228600"/>
          </a:xfrm>
          <a:prstGeom prst="rect">
            <a:avLst/>
          </a:prstGeom>
          <a:ln/>
        </p:spPr>
      </p:pic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4829175" y="22955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4819650" y="2476500"/>
            <a:ext cx="4857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小实验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4667250" y="2733675"/>
            <a:ext cx="8001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最小闭环跑起来</a:t>
            </a:r>
            <a:endParaRPr/>
          </a:p>
        </p:txBody>
      </p:sp>
      <p:pic>
        <p:nvPicPr>
          <p:cNvPr id="5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895975" y="2266950"/>
            <a:ext cx="152400" cy="152400"/>
          </a:xfrm>
          <a:prstGeom prst="rect">
            <a:avLst/>
          </a:prstGeom>
          <a:ln/>
        </p:spPr>
      </p:pic>
      <p:sp>
        <p:nvSpPr>
          <p:cNvPr id="561" name=""/>
          <p:cNvSpPr/>
          <p:nvPr/>
        </p:nvSpPr>
        <p:spPr>
          <a:xfrm rot="0" flipH="0" flipV="0">
            <a:off x="6143625" y="1590675"/>
            <a:ext cx="1476375" cy="1495425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657975" y="1743075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772275" y="1857375"/>
            <a:ext cx="228600" cy="228600"/>
          </a:xfrm>
          <a:prstGeom prst="rect">
            <a:avLst/>
          </a:prstGeom>
          <a:ln/>
        </p:spPr>
      </p:pic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648450" y="22955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477000" y="2476500"/>
            <a:ext cx="80962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人在回路试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400800" y="2733675"/>
            <a:ext cx="97155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PingFang SC"/>
                <a:ea typeface="PingFang SC"/>
              </a:rPr>
              <a:t>AI </a:t>
            </a: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建议</a:t>
            </a:r>
            <a:r>
              <a:rPr lang="en-US" sz="900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人批处置</a:t>
            </a:r>
            <a:endParaRPr/>
          </a:p>
        </p:txBody>
      </p:sp>
      <p:pic>
        <p:nvPicPr>
          <p:cNvPr id="5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15250" y="2266950"/>
            <a:ext cx="152400" cy="152400"/>
          </a:xfrm>
          <a:prstGeom prst="rect">
            <a:avLst/>
          </a:prstGeom>
          <a:ln/>
        </p:spPr>
      </p:pic>
      <p:sp>
        <p:nvSpPr>
          <p:cNvPr id="568" name=""/>
          <p:cNvSpPr/>
          <p:nvPr/>
        </p:nvSpPr>
        <p:spPr>
          <a:xfrm rot="0" flipH="0" flipV="0">
            <a:off x="7962900" y="1590675"/>
            <a:ext cx="1476375" cy="1495425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8477250" y="1743075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591550" y="1857375"/>
            <a:ext cx="228600" cy="228600"/>
          </a:xfrm>
          <a:prstGeom prst="rect">
            <a:avLst/>
          </a:prstGeom>
          <a:ln/>
        </p:spPr>
      </p:pic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467725" y="22955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5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220075" y="2476500"/>
            <a:ext cx="97155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量价值与危害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296275" y="2733675"/>
            <a:ext cx="80962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900">
                <a:solidFill>
                  <a:srgbClr val="64748B"/>
                </a:solidFill>
                <a:latin typeface="PingFang SC"/>
                <a:ea typeface="PingFang SC"/>
              </a:rPr>
              <a:t>ROI </a:t>
            </a: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正负都要算</a:t>
            </a:r>
            <a:endParaRPr/>
          </a:p>
        </p:txBody>
      </p:sp>
      <p:pic>
        <p:nvPicPr>
          <p:cNvPr id="5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534525" y="2266950"/>
            <a:ext cx="152400" cy="152400"/>
          </a:xfrm>
          <a:prstGeom prst="rect">
            <a:avLst/>
          </a:prstGeom>
          <a:ln/>
        </p:spPr>
      </p:pic>
      <p:sp>
        <p:nvSpPr>
          <p:cNvPr id="575" name=""/>
          <p:cNvSpPr/>
          <p:nvPr/>
        </p:nvSpPr>
        <p:spPr>
          <a:xfrm rot="0" flipH="0" flipV="0">
            <a:off x="9782175" y="1590675"/>
            <a:ext cx="1724025" cy="1495425"/>
          </a:xfrm>
          <a:prstGeom prst="roundRect">
            <a:avLst>
              <a:gd name="adj" fmla="val 8917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  <a:effectLst>
            <a:outerShdw blurRad="133350" dist="38100" dir="5400000">
              <a:srgbClr val="1E3A8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10420350" y="1743075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FDEBC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10534650" y="1857375"/>
            <a:ext cx="228600" cy="228600"/>
          </a:xfrm>
          <a:prstGeom prst="rect">
            <a:avLst/>
          </a:prstGeom>
          <a:ln/>
        </p:spPr>
      </p:pic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0410825" y="22955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STEP 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6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134600" y="2476500"/>
            <a:ext cx="10287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B45309"/>
                </a:solidFill>
                <a:latin typeface="PingFang SC"/>
                <a:ea typeface="PingFang SC"/>
              </a:rPr>
              <a:t>标准</a:t>
            </a:r>
            <a:r>
              <a:rPr lang="en-US" sz="1275" b="1">
                <a:solidFill>
                  <a:srgbClr val="B45309"/>
                </a:solidFill>
                <a:latin typeface="PingFang SC"/>
                <a:ea typeface="PingFang SC"/>
              </a:rPr>
              <a:t> / </a:t>
            </a:r>
            <a:r>
              <a:rPr lang="zh-CN" sz="1275" b="1">
                <a:solidFill>
                  <a:srgbClr val="B45309"/>
                </a:solidFill>
                <a:latin typeface="PingFang SC"/>
                <a:ea typeface="PingFang SC"/>
              </a:rPr>
              <a:t>扩</a:t>
            </a:r>
            <a:r>
              <a:rPr lang="en-US" sz="1275" b="1">
                <a:solidFill>
                  <a:srgbClr val="B45309"/>
                </a:solidFill>
                <a:latin typeface="PingFang SC"/>
                <a:ea typeface="PingFang SC"/>
              </a:rPr>
              <a:t> / </a:t>
            </a:r>
            <a:r>
              <a:rPr lang="zh-CN" sz="1275" b="1">
                <a:solidFill>
                  <a:srgbClr val="B45309"/>
                </a:solidFill>
                <a:latin typeface="PingFang SC"/>
                <a:ea typeface="PingFang SC"/>
              </a:rPr>
              <a:t>停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0191750" y="2733675"/>
            <a:ext cx="9144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三选一，都算成功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85800" y="3590925"/>
            <a:ext cx="5314950" cy="1914525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5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895350" y="4410075"/>
            <a:ext cx="285750" cy="285750"/>
          </a:xfrm>
          <a:prstGeom prst="rect">
            <a:avLst/>
          </a:prstGeom>
          <a:ln/>
        </p:spPr>
      </p:pic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333500" y="4095750"/>
            <a:ext cx="44577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试点不是「先干再说」——第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> 1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、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>2 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步（基线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就绪）没过，后面全是空中楼阁。精益的</a:t>
            </a:r>
            <a:r>
              <a:rPr lang="en-US" sz="1275">
                <a:solidFill>
                  <a:srgbClr val="43566B"/>
                </a:solidFill>
                <a:latin typeface="PingFang SC"/>
                <a:ea typeface="PingFang SC"/>
              </a:rPr>
              <a:t> PDCA 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精神：</a:t>
            </a:r>
            <a:r>
              <a:rPr lang="zh-CN" sz="1275" b="1">
                <a:solidFill>
                  <a:srgbClr val="1E3A8A"/>
                </a:solidFill>
                <a:latin typeface="PingFang SC"/>
                <a:ea typeface="PingFang SC"/>
              </a:rPr>
              <a:t>小步快跑，每步有数</a:t>
            </a:r>
            <a:r>
              <a:rPr lang="zh-CN" sz="1275">
                <a:solidFill>
                  <a:srgbClr val="43566B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191250" y="3590925"/>
            <a:ext cx="5314950" cy="1914525"/>
          </a:xfrm>
          <a:prstGeom prst="roundRect">
            <a:avLst>
              <a:gd name="adj" fmla="val 7960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6400800" y="4410075"/>
            <a:ext cx="285750" cy="285750"/>
          </a:xfrm>
          <a:prstGeom prst="rect">
            <a:avLst/>
          </a:prstGeom>
          <a:ln/>
        </p:spPr>
      </p:pic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838950" y="4248150"/>
            <a:ext cx="4457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92400E"/>
                </a:solidFill>
                <a:latin typeface="PingFang SC"/>
                <a:ea typeface="PingFang SC"/>
              </a:rPr>
              <a:t>最后一关三选一：</a:t>
            </a:r>
            <a:r>
              <a:rPr lang="zh-CN" sz="1275">
                <a:solidFill>
                  <a:srgbClr val="92400E"/>
                </a:solidFill>
                <a:latin typeface="PingFang SC"/>
                <a:ea typeface="PingFang SC"/>
              </a:rPr>
              <a:t>标准化（全厂推）、扩大（再放大一圈）、或止损（停）——止损也是正当结果，把学费记在明处。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6334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六步走完，你手里就有一个「能向领导汇报的试点」——下一页教你算它的账。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26 / 33</a:t>
            </a:r>
            <a:endParaRPr/>
          </a:p>
        </p:txBody>
      </p:sp>
    </p:spTree>
  </p:cSld>
</p:sld>
</file>

<file path=ppt/slides/slide2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4467225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ROI + PDCA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：圈住一个小试点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4467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算得清账，才立得住项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85800" y="1276350"/>
            <a:ext cx="5829300" cy="4248150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933450" y="1524000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PingFang SC"/>
                <a:ea typeface="PingFang SC"/>
              </a:rPr>
              <a:t>ROI </a:t>
            </a:r>
            <a:r>
              <a:rPr lang="zh-CN" sz="1275" b="1">
                <a:solidFill>
                  <a:srgbClr val="0891B2"/>
                </a:solidFill>
                <a:latin typeface="PingFang SC"/>
                <a:ea typeface="PingFang SC"/>
              </a:rPr>
              <a:t>怎么算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933450" y="1838325"/>
            <a:ext cx="5334000" cy="581025"/>
          </a:xfrm>
          <a:prstGeom prst="roundRect">
            <a:avLst>
              <a:gd name="adj" fmla="val 19672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314450" y="1990725"/>
            <a:ext cx="458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PingFang SC"/>
                <a:ea typeface="PingFang SC"/>
              </a:rPr>
              <a:t>ROI = </a:t>
            </a: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省工时</a:t>
            </a:r>
            <a:r>
              <a:rPr lang="en-US" sz="1800" b="1">
                <a:solidFill>
                  <a:srgbClr val="FFFFFF"/>
                </a:solidFill>
                <a:latin typeface="PingFang SC"/>
                <a:ea typeface="PingFang SC"/>
              </a:rPr>
              <a:t> + </a:t>
            </a: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减停机</a:t>
            </a:r>
            <a:r>
              <a:rPr lang="en-US" sz="1800" b="1">
                <a:solidFill>
                  <a:srgbClr val="FFFFFF"/>
                </a:solidFill>
                <a:latin typeface="PingFang SC"/>
                <a:ea typeface="PingFang SC"/>
              </a:rPr>
              <a:t> + </a:t>
            </a: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降缺陷成本</a:t>
            </a:r>
            <a:r>
              <a:rPr lang="en-US" sz="1800" b="1">
                <a:solidFill>
                  <a:srgbClr val="FFFFFF"/>
                </a:solidFill>
                <a:latin typeface="PingFang SC"/>
                <a:ea typeface="PingFang SC"/>
              </a:rPr>
              <a:t> − </a:t>
            </a:r>
            <a:r>
              <a:rPr lang="zh-CN" sz="1800" b="1">
                <a:solidFill>
                  <a:srgbClr val="FFFFFF"/>
                </a:solidFill>
                <a:latin typeface="PingFang SC"/>
                <a:ea typeface="PingFang SC"/>
              </a:rPr>
              <a:t>投入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933450" y="2571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04900" y="2676525"/>
            <a:ext cx="190500" cy="190500"/>
          </a:xfrm>
          <a:prstGeom prst="rect">
            <a:avLst/>
          </a:prstGeom>
          <a:ln/>
        </p:spPr>
      </p:pic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409700" y="267652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省工时：质检人力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2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人·时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/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天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× 250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天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×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时薪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933450" y="3419475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04900" y="3524250"/>
            <a:ext cx="190500" cy="190500"/>
          </a:xfrm>
          <a:prstGeom prst="rect">
            <a:avLst/>
          </a:prstGeom>
          <a:ln/>
        </p:spPr>
      </p:pic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409700" y="3524250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减停机：非计划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4 h/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月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×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产线时损失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933450" y="4257675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104900" y="4362450"/>
            <a:ext cx="190500" cy="190500"/>
          </a:xfrm>
          <a:prstGeom prst="rect">
            <a:avLst/>
          </a:prstGeom>
          <a:ln/>
        </p:spPr>
      </p:pic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409700" y="4362450"/>
            <a:ext cx="2981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投入：软件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实施</a:t>
            </a:r>
            <a:r>
              <a:rPr lang="en-US" sz="120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43566B"/>
                </a:solidFill>
                <a:latin typeface="PingFang SC"/>
                <a:ea typeface="PingFang SC"/>
              </a:rPr>
              <a:t>标签成本，都要算进去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53340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B45309"/>
                </a:solidFill>
                <a:latin typeface="PingFang SC"/>
                <a:ea typeface="PingFang SC"/>
              </a:rPr>
              <a:t>用活动包里的真实数据练手——数字不漂亮没关系，结构对就行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743700" y="1276350"/>
            <a:ext cx="4762500" cy="2838450"/>
          </a:xfrm>
          <a:prstGeom prst="roundRect">
            <a:avLst>
              <a:gd name="adj" fmla="val 604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E3A8A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991350" y="1524000"/>
            <a:ext cx="426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91B2"/>
                </a:solidFill>
                <a:latin typeface="PingFang SC"/>
                <a:ea typeface="PingFang SC"/>
              </a:rPr>
              <a:t>PDCA</a:t>
            </a:r>
            <a:r>
              <a:rPr lang="zh-CN" sz="1275" b="1">
                <a:solidFill>
                  <a:srgbClr val="0891B2"/>
                </a:solidFill>
                <a:latin typeface="PingFang SC"/>
                <a:ea typeface="PingFang SC"/>
              </a:rPr>
              <a:t>：试点即改进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991350" y="1819275"/>
            <a:ext cx="426720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143750" y="1905000"/>
            <a:ext cx="102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计划</a:t>
            </a: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 Plan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286750" y="191452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把问题和基线说清楚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991350" y="2381250"/>
            <a:ext cx="426720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143750" y="2466975"/>
            <a:ext cx="102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执行</a:t>
            </a: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 Do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286750" y="247650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小实验跑起来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991350" y="2943225"/>
            <a:ext cx="426720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143750" y="3028950"/>
            <a:ext cx="102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检查</a:t>
            </a: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 Check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286750" y="303847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价值与危害都量化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991350" y="3505200"/>
            <a:ext cx="4267200" cy="361950"/>
          </a:xfrm>
          <a:prstGeom prst="roundRect">
            <a:avLst>
              <a:gd name="adj" fmla="val 26316"/>
            </a:avLst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7143750" y="3590925"/>
            <a:ext cx="102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8A"/>
                </a:solidFill>
                <a:latin typeface="PingFang SC"/>
                <a:ea typeface="PingFang SC"/>
              </a:rPr>
              <a:t>处理</a:t>
            </a:r>
            <a:r>
              <a:rPr lang="en-US" sz="1200" b="1">
                <a:solidFill>
                  <a:srgbClr val="1E3A8A"/>
                </a:solidFill>
                <a:latin typeface="PingFang SC"/>
                <a:ea typeface="PingFang SC"/>
              </a:rPr>
              <a:t> Act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8286750" y="360045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标准化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扩</a:t>
            </a:r>
            <a:r>
              <a:rPr lang="en-US" sz="1125">
                <a:solidFill>
                  <a:srgbClr val="43566B"/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43566B"/>
                </a:solidFill>
                <a:latin typeface="PingFang SC"/>
                <a:ea typeface="PingFang SC"/>
              </a:rPr>
              <a:t>停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743700" y="4267200"/>
            <a:ext cx="4762500" cy="1257300"/>
          </a:xfrm>
          <a:prstGeom prst="roundRect">
            <a:avLst>
              <a:gd name="adj" fmla="val 10606"/>
            </a:avLst>
          </a:prstGeom>
          <a:solidFill>
            <a:srgbClr val="FFF7E8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934200" y="4400550"/>
            <a:ext cx="438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2400E"/>
                </a:solidFill>
                <a:latin typeface="PingFang SC"/>
                <a:ea typeface="PingFang SC"/>
              </a:rPr>
              <a:t>三个坑</a:t>
            </a:r>
            <a:endParaRPr/>
          </a:p>
        </p:txBody>
      </p:sp>
      <p:pic>
        <p:nvPicPr>
          <p:cNvPr id="6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34200" y="4686300"/>
            <a:ext cx="152400" cy="152400"/>
          </a:xfrm>
          <a:prstGeom prst="rect">
            <a:avLst/>
          </a:prstGeom>
          <a:ln/>
        </p:spPr>
      </p:pic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181850" y="464820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2400E"/>
                </a:solidFill>
                <a:latin typeface="PingFang SC"/>
                <a:ea typeface="PingFang SC"/>
              </a:rPr>
              <a:t>别跳过「为什么」——先想清楚再动手</a:t>
            </a:r>
            <a:endParaRPr/>
          </a:p>
        </p:txBody>
      </p:sp>
      <p:pic>
        <p:nvPicPr>
          <p:cNvPr id="6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34200" y="4933950"/>
            <a:ext cx="152400" cy="152400"/>
          </a:xfrm>
          <a:prstGeom prst="rect">
            <a:avLst/>
          </a:prstGeom>
          <a:ln/>
        </p:spPr>
      </p:pic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181850" y="489585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2400E"/>
                </a:solidFill>
                <a:latin typeface="PingFang SC"/>
                <a:ea typeface="PingFang SC"/>
              </a:rPr>
              <a:t>别只堆理论——每步要有真实数据</a:t>
            </a:r>
            <a:endParaRPr/>
          </a:p>
        </p:txBody>
      </p:sp>
      <p:pic>
        <p:nvPicPr>
          <p:cNvPr id="6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34200" y="5181600"/>
            <a:ext cx="152400" cy="152400"/>
          </a:xfrm>
          <a:prstGeom prst="rect">
            <a:avLst/>
          </a:prstGeom>
          <a:ln/>
        </p:spPr>
      </p:pic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181850" y="514350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2400E"/>
                </a:solidFill>
                <a:latin typeface="PingFang SC"/>
                <a:ea typeface="PingFang SC"/>
              </a:rPr>
              <a:t>别一次铺太大——一个闭环一个闭环来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85800" y="5676900"/>
            <a:ext cx="10820400" cy="47625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14400" y="5800725"/>
            <a:ext cx="228600" cy="228600"/>
          </a:xfrm>
          <a:prstGeom prst="rect">
            <a:avLst/>
          </a:prstGeom>
          <a:ln/>
        </p:spPr>
      </p:pic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276350" y="5810250"/>
            <a:ext cx="7677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课堂试一下：用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ROI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公式，估一个你岗位小改进的预期收益——数字保守一点，结构完整就好。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1058525" y="63627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27 / 33</a:t>
            </a:r>
            <a:endParaRPr/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6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9296400" y="438150"/>
            <a:ext cx="2381250" cy="2381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857250" y="5086350"/>
            <a:ext cx="1238250" cy="1238250"/>
          </a:xfrm>
          <a:prstGeom prst="roundRect">
            <a:avLst>
              <a:gd name="adj" fmla="val 50000"/>
            </a:avLst>
          </a:prstGeom>
          <a:ln w="254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105918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6B6D4">
                    <a:alpha val="50000"/>
                  </a:srgbClr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7FD9F0"/>
                </a:solidFill>
                <a:latin typeface="PingFang SC"/>
                <a:ea typeface="PingFang SC"/>
              </a:rPr>
              <a:t>CHAPTER SEVEN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800100" y="3657600"/>
            <a:ext cx="10591800" cy="7334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案例工作坊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800100" y="4676775"/>
            <a:ext cx="8001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00100" y="4924425"/>
            <a:ext cx="10591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A9C4E8"/>
                </a:solidFill>
                <a:latin typeface="PingFang SC"/>
                <a:ea typeface="PingFang SC"/>
              </a:rPr>
              <a:t>不听讲了——用带数据的真实活动包，分组动手练。</a:t>
            </a:r>
            <a:endParaRPr/>
          </a:p>
        </p:txBody>
      </p:sp>
    </p:spTree>
  </p:cSld>
</p:sld>
</file>

<file path=ppt/slides/slide2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39814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三个活动包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一张试点章程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3981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分组各领一个真实活动包，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45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分钟出成果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85800" y="1276350"/>
            <a:ext cx="634365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133350" dist="3810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876300" y="14097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0125" y="1533525"/>
            <a:ext cx="247650" cy="247650"/>
          </a:xfrm>
          <a:prstGeom prst="rect">
            <a:avLst/>
          </a:prstGeom>
          <a:ln/>
        </p:spPr>
      </p:pic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524000" y="1438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B6D4"/>
                </a:solidFill>
                <a:latin typeface="Space Grotesk"/>
                <a:ea typeface="Space Grotesk"/>
              </a:rPr>
              <a:t>活动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 07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2076450" y="14097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视觉质检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524000" y="1666875"/>
            <a:ext cx="5314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终检是瓶颈、裂纹极罕见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设计「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AI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分诊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人复判」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685800" y="2924175"/>
            <a:ext cx="634365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133350" dist="3810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876300" y="30575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0125" y="3181350"/>
            <a:ext cx="247650" cy="247650"/>
          </a:xfrm>
          <a:prstGeom prst="rect">
            <a:avLst/>
          </a:prstGeom>
          <a:ln/>
        </p:spPr>
      </p:pic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524000" y="3086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B6D4"/>
                </a:solidFill>
                <a:latin typeface="Space Grotesk"/>
                <a:ea typeface="Space Grotesk"/>
              </a:rPr>
              <a:t>活动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 08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2076450" y="30575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预测维护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524000" y="3314700"/>
            <a:ext cx="5314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CNC-2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振动升温、厂商模型不解释动作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设计「证据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置信度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人批」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85800" y="4562475"/>
            <a:ext cx="634365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2EAF3"/>
            </a:solidFill>
            <a:prstDash val="solid"/>
          </a:ln>
          <a:effectLst>
            <a:outerShdw blurRad="133350" dist="38100" dir="5400000">
              <a:srgbClr val="1E3A8A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876300" y="4695825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1F5F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0125" y="4819650"/>
            <a:ext cx="247650" cy="247650"/>
          </a:xfrm>
          <a:prstGeom prst="rect">
            <a:avLst/>
          </a:prstGeom>
          <a:ln/>
        </p:spPr>
      </p:pic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524000" y="47244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B6D4"/>
                </a:solidFill>
                <a:latin typeface="Space Grotesk"/>
                <a:ea typeface="Space Grotesk"/>
              </a:rPr>
              <a:t>活动</a:t>
            </a:r>
            <a:r>
              <a:rPr lang="en-US" sz="1050" b="1">
                <a:solidFill>
                  <a:srgbClr val="06B6D4"/>
                </a:solidFill>
                <a:latin typeface="Space Grotesk"/>
                <a:ea typeface="Space Grotesk"/>
              </a:rPr>
              <a:t> 01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2076450" y="46958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3A8A"/>
                </a:solidFill>
                <a:latin typeface="PingFang SC"/>
                <a:ea typeface="PingFang SC"/>
              </a:rPr>
              <a:t>浪费走查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524000" y="4953000"/>
            <a:ext cx="5314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CNC-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检验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-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包装节拍延误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找浪费</a:t>
            </a:r>
            <a:r>
              <a:rPr lang="en-US" sz="1050">
                <a:solidFill>
                  <a:srgbClr val="43566B"/>
                </a:solidFill>
                <a:latin typeface="PingFang SC"/>
                <a:ea typeface="PingFang SC"/>
              </a:rPr>
              <a:t> + AI </a:t>
            </a:r>
            <a:r>
              <a:rPr lang="zh-CN" sz="1050">
                <a:solidFill>
                  <a:srgbClr val="43566B"/>
                </a:solidFill>
                <a:latin typeface="PingFang SC"/>
                <a:ea typeface="PingFang SC"/>
              </a:rPr>
              <a:t>机会扫描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85800" y="5457825"/>
            <a:ext cx="6343650" cy="695325"/>
          </a:xfrm>
          <a:prstGeom prst="roundRect">
            <a:avLst>
              <a:gd name="adj" fmla="val 19178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76300" y="5591175"/>
            <a:ext cx="596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7FD9F0"/>
                </a:solidFill>
                <a:latin typeface="PingFang SC"/>
                <a:ea typeface="PingFang SC"/>
              </a:rPr>
              <a:t>每组交付</a:t>
            </a:r>
            <a:r>
              <a:rPr lang="en-US" sz="1125" b="1">
                <a:solidFill>
                  <a:srgbClr val="7FD9F0"/>
                </a:solidFill>
                <a:latin typeface="PingFang SC"/>
                <a:ea typeface="PingFang SC"/>
              </a:rPr>
              <a:t> 1 </a:t>
            </a:r>
            <a:r>
              <a:rPr lang="zh-CN" sz="1125" b="1">
                <a:solidFill>
                  <a:srgbClr val="7FD9F0"/>
                </a:solidFill>
                <a:latin typeface="PingFang SC"/>
                <a:ea typeface="PingFang SC"/>
              </a:rPr>
              <a:t>页「试点章程」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76300" y="5819775"/>
            <a:ext cx="5962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问题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数据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AI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方案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人在哪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· ROI —— 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五格填满，就能拿去立项。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7277100" y="1276350"/>
            <a:ext cx="4229100" cy="4876800"/>
          </a:xfrm>
          <a:prstGeom prst="roundRect">
            <a:avLst>
              <a:gd name="adj" fmla="val 4054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74" name=""/>
          <p:cNvPicPr>
            <a:picLocks noChangeAspect="1"/>
          </p:cNvPicPr>
          <p:nvPr/>
        </p:nvPicPr>
        <p:blipFill>
          <a:blip r:embed="rId4"/>
          <a:srcRect l="6640" t="0" r="6640" b="0"/>
          <a:stretch>
            <a:fillRect/>
          </a:stretch>
        </p:blipFill>
        <p:spPr>
          <a:xfrm rot="0" flipH="0" flipV="0">
            <a:off x="7277100" y="1276350"/>
            <a:ext cx="4229100" cy="4876800"/>
          </a:xfrm>
          <a:custGeom>
            <a:pathLst>
              <a:path w="444" h="512">
                <a:moveTo>
                  <a:pt x="426" y="0"/>
                </a:moveTo>
                <a:cubicBezTo>
                  <a:pt x="436" y="0"/>
                  <a:pt x="444" y="8"/>
                  <a:pt x="444" y="18"/>
                </a:cubicBezTo>
                <a:lnTo>
                  <a:pt x="444" y="494"/>
                </a:lnTo>
                <a:cubicBezTo>
                  <a:pt x="444" y="504"/>
                  <a:pt x="436" y="512"/>
                  <a:pt x="426" y="512"/>
                </a:cubicBezTo>
                <a:lnTo>
                  <a:pt x="18" y="512"/>
                </a:lnTo>
                <a:cubicBezTo>
                  <a:pt x="8" y="512"/>
                  <a:pt x="0" y="504"/>
                  <a:pt x="0" y="494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426" y="0"/>
                </a:lnTo>
                <a:close/>
              </a:path>
            </a:pathLst>
          </a:custGeom>
          <a:ln/>
        </p:spPr>
      </p:pic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29 / 33</a:t>
            </a:r>
            <a:endParaRPr/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7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p/>
        </p:txBody>
      </p:sp>
      <p:sp>
        <p:nvSpPr>
          <p:cNvPr id="713" name=""/>
          <p:cNvSpPr/>
          <p:nvPr/>
        </p:nvSpPr>
        <p:spPr>
          <a:xfrm>
            <a:off x="685800" y="419100"/>
            <a:ext cx="38100" cy="419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p/>
        </p:txBody>
      </p:sp>
      <p:sp>
        <p:nvSpPr>
          <p:cNvPr id="714" name=""/>
          <p:cNvSpPr/>
          <p:nvPr/>
        </p:nvSpPr>
        <p:spPr>
          <a:xfrm>
            <a:off x="838200" y="3810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E3A8A"/>
                </a:solidFill>
                <a:latin typeface="PingFang SC"/>
                <a:ea typeface="PingFang SC"/>
              </a:rPr>
              <a:t>企业 AI 倡导者网络（Champion）</a:t>
            </a:r>
            <a:endParaRPr/>
          </a:p>
        </p:txBody>
      </p:sp>
      <p:sp>
        <p:nvSpPr>
          <p:cNvPr id="715" name=""/>
          <p:cNvSpPr/>
          <p:nvPr/>
        </p:nvSpPr>
        <p:spPr>
          <a:xfrm>
            <a:off x="838200" y="9144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PingFang SC"/>
                <a:ea typeface="PingFang SC"/>
              </a:rPr>
              <a:t>课程成果延伸到车间 —— 课后不熄火</a:t>
            </a:r>
            <a:endParaRPr/>
          </a:p>
        </p:txBody>
      </p:sp>
      <p:sp>
        <p:nvSpPr>
          <p:cNvPr id="716" name=""/>
          <p:cNvSpPr/>
          <p:nvPr/>
        </p:nvSpPr>
        <p:spPr>
          <a:xfrm>
            <a:off x="685800" y="1333500"/>
            <a:ext cx="34544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7" name=""/>
          <p:cNvSpPr/>
          <p:nvPr/>
        </p:nvSpPr>
        <p:spPr>
          <a:xfrm>
            <a:off x="939800" y="15621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>
                <a:solidFill>
                  <a:srgbClr val="F59E0B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718" name=""/>
          <p:cNvSpPr/>
          <p:nvPr/>
        </p:nvSpPr>
        <p:spPr>
          <a:xfrm>
            <a:off x="939800" y="2006600"/>
            <a:ext cx="2946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E3A8A"/>
                </a:solidFill>
                <a:latin typeface="PingFang SC"/>
                <a:ea typeface="PingFang SC"/>
              </a:rPr>
              <a:t>选</a:t>
            </a:r>
            <a:endParaRPr/>
          </a:p>
        </p:txBody>
      </p:sp>
      <p:sp>
        <p:nvSpPr>
          <p:cNvPr id="719" name=""/>
          <p:cNvSpPr/>
          <p:nvPr/>
        </p:nvSpPr>
        <p:spPr>
          <a:xfrm>
            <a:off x="939800" y="2438400"/>
            <a:ext cx="29464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334155"/>
                </a:solidFill>
                <a:latin typeface="PingFang SC"/>
                <a:ea typeface="PingFang SC"/>
              </a:rPr>
              <a:t>工作坊结束前，从各组选出 3–5 名 AI 倡导者：学员自荐 + 讲师提名，覆盖所有将试点的部门</a:t>
            </a:r>
            <a:endParaRPr/>
          </a:p>
        </p:txBody>
      </p:sp>
      <p:sp>
        <p:nvSpPr>
          <p:cNvPr id="720" name=""/>
          <p:cNvSpPr/>
          <p:nvPr/>
        </p:nvSpPr>
        <p:spPr>
          <a:xfrm>
            <a:off x="4368800" y="1333500"/>
            <a:ext cx="34544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1" name=""/>
          <p:cNvSpPr/>
          <p:nvPr/>
        </p:nvSpPr>
        <p:spPr>
          <a:xfrm>
            <a:off x="4622800" y="15621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>
                <a:solidFill>
                  <a:srgbClr val="F59E0B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722" name=""/>
          <p:cNvSpPr/>
          <p:nvPr/>
        </p:nvSpPr>
        <p:spPr>
          <a:xfrm>
            <a:off x="4622800" y="2006600"/>
            <a:ext cx="2946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E3A8A"/>
                </a:solidFill>
                <a:latin typeface="PingFang SC"/>
                <a:ea typeface="PingFang SC"/>
              </a:rPr>
              <a:t>担</a:t>
            </a:r>
            <a:endParaRPr/>
          </a:p>
        </p:txBody>
      </p:sp>
      <p:sp>
        <p:nvSpPr>
          <p:cNvPr id="723" name=""/>
          <p:cNvSpPr/>
          <p:nvPr/>
        </p:nvSpPr>
        <p:spPr>
          <a:xfrm>
            <a:off x="4622800" y="2438400"/>
            <a:ext cx="29464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334155"/>
                </a:solidFill>
                <a:latin typeface="PingFang SC"/>
                <a:ea typeface="PingFang SC"/>
              </a:rPr>
              <a:t>每周固定动作：每部门每周 1 个真实 AI 用例演示 + 带教新人提示词写法，把个人能力变成团队习惯</a:t>
            </a:r>
            <a:endParaRPr/>
          </a:p>
        </p:txBody>
      </p:sp>
      <p:sp>
        <p:nvSpPr>
          <p:cNvPr id="724" name=""/>
          <p:cNvSpPr/>
          <p:nvPr/>
        </p:nvSpPr>
        <p:spPr>
          <a:xfrm>
            <a:off x="8051800" y="1333500"/>
            <a:ext cx="34544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5" name=""/>
          <p:cNvSpPr/>
          <p:nvPr/>
        </p:nvSpPr>
        <p:spPr>
          <a:xfrm>
            <a:off x="8305800" y="15621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000">
                <a:solidFill>
                  <a:srgbClr val="F59E0B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726" name=""/>
          <p:cNvSpPr/>
          <p:nvPr/>
        </p:nvSpPr>
        <p:spPr>
          <a:xfrm>
            <a:off x="8305800" y="2006600"/>
            <a:ext cx="2946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E3A8A"/>
                </a:solidFill>
                <a:latin typeface="PingFang SC"/>
                <a:ea typeface="PingFang SC"/>
              </a:rPr>
              <a:t>落</a:t>
            </a:r>
            <a:endParaRPr/>
          </a:p>
        </p:txBody>
      </p:sp>
      <p:sp>
        <p:nvSpPr>
          <p:cNvPr id="727" name=""/>
          <p:cNvSpPr/>
          <p:nvPr/>
        </p:nvSpPr>
        <p:spPr>
          <a:xfrm>
            <a:off x="8305800" y="2438400"/>
            <a:ext cx="29464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334155"/>
                </a:solidFill>
                <a:latin typeface="PingFang SC"/>
                <a:ea typeface="PingFang SC"/>
              </a:rPr>
              <a:t>讲师团队提供 1 个月课后陪跑：Champion 群 + 用例模板库 + 月度复盘会，让 AI 试点不停摆</a:t>
            </a:r>
            <a:endParaRPr/>
          </a:p>
        </p:txBody>
      </p:sp>
      <p:sp>
        <p:nvSpPr>
          <p:cNvPr id="728" name=""/>
          <p:cNvSpPr/>
          <p:nvPr/>
        </p:nvSpPr>
        <p:spPr>
          <a:xfrm>
            <a:off x="685800" y="4445000"/>
            <a:ext cx="10820400" cy="101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/>
        </p:txBody>
      </p:sp>
      <p:sp>
        <p:nvSpPr>
          <p:cNvPr id="729" name=""/>
          <p:cNvSpPr/>
          <p:nvPr/>
        </p:nvSpPr>
        <p:spPr>
          <a:xfrm>
            <a:off x="939800" y="4800600"/>
            <a:ext cx="103124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FFFFFF"/>
                </a:solidFill>
                <a:latin typeface="PingFang SC"/>
                <a:ea typeface="PingFang SC"/>
              </a:rPr>
              <a:t>为什么重要：DOL 三层推进策略（Awareness → Application → Champion 网络）—— 这门课结束的地方，就是倡导者网络开始的地方</a:t>
            </a:r>
            <a:endParaRPr/>
          </a:p>
        </p:txBody>
      </p:sp>
      <p:sp>
        <p:nvSpPr>
          <p:cNvPr id="730" name=""/>
          <p:cNvSpPr/>
          <p:nvPr/>
        </p:nvSpPr>
        <p:spPr>
          <a:xfrm>
            <a:off x="685800" y="6477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PingFang SC"/>
                <a:ea typeface="PingFang SC"/>
              </a:rPr>
              <a:t>行业应用 · 初级</a:t>
            </a:r>
            <a:endParaRPr/>
          </a:p>
        </p:txBody>
      </p:sp>
      <p:sp>
        <p:nvSpPr>
          <p:cNvPr id="731" name=""/>
          <p:cNvSpPr/>
          <p:nvPr/>
        </p:nvSpPr>
        <p:spPr>
          <a:xfrm>
            <a:off x="10033000" y="6477000"/>
            <a:ext cx="14732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PingFang SC"/>
                <a:ea typeface="PingFang SC"/>
              </a:rPr>
              <a:t>30 / 33</a:t>
            </a:r>
            <a:endParaRPr/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7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p/>
        </p:txBody>
      </p:sp>
      <p:sp>
        <p:nvSpPr>
          <p:cNvPr id="734" name=""/>
          <p:cNvSpPr/>
          <p:nvPr/>
        </p:nvSpPr>
        <p:spPr>
          <a:xfrm>
            <a:off x="685800" y="419100"/>
            <a:ext cx="38100" cy="419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p/>
        </p:txBody>
      </p:sp>
      <p:sp>
        <p:nvSpPr>
          <p:cNvPr id="735" name=""/>
          <p:cNvSpPr/>
          <p:nvPr/>
        </p:nvSpPr>
        <p:spPr>
          <a:xfrm>
            <a:off x="838200" y="3810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E3A8A"/>
                </a:solidFill>
                <a:latin typeface="PingFang SC"/>
                <a:ea typeface="PingFang SC"/>
              </a:rPr>
              <a:t>国际标尺 · 课程映射（行业篇）</a:t>
            </a:r>
            <a:endParaRPr/>
          </a:p>
        </p:txBody>
      </p:sp>
      <p:sp>
        <p:nvSpPr>
          <p:cNvPr id="736" name=""/>
          <p:cNvSpPr/>
          <p:nvPr/>
        </p:nvSpPr>
        <p:spPr>
          <a:xfrm>
            <a:off x="838200" y="9144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PingFang SC"/>
                <a:ea typeface="PingFang SC"/>
              </a:rPr>
              <a:t>美国 DOL AI 素养框架 · NIST AI RMF · ISO/IEC 42001</a:t>
            </a:r>
            <a:endParaRPr/>
          </a:p>
        </p:txBody>
      </p:sp>
      <p:sp>
        <p:nvSpPr>
          <p:cNvPr id="737" name=""/>
          <p:cNvSpPr/>
          <p:nvPr/>
        </p:nvSpPr>
        <p:spPr>
          <a:xfrm>
            <a:off x="2997200" y="1092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美国 DOL AI 素养框架</a:t>
            </a:r>
            <a:endParaRPr/>
          </a:p>
        </p:txBody>
      </p:sp>
      <p:sp>
        <p:nvSpPr>
          <p:cNvPr id="738" name=""/>
          <p:cNvSpPr/>
          <p:nvPr/>
        </p:nvSpPr>
        <p:spPr>
          <a:xfrm>
            <a:off x="7950200" y="10922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64748B"/>
                </a:solidFill>
                <a:latin typeface="PingFang SC"/>
                <a:ea typeface="PingFang SC"/>
              </a:rPr>
              <a:t>对应治理框架</a:t>
            </a:r>
            <a:endParaRPr/>
          </a:p>
        </p:txBody>
      </p:sp>
      <p:sp>
        <p:nvSpPr>
          <p:cNvPr id="739" name=""/>
          <p:cNvSpPr/>
          <p:nvPr/>
        </p:nvSpPr>
        <p:spPr>
          <a:xfrm>
            <a:off x="685800" y="1295400"/>
            <a:ext cx="21590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PingFang SC"/>
                <a:ea typeface="PingFang SC"/>
              </a:rPr>
              <a:t>M1
制造业为何要 AI</a:t>
            </a:r>
            <a:endParaRPr/>
          </a:p>
        </p:txBody>
      </p:sp>
      <p:sp>
        <p:nvSpPr>
          <p:cNvPr id="740" name=""/>
          <p:cNvSpPr/>
          <p:nvPr/>
        </p:nvSpPr>
        <p:spPr>
          <a:xfrm>
            <a:off x="2997200" y="1447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4155"/>
                </a:solidFill>
                <a:latin typeface="PingFang SC"/>
                <a:ea typeface="PingFang SC"/>
              </a:rPr>
              <a:t>L1 理解 AI 原理 + L2 探索 AI 用途</a:t>
            </a:r>
            <a:endParaRPr/>
          </a:p>
        </p:txBody>
      </p:sp>
      <p:sp>
        <p:nvSpPr>
          <p:cNvPr id="741" name=""/>
          <p:cNvSpPr/>
          <p:nvPr/>
        </p:nvSpPr>
        <p:spPr>
          <a:xfrm>
            <a:off x="7950200" y="1447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742" name=""/>
          <p:cNvSpPr/>
          <p:nvPr/>
        </p:nvSpPr>
        <p:spPr>
          <a:xfrm>
            <a:off x="685800" y="1930400"/>
            <a:ext cx="21590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PingFang SC"/>
                <a:ea typeface="PingFang SC"/>
              </a:rPr>
              <a:t>M2
六大场景</a:t>
            </a:r>
            <a:endParaRPr/>
          </a:p>
        </p:txBody>
      </p:sp>
      <p:sp>
        <p:nvSpPr>
          <p:cNvPr id="743" name=""/>
          <p:cNvSpPr/>
          <p:nvPr/>
        </p:nvSpPr>
        <p:spPr>
          <a:xfrm>
            <a:off x="2997200" y="2082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4155"/>
                </a:solidFill>
                <a:latin typeface="PingFang SC"/>
                <a:ea typeface="PingFang SC"/>
              </a:rPr>
              <a:t>L2 探索 AI 用途（行业案例）</a:t>
            </a:r>
            <a:endParaRPr/>
          </a:p>
        </p:txBody>
      </p:sp>
      <p:sp>
        <p:nvSpPr>
          <p:cNvPr id="744" name=""/>
          <p:cNvSpPr/>
          <p:nvPr/>
        </p:nvSpPr>
        <p:spPr>
          <a:xfrm>
            <a:off x="7950200" y="2082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745" name=""/>
          <p:cNvSpPr/>
          <p:nvPr/>
        </p:nvSpPr>
        <p:spPr>
          <a:xfrm>
            <a:off x="685800" y="2565400"/>
            <a:ext cx="21590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PingFang SC"/>
                <a:ea typeface="PingFang SC"/>
              </a:rPr>
              <a:t>M3
精益速成</a:t>
            </a:r>
            <a:endParaRPr/>
          </a:p>
        </p:txBody>
      </p:sp>
      <p:sp>
        <p:nvSpPr>
          <p:cNvPr id="746" name=""/>
          <p:cNvSpPr/>
          <p:nvPr/>
        </p:nvSpPr>
        <p:spPr>
          <a:xfrm>
            <a:off x="2997200" y="2717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4155"/>
                </a:solidFill>
                <a:latin typeface="PingFang SC"/>
                <a:ea typeface="PingFang SC"/>
              </a:rPr>
              <a:t>L2（嵌入语境 —— 行业语言）</a:t>
            </a:r>
            <a:endParaRPr/>
          </a:p>
        </p:txBody>
      </p:sp>
      <p:sp>
        <p:nvSpPr>
          <p:cNvPr id="747" name=""/>
          <p:cNvSpPr/>
          <p:nvPr/>
        </p:nvSpPr>
        <p:spPr>
          <a:xfrm>
            <a:off x="7950200" y="2717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748" name=""/>
          <p:cNvSpPr/>
          <p:nvPr/>
        </p:nvSpPr>
        <p:spPr>
          <a:xfrm>
            <a:off x="685800" y="3200400"/>
            <a:ext cx="21590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PingFang SC"/>
                <a:ea typeface="PingFang SC"/>
              </a:rPr>
              <a:t>M4
数据就绪与人在回路</a:t>
            </a:r>
            <a:endParaRPr/>
          </a:p>
        </p:txBody>
      </p:sp>
      <p:sp>
        <p:nvSpPr>
          <p:cNvPr id="749" name=""/>
          <p:cNvSpPr/>
          <p:nvPr/>
        </p:nvSpPr>
        <p:spPr>
          <a:xfrm>
            <a:off x="2997200" y="3352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4155"/>
                </a:solidFill>
                <a:latin typeface="PingFang SC"/>
                <a:ea typeface="PingFang SC"/>
              </a:rPr>
              <a:t>L4 评估 AI 输出 + L5 负责任使用</a:t>
            </a:r>
            <a:endParaRPr/>
          </a:p>
        </p:txBody>
      </p:sp>
      <p:sp>
        <p:nvSpPr>
          <p:cNvPr id="750" name=""/>
          <p:cNvSpPr/>
          <p:nvPr/>
        </p:nvSpPr>
        <p:spPr>
          <a:xfrm>
            <a:off x="7950200" y="3352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06B6D4"/>
                </a:solidFill>
                <a:latin typeface="PingFang SC"/>
                <a:ea typeface="PingFang SC"/>
              </a:rPr>
              <a:t>NIST AI RMF · PIPL / 数据安全法</a:t>
            </a:r>
            <a:endParaRPr/>
          </a:p>
        </p:txBody>
      </p:sp>
      <p:sp>
        <p:nvSpPr>
          <p:cNvPr id="751" name=""/>
          <p:cNvSpPr/>
          <p:nvPr/>
        </p:nvSpPr>
        <p:spPr>
          <a:xfrm>
            <a:off x="685800" y="3835400"/>
            <a:ext cx="21590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PingFang SC"/>
                <a:ea typeface="PingFang SC"/>
              </a:rPr>
              <a:t>M5
Agent 与 RAG 落地</a:t>
            </a:r>
            <a:endParaRPr/>
          </a:p>
        </p:txBody>
      </p:sp>
      <p:sp>
        <p:nvSpPr>
          <p:cNvPr id="752" name=""/>
          <p:cNvSpPr/>
          <p:nvPr/>
        </p:nvSpPr>
        <p:spPr>
          <a:xfrm>
            <a:off x="2997200" y="3987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4155"/>
                </a:solidFill>
                <a:latin typeface="PingFang SC"/>
                <a:ea typeface="PingFang SC"/>
              </a:rPr>
              <a:t>L3 有效驾驭 AI（agentic、工具调用）</a:t>
            </a:r>
            <a:endParaRPr/>
          </a:p>
        </p:txBody>
      </p:sp>
      <p:sp>
        <p:nvSpPr>
          <p:cNvPr id="753" name=""/>
          <p:cNvSpPr/>
          <p:nvPr/>
        </p:nvSpPr>
        <p:spPr>
          <a:xfrm>
            <a:off x="7950200" y="3987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06B6D4"/>
                </a:solidFill>
                <a:latin typeface="PingFang SC"/>
                <a:ea typeface="PingFang SC"/>
              </a:rPr>
              <a:t>ISO/IEC 42001（企业侧延伸）</a:t>
            </a:r>
            <a:endParaRPr/>
          </a:p>
        </p:txBody>
      </p:sp>
      <p:sp>
        <p:nvSpPr>
          <p:cNvPr id="754" name=""/>
          <p:cNvSpPr/>
          <p:nvPr/>
        </p:nvSpPr>
        <p:spPr>
          <a:xfrm>
            <a:off x="685800" y="4470400"/>
            <a:ext cx="21590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PingFang SC"/>
                <a:ea typeface="PingFang SC"/>
              </a:rPr>
              <a:t>M6
试点方法</a:t>
            </a:r>
            <a:endParaRPr/>
          </a:p>
        </p:txBody>
      </p:sp>
      <p:sp>
        <p:nvSpPr>
          <p:cNvPr id="755" name=""/>
          <p:cNvSpPr/>
          <p:nvPr/>
        </p:nvSpPr>
        <p:spPr>
          <a:xfrm>
            <a:off x="2997200" y="4622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4155"/>
                </a:solidFill>
                <a:latin typeface="PingFang SC"/>
                <a:ea typeface="PingFang SC"/>
              </a:rPr>
              <a:t>L3 + L4（实操与价值度量）</a:t>
            </a:r>
            <a:endParaRPr/>
          </a:p>
        </p:txBody>
      </p:sp>
      <p:sp>
        <p:nvSpPr>
          <p:cNvPr id="756" name=""/>
          <p:cNvSpPr/>
          <p:nvPr/>
        </p:nvSpPr>
        <p:spPr>
          <a:xfrm>
            <a:off x="7950200" y="4622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757" name=""/>
          <p:cNvSpPr/>
          <p:nvPr/>
        </p:nvSpPr>
        <p:spPr>
          <a:xfrm>
            <a:off x="685800" y="5105400"/>
            <a:ext cx="21590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FFFFFF"/>
                </a:solidFill>
                <a:latin typeface="PingFang SC"/>
                <a:ea typeface="PingFang SC"/>
              </a:rPr>
              <a:t>M7
案例工作坊</a:t>
            </a:r>
            <a:endParaRPr/>
          </a:p>
        </p:txBody>
      </p:sp>
      <p:sp>
        <p:nvSpPr>
          <p:cNvPr id="758" name=""/>
          <p:cNvSpPr/>
          <p:nvPr/>
        </p:nvSpPr>
        <p:spPr>
          <a:xfrm>
            <a:off x="2997200" y="5257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334155"/>
                </a:solidFill>
                <a:latin typeface="PingFang SC"/>
                <a:ea typeface="PingFang SC"/>
              </a:rPr>
              <a:t>L2 + L3 + L4（体验式学习）</a:t>
            </a:r>
            <a:endParaRPr/>
          </a:p>
        </p:txBody>
      </p:sp>
      <p:sp>
        <p:nvSpPr>
          <p:cNvPr id="759" name=""/>
          <p:cNvSpPr/>
          <p:nvPr/>
        </p:nvSpPr>
        <p:spPr>
          <a:xfrm>
            <a:off x="7950200" y="5257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760" name=""/>
          <p:cNvSpPr/>
          <p:nvPr/>
        </p:nvSpPr>
        <p:spPr>
          <a:xfrm>
            <a:off x="685800" y="5791200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PingFang SC"/>
                <a:ea typeface="PingFang SC"/>
              </a:rPr>
              <a:t>本篇三模块对应 DOL「场景探索 + 驾驭 + 评估」三层；治理框架为 NIST / ISO / 国内法规
出处：DOL AI Literacy Framework · NIST AI RMF 1.0 · ISO/IEC 42001:2023；均为公开可查来源</a:t>
            </a:r>
            <a:endParaRPr/>
          </a:p>
        </p:txBody>
      </p:sp>
      <p:sp>
        <p:nvSpPr>
          <p:cNvPr id="761" name=""/>
          <p:cNvSpPr/>
          <p:nvPr/>
        </p:nvSpPr>
        <p:spPr>
          <a:xfrm>
            <a:off x="685800" y="6477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PingFang SC"/>
                <a:ea typeface="PingFang SC"/>
              </a:rPr>
              <a:t>行业应用 · 初级</a:t>
            </a:r>
            <a:endParaRPr/>
          </a:p>
        </p:txBody>
      </p:sp>
      <p:sp>
        <p:nvSpPr>
          <p:cNvPr id="762" name=""/>
          <p:cNvSpPr/>
          <p:nvPr/>
        </p:nvSpPr>
        <p:spPr>
          <a:xfrm>
            <a:off x="10033000" y="6477000"/>
            <a:ext cx="14732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4748B"/>
                </a:solidFill>
                <a:latin typeface="PingFang SC"/>
                <a:ea typeface="PingFang SC"/>
              </a:rPr>
              <a:t>31 / 33</a:t>
            </a:r>
            <a:endParaRPr/>
          </a:p>
        </p:txBody>
      </p:sp>
    </p:spTree>
  </p:cSld>
</p:sld>
</file>

<file path=ppt/slides/slide3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685800" y="4667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885825" y="333375"/>
            <a:ext cx="28956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行业素养自查：</a:t>
            </a:r>
            <a:r>
              <a:rPr lang="en-US" sz="2550" b="1">
                <a:solidFill>
                  <a:srgbClr val="1E3A8A"/>
                </a:solidFill>
                <a:latin typeface="PingFang SC"/>
                <a:ea typeface="PingFang SC"/>
              </a:rPr>
              <a:t>8 </a:t>
            </a:r>
            <a:r>
              <a:rPr lang="zh-CN" sz="2550" b="1">
                <a:solidFill>
                  <a:srgbClr val="1E3A8A"/>
                </a:solidFill>
                <a:latin typeface="PingFang SC"/>
                <a:ea typeface="PingFang SC"/>
              </a:rPr>
              <a:t>条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885825" y="83820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结业标准——逐条打勾，不掺水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685800" y="1276350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400175"/>
            <a:ext cx="247650" cy="247650"/>
          </a:xfrm>
          <a:prstGeom prst="rect">
            <a:avLst/>
          </a:prstGeom>
          <a:ln/>
        </p:spPr>
      </p:pic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1276350" y="1419225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能说清「精益</a:t>
            </a:r>
            <a:r>
              <a:rPr lang="en-US" sz="1350" b="1">
                <a:solidFill>
                  <a:srgbClr val="1A1A1A"/>
                </a:solidFill>
                <a:latin typeface="PingFang SC"/>
                <a:ea typeface="PingFang SC"/>
              </a:rPr>
              <a:t> + AI</a:t>
            </a: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」的五种补位能力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685800" y="2505075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2628900"/>
            <a:ext cx="247650" cy="247650"/>
          </a:xfrm>
          <a:prstGeom prst="rect">
            <a:avLst/>
          </a:prstGeom>
          <a:ln/>
        </p:spPr>
      </p:pic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1276350" y="2647950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知道六大场景，能对应到自己的岗位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685800" y="3724275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3848100"/>
            <a:ext cx="247650" cy="247650"/>
          </a:xfrm>
          <a:prstGeom prst="rect">
            <a:avLst/>
          </a:prstGeom>
          <a:ln/>
        </p:spPr>
      </p:pic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276350" y="3867150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听懂八大浪费</a:t>
            </a:r>
            <a:r>
              <a:rPr lang="en-US" sz="1350" b="1">
                <a:solidFill>
                  <a:srgbClr val="1A1A1A"/>
                </a:solidFill>
                <a:latin typeface="PingFang SC"/>
                <a:ea typeface="PingFang SC"/>
              </a:rPr>
              <a:t> / </a:t>
            </a: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三钟</a:t>
            </a:r>
            <a:r>
              <a:rPr lang="en-US" sz="1350" b="1">
                <a:solidFill>
                  <a:srgbClr val="1A1A1A"/>
                </a:solidFill>
                <a:latin typeface="PingFang SC"/>
                <a:ea typeface="PingFang SC"/>
              </a:rPr>
              <a:t> / OEE</a:t>
            </a: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，能找浪费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685800" y="4953000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5076825"/>
            <a:ext cx="247650" cy="247650"/>
          </a:xfrm>
          <a:prstGeom prst="rect">
            <a:avLst/>
          </a:prstGeom>
          <a:ln/>
        </p:spPr>
      </p:pic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276350" y="5095875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理解数据就绪五关与人在回路的处置权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219825" y="1276350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10325" y="1400175"/>
            <a:ext cx="247650" cy="247650"/>
          </a:xfrm>
          <a:prstGeom prst="rect">
            <a:avLst/>
          </a:prstGeom>
          <a:ln/>
        </p:spPr>
      </p:pic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6810375" y="1419225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看懂混淆矩阵——为什么准确率不够用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6219825" y="2505075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10325" y="2628900"/>
            <a:ext cx="247650" cy="247650"/>
          </a:xfrm>
          <a:prstGeom prst="rect">
            <a:avLst/>
          </a:prstGeom>
          <a:ln/>
        </p:spPr>
      </p:pic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6810375" y="2647950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知道制造</a:t>
            </a:r>
            <a:r>
              <a:rPr lang="en-US" sz="1350" b="1">
                <a:solidFill>
                  <a:srgbClr val="1A1A1A"/>
                </a:solidFill>
                <a:latin typeface="PingFang SC"/>
                <a:ea typeface="PingFang SC"/>
              </a:rPr>
              <a:t> Copilot / RAG </a:t>
            </a: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标准作业怎么落地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6219825" y="3724275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10325" y="3848100"/>
            <a:ext cx="247650" cy="247650"/>
          </a:xfrm>
          <a:prstGeom prst="rect">
            <a:avLst/>
          </a:prstGeom>
          <a:ln/>
        </p:spPr>
      </p:pic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6810375" y="3867150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会用</a:t>
            </a:r>
            <a:r>
              <a:rPr lang="en-US" sz="1350" b="1">
                <a:solidFill>
                  <a:srgbClr val="1A1A1A"/>
                </a:solidFill>
                <a:latin typeface="PingFang SC"/>
                <a:ea typeface="PingFang SC"/>
              </a:rPr>
              <a:t> ROI + PDCA </a:t>
            </a: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框定一个自己的小试点</a:t>
            </a:r>
            <a:endParaRPr/>
          </a:p>
        </p:txBody>
      </p:sp>
      <p:sp>
        <p:nvSpPr>
          <p:cNvPr id="789" name=""/>
          <p:cNvSpPr/>
          <p:nvPr/>
        </p:nvSpPr>
        <p:spPr>
          <a:xfrm rot="0" flipH="0" flipV="0">
            <a:off x="6219825" y="4953000"/>
            <a:ext cx="5286375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E3A8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10325" y="5076825"/>
            <a:ext cx="247650" cy="247650"/>
          </a:xfrm>
          <a:prstGeom prst="rect">
            <a:avLst/>
          </a:prstGeom>
          <a:ln/>
        </p:spPr>
      </p:pic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810375" y="5095875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PingFang SC"/>
                <a:ea typeface="PingFang SC"/>
              </a:rPr>
              <a:t>能搬一个真实活动包，做出案例演练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685800" y="5619750"/>
            <a:ext cx="10820400" cy="53340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753100"/>
            <a:ext cx="266700" cy="266700"/>
          </a:xfrm>
          <a:prstGeom prst="rect">
            <a:avLst/>
          </a:prstGeom>
          <a:ln/>
        </p:spPr>
      </p:pic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333500" y="5781675"/>
            <a:ext cx="6734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8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条全过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=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《行业应用》结业。与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PPT1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通用素养合计，构成完整的「初级认证」。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行业应用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初级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32 / 33</a:t>
            </a:r>
            <a:endParaRPr/>
          </a:p>
        </p:txBody>
      </p:sp>
    </p:spTree>
  </p:cSld>
</p:sld>
</file>

<file path=ppt/slides/slide3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799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70000"/>
                </a:srgbClr>
              </a:gs>
              <a:gs pos="100000">
                <a:srgbClr val="1E3A8A">
                  <a:alpha val="85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2228850" y="2276475"/>
            <a:ext cx="77343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车间，是</a:t>
            </a:r>
            <a:r>
              <a:rPr lang="en-US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 AI </a:t>
            </a:r>
            <a:r>
              <a:rPr lang="zh-CN" sz="3900" b="1">
                <a:solidFill>
                  <a:srgbClr val="FFFFFF"/>
                </a:solidFill>
                <a:effectLst>
                  <a:outerShdw blurRad="2286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真正开始干活的地方。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5667375" y="3343275"/>
            <a:ext cx="85725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/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5114925" y="3648075"/>
            <a:ext cx="19621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行业应用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初级</a:t>
            </a:r>
            <a:r>
              <a:rPr lang="en-US" sz="1650" b="1">
                <a:solidFill>
                  <a:srgbClr val="DCE9FB"/>
                </a:solidFill>
                <a:latin typeface="PingFang SC"/>
                <a:ea typeface="PingFang SC"/>
              </a:rPr>
              <a:t> · </a:t>
            </a:r>
            <a:r>
              <a:rPr lang="zh-CN" sz="1650" b="1">
                <a:solidFill>
                  <a:srgbClr val="DCE9FB"/>
                </a:solidFill>
                <a:latin typeface="PingFang SC"/>
                <a:ea typeface="PingFang SC"/>
              </a:rPr>
              <a:t>完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4029075" y="4152900"/>
            <a:ext cx="4133850" cy="438150"/>
          </a:xfrm>
          <a:prstGeom prst="roundRect">
            <a:avLst>
              <a:gd name="adj" fmla="val 2171739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8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57675" y="4276725"/>
            <a:ext cx="190500" cy="190500"/>
          </a:xfrm>
          <a:prstGeom prst="rect">
            <a:avLst/>
          </a:prstGeom>
          <a:ln/>
        </p:spPr>
      </p:pic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4562475" y="4267200"/>
            <a:ext cx="3371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下一步：中级</a:t>
            </a:r>
            <a:r>
              <a:rPr lang="en-US" sz="1350" b="1">
                <a:solidFill>
                  <a:srgbClr val="7FD9F0"/>
                </a:solidFill>
                <a:latin typeface="PingFang SC"/>
                <a:ea typeface="PingFang SC"/>
              </a:rPr>
              <a:t> —— </a:t>
            </a:r>
            <a:r>
              <a:rPr lang="zh-CN" sz="1350" b="1">
                <a:solidFill>
                  <a:srgbClr val="7FD9F0"/>
                </a:solidFill>
                <a:latin typeface="PingFang SC"/>
                <a:ea typeface="PingFang SC"/>
              </a:rPr>
              <a:t>从「会用」到「带项目」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2026-08-24T14:47:03Z</dcterms:created>
  <dcterms:modified xsi:type="dcterms:W3CDTF">2026-08-24T14:47:03Z</dcterms:modified>
</cp:coreProperties>
</file>