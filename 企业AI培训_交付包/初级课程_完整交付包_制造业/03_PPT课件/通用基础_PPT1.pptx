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1.svg" ContentType="image/svg+xml"/>
  <Override PartName="/ppt/slides/media/image12.svg" ContentType="image/svg+xml"/>
  <Override PartName="/ppt/slides/media/image13.svg" ContentType="image/svg+xml"/>
  <Override PartName="/ppt/slides/media/image14.svg" ContentType="image/svg+xml"/>
  <Override PartName="/ppt/slides/media/image15.svg" ContentType="image/svg+xml"/>
  <Override PartName="/ppt/slides/media/image16.svg" ContentType="image/svg+xml"/>
  <Override PartName="/ppt/slides/media/image17.svg" ContentType="image/svg+xml"/>
  <Override PartName="/ppt/slides/media/image18.svg" ContentType="image/svg+xml"/>
  <Override PartName="/ppt/slides/media/image19.svg" ContentType="image/svg+xml"/>
  <Override PartName="/ppt/slides/media/image20.svg" ContentType="image/svg+xml"/>
  <Override PartName="/ppt/slides/media/image21.svg" ContentType="image/svg+xml"/>
  <Override PartName="/ppt/slides/media/image22.svg" ContentType="image/svg+xml"/>
  <Override PartName="/ppt/slides/media/image23.svg" ContentType="image/svg+xml"/>
  <Override PartName="/ppt/slides/media/image24.svg" ContentType="image/svg+xml"/>
  <Override PartName="/ppt/slides/media/image25.svg" ContentType="image/svg+xml"/>
  <Override PartName="/ppt/slides/media/image27.svg" ContentType="image/svg+xml"/>
  <Override PartName="/ppt/slides/media/image28.svg" ContentType="image/svg+xml"/>
  <Override PartName="/ppt/slides/media/image29.svg" ContentType="image/svg+xml"/>
  <Override PartName="/ppt/slides/media/image3.svg" ContentType="image/svg+xml"/>
  <Override PartName="/ppt/slides/media/image30.svg" ContentType="image/svg+xml"/>
  <Override PartName="/ppt/slides/media/image31.svg" ContentType="image/svg+xml"/>
  <Override PartName="/ppt/slides/media/image32.svg" ContentType="image/svg+xml"/>
  <Override PartName="/ppt/slides/media/image35.svg" ContentType="image/svg+xml"/>
  <Override PartName="/ppt/slides/media/image36.svg" ContentType="image/svg+xml"/>
  <Override PartName="/ppt/slides/media/image37.svg" ContentType="image/svg+xml"/>
  <Override PartName="/ppt/slides/media/image38.svg" ContentType="image/svg+xml"/>
  <Override PartName="/ppt/slides/media/image39.svg" ContentType="image/svg+xml"/>
  <Override PartName="/ppt/slides/media/image4.svg" ContentType="image/svg+xml"/>
  <Override PartName="/ppt/slides/media/image40.svg" ContentType="image/svg+xml"/>
  <Override PartName="/ppt/slides/media/image41.svg" ContentType="image/svg+xml"/>
  <Override PartName="/ppt/slides/media/image44.svg" ContentType="image/svg+xml"/>
  <Override PartName="/ppt/slides/media/image45.svg" ContentType="image/svg+xml"/>
  <Override PartName="/ppt/slides/media/image46.svg" ContentType="image/svg+xml"/>
  <Override PartName="/ppt/slides/media/image47.svg" ContentType="image/svg+xml"/>
  <Override PartName="/ppt/slides/media/image48.svg" ContentType="image/svg+xml"/>
  <Override PartName="/ppt/slides/media/image5.svg" ContentType="image/svg+xml"/>
  <Override PartName="/ppt/slides/media/image53.svg" ContentType="image/svg+xml"/>
  <Override PartName="/ppt/slides/media/image54.svg" ContentType="image/svg+xml"/>
  <Override PartName="/ppt/slides/media/image55.svg" ContentType="image/svg+xml"/>
  <Override PartName="/ppt/slides/media/image56.svg" ContentType="image/svg+xml"/>
  <Override PartName="/ppt/slides/media/image57.svg" ContentType="image/svg+xml"/>
  <Override PartName="/ppt/slides/media/image7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1" r:id="rId6"/>
    <p:sldId id="262" r:id="rId7"/>
    <p:sldId id="263" r:id="rId8"/>
    <p:sldId id="264" r:id="rId9"/>
    <p:sldId id="265" r:id="rId10"/>
    <p:sldId id="290" r:id="rId24"/>
    <p:sldId id="267" r:id="rId12"/>
    <p:sldId id="291" r:id="rId23"/>
    <p:sldId id="268" r:id="rId13"/>
    <p:sldId id="269" r:id="rId14"/>
    <p:sldId id="270" r:id="rId15"/>
    <p:sldId id="292" r:id="rId36"/>
    <p:sldId id="283" r:id="rId33"/>
    <p:sldId id="284" r:id="rId34"/>
    <p:sldId id="293" r:id="rId11"/>
    <p:sldId id="285" r:id="rId35"/>
    <p:sldId id="288" r:id="rId32"/>
    <p:sldId id="289" r:id="rId26"/>
    <p:sldId id="287" r:id="rId37"/>
    <p:sldId id="294" r:id="rId38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5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32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20.xml"/><Relationship Id="rId17" Type="http://schemas.openxmlformats.org/officeDocument/2006/relationships/slide" Target="slides/slide21.xml"/><Relationship Id="rId18" Type="http://schemas.openxmlformats.org/officeDocument/2006/relationships/slide" Target="slides/slide22.xml"/><Relationship Id="rId19" Type="http://schemas.openxmlformats.org/officeDocument/2006/relationships/slide" Target="slides/slide23.xml"/><Relationship Id="rId20" Type="http://schemas.openxmlformats.org/officeDocument/2006/relationships/slide" Target="slides/slide24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30.xml"/><Relationship Id="rId24" Type="http://schemas.openxmlformats.org/officeDocument/2006/relationships/slide" Target="slides/slide29.xml"/><Relationship Id="rId25" Type="http://schemas.openxmlformats.org/officeDocument/2006/relationships/slide" Target="slides/slide27.xml"/><Relationship Id="rId26" Type="http://schemas.openxmlformats.org/officeDocument/2006/relationships/slide" Target="slides/slide18.xml"/><Relationship Id="rId27" Type="http://schemas.openxmlformats.org/officeDocument/2006/relationships/slide" Target="slides/slide28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viewProps" Target="viewProps.xml"/><Relationship Id="rId32" Type="http://schemas.openxmlformats.org/officeDocument/2006/relationships/slide" Target="slides/slide17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31.xml"/><Relationship Id="rId37" Type="http://schemas.openxmlformats.org/officeDocument/2006/relationships/slide" Target="slides/slide19.xml"/><Relationship Id="rId38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6.svg"/><Relationship Id="rId2" Type="http://schemas.openxmlformats.org/officeDocument/2006/relationships/image" Target="media/image47.svg"/><Relationship Id="rId3" Type="http://schemas.openxmlformats.org/officeDocument/2006/relationships/image" Target="media/image48.sv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3.svg"/><Relationship Id="rId2" Type="http://schemas.openxmlformats.org/officeDocument/2006/relationships/image" Target="media/image54.svg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5.svg"/><Relationship Id="rId2" Type="http://schemas.openxmlformats.org/officeDocument/2006/relationships/image" Target="media/image55.svg"/><Relationship Id="rId3" Type="http://schemas.openxmlformats.org/officeDocument/2006/relationships/image" Target="media/image56.svg"/><Relationship Id="rId4" Type="http://schemas.openxmlformats.org/officeDocument/2006/relationships/image" Target="media/image57.svg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Relationship Id="rId2" Type="http://schemas.openxmlformats.org/officeDocument/2006/relationships/image" Target="media/image3.svg"/><Relationship Id="rId3" Type="http://schemas.openxmlformats.org/officeDocument/2006/relationships/image" Target="media/image4.svg"/><Relationship Id="rId4" Type="http://schemas.openxmlformats.org/officeDocument/2006/relationships/image" Target="media/image5.svg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2" Type="http://schemas.openxmlformats.org/officeDocument/2006/relationships/image" Target="media/image12.svg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3.svg"/><Relationship Id="rId2" Type="http://schemas.openxmlformats.org/officeDocument/2006/relationships/image" Target="media/image14.svg"/><Relationship Id="rId3" Type="http://schemas.openxmlformats.org/officeDocument/2006/relationships/image" Target="media/image15.svg"/><Relationship Id="rId4" Type="http://schemas.openxmlformats.org/officeDocument/2006/relationships/image" Target="media/image16.svg"/><Relationship Id="rId5" Type="http://schemas.openxmlformats.org/officeDocument/2006/relationships/image" Target="media/image17.svg"/><Relationship Id="rId6" Type="http://schemas.openxmlformats.org/officeDocument/2006/relationships/image" Target="media/image18.svg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9.svg"/><Relationship Id="rId2" Type="http://schemas.openxmlformats.org/officeDocument/2006/relationships/image" Target="media/image20.svg"/><Relationship Id="rId3" Type="http://schemas.openxmlformats.org/officeDocument/2006/relationships/image" Target="media/image21.svg"/><Relationship Id="rId4" Type="http://schemas.openxmlformats.org/officeDocument/2006/relationships/image" Target="media/image22.svg"/><Relationship Id="rId5" Type="http://schemas.openxmlformats.org/officeDocument/2006/relationships/image" Target="media/image23.svg"/><Relationship Id="rId6" Type="http://schemas.openxmlformats.org/officeDocument/2006/relationships/image" Target="media/image24.svg"/><Relationship Id="rId7" Type="http://schemas.openxmlformats.org/officeDocument/2006/relationships/image" Target="media/image2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6.png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6.png"/><Relationship Id="rId2" Type="http://schemas.openxmlformats.org/officeDocument/2006/relationships/image" Target="media/image27.svg"/><Relationship Id="rId3" Type="http://schemas.openxmlformats.org/officeDocument/2006/relationships/image" Target="media/image28.svg"/><Relationship Id="rId4" Type="http://schemas.openxmlformats.org/officeDocument/2006/relationships/image" Target="media/image29.svg"/><Relationship Id="rId5" Type="http://schemas.openxmlformats.org/officeDocument/2006/relationships/image" Target="media/image30.svg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1.svg"/><Relationship Id="rId2" Type="http://schemas.openxmlformats.org/officeDocument/2006/relationships/image" Target="media/image32.svg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3.png"/><Relationship Id="rId2" Type="http://schemas.openxmlformats.org/officeDocument/2006/relationships/image" Target="media/image7.svg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4.png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4.png"/><Relationship Id="rId2" Type="http://schemas.openxmlformats.org/officeDocument/2006/relationships/image" Target="media/image31.svg"/><Relationship Id="rId3" Type="http://schemas.openxmlformats.org/officeDocument/2006/relationships/image" Target="media/image35.svg"/><Relationship Id="rId4" Type="http://schemas.openxmlformats.org/officeDocument/2006/relationships/image" Target="media/image36.svg"/><Relationship Id="rId5" Type="http://schemas.openxmlformats.org/officeDocument/2006/relationships/image" Target="media/image37.svg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5.svg"/><Relationship Id="rId2" Type="http://schemas.openxmlformats.org/officeDocument/2006/relationships/image" Target="media/image38.svg"/><Relationship Id="rId3" Type="http://schemas.openxmlformats.org/officeDocument/2006/relationships/image" Target="media/image39.svg"/><Relationship Id="rId4" Type="http://schemas.openxmlformats.org/officeDocument/2006/relationships/image" Target="media/image40.svg"/><Relationship Id="rId5" Type="http://schemas.openxmlformats.org/officeDocument/2006/relationships/image" Target="media/image41.svg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4.svg"/><Relationship Id="rId2" Type="http://schemas.openxmlformats.org/officeDocument/2006/relationships/image" Target="media/image25.svg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Relationship Id="rId2" Type="http://schemas.openxmlformats.org/officeDocument/2006/relationships/image" Target="media/image4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31.svg"/><Relationship Id="rId3" Type="http://schemas.openxmlformats.org/officeDocument/2006/relationships/image" Target="media/image32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25.svg"/><Relationship Id="rId3" Type="http://schemas.openxmlformats.org/officeDocument/2006/relationships/image" Target="media/image38.svg"/><Relationship Id="rId4" Type="http://schemas.openxmlformats.org/officeDocument/2006/relationships/image" Target="media/image39.svg"/><Relationship Id="rId5" Type="http://schemas.openxmlformats.org/officeDocument/2006/relationships/image" Target="media/image40.svg"/><Relationship Id="rId6" Type="http://schemas.openxmlformats.org/officeDocument/2006/relationships/image" Target="media/image41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media/image46.svg"/><Relationship Id="rId3" Type="http://schemas.openxmlformats.org/officeDocument/2006/relationships/image" Target="media/image47.svg"/><Relationship Id="rId4" Type="http://schemas.openxmlformats.org/officeDocument/2006/relationships/image" Target="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0000"/>
                </a:srgbClr>
              </a:gs>
              <a:gs pos="55000">
                <a:srgbClr val="1E3A8A">
                  <a:alpha val="60000"/>
                </a:srgbClr>
              </a:gs>
              <a:gs pos="100000">
                <a:srgbClr val="1E3A8A">
                  <a:alpha val="2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800100" y="1905000"/>
            <a:ext cx="55245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485900" y="1809750"/>
            <a:ext cx="3133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AI 通识培训 · 初级（人人版）</a:t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10591800" cy="10763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63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通用</a:t>
            </a:r>
            <a:r>
              <a:rPr lang="en-US" sz="63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 AI </a:t>
            </a:r>
            <a:r>
              <a:rPr lang="zh-CN" sz="63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基础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3552825"/>
            <a:ext cx="10591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人人都能用的</a:t>
            </a:r>
            <a:r>
              <a:rPr lang="en-US" sz="2250" b="1">
                <a:solidFill>
                  <a:srgbClr val="DCE9FB"/>
                </a:solidFill>
                <a:latin typeface="PingFang SC"/>
                <a:ea typeface="PingFang SC"/>
              </a:rPr>
              <a:t> AI </a:t>
            </a: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第一课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4048125"/>
            <a:ext cx="1059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从「我不懂」到「我会用」——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零代码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零公式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岗位即落地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00100" y="4657725"/>
            <a:ext cx="1057275" cy="390525"/>
          </a:xfrm>
          <a:prstGeom prst="roundRect">
            <a:avLst>
              <a:gd name="adj" fmla="val 2436585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09650" y="4752975"/>
            <a:ext cx="638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7FD9F0"/>
                </a:solidFill>
                <a:latin typeface="PingFang SC"/>
                <a:ea typeface="PingFang SC"/>
              </a:rPr>
              <a:t>7 大章节</a:t>
            </a:r>
            <a:r>
              <a:rPr lang="zh-CN" sz="1275" b="1">
                <a:solidFill>
                  <a:srgbClr val="7FD9F0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990725" y="4657725"/>
            <a:ext cx="838200" cy="390525"/>
          </a:xfrm>
          <a:prstGeom prst="roundRect">
            <a:avLst>
              <a:gd name="adj" fmla="val 243658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00275" y="4752975"/>
            <a:ext cx="419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C471"/>
                </a:solidFill>
                <a:latin typeface="PingFang SC"/>
                <a:ea typeface="PingFang SC"/>
              </a:rPr>
              <a:t>33 页</a:t>
            </a:r>
            <a:r>
              <a:rPr lang="zh-CN" sz="1275" b="1">
                <a:solidFill>
                  <a:srgbClr val="F8C471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962275" y="4657725"/>
            <a:ext cx="1228725" cy="390525"/>
          </a:xfrm>
          <a:prstGeom prst="roundRect">
            <a:avLst>
              <a:gd name="adj" fmla="val 24365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171825" y="47529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AF2FC"/>
                </a:solidFill>
                <a:latin typeface="PingFang SC"/>
                <a:ea typeface="PingFang SC"/>
              </a:rPr>
              <a:t>全程零代码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1052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课程目录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105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从「我不懂」到「我会用」——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七个章节，一路走到会用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85800" y="1314450"/>
            <a:ext cx="2381250" cy="4857750"/>
          </a:xfrm>
          <a:prstGeom prst="roundRect">
            <a:avLst>
              <a:gd name="adj" fmla="val 72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971550" y="2590800"/>
            <a:ext cx="180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7FD9F0"/>
                </a:solidFill>
                <a:latin typeface="PingFang SC"/>
                <a:ea typeface="PingFang SC"/>
              </a:rPr>
              <a:t>CONTENTS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71550" y="2952750"/>
            <a:ext cx="1809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FFFFF"/>
                </a:solidFill>
                <a:latin typeface="Space Grotesk"/>
                <a:ea typeface="Space Grotesk"/>
              </a:rPr>
              <a:t>7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71550" y="3714750"/>
            <a:ext cx="1809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个章节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971550" y="4181475"/>
            <a:ext cx="5143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71550" y="4391025"/>
            <a:ext cx="1809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基础是大头，认知是入口，技术是手段。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3333750" y="13248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524250" y="14400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229100" y="14016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走进 AI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229100" y="16704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破除三大误会，看见日常里的 AI</a:t>
            </a:r>
            <a:endParaRPr/>
          </a:p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25200" y="1516800"/>
            <a:ext cx="190500" cy="190500"/>
          </a:xfrm>
          <a:prstGeom prst="rect">
            <a:avLst/>
          </a:prstGeom>
          <a:ln/>
        </p:spPr>
      </p:pic>
      <p:sp>
        <p:nvSpPr>
          <p:cNvPr id="296" name=""/>
          <p:cNvSpPr/>
          <p:nvPr/>
        </p:nvSpPr>
        <p:spPr>
          <a:xfrm rot="0" flipH="0" flipV="0">
            <a:off x="3333750" y="19392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524250" y="20544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229100" y="20160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3A8A"/>
                </a:solidFill>
                <a:latin typeface="PingFang SC"/>
                <a:ea typeface="PingFang SC"/>
              </a:rPr>
              <a:t>AI 是什么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229100" y="22848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一张家族树看懂 AI / 机器学习 / 大模型</a:t>
            </a:r>
            <a:endParaRPr/>
          </a:p>
        </p:txBody>
      </p:sp>
      <p:pic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25200" y="2131200"/>
            <a:ext cx="190500" cy="190500"/>
          </a:xfrm>
          <a:prstGeom prst="rect">
            <a:avLst/>
          </a:prstGeom>
          <a:ln/>
        </p:spPr>
      </p:pic>
      <p:sp>
        <p:nvSpPr>
          <p:cNvPr id="301" name=""/>
          <p:cNvSpPr/>
          <p:nvPr/>
        </p:nvSpPr>
        <p:spPr>
          <a:xfrm rot="0" flipH="0" flipV="0">
            <a:off x="3333750" y="25536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524250" y="26688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229100" y="26304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大模型如何工作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229100" y="28992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接话高手、上下文窗口、会「幻觉」</a:t>
            </a:r>
            <a:endParaRPr/>
          </a:p>
        </p:txBody>
      </p:sp>
      <p:pic>
        <p:nvPicPr>
          <p:cNvPr id="3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25200" y="2745600"/>
            <a:ext cx="190500" cy="190500"/>
          </a:xfrm>
          <a:prstGeom prst="rect">
            <a:avLst/>
          </a:prstGeom>
          <a:ln/>
        </p:spPr>
      </p:pic>
      <p:sp>
        <p:nvSpPr>
          <p:cNvPr id="306" name=""/>
          <p:cNvSpPr/>
          <p:nvPr/>
        </p:nvSpPr>
        <p:spPr>
          <a:xfrm rot="0" flipH="0" flipV="0">
            <a:off x="3333750" y="31680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524250" y="32832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229100" y="32448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写好提示词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229100" y="35136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角色·背景·任务·约束·格式 五要素</a:t>
            </a:r>
            <a:endParaRPr/>
          </a:p>
        </p:txBody>
      </p:sp>
      <p:pic>
        <p:nvPicPr>
          <p:cNvPr id="3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25200" y="3360000"/>
            <a:ext cx="190500" cy="190500"/>
          </a:xfrm>
          <a:prstGeom prst="rect">
            <a:avLst/>
          </a:prstGeom>
          <a:ln/>
        </p:spPr>
      </p:pic>
      <p:sp>
        <p:nvSpPr>
          <p:cNvPr id="311" name=""/>
          <p:cNvSpPr/>
          <p:nvPr/>
        </p:nvSpPr>
        <p:spPr>
          <a:xfrm rot="0" flipH="0" flipV="0">
            <a:off x="3333750" y="37824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3524250" y="38976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229100" y="38592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工具生态与实操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229100" y="41280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六大类工具、WorkBuddy 实操，现场演示当场就会</a:t>
            </a:r>
            <a:endParaRPr/>
          </a:p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25200" y="3974400"/>
            <a:ext cx="190500" cy="190500"/>
          </a:xfrm>
          <a:prstGeom prst="rect">
            <a:avLst/>
          </a:prstGeom>
          <a:ln/>
        </p:spPr>
      </p:pic>
      <p:sp>
        <p:nvSpPr>
          <p:cNvPr id="316" name=""/>
          <p:cNvSpPr/>
          <p:nvPr/>
        </p:nvSpPr>
        <p:spPr>
          <a:xfrm rot="0" flipH="0" flipV="0">
            <a:off x="3333750" y="43968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EDF3FB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3524250" y="45120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229100" y="44736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新一代 AI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229100" y="47424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从能聊到能干活，给 AI 接上你的资料</a:t>
            </a:r>
            <a:endParaRPr/>
          </a:p>
        </p:txBody>
      </p:sp>
      <p:pic>
        <p:nvPicPr>
          <p:cNvPr id="3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25200" y="4588800"/>
            <a:ext cx="190500" cy="190500"/>
          </a:xfrm>
          <a:prstGeom prst="rect">
            <a:avLst/>
          </a:prstGeom>
          <a:ln/>
        </p:spPr>
      </p:pic>
      <p:sp>
        <p:nvSpPr>
          <p:cNvPr id="321" name=""/>
          <p:cNvSpPr/>
          <p:nvPr/>
        </p:nvSpPr>
        <p:spPr>
          <a:xfrm rot="0" flipH="0" flipV="0">
            <a:off x="3333750" y="5011200"/>
            <a:ext cx="8172450" cy="5760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524250" y="51264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229100" y="5088000"/>
            <a:ext cx="6724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安全用、用起来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229100" y="5356800"/>
            <a:ext cx="6724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四大风险、数据红线，从 1 个小任务开始</a:t>
            </a:r>
            <a:endParaRPr/>
          </a:p>
        </p:txBody>
      </p:sp>
      <p:pic>
        <p:nvPicPr>
          <p:cNvPr id="3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25200" y="5203200"/>
            <a:ext cx="190500" cy="190500"/>
          </a:xfrm>
          <a:prstGeom prst="rect">
            <a:avLst/>
          </a:prstGeom>
          <a:ln/>
        </p:spPr>
      </p:pic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 / 33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14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515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ONE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走进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AI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你其实早就在用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了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先破除「取代我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/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要会代码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/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太难」三大误会，再带你看见藏在日常里的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AI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076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三个最常见的误会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先把心里的三道坎迈过去，学起来才不费劲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6858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9525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" y="1724025"/>
            <a:ext cx="342900" cy="34290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525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误区一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525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「</a:t>
            </a:r>
            <a:r>
              <a:rPr lang="en-US" sz="1875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会取代我」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25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不是来抢你饭碗的司机，而是帮你省力的副驾——重复、繁琐的活它先干，判断和拍板还在你手里。会用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的人，才不会被会用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的人取代。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9525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525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真相：它放大你，不替代你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436245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62915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91075" y="1724025"/>
            <a:ext cx="342900" cy="342900"/>
          </a:xfrm>
          <a:prstGeom prst="rect">
            <a:avLst/>
          </a:prstGeom>
          <a:ln/>
        </p:spPr>
      </p:pic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62915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误区二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62915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「要会写代码」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62915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写代码是造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的人的活，用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的人一行都不用写。会打字、会聊天，就能把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用在工作里——就像你会用导航，不需要会造地图。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462915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2915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真相：零代码就能用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80391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83058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67725" y="1724025"/>
            <a:ext cx="342900" cy="342900"/>
          </a:xfrm>
          <a:prstGeom prst="rect">
            <a:avLst/>
          </a:prstGeom>
          <a:ln/>
        </p:spPr>
      </p:pic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058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误区三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058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「太难学不会」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058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的操作门槛，比你想象的低得多。只要你平时会用微信、会复制粘贴，今天这节课走完，你就能在岗位上真正用起来。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83058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058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真相：会微信就会用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4 / 33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15277" t="0" r="15277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579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TWO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AI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是什么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一张家族树看懂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AI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、机器学习、深度学习、大模型——到底是啥关系？一次讲清，不再混。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2100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家族树：层层包含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越往下，越具体——你平时说的「大模型」，是最下面那支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85800" y="1504950"/>
            <a:ext cx="6086475" cy="704850"/>
          </a:xfrm>
          <a:prstGeom prst="roundRect">
            <a:avLst>
              <a:gd name="adj" fmla="val 16216"/>
            </a:avLst>
          </a:prstGeom>
          <a:solidFill>
            <a:srgbClr val="1E3A8A"/>
          </a:solidFill>
          <a:ln/>
          <a:effectLst>
            <a:outerShdw blurRad="152400" dist="38100" dir="5400000">
              <a:srgbClr val="1E3A8A">
                <a:alpha val="1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33450" y="1724025"/>
            <a:ext cx="11620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PingFang SC"/>
                <a:ea typeface="PingFang SC"/>
              </a:rPr>
              <a:t>人工智能</a:t>
            </a:r>
            <a:r>
              <a:rPr lang="en-US" sz="1725" b="1">
                <a:solidFill>
                  <a:srgbClr val="FFFFFF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2247900" y="17621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让机器像人一样「思考」的大目标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1171575" y="2343150"/>
            <a:ext cx="5114925" cy="704850"/>
          </a:xfrm>
          <a:prstGeom prst="roundRect">
            <a:avLst>
              <a:gd name="adj" fmla="val 16216"/>
            </a:avLst>
          </a:prstGeom>
          <a:solidFill>
            <a:srgbClr val="2563EB"/>
          </a:solidFill>
          <a:ln/>
          <a:effectLst>
            <a:outerShdw blurRad="152400" dist="38100" dir="5400000">
              <a:srgbClr val="1E3A8A">
                <a:alpha val="1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419225" y="2562225"/>
            <a:ext cx="1285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PingFang SC"/>
                <a:ea typeface="PingFang SC"/>
              </a:rPr>
              <a:t>机器学习</a:t>
            </a:r>
            <a:r>
              <a:rPr lang="en-US" sz="1725" b="1">
                <a:solidFill>
                  <a:srgbClr val="FFFFFF"/>
                </a:solidFill>
                <a:latin typeface="PingFang SC"/>
                <a:ea typeface="PingFang SC"/>
              </a:rPr>
              <a:t> ML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2857500" y="2600325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让机器从数据里自己找规律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1657350" y="3181350"/>
            <a:ext cx="4143375" cy="704850"/>
          </a:xfrm>
          <a:prstGeom prst="roundRect">
            <a:avLst>
              <a:gd name="adj" fmla="val 16216"/>
            </a:avLst>
          </a:prstGeom>
          <a:solidFill>
            <a:srgbClr val="3B82F6"/>
          </a:solidFill>
          <a:ln/>
          <a:effectLst>
            <a:outerShdw blurRad="152400" dist="38100" dir="5400000">
              <a:srgbClr val="1E3A8A">
                <a:alpha val="1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905000" y="3400425"/>
            <a:ext cx="12382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PingFang SC"/>
                <a:ea typeface="PingFang SC"/>
              </a:rPr>
              <a:t>深度学习</a:t>
            </a:r>
            <a:r>
              <a:rPr lang="en-US" sz="1725" b="1">
                <a:solidFill>
                  <a:srgbClr val="FFFFFF"/>
                </a:solidFill>
                <a:latin typeface="PingFang SC"/>
                <a:ea typeface="PingFang SC"/>
              </a:rPr>
              <a:t> DL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3295650" y="343852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用「神经网络」学得更深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2143125" y="4019550"/>
            <a:ext cx="3171825" cy="704850"/>
          </a:xfrm>
          <a:prstGeom prst="roundRect">
            <a:avLst>
              <a:gd name="adj" fmla="val 16216"/>
            </a:avLst>
          </a:prstGeom>
          <a:solidFill>
            <a:srgbClr val="06B6D4"/>
          </a:solidFill>
          <a:ln/>
          <a:effectLst>
            <a:outerShdw blurRad="152400" dist="38100" dir="5400000">
              <a:srgbClr val="1E3A8A">
                <a:alpha val="1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2390775" y="4238625"/>
            <a:ext cx="1047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PingFang SC"/>
                <a:ea typeface="PingFang SC"/>
              </a:rPr>
              <a:t>大模型</a:t>
            </a:r>
            <a:r>
              <a:rPr lang="en-US" sz="1725" b="1">
                <a:solidFill>
                  <a:srgbClr val="FFFFFF"/>
                </a:solidFill>
                <a:latin typeface="PingFang SC"/>
                <a:ea typeface="PingFang SC"/>
              </a:rPr>
              <a:t> LLM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3590925" y="4276725"/>
            <a:ext cx="1476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喂了海量文本的巨型网络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2571750" y="4857750"/>
            <a:ext cx="2314575" cy="704850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  <a:effectLst>
            <a:outerShdw blurRad="152400" dist="38100" dir="5400000">
              <a:srgbClr val="1E3A8A">
                <a:alpha val="1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2819400" y="5076825"/>
            <a:ext cx="6000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PingFang SC"/>
                <a:ea typeface="PingFang SC"/>
              </a:rPr>
              <a:t>生成式</a:t>
            </a:r>
            <a:r>
              <a:rPr lang="en-US" sz="1725" b="1">
                <a:solidFill>
                  <a:srgbClr val="FFFFFF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3571875" y="5029200"/>
            <a:ext cx="1066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能「写出」内容的那一支</a:t>
            </a:r>
            <a:endParaRPr/>
          </a:p>
        </p:txBody>
      </p:sp>
      <p:pic>
        <p:nvPicPr>
          <p:cNvPr id="6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143250" y="5734050"/>
            <a:ext cx="190500" cy="190500"/>
          </a:xfrm>
          <a:prstGeom prst="rect">
            <a:avLst/>
          </a:prstGeom>
          <a:ln/>
        </p:spPr>
      </p:pic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3409950" y="57340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4748B"/>
                </a:solidFill>
                <a:latin typeface="PingFang SC"/>
                <a:ea typeface="PingFang SC"/>
              </a:rPr>
              <a:t>越往下越具体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7096125" y="1276350"/>
            <a:ext cx="4410075" cy="487680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6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81875" y="1562100"/>
            <a:ext cx="419100" cy="419100"/>
          </a:xfrm>
          <a:prstGeom prst="rect">
            <a:avLst/>
          </a:prstGeom>
          <a:ln/>
        </p:spPr>
      </p:pic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381875" y="2171700"/>
            <a:ext cx="3838575" cy="7810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E3A8A"/>
                </a:solidFill>
                <a:latin typeface="PingFang SC"/>
                <a:ea typeface="PingFang SC"/>
              </a:rPr>
              <a:t>是一个家族，</a:t>
            </a:r>
            <a:endParaRPr/>
          </a:p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E3A8A"/>
                </a:solidFill>
                <a:latin typeface="PingFang SC"/>
                <a:ea typeface="PingFang SC"/>
              </a:rPr>
              <a:t>不是五件事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381875" y="3105150"/>
            <a:ext cx="383857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上面每一层，都</a:t>
            </a:r>
            <a:r>
              <a:rPr lang="zh-CN" sz="1425" b="1">
                <a:solidFill>
                  <a:srgbClr val="0891B2"/>
                </a:solidFill>
                <a:latin typeface="PingFang SC"/>
                <a:ea typeface="PingFang SC"/>
              </a:rPr>
              <a:t>包含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下面一层。人工智能是最大的圈，生成式</a:t>
            </a:r>
            <a:r>
              <a:rPr lang="en-US" sz="1425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是最小、也最贴近你的那一个。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7381875" y="5476875"/>
            <a:ext cx="3838575" cy="409575"/>
          </a:xfrm>
          <a:custGeom>
            <a:pathLst>
              <a:path w="403" h="43">
                <a:moveTo>
                  <a:pt x="0" y="0"/>
                </a:moveTo>
                <a:lnTo>
                  <a:pt x="403" y="0"/>
                </a:lnTo>
                <a:lnTo>
                  <a:pt x="403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381875" y="5648325"/>
            <a:ext cx="3838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9E0B"/>
                </a:solidFill>
                <a:latin typeface="PingFang SC"/>
                <a:ea typeface="PingFang SC"/>
              </a:rPr>
              <a:t>记住：你学的是最下面这层。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6 / 33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562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它擅长什么、不擅长什么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知道边界，才不会用错地方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85800" y="1295400"/>
            <a:ext cx="6343650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971550" y="15811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6325" y="1685925"/>
            <a:ext cx="285750" cy="285750"/>
          </a:xfrm>
          <a:prstGeom prst="rect">
            <a:avLst/>
          </a:prstGeom>
          <a:ln/>
        </p:spPr>
      </p:pic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581150" y="1676400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891B2"/>
                </a:solidFill>
                <a:latin typeface="PingFang SC"/>
                <a:ea typeface="PingFang SC"/>
              </a:rPr>
              <a:t>擅长：帮你「起草」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971550" y="2286000"/>
            <a:ext cx="5772150" cy="447675"/>
          </a:xfrm>
          <a:prstGeom prst="roundRect">
            <a:avLst>
              <a:gd name="adj" fmla="val 21277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3950" y="2419350"/>
            <a:ext cx="190500" cy="190500"/>
          </a:xfrm>
          <a:prstGeom prst="rect">
            <a:avLst/>
          </a:prstGeom>
          <a:ln/>
        </p:spPr>
      </p:pic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447800" y="2400300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75B"/>
                </a:solidFill>
                <a:latin typeface="PingFang SC"/>
                <a:ea typeface="PingFang SC"/>
              </a:rPr>
              <a:t>写东西：邮件、汇报、总结、通知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971550" y="3067050"/>
            <a:ext cx="5772150" cy="447675"/>
          </a:xfrm>
          <a:prstGeom prst="roundRect">
            <a:avLst>
              <a:gd name="adj" fmla="val 21277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3950" y="3200400"/>
            <a:ext cx="190500" cy="190500"/>
          </a:xfrm>
          <a:prstGeom prst="rect">
            <a:avLst/>
          </a:prstGeom>
          <a:ln/>
        </p:spPr>
      </p:pic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447800" y="3181350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75B"/>
                </a:solidFill>
                <a:latin typeface="PingFang SC"/>
                <a:ea typeface="PingFang SC"/>
              </a:rPr>
              <a:t>整理：把一堆零散信息理成要点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971550" y="3857625"/>
            <a:ext cx="5772150" cy="447675"/>
          </a:xfrm>
          <a:prstGeom prst="roundRect">
            <a:avLst>
              <a:gd name="adj" fmla="val 21277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3950" y="3990975"/>
            <a:ext cx="190500" cy="190500"/>
          </a:xfrm>
          <a:prstGeom prst="rect">
            <a:avLst/>
          </a:prstGeom>
          <a:ln/>
        </p:spPr>
      </p:pic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1447800" y="3971925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75B"/>
                </a:solidFill>
                <a:latin typeface="PingFang SC"/>
                <a:ea typeface="PingFang SC"/>
              </a:rPr>
              <a:t>翻译：中英文、方言、专业术语互译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971550" y="4638675"/>
            <a:ext cx="5772150" cy="447675"/>
          </a:xfrm>
          <a:prstGeom prst="roundRect">
            <a:avLst>
              <a:gd name="adj" fmla="val 21277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3950" y="4772025"/>
            <a:ext cx="190500" cy="190500"/>
          </a:xfrm>
          <a:prstGeom prst="rect">
            <a:avLst/>
          </a:prstGeom>
          <a:ln/>
        </p:spPr>
      </p:pic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447800" y="4752975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75B"/>
                </a:solidFill>
                <a:latin typeface="PingFang SC"/>
                <a:ea typeface="PingFang SC"/>
              </a:rPr>
              <a:t>想点子：起名、方案、头脑风暴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971550" y="5419725"/>
            <a:ext cx="5772150" cy="447675"/>
          </a:xfrm>
          <a:prstGeom prst="roundRect">
            <a:avLst>
              <a:gd name="adj" fmla="val 21277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3950" y="5553075"/>
            <a:ext cx="190500" cy="190500"/>
          </a:xfrm>
          <a:prstGeom prst="rect">
            <a:avLst/>
          </a:prstGeom>
          <a:ln/>
        </p:spPr>
      </p:pic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447800" y="5534025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75B"/>
                </a:solidFill>
                <a:latin typeface="PingFang SC"/>
                <a:ea typeface="PingFang SC"/>
              </a:rPr>
              <a:t>答疑：解释概念、举例、打个比方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7277100" y="1295400"/>
            <a:ext cx="4229100" cy="4857750"/>
          </a:xfrm>
          <a:prstGeom prst="roundRect">
            <a:avLst>
              <a:gd name="adj" fmla="val 4054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7562850" y="15811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6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67625" y="1685925"/>
            <a:ext cx="285750" cy="285750"/>
          </a:xfrm>
          <a:prstGeom prst="rect">
            <a:avLst/>
          </a:prstGeom>
          <a:ln/>
        </p:spPr>
      </p:pic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172450" y="1676400"/>
            <a:ext cx="2724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8C471"/>
                </a:solidFill>
                <a:latin typeface="PingFang SC"/>
                <a:ea typeface="PingFang SC"/>
              </a:rPr>
              <a:t>不擅长：别让它「拍板」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7562850" y="2286000"/>
            <a:ext cx="3657600" cy="438150"/>
          </a:xfrm>
          <a:prstGeom prst="roundRect">
            <a:avLst>
              <a:gd name="adj" fmla="val 21739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6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715250" y="2409825"/>
            <a:ext cx="190500" cy="190500"/>
          </a:xfrm>
          <a:prstGeom prst="rect">
            <a:avLst/>
          </a:prstGeom>
          <a:ln/>
        </p:spPr>
      </p:pic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8039100" y="240030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算精确的账（容易算错）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7562850" y="3143250"/>
            <a:ext cx="3657600" cy="438150"/>
          </a:xfrm>
          <a:prstGeom prst="roundRect">
            <a:avLst>
              <a:gd name="adj" fmla="val 21739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6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715250" y="3267075"/>
            <a:ext cx="190500" cy="190500"/>
          </a:xfrm>
          <a:prstGeom prst="rect">
            <a:avLst/>
          </a:prstGeom>
          <a:ln/>
        </p:spPr>
      </p:pic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039100" y="325755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记住死准的事实（会记串）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7562850" y="4010025"/>
            <a:ext cx="3657600" cy="438150"/>
          </a:xfrm>
          <a:prstGeom prst="roundRect">
            <a:avLst>
              <a:gd name="adj" fmla="val 21739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6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715250" y="4133850"/>
            <a:ext cx="190500" cy="190500"/>
          </a:xfrm>
          <a:prstGeom prst="rect">
            <a:avLst/>
          </a:prstGeom>
          <a:ln/>
        </p:spPr>
      </p:pic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8039100" y="41243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替你做重大决定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7562850" y="4867275"/>
            <a:ext cx="3657600" cy="438150"/>
          </a:xfrm>
          <a:prstGeom prst="roundRect">
            <a:avLst>
              <a:gd name="adj" fmla="val 21739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6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715250" y="4991100"/>
            <a:ext cx="190500" cy="190500"/>
          </a:xfrm>
          <a:prstGeom prst="rect">
            <a:avLst/>
          </a:prstGeom>
          <a:ln/>
        </p:spPr>
      </p:pic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039100" y="49815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判断你单位的特殊规矩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7562850" y="5476875"/>
            <a:ext cx="3657600" cy="409575"/>
          </a:xfrm>
          <a:custGeom>
            <a:pathLst>
              <a:path w="384" h="43">
                <a:moveTo>
                  <a:pt x="0" y="0"/>
                </a:moveTo>
                <a:lnTo>
                  <a:pt x="384" y="0"/>
                </a:lnTo>
                <a:lnTo>
                  <a:pt x="384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7562850" y="5648325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口诀：能帮你起草，不能替你负责。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7 / 33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61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15277" t="0" r="15277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662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THREE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大模型如何工作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一个特别会「接话」的高手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它为什么这么聪明？又为什么会一本正经地说错话？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562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大模型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=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接话高手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它不是「查答案」，而是「一个词一个词往下接」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85800" y="1295400"/>
            <a:ext cx="5791200" cy="4857750"/>
          </a:xfrm>
          <a:prstGeom prst="roundRect">
            <a:avLst>
              <a:gd name="adj" fmla="val 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 r:embed="rId1"/>
          <a:srcRect l="0" t="8059" r="0" b="8059"/>
          <a:stretch>
            <a:fillRect/>
          </a:stretch>
        </p:blipFill>
        <p:spPr>
          <a:xfrm rot="0" flipH="0" flipV="0">
            <a:off x="685800" y="1295400"/>
            <a:ext cx="5791200" cy="4857750"/>
          </a:xfrm>
          <a:custGeom>
            <a:pathLst>
              <a:path w="608" h="510">
                <a:moveTo>
                  <a:pt x="590" y="0"/>
                </a:moveTo>
                <a:cubicBezTo>
                  <a:pt x="600" y="0"/>
                  <a:pt x="608" y="8"/>
                  <a:pt x="608" y="18"/>
                </a:cubicBezTo>
                <a:lnTo>
                  <a:pt x="608" y="492"/>
                </a:lnTo>
                <a:cubicBezTo>
                  <a:pt x="608" y="502"/>
                  <a:pt x="600" y="510"/>
                  <a:pt x="59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762750" y="1295400"/>
            <a:ext cx="4743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43566B"/>
                </a:solidFill>
                <a:latin typeface="PingFang SC"/>
                <a:ea typeface="PingFang SC"/>
              </a:rPr>
              <a:t>它读过</a:t>
            </a: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海量的文本</a:t>
            </a:r>
            <a:r>
              <a:rPr lang="zh-CN" sz="1575">
                <a:solidFill>
                  <a:srgbClr val="43566B"/>
                </a:solidFill>
                <a:latin typeface="PingFang SC"/>
                <a:ea typeface="PingFang SC"/>
              </a:rPr>
              <a:t>，所以特别会「接话」。你给它开头，它就顺着往下说，说得越接越像那么回事。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762750" y="2257425"/>
            <a:ext cx="47434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915150" y="23907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19925" y="2495550"/>
            <a:ext cx="228600" cy="22860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86650" y="2409825"/>
            <a:ext cx="3867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你问一句话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486650" y="2647950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「帮我写一份本周工作总结」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762750" y="3571875"/>
            <a:ext cx="47434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915150" y="37052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19925" y="3810000"/>
            <a:ext cx="228600" cy="228600"/>
          </a:xfrm>
          <a:prstGeom prst="rect">
            <a:avLst/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486650" y="3724275"/>
            <a:ext cx="3867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它拆成词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486650" y="3962400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把话切成一个个小词块（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token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762750" y="4876800"/>
            <a:ext cx="47434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915150" y="5010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19925" y="5114925"/>
            <a:ext cx="228600" cy="22860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86650" y="5029200"/>
            <a:ext cx="3867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逐个「接」下去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486650" y="5267325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预测下一个最可能的词，接出整段话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762750" y="5715000"/>
            <a:ext cx="4743450" cy="438150"/>
          </a:xfrm>
          <a:prstGeom prst="roundRect">
            <a:avLst>
              <a:gd name="adj" fmla="val 26087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934200" y="5829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所以：它懂常识，也会一本正经地说错。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9 / 33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562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上下文窗口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与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幻觉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两个必须知道的「短板」，正好教你怎么用得更稳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5800" y="1295400"/>
            <a:ext cx="6877050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1590675"/>
            <a:ext cx="285750" cy="285750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371600" y="1581150"/>
            <a:ext cx="3790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8A"/>
                </a:solidFill>
                <a:latin typeface="PingFang SC"/>
                <a:ea typeface="PingFang SC"/>
              </a:rPr>
              <a:t>上下文窗口</a:t>
            </a:r>
            <a:r>
              <a:rPr lang="en-US" sz="1950" b="1">
                <a:solidFill>
                  <a:srgbClr val="1E3A8A"/>
                </a:solidFill>
                <a:latin typeface="PingFang SC"/>
                <a:ea typeface="PingFang SC"/>
              </a:rPr>
              <a:t> = </a:t>
            </a:r>
            <a:r>
              <a:rPr lang="zh-CN" sz="1950" b="1">
                <a:solidFill>
                  <a:srgbClr val="1E3A8A"/>
                </a:solidFill>
                <a:latin typeface="PingFang SC"/>
                <a:ea typeface="PingFang SC"/>
              </a:rPr>
              <a:t>它一次能「看」多少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71550" y="2057400"/>
            <a:ext cx="188595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>
                <a:solidFill>
                  <a:srgbClr val="F59E0B"/>
                </a:solidFill>
                <a:latin typeface="Space Grotesk"/>
                <a:ea typeface="Space Grotesk"/>
              </a:rPr>
              <a:t>几万字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971800" y="2057400"/>
            <a:ext cx="20574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PingFang SC"/>
                <a:ea typeface="PingFang SC"/>
              </a:rPr>
              <a:t>（从几万到几百万字不等）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71550" y="2971800"/>
            <a:ext cx="63055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它一次只能「记得」这么长的内容，超了就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「忘」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了前面的话——就像你同时盯太多窗口会丢东西。所以长文档要</a:t>
            </a:r>
            <a:r>
              <a:rPr lang="zh-CN" sz="1425" b="1">
                <a:solidFill>
                  <a:srgbClr val="0891B2"/>
                </a:solidFill>
                <a:latin typeface="PingFang SC"/>
                <a:ea typeface="PingFang SC"/>
              </a:rPr>
              <a:t>分段喂、把关键放前面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810500" y="1295400"/>
            <a:ext cx="3695700" cy="4857750"/>
          </a:xfrm>
          <a:prstGeom prst="roundRect">
            <a:avLst>
              <a:gd name="adj" fmla="val 4639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77200" y="1562100"/>
            <a:ext cx="285750" cy="285750"/>
          </a:xfrm>
          <a:prstGeom prst="rect">
            <a:avLst/>
          </a:prstGeom>
          <a:ln/>
        </p:spPr>
      </p:pic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458200" y="1571625"/>
            <a:ext cx="1952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B45309"/>
                </a:solidFill>
                <a:latin typeface="PingFang SC"/>
                <a:ea typeface="PingFang SC"/>
              </a:rPr>
              <a:t>幻觉</a:t>
            </a:r>
            <a:r>
              <a:rPr lang="en-US" sz="1800" b="1">
                <a:solidFill>
                  <a:srgbClr val="B45309"/>
                </a:solidFill>
                <a:latin typeface="PingFang SC"/>
                <a:ea typeface="PingFang SC"/>
              </a:rPr>
              <a:t> Hallucination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77200" y="2000250"/>
            <a:ext cx="3162300" cy="3390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7C4A12"/>
                </a:solidFill>
                <a:latin typeface="PingFang SC"/>
                <a:ea typeface="PingFang SC"/>
              </a:rPr>
              <a:t>它可能</a:t>
            </a:r>
            <a:r>
              <a:rPr lang="zh-CN" sz="1350" b="1">
                <a:solidFill>
                  <a:srgbClr val="7C4A12"/>
                </a:solidFill>
                <a:latin typeface="PingFang SC"/>
                <a:ea typeface="PingFang SC"/>
              </a:rPr>
              <a:t>一本正经地编造</a:t>
            </a:r>
            <a:r>
              <a:rPr lang="zh-CN" sz="1350">
                <a:solidFill>
                  <a:srgbClr val="7C4A12"/>
                </a:solidFill>
                <a:latin typeface="PingFang SC"/>
                <a:ea typeface="PingFang SC"/>
              </a:rPr>
              <a:t>一个听起来很对、其实是错的信息，还说得特别自信。这是「接话」机制天生的毛病，不是故障。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077200" y="5524500"/>
            <a:ext cx="3162300" cy="381000"/>
          </a:xfrm>
          <a:custGeom>
            <a:pathLst>
              <a:path w="332" h="40">
                <a:moveTo>
                  <a:pt x="0" y="0"/>
                </a:moveTo>
                <a:lnTo>
                  <a:pt x="332" y="0"/>
                </a:lnTo>
                <a:lnTo>
                  <a:pt x="332" y="2"/>
                </a:lnTo>
                <a:lnTo>
                  <a:pt x="0" y="2"/>
                </a:lnTo>
                <a:close/>
              </a:path>
            </a:pathLst>
          </a:custGeom>
          <a:solidFill>
            <a:srgbClr val="F3D9B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77200" y="5676900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铁律：关键信息，必须自己核实。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11 / 33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953500" y="-1143000"/>
            <a:ext cx="4000500" cy="4000500"/>
          </a:xfrm>
          <a:custGeom>
            <a:pathLst>
              <a:path w="420" h="420">
                <a:moveTo>
                  <a:pt x="340" y="375"/>
                </a:move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0" y="120"/>
                </a:lnTo>
                <a:lnTo>
                  <a:pt x="340" y="12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2857500" y="5334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195" y="1"/>
                  <a:pt x="233" y="19"/>
                  <a:pt x="261" y="49"/>
                </a:cubicBezTo>
                <a:cubicBezTo>
                  <a:pt x="288" y="79"/>
                  <a:pt x="302" y="119"/>
                  <a:pt x="300" y="160"/>
                </a:cubicBezTo>
                <a:lnTo>
                  <a:pt x="0" y="160"/>
                </a:lnTo>
                <a:cubicBezTo>
                  <a:pt x="-2" y="119"/>
                  <a:pt x="12" y="78"/>
                  <a:pt x="40" y="48"/>
                </a:cubicBezTo>
                <a:cubicBezTo>
                  <a:pt x="69" y="17"/>
                  <a:pt x="108" y="0"/>
                  <a:pt x="150" y="0"/>
                </a:cubicBezTo>
                <a:close/>
              </a:path>
            </a:pathLst>
          </a:custGeom>
          <a:solidFill>
            <a:srgbClr val="06B6D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FOUR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写好提示词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跟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说话也有套路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同一个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AI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，问法不同，答案天差地别——差的往往不是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AI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，是你怎么问。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952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提示词五要素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把这五样讲清楚，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才知道你到底要什么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85800" y="1295400"/>
            <a:ext cx="2057400" cy="40576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1419225" y="14859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571625" y="1638300"/>
            <a:ext cx="285750" cy="285750"/>
          </a:xfrm>
          <a:prstGeom prst="rect">
            <a:avLst/>
          </a:prstGeom>
          <a:ln/>
        </p:spPr>
      </p:pic>
      <p:sp>
        <p:nvSpPr>
          <p:cNvPr id="109" name=""/>
          <p:cNvSpPr/>
          <p:nvPr/>
        </p:nvSpPr>
        <p:spPr>
          <a:xfrm rot="0" flipH="0" flipV="0">
            <a:off x="1504950" y="2209800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647825" y="2286000"/>
            <a:ext cx="1333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485900" y="2724150"/>
            <a:ext cx="457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角色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504950" y="3038475"/>
            <a:ext cx="4286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PingFang SC"/>
                <a:ea typeface="PingFang SC"/>
              </a:rPr>
              <a:t>你是谁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876300" y="4848225"/>
            <a:ext cx="1676400" cy="314325"/>
          </a:xfrm>
          <a:prstGeom prst="roundRect">
            <a:avLst>
              <a:gd name="adj" fmla="val 24242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71550" y="4924425"/>
            <a:ext cx="14859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你是资深行政助理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2876550" y="1295400"/>
            <a:ext cx="2057400" cy="40576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609975" y="14859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62375" y="1638300"/>
            <a:ext cx="285750" cy="285750"/>
          </a:xfrm>
          <a:prstGeom prst="rect">
            <a:avLst/>
          </a:prstGeom>
          <a:ln/>
        </p:spPr>
      </p:pic>
      <p:sp>
        <p:nvSpPr>
          <p:cNvPr id="118" name=""/>
          <p:cNvSpPr/>
          <p:nvPr/>
        </p:nvSpPr>
        <p:spPr>
          <a:xfrm rot="0" flipH="0" flipV="0">
            <a:off x="3695700" y="2209800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38575" y="2286000"/>
            <a:ext cx="1333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676650" y="2724150"/>
            <a:ext cx="457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背景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619500" y="30384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PingFang SC"/>
                <a:ea typeface="PingFang SC"/>
              </a:rPr>
              <a:t>背景是啥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3067050" y="4848225"/>
            <a:ext cx="1676400" cy="314325"/>
          </a:xfrm>
          <a:prstGeom prst="roundRect">
            <a:avLst>
              <a:gd name="adj" fmla="val 24242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162300" y="4924425"/>
            <a:ext cx="14859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部门下周 3 项议程，有纪要草稿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5067300" y="1295400"/>
            <a:ext cx="2057400" cy="40576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800725" y="14859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953125" y="1638300"/>
            <a:ext cx="285750" cy="285750"/>
          </a:xfrm>
          <a:prstGeom prst="rect">
            <a:avLst/>
          </a:prstGeom>
          <a:ln/>
        </p:spPr>
      </p:pic>
      <p:sp>
        <p:nvSpPr>
          <p:cNvPr id="127" name=""/>
          <p:cNvSpPr/>
          <p:nvPr/>
        </p:nvSpPr>
        <p:spPr>
          <a:xfrm rot="0" flipH="0" flipV="0">
            <a:off x="5886450" y="2209800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29325" y="2286000"/>
            <a:ext cx="1333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867400" y="2724150"/>
            <a:ext cx="457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任务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810250" y="30384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PingFang SC"/>
                <a:ea typeface="PingFang SC"/>
              </a:rPr>
              <a:t>要我干啥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257800" y="4848225"/>
            <a:ext cx="1676400" cy="314325"/>
          </a:xfrm>
          <a:prstGeom prst="roundRect">
            <a:avLst>
              <a:gd name="adj" fmla="val 24242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353050" y="4924425"/>
            <a:ext cx="14859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写一条简洁的会议通知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258050" y="1295400"/>
            <a:ext cx="2057400" cy="40576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991475" y="14859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43875" y="1638300"/>
            <a:ext cx="285750" cy="285750"/>
          </a:xfrm>
          <a:prstGeom prst="rect">
            <a:avLst/>
          </a:prstGeom>
          <a:ln/>
        </p:spPr>
      </p:pic>
      <p:sp>
        <p:nvSpPr>
          <p:cNvPr id="136" name=""/>
          <p:cNvSpPr/>
          <p:nvPr/>
        </p:nvSpPr>
        <p:spPr>
          <a:xfrm rot="0" flipH="0" flipV="0">
            <a:off x="8077200" y="2209800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220075" y="2286000"/>
            <a:ext cx="1333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058150" y="2724150"/>
            <a:ext cx="457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约束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934325" y="3038475"/>
            <a:ext cx="7143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PingFang SC"/>
                <a:ea typeface="PingFang SC"/>
              </a:rPr>
              <a:t>有什么限制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7448550" y="4848225"/>
            <a:ext cx="1676400" cy="314325"/>
          </a:xfrm>
          <a:prstGeom prst="roundRect">
            <a:avLst>
              <a:gd name="adj" fmla="val 24242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543800" y="4924425"/>
            <a:ext cx="14859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100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字内、语气正式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9448800" y="1295400"/>
            <a:ext cx="2057400" cy="40576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10182225" y="14859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334625" y="1638300"/>
            <a:ext cx="285750" cy="285750"/>
          </a:xfrm>
          <a:prstGeom prst="rect">
            <a:avLst/>
          </a:prstGeom>
          <a:ln/>
        </p:spPr>
      </p:pic>
      <p:sp>
        <p:nvSpPr>
          <p:cNvPr id="145" name=""/>
          <p:cNvSpPr/>
          <p:nvPr/>
        </p:nvSpPr>
        <p:spPr>
          <a:xfrm rot="0" flipH="0" flipV="0">
            <a:off x="10267950" y="2209800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410825" y="2286000"/>
            <a:ext cx="1333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pace Grotesk"/>
                <a:ea typeface="Space Grotesk"/>
              </a:rPr>
              <a:t>5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248900" y="2724150"/>
            <a:ext cx="457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格式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048875" y="3038475"/>
            <a:ext cx="8572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PingFang SC"/>
                <a:ea typeface="PingFang SC"/>
              </a:rPr>
              <a:t>给我什么格式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9639300" y="4848225"/>
            <a:ext cx="1676400" cy="314325"/>
          </a:xfrm>
          <a:prstGeom prst="roundRect">
            <a:avLst>
              <a:gd name="adj" fmla="val 24242"/>
            </a:avLst>
          </a:prstGeom>
          <a:solidFill>
            <a:srgbClr val="F0FB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734550" y="4924425"/>
            <a:ext cx="14859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用邮件体，列出 2 条待办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85800" y="5524500"/>
            <a:ext cx="10820400" cy="628650"/>
          </a:xfrm>
          <a:prstGeom prst="roundRect">
            <a:avLst>
              <a:gd name="adj" fmla="val 21212"/>
            </a:avLst>
          </a:prstGeom>
          <a:gradFill>
            <a:gsLst>
              <a:gs pos="0">
                <a:srgbClr val="1E3A8A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33450" y="5695950"/>
            <a:ext cx="285750" cy="285750"/>
          </a:xfrm>
          <a:prstGeom prst="rect">
            <a:avLst/>
          </a:prstGeom>
          <a:ln/>
        </p:spPr>
      </p:pic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371600" y="5715000"/>
            <a:ext cx="621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口诀：你是谁</a:t>
            </a:r>
            <a:r>
              <a:rPr lang="en-US" sz="16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背景是啥</a:t>
            </a:r>
            <a:r>
              <a:rPr lang="en-US" sz="16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要我干啥</a:t>
            </a:r>
            <a:r>
              <a:rPr lang="en-US" sz="16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有什么限制</a:t>
            </a:r>
            <a:r>
              <a:rPr lang="en-US" sz="16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给我什么格式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14 / 33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7527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公式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真实范例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同样一件事，问法不同，结果差多少？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85800" y="1295400"/>
            <a:ext cx="5819775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52500" y="1562100"/>
            <a:ext cx="5286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91B2"/>
                </a:solidFill>
                <a:latin typeface="PingFang SC"/>
                <a:ea typeface="PingFang SC"/>
              </a:rPr>
              <a:t>五要素公式（可直接套）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952500" y="1943100"/>
            <a:ext cx="5286375" cy="3943350"/>
          </a:xfrm>
          <a:prstGeom prst="roundRect">
            <a:avLst>
              <a:gd name="adj" fmla="val 2899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43000" y="2133600"/>
            <a:ext cx="190500" cy="190500"/>
          </a:xfrm>
          <a:prstGeom prst="rect">
            <a:avLst/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447800" y="213360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角色：你是资深行政助理</a:t>
            </a: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pic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43000" y="2457450"/>
            <a:ext cx="190500" cy="19050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447800" y="2457450"/>
            <a:ext cx="2790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背景：下周部门例会有 3 项议程，我手上有纪要草稿</a:t>
            </a: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r>
              <a:rPr lang="en-US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pic>
        <p:nvPicPr>
          <p:cNvPr id="1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143000" y="2781300"/>
            <a:ext cx="190500" cy="190500"/>
          </a:xfrm>
          <a:prstGeom prst="rect">
            <a:avLst/>
          </a:prstGeom>
          <a:ln/>
        </p:spPr>
      </p:pic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447800" y="278130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任务：帮我写一条简洁的会议通知</a:t>
            </a: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pic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43000" y="3105150"/>
            <a:ext cx="190500" cy="190500"/>
          </a:xfrm>
          <a:prstGeom prst="rect">
            <a:avLst/>
          </a:prstGeom>
          <a:ln/>
        </p:spPr>
      </p:pic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447800" y="3105150"/>
            <a:ext cx="2905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约束：100 字内、语气正式、发给全体同事</a:t>
            </a:r>
            <a:r>
              <a:rPr lang="en-US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143000" y="3429000"/>
            <a:ext cx="190500" cy="190500"/>
          </a:xfrm>
          <a:prstGeom prst="rect">
            <a:avLst/>
          </a:prstGeom>
          <a:ln/>
        </p:spPr>
      </p:pic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447800" y="3429000"/>
            <a:ext cx="280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格式：邮件体，末尾列出 2 条待办</a:t>
            </a: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r>
              <a:rPr lang="en-US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r>
              <a:rPr lang="en-US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753225" y="1295400"/>
            <a:ext cx="4752975" cy="1257300"/>
          </a:xfrm>
          <a:prstGeom prst="roundRect">
            <a:avLst>
              <a:gd name="adj" fmla="val 10606"/>
            </a:avLst>
          </a:prstGeom>
          <a:solidFill>
            <a:srgbClr val="EEF1F5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943725" y="1485900"/>
            <a:ext cx="209550" cy="2095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248525" y="1485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PingFang SC"/>
                <a:ea typeface="PingFang SC"/>
              </a:rPr>
              <a:t>模糊地问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943725" y="1790700"/>
            <a:ext cx="4371975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 i="1">
                <a:solidFill>
                  <a:srgbClr val="475569"/>
                </a:solidFill>
                <a:latin typeface="PingFang SC"/>
                <a:ea typeface="PingFang SC"/>
              </a:rPr>
              <a:t>「帮我写个会议通知」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943725" y="2190750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PingFang SC"/>
                <a:ea typeface="PingFang SC"/>
              </a:rPr>
              <a:t>→ </a:t>
            </a:r>
            <a:r>
              <a:rPr lang="zh-CN" sz="1125">
                <a:solidFill>
                  <a:srgbClr val="94A3B8"/>
                </a:solidFill>
                <a:latin typeface="PingFang SC"/>
                <a:ea typeface="PingFang SC"/>
              </a:rPr>
              <a:t>结果：泛泛而谈，还要返工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753225" y="2705100"/>
            <a:ext cx="4752975" cy="3448050"/>
          </a:xfrm>
          <a:prstGeom prst="roundRect">
            <a:avLst>
              <a:gd name="adj" fmla="val 3867"/>
            </a:avLst>
          </a:prstGeom>
          <a:solidFill>
            <a:srgbClr val="E0F7FA"/>
          </a:solidFill>
          <a:ln w="25400">
            <a:solidFill>
              <a:srgbClr val="06B6D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6943725" y="2895600"/>
            <a:ext cx="209550" cy="20955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248525" y="28956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按五要素问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943725" y="3200400"/>
            <a:ext cx="4371975" cy="2495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0E7490"/>
                </a:solidFill>
                <a:latin typeface="PingFang SC"/>
                <a:ea typeface="PingFang SC"/>
              </a:rPr>
              <a:t>「你是资深行政助理。下周部门例会有 3 项议程，我手上有纪要草稿。请写一条 100 字内、发给全体同事的正式会议通知，用邮件体，末尾列出 2 条待办。」</a:t>
            </a:r>
            <a:r>
              <a:rPr lang="en-US" sz="1275">
                <a:solidFill>
                  <a:srgbClr val="0E7490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0E7490"/>
                </a:solidFill>
                <a:latin typeface="PingFang SC"/>
                <a:ea typeface="PingFang SC"/>
              </a:rPr>
              <a:t/>
            </a:r>
            <a:r>
              <a:rPr lang="en-US" sz="1275">
                <a:solidFill>
                  <a:srgbClr val="0E7490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0E7490"/>
                </a:solidFill>
                <a:latin typeface="PingFang SC"/>
                <a:ea typeface="PingFang SC"/>
              </a:rPr>
              <a:t/>
            </a:r>
            <a:r>
              <a:rPr lang="en-US" sz="1275">
                <a:solidFill>
                  <a:srgbClr val="0E7490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0E7490"/>
                </a:solidFill>
                <a:latin typeface="PingFang SC"/>
                <a:ea typeface="PingFang SC"/>
              </a:rPr>
              <a:t/>
            </a:r>
            <a:r>
              <a:rPr lang="en-US" sz="1275">
                <a:solidFill>
                  <a:srgbClr val="0E7490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0E7490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943725" y="5791200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→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结果：一次到位，直接能用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15 / 33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4000" y="-1152000"/>
            <a:ext cx="4032000" cy="4032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80000" y="5376000"/>
            <a:ext cx="2880000" cy="2880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6400" y="1440000"/>
            <a:ext cx="4800000" cy="126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750" b="1">
                <a:solidFill>
                  <a:srgbClr val="1278AF"/>
                </a:solidFill>
                <a:latin typeface="Space Grotesk"/>
                <a:ea typeface="Space Grotesk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400" y="2764800"/>
            <a:ext cx="4800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0" spc="375">
                <a:solidFill>
                  <a:srgbClr val="7FD9F0"/>
                </a:solidFill>
                <a:latin typeface="Space Grotesk"/>
                <a:ea typeface="Space Grotesk"/>
              </a:rPr>
              <a:t>CHAPTER FIVE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400" y="3014400"/>
            <a:ext cx="10752000" cy="134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</a:rPr>
              <a:t>工具生态与实操</a:t>
            </a:r>
          </a:p>
          <a:p>
            <a:pPr>
              <a:lnSpc>
                <a:spcPct val="118000"/>
              </a:lnSpc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</a:rPr>
              <a:t>拿对工具，上手就干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400" y="4608000"/>
            <a:ext cx="806400" cy="38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400" y="4934400"/>
            <a:ext cx="10368000" cy="57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425" b="0">
                <a:solidFill>
                  <a:srgbClr val="A9C4E8"/>
                </a:solidFill>
                <a:latin typeface="PingFang SC"/>
                <a:ea typeface="PingFang SC"/>
              </a:rPr>
              <a:t>AI 不只是一个聊天框——六大类工具、三步上手，WorkBuddy 现场演示，当场就会。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工具全景：六大类工具一张表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先建地图，不求全会——每家公司选「1 个聊天 + 1 个办公 + 1 个智能体」重点用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通用 AI 基础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18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400" y="1324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① 聊天大模型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324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日常问答、写作、分析，你的「AI 助手」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8800" y="1324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豆包、DeepSeek、Kimi、文心一言、通义千问、讯飞星火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7600" y="1324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打开网页 / 装 App，注册，直接问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00" y="20352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400" y="20352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② 办公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0352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嵌在你天天用的软件里，顺手用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8800" y="20352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WPS AI、讯飞听见、飞书智能伙伴、M365 Copilot（简述）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600" y="20352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软件里找 AI 入口，对着当前文档用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" y="27456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400" y="27456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③ 智能体平台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7456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自己搭「数字员工」，自动跑多步任务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800" y="27456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Coze（扣子）、Manus、WorkBuddy、Dify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600" y="27456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新建 Bot，喂资料 + 写指令，测完发布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00" y="34560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00" y="34560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④ 知识库工具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2000" y="34560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把公司资料喂给 AI，问啥答啥、少瞎编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8800" y="34560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IMA、NotebookLM、Coze 知识库、WorkBuddy 资料库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600" y="34560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传文档 → 等解析 → 对着文档提问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00" y="41664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400" y="41664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⑤ 生成媒体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2000" y="41664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AI 出图 / 出视频 / 出声音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8800" y="41664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即梦 AI、可灵、Vidu、海螺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600" y="41664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写描述词，选比例 / 时长，生成下载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200" y="4876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00" y="4876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⑥ 编程类·带过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000" y="4876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给程序员写代码用，知道有这回事即可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8800" y="4876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Codex、Claude Code、Cursor、Trae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7600" y="4876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非技术学员不实操，了解即可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00" y="5721600"/>
            <a:ext cx="10905600" cy="499200"/>
          </a:xfrm>
          <a:prstGeom prst="roundRect">
            <a:avLst>
              <a:gd name="adj" fmla="val 230000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000" y="5721600"/>
            <a:ext cx="10464000" cy="499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75" b="1">
                <a:solidFill>
                  <a:srgbClr val="F59E0B"/>
                </a:solidFill>
                <a:latin typeface="PingFang SC"/>
                <a:ea typeface="PingFang SC"/>
              </a:rPr>
              <a:t>教学要点：</a:t>
            </a:r>
            <a:r>
              <a:rPr sz="1275" b="0">
                <a:solidFill>
                  <a:srgbClr val="FFFFFF"/>
                </a:solidFill>
                <a:latin typeface="PingFang SC"/>
                <a:ea typeface="PingFang SC"/>
              </a:rPr>
              <a:t>地图 ≠ 全会。每类先挑 1 个工具上手，其余的——知道在哪找就行。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三步上手 + 三类人群场景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任何工具都同一个套路；现场做一遍场景，回去就能用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通用 AI 基础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20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168000" cy="4915200"/>
          </a:xfrm>
          <a:prstGeom prst="roundRect">
            <a:avLst>
              <a:gd name="adj" fmla="val 550000000"/>
            </a:avLst>
          </a:prstGeom>
          <a:solidFill>
            <a:srgbClr val="1E3A8A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593600"/>
            <a:ext cx="2707200" cy="28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三步上手法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1939200"/>
            <a:ext cx="27072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7FD9F0"/>
                </a:solidFill>
                <a:latin typeface="PingFang SC"/>
                <a:ea typeface="PingFang SC"/>
              </a:rPr>
              <a:t>所有工具通用 · 现场带着走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600" y="23040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400" y="24384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4400" y="26496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安装 / 注册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400" y="29376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用工作手机号或公司账号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600" y="34944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4400" y="36288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400" y="38400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第一次对话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4400" y="41280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「帮我写一份周报，我是……」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600" y="46848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4400" y="48192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4400" y="50304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修正结果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400" y="53184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不满意？加条件，再问一遍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600" y="5913600"/>
            <a:ext cx="27072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A9C4E8"/>
                </a:solidFill>
                <a:latin typeface="PingFang SC"/>
                <a:ea typeface="PingFang SC"/>
              </a:rPr>
              <a:t>小白三步：注册 → 问一次 → 改一次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70400" y="132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62400" y="155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2400" y="155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600" y="144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高校 · 教案与 PPT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600" y="174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用五要素让 AI 起草教案、讲座 PPT → 人工核对要点 → 定稿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8000" y="144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高校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70400" y="228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62400" y="251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2400" y="251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7600" y="240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学校 · 成绩与通知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7600" y="270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成绩 / 统计表贴给它：找异常、出结论；再起草家长会通知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8000" y="240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学校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70400" y="324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62400" y="347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2400" y="347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7600" y="336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企业 · 周报与数据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7600" y="366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周报 / 纪要五要素起草；销售表贴给它找异常、给公式、出结论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8000" y="336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企业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70400" y="420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62400" y="443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62400" y="443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7600" y="432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通用 · 长文档问答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7600" y="462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传 100 页制度 / 教材直接问；会议录音转纪要再提炼待办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88000" y="432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知识库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70400" y="516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62400" y="539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2400" y="539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57600" y="528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通用 · 资料与文件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7600" y="558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WorkBuddy 一句话整理材料、合并多张表、出总结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88000" y="528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智能体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WorkBuddy：AI 工作助手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不只是「聊天」，而是「干活」——你给目标，它自己拆解、执行、交付成果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通用 AI 基础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21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400" y="1324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① 一句话办任务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324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给目标，自动拆解执行，直接交付成果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8800" y="1324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「把这 10 份材料整理成一份 PPT」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7600" y="1324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说清目标 + 给资料，它自己干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00" y="20352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400" y="20352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② 做文档做 PPT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0352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教案、方案、报告、PPT，直接生成可编辑文件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8800" y="20352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教案 PPT、培训方案、工作总结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600" y="20352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指定页数 / 风格 / 结构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" y="27456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400" y="27456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③ 整理与分析数据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7456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表格 / Excel 丢给它，找异常、出结论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800" y="27456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成绩单、统计表、销售数据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600" y="27456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数字必须回原表核对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00" y="34560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00" y="34560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④ 读长文档答问题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2000" y="34560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资料 / 制度 / 文献喂进去，问它答它、答得带出处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8800" y="34560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制度问答、教材导读、文献梳理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600" y="34560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资料库传文档 → 直接提问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00" y="41664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400" y="41664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⑤ 定时与重复任务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2000" y="41664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固定时间自动跑，不用你盯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8800" y="41664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每日简报、周报提醒、定期汇总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600" y="41664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定一次，之后自动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200" y="4876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00" y="4876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⑥ 上手三步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000" y="4876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零代码，会打字就会用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8800" y="4876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注册登录 → 资料库传资料 → 发第一句话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7600" y="4876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今天演示完，回去就能用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00" y="5721600"/>
            <a:ext cx="10905600" cy="499200"/>
          </a:xfrm>
          <a:prstGeom prst="roundRect">
            <a:avLst>
              <a:gd name="adj" fmla="val 230000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000" y="5721600"/>
            <a:ext cx="10464000" cy="499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75" b="1">
                <a:solidFill>
                  <a:srgbClr val="F59E0B"/>
                </a:solidFill>
                <a:latin typeface="PingFang SC"/>
                <a:ea typeface="PingFang SC"/>
              </a:rPr>
              <a:t>教学要点：从「你用的工具」到「帮你干活的数字同事」——关键不是会多少功能，是敢把一件事完整地交给它。</a:t>
            </a:r>
            <a:r>
              <a:rPr sz="1275" b="0">
                <a:solidFill>
                  <a:srgbClr val="FFFFFF"/>
                </a:solidFill>
                <a:latin typeface="PingFang SC"/>
                <a:ea typeface="PingFang SC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WorkBuddy 现场演示：一句话办完一件事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10 分钟 · 看 AI 从接活到交付的全过程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通用 AI 基础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22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一句话派活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「把这份材料整理成 10 页 PPT + 1 页要点总结」——现场发出去，看它干。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现场 10 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看三个地方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① 看它拆任务 ② 看它调工具：读文件、做文档 ③ 看交付物：是文件，不只是回答。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看懂它怎么干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上手三步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注册登录 → 资料库传资料 → 发第一句话。今天演示完，回去就能用。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回去就能用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演示纪律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演示全部用脱敏 / 虚构数据；学生 / 公司敏感数据绝不进；重要交付物，人做终审。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工具选择三红线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先立规矩，才敢放心用 —— 第 07 章会展开讲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通用 AI 基础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23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敏感数据不进公网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6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客户 / 公司敏感数据（机密、客户隐私、财务、证件）绝不进未批准的公网工具。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6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影子 AI 红线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4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8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8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用前先看数据政策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8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你的数据会被拿去训练吗？有企业版 / 私有化吗？谁有权访问？先查规则，再上手。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8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8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合规底线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600" y="1324800"/>
            <a:ext cx="3475200" cy="3840000"/>
          </a:xfrm>
          <a:prstGeom prst="roundRect">
            <a:avLst>
              <a:gd name="adj" fmla="val 45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612800"/>
            <a:ext cx="960000" cy="460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188800"/>
            <a:ext cx="30144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750" b="1">
                <a:solidFill>
                  <a:srgbClr val="1E3A8A"/>
                </a:solidFill>
                <a:latin typeface="PingFang SC"/>
                <a:ea typeface="PingFang SC"/>
              </a:rPr>
              <a:t>关键结果人做终审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2000" y="2668800"/>
            <a:ext cx="30144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PingFang SC"/>
                <a:ea typeface="PingFang SC"/>
              </a:rPr>
              <a:t>涉及钱、合规、对外发布的输出，最后一步永远是人：核对、拍板、担责。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2000" y="4569600"/>
            <a:ext cx="3014400" cy="422400"/>
          </a:xfrm>
          <a:prstGeom prst="roundRect">
            <a:avLst>
              <a:gd name="adj" fmla="val 2500000000"/>
            </a:avLst>
          </a:prstGeom>
          <a:solidFill>
            <a:srgbClr val="FE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4569600"/>
            <a:ext cx="3014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</a:rPr>
              <a:t>责任底线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00" y="5395200"/>
            <a:ext cx="10905600" cy="8448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000" y="5548800"/>
            <a:ext cx="104640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PingFang SC"/>
                <a:ea typeface="PingFang SC"/>
              </a:rPr>
              <a:t>课堂试一下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000" y="5856000"/>
            <a:ext cx="10464000" cy="21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</a:rPr>
              <a:t>给 6 个工具清单，每人说：哪个你敢拿办公用、哪个不敢，为什么。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88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15277" t="0" r="15277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189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SIX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新一代 AI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从「能聊」到「能干活」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AI 不止会聊天，还能自己调工具办事——还能「接上你单位的资料」。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/>
            </a:r>
            <a:endParaRPr/>
          </a:p>
        </p:txBody>
      </p:sp>
    </p:spTree>
  </p:cSld>
</p:sld>
</file>

<file path=ppt/slides/slide2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9622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什么是智能体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Agent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962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不止聊天，还能自己「调工具」把事办成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85800" y="1295400"/>
            <a:ext cx="5791200" cy="4857750"/>
          </a:xfrm>
          <a:prstGeom prst="roundRect">
            <a:avLst>
              <a:gd name="adj" fmla="val 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01" name=""/>
          <p:cNvPicPr>
            <a:picLocks noChangeAspect="1"/>
          </p:cNvPicPr>
          <p:nvPr/>
        </p:nvPicPr>
        <p:blipFill>
          <a:blip r:embed="rId1"/>
          <a:srcRect l="0" t="8059" r="0" b="8059"/>
          <a:stretch>
            <a:fillRect/>
          </a:stretch>
        </p:blipFill>
        <p:spPr>
          <a:xfrm rot="0" flipH="0" flipV="0">
            <a:off x="685800" y="1295400"/>
            <a:ext cx="5791200" cy="4857750"/>
          </a:xfrm>
          <a:custGeom>
            <a:pathLst>
              <a:path w="608" h="510">
                <a:moveTo>
                  <a:pt x="590" y="0"/>
                </a:moveTo>
                <a:cubicBezTo>
                  <a:pt x="600" y="0"/>
                  <a:pt x="608" y="8"/>
                  <a:pt x="608" y="18"/>
                </a:cubicBezTo>
                <a:lnTo>
                  <a:pt x="608" y="492"/>
                </a:lnTo>
                <a:cubicBezTo>
                  <a:pt x="608" y="502"/>
                  <a:pt x="600" y="510"/>
                  <a:pt x="59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762750" y="1295400"/>
            <a:ext cx="47434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3566B"/>
                </a:solidFill>
                <a:latin typeface="PingFang SC"/>
                <a:ea typeface="PingFang SC"/>
              </a:rPr>
              <a:t>智能体是一个会</a:t>
            </a: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自己干活</a:t>
            </a:r>
            <a:r>
              <a:rPr lang="zh-CN" sz="1500">
                <a:solidFill>
                  <a:srgbClr val="43566B"/>
                </a:solidFill>
                <a:latin typeface="PingFang SC"/>
                <a:ea typeface="PingFang SC"/>
              </a:rPr>
              <a:t>的</a:t>
            </a:r>
            <a:r>
              <a:rPr lang="en-US" sz="1500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1500">
                <a:solidFill>
                  <a:srgbClr val="43566B"/>
                </a:solidFill>
                <a:latin typeface="PingFang SC"/>
                <a:ea typeface="PingFang SC"/>
              </a:rPr>
              <a:t>：你给它一个目标，它自己拆解、自己动手、干完看结果、再调整，一圈一圈逼近完成。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762750" y="2571750"/>
            <a:ext cx="47434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915150" y="26860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19925" y="2790825"/>
            <a:ext cx="228600" cy="22860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486650" y="2705100"/>
            <a:ext cx="3609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感知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486650" y="2943225"/>
            <a:ext cx="3609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看懂目标和现状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229975" y="2781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762750" y="3352800"/>
            <a:ext cx="47434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915150" y="34671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19925" y="3571875"/>
            <a:ext cx="228600" cy="228600"/>
          </a:xfrm>
          <a:prstGeom prst="rect">
            <a:avLst/>
          </a:prstGeom>
          <a:ln/>
        </p:spPr>
      </p:pic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486650" y="3486150"/>
            <a:ext cx="3609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规划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86650" y="3724275"/>
            <a:ext cx="3609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拆成一步一步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229975" y="35623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762750" y="4133850"/>
            <a:ext cx="47434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915150" y="4248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19925" y="4352925"/>
            <a:ext cx="228600" cy="22860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486650" y="4267200"/>
            <a:ext cx="3609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行动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486650" y="4505325"/>
            <a:ext cx="3609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调用工具去办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229975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762750" y="4914900"/>
            <a:ext cx="47434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915150" y="50292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19925" y="5133975"/>
            <a:ext cx="228600" cy="22860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486650" y="5048250"/>
            <a:ext cx="3609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观察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486650" y="5286375"/>
            <a:ext cx="3609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看结果、再调整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229975" y="51244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762750" y="5715000"/>
            <a:ext cx="4743450" cy="438150"/>
          </a:xfrm>
          <a:prstGeom prst="roundRect">
            <a:avLst>
              <a:gd name="adj" fmla="val 26087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934200" y="5829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它像一个会自己跑腿、还会检查的「勤快实习生」。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058525" y="63627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26 / 33</a:t>
            </a:r>
            <a:endParaRPr/>
          </a:p>
        </p:txBody>
      </p:sp>
    </p:spTree>
  </p:cSld>
</p:sld>
</file>

<file path=ppt/slides/slide2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5908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智能体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vs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副驾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用一个开车的比喻，讲清它俩的差别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85800" y="1295400"/>
            <a:ext cx="6343650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971550" y="15811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5850" y="1695450"/>
            <a:ext cx="285750" cy="2857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600200" y="1581150"/>
            <a:ext cx="1428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891B2"/>
                </a:solidFill>
                <a:latin typeface="PingFang SC"/>
                <a:ea typeface="PingFang SC"/>
              </a:rPr>
              <a:t>Copilot </a:t>
            </a:r>
            <a:r>
              <a:rPr lang="zh-CN" sz="1950" b="1">
                <a:solidFill>
                  <a:srgbClr val="0891B2"/>
                </a:solidFill>
                <a:latin typeface="PingFang SC"/>
                <a:ea typeface="PingFang SC"/>
              </a:rPr>
              <a:t>副驾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600200" y="19050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你开车，它提建议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71550" y="2247900"/>
            <a:ext cx="5772150" cy="3619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你始终握着方向盘。它负责给提示、补全、出主意，但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每一步都由你确认、你来按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。安全、可控，适合大多数日常提效——你现在用的</a:t>
            </a:r>
            <a:r>
              <a:rPr lang="en-US" sz="1425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助手大多属于这类。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277100" y="1295400"/>
            <a:ext cx="4229100" cy="4857750"/>
          </a:xfrm>
          <a:prstGeom prst="roundRect">
            <a:avLst>
              <a:gd name="adj" fmla="val 4054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543800" y="15621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2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58100" y="1676400"/>
            <a:ext cx="285750" cy="28575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72450" y="1562100"/>
            <a:ext cx="152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8C471"/>
                </a:solidFill>
                <a:latin typeface="PingFang SC"/>
                <a:ea typeface="PingFang SC"/>
              </a:rPr>
              <a:t>Agent </a:t>
            </a:r>
            <a:r>
              <a:rPr lang="zh-CN" sz="1950" b="1">
                <a:solidFill>
                  <a:srgbClr val="F8C471"/>
                </a:solidFill>
                <a:latin typeface="PingFang SC"/>
                <a:ea typeface="PingFang SC"/>
              </a:rPr>
              <a:t>自驾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172450" y="18859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9C4E8"/>
                </a:solidFill>
                <a:latin typeface="PingFang SC"/>
                <a:ea typeface="PingFang SC"/>
              </a:rPr>
              <a:t>它开车，你在副驾盯着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543800" y="2228850"/>
            <a:ext cx="3695700" cy="3143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它自己规划、自己动手把事办完，你负责</a:t>
            </a:r>
            <a:r>
              <a:rPr lang="zh-CN" sz="1350" b="1">
                <a:solidFill>
                  <a:srgbClr val="F8C471"/>
                </a:solidFill>
                <a:latin typeface="PingFang SC"/>
                <a:ea typeface="PingFang SC"/>
              </a:rPr>
              <a:t>监督、把关、随时叫停</a:t>
            </a: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。越自主，越要有人盯着。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543800" y="5524500"/>
            <a:ext cx="3695700" cy="381000"/>
          </a:xfrm>
          <a:custGeom>
            <a:pathLst>
              <a:path w="388" h="40">
                <a:moveTo>
                  <a:pt x="0" y="0"/>
                </a:moveTo>
                <a:lnTo>
                  <a:pt x="388" y="0"/>
                </a:lnTo>
                <a:lnTo>
                  <a:pt x="38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543800" y="567690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越自主，越要人监督。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27 / 33</a:t>
            </a:r>
            <a:endParaRPr/>
          </a:p>
        </p:txBody>
      </p:sp>
    </p:spTree>
  </p:cSld>
</p:sld>
</file>

<file path=ppt/slides/slide2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8672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知识库：让 AI「开卷考试」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867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把你的资料喂给它当「参考书」，回答就有据可依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85800" y="1295400"/>
            <a:ext cx="5791200" cy="4857750"/>
          </a:xfrm>
          <a:prstGeom prst="roundRect">
            <a:avLst>
              <a:gd name="adj" fmla="val 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58" name=""/>
          <p:cNvPicPr>
            <a:picLocks noChangeAspect="1"/>
          </p:cNvPicPr>
          <p:nvPr/>
        </p:nvPicPr>
        <p:blipFill>
          <a:blip r:embed="rId1"/>
          <a:srcRect l="0" t="8059" r="0" b="8059"/>
          <a:stretch>
            <a:fillRect/>
          </a:stretch>
        </p:blipFill>
        <p:spPr>
          <a:xfrm rot="0" flipH="0" flipV="0">
            <a:off x="685800" y="1295400"/>
            <a:ext cx="5791200" cy="4857750"/>
          </a:xfrm>
          <a:custGeom>
            <a:pathLst>
              <a:path w="608" h="510">
                <a:moveTo>
                  <a:pt x="590" y="0"/>
                </a:moveTo>
                <a:cubicBezTo>
                  <a:pt x="600" y="0"/>
                  <a:pt x="608" y="8"/>
                  <a:pt x="608" y="18"/>
                </a:cubicBezTo>
                <a:lnTo>
                  <a:pt x="608" y="492"/>
                </a:lnTo>
                <a:cubicBezTo>
                  <a:pt x="608" y="502"/>
                  <a:pt x="600" y="510"/>
                  <a:pt x="59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762750" y="1295400"/>
            <a:ext cx="47434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大模型有两个短板：知识有时效，还不懂你单位的内部资料。知识库就是把这些资料喂给它当「参考书」。</a:t>
            </a:r>
            <a:r>
              <a:rPr lang="zh-CN" sz="1425" b="1">
                <a:solidFill>
                  <a:srgbClr val="B45309"/>
                </a:solidFill>
                <a:latin typeface="PingFang SC"/>
                <a:ea typeface="PingFang SC"/>
              </a:rPr>
              <a:t/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425" b="1">
                <a:solidFill>
                  <a:srgbClr val="B45309"/>
                </a:solidFill>
                <a:latin typeface="PingFang SC"/>
                <a:ea typeface="PingFang SC"/>
              </a:rPr>
              <a:t/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4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7627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770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传资料</a:t>
            </a:r>
            <a:endParaRPr/>
          </a:p>
        </p:txBody>
      </p:sp>
      <p:pic>
        <p:nvPicPr>
          <p:cNvPr id="2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53300" y="2181225"/>
            <a:ext cx="152400" cy="152400"/>
          </a:xfrm>
          <a:prstGeom prst="rect">
            <a:avLst/>
          </a:prstGeom>
          <a:ln/>
        </p:spPr>
      </p:pic>
      <p:sp>
        <p:nvSpPr>
          <p:cNvPr id="263" name=""/>
          <p:cNvSpPr/>
          <p:nvPr/>
        </p:nvSpPr>
        <p:spPr>
          <a:xfrm rot="0" flipH="0" flipV="0">
            <a:off x="75628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771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学进去</a:t>
            </a:r>
            <a:endParaRPr/>
          </a:p>
        </p:txBody>
      </p:sp>
      <p:pic>
        <p:nvPicPr>
          <p:cNvPr id="2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53400" y="2181225"/>
            <a:ext cx="152400" cy="152400"/>
          </a:xfrm>
          <a:prstGeom prst="rect">
            <a:avLst/>
          </a:prstGeom>
          <a:ln/>
        </p:spPr>
      </p:pic>
      <p:sp>
        <p:nvSpPr>
          <p:cNvPr id="266" name=""/>
          <p:cNvSpPr/>
          <p:nvPr/>
        </p:nvSpPr>
        <p:spPr>
          <a:xfrm rot="0" flipH="0" flipV="0">
            <a:off x="83629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4772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找相关</a:t>
            </a:r>
            <a:endParaRPr/>
          </a:p>
        </p:txBody>
      </p:sp>
      <p:pic>
        <p:nvPicPr>
          <p:cNvPr id="2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0" y="2181225"/>
            <a:ext cx="152400" cy="152400"/>
          </a:xfrm>
          <a:prstGeom prst="rect">
            <a:avLst/>
          </a:prstGeom>
          <a:ln/>
        </p:spPr>
      </p:pic>
      <p:sp>
        <p:nvSpPr>
          <p:cNvPr id="269" name=""/>
          <p:cNvSpPr/>
          <p:nvPr/>
        </p:nvSpPr>
        <p:spPr>
          <a:xfrm rot="0" flipH="0" flipV="0">
            <a:off x="91630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2773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照着答</a:t>
            </a:r>
            <a:endParaRPr/>
          </a:p>
        </p:txBody>
      </p:sp>
      <p:pic>
        <p:nvPicPr>
          <p:cNvPr id="2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753600" y="2181225"/>
            <a:ext cx="152400" cy="152400"/>
          </a:xfrm>
          <a:prstGeom prst="rect">
            <a:avLst/>
          </a:prstGeom>
          <a:ln/>
        </p:spPr>
      </p:pic>
      <p:sp>
        <p:nvSpPr>
          <p:cNvPr id="272" name=""/>
          <p:cNvSpPr/>
          <p:nvPr/>
        </p:nvSpPr>
        <p:spPr>
          <a:xfrm rot="0" flipH="0" flipV="0">
            <a:off x="9963150" y="2085975"/>
            <a:ext cx="533400" cy="342900"/>
          </a:xfrm>
          <a:prstGeom prst="roundRect">
            <a:avLst>
              <a:gd name="adj" fmla="val 2222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077450" y="21621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带出处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762750" y="2581275"/>
            <a:ext cx="4743450" cy="3057525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934200" y="2752725"/>
            <a:ext cx="44005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把你的制度、教材、规章、文献传进去；AI 回答前，先去资料里找出最相关的那几段，照着答——答案能追到出处，瞎编大幅减少。</a:t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762750" y="5753100"/>
            <a:ext cx="4743450" cy="400050"/>
          </a:xfrm>
          <a:prstGeom prst="roundRect">
            <a:avLst>
              <a:gd name="adj" fmla="val 23810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915150" y="5848350"/>
            <a:ext cx="443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一句话：从「闭卷瞎猜」变成「开卷有据」。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28 / 33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30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15277" t="0" r="15277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331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SEVEN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安全用、用起来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用得好，更要守得住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风险不是不让你用，而是告诉你怎么用得安全——然后，从一个小任务开始用起来。</a:t>
            </a:r>
            <a:endParaRPr/>
          </a:p>
        </p:txBody>
      </p:sp>
    </p:spTree>
  </p:cSld>
</p:sld>
</file>

<file path=ppt/slides/slide2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1050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四大风险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知道风险在哪，才知道怎么防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85800" y="1295400"/>
            <a:ext cx="5791200" cy="4857750"/>
          </a:xfrm>
          <a:prstGeom prst="roundRect">
            <a:avLst>
              <a:gd name="adj" fmla="val 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43" name=""/>
          <p:cNvPicPr>
            <a:picLocks noChangeAspect="1"/>
          </p:cNvPicPr>
          <p:nvPr/>
        </p:nvPicPr>
        <p:blipFill>
          <a:blip r:embed="rId1"/>
          <a:srcRect l="0" t="8059" r="0" b="8059"/>
          <a:stretch>
            <a:fillRect/>
          </a:stretch>
        </p:blipFill>
        <p:spPr>
          <a:xfrm rot="0" flipH="0" flipV="0">
            <a:off x="685800" y="1295400"/>
            <a:ext cx="5791200" cy="4857750"/>
          </a:xfrm>
          <a:custGeom>
            <a:pathLst>
              <a:path w="608" h="510">
                <a:moveTo>
                  <a:pt x="590" y="0"/>
                </a:moveTo>
                <a:cubicBezTo>
                  <a:pt x="600" y="0"/>
                  <a:pt x="608" y="8"/>
                  <a:pt x="608" y="18"/>
                </a:cubicBezTo>
                <a:lnTo>
                  <a:pt x="608" y="492"/>
                </a:lnTo>
                <a:cubicBezTo>
                  <a:pt x="608" y="502"/>
                  <a:pt x="600" y="510"/>
                  <a:pt x="59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762750" y="1295400"/>
            <a:ext cx="47434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500">
                <a:solidFill>
                  <a:srgbClr val="43566B"/>
                </a:solidFill>
                <a:latin typeface="PingFang SC"/>
                <a:ea typeface="PingFang SC"/>
              </a:rPr>
              <a:t>好用，但也有四个坑。认得出来，你就比大多数人安全。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800850" y="2162175"/>
            <a:ext cx="4743450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800850" y="2162175"/>
            <a:ext cx="4743450" cy="638175"/>
          </a:xfrm>
          <a:custGeom>
            <a:pathLst>
              <a:path w="498" h="6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9"/>
                </a:lnTo>
                <a:cubicBezTo>
                  <a:pt x="4" y="63"/>
                  <a:pt x="7" y="66"/>
                  <a:pt x="10" y="67"/>
                </a:cubicBezTo>
                <a:cubicBezTo>
                  <a:pt x="4" y="66"/>
                  <a:pt x="0" y="61"/>
                  <a:pt x="0" y="5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53250" y="2362200"/>
            <a:ext cx="247650" cy="247650"/>
          </a:xfrm>
          <a:prstGeom prst="rect">
            <a:avLst/>
          </a:prstGeom>
          <a:ln/>
        </p:spPr>
      </p:pic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334250" y="2276475"/>
            <a:ext cx="401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幻觉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334250" y="2514600"/>
            <a:ext cx="401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一本正经编造错误信息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800850" y="3095625"/>
            <a:ext cx="4743450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800850" y="3095625"/>
            <a:ext cx="4743450" cy="638175"/>
          </a:xfrm>
          <a:custGeom>
            <a:pathLst>
              <a:path w="498" h="6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9"/>
                </a:lnTo>
                <a:cubicBezTo>
                  <a:pt x="4" y="63"/>
                  <a:pt x="7" y="66"/>
                  <a:pt x="10" y="67"/>
                </a:cubicBezTo>
                <a:cubicBezTo>
                  <a:pt x="4" y="66"/>
                  <a:pt x="0" y="61"/>
                  <a:pt x="0" y="5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53250" y="3295650"/>
            <a:ext cx="247650" cy="247650"/>
          </a:xfrm>
          <a:prstGeom prst="rect">
            <a:avLst/>
          </a:prstGeom>
          <a:ln/>
        </p:spPr>
      </p:pic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334250" y="3209925"/>
            <a:ext cx="401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偏见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7334250" y="3448050"/>
            <a:ext cx="401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把数据里的偏见面带出来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800850" y="4029075"/>
            <a:ext cx="4743450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800850" y="4029075"/>
            <a:ext cx="4743450" cy="638175"/>
          </a:xfrm>
          <a:custGeom>
            <a:pathLst>
              <a:path w="498" h="6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9"/>
                </a:lnTo>
                <a:cubicBezTo>
                  <a:pt x="4" y="63"/>
                  <a:pt x="7" y="66"/>
                  <a:pt x="10" y="67"/>
                </a:cubicBezTo>
                <a:cubicBezTo>
                  <a:pt x="4" y="66"/>
                  <a:pt x="0" y="61"/>
                  <a:pt x="0" y="5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53250" y="4229100"/>
            <a:ext cx="247650" cy="247650"/>
          </a:xfrm>
          <a:prstGeom prst="rect">
            <a:avLst/>
          </a:prstGeom>
          <a:ln/>
        </p:spPr>
      </p:pic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7334250" y="4143375"/>
            <a:ext cx="401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影子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334250" y="4381500"/>
            <a:ext cx="401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乱用没审批的工具，数据外流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800850" y="4962525"/>
            <a:ext cx="4743450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800850" y="4962525"/>
            <a:ext cx="4743450" cy="638175"/>
          </a:xfrm>
          <a:custGeom>
            <a:pathLst>
              <a:path w="498" h="6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9"/>
                </a:lnTo>
                <a:cubicBezTo>
                  <a:pt x="4" y="63"/>
                  <a:pt x="7" y="66"/>
                  <a:pt x="10" y="67"/>
                </a:cubicBezTo>
                <a:cubicBezTo>
                  <a:pt x="4" y="66"/>
                  <a:pt x="0" y="61"/>
                  <a:pt x="0" y="5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953250" y="5162550"/>
            <a:ext cx="247650" cy="247650"/>
          </a:xfrm>
          <a:prstGeom prst="rect">
            <a:avLst/>
          </a:prstGeom>
          <a:ln/>
        </p:spPr>
      </p:pic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334250" y="5076825"/>
            <a:ext cx="401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数据泄露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334250" y="5314950"/>
            <a:ext cx="401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把公司机密喂给了外部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762750" y="5715000"/>
            <a:ext cx="4743450" cy="438150"/>
          </a:xfrm>
          <a:prstGeom prst="roundRect">
            <a:avLst>
              <a:gd name="adj" fmla="val 26087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934200" y="5829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PingFang SC"/>
                <a:ea typeface="PingFang SC"/>
              </a:rPr>
              <a:t>防得住，才敢放心用。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30 / 33</a:t>
            </a:r>
            <a:endParaRPr/>
          </a:p>
        </p:txBody>
      </p:sp>
    </p:spTree>
  </p:cSld>
</p:sld>
</file>

<file path=ppt/slides/slide2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457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数据红线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与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负责任使用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457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四句话，帮你把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用得安全、用得合规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85800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85800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914400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1724025"/>
            <a:ext cx="323850" cy="323850"/>
          </a:xfrm>
          <a:prstGeom prst="rect">
            <a:avLst/>
          </a:prstGeom>
          <a:ln/>
        </p:spPr>
      </p:pic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能放心喂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14400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公开资料、脱敏数据、通用工作常识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3438525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3438525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667125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19525" y="1724025"/>
            <a:ext cx="323850" cy="32385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667125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绝不能喂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667125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公司机密、客户隐私、未公开财务、证件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191250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191250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419850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72250" y="1724025"/>
            <a:ext cx="323850" cy="323850"/>
          </a:xfrm>
          <a:prstGeom prst="rect">
            <a:avLst/>
          </a:prstGeom>
          <a:ln/>
        </p:spPr>
      </p:pic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419850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只用审批工具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419850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别乱用没经过公司评估的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，防影子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8943975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8943975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9172575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324975" y="1724025"/>
            <a:ext cx="323850" cy="323850"/>
          </a:xfrm>
          <a:prstGeom prst="rect">
            <a:avLst/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172575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人做终审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172575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出初稿，关键判断和发布由你把关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85800" y="5581650"/>
            <a:ext cx="10820400" cy="571500"/>
          </a:xfrm>
          <a:prstGeom prst="roundRect">
            <a:avLst>
              <a:gd name="adj" fmla="val 23333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3450" y="5734050"/>
            <a:ext cx="266700" cy="266700"/>
          </a:xfrm>
          <a:prstGeom prst="rect">
            <a:avLst/>
          </a:prstGeom>
          <a:ln/>
        </p:spPr>
      </p:pic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352550" y="575310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负责任的四原则：人监督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可解释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合规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公平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—— </a:t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记住这条线，怎么用都不翻车。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31 / 33</a:t>
            </a:r>
            <a:endParaRPr/>
          </a:p>
        </p:txBody>
      </p:sp>
    </p:spTree>
  </p:cSld>
</p:sld>
</file>

<file path=ppt/slides/slide2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6384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素养自查清单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638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结业标准：这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9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条，你都能打勾吗？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85800" y="1295400"/>
            <a:ext cx="2857500" cy="485775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1581150"/>
            <a:ext cx="457200" cy="457200"/>
          </a:xfrm>
          <a:prstGeom prst="rect">
            <a:avLst/>
          </a:prstGeom>
          <a:ln/>
        </p:spPr>
      </p:pic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71550" y="2228850"/>
            <a:ext cx="2286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PingFang SC"/>
                <a:ea typeface="PingFang SC"/>
              </a:rPr>
              <a:t>通用</a:t>
            </a:r>
            <a:r>
              <a:rPr lang="en-US" sz="2250" b="1">
                <a:solidFill>
                  <a:srgbClr val="FFFFFF"/>
                </a:solidFill>
                <a:latin typeface="PingFang SC"/>
                <a:ea typeface="PingFang SC"/>
              </a:rPr>
              <a:t> AI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PingFang SC"/>
                <a:ea typeface="PingFang SC"/>
              </a:rPr>
              <a:t>素养自查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971550" y="3238500"/>
            <a:ext cx="2286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A9C4E8"/>
                </a:solidFill>
                <a:latin typeface="PingFang SC"/>
                <a:ea typeface="PingFang SC"/>
              </a:rPr>
              <a:t>全部打勾，你就是团队里</a:t>
            </a:r>
            <a:r>
              <a:rPr lang="zh-CN" sz="1350">
                <a:solidFill>
                  <a:srgbClr val="7FD9F0"/>
                </a:solidFill>
                <a:latin typeface="PingFang SC"/>
                <a:ea typeface="PingFang SC"/>
              </a:rPr>
              <a:t>「会用</a:t>
            </a:r>
            <a:r>
              <a:rPr lang="en-US" sz="1350">
                <a:solidFill>
                  <a:srgbClr val="7FD9F0"/>
                </a:solidFill>
                <a:latin typeface="PingFang SC"/>
                <a:ea typeface="PingFang SC"/>
              </a:rPr>
              <a:t> AI </a:t>
            </a:r>
            <a:r>
              <a:rPr lang="zh-CN" sz="1350">
                <a:solidFill>
                  <a:srgbClr val="7FD9F0"/>
                </a:solidFill>
                <a:latin typeface="PingFang SC"/>
                <a:ea typeface="PingFang SC"/>
              </a:rPr>
              <a:t>的人」</a:t>
            </a:r>
            <a:r>
              <a:rPr lang="zh-CN" sz="1350">
                <a:solidFill>
                  <a:srgbClr val="A9C4E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971550" y="4800600"/>
            <a:ext cx="2286000" cy="1085850"/>
          </a:xfrm>
          <a:custGeom>
            <a:pathLst>
              <a:path w="240" h="114">
                <a:moveTo>
                  <a:pt x="0" y="0"/>
                </a:moveTo>
                <a:lnTo>
                  <a:pt x="240" y="0"/>
                </a:lnTo>
                <a:lnTo>
                  <a:pt x="240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971550" y="4991100"/>
            <a:ext cx="2286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9E0B"/>
                </a:solidFill>
                <a:latin typeface="Space Grotesk"/>
                <a:ea typeface="Space Grotesk"/>
              </a:rPr>
              <a:t>9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71550" y="5676900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9C4E8"/>
                </a:solidFill>
                <a:latin typeface="PingFang SC"/>
                <a:ea typeface="PingFang SC"/>
              </a:rPr>
              <a:t>条达标，即结业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3790950" y="13056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1411200"/>
            <a:ext cx="209550" cy="209550"/>
          </a:xfrm>
          <a:prstGeom prst="rect">
            <a:avLst/>
          </a:prstGeom>
          <a:ln/>
        </p:spPr>
      </p:pic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305300" y="1411200"/>
            <a:ext cx="4886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能画出 AI 家族树（AI→机器学习→深度学习→大模型→生成式）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3790950" y="18240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1929600"/>
            <a:ext cx="209550" cy="209550"/>
          </a:xfrm>
          <a:prstGeom prst="rect">
            <a:avLst/>
          </a:prstGeom>
          <a:ln/>
        </p:spPr>
      </p:pic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305300" y="1929600"/>
            <a:ext cx="2914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会用「五要素」写出一条能用的提示词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3790950" y="23424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2448000"/>
            <a:ext cx="209550" cy="209550"/>
          </a:xfrm>
          <a:prstGeom prst="rect">
            <a:avLst/>
          </a:prstGeom>
          <a:ln/>
        </p:spPr>
      </p:pic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305300" y="244800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知道大模型会「幻觉」，关键信息会去核实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3790950" y="28608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2966400"/>
            <a:ext cx="209550" cy="209550"/>
          </a:xfrm>
          <a:prstGeom prst="rect">
            <a:avLst/>
          </a:prstGeom>
          <a:ln/>
        </p:spPr>
      </p:pic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305300" y="2966400"/>
            <a:ext cx="287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说得清知识库为什么比「瞎猜」更靠谱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3790950" y="33792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3484800"/>
            <a:ext cx="209550" cy="209550"/>
          </a:xfrm>
          <a:prstGeom prst="rect">
            <a:avLst/>
          </a:prstGeom>
          <a:ln/>
        </p:spPr>
      </p:pic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305300" y="3484800"/>
            <a:ext cx="3381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能上手至少 2 个常用 AI 工具，独立干完 1 件办公 / 教学任务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3790950" y="38976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4003200"/>
            <a:ext cx="209550" cy="209550"/>
          </a:xfrm>
          <a:prstGeom prst="rect">
            <a:avLst/>
          </a:prstGeom>
          <a:ln/>
        </p:spPr>
      </p:pic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305300" y="400320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会给 AI 工作助手（如 WorkBuddy）派任务，并验收它的交付物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3790950" y="44160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4521600"/>
            <a:ext cx="209550" cy="209550"/>
          </a:xfrm>
          <a:prstGeom prst="rect">
            <a:avLst/>
          </a:prstGeom>
          <a:ln/>
        </p:spPr>
      </p:pic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305300" y="452160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守住数据红线，知道什么能喂、什么绝不能喂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3790950" y="49344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5040000"/>
            <a:ext cx="209550" cy="209550"/>
          </a:xfrm>
          <a:prstGeom prst="rect">
            <a:avLst/>
          </a:prstGeom>
          <a:ln/>
        </p:spPr>
      </p:pic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305300" y="5040000"/>
            <a:ext cx="3019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能在自己岗位上，落地 1 个「AI 初稿 + 人做终审」的小场景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32 / 33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3790950" y="5452800"/>
            <a:ext cx="77152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  <a:effectLst>
            <a:outerShdw blurRad="76200" dist="19050" dir="5400000">
              <a:srgbClr val="1E3A8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5558400"/>
            <a:ext cx="209550" cy="209550"/>
          </a:xfrm>
          <a:prstGeom prst="rect">
            <a:avLst/>
          </a:prstGeom>
          <a:ln/>
        </p:spPr>
      </p:pic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305300" y="5558400"/>
            <a:ext cx="3019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33475B"/>
                </a:solidFill>
                <a:latin typeface="PingFang SC"/>
                <a:ea typeface="PingFang SC"/>
              </a:rPr>
              <a:t>敢追问、会追问，不盲目迷信 AI 的答案</a:t>
            </a:r>
            <a:endParaRPr/>
          </a:p>
        </p:txBody>
      </p:sp>
    </p:spTree>
  </p:cSld>
</p:sld>
</file>

<file path=ppt/slides/slide2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04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70000"/>
                </a:srgbClr>
              </a:gs>
              <a:gs pos="100000">
                <a:srgbClr val="1E3A8A">
                  <a:alpha val="85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4048125" y="1905000"/>
            <a:ext cx="4095750" cy="14859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AI </a:t>
            </a: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不是来取代你，</a:t>
            </a:r>
            <a:endParaRPr/>
          </a:p>
          <a:p>
            <a:pPr algn="ctr"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是来成全你。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5667375" y="3714750"/>
            <a:ext cx="8572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286375" y="4019550"/>
            <a:ext cx="16287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通用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AI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基础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完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4029075" y="4524375"/>
            <a:ext cx="4133850" cy="438150"/>
          </a:xfrm>
          <a:prstGeom prst="roundRect">
            <a:avLst>
              <a:gd name="adj" fmla="val 2171739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57675" y="4648200"/>
            <a:ext cx="190500" cy="190500"/>
          </a:xfrm>
          <a:prstGeom prst="rect">
            <a:avLst/>
          </a:prstGeom>
          <a:ln/>
        </p:spPr>
      </p:pic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562475" y="4638675"/>
            <a:ext cx="33718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下一步：在你的岗位上用起来 —— 从 1 个小任务开始</a:t>
            </a:r>
            <a:r>
              <a:rPr lang="en-US" sz="1350" b="1">
                <a:solidFill>
                  <a:srgbClr val="7FD9F0"/>
                </a:solidFill>
                <a:latin typeface="PingFang SC"/>
                <a:ea typeface="PingFang SC"/>
              </a:rPr>
              <a:t/>
            </a: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/>
            </a:r>
            <a:endParaRPr/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5908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AI ≠ 搜索引擎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为什么 AI 的答案，和搜索引擎搜出来的不一样？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85800" y="1295400"/>
            <a:ext cx="6343650" cy="4857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971550" y="15811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85850" y="1695450"/>
            <a:ext cx="285750" cy="2857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600200" y="1581150"/>
            <a:ext cx="1428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891B2"/>
                </a:solidFill>
                <a:latin typeface="PingFang SC"/>
                <a:ea typeface="PingFang SC"/>
              </a:rPr>
              <a:t>搜索引擎</a:t>
            </a:r>
            <a:r>
              <a:rPr lang="zh-CN" sz="1950" b="1">
                <a:solidFill>
                  <a:srgbClr val="0891B2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600200" y="19050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它「找」：给你一堆链接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71550" y="2247900"/>
            <a:ext cx="5772150" cy="3619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它负责「找」：把包含答案的网页链接列给你，让你自己点进去看。答案在网页里，它只是导航员。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4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277100" y="1295400"/>
            <a:ext cx="4229100" cy="4857750"/>
          </a:xfrm>
          <a:prstGeom prst="roundRect">
            <a:avLst>
              <a:gd name="adj" fmla="val 4054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543800" y="15621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2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58100" y="1676400"/>
            <a:ext cx="285750" cy="28575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72450" y="1562100"/>
            <a:ext cx="152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8C471"/>
                </a:solidFill>
                <a:latin typeface="PingFang SC"/>
                <a:ea typeface="PingFang SC"/>
              </a:rPr>
              <a:t>大模型 AI</a:t>
            </a:r>
            <a:r>
              <a:rPr lang="zh-CN" sz="1950" b="1">
                <a:solidFill>
                  <a:srgbClr val="F8C471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172450" y="18859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9C4E8"/>
                </a:solidFill>
                <a:latin typeface="PingFang SC"/>
                <a:ea typeface="PingFang SC"/>
              </a:rPr>
              <a:t>它「答」：直接给你一段话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543800" y="2228850"/>
            <a:ext cx="3695700" cy="3143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>它把训练时读过的内容「接」成一段话直接给你，偶尔会一本正经地编。答案在它的“记忆”里，所以关键事实要回搜索核实。</a:t>
            </a:r>
            <a:r>
              <a:rPr lang="zh-CN" sz="1350" b="1">
                <a:solidFill>
                  <a:srgbClr val="F8C471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E6EEF8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543800" y="5524500"/>
            <a:ext cx="3695700" cy="381000"/>
          </a:xfrm>
          <a:custGeom>
            <a:pathLst>
              <a:path w="388" h="40">
                <a:moveTo>
                  <a:pt x="0" y="0"/>
                </a:moveTo>
                <a:lnTo>
                  <a:pt x="388" y="0"/>
                </a:lnTo>
                <a:lnTo>
                  <a:pt x="38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543800" y="567690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查事实用搜索，写东西用 AI，关键事实再回搜索核实。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10 / 33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457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不只是文字：它会看、会听、会读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457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会聊天只是起点——现代 AI 还能处理图、声音和文件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85800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85800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914400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66800" y="1724025"/>
            <a:ext cx="323850" cy="323850"/>
          </a:xfrm>
          <a:prstGeom prst="rect">
            <a:avLst/>
          </a:prstGeom>
          <a:ln/>
        </p:spPr>
      </p:pic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会看图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14400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拍黑板图表、产品照片、截图给它：能看懂、能描述、能分析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3438525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3438525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667125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819525" y="1724025"/>
            <a:ext cx="323850" cy="32385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667125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会听声音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667125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会议录音、采访录音转成文字，再让它总结、出纪要、找待办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191250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191250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419850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572250" y="1724025"/>
            <a:ext cx="323850" cy="323850"/>
          </a:xfrm>
          <a:prstGeom prst="rect">
            <a:avLst/>
          </a:prstGeom>
          <a:ln/>
        </p:spPr>
      </p:pic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419850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会读表格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419850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Excel / 统计表直接传：找异常、算公式、出结论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8943975" y="1343025"/>
            <a:ext cx="2562225" cy="4114800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8943975" y="1343025"/>
            <a:ext cx="2562225" cy="4114800"/>
          </a:xfrm>
          <a:custGeom>
            <a:pathLst>
              <a:path w="269" h="432">
                <a:moveTo>
                  <a:pt x="254" y="0"/>
                </a:moveTo>
                <a:cubicBezTo>
                  <a:pt x="261" y="0"/>
                  <a:pt x="267" y="6"/>
                  <a:pt x="269" y="13"/>
                </a:cubicBezTo>
                <a:cubicBezTo>
                  <a:pt x="267" y="8"/>
                  <a:pt x="263" y="5"/>
                  <a:pt x="258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9172575" y="157162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24975" y="1724025"/>
            <a:ext cx="323850" cy="323850"/>
          </a:xfrm>
          <a:prstGeom prst="rect">
            <a:avLst/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172575" y="2371725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会读长文档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172575" y="2762250"/>
            <a:ext cx="21050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100 页 PDF、教材、制度文件丢给它，直接提问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85800" y="5581650"/>
            <a:ext cx="10820400" cy="571500"/>
          </a:xfrm>
          <a:prstGeom prst="roundRect">
            <a:avLst>
              <a:gd name="adj" fmla="val 23333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3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33450" y="5734050"/>
            <a:ext cx="266700" cy="266700"/>
          </a:xfrm>
          <a:prstGeom prst="rect">
            <a:avLst/>
          </a:prstGeom>
          <a:ln/>
        </p:spPr>
      </p:pic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352550" y="5753100"/>
            <a:ext cx="727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记住：会发微信，就会用多模态 AI——图、音、文件，都是它的输入。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/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/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/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/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/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/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/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12 / 33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越改越好：迭代 + 进阶技巧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好答案不是一次问出来的，是「改」出来的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通用 AI 基础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16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3168000" cy="4915200"/>
          </a:xfrm>
          <a:prstGeom prst="roundRect">
            <a:avLst>
              <a:gd name="adj" fmla="val 550000000"/>
            </a:avLst>
          </a:prstGeom>
          <a:solidFill>
            <a:srgbClr val="1E3A8A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00" y="1593600"/>
            <a:ext cx="2707200" cy="28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三版迭代法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00" y="1939200"/>
            <a:ext cx="27072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7FD9F0"/>
                </a:solidFill>
                <a:latin typeface="PingFang SC"/>
                <a:ea typeface="PingFang SC"/>
              </a:rPr>
              <a:t>现场带着走 · 谁都会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600" y="23040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400" y="24384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第 1 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4400" y="26496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先出草稿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400" y="29376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用五要素提一个完整问题，拿到初稿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600" y="34944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4400" y="36288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第 2 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400" y="38400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指出问题让它改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4400" y="41280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「第二段太空，加上具体数据和例子」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600" y="4684800"/>
            <a:ext cx="2707200" cy="1036800"/>
          </a:xfrm>
          <a:prstGeom prst="roundRect">
            <a:avLst>
              <a:gd name="adj" fmla="val 90000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4400" y="4819200"/>
            <a:ext cx="2361600" cy="172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1" spc="200">
                <a:solidFill>
                  <a:srgbClr val="7FD9F0"/>
                </a:solidFill>
                <a:latin typeface="Space Grotesk"/>
                <a:ea typeface="Space Grotesk"/>
              </a:rPr>
              <a:t>第 3 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4400" y="5030400"/>
            <a:ext cx="2361600" cy="23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PingFang SC"/>
                <a:ea typeface="PingFang SC"/>
              </a:rPr>
              <a:t>微调定稿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400" y="5318400"/>
            <a:ext cx="2361600" cy="32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DCE9FB"/>
                </a:solidFill>
                <a:latin typeface="PingFang SC"/>
                <a:ea typeface="PingFang SC"/>
              </a:rPr>
              <a:t>调格式、换语气、补细节——通常这版就能用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600" y="5913600"/>
            <a:ext cx="27072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A9C4E8"/>
                </a:solidFill>
                <a:latin typeface="PingFang SC"/>
                <a:ea typeface="PingFang SC"/>
              </a:rPr>
              <a:t>口诀：一版是毛坯，三版是成品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70400" y="132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62400" y="155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2400" y="155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600" y="144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技巧一 · 给它例子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600" y="174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「仿照上个月的格式写」——给个样本，比描述一百句都准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8000" y="144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技巧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70400" y="228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62400" y="251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2400" y="251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7600" y="240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技巧二 · 让它一步步想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7600" y="270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加一句「请一步步分析」，复杂问题准确率明显更高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8000" y="240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技巧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70400" y="324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62400" y="347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2400" y="347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7600" y="336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坑一 · 问题太泛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7600" y="366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「写个方案」= 拿到正确的废话；问得越具体，答得越好用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8000" y="336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70400" y="420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62400" y="443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62400" y="443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7600" y="432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坑二 · 没给背景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7600" y="462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不告诉它你的身份、读者、用途，它只能猜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88000" y="432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70400" y="5164800"/>
            <a:ext cx="7526400" cy="883200"/>
          </a:xfrm>
          <a:prstGeom prst="roundRect">
            <a:avLst>
              <a:gd name="adj" fmla="val 13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62400" y="5395200"/>
            <a:ext cx="422400" cy="422400"/>
          </a:xfrm>
          <a:prstGeom prst="roundRect">
            <a:avLst>
              <a:gd name="adj" fmla="val 280000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2400" y="5395200"/>
            <a:ext cx="422400" cy="42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</a:rPr>
              <a:t>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57600" y="5280000"/>
            <a:ext cx="5376000" cy="24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坑三 · 一次塞太多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7600" y="5587200"/>
            <a:ext cx="6336000" cy="36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又出图又要视频还要翻译——拆成 3 次问，别贪多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88000" y="5280000"/>
            <a:ext cx="1536000" cy="19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0891B2"/>
                </a:solidFill>
                <a:latin typeface="PingFang SC"/>
                <a:ea typeface="PingFang SC"/>
              </a:rPr>
              <a:t>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88000" cy="6912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1200" y="470400"/>
            <a:ext cx="48000" cy="44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2800" y="336000"/>
            <a:ext cx="10560000" cy="470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50" b="1">
                <a:solidFill>
                  <a:srgbClr val="1E3A8A"/>
                </a:solidFill>
                <a:latin typeface="PingFang SC"/>
                <a:ea typeface="PingFang SC"/>
              </a:rPr>
              <a:t>主流大模型速览：不追最强，选对就好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800" y="844800"/>
            <a:ext cx="11040000" cy="20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</a:rPr>
              <a:t>同一个问题问不同模型，答案不一样——各有擅长，选对场景比选最强重要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200" y="6412800"/>
            <a:ext cx="19200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</a:rPr>
              <a:t>通用 AI 基础 · 初级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6412800"/>
            <a:ext cx="1228800" cy="16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pace Grotesk"/>
                <a:ea typeface="Space Grotesk"/>
              </a:rPr>
              <a:t>19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00" y="1324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400" y="1324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324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推理、逻辑强，免费额度够用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8800" y="1324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适合：逻辑分析、数学、长文写作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7600" y="1324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国内主流，注册即用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200" y="20352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400" y="20352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2000" y="20352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超长文档是招牌，200 页 PDF 一次读完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8800" y="20352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适合：读长文件、论文、合同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600" y="20352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网页版免费，移动端顺手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" y="27456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400" y="27456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豆包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7456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全能 + 语音最自然，上手门槛最低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800" y="27456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适合：日常问答、语音交互、出图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600" y="27456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App 体验顺，新手友好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00" y="34560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400" y="34560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文心一言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2000" y="34560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公文、规范表述稳，大厂背书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8800" y="34560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适合：公文、正式材料、中文语感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600" y="34560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百度系，企业用户多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200" y="41664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FFFFFF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400" y="41664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通义 / 讯飞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2000" y="41664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各有生态，跟着你用的平台选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8800" y="41664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适合：阿里系 / 讯飞系用户顺用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600" y="41664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都够日常用，不必纠结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1200" y="4876800"/>
            <a:ext cx="10905600" cy="633600"/>
          </a:xfrm>
          <a:prstGeom prst="roundRect">
            <a:avLst>
              <a:gd name="adj" fmla="val 1800000000"/>
            </a:avLst>
          </a:prstGeom>
          <a:solidFill>
            <a:srgbClr val="EDF3FB"/>
          </a:solidFill>
          <a:ln>
            <a:noFill/>
          </a:ln>
          <a:effectLst>
            <a:outerShdw blurRad="95250" dist="19050" dir="5400000">
              <a:srgbClr val="1E3A8A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00" y="4876800"/>
            <a:ext cx="1612800" cy="633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3A8A"/>
                </a:solidFill>
                <a:latin typeface="PingFang SC"/>
                <a:ea typeface="PingFang SC"/>
              </a:rPr>
              <a:t>一句话选型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2000" y="4876800"/>
            <a:ext cx="2400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PingFang SC"/>
                <a:ea typeface="PingFang SC"/>
              </a:rPr>
              <a:t>别追最强，别追最新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8800" y="4876800"/>
            <a:ext cx="4032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先固定 1-2 个主力模型，用出手感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7600" y="4876800"/>
            <a:ext cx="2304000" cy="63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0891B2"/>
                </a:solidFill>
                <a:latin typeface="PingFang SC"/>
                <a:ea typeface="PingFang SC"/>
              </a:rPr>
              <a:t>用熟了再换，频繁换更累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00" y="5721600"/>
            <a:ext cx="10905600" cy="499200"/>
          </a:xfrm>
          <a:prstGeom prst="roundRect">
            <a:avLst>
              <a:gd name="adj" fmla="val 230000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000" y="5721600"/>
            <a:ext cx="10464000" cy="499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75" b="1">
                <a:solidFill>
                  <a:srgbClr val="F59E0B"/>
                </a:solidFill>
                <a:latin typeface="PingFang SC"/>
                <a:ea typeface="PingFang SC"/>
              </a:rPr>
              <a:t>选型不是玄学：场景对 + 用得上 + 团队都会用。榜单月月变，本表每季度核一次。</a:t>
            </a:r>
            <a:r>
              <a:rPr sz="1275" b="0">
                <a:solidFill>
                  <a:srgbClr val="FFFFFF"/>
                </a:solidFill>
                <a:latin typeface="PingFang SC"/>
                <a:ea typeface="PingFang SC"/>
              </a:rPr>
              <a:t/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0765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AI 还能创作：图 / 视频 / 声音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文字之外，AI 还会画图、拍片、配音。红线：真人形象 / 声音，未经同意不能用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6858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9525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4425" y="1724025"/>
            <a:ext cx="342900" cy="34290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525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会出图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525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讲座插图 · 班级海报 · 活动配图</a:t>
            </a:r>
            <a:r>
              <a:rPr lang="en-US" sz="1875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25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把画面说清楚：主体 + 风格 + 用途。「水墨风插画，老师讲课，温馨」——两分钟出一张。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9525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525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工具：即梦 AI / 可灵（免费额度）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436245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62915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91075" y="1724025"/>
            <a:ext cx="342900" cy="342900"/>
          </a:xfrm>
          <a:prstGeom prst="rect">
            <a:avLst/>
          </a:prstGeom>
          <a:ln/>
        </p:spPr>
      </p:pic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62915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会出视频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62915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讲座预告 · 活动短视频 · 知识动画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62915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一段文字描述 + 一张图，生成 5-15 秒小视频。模板式，别指望大片。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462915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2915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工具：可灵 / 即梦 / Vidu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8039100" y="1295400"/>
            <a:ext cx="3467100" cy="4857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8305800" y="156210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EEFE0"/>
          </a:solidFill>
          <a:ln/>
        </p:spPr>
        <p:txBody>
          <a:bodyPr/>
          <a:p>
            <a:pPr/>
            <a:endParaRPr/>
          </a:p>
        </p:txBody>
      </p:sp>
      <p:pic xmlns:asvg="http://schemas.microsoft.com/office/drawing/2016/SVG/main">
        <p:nvPicPr>
          <p:cNvPr id="5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67725" y="1724025"/>
            <a:ext cx="342900" cy="342900"/>
          </a:xfrm>
          <a:prstGeom prst="rect">
            <a:avLst/>
          </a:prstGeom>
          <a:ln/>
        </p:spPr>
      </p:pic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05800" y="241935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64748B"/>
                </a:solidFill>
                <a:latin typeface="PingFang SC"/>
                <a:ea typeface="PingFang SC"/>
              </a:rPr>
              <a:t>会出声音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05800" y="2686050"/>
            <a:ext cx="2933700" cy="361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875" b="1">
                <a:solidFill>
                  <a:srgbClr val="1E3A8A"/>
                </a:solidFill>
                <a:latin typeface="PingFang SC"/>
                <a:ea typeface="PingFang SC"/>
              </a:rPr>
              <a:t>AI 配音 · 音频课件 · 口播稿朗读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05800" y="3181350"/>
            <a:ext cx="2933700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粘贴口播稿，选个音色，直接出音频。做微课、做通知，省掉录音棚。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/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8305800" y="5524500"/>
            <a:ext cx="2933700" cy="381000"/>
          </a:xfrm>
          <a:custGeom>
            <a:pathLst>
              <a:path w="308" h="40">
                <a:moveTo>
                  <a:pt x="0" y="0"/>
                </a:moveTo>
                <a:lnTo>
                  <a:pt x="308" y="0"/>
                </a:lnTo>
                <a:lnTo>
                  <a:pt x="308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05800" y="567690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PingFang SC"/>
                <a:ea typeface="PingFang SC"/>
              </a:rPr>
              <a:t>工具：讯飞配音 / 剪映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通用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基础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029950" y="63627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24 / 33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2026-08-24T14:43:53Z</dcterms:created>
  <dcterms:modified xsi:type="dcterms:W3CDTF">2026-08-24T14:43:53Z</dcterms:modified>
</cp:coreProperties>
</file>