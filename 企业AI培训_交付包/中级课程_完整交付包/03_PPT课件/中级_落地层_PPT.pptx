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0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45.svg" ContentType="image/svg+xml"/>
  <Override PartName="/ppt/slides/media/image46.svg" ContentType="image/svg+xml"/>
  <Override PartName="/ppt/slides/media/image47.svg" ContentType="image/svg+xml"/>
  <Override PartName="/ppt/slides/media/image48.svg" ContentType="image/svg+xml"/>
  <Override PartName="/ppt/slides/media/image49.svg" ContentType="image/svg+xml"/>
  <Override PartName="/ppt/slides/media/image5.svg" ContentType="image/svg+xml"/>
  <Override PartName="/ppt/slides/media/image51.svg" ContentType="image/svg+xml"/>
  <Override PartName="/ppt/slides/media/image52.svg" ContentType="image/svg+xml"/>
  <Override PartName="/ppt/slides/media/image53.svg" ContentType="image/svg+xml"/>
  <Override PartName="/ppt/slides/media/image54.svg" ContentType="image/svg+xml"/>
  <Override PartName="/ppt/slides/media/image55.svg" ContentType="image/svg+xml"/>
  <Override PartName="/ppt/slides/media/image56.svg" ContentType="image/svg+xml"/>
  <Override PartName="/ppt/slides/media/image57.svg" ContentType="image/svg+xml"/>
  <Override PartName="/ppt/slides/media/image58.svg" ContentType="image/svg+xml"/>
  <Override PartName="/ppt/slides/media/image59.svg" ContentType="image/svg+xml"/>
  <Override PartName="/ppt/slides/media/image6.svg" ContentType="image/svg+xml"/>
  <Override PartName="/ppt/slides/media/image60.svg" ContentType="image/svg+xml"/>
  <Override PartName="/ppt/slides/media/image61.svg" ContentType="image/svg+xml"/>
  <Override PartName="/ppt/slides/media/image62.svg" ContentType="image/svg+xml"/>
  <Override PartName="/ppt/slides/media/image63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tableStyles" Target="tableStyles.xml"/><Relationship Id="rId3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42.svg"/><Relationship Id="rId3" Type="http://schemas.openxmlformats.org/officeDocument/2006/relationships/image" Target="media/image48.svg"/><Relationship Id="rId4" Type="http://schemas.openxmlformats.org/officeDocument/2006/relationships/image" Target="media/image49.svg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3.svg"/><Relationship Id="rId2" Type="http://schemas.openxmlformats.org/officeDocument/2006/relationships/image" Target="media/image53.svg"/><Relationship Id="rId3" Type="http://schemas.openxmlformats.org/officeDocument/2006/relationships/image" Target="media/image59.svg"/><Relationship Id="rId4" Type="http://schemas.openxmlformats.org/officeDocument/2006/relationships/image" Target="media/image60.svg"/><Relationship Id="rId5" Type="http://schemas.openxmlformats.org/officeDocument/2006/relationships/image" Target="media/image61.svg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62.svg"/><Relationship Id="rId3" Type="http://schemas.openxmlformats.org/officeDocument/2006/relationships/image" Target="media/image15.svg"/><Relationship Id="rId4" Type="http://schemas.openxmlformats.org/officeDocument/2006/relationships/image" Target="media/image63.svg"/><Relationship Id="rId5" Type="http://schemas.openxmlformats.org/officeDocument/2006/relationships/image" Target="media/image55.svg"/><Relationship Id="rId6" Type="http://schemas.openxmlformats.org/officeDocument/2006/relationships/image" Target="media/image7.svg"/><Relationship Id="rId7" Type="http://schemas.openxmlformats.org/officeDocument/2006/relationships/image" Target="media/image43.sv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4.pn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2" Type="http://schemas.openxmlformats.org/officeDocument/2006/relationships/image" Target="media/image3.svg"/><Relationship Id="rId3" Type="http://schemas.openxmlformats.org/officeDocument/2006/relationships/image" Target="media/image4.svg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5.svg"/><Relationship Id="rId3" Type="http://schemas.openxmlformats.org/officeDocument/2006/relationships/image" Target="media/image6.svg"/><Relationship Id="rId4" Type="http://schemas.openxmlformats.org/officeDocument/2006/relationships/image" Target="media/image7.svg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2" Type="http://schemas.openxmlformats.org/officeDocument/2006/relationships/image" Target="media/image9.svg"/><Relationship Id="rId3" Type="http://schemas.openxmlformats.org/officeDocument/2006/relationships/image" Target="media/image10.svg"/><Relationship Id="rId4" Type="http://schemas.openxmlformats.org/officeDocument/2006/relationships/image" Target="media/image11.png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2" Type="http://schemas.openxmlformats.org/officeDocument/2006/relationships/image" Target="media/image14.svg"/><Relationship Id="rId3" Type="http://schemas.openxmlformats.org/officeDocument/2006/relationships/image" Target="media/image15.svg"/><Relationship Id="rId4" Type="http://schemas.openxmlformats.org/officeDocument/2006/relationships/image" Target="media/image16.svg"/><Relationship Id="rId5" Type="http://schemas.openxmlformats.org/officeDocument/2006/relationships/image" Target="media/image17.svg"/><Relationship Id="rId6" Type="http://schemas.openxmlformats.org/officeDocument/2006/relationships/image" Target="media/image18.svg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/Relationships>
</file>

<file path=ppt/slides/_rels/slide2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0.svg"/><Relationship Id="rId2" Type="http://schemas.openxmlformats.org/officeDocument/2006/relationships/image" Target="media/image21.svg"/><Relationship Id="rId3" Type="http://schemas.openxmlformats.org/officeDocument/2006/relationships/image" Target="media/image22.svg"/><Relationship Id="rId4" Type="http://schemas.openxmlformats.org/officeDocument/2006/relationships/image" Target="media/image23.svg"/></Relationships>
</file>

<file path=ppt/slides/_rels/slide2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24.png"/><Relationship Id="rId3" Type="http://schemas.openxmlformats.org/officeDocument/2006/relationships/image" Target="media/image25.svg"/><Relationship Id="rId4" Type="http://schemas.openxmlformats.org/officeDocument/2006/relationships/image" Target="media/image26.svg"/><Relationship Id="rId5" Type="http://schemas.openxmlformats.org/officeDocument/2006/relationships/image" Target="media/image27.svg"/><Relationship Id="rId6" Type="http://schemas.openxmlformats.org/officeDocument/2006/relationships/image" Target="media/image28.svg"/></Relationships>
</file>

<file path=ppt/slides/_rels/slide2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29.svg"/><Relationship Id="rId3" Type="http://schemas.openxmlformats.org/officeDocument/2006/relationships/image" Target="media/image30.svg"/><Relationship Id="rId4" Type="http://schemas.openxmlformats.org/officeDocument/2006/relationships/image" Target="media/image31.svg"/><Relationship Id="rId5" Type="http://schemas.openxmlformats.org/officeDocument/2006/relationships/image" Target="media/image32.svg"/></Relationships>
</file>

<file path=ppt/slides/_rels/slide2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3.svg"/><Relationship Id="rId2" Type="http://schemas.openxmlformats.org/officeDocument/2006/relationships/image" Target="media/image34.svg"/><Relationship Id="rId3" Type="http://schemas.openxmlformats.org/officeDocument/2006/relationships/image" Target="media/image35.svg"/><Relationship Id="rId4" Type="http://schemas.openxmlformats.org/officeDocument/2006/relationships/image" Target="media/image36.svg"/><Relationship Id="rId5" Type="http://schemas.openxmlformats.org/officeDocument/2006/relationships/image" Target="media/image37.svg"/><Relationship Id="rId6" Type="http://schemas.openxmlformats.org/officeDocument/2006/relationships/image" Target="media/image18.svg"/></Relationships>
</file>

<file path=ppt/slides/_rels/slide2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8.svg"/><Relationship Id="rId2" Type="http://schemas.openxmlformats.org/officeDocument/2006/relationships/image" Target="media/image39.svg"/><Relationship Id="rId3" Type="http://schemas.openxmlformats.org/officeDocument/2006/relationships/image" Target="media/image40.svg"/><Relationship Id="rId4" Type="http://schemas.openxmlformats.org/officeDocument/2006/relationships/image" Target="media/image41.svg"/><Relationship Id="rId5" Type="http://schemas.openxmlformats.org/officeDocument/2006/relationships/image" Target="media/image42.svg"/><Relationship Id="rId6" Type="http://schemas.openxmlformats.org/officeDocument/2006/relationships/image" Target="media/image43.svg"/></Relationships>
</file>

<file path=ppt/slides/_rels/slide2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2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4.svg"/><Relationship Id="rId2" Type="http://schemas.openxmlformats.org/officeDocument/2006/relationships/image" Target="media/image45.svg"/><Relationship Id="rId3" Type="http://schemas.openxmlformats.org/officeDocument/2006/relationships/image" Target="media/image46.svg"/><Relationship Id="rId4" Type="http://schemas.openxmlformats.org/officeDocument/2006/relationships/image" Target="media/image47.svg"/></Relationships>
</file>

<file path=ppt/slides/_rels/slide3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2.svg"/><Relationship Id="rId2" Type="http://schemas.openxmlformats.org/officeDocument/2006/relationships/image" Target="media/image50.png"/></Relationships>
</file>

<file path=ppt/slides/_rels/slide3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/Relationships>
</file>

<file path=ppt/slides/_rels/slide3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1.svg"/><Relationship Id="rId2" Type="http://schemas.openxmlformats.org/officeDocument/2006/relationships/image" Target="media/image4.svg"/><Relationship Id="rId3" Type="http://schemas.openxmlformats.org/officeDocument/2006/relationships/image" Target="media/image52.svg"/><Relationship Id="rId4" Type="http://schemas.openxmlformats.org/officeDocument/2006/relationships/image" Target="media/image53.svg"/><Relationship Id="rId5" Type="http://schemas.openxmlformats.org/officeDocument/2006/relationships/image" Target="media/image54.svg"/></Relationships>
</file>

<file path=ppt/slides/_rels/slide3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5.svg"/><Relationship Id="rId2" Type="http://schemas.openxmlformats.org/officeDocument/2006/relationships/image" Target="media/image56.svg"/><Relationship Id="rId3" Type="http://schemas.openxmlformats.org/officeDocument/2006/relationships/image" Target="media/image4.svg"/><Relationship Id="rId4" Type="http://schemas.openxmlformats.org/officeDocument/2006/relationships/image" Target="media/image57.svg"/><Relationship Id="rId5" Type="http://schemas.openxmlformats.org/officeDocument/2006/relationships/image" Target="media/image41.svg"/></Relationships>
</file>

<file path=ppt/slides/_rels/slide3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png"/><Relationship Id="rId2" Type="http://schemas.openxmlformats.org/officeDocument/2006/relationships/image" Target="media/image5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 }} /&gt;&#10;    &lt;Box style={{ position: 'absolute', top: 0, left: 0, width: '1280px', height: '720px', background: 'linear-gradient(90deg, rgba(15,23,42,0.90) 0%, rgba(30,58,138,0.60) 55%, rgba(30,58,138,0.20) 100%)' }} /&gt;&#10;    &lt;Box style={{ position: 'relative', zIndex: 1, height: '720px', padding: '0 84px', justifyContent: 'center', flexDirection: 'column' }}&gt;&#10;        &lt;Box style={{ flexDirection: 'row', alignItems: 'center', gap: 14, marginBottom: 26 }}&gt;&#10;            &lt;Box style={{ width: 58, height: 4, background: '#06B6D4' }} /&gt;&#10;            &lt;Text style={{ fontSize: 20, color: '#BFD9F5', letterSpacing: 3 }}&gt;制造业企业 AI 通识培训 · 中级（L2 + L3）&lt;/Text&gt;&#10;        &lt;/Box&gt;&#10;        &lt;Text style={{ fontSize: 84, fontWeight: 'bold', color: '#FFFFFF', lineHeight: 1.12, textShadow: '0 4px 24px rgba(0,0,0,0.35)' }}&gt;AI 场景落地&lt;/Text&gt;&#10;        &lt;Text style={{ fontSize: 30, color: '#DCE9FB', marginTop: 20, fontWeight: '600' }}&gt;从「我会用」到「我能落地」&lt;/Text&gt;&#10;        &lt;Text style={{ fontSize: 20, color: '#A9C4E8', marginTop: 16 }}&gt;找场景 · 做试点 · 拿资源 · 守底线&lt;/Text&gt;&#10;        &lt;Box style={{ flexDirection: 'row', gap: 14, marginTop: 40 }}&gt;&#10;            &lt;Box style={{ padding: '10px 22px', background: 'rgba(6,182,212,0.18)', border: '1px solid rgba(6,182,212,0.6)', borderRadius: 999 }}&gt;&#10;                &lt;Text style={{ fontSize: 17, color: '#7FD9F0', fontWeight: 'bold' }}&gt;8 大模块&lt;/Text&gt;&#10;            &lt;/Box&gt;&#10;            &lt;Box style={{ padding: '10px 22px', background: 'rgba(245,158,11,0.18)', border: '1px solid rgba(245,158,11,0.6)', borderRadius: 999 }}&gt;&#10;                &lt;Text style={{ fontSize: 17, color: '#F8C471', fontWeight: 'bold' }}&gt;24 课时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全程零代码&lt;/Text&gt;&#10;            &lt;/Box&gt;&#10;            &lt;Box style={{ padding: '10px 22px', background: 'rgba(255,255,255,0.10)', border: '1px solid rgba(255,255,255,0.35)', borderRadius: 999 }}&gt;&#10;                &lt;Text style={{ fontSize: 17, color: '#EAF2FC', fontWeight: 'bold' }}&gt;34 页&lt;/Text&gt;&#10;            &lt;/Box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90000"/>
                </a:srgbClr>
              </a:gs>
              <a:gs pos="55000">
                <a:srgbClr val="1E3A8A">
                  <a:alpha val="60000"/>
                </a:srgbClr>
              </a:gs>
              <a:gs pos="100000">
                <a:srgbClr val="1E3A8A">
                  <a:alpha val="20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800100" y="1905000"/>
            <a:ext cx="55245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485900" y="1809750"/>
            <a:ext cx="4467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>企业 AI 通识培训 · 中级（L2 + L3）</a:t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r>
              <a:rPr lang="en-US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r>
              <a:rPr lang="zh-CN" sz="1500" spc="225">
                <a:solidFill>
                  <a:srgbClr val="BFD9F5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00100" y="2286000"/>
            <a:ext cx="10591800" cy="107632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63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AI </a:t>
            </a:r>
            <a:r>
              <a:rPr lang="zh-CN" sz="63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场景落地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3552825"/>
            <a:ext cx="1059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DCE9FB"/>
                </a:solidFill>
                <a:latin typeface="PingFang SC"/>
                <a:ea typeface="PingFang SC"/>
              </a:rPr>
              <a:t>从「我会用」到「我能落地」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4048125"/>
            <a:ext cx="1059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找场景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做试点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拿资源</a:t>
            </a:r>
            <a:r>
              <a:rPr lang="en-US" sz="1500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500">
                <a:solidFill>
                  <a:srgbClr val="A9C4E8"/>
                </a:solidFill>
                <a:latin typeface="PingFang SC"/>
                <a:ea typeface="PingFang SC"/>
              </a:rPr>
              <a:t>守底线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800100" y="4657725"/>
            <a:ext cx="1057275" cy="390525"/>
          </a:xfrm>
          <a:prstGeom prst="roundRect">
            <a:avLst>
              <a:gd name="adj" fmla="val 2436585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009650" y="4752975"/>
            <a:ext cx="638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7FD9F0"/>
                </a:solidFill>
                <a:latin typeface="PingFang SC"/>
                <a:ea typeface="PingFang SC"/>
              </a:rPr>
              <a:t>8 </a:t>
            </a:r>
            <a:r>
              <a:rPr lang="zh-CN" sz="1275" b="1">
                <a:solidFill>
                  <a:srgbClr val="7FD9F0"/>
                </a:solidFill>
                <a:latin typeface="PingFang SC"/>
                <a:ea typeface="PingFang SC"/>
              </a:rPr>
              <a:t>大模块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1990725" y="4657725"/>
            <a:ext cx="1000125" cy="390525"/>
          </a:xfrm>
          <a:prstGeom prst="roundRect">
            <a:avLst>
              <a:gd name="adj" fmla="val 2436585"/>
            </a:avLst>
          </a:prstGeom>
          <a:solidFill>
            <a:srgbClr val="F59E0B">
              <a:alpha val="18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200275" y="475297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8C471"/>
                </a:solidFill>
                <a:latin typeface="PingFang SC"/>
                <a:ea typeface="PingFang SC"/>
              </a:rPr>
              <a:t>24 </a:t>
            </a:r>
            <a:r>
              <a:rPr lang="zh-CN" sz="1275" b="1">
                <a:solidFill>
                  <a:srgbClr val="F8C471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3124200" y="4657725"/>
            <a:ext cx="1228725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333750" y="4752975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全程零代码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4486275" y="4657725"/>
            <a:ext cx="838200" cy="390525"/>
          </a:xfrm>
          <a:prstGeom prst="roundRect">
            <a:avLst>
              <a:gd name="adj" fmla="val 2436585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695825" y="4752975"/>
            <a:ext cx="419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C"/>
                </a:solidFill>
                <a:latin typeface="PingFang SC"/>
                <a:ea typeface="PingFang SC"/>
              </a:rPr>
              <a:t>34 </a:t>
            </a:r>
            <a:r>
              <a:rPr lang="zh-CN" sz="1275" b="1">
                <a:solidFill>
                  <a:srgbClr val="EAF2FC"/>
                </a:solidFill>
                <a:latin typeface="PingFang SC"/>
                <a:ea typeface="PingFang SC"/>
              </a:rPr>
              <a:t>页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6" name="" descr="const items = [&#10;    { no: '01', t: '机会地图', d: '279 号指挥棒 · 五种补位 · 机会画布六维评分' },&#10;    { no: '02', t: '预测性维护', d: '维护四阶 · 时序三看 · 三段阈值 · OEE' },&#10;    { no: '03', t: '视觉质检', d: '分类 / 检测 / 异常检测 · 96% 铁案 · 上线四控制' },&#10;    { no: '04', t: '生产与供应链', d: '三钟不可互替 · 均值陷阱 · EBQ 与看板' },&#10;    { no: '05', t: '知识 RAG 与工业智能体', d: '五步知识库 · 接地三要件 · 智能体最小形态' },&#10;    { no: '06', t: '落地与申报', d: '数据就绪门槛 · ROI · 补贴四通道 · 申报书' },&#10;    { no: '07', t: '负责任 AI', d: 'NIST 四步 · 六大失效模式 · 人在回路' },&#10;    { no: '08', t: '结业工作坊', d: '四选一 · 六件套 · 质询三把刀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课程目录&lt;/Text&gt;&#10;            &lt;Text style={{ fontSize: 17, color: '#64748B', marginTop: 4 }}&gt;八个模块，走通「找场景 → 做试点 → 拿资源 → 守底线」&lt;/Text&gt;&#10;        &lt;/Box&gt;&#10;    &lt;/Box&gt;&#10;    &lt;Box style={{ flex: 1, flexDirection: 'row', gap: 28, marginTop: 18 }}&gt;&#10;        &lt;Box style={{ width: 250, background: '#1E3A8A', borderRadius: 18, padding: 30, flexDirection: 'column', justifyContent: 'center' }}&gt;&#10;            &lt;Text style={{ fontSize: 20, color: '#7FD9F0', letterSpacing: 3, marginBottom: 14 }}&gt;CONTENTS&lt;/Text&gt;&#10;            &lt;Text style={{ fontSize: 60, fontWeight: 'bold', color: '#FFFFFF', fontFamily: 'Space Grotesk, Inter' }}&gt;8&lt;/Text&gt;&#10;            &lt;Text style={{ fontSize: 22, fontWeight: 'bold', color: '#DCE9FB', marginTop: 8 }}&gt;个模块 · 24 课时&lt;/Text&gt;&#10;            &lt;Box style={{ width: 54, height: 4, background: '#F59E0B', marginTop: 22 }} /&gt;&#10;            &lt;Text style={{ fontSize: 15, color: '#A9C4E8', marginTop: 18, lineHeight: 1.5 }}&gt;每个模块一个可带走的方法或工具，最后一个模块做成你自己的项目。&lt;/Text&gt;&#10;        &lt;/Box&gt;&#10;        &lt;Box style={{ flex: 1, flexDirection: 'column', justifyContent: 'space-between' }}&gt;&#10;            {items.map((it, i) =&gt; (&#10;                &lt;Box key={i} style={{ flexDirection: 'row', alignItems: 'center', gap: 18, padding: '9px 20px', background: i % 2 === 0 ? '#FFFFFF' : '#EDF3FB', borderRadius: 12, boxShadow: '0 2px 10px rgba(30,58,138,0.05)' }}&gt;&#10;                    &lt;Text style={{ fontSize: 28, fontWeight: 'bold', color: '#06B6D4', fontFamily: 'Space Grotesk, Inter', width: 56 }}&gt;{it.no}&lt;/Text&gt;&#10;                    &lt;Box style={{ flex: 1, flexDirection: 'column' }}&gt;&#10;                        &lt;Text style={{ fontSize: 19, fontWeight: 'bold', color: '#1E3A8A' }}&gt;{it.t}&lt;/Text&gt;&#10;                        &lt;Text style={{ fontSize: 13, color: '#64748B', marginTop: 2 }}&gt;{it.d}&lt;/Text&gt;&#10;                    &lt;/Box&gt;&#10;                    &lt;FAIcon name=&quot;arrow-right&quot; style={{ fill: '#06B6D4', width: 18, height: 18 }} /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0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10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课程目录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10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八个模块，走通「找场景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做试点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拿资源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守底线」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685800" y="1314450"/>
            <a:ext cx="2381250" cy="4857750"/>
          </a:xfrm>
          <a:prstGeom prst="roundRect">
            <a:avLst>
              <a:gd name="adj" fmla="val 72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971550" y="2457450"/>
            <a:ext cx="1809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225">
                <a:solidFill>
                  <a:srgbClr val="7FD9F0"/>
                </a:solidFill>
                <a:latin typeface="PingFang SC"/>
                <a:ea typeface="PingFang SC"/>
              </a:rPr>
              <a:t>CONTENTS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971550" y="2819400"/>
            <a:ext cx="180975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8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971550" y="3581400"/>
            <a:ext cx="1809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个模块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24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971550" y="4048125"/>
            <a:ext cx="5143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971550" y="4257675"/>
            <a:ext cx="18097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每个模块一个可带走的方法或工具，最后一个模块做成你自己的项目。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333750" y="131445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3524250" y="14382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229100" y="140017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机会地图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229100" y="163830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"人工智能+"指挥棒 · 五种补位 · 机会画布六维评分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pic>
        <p:nvPicPr>
          <p:cNvPr id="3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1514475"/>
            <a:ext cx="171450" cy="171450"/>
          </a:xfrm>
          <a:prstGeom prst="rect">
            <a:avLst/>
          </a:prstGeom>
          <a:ln/>
        </p:spPr>
      </p:pic>
      <p:sp>
        <p:nvSpPr>
          <p:cNvPr id="322" name=""/>
          <p:cNvSpPr/>
          <p:nvPr/>
        </p:nvSpPr>
        <p:spPr>
          <a:xfrm rot="0" flipH="0" flipV="0">
            <a:off x="3333750" y="192405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524250" y="204787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4229100" y="200977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预测预警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229100" y="224790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预测四阶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时序三看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三段阈值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运营基线</a:t>
            </a:r>
            <a:endParaRPr/>
          </a:p>
        </p:txBody>
      </p:sp>
      <p:pic>
        <p:nvPicPr>
          <p:cNvPr id="3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124075"/>
            <a:ext cx="171450" cy="171450"/>
          </a:xfrm>
          <a:prstGeom prst="rect">
            <a:avLst/>
          </a:prstGeom>
          <a:ln/>
        </p:spPr>
      </p:pic>
      <p:sp>
        <p:nvSpPr>
          <p:cNvPr id="327" name=""/>
          <p:cNvSpPr/>
          <p:nvPr/>
        </p:nvSpPr>
        <p:spPr>
          <a:xfrm rot="0" flipH="0" flipV="0">
            <a:off x="3333750" y="254317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524250" y="26670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229100" y="262890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智能审核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229100" y="286702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分类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检测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异常检测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96%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铁案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上线四控制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2743200"/>
            <a:ext cx="171450" cy="171450"/>
          </a:xfrm>
          <a:prstGeom prst="rect">
            <a:avLst/>
          </a:prstGeom>
          <a:ln/>
        </p:spPr>
      </p:pic>
      <p:sp>
        <p:nvSpPr>
          <p:cNvPr id="332" name=""/>
          <p:cNvSpPr/>
          <p:nvPr/>
        </p:nvSpPr>
        <p:spPr>
          <a:xfrm rot="0" flipH="0" flipV="0">
            <a:off x="3333750" y="315277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524250" y="327660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4229100" y="323850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流程与资源调度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4229100" y="347662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三钟不可互替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均值陷阱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EBQ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与看板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352800"/>
            <a:ext cx="171450" cy="17145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3333750" y="377190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3524250" y="38957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229100" y="385762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知识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RAG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与行业智能体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229100" y="409575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五步知识库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接地三要件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智能体最小形态</a:t>
            </a:r>
            <a:endParaRPr/>
          </a:p>
        </p:txBody>
      </p:sp>
      <p:pic>
        <p:nvPicPr>
          <p:cNvPr id="3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3971925"/>
            <a:ext cx="171450" cy="171450"/>
          </a:xfrm>
          <a:prstGeom prst="rect">
            <a:avLst/>
          </a:prstGeom>
          <a:ln/>
        </p:spPr>
      </p:pic>
      <p:sp>
        <p:nvSpPr>
          <p:cNvPr id="342" name=""/>
          <p:cNvSpPr/>
          <p:nvPr/>
        </p:nvSpPr>
        <p:spPr>
          <a:xfrm rot="0" flipH="0" flipV="0">
            <a:off x="3333750" y="4381500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3524250" y="4505325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229100" y="4467225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落地与申报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229100" y="4705350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数据就绪门槛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ROI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补贴四通道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申报书</a:t>
            </a:r>
            <a:endParaRPr/>
          </a:p>
        </p:txBody>
      </p:sp>
      <p:pic>
        <p:nvPicPr>
          <p:cNvPr id="3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4581525"/>
            <a:ext cx="171450" cy="171450"/>
          </a:xfrm>
          <a:prstGeom prst="rect">
            <a:avLst/>
          </a:prstGeom>
          <a:ln/>
        </p:spPr>
      </p:pic>
      <p:sp>
        <p:nvSpPr>
          <p:cNvPr id="347" name=""/>
          <p:cNvSpPr/>
          <p:nvPr/>
        </p:nvSpPr>
        <p:spPr>
          <a:xfrm rot="0" flipH="0" flipV="0">
            <a:off x="3333750" y="500062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FFFFFF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3524250" y="51244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229100" y="508635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负责任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229100" y="532447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NIST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四步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六大失效模式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人在回路</a:t>
            </a:r>
            <a:endParaRPr/>
          </a:p>
        </p:txBody>
      </p:sp>
      <p:pic>
        <p:nvPicPr>
          <p:cNvPr id="3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200650"/>
            <a:ext cx="171450" cy="171450"/>
          </a:xfrm>
          <a:prstGeom prst="rect">
            <a:avLst/>
          </a:prstGeom>
          <a:ln/>
        </p:spPr>
      </p:pic>
      <p:sp>
        <p:nvSpPr>
          <p:cNvPr id="352" name=""/>
          <p:cNvSpPr/>
          <p:nvPr/>
        </p:nvSpPr>
        <p:spPr>
          <a:xfrm rot="0" flipH="0" flipV="0">
            <a:off x="3333750" y="5610225"/>
            <a:ext cx="8172450" cy="561975"/>
          </a:xfrm>
          <a:prstGeom prst="roundRect">
            <a:avLst>
              <a:gd name="adj" fmla="val 20339"/>
            </a:avLst>
          </a:prstGeom>
          <a:solidFill>
            <a:srgbClr val="EDF3FB"/>
          </a:solidFill>
          <a:ln/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524250" y="5734050"/>
            <a:ext cx="533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06B6D4"/>
                </a:solidFill>
                <a:latin typeface="Space Grotesk"/>
                <a:ea typeface="Space Grotesk"/>
              </a:rPr>
              <a:t>08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4229100" y="5695950"/>
            <a:ext cx="6743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结业工作坊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229100" y="5934075"/>
            <a:ext cx="6743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四选一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六件套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质询三把刀</a:t>
            </a:r>
            <a:endParaRPr/>
          </a:p>
        </p:txBody>
      </p:sp>
      <p:pic>
        <p:nvPicPr>
          <p:cNvPr id="3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44250" y="5810250"/>
            <a:ext cx="171450" cy="171450"/>
          </a:xfrm>
          <a:prstGeom prst="rect">
            <a:avLst/>
          </a:prstGeom>
          <a:ln/>
        </p:spPr>
      </p:pic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02 / 34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8" name="" descr="const diffs = [&#10;    { l: '建 AI 认知', r: '找对场景', note: '从「知道有 AI」到「机会画布打分」', icon: 'search' },&#10;    { l: '岗位会用 AI', r: '做成试点', note: '从「会提问」到「六件套落地」', icon: 'rocket' },&#10;    { l: '自查与改进', r: '写申报书', note: '从「个人提升」到「项目立项 + 补贴」', icon: 'file-signature' },&#10;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这门课解决什么问题&lt;/Text&gt;&#10;            &lt;Text style={{ fontSize: 16, color: '#64748B', marginTop: 4 }}&gt;L2 + L3 落地层 —— 会聊天的人不少，能落地的人稀缺&lt;/Text&gt;&#10;        &lt;/Box&gt;&#10;    &lt;/Box&gt;&#10;    &lt;Box style={{ flex: 1, flexDirection: 'row', gap: 24, marginTop: 14 }}&gt;&#10;        &lt;Box style={{ width: 330, flexDirection: 'column' }}&gt;&#10;            &lt;Box style={{ background: '#1E3A8A', borderRadius: 16, padding: 20 }}&gt;&#10;                &lt;Text style={{ fontSize: 15, color: '#7FD9F0', letterSpacing: 2, marginBottom: 8 }}&gt;学完初级的人，常卡在三步&lt;/Text&gt;&#10;                &lt;Text style={{ fontSize: 17, color: '#FFFFFF', lineHeight: 1.65 }}&gt;① 会聊天，不会找场景&lt;br /&gt;② 懂原理，不敢动手做试点&lt;br /&gt;③ 有想法，报不了项目&lt;/Text&gt;&#10;            &lt;/Box&gt;&#10;            &lt;Box style={{ background: '#FFFFFF', borderRadius: 14, padding: 16, marginTop: 14, border: '1px solid #E2E8F0' }}&gt;&#10;                &lt;Text style={{ fontSize: 15, color: '#64748B', marginBottom: 6, fontWeight: 'bold' }}&gt;对象与前置&lt;/Text&gt;&#10;                &lt;Text style={{ fontSize: 14, color: '#43566b', lineHeight: 1.6 }}&gt;骨干 / 班组长 / 工程师&lt;br /&gt;前置：初级结业（会用 AI + RAG 概念）&lt;/Text&gt;&#10;            &lt;/Box&gt;&#10;            &lt;Box style={{ background: '#FFFFFF', borderRadius: 14, padding: 16, marginTop: 12, border: '1px solid #E2E8F0' }}&gt;&#10;                &lt;Text style={{ fontSize: 15, color: '#64748B', marginBottom: 6, fontWeight: 'bold' }}&gt;班型&lt;/Text&gt;&#10;                &lt;Text style={{ fontSize: 14, color: '#43566b', lineHeight: 1.6 }}&gt;标准 24h · 3 天（推荐）&lt;br /&gt;紧凑 12h / 岗位专精 6h / 投标 2h&lt;/Text&gt;&#10;            &lt;/Box&gt;&#10;        &lt;/Box&gt;&#10;        &lt;Box style={{ flex: 1, flexDirection: 'column', gap: 12 }}&gt;&#10;            &lt;Text style={{ fontSize: 17, fontWeight: 'bold', color: '#1E3A8A' }}&gt;与初级的三个跃迁&lt;/Text&gt;&#10;            {diffs.map((d, i) =&gt; (&#10;                &lt;Box key={i} style={{ flex: 1, background: '#FFFFFF', borderRadius: 14, padding: '14px 22px', border: '1px solid #E2E8F0', flexDirection: 'row', alignItems: 'center', gap: 16, boxShadow: '0 4px 16px rgba(30,58,138,0.06)' }}&gt;&#10;                    &lt;Box style={{ width: 48, height: 48, borderRadius: 12, background: '#E0F7FA', justifyContent: 'center', alignItems: 'center' }}&gt;&#10;                        &lt;FAIcon name={d.icon} style={{ fill: '#0891B2', width: 24, height: 24 }} /&gt;&#10;                    &lt;/Box&gt;&#10;                    &lt;Box style={{ width: 150 }}&gt;&#10;                        &lt;Text style={{ fontSize: 13, color: '#64748B' }}&gt;初级&lt;/Text&gt;&#10;                        &lt;Text style={{ fontSize: 17, fontWeight: 'bold', color: '#64748B', marginTop: 2 }}&gt;{d.l}&lt;/Text&gt;&#10;                    &lt;/Box&gt;&#10;                    &lt;FAIcon name=&quot;arrow-right&quot; style={{ fill: '#F59E0B', width: 22, height: 22 }} /&gt;&#10;                    &lt;Box style={{ flex: 1 }}&gt;&#10;                        &lt;Text style={{ fontSize: 13, color: '#0891B2', fontWeight: 'bold' }}&gt;中级&lt;/Text&gt;&#10;                        &lt;Text style={{ fontSize: 20, fontWeight: 'bold', color: '#1E3A8A', marginTop: 2 }}&gt;{d.r}&lt;/Text&gt;&#10;                        &lt;Text style={{ fontSize: 13, color: '#64748B', marginTop: 3 }}&gt;{d.note}&lt;/Text&gt;&#10;                    &lt;/Box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0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62375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这门课解决什么问题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3762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L2 + L3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落地层</a:t>
            </a:r>
            <a:r>
              <a:rPr lang="en-US" sz="120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会聊天的人不少，能落地的人稀缺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685800" y="1238250"/>
            <a:ext cx="3143250" cy="1590675"/>
          </a:xfrm>
          <a:prstGeom prst="roundRect">
            <a:avLst>
              <a:gd name="adj" fmla="val 9581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876300" y="14287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学完初级的人，常卡在三步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876300" y="1676400"/>
            <a:ext cx="2762250" cy="962025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①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会聊天，不会找场景</a:t>
            </a:r>
            <a:endParaRPr/>
          </a:p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②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懂原理，不敢动手做试点</a:t>
            </a:r>
            <a:endParaRPr/>
          </a:p>
          <a:p>
            <a:pPr>
              <a:lnSpc>
                <a:spcPct val="165000"/>
              </a:lnSpc>
            </a:pP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③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有想法，报不了项目</a:t>
            </a:r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685800" y="2962275"/>
            <a:ext cx="314325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838200" y="3114675"/>
            <a:ext cx="2838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对象与前置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838200" y="3343275"/>
            <a:ext cx="28384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骨干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组长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工程师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前置：初级结业（会用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+ RAG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概念）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685800" y="4124325"/>
            <a:ext cx="314325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838200" y="4276725"/>
            <a:ext cx="2838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班型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838200" y="4505325"/>
            <a:ext cx="2838450" cy="5143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标准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24h · 3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天（推荐）</a:t>
            </a:r>
            <a:endParaRPr/>
          </a:p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紧凑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12h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岗位专精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6h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投标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2h</a:t>
            </a:r>
            <a:endParaRPr/>
          </a:p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4057650" y="1238250"/>
            <a:ext cx="7448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与初级的三个跃迁</a:t>
            </a:r>
            <a:endParaRPr/>
          </a:p>
        </p:txBody>
      </p:sp>
      <p:sp>
        <p:nvSpPr>
          <p:cNvPr id="733" name=""/>
          <p:cNvSpPr/>
          <p:nvPr/>
        </p:nvSpPr>
        <p:spPr>
          <a:xfrm rot="0" flipH="0" flipV="0">
            <a:off x="4057650" y="1552575"/>
            <a:ext cx="7448550" cy="14668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4" name=""/>
          <p:cNvSpPr/>
          <p:nvPr/>
        </p:nvSpPr>
        <p:spPr>
          <a:xfrm rot="0" flipH="0" flipV="0">
            <a:off x="4267200" y="20574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81500" y="2171700"/>
            <a:ext cx="228600" cy="228600"/>
          </a:xfrm>
          <a:prstGeom prst="rect">
            <a:avLst/>
          </a:prstGeom>
          <a:ln/>
        </p:spPr>
      </p:pic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4876800" y="2105025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4876800" y="2276475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建</a:t>
            </a:r>
            <a:r>
              <a:rPr lang="en-US" sz="1275" b="1">
                <a:solidFill>
                  <a:srgbClr val="64748B"/>
                </a:solidFill>
                <a:latin typeface="PingFang SC"/>
                <a:ea typeface="PingFang SC"/>
              </a:rPr>
              <a:t> AI </a:t>
            </a: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认知</a:t>
            </a:r>
            <a:endParaRPr/>
          </a:p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2181225"/>
            <a:ext cx="209550" cy="20955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6819900" y="200025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6819900" y="217170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找对场景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819900" y="242887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从「知道有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」到「机会画布打分」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4057650" y="3133725"/>
            <a:ext cx="7448550" cy="1457325"/>
          </a:xfrm>
          <a:prstGeom prst="roundRect">
            <a:avLst>
              <a:gd name="adj" fmla="val 91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4267200" y="36385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381500" y="3752850"/>
            <a:ext cx="228600" cy="228600"/>
          </a:xfrm>
          <a:prstGeom prst="rect">
            <a:avLst/>
          </a:prstGeom>
          <a:ln/>
        </p:spPr>
      </p:pic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876800" y="36766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76800" y="384810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岗位会用</a:t>
            </a:r>
            <a:r>
              <a:rPr lang="en-US" sz="1275" b="1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pic>
        <p:nvPicPr>
          <p:cNvPr id="7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3762375"/>
            <a:ext cx="209550" cy="209550"/>
          </a:xfrm>
          <a:prstGeom prst="rect">
            <a:avLst/>
          </a:prstGeom>
          <a:ln/>
        </p:spPr>
      </p:pic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6819900" y="357187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6819900" y="3743325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做成试点</a:t>
            </a:r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6819900" y="400050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从「会提问」到「六件套落地」</a:t>
            </a:r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4057650" y="4705350"/>
            <a:ext cx="7448550" cy="14668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4267200" y="5210175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381500" y="5324475"/>
            <a:ext cx="228600" cy="228600"/>
          </a:xfrm>
          <a:prstGeom prst="rect">
            <a:avLst/>
          </a:prstGeom>
          <a:ln/>
        </p:spPr>
      </p:pic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876800" y="525780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初级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876800" y="5429250"/>
            <a:ext cx="1428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64748B"/>
                </a:solidFill>
                <a:latin typeface="PingFang SC"/>
                <a:ea typeface="PingFang SC"/>
              </a:rPr>
              <a:t>自查与改进</a:t>
            </a:r>
            <a:endParaRPr/>
          </a:p>
        </p:txBody>
      </p:sp>
      <p:pic>
        <p:nvPicPr>
          <p:cNvPr id="7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57950" y="5334000"/>
            <a:ext cx="209550" cy="209550"/>
          </a:xfrm>
          <a:prstGeom prst="rect">
            <a:avLst/>
          </a:prstGeom>
          <a:ln/>
        </p:spPr>
      </p:pic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6819900" y="51530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0891B2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19900" y="5324475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写申报书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6819900" y="5581650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从「个人提升」到「项目立项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补贴」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03 / 34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1&lt;/Text&gt;&#10;        &lt;Text style={{ fontSize: 18, color: '#7FD9F0', letterSpacing: 5, marginTop: 6 }}&gt;M1 · 3 课时&lt;/Text&gt;&#10;        &lt;Text style={{ fontSize: 54, fontWeight: 'bold', color: '#FFFFFF', marginTop: 20, lineHeight: 1.18 }}&gt;机会地图&lt;br /&gt;先找对问题，再谈 AI&lt;/Text&gt;&#10;        &lt;Box style={{ width: 84, height: 4, background: '#06B6D4', marginTop: 30 }} /&gt;&#10;        &lt;Text style={{ fontSize: 19, color: '#A9C4E8', marginTop: 22, lineHeight: 1.6 }}&gt;政策指挥棒 · 技术演进四阶 · 五种补位 · DOWNTIME 八大浪费&lt;br /&gt;用机会画布六维打分，把「感觉有价值」变成「证据有价值」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1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91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M1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机会地图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先找对问题，再谈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政策指挥棒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技术演进四阶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五种补位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低效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八大浪费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用机会画布六维打分，把「感觉有价值」变成「证据有价值」。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4" name="" descr="const reqs = [&#10;    { icon: 'bullseye', t: '场景牵引，以用促研', d: 'AI 从场景出发，不从技术出发；用起来，才能带出真需求。' },&#10;    { icon: 'robot', t: '工业智能体培育', d: '2027 年前培育约 1000 个工业智能体、500 个应用场景。' },&#10;    { icon: 'industry', t: '标杆试点培育', d: '培育约 1000 家标杆试点企业，可申报、可复制、可推广。' },&#10;    { icon: 'shield-alt', t: '安全可信', d: '数据与算法分类分级管理，安全可信前提下部署推广。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政策指挥棒：279 号文四类要求&lt;/Text&gt;&#10;            &lt;Text style={{ fontSize: 17, color: '#64748B', marginTop: 4 }}&gt;国家把「怎么干」写清楚了 —— 你的立项书就该照着写&lt;/Text&gt;&#10;        &lt;/Box&gt;&#10;    &lt;/Box&gt;&#10;    &lt;Box style={{ flex: 1, flexDirection: 'row', gap: 20, marginTop: 18 }}&gt;&#10;        {reqs.map((r, i) =&gt; (&#10;            &lt;Box key={i} style={{ flex: 1, background: '#FFFFFF', borderRadius: 16, padding: 24, border: '1px solid #E2E8F0', boxShadow: '0 4px 16px rgba(30,58,138,0.06)', flexDirection: 'column' }}&gt;&#10;                &lt;Box style={{ width: 62, height: 62, borderRadius: 16, background: i === 2 ? '#FEEFE0' : '#E0F7FA', justifyContent: 'center', alignItems: 'center', marginBottom: 16 }}&gt;&#10;                    &lt;FAIcon name={r.icon} style={{ fill: i === 2 ? '#F59E0B' : '#0891B2', width: 32, height: 32 }} /&gt;&#10;                &lt;/Box&gt;&#10;                &lt;Text style={{ fontSize: 21, fontWeight: 'bold', color: '#1E3A8A', lineHeight: 1.3, marginBottom: 10 }}&gt;{r.t}&lt;/Text&gt;&#10;                &lt;Text style={{ fontSize: 15, color: '#43566b', lineHeight: 1.65, flex: 1 }}&gt;{r.d}&lt;/Text&gt;&#10;            &lt;/Box&gt;&#10;        ))}&#10;    &lt;/Box&gt;&#10;    &lt;Box style={{ marginTop: 18, padding: '14px 24px', background: '#1E3A8A', borderRadius: 12, flexDirection: 'row', alignItems: 'center', gap: 14 }}&gt;&#10;        &lt;FAIcon name=&quot;flag&quot; style={{ fill: '#F59E0B', width: 22, height: 22 }} /&gt;&#10;        &lt;Text style={{ fontSize: 19, fontWeight: 'bold', color: '#FFFFFF' }}&gt;政策指挥棒 = 你的项目立项书 —— 用政策的语言，写你厂里的场景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5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92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5624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政策指挥棒："人工智能+"四类要求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/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562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国家把「怎么干」写清楚了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你的立项书就该照着写</a:t>
            </a:r>
            <a:endParaRPr/>
          </a:p>
        </p:txBody>
      </p:sp>
      <p:sp>
        <p:nvSpPr>
          <p:cNvPr id="929" name=""/>
          <p:cNvSpPr/>
          <p:nvPr/>
        </p:nvSpPr>
        <p:spPr>
          <a:xfrm rot="0" flipH="0" flipV="0">
            <a:off x="685800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30" name=""/>
          <p:cNvSpPr/>
          <p:nvPr/>
        </p:nvSpPr>
        <p:spPr>
          <a:xfrm rot="0" flipH="0" flipV="0">
            <a:off x="914400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57275" y="1685925"/>
            <a:ext cx="304800" cy="304800"/>
          </a:xfrm>
          <a:prstGeom prst="rect">
            <a:avLst/>
          </a:prstGeom>
          <a:ln/>
        </p:spPr>
      </p:pic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914400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场景牵引，以用促研</a:t>
            </a:r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914400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从场景出发，不从技术出发；用起来，才能带出真需求。</a:t>
            </a:r>
            <a:endParaRPr/>
          </a:p>
        </p:txBody>
      </p:sp>
      <p:sp>
        <p:nvSpPr>
          <p:cNvPr id="934" name=""/>
          <p:cNvSpPr/>
          <p:nvPr/>
        </p:nvSpPr>
        <p:spPr>
          <a:xfrm rot="0" flipH="0" flipV="0">
            <a:off x="3438525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35" name=""/>
          <p:cNvSpPr/>
          <p:nvPr/>
        </p:nvSpPr>
        <p:spPr>
          <a:xfrm rot="0" flipH="0" flipV="0">
            <a:off x="3667125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0" y="1685925"/>
            <a:ext cx="304800" cy="304800"/>
          </a:xfrm>
          <a:prstGeom prst="rect">
            <a:avLst/>
          </a:prstGeom>
          <a:ln/>
        </p:spPr>
      </p:pic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3667125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行业智能体培育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3667125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2027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年前培育约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1000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个行业智能体、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500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个应用场景。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6191250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40" name=""/>
          <p:cNvSpPr/>
          <p:nvPr/>
        </p:nvSpPr>
        <p:spPr>
          <a:xfrm rot="0" flipH="0" flipV="0">
            <a:off x="6419850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62725" y="1685925"/>
            <a:ext cx="304800" cy="3048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6419850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标杆试点培育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6419850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培育约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1000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家标杆试点企业，可申报、可复制、可推广。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943975" y="1314450"/>
            <a:ext cx="2562225" cy="4181475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45" name=""/>
          <p:cNvSpPr/>
          <p:nvPr/>
        </p:nvSpPr>
        <p:spPr>
          <a:xfrm rot="0" flipH="0" flipV="0">
            <a:off x="9172575" y="1543050"/>
            <a:ext cx="590550" cy="590550"/>
          </a:xfrm>
          <a:prstGeom prst="roundRect">
            <a:avLst>
              <a:gd name="adj" fmla="val 25806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15450" y="1685925"/>
            <a:ext cx="304800" cy="304800"/>
          </a:xfrm>
          <a:prstGeom prst="rect">
            <a:avLst/>
          </a:prstGeom>
          <a:ln/>
        </p:spPr>
      </p:pic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9172575" y="2286000"/>
            <a:ext cx="2105025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安全可信</a:t>
            </a:r>
            <a:endParaRPr/>
          </a:p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9172575" y="2695575"/>
            <a:ext cx="2105025" cy="2571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数据与算法分类分级管理，安全可信前提下部署推广。</a:t>
            </a:r>
            <a:endParaRPr/>
          </a:p>
        </p:txBody>
      </p:sp>
      <p:sp>
        <p:nvSpPr>
          <p:cNvPr id="949" name=""/>
          <p:cNvSpPr/>
          <p:nvPr/>
        </p:nvSpPr>
        <p:spPr>
          <a:xfrm rot="0" flipH="0" flipV="0">
            <a:off x="685800" y="5667375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5800725"/>
            <a:ext cx="5600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政策指挥棒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=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你的项目立项书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用政策的语言，写你厂里的场景。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05 / 34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54" name="" descr="const stages = ['统计分析', '机器学习', '深度学习', '大模型'];&#10;const fills = [&#10;    { icon: 'eye', t: '感知', d: '看见 / 听见：视觉质检、声纹监测' },&#10;    { icon: 'chart-line', t: '预测', d: '预判未来：设备寿命、需求波动' },&#10;    { icon: 'brain', t: '推荐', d: '给选项：工艺参数、排产方案' },&#10;    { icon: 'pencil-alt', t: '生成', d: '出内容：SOP 初稿、工单总结' },&#10;    { icon: 'sync-alt', t: '学习', d: '越用越准：反馈闭环迭代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找场景的两个坐标&lt;/Text&gt;&#10;            &lt;Text style={{ fontSize: 17, color: '#64748B', marginTop: 4 }}&gt;技术走到哪一步，AI 能在你厂里补什么位&lt;/Text&gt;&#10;        &lt;/Box&gt;&#10;    &lt;/Box&gt;&#10;    &lt;Box style={{ flexDirection: 'row', alignItems: 'center', gap: 8, marginTop: 14 }}&gt;&#10;        &lt;Text style={{ fontSize: 16, fontWeight: 'bold', color: '#64748B', marginRight: 8 }}&gt;技术演进四阶&lt;/Text&gt;&#10;        {stages.map((s, i) =&gt; (&#10;            &lt;Box key={i} style={{ flexDirection: 'row', alignItems: 'center', gap: 8 }}&gt;&#10;                &lt;Box style={{ padding: '10px 18px', background: i === 3 ? '#1E3A8A' : '#FFFFFF', borderRadius: 10, border: '1px solid ' + (i === 3 ? '#1E3A8A' : '#E2E8F0') }}&gt;&#10;                    &lt;Text style={{ fontSize: 17, fontWeight: 'bold', color: i === 3 ? '#FFFFFF' : '#1E3A8A' }}&gt;{s}&lt;/Text&gt;&#10;                &lt;/Box&gt;&#10;                {i &lt; stages.length - 1 &amp;&amp; &lt;FAIcon name=&quot;arrow-right&quot; style={{ fill: '#06B6D4', width: 16, height: 16 }} /&gt;}&#10;            &lt;/Box&gt;&#10;        ))}&#10;        &lt;Text style={{ fontSize: 14, color: '#64748B', marginLeft: 10 }}&gt;越靠右越「聪明」，也越贵 —— 不是越新越好&lt;/Text&gt;&#10;    &lt;/Box&gt;&#10;    &lt;Box style={{ flex: 1, flexDirection: 'row', gap: 18, marginTop: 18 }}&gt;&#10;        {fills.map((f, i) =&gt; (&#10;            &lt;Box key={i} style={{ flex: 1, background: '#FFFFFF', borderRadius: 16, padding: '22px 16px', border: '1px solid #E2E8F0', boxShadow: '0 4px 16px rgba(30,58,138,0.06)', flexDirection: 'column', alignItems: 'center' }}&gt;&#10;                &lt;Box style={{ width: 58, height: 58, borderRadius: 14, background: '#E0F7FA', justifyContent: 'center', alignItems: 'center', marginBottom: 12 }}&gt;&#10;                    &lt;FAIcon name={f.icon} style={{ fill: '#0891B2', width: 28, height: 28 }} /&gt;&#10;                &lt;/Box&gt;&#10;                &lt;Text style={{ fontSize: 21, fontWeight: 'bold', color: '#1E3A8A' }}&gt;{f.t}&lt;/Text&gt;&#10;                &lt;Text style={{ fontSize: 14, color: '#43566b', lineHeight: 1.55, marginTop: 8, textAlign: 'center' }}&gt;{f.d}&lt;/Text&gt;&#10;            &lt;/Box&gt;&#10;        ))}&#10;    &lt;/Box&gt;&#10;    &lt;Box style={{ marginTop: 16, padding: '14px 24px', background: '#FEEFE0', borderRadius: 12, flexDirection: 'row', alignItems: 'center', gap: 14 }}&gt;&#10;        &lt;FAIcon name=&quot;lightbulb&quot; style={{ fill: '#F59E0B', width: 22, height: 22 }} /&gt;&#10;        &lt;Text style={{ fontSize: 19, fontWeight: 'bold', color: '#B45309' }}&gt;口诀：用能可靠解决问题的最简方法 —— 别一上来就上大模型，先找最小的可用切入点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95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2952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找场景的两个坐标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2952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技术走到哪一步，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能在你厂里补什么位</a:t>
            </a:r>
            <a:endParaRPr/>
          </a:p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685800" y="138112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4748B"/>
                </a:solidFill>
                <a:latin typeface="PingFang SC"/>
                <a:ea typeface="PingFang SC"/>
              </a:rPr>
              <a:t>技术演进四阶</a:t>
            </a:r>
            <a:endParaRPr/>
          </a:p>
        </p:txBody>
      </p:sp>
      <p:sp>
        <p:nvSpPr>
          <p:cNvPr id="960" name=""/>
          <p:cNvSpPr/>
          <p:nvPr/>
        </p:nvSpPr>
        <p:spPr>
          <a:xfrm rot="0" flipH="0" flipV="0">
            <a:off x="17526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19240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统计分析</a:t>
            </a:r>
            <a:endParaRPr/>
          </a:p>
        </p:txBody>
      </p:sp>
      <p:pic>
        <p:nvPicPr>
          <p:cNvPr id="9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819400" y="1400175"/>
            <a:ext cx="152400" cy="152400"/>
          </a:xfrm>
          <a:prstGeom prst="rect">
            <a:avLst/>
          </a:prstGeom>
          <a:ln/>
        </p:spPr>
      </p:pic>
      <p:sp>
        <p:nvSpPr>
          <p:cNvPr id="963" name=""/>
          <p:cNvSpPr/>
          <p:nvPr/>
        </p:nvSpPr>
        <p:spPr>
          <a:xfrm rot="0" flipH="0" flipV="0">
            <a:off x="30480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32194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机器学习</a:t>
            </a:r>
            <a:endParaRPr/>
          </a:p>
        </p:txBody>
      </p:sp>
      <p:pic>
        <p:nvPicPr>
          <p:cNvPr id="9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14800" y="1400175"/>
            <a:ext cx="152400" cy="152400"/>
          </a:xfrm>
          <a:prstGeom prst="rect">
            <a:avLst/>
          </a:prstGeom>
          <a:ln/>
        </p:spPr>
      </p:pic>
      <p:sp>
        <p:nvSpPr>
          <p:cNvPr id="966" name=""/>
          <p:cNvSpPr/>
          <p:nvPr/>
        </p:nvSpPr>
        <p:spPr>
          <a:xfrm rot="0" flipH="0" flipV="0">
            <a:off x="4343400" y="1276350"/>
            <a:ext cx="990600" cy="390525"/>
          </a:xfrm>
          <a:prstGeom prst="roundRect">
            <a:avLst>
              <a:gd name="adj" fmla="val 243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4514850" y="13716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深度学习</a:t>
            </a:r>
            <a:endParaRPr/>
          </a:p>
        </p:txBody>
      </p:sp>
      <p:pic>
        <p:nvPicPr>
          <p:cNvPr id="9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10200" y="1400175"/>
            <a:ext cx="152400" cy="152400"/>
          </a:xfrm>
          <a:prstGeom prst="rect">
            <a:avLst/>
          </a:prstGeom>
          <a:ln/>
        </p:spPr>
      </p:pic>
      <p:sp>
        <p:nvSpPr>
          <p:cNvPr id="969" name=""/>
          <p:cNvSpPr/>
          <p:nvPr/>
        </p:nvSpPr>
        <p:spPr>
          <a:xfrm rot="0" flipH="0" flipV="0">
            <a:off x="5638800" y="1276350"/>
            <a:ext cx="828675" cy="390525"/>
          </a:xfrm>
          <a:prstGeom prst="roundRect">
            <a:avLst>
              <a:gd name="adj" fmla="val 24390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5810250" y="13716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PingFang SC"/>
                <a:ea typeface="PingFang SC"/>
              </a:rPr>
              <a:t>大模型</a:t>
            </a:r>
            <a:endParaRPr/>
          </a:p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6638925" y="139065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越靠右越「聪明」，也越贵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不是越新越好</a:t>
            </a:r>
            <a:endParaRPr/>
          </a:p>
        </p:txBody>
      </p:sp>
      <p:sp>
        <p:nvSpPr>
          <p:cNvPr id="972" name=""/>
          <p:cNvSpPr/>
          <p:nvPr/>
        </p:nvSpPr>
        <p:spPr>
          <a:xfrm rot="0" flipH="0" flipV="0">
            <a:off x="685800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73" name=""/>
          <p:cNvSpPr/>
          <p:nvPr/>
        </p:nvSpPr>
        <p:spPr>
          <a:xfrm rot="0" flipH="0" flipV="0">
            <a:off x="1428750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571625" y="2190750"/>
            <a:ext cx="266700" cy="266700"/>
          </a:xfrm>
          <a:prstGeom prst="rect">
            <a:avLst/>
          </a:prstGeom>
          <a:ln/>
        </p:spPr>
      </p:pic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1504950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838200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看见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听见：智能审核、声纹监测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2886075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78" name=""/>
          <p:cNvSpPr/>
          <p:nvPr/>
        </p:nvSpPr>
        <p:spPr>
          <a:xfrm rot="0" flipH="0" flipV="0">
            <a:off x="362902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71900" y="2190750"/>
            <a:ext cx="266700" cy="266700"/>
          </a:xfrm>
          <a:prstGeom prst="rect">
            <a:avLst/>
          </a:prstGeom>
          <a:ln/>
        </p:spPr>
      </p:pic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370522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预测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3038475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预判未来：系统寿命、需求波动</a:t>
            </a:r>
            <a:endParaRPr/>
          </a:p>
        </p:txBody>
      </p:sp>
      <p:sp>
        <p:nvSpPr>
          <p:cNvPr id="982" name=""/>
          <p:cNvSpPr/>
          <p:nvPr/>
        </p:nvSpPr>
        <p:spPr>
          <a:xfrm rot="0" flipH="0" flipV="0">
            <a:off x="5086350" y="1838325"/>
            <a:ext cx="2019300" cy="3676650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83" name=""/>
          <p:cNvSpPr/>
          <p:nvPr/>
        </p:nvSpPr>
        <p:spPr>
          <a:xfrm rot="0" flipH="0" flipV="0">
            <a:off x="581977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962650" y="2190750"/>
            <a:ext cx="266700" cy="266700"/>
          </a:xfrm>
          <a:prstGeom prst="rect">
            <a:avLst/>
          </a:prstGeom>
          <a:ln/>
        </p:spPr>
      </p:pic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589597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推荐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5238750" y="3038475"/>
            <a:ext cx="1714500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给选项：工艺参数、排产方案</a:t>
            </a:r>
            <a:endParaRPr/>
          </a:p>
        </p:txBody>
      </p:sp>
      <p:sp>
        <p:nvSpPr>
          <p:cNvPr id="987" name=""/>
          <p:cNvSpPr/>
          <p:nvPr/>
        </p:nvSpPr>
        <p:spPr>
          <a:xfrm rot="0" flipH="0" flipV="0">
            <a:off x="7277100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88" name=""/>
          <p:cNvSpPr/>
          <p:nvPr/>
        </p:nvSpPr>
        <p:spPr>
          <a:xfrm rot="0" flipH="0" flipV="0">
            <a:off x="8020050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8162925" y="2190750"/>
            <a:ext cx="266700" cy="266700"/>
          </a:xfrm>
          <a:prstGeom prst="rect">
            <a:avLst/>
          </a:prstGeom>
          <a:ln/>
        </p:spPr>
      </p:pic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8096250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生成</a:t>
            </a:r>
            <a:endParaRPr/>
          </a:p>
        </p:txBody>
      </p:sp>
      <p:sp>
        <p:nvSpPr>
          <p:cNvPr id="991" name="" descr="{&quot;isTemplate&quot;:true,&quot;type&quot;:&quot;text&quot;}"/>
          <p:cNvSpPr txBox="1"/>
          <p:nvPr/>
        </p:nvSpPr>
        <p:spPr>
          <a:xfrm rot="0" flipH="0" flipV="0">
            <a:off x="7429500" y="3038475"/>
            <a:ext cx="1724025" cy="5048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出内容：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SOP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初稿、处理单总结</a:t>
            </a:r>
            <a:endParaRPr/>
          </a:p>
        </p:txBody>
      </p:sp>
      <p:sp>
        <p:nvSpPr>
          <p:cNvPr id="992" name=""/>
          <p:cNvSpPr/>
          <p:nvPr/>
        </p:nvSpPr>
        <p:spPr>
          <a:xfrm rot="0" flipH="0" flipV="0">
            <a:off x="9477375" y="1838325"/>
            <a:ext cx="2028825" cy="3676650"/>
          </a:xfrm>
          <a:prstGeom prst="roundRect">
            <a:avLst>
              <a:gd name="adj" fmla="val 75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93" name=""/>
          <p:cNvSpPr/>
          <p:nvPr/>
        </p:nvSpPr>
        <p:spPr>
          <a:xfrm rot="0" flipH="0" flipV="0">
            <a:off x="10220325" y="2047875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9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10363200" y="2190750"/>
            <a:ext cx="266700" cy="266700"/>
          </a:xfrm>
          <a:prstGeom prst="rect">
            <a:avLst/>
          </a:prstGeom>
          <a:ln/>
        </p:spPr>
      </p:pic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10296525" y="2714625"/>
            <a:ext cx="4000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学习</a:t>
            </a:r>
            <a:endParaRPr/>
          </a:p>
        </p:txBody>
      </p:sp>
      <p:sp>
        <p:nvSpPr>
          <p:cNvPr id="996" name="" descr="{&quot;isTemplate&quot;:true,&quot;type&quot;:&quot;text&quot;}"/>
          <p:cNvSpPr txBox="1"/>
          <p:nvPr/>
        </p:nvSpPr>
        <p:spPr>
          <a:xfrm rot="0" flipH="0" flipV="0">
            <a:off x="9763125" y="3038475"/>
            <a:ext cx="1466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越用越准：反馈闭环迭代</a:t>
            </a:r>
            <a:endParaRPr/>
          </a:p>
        </p:txBody>
      </p:sp>
      <p:sp>
        <p:nvSpPr>
          <p:cNvPr id="997" name=""/>
          <p:cNvSpPr/>
          <p:nvPr/>
        </p:nvSpPr>
        <p:spPr>
          <a:xfrm rot="0" flipH="0" flipV="0">
            <a:off x="685800" y="5667375"/>
            <a:ext cx="10820400" cy="485775"/>
          </a:xfrm>
          <a:prstGeom prst="roundRect">
            <a:avLst>
              <a:gd name="adj" fmla="val 23529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7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1257300" y="5800725"/>
            <a:ext cx="7181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口诀：用能可靠解决问题的最简方法</a:t>
            </a:r>
            <a:r>
              <a:rPr lang="en-US" sz="1425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425" b="1">
                <a:solidFill>
                  <a:srgbClr val="B45309"/>
                </a:solidFill>
                <a:latin typeface="PingFang SC"/>
                <a:ea typeface="PingFang SC"/>
              </a:rPr>
              <a:t>别一上来就上大模型，先找最小的可用切入点。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06 / 34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002" name="" descr="const dims = [&#10;    { t: '价值', d: '省多少钱 / 减多少风险', s: 5 },&#10;    { t: '可行性', d: '数据与技术是否就绪', s: 4 },&#10;    { t: '风险', d: '出错代价（分数越高越危险）', s: 3 },&#10;    { t: '学习速度', d: '多快能看到第一个结果', s: 4 },&#10;    { t: '可复制性', d: '能扩几条线、几座厂', s: 4 },&#10;    { t: '采纳度', d: '一线愿不愿意真用', s: 5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场景从哪来 + 机会画布六维&lt;/Text&gt;&#10;            &lt;Text style={{ fontSize: 17, color: '#64748B', marginTop: 4 }}&gt;先扫 DOWNTIME 八大浪费找候选，再用六维打分定优先级&lt;/Text&gt;&#10;        &lt;/Box&gt;&#10;    &lt;/Box&gt;&#10;    &lt;Box style={{ flex: 1, flexDirection: 'row', gap: 26, marginTop: 14 }}&gt;&#10;        &lt;Box style={{ width: 400, flexDirection: 'column' }}&gt;&#10;            &lt;Text style={{ fontSize: 18, fontWeight: 'bold', color: '#1E3A8A', marginBottom: 10 }}&gt;候选清单：DOWNTIME 八大浪费&lt;/Text&gt;&#10;            &lt;Box style={{ flex: 1, flexDirection: 'column', gap: 8 }}&gt;&#10;                {[&#10;                    ['D', '等待 —— 人等设备 / 设备等料'],&#10;                    ['O', '过量生产 —— 做得比需要的多'],&#10;                    ['W', '在制品积压 —— 线上堆着一堆'],&#10;                    ['N', '人才未利用 —— 经验没被听见'],&#10;                    ['T', '搬运 —— 料与货反复倒腾'],&#10;                    ['I', '库存 —— 仓里压着现金'],&#10;                    ['M', '多余动作 —— 重复找、重复录'],&#10;                    ['E', '过度加工 —— 精度做得过头'],&#10;                ].map((w, i) =&gt; (&#10;                    &lt;Box key={i} style={{ flexDirection: 'row', alignItems: 'center', gap: 12, padding: '7px 14px', background: '#FFFFFF', borderRadius: 10, border: '1px solid #E2E8F0' }}&gt;&#10;                        &lt;Text style={{ fontSize: 17, fontWeight: 'bold', color: '#06B6D4', fontFamily: 'Space Grotesk, Inter', width: 24 }}&gt;{w[0]}&lt;/Text&gt;&#10;                        &lt;Text style={{ fontSize: 15, color: '#43566b' }}&gt;{w[1]}&lt;/Text&gt;&#10;                    &lt;/Box&gt;&#10;                ))}&#10;            &lt;/Box&gt;&#10;            &lt;Box style={{ marginTop: 12, padding: '12px 16px', background: '#FFFFFF', borderRadius: 10, border: '1px dashed #06B6D4' }}&gt;&#10;                &lt;Text style={{ fontSize: 15, color: '#0891B2', lineHeight: 1.6 }}&gt;每条浪费问一句：&lt;span style={{ fontWeight: 'bold' }}&gt;这里 AI 能补哪个位？&lt;/span&gt;（感知 / 预测 / 推荐 / 生成 / 学习）&lt;/Text&gt;&#10;            &lt;/Box&gt;&#10;        &lt;/Box&gt;&#10;        &lt;Box style={{ flex: 1, background: '#FFFFFF', borderRadius: 16, padding: '22px 26px', border: '1px solid #E2E8F0', boxShadow: '0 4px 16px rgba(30,58,138,0.06)', flexDirection: 'column' }}&gt;&#10;            &lt;Box style={{ flexDirection: 'row', justifyContent: 'space-between', alignItems: 'baseline', marginBottom: 12 }}&gt;&#10;                &lt;Text style={{ fontSize: 18, fontWeight: 'bold', color: '#1E3A8A' }}&gt;机会画布 · 六维打分（各 1–5 分）&lt;/Text&gt;&#10;                &lt;Text style={{ fontSize: 15, color: '#64748B' }}&gt;示例场景得分&lt;/Text&gt;&#10;            &lt;/Box&gt;&#10;            {dims.map((d, i) =&gt; (&#10;                &lt;Box key={i} style={{ flexDirection: 'row', alignItems: 'center', gap: 12, marginBottom: 9 }}&gt;&#10;                    &lt;Text style={{ fontSize: 16, fontWeight: 'bold', color: '#1E3A8A', width: 88 }}&gt;{d.t}&lt;/Text&gt;&#10;                    &lt;Box style={{ flex: 1, height: 10, background: '#EDF3FB', borderRadius: 5, overflow: 'hidden' }}&gt;&#10;                        &lt;Box style={{ width: d.s * 20 + '%', height: 10, background: i === 2 ? '#F59E0B' : '#06B6D4', borderRadius: 5 }} /&gt;&#10;                    &lt;/Box&gt;&#10;                    &lt;Text style={{ fontSize: 16, fontWeight: 'bold', color: i === 2 ? '#B45309' : '#0891B2', width: 24, fontFamily: 'Space Grotesk, Inter' }}&gt;{d.s}&lt;/Text&gt;&#10;                &lt;/Box&gt;&#10;            ))}&#10;            &lt;Box style={{ marginTop: 'auto', paddingTop: 12, borderTop: '2px solid #EAF1F8', flexDirection: 'row', alignItems: 'center', gap: 10 }}&gt;&#10;                &lt;Text style={{ fontSize: 20, fontWeight: 'bold', color: '#1E3A8A' }}&gt;总分 25 / 30&lt;/Text&gt;&#10;                &lt;Box style={{ padding: '6px 14px', background: '#1E3A8A', borderRadius: 999 }}&gt;&#10;                    &lt;Text style={{ fontSize: 15, fontWeight: 'bold', color: '#FFFFFF' }}&gt;≥ 24 分 → 进试点&lt;/Text&gt;&#10;                &lt;/Box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0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386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场景从哪来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机会画布六维</a:t>
            </a:r>
            <a:endParaRPr/>
          </a:p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38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先扫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低效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八大浪费找候选，再用六维打分定优先级</a:t>
            </a:r>
            <a:endParaRPr/>
          </a:p>
        </p:txBody>
      </p:sp>
      <p:sp>
        <p:nvSpPr>
          <p:cNvPr id="1007" name="" descr="{&quot;isTemplate&quot;:true,&quot;type&quot;:&quot;text&quot;}"/>
          <p:cNvSpPr txBox="1"/>
          <p:nvPr/>
        </p:nvSpPr>
        <p:spPr>
          <a:xfrm rot="0" flipH="0" flipV="0">
            <a:off x="685800" y="1276350"/>
            <a:ext cx="381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候选清单：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低效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八大浪费</a:t>
            </a:r>
            <a:endParaRPr/>
          </a:p>
        </p:txBody>
      </p:sp>
      <p:sp>
        <p:nvSpPr>
          <p:cNvPr id="1008" name=""/>
          <p:cNvSpPr/>
          <p:nvPr/>
        </p:nvSpPr>
        <p:spPr>
          <a:xfrm rot="0" flipH="0" flipV="0">
            <a:off x="685800" y="158115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819150" y="164782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D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1162050" y="1666875"/>
            <a:ext cx="1981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等待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人等系统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系统等料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685800" y="199072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2" name="" descr="{&quot;isTemplate&quot;:true,&quot;type&quot;:&quot;text&quot;}"/>
          <p:cNvSpPr txBox="1"/>
          <p:nvPr/>
        </p:nvSpPr>
        <p:spPr>
          <a:xfrm rot="0" flipH="0" flipV="0">
            <a:off x="819150" y="205740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O</a:t>
            </a:r>
            <a:endParaRPr/>
          </a:p>
        </p:txBody>
      </p:sp>
      <p:sp>
        <p:nvSpPr>
          <p:cNvPr id="1013" name="" descr="{&quot;isTemplate&quot;:true,&quot;type&quot;:&quot;text&quot;}"/>
          <p:cNvSpPr txBox="1"/>
          <p:nvPr/>
        </p:nvSpPr>
        <p:spPr>
          <a:xfrm rot="0" flipH="0" flipV="0">
            <a:off x="1162050" y="207645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过量生产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做得比需要的多</a:t>
            </a:r>
            <a:endParaRPr/>
          </a:p>
        </p:txBody>
      </p:sp>
      <p:sp>
        <p:nvSpPr>
          <p:cNvPr id="1014" name=""/>
          <p:cNvSpPr/>
          <p:nvPr/>
        </p:nvSpPr>
        <p:spPr>
          <a:xfrm rot="0" flipH="0" flipV="0">
            <a:off x="685800" y="240030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19150" y="24669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W</a:t>
            </a:r>
            <a:endParaRPr/>
          </a:p>
        </p:txBody>
      </p:sp>
      <p:sp>
        <p:nvSpPr>
          <p:cNvPr id="1016" name="" descr="{&quot;isTemplate&quot;:true,&quot;type&quot;:&quot;text&quot;}"/>
          <p:cNvSpPr txBox="1"/>
          <p:nvPr/>
        </p:nvSpPr>
        <p:spPr>
          <a:xfrm rot="0" flipH="0" flipV="0">
            <a:off x="1162050" y="2486025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在制品积压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线上堆着一堆</a:t>
            </a:r>
            <a:endParaRPr/>
          </a:p>
        </p:txBody>
      </p:sp>
      <p:sp>
        <p:nvSpPr>
          <p:cNvPr id="1017" name=""/>
          <p:cNvSpPr/>
          <p:nvPr/>
        </p:nvSpPr>
        <p:spPr>
          <a:xfrm rot="0" flipH="0" flipV="0">
            <a:off x="685800" y="280987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8" name="" descr="{&quot;isTemplate&quot;:true,&quot;type&quot;:&quot;text&quot;}"/>
          <p:cNvSpPr txBox="1"/>
          <p:nvPr/>
        </p:nvSpPr>
        <p:spPr>
          <a:xfrm rot="0" flipH="0" flipV="0">
            <a:off x="819150" y="287655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N</a:t>
            </a:r>
            <a:endParaRPr/>
          </a:p>
        </p:txBody>
      </p:sp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1162050" y="289560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人才未利用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经验没被听见</a:t>
            </a:r>
            <a:endParaRPr/>
          </a:p>
        </p:txBody>
      </p:sp>
      <p:sp>
        <p:nvSpPr>
          <p:cNvPr id="1020" name=""/>
          <p:cNvSpPr/>
          <p:nvPr/>
        </p:nvSpPr>
        <p:spPr>
          <a:xfrm rot="0" flipH="0" flipV="0">
            <a:off x="685800" y="321945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819150" y="328612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T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1162050" y="3305175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搬运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料与货反复倒腾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685800" y="362902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819150" y="369570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I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库存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仓里压着现金</a:t>
            </a:r>
            <a:endParaRPr/>
          </a:p>
        </p:txBody>
      </p:sp>
      <p:sp>
        <p:nvSpPr>
          <p:cNvPr id="1026" name=""/>
          <p:cNvSpPr/>
          <p:nvPr/>
        </p:nvSpPr>
        <p:spPr>
          <a:xfrm rot="0" flipH="0" flipV="0">
            <a:off x="685800" y="4038600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819150" y="4105275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M</a:t>
            </a:r>
            <a:endParaRPr/>
          </a:p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1162050" y="4124325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多余动作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重复找、重复录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685800" y="4448175"/>
            <a:ext cx="3810000" cy="333375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30" name="" descr="{&quot;isTemplate&quot;:true,&quot;type&quot;:&quot;text&quot;}"/>
          <p:cNvSpPr txBox="1"/>
          <p:nvPr/>
        </p:nvSpPr>
        <p:spPr>
          <a:xfrm rot="0" flipH="0" flipV="0">
            <a:off x="819150" y="4514850"/>
            <a:ext cx="228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6B6D4"/>
                </a:solidFill>
                <a:latin typeface="Space Grotesk"/>
                <a:ea typeface="Space Grotesk"/>
              </a:rPr>
              <a:t>E</a:t>
            </a:r>
            <a:endParaRPr/>
          </a:p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1162050" y="453390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过度加工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精度做得过头</a:t>
            </a:r>
            <a:endParaRPr/>
          </a:p>
        </p:txBody>
      </p:sp>
      <p:sp>
        <p:nvSpPr>
          <p:cNvPr id="1032" name=""/>
          <p:cNvSpPr/>
          <p:nvPr/>
        </p:nvSpPr>
        <p:spPr>
          <a:xfrm rot="0" flipH="0" flipV="0">
            <a:off x="685800" y="5372100"/>
            <a:ext cx="3810000" cy="78105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06B6D4"/>
            </a:solidFill>
            <a:prstDash val="dash"/>
          </a:ln>
        </p:spPr>
        <p:txBody>
          <a:bodyPr/>
          <a:p/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838200" y="5486400"/>
            <a:ext cx="350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每条浪费问一句：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这里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AI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能补哪个位？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（感知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预测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推荐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生成</a:t>
            </a:r>
            <a:r>
              <a:rPr lang="en-US" sz="1125">
                <a:solidFill>
                  <a:srgbClr val="0891B2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0891B2"/>
                </a:solidFill>
                <a:latin typeface="PingFang SC"/>
                <a:ea typeface="PingFang SC"/>
              </a:rPr>
              <a:t>学习）</a:t>
            </a:r>
            <a:endParaRPr/>
          </a:p>
        </p:txBody>
      </p:sp>
      <p:sp>
        <p:nvSpPr>
          <p:cNvPr id="1034" name=""/>
          <p:cNvSpPr/>
          <p:nvPr/>
        </p:nvSpPr>
        <p:spPr>
          <a:xfrm rot="0" flipH="0" flipV="0">
            <a:off x="4743450" y="1276350"/>
            <a:ext cx="6762750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35" name="" descr="{&quot;isTemplate&quot;:true,&quot;type&quot;:&quot;text&quot;}"/>
          <p:cNvSpPr txBox="1"/>
          <p:nvPr/>
        </p:nvSpPr>
        <p:spPr>
          <a:xfrm rot="0" flipH="0" flipV="0">
            <a:off x="4991100" y="1485900"/>
            <a:ext cx="2686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机会画布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六维打分（各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1–5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分）</a:t>
            </a:r>
            <a:endParaRPr/>
          </a:p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10401300" y="14859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示例场景得分</a:t>
            </a:r>
            <a:endParaRPr/>
          </a:p>
        </p:txBody>
      </p:sp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4991100" y="18097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价值</a:t>
            </a:r>
            <a:endParaRPr/>
          </a:p>
        </p:txBody>
      </p:sp>
      <p:sp>
        <p:nvSpPr>
          <p:cNvPr id="1038" name=""/>
          <p:cNvSpPr/>
          <p:nvPr/>
        </p:nvSpPr>
        <p:spPr>
          <a:xfrm rot="0" flipH="0" flipV="0">
            <a:off x="5943600" y="18573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39" name=""/>
          <p:cNvSpPr/>
          <p:nvPr/>
        </p:nvSpPr>
        <p:spPr>
          <a:xfrm rot="0" flipH="0" flipV="0">
            <a:off x="5943600" y="18573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11029950" y="18097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4991100" y="20859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可行性</a:t>
            </a:r>
            <a:endParaRPr/>
          </a:p>
        </p:txBody>
      </p:sp>
      <p:sp>
        <p:nvSpPr>
          <p:cNvPr id="1042" name=""/>
          <p:cNvSpPr/>
          <p:nvPr/>
        </p:nvSpPr>
        <p:spPr>
          <a:xfrm rot="0" flipH="0" flipV="0">
            <a:off x="5943600" y="21336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43" name=""/>
          <p:cNvSpPr/>
          <p:nvPr/>
        </p:nvSpPr>
        <p:spPr>
          <a:xfrm rot="0" flipH="0" flipV="0">
            <a:off x="5943600" y="2133600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44" name="" descr="{&quot;isTemplate&quot;:true,&quot;type&quot;:&quot;text&quot;}"/>
          <p:cNvSpPr txBox="1"/>
          <p:nvPr/>
        </p:nvSpPr>
        <p:spPr>
          <a:xfrm rot="0" flipH="0" flipV="0">
            <a:off x="11029950" y="208597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4991100" y="236220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风险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5943600" y="240982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47" name=""/>
          <p:cNvSpPr/>
          <p:nvPr/>
        </p:nvSpPr>
        <p:spPr>
          <a:xfrm rot="0" flipH="0" flipV="0">
            <a:off x="5943600" y="2409825"/>
            <a:ext cx="2981325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11029950" y="236220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B45309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991100" y="26384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学习速度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5943600" y="268605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1" name=""/>
          <p:cNvSpPr/>
          <p:nvPr/>
        </p:nvSpPr>
        <p:spPr>
          <a:xfrm rot="0" flipH="0" flipV="0">
            <a:off x="5943600" y="2686050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11029950" y="263842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53" name="" descr="{&quot;isTemplate&quot;:true,&quot;type&quot;:&quot;text&quot;}"/>
          <p:cNvSpPr txBox="1"/>
          <p:nvPr/>
        </p:nvSpPr>
        <p:spPr>
          <a:xfrm rot="0" flipH="0" flipV="0">
            <a:off x="4991100" y="2914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可复制性</a:t>
            </a:r>
            <a:endParaRPr/>
          </a:p>
        </p:txBody>
      </p:sp>
      <p:sp>
        <p:nvSpPr>
          <p:cNvPr id="1054" name=""/>
          <p:cNvSpPr/>
          <p:nvPr/>
        </p:nvSpPr>
        <p:spPr>
          <a:xfrm rot="0" flipH="0" flipV="0">
            <a:off x="5943600" y="2962275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5943600" y="2962275"/>
            <a:ext cx="39814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6" name="" descr="{&quot;isTemplate&quot;:true,&quot;type&quot;:&quot;text&quot;}"/>
          <p:cNvSpPr txBox="1"/>
          <p:nvPr/>
        </p:nvSpPr>
        <p:spPr>
          <a:xfrm rot="0" flipH="0" flipV="0">
            <a:off x="11029950" y="2914650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4</a:t>
            </a:r>
            <a:endParaRPr/>
          </a:p>
        </p:txBody>
      </p:sp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4991100" y="31908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采纳度</a:t>
            </a:r>
            <a:endParaRPr/>
          </a:p>
        </p:txBody>
      </p:sp>
      <p:sp>
        <p:nvSpPr>
          <p:cNvPr id="1058" name=""/>
          <p:cNvSpPr/>
          <p:nvPr/>
        </p:nvSpPr>
        <p:spPr>
          <a:xfrm rot="0" flipH="0" flipV="0">
            <a:off x="5943600" y="32385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59" name=""/>
          <p:cNvSpPr/>
          <p:nvPr/>
        </p:nvSpPr>
        <p:spPr>
          <a:xfrm rot="0" flipH="0" flipV="0">
            <a:off x="5943600" y="3238500"/>
            <a:ext cx="4972050" cy="952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11029950" y="3190875"/>
            <a:ext cx="22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891B2"/>
                </a:solidFill>
                <a:latin typeface="Space Grotesk"/>
                <a:ea typeface="Space Grotesk"/>
              </a:rPr>
              <a:t>5</a:t>
            </a:r>
            <a:endParaRPr/>
          </a:p>
        </p:txBody>
      </p:sp>
      <p:sp>
        <p:nvSpPr>
          <p:cNvPr id="1061" name=""/>
          <p:cNvSpPr/>
          <p:nvPr/>
        </p:nvSpPr>
        <p:spPr>
          <a:xfrm rot="0" flipH="0" flipV="0">
            <a:off x="4991100" y="5524500"/>
            <a:ext cx="6267450" cy="438150"/>
          </a:xfrm>
          <a:custGeom>
            <a:pathLst>
              <a:path w="658" h="46">
                <a:moveTo>
                  <a:pt x="0" y="0"/>
                </a:moveTo>
                <a:lnTo>
                  <a:pt x="658" y="0"/>
                </a:lnTo>
                <a:lnTo>
                  <a:pt x="658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4991100" y="5686425"/>
            <a:ext cx="1123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总分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25 / 30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6210300" y="5657850"/>
            <a:ext cx="1457325" cy="285750"/>
          </a:xfrm>
          <a:prstGeom prst="roundRect">
            <a:avLst>
              <a:gd name="adj" fmla="val 3330000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6343650" y="5715000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≥ 24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分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→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进试点</a:t>
            </a:r>
            <a:endParaRPr/>
          </a:p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07 / 34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2&lt;/Text&gt;&#10;        &lt;Text style={{ fontSize: 18, color: '#7FD9F0', letterSpacing: 5, marginTop: 6 }}&gt;M2 · 3 课时&lt;/Text&gt;&#10;        &lt;Text style={{ fontSize: 54, fontWeight: 'bold', color: '#FFFFFF', marginTop: 20, lineHeight: 1.18 }}&gt;预测性维护&lt;br /&gt;让设备先开口&lt;/Text&gt;&#10;        &lt;Box style={{ width: 84, height: 4, background: '#06B6D4', marginTop: 30 }} /&gt;&#10;        &lt;Text style={{ fontSize: 19, color: '#A9C4E8', marginTop: 22, lineHeight: 1.6 }}&gt;维护四阶演进 · 时序三看 · 三段阈值与处置权 · OEE 算账&lt;br /&gt;标杆：陕汽 10 秒预警 · 西门子非计划停机 -50%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06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07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07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M2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预测预警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让系统先开口</a:t>
            </a:r>
            <a:endParaRPr/>
          </a:p>
        </p:txBody>
      </p:sp>
      <p:sp>
        <p:nvSpPr>
          <p:cNvPr id="107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7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预测四阶演进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时序三看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三段阈值与处置权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运营基线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算账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标杆：跨行业标杆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10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秒预警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厂商案例非计划中断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-50%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6" name="" descr="const stages = [&#10;    { t: '事后维护', d: '坏了再修', tag: '最贵', hot: false },&#10;    { t: '计划维护', d: '按日历换件', tag: '保守', hot: false },&#10;    { t: '状态维护', d: '看指标报警', tag: '被动', hot: false },&#10;    { t: '预测维护', d: 'AI 提前预警', tag: '主动', hot: true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维护四阶演进 + 时序三看&lt;/Text&gt;&#10;            &lt;Text style={{ fontSize: 17, color: '#64748B', marginTop: 4 }}&gt;预测维护 = 状态维护 + 趋势外推 + 处置闭环&lt;/Text&gt;&#10;        &lt;/Box&gt;&#10;    &lt;/Box&gt;&#10;    &lt;Box style={{ flex: 1, flexDirection: 'row', gap: 26, marginTop: 14 }}&gt;&#10;        &lt;Box style={{ flex: 55, flexDirection: 'column' }}&gt;&#10;            &lt;Box style={{ flexDirection: 'row', gap: 14 }}&gt;&#10;                {stages.map((s, i) =&gt; (&#10;                    &lt;Box key={i} style={{ flex: 1, background: s.hot ? '#1E3A8A' : '#FFFFFF', borderRadius: 14, padding: '18px 14px', border: '1px solid ' + (s.hot ? '#1E3A8A' : '#E2E8F0'), flexDirection: 'column', alignItems: 'center', boxShadow: s.hot ? '0 8px 24px rgba(30,58,138,0.25)' : 'none' }}&gt;&#10;                        &lt;Text style={{ fontSize: 15, color: s.hot ? '#7FD9F0' : '#64748B', marginBottom: 6, fontFamily: 'Space Grotesk, Inter' }}&gt;{'0' + (i + 1)}&lt;/Text&gt;&#10;                        &lt;Text style={{ fontSize: 20, fontWeight: 'bold', color: s.hot ? '#FFFFFF' : '#1E3A8A', textAlign: 'center' }}&gt;{s.t}&lt;/Text&gt;&#10;                        &lt;Text style={{ fontSize: 14, color: s.hot ? '#DCE9FB' : '#43566b', marginTop: 8, textAlign: 'center' }}&gt;{s.d}&lt;/Text&gt;&#10;                        &lt;Box style={{ marginTop: 12, padding: '4px 12px', background: s.hot ? '#F59E0B' : '#EDF3FB', borderRadius: 999 }}&gt;&#10;                            &lt;Text style={{ fontSize: 13, fontWeight: 'bold', color: s.hot ? '#FFFFFF' : '#64748B' }}&gt;{s.tag}&lt;/Text&gt;&#10;                        &lt;/Box&gt;&#10;                    &lt;/Box&gt;&#10;                ))}&#10;            &lt;/Box&gt;&#10;            &lt;Box style={{ flex: 1, background: '#FFFFFF', borderRadius: 16, padding: '20px 24px', marginTop: 20, border: '1px solid #E2E8F0', flexDirection: 'column' }}&gt;&#10;                &lt;Text style={{ fontSize: 18, fontWeight: 'bold', color: '#1E3A8A', marginBottom: 12 }}&gt;时序三看：AI 看的是曲线形状，不是单点&lt;/Text&gt;&#10;                &lt;Box style={{ flexDirection: 'row', gap: 14 }}&gt;&#10;                    {[&#10;                        ['趋势', '缓慢漂移：振动值一个月涨了 8%'],&#10;                        ['阈值', '越限报警：温度超过工艺上限'],&#10;                        ['突变', '阶跃跳变：某时刻突然翻倍'],&#10;                    ].map((x, i) =&gt; (&#10;                        &lt;Box key={i} style={{ flex: 1, padding: '14px 16px', background: '#F5F8FC', borderRadius: 12, border: '1px solid #E2E8F0' }}&gt;&#10;                            &lt;Text style={{ fontSize: 18, fontWeight: 'bold', color: '#0891B2' }}&gt;{x[0]}&lt;/Text&gt;&#10;                            &lt;Text style={{ fontSize: 14, color: '#43566b', lineHeight: 1.55, marginTop: 6 }}&gt;{x[1]}&lt;/Text&gt;&#10;                        &lt;/Box&gt;&#10;                    ))}&#10;                &lt;/Box&gt;&#10;                &lt;Text style={{ fontSize: 15, color: '#64748B', marginTop: 'auto', paddingTop: 14 }}&gt;数据链六阶：采集 → 传输 → 清洗 → 标注 → 建模 → 反馈 —— 断在哪一环，项目就死在哪一环。&lt;/Text&gt;&#10;            &lt;/Box&gt;&#10;        &lt;/Box&gt;&#10;        &lt;Box style={{ flex: 45, borderRadius: 18, overflow: 'hidden', background: '#1E3A8A', boxShadow: '0 8px 28px rgba(30,58,138,0.18)' }}&gt;&#10;            &lt;Image src=&quot;assets/predictive_maintenance.png&quot; style={{ width: '100%', height: '100%', objectFit: 'cover' }} /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0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7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7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6576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预测四阶演进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时序三看</a:t>
            </a:r>
            <a:endParaRPr/>
          </a:p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657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预测预警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=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状态监测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趋势外推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处置闭环</a:t>
            </a:r>
            <a:endParaRPr/>
          </a:p>
        </p:txBody>
      </p:sp>
      <p:sp>
        <p:nvSpPr>
          <p:cNvPr id="1081" name=""/>
          <p:cNvSpPr/>
          <p:nvPr/>
        </p:nvSpPr>
        <p:spPr>
          <a:xfrm rot="0" flipH="0" flipV="0">
            <a:off x="685800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82" name="" descr="{&quot;isTemplate&quot;:true,&quot;type&quot;:&quot;text&quot;}"/>
          <p:cNvSpPr txBox="1"/>
          <p:nvPr/>
        </p:nvSpPr>
        <p:spPr>
          <a:xfrm rot="0" flipH="0" flipV="0">
            <a:off x="1285875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981075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事后复盘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095375" y="1981200"/>
            <a:ext cx="5334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坏了再修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123950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238250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最贵</a:t>
            </a:r>
            <a:endParaRPr/>
          </a:p>
        </p:txBody>
      </p:sp>
      <p:sp>
        <p:nvSpPr>
          <p:cNvPr id="1087" name=""/>
          <p:cNvSpPr/>
          <p:nvPr/>
        </p:nvSpPr>
        <p:spPr>
          <a:xfrm rot="0" flipH="0" flipV="0">
            <a:off x="2171700" y="1276350"/>
            <a:ext cx="1362075" cy="138112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2771775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24765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统计预测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2524125" y="1981200"/>
            <a:ext cx="6667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按日历换件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26193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27336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保守</a:t>
            </a:r>
            <a:endParaRPr/>
          </a:p>
        </p:txBody>
      </p:sp>
      <p:sp>
        <p:nvSpPr>
          <p:cNvPr id="1093" name=""/>
          <p:cNvSpPr/>
          <p:nvPr/>
        </p:nvSpPr>
        <p:spPr>
          <a:xfrm rot="0" flipH="0" flipV="0">
            <a:off x="3667125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4267200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64748B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39624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状态监测</a:t>
            </a:r>
            <a:endParaRPr/>
          </a:p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4010025" y="1981200"/>
            <a:ext cx="6667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看指标报警</a:t>
            </a:r>
            <a:endParaRPr/>
          </a:p>
        </p:txBody>
      </p:sp>
      <p:sp>
        <p:nvSpPr>
          <p:cNvPr id="1097" name=""/>
          <p:cNvSpPr/>
          <p:nvPr/>
        </p:nvSpPr>
        <p:spPr>
          <a:xfrm rot="0" flipH="0" flipV="0">
            <a:off x="41052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42195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64748B"/>
                </a:solidFill>
                <a:latin typeface="PingFang SC"/>
                <a:ea typeface="PingFang SC"/>
              </a:rPr>
              <a:t>被动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5153025" y="1276350"/>
            <a:ext cx="1352550" cy="1381125"/>
          </a:xfrm>
          <a:prstGeom prst="roundRect">
            <a:avLst>
              <a:gd name="adj" fmla="val 985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5753100" y="1447800"/>
            <a:ext cx="161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7FD9F0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5448300" y="1676400"/>
            <a:ext cx="7620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PingFang SC"/>
                <a:ea typeface="PingFang SC"/>
              </a:rPr>
              <a:t>预测预警</a:t>
            </a:r>
            <a:endParaRPr/>
          </a:p>
        </p:txBody>
      </p:sp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5476875" y="1981200"/>
            <a:ext cx="7048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提前预警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5591175" y="2257425"/>
            <a:ext cx="476250" cy="228600"/>
          </a:xfrm>
          <a:prstGeom prst="roundRect">
            <a:avLst>
              <a:gd name="adj" fmla="val 41625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5705475" y="2295525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PingFang SC"/>
                <a:ea typeface="PingFang SC"/>
              </a:rPr>
              <a:t>主动</a:t>
            </a:r>
            <a:endParaRPr/>
          </a:p>
        </p:txBody>
      </p:sp>
      <p:sp>
        <p:nvSpPr>
          <p:cNvPr id="1105" name=""/>
          <p:cNvSpPr/>
          <p:nvPr/>
        </p:nvSpPr>
        <p:spPr>
          <a:xfrm rot="0" flipH="0" flipV="0">
            <a:off x="685800" y="2847975"/>
            <a:ext cx="5819775" cy="3305175"/>
          </a:xfrm>
          <a:prstGeom prst="roundRect">
            <a:avLst>
              <a:gd name="adj" fmla="val 46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914400" y="3038475"/>
            <a:ext cx="5362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时序三看：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看的是曲线形状，不是单点</a:t>
            </a:r>
            <a:endParaRPr/>
          </a:p>
        </p:txBody>
      </p:sp>
      <p:sp>
        <p:nvSpPr>
          <p:cNvPr id="1107" name=""/>
          <p:cNvSpPr/>
          <p:nvPr/>
        </p:nvSpPr>
        <p:spPr>
          <a:xfrm rot="0" flipH="0" flipV="0">
            <a:off x="914400" y="3362325"/>
            <a:ext cx="1695450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1066800" y="3495675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趋势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66800" y="3762375"/>
            <a:ext cx="13906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缓慢漂移：指标值一个月涨了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8%</a:t>
            </a:r>
            <a:endParaRPr/>
          </a:p>
        </p:txBody>
      </p:sp>
      <p:sp>
        <p:nvSpPr>
          <p:cNvPr id="1110" name=""/>
          <p:cNvSpPr/>
          <p:nvPr/>
        </p:nvSpPr>
        <p:spPr>
          <a:xfrm rot="0" flipH="0" flipV="0">
            <a:off x="2743200" y="3362325"/>
            <a:ext cx="1704975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11" name="" descr="{&quot;isTemplate&quot;:true,&quot;type&quot;:&quot;text&quot;}"/>
          <p:cNvSpPr txBox="1"/>
          <p:nvPr/>
        </p:nvSpPr>
        <p:spPr>
          <a:xfrm rot="0" flipH="0" flipV="0">
            <a:off x="2895600" y="3495675"/>
            <a:ext cx="1400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阈值</a:t>
            </a:r>
            <a:endParaRPr/>
          </a:p>
        </p:txBody>
      </p:sp>
      <p:sp>
        <p:nvSpPr>
          <p:cNvPr id="1112" name="" descr="{&quot;isTemplate&quot;:true,&quot;type&quot;:&quot;text&quot;}"/>
          <p:cNvSpPr txBox="1"/>
          <p:nvPr/>
        </p:nvSpPr>
        <p:spPr>
          <a:xfrm rot="0" flipH="0" flipV="0">
            <a:off x="2895600" y="3762375"/>
            <a:ext cx="140017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越限报警：温度超过工艺上限</a:t>
            </a:r>
            <a:endParaRPr/>
          </a:p>
        </p:txBody>
      </p:sp>
      <p:sp>
        <p:nvSpPr>
          <p:cNvPr id="1113" name=""/>
          <p:cNvSpPr/>
          <p:nvPr/>
        </p:nvSpPr>
        <p:spPr>
          <a:xfrm rot="0" flipH="0" flipV="0">
            <a:off x="4581525" y="3362325"/>
            <a:ext cx="1695450" cy="1038225"/>
          </a:xfrm>
          <a:prstGeom prst="roundRect">
            <a:avLst>
              <a:gd name="adj" fmla="val 1100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4733925" y="3495675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891B2"/>
                </a:solidFill>
                <a:latin typeface="PingFang SC"/>
                <a:ea typeface="PingFang SC"/>
              </a:rPr>
              <a:t>突变</a:t>
            </a:r>
            <a:endParaRPr/>
          </a:p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4733925" y="3762375"/>
            <a:ext cx="13906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阶跃跳变：某时刻突然翻倍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914400" y="5486400"/>
            <a:ext cx="5362575" cy="476250"/>
          </a:xfrm>
          <a:prstGeom prst="rect"/>
        </p:spPr>
        <p:txBody>
          <a:bodyPr wrap="square" lIns="0" tIns="100013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数据链六阶：采集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传输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清洗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标注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建模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反馈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断在哪一环，项目就死在哪一环。</a:t>
            </a:r>
            <a:endParaRPr/>
          </a:p>
        </p:txBody>
      </p:sp>
      <p:sp>
        <p:nvSpPr>
          <p:cNvPr id="1117" name=""/>
          <p:cNvSpPr/>
          <p:nvPr/>
        </p:nvSpPr>
        <p:spPr>
          <a:xfrm rot="0" flipH="0" flipV="0">
            <a:off x="6753225" y="1276350"/>
            <a:ext cx="4752975" cy="4876800"/>
          </a:xfrm>
          <a:prstGeom prst="roundRect">
            <a:avLst>
              <a:gd name="adj" fmla="val 3607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18" name=""/>
          <p:cNvPicPr>
            <a:picLocks noChangeAspect="1"/>
          </p:cNvPicPr>
          <p:nvPr/>
        </p:nvPicPr>
        <p:blipFill>
          <a:blip r:embed="rId1"/>
          <a:srcRect l="1269" t="0" r="1269" b="0"/>
          <a:stretch>
            <a:fillRect/>
          </a:stretch>
        </p:blipFill>
        <p:spPr>
          <a:xfrm rot="0" flipH="0" flipV="0">
            <a:off x="6753225" y="1276350"/>
            <a:ext cx="4752975" cy="4876800"/>
          </a:xfrm>
          <a:custGeom>
            <a:pathLst>
              <a:path w="499" h="512">
                <a:moveTo>
                  <a:pt x="481" y="0"/>
                </a:moveTo>
                <a:cubicBezTo>
                  <a:pt x="491" y="0"/>
                  <a:pt x="499" y="8"/>
                  <a:pt x="499" y="18"/>
                </a:cubicBezTo>
                <a:lnTo>
                  <a:pt x="499" y="494"/>
                </a:lnTo>
                <a:cubicBezTo>
                  <a:pt x="499" y="504"/>
                  <a:pt x="491" y="512"/>
                  <a:pt x="481" y="512"/>
                </a:cubicBezTo>
                <a:lnTo>
                  <a:pt x="18" y="512"/>
                </a:lnTo>
                <a:cubicBezTo>
                  <a:pt x="8" y="512"/>
                  <a:pt x="0" y="504"/>
                  <a:pt x="0" y="49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1" y="0"/>
                </a:lnTo>
                <a:close/>
              </a:path>
            </a:pathLst>
          </a:custGeom>
          <a:ln/>
        </p:spPr>
      </p:pic>
      <p:sp>
        <p:nvSpPr>
          <p:cNvPr id="1119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09 / 34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8" name="" descr="const zones = [&#10;    { c: '#059669', t: '正常区', d: '指标在绿区 → 继续观察，不动作', act: 'AI 静默' },&#10;    { c: '#F59E0B', t: '预警区', d: '指标进黄区 → 加密巡检，安排点检', act: 'AI 提示 + 人确认' },&#10;    { c: '#DC2626', t: '危险区', d: '指标进红区 → 排停产检修方案', act: '人拍板停机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段阈值 + 处置权，用 OEE 算账&lt;/Text&gt;&#10;            &lt;Text style={{ fontSize: 17, color: '#64748B', marginTop: 4 }}&gt;预警必须配「然后呢」—— 谁来看、谁来动、动了算谁的&lt;/Text&gt;&#10;        &lt;/Box&gt;&#10;    &lt;/Box&gt;&#10;    &lt;Box style={{ flex: 1, flexDirection: 'row', gap: 24, marginTop: 14 }}&gt;&#10;        &lt;Box style={{ flex: 58, flexDirection: 'column', gap: 12 }}&gt;&#10;            {zones.map((z, i) =&gt; (&#10;                &lt;Box key={i} style={{ flex: 1, background: '#FFFFFF', borderRadius: 14, border: '1px solid #E2E8F0', flexDirection: 'row', alignItems: 'center', padding: '0 22px', boxShadow: '0 3px 12px rgba(30,58,138,0.05)' }}&gt;&#10;                    &lt;Box style={{ width: 8, alignSelf: 'stretch', background: z.c, borderTopLeftRadius: 14, borderBottomLeftRadius: 14 }} /&gt;&#10;                    &lt;Box style={{ width: 96 }}&gt;&#10;                        &lt;Text style={{ fontSize: 20, fontWeight: 'bold', color: z.c }}&gt;{z.t}&lt;/Text&gt;&#10;                    &lt;/Box&gt;&#10;                    &lt;Text style={{ flex: 1, fontSize: 16, color: '#43566b' }}&gt;{z.d}&lt;/Text&gt;&#10;                    &lt;Box style={{ padding: '6px 14px', background: '#F5F8FC', borderRadius: 999, border: '1px solid #E2E8F0' }}&gt;&#10;                        &lt;Text style={{ fontSize: 14, fontWeight: 'bold', color: '#1E3A8A' }}&gt;{z.act}&lt;/Text&gt;&#10;                    &lt;/Box&gt;&#10;                &lt;/Box&gt;&#10;            ))}&#10;            &lt;Box style={{ padding: '10px 18px', background: '#FEEFE0', borderRadius: 10 }}&gt;&#10;                &lt;Text style={{ fontSize: 16, fontWeight: 'bold', color: '#B45309' }}&gt;处置权永远在人：AI 给建议，停机由班组长拍板 —— 建议权可以下放，决策权不行。&lt;/Text&gt;&#10;            &lt;/Box&gt;&#10;        &lt;/Box&gt;&#10;        &lt;Box style={{ flex: 42, flexDirection: 'column', gap: 14 }}&gt;&#10;            &lt;Box style={{ background: '#1E3A8A', borderRadius: 18, padding: '24px 28px', flexDirection: 'column', alignItems: 'center' }}&gt;&#10;                &lt;Text style={{ fontSize: 16, color: '#7FD9F0', letterSpacing: 2 }}&gt;OEE 示例（效率 × 性能 × 质量）&lt;/Text&gt;&#10;                &lt;Text style={{ fontSize: 58, fontWeight: 'bold', color: '#FFFFFF', fontFamily: 'Space Grotesk, Inter', marginTop: 10 }}&gt;83.8%&lt;/Text&gt;&#10;                &lt;Text style={{ fontSize: 18, color: '#DCE9FB', marginTop: 10, fontFamily: 'Space Grotesk, Inter' }}&gt;0.90 × 0.95 × 0.98&lt;/Text&gt;&#10;                &lt;Text style={{ fontSize: 14, color: '#A9C4E8', marginTop: 12, textAlign: 'center' }}&gt;停机、降速、不良各吃掉一块 —— 预测维护专治第一项&lt;/Text&gt;&#10;            &lt;/Box&gt;&#10;            &lt;Box style={{ flex: 1, background: '#FFFFFF', borderRadius: 16, padding: '18px 22px', border: '1px solid #E2E8F0' }}&gt;&#10;                &lt;Text style={{ fontSize: 16, fontWeight: 'bold', color: '#1E3A8A', marginBottom: 10 }}&gt;行业标杆&lt;/Text&gt;&#10;                &lt;Text style={{ fontSize: 16, color: '#43566b', lineHeight: 1.8 }}&gt;陕汽：振动异常 &lt;span style={{ fontWeight: 'bold', color: '#B45309' }}&gt;10 秒&lt;/span&gt; 级预警&lt;br /&gt;西门子：非计划停机 &lt;span style={{ fontWeight: 'bold', color: '#B45309' }}&gt;-50%&lt;/span&gt; · 维护成本 &lt;span style={{ fontWeight: 'bold', color: '#B45309' }}&gt;-25%&lt;/span&gt;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0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8577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三段阈值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处置权，用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运营基线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算账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预警必须配「然后呢」——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谁来看、谁来动、动了算谁的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85800" y="1276350"/>
            <a:ext cx="6143625" cy="1381125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895350" y="1971675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59669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971550" y="1857375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正常区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85950" y="1876425"/>
            <a:ext cx="4029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指标在绿区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继续观察，不动作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5915025" y="1828800"/>
            <a:ext cx="7048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048375" y="1885950"/>
            <a:ext cx="43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静默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685800" y="2771775"/>
            <a:ext cx="6143625" cy="1390650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895350" y="346710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971550" y="3352800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PingFang SC"/>
                <a:ea typeface="PingFang SC"/>
              </a:rPr>
              <a:t>预警区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885950" y="3371850"/>
            <a:ext cx="345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指标进黄区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加密巡检，安排检查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5343525" y="3333750"/>
            <a:ext cx="12763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5476875" y="3390900"/>
            <a:ext cx="1009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提示</a:t>
            </a:r>
            <a:r>
              <a:rPr lang="en-US" sz="10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人确认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85800" y="4276725"/>
            <a:ext cx="6143625" cy="1381125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895350" y="4972050"/>
            <a:ext cx="76200" cy="0"/>
          </a:xfrm>
          <a:custGeom>
            <a:pathLst>
              <a:path w="8" h="0">
                <a:moveTo>
                  <a:pt x="0" y="0"/>
                </a:move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8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2626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71550" y="4857750"/>
            <a:ext cx="91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危险区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885950" y="4876800"/>
            <a:ext cx="3800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指标进红区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排停产检修方案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5686425" y="4829175"/>
            <a:ext cx="933450" cy="276225"/>
          </a:xfrm>
          <a:prstGeom prst="roundRect">
            <a:avLst>
              <a:gd name="adj" fmla="val 3444828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5819775" y="4886325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E3A8A"/>
                </a:solidFill>
                <a:latin typeface="PingFang SC"/>
                <a:ea typeface="PingFang SC"/>
              </a:rPr>
              <a:t>人拍板处置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685800" y="5772150"/>
            <a:ext cx="6143625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57250" y="5867400"/>
            <a:ext cx="5800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处置权永远在人：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给建议，处置由组长拍板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 ——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建议权可以下放，决策权不行。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7058025" y="1276350"/>
            <a:ext cx="4448175" cy="1990725"/>
          </a:xfrm>
          <a:prstGeom prst="roundRect">
            <a:avLst>
              <a:gd name="adj" fmla="val 8612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953375" y="1504950"/>
            <a:ext cx="2657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运营基线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示例（效率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×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性能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×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质量）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496300" y="1790700"/>
            <a:ext cx="1571625" cy="666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350" b="1">
                <a:solidFill>
                  <a:srgbClr val="FFFFFF"/>
                </a:solidFill>
                <a:latin typeface="Space Grotesk"/>
                <a:ea typeface="Space Grotesk"/>
              </a:rPr>
              <a:t>83.8%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582025" y="2552700"/>
            <a:ext cx="1400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DCE9FB"/>
                </a:solidFill>
                <a:latin typeface="Space Grotesk"/>
                <a:ea typeface="Space Grotesk"/>
              </a:rPr>
              <a:t>0.90 × 0.95 × 0.98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639050" y="2876550"/>
            <a:ext cx="329565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中断、降速、差错各吃掉一块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预测预警专治第一项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7058025" y="3400425"/>
            <a:ext cx="4448175" cy="2752725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267575" y="3571875"/>
            <a:ext cx="4029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行业标杆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67575" y="3857625"/>
            <a:ext cx="4029075" cy="6667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跨行业标杆：指标异常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10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秒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级预警</a:t>
            </a:r>
            <a:endParaRPr/>
          </a:p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跨行业标杆：非计划中断 -50% · 运维成本 -25%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/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10 / 34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3&lt;/Text&gt;&#10;        &lt;Text style={{ fontSize: 18, color: '#7FD9F0', letterSpacing: 5, marginTop: 6 }}&gt;M3 · 3 课时&lt;/Text&gt;&#10;        &lt;Text style={{ fontSize: 54, fontWeight: 'bold', color: '#FFFFFF', marginTop: 20, lineHeight: 1.18 }}&gt;视觉质检&lt;br /&gt;给产线装上第二双眼睛&lt;/Text&gt;&#10;        &lt;Box style={{ width: 84, height: 4, background: '#06B6D4', marginTop: 30 }} /&gt;&#10;        &lt;Text style={{ fontSize: 19, color: '#A9C4E8', marginTop: 22, lineHeight: 1.6 }}&gt;三任务 · 混淆矩阵 · 96% 铁案 · 上线四控制&lt;br /&gt;标杆：单件检测 30 秒 vs 人工 2–3 小时 · 博世误检 -40%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55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M3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智能审核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给流程装上第二双眼睛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三任务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混淆矩阵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96%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铁案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上线四控制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标杆：单件检测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30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秒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vs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人工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2–3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小时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厂商案例误检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-40%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。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" name="" descr="const tasks = [&#10;    { icon: 'thumbs-up', t: '分类', d: '这是不是不良品？', ex: '好 / 坏、A 类 / B 类' },&#10;    { icon: 'crosshairs', t: '定位检测', d: '缺陷在哪、有多大？', ex: '画框标出划痕位置' },&#10;    { icon: 'search', t: '异常检测', d: '它「不对劲」吗？', ex: '没有坏件样本也能找异常' },&#10;];&#10;const matrix = [&#10;    { k: 'TP 真阳', d: '是不良，判成不良', c: '#059669' },&#10;    { k: 'FP 假阳', d: '是好的，判成不良（虚惊）', c: '#F59E0B' },&#10;    { k: 'FN 假阴', d: '是不良，放过了（最危险）', c: '#DC2626' },&#10;    { k: 'TN 真阴', d: '是好的，放行', c: '#64748B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视觉质检的三任务 + 一张混淆矩阵&lt;/Text&gt;&#10;            &lt;Text style={{ fontSize: 17, color: '#64748B', marginTop: 4 }}&gt;先搞清楚「问什么问题」，再谈模型&lt;/Text&gt;&#10;        &lt;/Box&gt;&#10;    &lt;/Box&gt;&#10;    &lt;Box style={{ flexDirection: 'row', gap: 20, marginTop: 16 }}&gt;&#10;        {tasks.map((t, i) =&gt; (&#10;            &lt;Box key={i} style={{ flex: 1, background: '#FFFFFF', borderRadius: 16, padding: '20px 22px', border: '1px solid #E2E8F0', boxShadow: '0 4px 16px rgba(30,58,138,0.06)', flexDirection: 'row', alignItems: 'center', gap: 16 }}&gt;&#10;                &lt;Box style={{ width: 56, height: 56, borderRadius: 14, background: '#E0F7FA', justifyContent: 'center', alignItems: 'center' }}&gt;&#10;                    &lt;FAIcon name={t.icon} style={{ fill: '#0891B2', width: 28, height: 28 }} /&gt;&#10;                &lt;/Box&gt;&#10;                &lt;Box&gt;&#10;                    &lt;Text style={{ fontSize: 21, fontWeight: 'bold', color: '#1E3A8A' }}&gt;{t.t}&lt;/Text&gt;&#10;                    &lt;Text style={{ fontSize: 15, color: '#43566b', marginTop: 4 }}&gt;{t.d}（{t.ex}）&lt;/Text&gt;&#10;                &lt;/Box&gt;&#10;            &lt;/Box&gt;&#10;        ))}&#10;    &lt;/Box&gt;&#10;    &lt;Box style={{ flex: 1, flexDirection: 'row', gap: 24, marginTop: 20 }}&gt;&#10;        &lt;Box style={{ width: 470, background: '#FFFFFF', borderRadius: 16, padding: '20px 24px', border: '1px solid #E2E8F0' }}&gt;&#10;            &lt;Text style={{ fontSize: 17, fontWeight: 'bold', color: '#1E3A8A', marginBottom: 12 }}&gt;混淆矩阵：判对判错，四种情况&lt;/Text&gt;&#10;            &lt;Box style={{ flexDirection: 'row', gap: 12 }}&gt;&#10;                &lt;Box style={{ flex: 1, padding: '14px 16px', borderRadius: 12, background: '#F5F8FC', border: '1px solid #E2E8F0' }}&gt;&#10;                    &lt;Text style={{ fontSize: 16, fontWeight: 'bold', color: matrix[0].c }}&gt;{matrix[0].k}&lt;/Text&gt;&#10;                    &lt;Text style={{ fontSize: 14, color: '#43566b', marginTop: 4 }}&gt;{matrix[0].d}&lt;/Text&gt;&#10;                &lt;/Box&gt;&#10;                &lt;Box style={{ flex: 1, padding: '14px 16px', borderRadius: 12, background: '#F5F8FC', border: '1px solid #E2E8F0' }}&gt;&#10;                    &lt;Text style={{ fontSize: 16, fontWeight: 'bold', color: matrix[1].c }}&gt;{matrix[1].k}&lt;/Text&gt;&#10;                    &lt;Text style={{ fontSize: 14, color: '#43566b', marginTop: 4 }}&gt;{matrix[1].d}&lt;/Text&gt;&#10;                &lt;/Box&gt;&#10;            &lt;/Box&gt;&#10;            &lt;Box style={{ flexDirection: 'row', gap: 12, marginTop: 12 }}&gt;&#10;                &lt;Box style={{ flex: 1, padding: '14px 16px', borderRadius: 12, background: '#FEF2F2', border: '1px solid #FECACA' }}&gt;&#10;                    &lt;Text style={{ fontSize: 16, fontWeight: 'bold', color: matrix[2].c }}&gt;{matrix[2].k}&lt;/Text&gt;&#10;                    &lt;Text style={{ fontSize: 14, color: '#43566b', marginTop: 4 }}&gt;{matrix[2].d}&lt;/Text&gt;&#10;                &lt;/Box&gt;&#10;                &lt;Box style={{ flex: 1, padding: '14px 16px', borderRadius: 12, background: '#F5F8FC', border: '1px solid #E2E8F0' }}&gt;&#10;                    &lt;Text style={{ fontSize: 16, fontWeight: 'bold', color: matrix[3].c }}&gt;{matrix[3].k}&lt;/Text&gt;&#10;                    &lt;Text style={{ fontSize: 14, color: '#43566b', marginTop: 4 }}&gt;{matrix[3].d}&lt;/Text&gt;&#10;                &lt;/Box&gt;&#10;            &lt;/Box&gt;&#10;        &lt;/Box&gt;&#10;        &lt;Box style={{ flex: 1, background: '#1E3A8A', borderRadius: 16, padding: '24px 28px', flexDirection: 'column', justifyContent: 'center' }}&gt;&#10;            &lt;Text style={{ fontSize: 20, color: '#7FD9F0', letterSpacing: 2 }}&gt;验收时先看哪个指标？&lt;/Text&gt;&#10;            &lt;Text style={{ fontSize: 44, fontWeight: 'bold', color: '#FFFFFF', marginTop: 14 }}&gt;召回率&lt;/Text&gt;&#10;            &lt;Text style={{ fontSize: 17, color: '#DCE9FB', marginTop: 16, lineHeight: 1.7 }}&gt;「没放过坏件」比「不虚惊」更重要。&lt;br /&gt;FP 的代价是多一道人工复检；FN 的代价是不良流到客户手里。&lt;br /&gt;安全关键件，宁可多喊狼来了，不可漏一只狼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953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智能审核的三任务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一张混淆矩阵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先搞清楚「问什么问题」，再谈模型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1295400"/>
            <a:ext cx="34766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8" name=""/>
          <p:cNvSpPr/>
          <p:nvPr/>
        </p:nvSpPr>
        <p:spPr>
          <a:xfrm rot="0" flipH="0" flipV="0">
            <a:off x="895350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28700" y="1619250"/>
            <a:ext cx="266700" cy="2667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514475" y="1524000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分类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514475" y="1809750"/>
            <a:ext cx="24384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这是不是异常件？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好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坏、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B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4352925" y="1295400"/>
            <a:ext cx="3486150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4562475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95825" y="1619250"/>
            <a:ext cx="266700" cy="266700"/>
          </a:xfrm>
          <a:prstGeom prst="rect">
            <a:avLst/>
          </a:prstGeom>
          <a:ln/>
        </p:spPr>
      </p:pic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5191125" y="1524000"/>
            <a:ext cx="2438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定位检测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91125" y="1809750"/>
            <a:ext cx="24384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异常在哪、有多大？（标出位置）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8029575" y="1295400"/>
            <a:ext cx="3476625" cy="914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8239125" y="148590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72475" y="1619250"/>
            <a:ext cx="266700" cy="26670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9675" y="1524000"/>
            <a:ext cx="24669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异常检测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829675" y="1809750"/>
            <a:ext cx="24669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它「不对劲」吗？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（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没有坏件样本也能找异常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685800" y="2400300"/>
            <a:ext cx="4476750" cy="3752850"/>
          </a:xfrm>
          <a:prstGeom prst="roundRect">
            <a:avLst>
              <a:gd name="adj" fmla="val 4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14400" y="2590800"/>
            <a:ext cx="4019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混淆矩阵：判对判错，四种情况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914400" y="2905125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066800" y="3038475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9669"/>
                </a:solidFill>
                <a:latin typeface="PingFang SC"/>
                <a:ea typeface="PingFang SC"/>
              </a:rPr>
              <a:t>TP </a:t>
            </a:r>
            <a:r>
              <a:rPr lang="zh-CN" sz="1200" b="1">
                <a:solidFill>
                  <a:srgbClr val="059669"/>
                </a:solidFill>
                <a:latin typeface="PingFang SC"/>
                <a:ea typeface="PingFang SC"/>
              </a:rPr>
              <a:t>真阳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066800" y="32670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是差错，判成差错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2981325" y="2905125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133725" y="3038475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PingFang SC"/>
                <a:ea typeface="PingFang SC"/>
              </a:rPr>
              <a:t>FP </a:t>
            </a:r>
            <a:r>
              <a:rPr lang="zh-CN" sz="1200" b="1">
                <a:solidFill>
                  <a:srgbClr val="F59E0B"/>
                </a:solidFill>
                <a:latin typeface="PingFang SC"/>
                <a:ea typeface="PingFang SC"/>
              </a:rPr>
              <a:t>假阳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133725" y="3267075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是好的，判成差错（虚惊）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914400" y="3676650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66800" y="3810000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C2626"/>
                </a:solidFill>
                <a:latin typeface="PingFang SC"/>
                <a:ea typeface="PingFang SC"/>
              </a:rPr>
              <a:t>FN </a:t>
            </a:r>
            <a:r>
              <a:rPr lang="zh-CN" sz="1200" b="1">
                <a:solidFill>
                  <a:srgbClr val="DC2626"/>
                </a:solidFill>
                <a:latin typeface="PingFang SC"/>
                <a:ea typeface="PingFang SC"/>
              </a:rPr>
              <a:t>假阴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66800" y="4038600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是差错，放过了（最危险）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2981325" y="3676650"/>
            <a:ext cx="1952625" cy="657225"/>
          </a:xfrm>
          <a:prstGeom prst="roundRect">
            <a:avLst>
              <a:gd name="adj" fmla="val 17391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133725" y="3810000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4748B"/>
                </a:solidFill>
                <a:latin typeface="PingFang SC"/>
                <a:ea typeface="PingFang SC"/>
              </a:rPr>
              <a:t>TN </a:t>
            </a:r>
            <a:r>
              <a:rPr lang="zh-CN" sz="1200" b="1">
                <a:solidFill>
                  <a:srgbClr val="64748B"/>
                </a:solidFill>
                <a:latin typeface="PingFang SC"/>
                <a:ea typeface="PingFang SC"/>
              </a:rPr>
              <a:t>真阴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133725" y="4038600"/>
            <a:ext cx="164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是好的，放行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5391150" y="2400300"/>
            <a:ext cx="6115050" cy="3752850"/>
          </a:xfrm>
          <a:prstGeom prst="roundRect">
            <a:avLst>
              <a:gd name="adj" fmla="val 4061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657850" y="3267075"/>
            <a:ext cx="5581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7FD9F0"/>
                </a:solidFill>
                <a:latin typeface="PingFang SC"/>
                <a:ea typeface="PingFang SC"/>
              </a:rPr>
              <a:t>验收时先看哪个指标？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657850" y="3629025"/>
            <a:ext cx="55816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PingFang SC"/>
                <a:ea typeface="PingFang SC"/>
              </a:rPr>
              <a:t>召回率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657850" y="4286250"/>
            <a:ext cx="5581650" cy="10001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「没放过坏件」比「不虚惊」更重要。</a:t>
            </a:r>
            <a:endParaRPr/>
          </a:p>
          <a:p>
            <a:pPr>
              <a:lnSpc>
                <a:spcPct val="170000"/>
              </a:lnSpc>
            </a:pP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FP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的代价是多一道人工复检；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FN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的代价是差错流到客户手里。</a:t>
            </a:r>
            <a:endParaRPr/>
          </a:p>
          <a:p>
            <a:pPr>
              <a:lnSpc>
                <a:spcPct val="17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安全关键件，宁可多喊狼来了，不可漏一只狼。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12 / 34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02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铁案：96% 准确率，为什么必须停&lt;/Text&gt;&#10;            &lt;Text style={{ fontSize: 17, color: '#64748B', marginTop: 4 }}&gt;整体准确率会骗人 —— 拆开看「安全关键件」就露馅&lt;/Text&gt;&#10;        &lt;/Box&gt;&#10;    &lt;/Box&gt;&#10;    &lt;Box style={{ flex: 1, flexDirection: 'row', gap: 24, marginTop: 14 }}&gt;&#10;        &lt;Box style={{ flex: 1, background: '#FFFFFF', borderRadius: 18, padding: '28px 30px', border: '1px solid #E2E8F0', flexDirection: 'column', alignItems: 'center', justifyContent: 'center', boxShadow: '0 4px 16px rgba(30,58,138,0.06)' }}&gt;&#10;            &lt;Text style={{ fontSize: 16, color: '#64748B' }}&gt;整体准确率（汇报口径）&lt;/Text&gt;&#10;            &lt;Text style={{ fontSize: 76, fontWeight: 'bold', color: '#059669', fontFamily: 'Space Grotesk, Inter', marginTop: 8 }}&gt;96%&lt;/Text&gt;&#10;            &lt;Text style={{ fontSize: 16, color: '#43566b', marginTop: 10, textAlign: 'center', lineHeight: 1.6 }}&gt;1000 件里错 40 件 —— 看起来很美&lt;/Text&gt;&#10;        &lt;/Box&gt;&#10;        &lt;Box style={{ width: 90, justifyContent: 'center', alignItems: 'center' }}&gt;&#10;            &lt;Text style={{ fontSize: 44, fontWeight: 'bold', color: '#F59E0B', fontFamily: 'Space Grotesk, Inter' }}&gt;VS&lt;/Text&gt;&#10;        &lt;/Box&gt;&#10;        &lt;Box style={{ flex: 1, background: '#1E3A8A', borderRadius: 18, padding: '28px 30px', flexDirection: 'column', alignItems: 'center', justifyContent: 'center', boxShadow: '0 8px 28px rgba(30,58,138,0.25)' }}&gt;&#10;            &lt;Text style={{ fontSize: 16, color: '#7FD9F0' }}&gt;安全关键件召回率（真相口径）&lt;/Text&gt;&#10;            &lt;Text style={{ fontSize: 76, fontWeight: 'bold', color: '#F8C471', fontFamily: 'Space Grotesk, Inter', marginTop: 8 }}&gt;80%&lt;/Text&gt;&#10;            &lt;Text style={{ fontSize: 16, color: '#DCE9FB', marginTop: 10, textAlign: 'center', lineHeight: 1.6 }}&gt;10 个关键裂纹件，漏了 2 个 —— 每个都是潜在事故&lt;/Text&gt;&#10;        &lt;/Box&gt;&#10;    &lt;/Box&gt;&#10;    &lt;Box style={{ flexDirection: 'row', gap: 24, marginTop: 22 }}&gt;&#10;        &lt;Box style={{ flex: 1, padding: '18px 24px', background: '#FEF2F2', borderRadius: 14, border: '1px solid #FECACA' }}&gt;&#10;            &lt;Text style={{ fontSize: 17, fontWeight: 'bold', color: '#DC2626' }}&gt;当时的错误决策&lt;/Text&gt;&#10;            &lt;Text style={{ fontSize: 16, color: '#43566b', marginTop: 6, lineHeight: 1.6 }}&gt;拿着 96% 的整体准确率上线自动判定 —— 让 AI 直接「放行」。&lt;/Text&gt;&#10;        &lt;/Box&gt;&#10;        &lt;Box style={{ flex: 1, padding: '18px 24px', background: '#FFFFFF', borderRadius: 14, border: '2px solid #06B6D4' }}&gt;&#10;            &lt;Text style={{ fontSize: 17, fontWeight: 'bold', color: '#0891B2' }}&gt;纠正后的做法&lt;/Text&gt;&#10;            &lt;Text style={{ fontSize: 16, color: '#43566b', marginTop: 6, lineHeight: 1.6 }}&gt;安全件改为「AI 标记 + 人工复核」双签；非安全件才允许自动放行。&lt;/Text&gt;&#10;        &lt;/Box&gt;&#10;        &lt;Box style={{ flex: 1, padding: '18px 24px', background: '#FEEFE0', borderRadius: 14, border: '1px solid #FDE7C8' }}&gt;&#10;            &lt;Text style={{ fontSize: 17, fontWeight: 'bold', color: '#B45309' }}&gt;教训（MIT Sloan）&lt;/Text&gt;&#10;            &lt;Text style={{ fontSize: 16, color: '#43566b', marginTop: 6, lineHeight: 1.6 }}&gt;「别用更复杂的模型补烂数据」—— 先分层评估、先补数据，再谈算法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1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0292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铁案：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96%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准确率，为什么必须停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整体准确率会骗人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拆开看「安全关键件」就露馅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685800" y="1276350"/>
            <a:ext cx="4752975" cy="3457575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2228850" y="2238375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整体准确率（汇报口径）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2333625" y="2505075"/>
            <a:ext cx="14573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059669"/>
                </a:solidFill>
                <a:latin typeface="Space Grotesk"/>
                <a:ea typeface="Space Grotesk"/>
              </a:rPr>
              <a:t>96%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838325" y="3476625"/>
            <a:ext cx="2457450" cy="2952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1000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件里错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40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看起来很美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819775" y="2752725"/>
            <a:ext cx="5619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F59E0B"/>
                </a:solidFill>
                <a:latin typeface="Space Grotesk"/>
                <a:ea typeface="Space Grotesk"/>
              </a:rPr>
              <a:t>VS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6753225" y="1276350"/>
            <a:ext cx="4752975" cy="3457575"/>
          </a:xfrm>
          <a:prstGeom prst="roundRect">
            <a:avLst>
              <a:gd name="adj" fmla="val 4959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067675" y="22383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FD9F0"/>
                </a:solidFill>
                <a:latin typeface="PingFang SC"/>
                <a:ea typeface="PingFang SC"/>
              </a:rPr>
              <a:t>安全关键件召回率（真相口径）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401050" y="2505075"/>
            <a:ext cx="1457325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8C471"/>
                </a:solidFill>
                <a:latin typeface="Space Grotesk"/>
                <a:ea typeface="Space Grotesk"/>
              </a:rPr>
              <a:t>80%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353300" y="3476625"/>
            <a:ext cx="3552825" cy="2952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10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个关键关键异常件，漏了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2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个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每个都是潜在事故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4943475"/>
            <a:ext cx="3457575" cy="1190625"/>
          </a:xfrm>
          <a:prstGeom prst="roundRect">
            <a:avLst>
              <a:gd name="adj" fmla="val 112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14400" y="5114925"/>
            <a:ext cx="3000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C2626"/>
                </a:solidFill>
                <a:latin typeface="PingFang SC"/>
                <a:ea typeface="PingFang SC"/>
              </a:rPr>
              <a:t>当时的错误决策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14400" y="5372100"/>
            <a:ext cx="30003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拿着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96%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的整体准确率上线自动判定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让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直接「放行」。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4371975" y="4943475"/>
            <a:ext cx="3448050" cy="1190625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600575" y="5114925"/>
            <a:ext cx="2990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891B2"/>
                </a:solidFill>
                <a:latin typeface="PingFang SC"/>
                <a:ea typeface="PingFang SC"/>
              </a:rPr>
              <a:t>纠正后的做法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600575" y="5372100"/>
            <a:ext cx="29908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安全件改为「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标记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人工复核」双签；非安全件才允许自动放行。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8048625" y="4943475"/>
            <a:ext cx="3457575" cy="1190625"/>
          </a:xfrm>
          <a:prstGeom prst="roundRect">
            <a:avLst>
              <a:gd name="adj" fmla="val 11200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8277225" y="5114925"/>
            <a:ext cx="3000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B45309"/>
                </a:solidFill>
                <a:latin typeface="PingFang SC"/>
                <a:ea typeface="PingFang SC"/>
              </a:rPr>
              <a:t>教训（</a:t>
            </a:r>
            <a:r>
              <a:rPr lang="en-US" sz="1275" b="1">
                <a:solidFill>
                  <a:srgbClr val="B45309"/>
                </a:solidFill>
                <a:latin typeface="PingFang SC"/>
                <a:ea typeface="PingFang SC"/>
              </a:rPr>
              <a:t>MIT Sloan</a:t>
            </a:r>
            <a:r>
              <a:rPr lang="zh-CN" sz="1275" b="1">
                <a:solidFill>
                  <a:srgbClr val="B45309"/>
                </a:solidFill>
                <a:latin typeface="PingFang SC"/>
                <a:ea typeface="PingFang SC"/>
              </a:rPr>
              <a:t>）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277225" y="5372100"/>
            <a:ext cx="30003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「别用更复杂的模型补烂数据」——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先分层评估、先补数据，再谈算法。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13 / 34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7" name="" descr="const controls = [&#10;    { icon: 'search', t: '抽样复核', d: '按 5–10% 随机抽检 AI 判定' },&#10;    { icon: 'sliders-h', t: '置信度门槛', d: '低于阈值自动转人工' },&#10;    { icon: 'user-check', t: '双签', d: '安全关键件 AI + 人共同确认' },&#10;    { icon: 'sync-alt', t: '定期回测', d: '每月用新数据重测召回率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上线四控制：AI 出证据，人留处置权&lt;/Text&gt;&#10;            &lt;Text style={{ fontSize: 17, color: '#64748B', marginTop: 4 }}&gt;敢上线的不是模型多准，是控制措施多硬&lt;/Text&gt;&#10;        &lt;/Box&gt;&#10;    &lt;/Box&gt;&#10;    &lt;Box style={{ flex: 1, flexDirection: 'row', gap: 26, marginTop: 14 }}&gt;&#10;        &lt;Box style={{ flex: 55, flexDirection: 'column', gap: 14 }}&gt;&#10;            &lt;Box style={{ flexDirection: 'row', gap: 16 }}&gt;&#10;                {controls.map((c, i) =&gt; (&#10;                    &lt;Box key={i} style={{ flex: 1, background: '#FFFFFF', borderRadius: 14, padding: '20px 16px', border: '1px solid #E2E8F0', boxShadow: '0 3px 12px rgba(30,58,138,0.05)', flexDirection: 'column', alignItems: 'center' }}&gt;&#10;                        &lt;Box style={{ width: 52, height: 52, borderRadius: 13, background: '#E0F7FA', justifyContent: 'center', alignItems: 'center', marginBottom: 12 }}&gt;&#10;                            &lt;FAIcon name={c.icon} style={{ fill: '#0891B2', width: 26, height: 26 }} /&gt;&#10;                        &lt;/Box&gt;&#10;                        &lt;Text style={{ fontSize: 18, fontWeight: 'bold', color: '#1E3A8A' }}&gt;{c.t}&lt;/Text&gt;&#10;                        &lt;Text style={{ fontSize: 14, color: '#43566b', lineHeight: 1.5, marginTop: 8, textAlign: 'center' }}&gt;{c.d}&lt;/Text&gt;&#10;                    &lt;/Box&gt;&#10;                ))}&#10;            &lt;/Box&gt;&#10;            &lt;Box style={{ flex: 1, background: '#FFFFFF', borderRadius: 16, padding: '20px 24px', border: '1px solid #E2E8F0' }}&gt;&#10;                &lt;Text style={{ fontSize: 17, fontWeight: 'bold', color: '#1E3A8A', marginBottom: 10 }}&gt;AI 的「证据包」长什么样&lt;/Text&gt;&#10;                &lt;Text style={{ fontSize: 16, color: '#43566b', lineHeight: 1.8 }}&gt;① 缺陷截图（圈出位置）&lt;br /&gt;② 置信度数值（87%）&lt;br /&gt;③ 命中的判定规则 / 相似样本&lt;br /&gt;&lt;span style={{ fontWeight: 'bold', color: '#B45309' }}&gt;人看到的是证据，不是「AI 说它有缺陷」这五个字。&lt;/span&gt;&lt;/Text&gt;&#10;            &lt;/Box&gt;&#10;        &lt;/Box&gt;&#10;        &lt;Box style={{ flex: 45, flexDirection: 'column', gap: 16 }}&gt;&#10;            &lt;Box style={{ background: '#1E3A8A', borderRadius: 18, padding: '24px 28px', flexDirection: 'column', alignItems: 'center' }}&gt;&#10;                &lt;Text style={{ fontSize: 15, color: '#7FD9F0', letterSpacing: 2 }}&gt;陕汽：单件外观检测&lt;/Text&gt;&#10;                &lt;Box style={{ flexDirection: 'row', alignItems: 'baseline', gap: 14, marginTop: 12 }}&gt;&#10;                    &lt;Text style={{ fontSize: 46, fontWeight: 'bold', color: '#FFFFFF', fontFamily: 'Space Grotesk, Inter' }}&gt;30 秒&lt;/Text&gt;&#10;                    &lt;Text style={{ fontSize: 22, color: '#7FD9F0' }}&gt;vs&lt;/Text&gt;&#10;                    &lt;Text style={{ fontSize: 26, fontWeight: 'bold', color: '#A9C4E8', fontFamily: 'Space Grotesk, Inter' }}&gt;2–3 小时&lt;/Text&gt;&#10;                &lt;/Box&gt;&#10;                &lt;Box style={{ marginTop: 16, padding: '8px 18px', background: '#F59E0B', borderRadius: 999 }}&gt;&#10;                    &lt;Text style={{ fontSize: 18, fontWeight: 'bold', color: '#FFFFFF' }}&gt;提速 240–360 倍&lt;/Text&gt;&#10;                &lt;/Box&gt;&#10;            &lt;/Box&gt;&#10;            &lt;Box style={{ flex: 1, background: '#FFFFFF', borderRadius: 16, padding: '20px 24px', border: '1px solid #E2E8F0' }}&gt;&#10;                &lt;Text style={{ fontSize: 17, fontWeight: 'bold', color: '#1E3A8A', marginBottom: 8 }}&gt;博世：误检率 -40%&lt;/Text&gt;&#10;                &lt;Text style={{ fontSize: 15, color: '#43566b', lineHeight: 1.7 }}&gt;靠的不是换更贵的模型，而是持续回测 + 样本迭代 —— 四控制里「定期回测」的回报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4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2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2768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上线四控制：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出证据，人留处置权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276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敢上线的不是模型多准，是控制措施多硬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85800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1114425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238250" y="1590675"/>
            <a:ext cx="247650" cy="24765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019175" y="2076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抽样复核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38200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5–10%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随机抽检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判定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2181225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609850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733675" y="1590675"/>
            <a:ext cx="247650" cy="247650"/>
          </a:xfrm>
          <a:prstGeom prst="rect">
            <a:avLst/>
          </a:prstGeom>
          <a:ln/>
        </p:spPr>
      </p:pic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2428875" y="20764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置信度门槛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2333625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低于阈值自动转人工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676650" y="1276350"/>
            <a:ext cx="1333500" cy="17621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4095750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4219575" y="1590675"/>
            <a:ext cx="247650" cy="247650"/>
          </a:xfrm>
          <a:prstGeom prst="rect">
            <a:avLst/>
          </a:prstGeom>
          <a:ln/>
        </p:spPr>
      </p:pic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171950" y="20764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双签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3829050" y="2362200"/>
            <a:ext cx="10287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安全关键件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AI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人共同确认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5162550" y="1276350"/>
            <a:ext cx="1343025" cy="1762125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8" name=""/>
          <p:cNvSpPr/>
          <p:nvPr/>
        </p:nvSpPr>
        <p:spPr>
          <a:xfrm rot="0" flipH="0" flipV="0">
            <a:off x="5591175" y="146685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0" y="1590675"/>
            <a:ext cx="247650" cy="247650"/>
          </a:xfrm>
          <a:prstGeom prst="rect">
            <a:avLst/>
          </a:prstGeom>
          <a:ln/>
        </p:spPr>
      </p:pic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495925" y="20764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定期回测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314950" y="2362200"/>
            <a:ext cx="1038225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每月用新数据重测召回率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3171825"/>
            <a:ext cx="5819775" cy="2981325"/>
          </a:xfrm>
          <a:prstGeom prst="roundRect">
            <a:avLst>
              <a:gd name="adj" fmla="val 51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3362325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的「证据包」长什么样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14400" y="3657600"/>
            <a:ext cx="5362575" cy="13239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① 异常截图（标出位置）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/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②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置信度数值（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87%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  <a:p>
            <a:pPr>
              <a:lnSpc>
                <a:spcPct val="180000"/>
              </a:lnSpc>
            </a:pP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③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命中的判定规则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相似样本</a:t>
            </a:r>
            <a:endParaRPr/>
          </a:p>
          <a:p>
            <a:pPr>
              <a:lnSpc>
                <a:spcPct val="18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人看到的是证据，不是「AI 说它有异常」这五个字。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/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753225" y="1276350"/>
            <a:ext cx="4752975" cy="1790700"/>
          </a:xfrm>
          <a:prstGeom prst="roundRect">
            <a:avLst>
              <a:gd name="adj" fmla="val 9574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401050" y="1504950"/>
            <a:ext cx="1457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跨行业标杆：单件外观检测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877175" y="1790700"/>
            <a:ext cx="10477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FFFFFF"/>
                </a:solidFill>
                <a:latin typeface="Space Grotesk"/>
                <a:ea typeface="Space Grotesk"/>
              </a:rPr>
              <a:t>30 </a:t>
            </a:r>
            <a:r>
              <a:rPr lang="zh-CN" sz="3450" b="1">
                <a:solidFill>
                  <a:srgbClr val="FFFFFF"/>
                </a:solidFill>
                <a:latin typeface="Space Grotesk"/>
                <a:ea typeface="Space Grotesk"/>
              </a:rPr>
              <a:t>秒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058275" y="1790700"/>
            <a:ext cx="20955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7FD9F0"/>
                </a:solidFill>
                <a:latin typeface="PingFang SC"/>
                <a:ea typeface="PingFang SC"/>
              </a:rPr>
              <a:t>vs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9401175" y="1790700"/>
            <a:ext cx="9810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A9C4E8"/>
                </a:solidFill>
                <a:latin typeface="Space Grotesk"/>
                <a:ea typeface="Space Grotesk"/>
              </a:rPr>
              <a:t>2–3 </a:t>
            </a:r>
            <a:r>
              <a:rPr lang="zh-CN" sz="1950" b="1">
                <a:solidFill>
                  <a:srgbClr val="A9C4E8"/>
                </a:solidFill>
                <a:latin typeface="Space Grotesk"/>
                <a:ea typeface="Space Grotesk"/>
              </a:rPr>
              <a:t>小时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8267700" y="2476500"/>
            <a:ext cx="1733550" cy="361950"/>
          </a:xfrm>
          <a:prstGeom prst="roundRect">
            <a:avLst>
              <a:gd name="adj" fmla="val 2628947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8439150" y="2552700"/>
            <a:ext cx="1390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提速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240–360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倍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753225" y="3219450"/>
            <a:ext cx="4752975" cy="2933700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981825" y="3409950"/>
            <a:ext cx="429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厂商案例：误检率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 -40%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981825" y="3686175"/>
            <a:ext cx="42957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靠的不是换更贵的模型，而是持续回测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样本迭代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四控制里「定期回测」的回报。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14 / 34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4&lt;/Text&gt;&#10;        &lt;Text style={{ fontSize: 18, color: '#7FD9F0', letterSpacing: 5, marginTop: 6 }}&gt;M4 · 3 课时&lt;/Text&gt;&#10;        &lt;Text style={{ fontSize: 54, fontWeight: 'bold', color: '#FFFFFF', marginTop: 20, lineHeight: 1.18 }}&gt;生产与供应链&lt;br /&gt;让节拍说话&lt;/Text&gt;&#10;        &lt;Box style={{ width: 84, height: 4, background: '#06B6D4', marginTop: 30 }} /&gt;&#10;        &lt;Text style={{ fontSize: 19, color: '#A9C4E8', marginTop: 22, lineHeight: 1.6 }}&gt;三钟不可互替 · 均值陷阱 · ABC 与关键度 · EBQ 与看板&lt;br /&gt;AI 五补位 + 权限红线：建议权给 AI，审批权给人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169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170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M4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流程与资源调度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让节拍说话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三钟不可互替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均值陷阱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ABC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与关键度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EBQ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与看板</a:t>
            </a:r>
            <a:endParaRPr/>
          </a:p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AI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五补位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权限红线：建议权给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AI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，审批权给人。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6" name="" descr="const clocks = [&#10;    { icon: 'bullseye', t: 'Takt 节拍', d: '客户的需求速率', who: '客户定', big: '2.0 分/件', note: '420 分钟 ÷ 210 件' },&#10;    { icon: 'stopwatch', t: 'Cycle 周期', d: '工序实际做一件要多久', who: '我们管', big: '1.8 分/件（均值）', note: '看 90 分位才真实' },&#10;    { icon: 'hourglass-half', t: 'Lead 提前期', d: '下订单到交货要多久', who: 'AI 压缩', big: '以天计', note: '预测 + 看板主战场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三钟：Takt / Cycle / Lead 不可互替&lt;/Text&gt;&#10;            &lt;Text style={{ fontSize: 17, color: '#64748B', marginTop: 4 }}&gt;很多「产能问题」，其实是把三个钟当成了同一个钟&lt;/Text&gt;&#10;        &lt;/Box&gt;&#10;    &lt;/Box&gt;&#10;    &lt;Box style={{ flexDirection: 'row', gap: 22, marginTop: 16 }}&gt;&#10;        {clocks.map((c, i) =&gt; (&#10;            &lt;Box key={i} style={{ flex: 1, background: '#FFFFFF', borderRadius: 16, padding: '24px 24px', border: '1px solid #E2E8F0', boxShadow: '0 4px 16px rgba(30,58,138,0.06)', flexDirection: 'column' }}&gt;&#10;                &lt;Box style={{ flexDirection: 'row', alignItems: 'center', gap: 12, marginBottom: 12 }}&gt;&#10;                    &lt;Box style={{ width: 52, height: 52, borderRadius: 13, background: i === 0 ? '#FEEFE0' : '#E0F7FA', justifyContent: 'center', alignItems: 'center' }}&gt;&#10;                        &lt;FAIcon name={c.icon} style={{ fill: i === 0 ? '#F59E0B' : '#0891B2', width: 26, height: 26 }} /&gt;&#10;                    &lt;/Box&gt;&#10;                    &lt;Box&gt;&#10;                        &lt;Text style={{ fontSize: 21, fontWeight: 'bold', color: '#1E3A8A' }}&gt;{c.t}&lt;/Text&gt;&#10;                        &lt;Text style={{ fontSize: 14, color: '#64748B', marginTop: 2 }}&gt;{c.d}&lt;/Text&gt;&#10;                    &lt;/Box&gt;&#10;                &lt;/Box&gt;&#10;                &lt;Text style={{ fontSize: 24, fontWeight: 'bold', color: i === 0 ? '#B45309' : '#0891B2', fontFamily: 'Space Grotesk, Inter' }}&gt;{c.big}&lt;/Text&gt;&#10;                &lt;Text style={{ fontSize: 14, color: '#43566b', marginTop: 6 }}&gt;{c.note}&lt;/Text&gt;&#10;                &lt;Box style={{ marginTop: 'auto', paddingTop: 14, borderTop: '2px solid #EAF1F8' }}&gt;&#10;                    &lt;Text style={{ fontSize: 15, fontWeight: 'bold', color: '#64748B' }}&gt;{c.who}&lt;/Text&gt;&#10;                &lt;/Box&gt;&#10;            &lt;/Box&gt;&#10;        ))}&#10;    &lt;/Box&gt;&#10;    &lt;Box style={{ flex: 1, flexDirection: 'row', gap: 24, marginTop: 20 }}&gt;&#10;        &lt;Box style={{ flex: 55, background: '#FFFFFF', borderRadius: 16, padding: '20px 26px', border: '1px solid #E2E8F0', flexDirection: 'column', justifyContent: 'center' }}&gt;&#10;            &lt;Text style={{ fontSize: 19, fontWeight: 'bold', color: '#1E3A8A' }}&gt;算一遍节拍&lt;/Text&gt;&#10;            &lt;Text style={{ fontSize: 26, fontWeight: 'bold', color: '#1E3A8A', fontFamily: 'Space Grotesk, Inter', marginTop: 12, textAlign: 'center' }}&gt;420 分钟 ÷ 210 件 = 2.0 分/件&lt;/Text&gt;&#10;            &lt;Text style={{ fontSize: 15, color: '#64748B', marginTop: 12, textAlign: 'center', lineHeight: 1.7 }}&gt;客户一天要 210 件，有效生产 420 分钟 ——&lt;br /&gt;每 2 分钟必须下线 1 件合格品，这是整条线的「心跳」。&lt;/Text&gt;&#10;        &lt;/Box&gt;&#10;        &lt;Box style={{ flex: 45, borderRadius: 18, overflow: 'hidden', background: '#1E3A8A', boxShadow: '0 8px 28px rgba(30,58,138,0.18)' }}&gt;&#10;            &lt;Image src=&quot;assets/lean_value_stream.png&quot; style={{ width: '100%', height: '100%', objectFit: 'cover' }} /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4292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三钟：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Takt / Cycle / Lead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不可互替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很多「产能问题」，其实是把三个钟当成了同一个钟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68580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2" name=""/>
          <p:cNvSpPr/>
          <p:nvPr/>
        </p:nvSpPr>
        <p:spPr>
          <a:xfrm rot="0" flipH="0" flipV="0">
            <a:off x="91440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38225" y="1647825"/>
            <a:ext cx="247650" cy="247650"/>
          </a:xfrm>
          <a:prstGeom prst="rect">
            <a:avLst/>
          </a:prstGeom>
          <a:ln/>
        </p:spPr>
      </p:pic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1524000" y="1562100"/>
            <a:ext cx="9334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Takt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节拍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524000" y="1828800"/>
            <a:ext cx="933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客户的需求速率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1440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B45309"/>
                </a:solidFill>
                <a:latin typeface="Space Grotesk"/>
                <a:ea typeface="Space Grotesk"/>
              </a:rPr>
              <a:t>2.0 </a:t>
            </a:r>
            <a:r>
              <a:rPr lang="zh-CN" sz="1800" b="1">
                <a:solidFill>
                  <a:srgbClr val="B45309"/>
                </a:solidFill>
                <a:latin typeface="Space Grotesk"/>
                <a:ea typeface="Space Grotesk"/>
              </a:rPr>
              <a:t>分</a:t>
            </a:r>
            <a:r>
              <a:rPr lang="en-US" sz="1800" b="1">
                <a:solidFill>
                  <a:srgbClr val="B45309"/>
                </a:solidFill>
                <a:latin typeface="Space Grotesk"/>
                <a:ea typeface="Space Grotesk"/>
              </a:rPr>
              <a:t>/</a:t>
            </a:r>
            <a:r>
              <a:rPr lang="zh-CN" sz="1800" b="1">
                <a:solidFill>
                  <a:srgbClr val="B45309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91440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420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分钟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÷ 210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91440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91440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客户定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36245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459105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1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14875" y="1647825"/>
            <a:ext cx="247650" cy="247650"/>
          </a:xfrm>
          <a:prstGeom prst="rect">
            <a:avLst/>
          </a:prstGeom>
          <a:ln/>
        </p:spPr>
      </p:pic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200650" y="1562100"/>
            <a:ext cx="13335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Cycle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周期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5200650" y="1828800"/>
            <a:ext cx="133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工序实际做一件要多久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59105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891B2"/>
                </a:solidFill>
                <a:latin typeface="Space Grotesk"/>
                <a:ea typeface="Space Grotesk"/>
              </a:rPr>
              <a:t>1.8 </a:t>
            </a: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分</a:t>
            </a:r>
            <a:r>
              <a:rPr lang="en-US" sz="1800" b="1">
                <a:solidFill>
                  <a:srgbClr val="0891B2"/>
                </a:solidFill>
                <a:latin typeface="Space Grotesk"/>
                <a:ea typeface="Space Grotesk"/>
              </a:rPr>
              <a:t>/</a:t>
            </a: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件（均值）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59105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90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分位才真实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59105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9105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我们管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8039100" y="1295400"/>
            <a:ext cx="3467100" cy="1885950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8267700" y="1524000"/>
            <a:ext cx="495300" cy="4953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91525" y="1647825"/>
            <a:ext cx="247650" cy="247650"/>
          </a:xfrm>
          <a:prstGeom prst="rect">
            <a:avLst/>
          </a:prstGeom>
          <a:ln/>
        </p:spPr>
      </p:pic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877300" y="15621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E3A8A"/>
                </a:solidFill>
                <a:latin typeface="PingFang SC"/>
                <a:ea typeface="PingFang SC"/>
              </a:rPr>
              <a:t>Lead </a:t>
            </a: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提前期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877300" y="1828800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下订单到交货要多久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8267700" y="2133600"/>
            <a:ext cx="3009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0891B2"/>
                </a:solidFill>
                <a:latin typeface="Space Grotesk"/>
                <a:ea typeface="Space Grotesk"/>
              </a:rPr>
              <a:t>以天计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267700" y="2466975"/>
            <a:ext cx="3009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预测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看板主战场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8267700" y="2628900"/>
            <a:ext cx="3009900" cy="342900"/>
          </a:xfrm>
          <a:custGeom>
            <a:pathLst>
              <a:path w="316" h="36">
                <a:moveTo>
                  <a:pt x="0" y="0"/>
                </a:moveTo>
                <a:lnTo>
                  <a:pt x="316" y="0"/>
                </a:lnTo>
                <a:lnTo>
                  <a:pt x="316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8267700" y="278130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125" b="1">
                <a:solidFill>
                  <a:srgbClr val="64748B"/>
                </a:solidFill>
                <a:latin typeface="PingFang SC"/>
                <a:ea typeface="PingFang SC"/>
              </a:rPr>
              <a:t>压缩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685800" y="3371850"/>
            <a:ext cx="5829300" cy="2781300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33450" y="4095750"/>
            <a:ext cx="5334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算一遍节拍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33450" y="4429125"/>
            <a:ext cx="5334000" cy="3048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420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分钟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 ÷ 210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 = 2.0 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分</a:t>
            </a:r>
            <a:r>
              <a:rPr lang="en-US" sz="1950" b="1">
                <a:solidFill>
                  <a:srgbClr val="1E3A8A"/>
                </a:solidFill>
                <a:latin typeface="Space Grotesk"/>
                <a:ea typeface="Space Grotesk"/>
              </a:rPr>
              <a:t>/</a:t>
            </a:r>
            <a:r>
              <a:rPr lang="zh-CN" sz="195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33450" y="4848225"/>
            <a:ext cx="5334000" cy="5905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客户一天要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210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件，有效生产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420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分钟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——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每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分钟必须下线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1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件合格品，这是整条线的「心跳」。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743700" y="3371850"/>
            <a:ext cx="4762500" cy="2781300"/>
          </a:xfrm>
          <a:prstGeom prst="roundRect">
            <a:avLst>
              <a:gd name="adj" fmla="val 6164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13" name=""/>
          <p:cNvPicPr>
            <a:picLocks noChangeAspect="1"/>
          </p:cNvPicPr>
          <p:nvPr/>
        </p:nvPicPr>
        <p:blipFill>
          <a:blip r:embed="rId4"/>
          <a:srcRect l="0" t="20800" r="0" b="20800"/>
          <a:stretch>
            <a:fillRect/>
          </a:stretch>
        </p:blipFill>
        <p:spPr>
          <a:xfrm rot="0" flipH="0" flipV="0">
            <a:off x="6743700" y="3371850"/>
            <a:ext cx="4762500" cy="2781300"/>
          </a:xfrm>
          <a:custGeom>
            <a:pathLst>
              <a:path w="500" h="292">
                <a:moveTo>
                  <a:pt x="482" y="0"/>
                </a:moveTo>
                <a:cubicBezTo>
                  <a:pt x="492" y="0"/>
                  <a:pt x="500" y="8"/>
                  <a:pt x="500" y="18"/>
                </a:cubicBezTo>
                <a:lnTo>
                  <a:pt x="500" y="274"/>
                </a:lnTo>
                <a:cubicBezTo>
                  <a:pt x="500" y="284"/>
                  <a:pt x="492" y="292"/>
                  <a:pt x="482" y="292"/>
                </a:cubicBezTo>
                <a:lnTo>
                  <a:pt x="18" y="292"/>
                </a:lnTo>
                <a:cubicBezTo>
                  <a:pt x="8" y="292"/>
                  <a:pt x="0" y="284"/>
                  <a:pt x="0" y="27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2" y="0"/>
                </a:lnTo>
                <a:close/>
              </a:path>
            </a:pathLst>
          </a:custGeom>
          <a:ln/>
        </p:spPr>
      </p:pic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16 / 34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16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均值陷阱：看着稳，其实在爆线&lt;/Text&gt;&#10;            &lt;Text style={{ fontSize: 17, color: '#64748B', marginTop: 4 }}&gt;用均值做决策，会把最危险的那 10% 藏起来&lt;/Text&gt;&#10;        &lt;/Box&gt;&#10;    &lt;/Box&gt;&#10;    &lt;Box style={{ flex: 1, flexDirection: 'row', gap: 24, marginTop: 14 }}&gt;&#10;        &lt;Box style={{ flex: 1, background: '#FFFFFF', borderRadius: 18, padding: '26px 30px', border: '1px solid #E2E8F0', flexDirection: 'column', alignItems: 'center', justifyContent: 'center' }}&gt;&#10;            &lt;Text style={{ fontSize: 16, color: '#64748B' }}&gt;工序周期均值&lt;/Text&gt;&#10;            &lt;Text style={{ fontSize: 68, fontWeight: 'bold', color: '#059669', fontFamily: 'Space Grotesk, Inter', marginTop: 8 }}&gt;1.8&lt;/Text&gt;&#10;            &lt;Text style={{ fontSize: 18, color: '#43566b' }}&gt;分钟/件&lt;/Text&gt;&#10;            &lt;Box style={{ marginTop: 16, padding: '8px 18px', background: '#EDF3FB', borderRadius: 999 }}&gt;&#10;                &lt;Text style={{ fontSize: 15, color: '#64748B' }}&gt;＜ 节拍 2.0，「产能够」的错觉&lt;/Text&gt;&#10;            &lt;/Box&gt;&#10;        &lt;/Box&gt;&#10;        &lt;Box style={{ width: 90, justifyContent: 'center', alignItems: 'center' }}&gt;&#10;            &lt;Text style={{ fontSize: 44, fontWeight: 'bold', color: '#F59E0B', fontFamily: 'Space Grotesk, Inter' }}&gt;→&lt;/Text&gt;&#10;        &lt;/Box&gt;&#10;        &lt;Box style={{ flex: 1, background: '#1E3A8A', borderRadius: 18, padding: '26px 30px', flexDirection: 'column', alignItems: 'center', justifyContent: 'center', boxShadow: '0 8px 28px rgba(30,58,138,0.25)' }}&gt;&#10;            &lt;Text style={{ fontSize: 16, color: '#7FD9F0' }}&gt;90 分位周期（真实尾部）&lt;/Text&gt;&#10;            &lt;Text style={{ fontSize: 68, fontWeight: 'bold', color: '#F8C471', fontFamily: 'Space Grotesk, Inter', marginTop: 8 }}&gt;2.4&lt;/Text&gt;&#10;            &lt;Text style={{ fontSize: 18, color: '#DCE9FB' }}&gt;分钟/件&lt;/Text&gt;&#10;            &lt;Box style={{ marginTop: 16, padding: '8px 18px', background: '#F59E0B', borderRadius: 999 }}&gt;&#10;                &lt;Text style={{ fontSize: 15, fontWeight: 'bold', color: '#FFFFFF' }}&gt;＞ 节拍 2.0 → 每 10 件就有 1 件爆线&lt;/Text&gt;&#10;            &lt;/Box&gt;&#10;        &lt;/Box&gt;&#10;    &lt;/Box&gt;&#10;    &lt;Box style={{ flexDirection: 'row', gap: 24, marginTop: 22 }}&gt;&#10;        &lt;Box style={{ flex: 1, padding: '18px 26px', background: '#FEEFE0', borderRadius: 14, border: '1px solid #FDE7C8' }}&gt;&#10;            &lt;Text style={{ fontSize: 20, fontWeight: 'bold', color: '#B45309' }}&gt;结论：先稳过程，再买产能&lt;/Text&gt;&#10;            &lt;Text style={{ fontSize: 15, color: '#43566b', marginTop: 8, lineHeight: 1.7 }}&gt;花几万元把周期波动压下来，比花几百万元加设备更划算 —— AI 在这里补「异常预警 + 波动归因」位。&lt;/Text&gt;&#10;        &lt;/Box&gt;&#10;        &lt;Box style={{ flex: 1, padding: '18px 26px', background: '#FFFFFF', borderRadius: 14, border: '1px solid #E2E8F0' }}&gt;&#10;            &lt;Text style={{ fontSize: 20, fontWeight: 'bold', color: '#1E3A8A' }}&gt;ABC 分类 + 关键度覆写&lt;/Text&gt;&#10;            &lt;Text style={{ fontSize: 15, color: '#43566b', marginTop: 8, lineHeight: 1.7 }}&gt;A 类高值物料 → AI 重点盯；C 类简单件 → 别浪费算力。&lt;br /&gt;但安全 / 质量红线可把 C 件「覆写」升级为重点 —— 价值维度之上还有风险维度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1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5339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均值陷阱：看着稳，其实在爆线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533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用均值做决策，会把最危险的那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10%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藏起来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85800" y="1276350"/>
            <a:ext cx="4752975" cy="31242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2609850" y="197167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工序周期均值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2609850" y="2238375"/>
            <a:ext cx="904875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059669"/>
                </a:solidFill>
                <a:latin typeface="Space Grotesk"/>
                <a:ea typeface="Space Grotesk"/>
              </a:rPr>
              <a:t>1.8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2762250" y="3019425"/>
            <a:ext cx="600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分钟</a:t>
            </a:r>
            <a:r>
              <a:rPr lang="en-US" sz="1350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1350">
                <a:solidFill>
                  <a:srgbClr val="43566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1885950" y="3381375"/>
            <a:ext cx="2362200" cy="323850"/>
          </a:xfrm>
          <a:prstGeom prst="roundRect">
            <a:avLst>
              <a:gd name="adj" fmla="val 2938235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2057400" y="3457575"/>
            <a:ext cx="2019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＜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节拍</a:t>
            </a:r>
            <a:r>
              <a:rPr lang="en-US" sz="1125">
                <a:solidFill>
                  <a:srgbClr val="64748B"/>
                </a:solidFill>
                <a:latin typeface="PingFang SC"/>
                <a:ea typeface="PingFang SC"/>
              </a:rPr>
              <a:t> 2.0</a:t>
            </a:r>
            <a:r>
              <a:rPr lang="zh-CN" sz="1125">
                <a:solidFill>
                  <a:srgbClr val="64748B"/>
                </a:solidFill>
                <a:latin typeface="PingFang SC"/>
                <a:ea typeface="PingFang SC"/>
              </a:rPr>
              <a:t>，「产能够」的错觉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886450" y="2590800"/>
            <a:ext cx="4191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3300" b="1">
                <a:solidFill>
                  <a:srgbClr val="F59E0B"/>
                </a:solidFill>
                <a:latin typeface="Space Grotesk"/>
                <a:ea typeface="Space Grotesk"/>
              </a:rPr>
              <a:t>→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753225" y="1276350"/>
            <a:ext cx="4752975" cy="3124200"/>
          </a:xfrm>
          <a:prstGeom prst="roundRect">
            <a:avLst>
              <a:gd name="adj" fmla="val 5488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8248650" y="1971675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FD9F0"/>
                </a:solidFill>
                <a:latin typeface="PingFang SC"/>
                <a:ea typeface="PingFang SC"/>
              </a:rPr>
              <a:t>90 </a:t>
            </a:r>
            <a:r>
              <a:rPr lang="zh-CN" sz="1200">
                <a:solidFill>
                  <a:srgbClr val="7FD9F0"/>
                </a:solidFill>
                <a:latin typeface="PingFang SC"/>
                <a:ea typeface="PingFang SC"/>
              </a:rPr>
              <a:t>分位周期（真实尾部）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8677275" y="2238375"/>
            <a:ext cx="904875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>
                <a:solidFill>
                  <a:srgbClr val="F8C471"/>
                </a:solidFill>
                <a:latin typeface="Space Grotesk"/>
                <a:ea typeface="Space Grotesk"/>
              </a:rPr>
              <a:t>2.4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829675" y="3019425"/>
            <a:ext cx="600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DCE9FB"/>
                </a:solidFill>
                <a:latin typeface="PingFang SC"/>
                <a:ea typeface="PingFang SC"/>
              </a:rPr>
              <a:t>分钟</a:t>
            </a:r>
            <a:r>
              <a:rPr lang="en-US" sz="1350">
                <a:solidFill>
                  <a:srgbClr val="DCE9FB"/>
                </a:solidFill>
                <a:latin typeface="PingFang SC"/>
                <a:ea typeface="PingFang SC"/>
              </a:rPr>
              <a:t>/</a:t>
            </a:r>
            <a:r>
              <a:rPr lang="zh-CN" sz="1350">
                <a:solidFill>
                  <a:srgbClr val="DCE9FB"/>
                </a:solidFill>
                <a:latin typeface="PingFang SC"/>
                <a:ea typeface="PingFang SC"/>
              </a:rPr>
              <a:t>件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7772400" y="3381375"/>
            <a:ext cx="2714625" cy="323850"/>
          </a:xfrm>
          <a:prstGeom prst="roundRect">
            <a:avLst>
              <a:gd name="adj" fmla="val 2938235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7943850" y="3457575"/>
            <a:ext cx="2371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＞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节拍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2.0 →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每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10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件就有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 1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件爆线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85800" y="4610100"/>
            <a:ext cx="5295900" cy="1524000"/>
          </a:xfrm>
          <a:prstGeom prst="roundRect">
            <a:avLst>
              <a:gd name="adj" fmla="val 8750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33450" y="4781550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结论：先稳过程，再买产能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4800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花几万元把周期波动压下来，比花几百万元加系统更划算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在这里补「异常预警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波动归因」位。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210300" y="4610100"/>
            <a:ext cx="5295900" cy="152400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457950" y="4781550"/>
            <a:ext cx="4800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ABC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分类</a:t>
            </a:r>
            <a:r>
              <a:rPr lang="en-US" sz="15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1500" b="1">
                <a:solidFill>
                  <a:srgbClr val="1E3A8A"/>
                </a:solidFill>
                <a:latin typeface="PingFang SC"/>
                <a:ea typeface="PingFang SC"/>
              </a:rPr>
              <a:t>关键度覆写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457950" y="5086350"/>
            <a:ext cx="48006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A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类高值资源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AI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重点盯；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C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类简单件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别浪费算力。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但安全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质量红线可把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C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件「覆写」升级为重点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价值维度之上还有风险维度。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058525" y="6362700"/>
            <a:ext cx="447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17 / 34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42" name="" descr="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EBQ 与经济看板：数字怎么来的&lt;/Text&gt;&#10;            &lt;Text style={{ fontSize: 17, color: '#64748B', marginTop: 4 }}&gt;两个公式，把「拍脑袋定库存」变成「算出来才下料」&lt;/Text&gt;&#10;        &lt;/Box&gt;&#10;    &lt;/Box&gt;&#10;    &lt;Box style={{ flex: 1, flexDirection: 'row', gap: 24, marginTop: 14 }}&gt;&#10;        &lt;Box style={{ flex: 1, background: '#FFFFFF', borderRadius: 18, padding: '26px 30px', border: '1px solid #E2E8F0', flexDirection: 'column', boxShadow: '0 4px 16px rgba(30,58,138,0.06)' }}&gt;&#10;            &lt;Text style={{ fontSize: 17, color: '#64748B' }}&gt;经济批量 EBQ（采购/生产一批多少件最划算）&lt;/Text&gt;&#10;            &lt;Text style={{ fontSize: 60, fontWeight: 'bold', color: '#1E3A8A', fontFamily: 'Space Grotesk, Inter', marginTop: 14 }}&gt;≈ 1033 件&lt;/Text&gt;&#10;            &lt;Box style={{ marginTop: 18, padding: '14px 20px', background: '#F5F8FC', borderRadius: 12, border: '1px dashed #06B6D4' }}&gt;&#10;                &lt;Text style={{ fontSize: 17, color: '#0891B2', fontFamily: 'Space Grotesk, Inter' }}&gt;√(2 × 年需求 × 订货成本 ÷ 持有成本)&lt;/Text&gt;&#10;            &lt;/Box&gt;&#10;            &lt;Text style={{ fontSize: 15, color: '#43566b', marginTop: 16, lineHeight: 1.7 }}&gt;订货成本与持有成本打架：批越小订得勤（贵），批越大压库存（也贵）—— 平衡点就是 EBQ。&lt;br /&gt;&lt;span style={{ fontWeight: 'bold', color: '#B45309' }}&gt;AI 补位：需求波动时，EBQ 该每天重算，而不是年初算一次。&lt;/span&gt;&lt;/Text&gt;&#10;        &lt;/Box&gt;&#10;        &lt;Box style={{ flex: 1, background: '#1E3A8A', borderRadius: 18, padding: '26px 30px', flexDirection: 'column', boxShadow: '0 8px 28px rgba(30,58,138,0.25)' }}&gt;&#10;            &lt;Text style={{ fontSize: 17, color: '#7FD9F0' }}&gt;看板卡数（线上流动多少张卡最顺）&lt;/Text&gt;&#10;            &lt;Text style={{ fontSize: 60, fontWeight: 'bold', color: '#FFFFFF', fontFamily: 'Space Grotesk, Inter', marginTop: 14 }}&gt;22 张&lt;/Text&gt;&#10;            &lt;Box style={{ marginTop: 18, padding: '14px 20px', background: 'rgba(6,182,212,0.15)', borderRadius: 12, border: '1px solid rgba(6,182,212,0.5)' }}&gt;&#10;                &lt;Text style={{ fontSize: 16, color: '#7FD9F0', fontFamily: 'Space Grotesk, Inter' }}&gt;500 件/天 × 2 天 × 1.10 ÷ 50 件/卡&lt;/Text&gt;&#10;            &lt;/Box&gt;&#10;            &lt;Text style={{ fontSize: 15, color: '#DCE9FB', marginTop: 16, lineHeight: 1.7 }}&gt;需求 × 补货周期 × 保险系数 ÷ 容器容量。&lt;br /&gt;卡是「流动的许可证」—— 没有卡，上游不许生产。&lt;/Text&gt;&#10;        &lt;/Box&gt;&#10;    &lt;/Box&gt;&#10;    &lt;Box style={{ marginTop: 20, padding: '14px 24px', background: '#FEF2F2', borderRadius: 12, border: '1px solid #FECACA', flexDirection: 'row', alignItems: 'center', gap: 14 }}&gt;&#10;        &lt;FAIcon name=&quot;exclamation-triangle&quot; style={{ fill: '#DC2626', width: 22, height: 22 }} /&gt;&#10;        &lt;Text style={{ fontSize: 18, fontWeight: 'bold', color: '#DC2626' }}&gt;警语：「缺料就加卡」= 掩盖交期问题 —— 看板卡越加越多不是成绩，是仓库替供应商背锅的警报灯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8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6767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EBQ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与经济看板：数字怎么来的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676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两个公式，把「拍脑袋定库存」变成「算出来才下单」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85800" y="1276350"/>
            <a:ext cx="5295900" cy="4210050"/>
          </a:xfrm>
          <a:prstGeom prst="roundRect">
            <a:avLst>
              <a:gd name="adj" fmla="val 40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971550" y="1524000"/>
            <a:ext cx="472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经济批量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EBQ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（采购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/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生产一批多少件最划算）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971550" y="1857375"/>
            <a:ext cx="4724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1E3A8A"/>
                </a:solidFill>
                <a:latin typeface="Space Grotesk"/>
                <a:ea typeface="Space Grotesk"/>
              </a:rPr>
              <a:t>≈ 1033 </a:t>
            </a:r>
            <a:r>
              <a:rPr lang="zh-CN" sz="4500" b="1">
                <a:solidFill>
                  <a:srgbClr val="1E3A8A"/>
                </a:solidFill>
                <a:latin typeface="Space Grotesk"/>
                <a:ea typeface="Space Grotesk"/>
              </a:rPr>
              <a:t>件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971550" y="2714625"/>
            <a:ext cx="4724400" cy="466725"/>
          </a:xfrm>
          <a:prstGeom prst="roundRect">
            <a:avLst>
              <a:gd name="adj" fmla="val 24490"/>
            </a:avLst>
          </a:prstGeom>
          <a:solidFill>
            <a:srgbClr val="F5F8FC"/>
          </a:solidFill>
          <a:ln w="12700">
            <a:solidFill>
              <a:srgbClr val="06B6D4"/>
            </a:solidFill>
            <a:prstDash val="dash"/>
          </a:ln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62050" y="2847975"/>
            <a:ext cx="4343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√(2 ×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年需求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 ×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订货成本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 ÷ </a:t>
            </a:r>
            <a:r>
              <a:rPr lang="zh-CN" sz="1275">
                <a:solidFill>
                  <a:srgbClr val="0891B2"/>
                </a:solidFill>
                <a:latin typeface="Space Grotesk"/>
                <a:ea typeface="Space Grotesk"/>
              </a:rPr>
              <a:t>持有成本</a:t>
            </a:r>
            <a:r>
              <a:rPr lang="en-US" sz="1275">
                <a:solidFill>
                  <a:srgbClr val="0891B2"/>
                </a:solidFill>
                <a:latin typeface="Space Grotesk"/>
                <a:ea typeface="Space Grotesk"/>
              </a:rPr>
              <a:t>)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971550" y="3333750"/>
            <a:ext cx="47244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订货成本与持有成本打架：批越小订得勤（贵），批越大压库存（也贵）——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平衡点就是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EBQ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。</a:t>
            </a:r>
            <a:endParaRPr/>
          </a:p>
          <a:p>
            <a:pPr>
              <a:lnSpc>
                <a:spcPct val="170000"/>
              </a:lnSpc>
            </a:pP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补位：需求波动时，</a:t>
            </a:r>
            <a:r>
              <a:rPr lang="en-US" sz="1125" b="1">
                <a:solidFill>
                  <a:srgbClr val="B45309"/>
                </a:solidFill>
                <a:latin typeface="PingFang SC"/>
                <a:ea typeface="PingFang SC"/>
              </a:rPr>
              <a:t>EBQ </a:t>
            </a: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该每天重算，而不是年初算一次。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210300" y="1276350"/>
            <a:ext cx="5295900" cy="4210050"/>
          </a:xfrm>
          <a:prstGeom prst="roundRect">
            <a:avLst>
              <a:gd name="adj" fmla="val 407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96050" y="1524000"/>
            <a:ext cx="4724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7FD9F0"/>
                </a:solidFill>
                <a:latin typeface="PingFang SC"/>
                <a:ea typeface="PingFang SC"/>
              </a:rPr>
              <a:t>看板卡数（线上流动多少张卡最顺）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496050" y="1857375"/>
            <a:ext cx="4724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FFFFFF"/>
                </a:solidFill>
                <a:latin typeface="Space Grotesk"/>
                <a:ea typeface="Space Grotesk"/>
              </a:rPr>
              <a:t>22 </a:t>
            </a:r>
            <a:r>
              <a:rPr lang="zh-CN" sz="4500" b="1">
                <a:solidFill>
                  <a:srgbClr val="FFFFFF"/>
                </a:solidFill>
                <a:latin typeface="Space Grotesk"/>
                <a:ea typeface="Space Grotesk"/>
              </a:rPr>
              <a:t>张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496050" y="2714625"/>
            <a:ext cx="4724400" cy="457200"/>
          </a:xfrm>
          <a:prstGeom prst="roundRect">
            <a:avLst>
              <a:gd name="adj" fmla="val 2500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686550" y="2847975"/>
            <a:ext cx="4343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500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件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/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天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 × 2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天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 × 1.10 ÷ 50 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件</a:t>
            </a:r>
            <a:r>
              <a:rPr lang="en-US" sz="1200">
                <a:solidFill>
                  <a:srgbClr val="7FD9F0"/>
                </a:solidFill>
                <a:latin typeface="Space Grotesk"/>
                <a:ea typeface="Space Grotesk"/>
              </a:rPr>
              <a:t>/</a:t>
            </a:r>
            <a:r>
              <a:rPr lang="zh-CN" sz="1200">
                <a:solidFill>
                  <a:srgbClr val="7FD9F0"/>
                </a:solidFill>
                <a:latin typeface="Space Grotesk"/>
                <a:ea typeface="Space Grotesk"/>
              </a:rPr>
              <a:t>卡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496050" y="3324225"/>
            <a:ext cx="4724400" cy="5905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需求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×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补货周期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×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保险系数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÷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容器容量。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卡是「流动的许可证」——</a:t>
            </a:r>
            <a:r>
              <a:rPr lang="en-US" sz="1125">
                <a:solidFill>
                  <a:srgbClr val="DCE9FB"/>
                </a:solidFill>
                <a:latin typeface="PingFang SC"/>
                <a:ea typeface="PingFang SC"/>
              </a:rPr>
              <a:t> </a:t>
            </a:r>
            <a:r>
              <a:rPr lang="zh-CN" sz="1125">
                <a:solidFill>
                  <a:srgbClr val="DCE9FB"/>
                </a:solidFill>
                <a:latin typeface="PingFang SC"/>
                <a:ea typeface="PingFang SC"/>
              </a:rPr>
              <a:t>没有卡，上游不许生产。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85800" y="5676900"/>
            <a:ext cx="10820400" cy="47625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2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5810250"/>
            <a:ext cx="209550" cy="209550"/>
          </a:xfrm>
          <a:prstGeom prst="rect">
            <a:avLst/>
          </a:prstGeom>
          <a:ln/>
        </p:spPr>
      </p:pic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257300" y="5810250"/>
            <a:ext cx="782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警语：「缺货就加卡」</a:t>
            </a:r>
            <a:r>
              <a:rPr lang="en-US" sz="1350" b="1">
                <a:solidFill>
                  <a:srgbClr val="DC2626"/>
                </a:solidFill>
                <a:latin typeface="PingFang SC"/>
                <a:ea typeface="PingFang SC"/>
              </a:rPr>
              <a:t>= </a:t>
            </a: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掩盖交期问题</a:t>
            </a:r>
            <a:r>
              <a:rPr lang="en-US" sz="1350" b="1">
                <a:solidFill>
                  <a:srgbClr val="DC2626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DC2626"/>
                </a:solidFill>
                <a:latin typeface="PingFang SC"/>
                <a:ea typeface="PingFang SC"/>
              </a:rPr>
              <a:t>看板卡越加越多不是成绩，是仓库替供应商背锅的警报灯。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18 / 34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64" name="" descr="const fills = [&#10;    { icon: 'calendar-check', t: '排产优化', d: '多约束下给出可执行的排程建议' },&#10;    { icon: 'bell', t: '异常预警', d: '设备 / 物料 / 交期异常提前喊话' },&#10;    { icon: 'chart-line', t: '需求预测', d: '把下月要多少料算得更准' },&#10;    { icon: 'star', t: '供应商评分', d: '交期、质量、价格多维打分排序' },&#10;    { icon: 'comment-dots', t: '知识问答', d: '采购规则、历史成交价一问就有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AI 五补位 + 一条权限红线&lt;/Text&gt;&#10;            &lt;Text style={{ fontSize: 17, color: '#64748B', marginTop: 4 }}&gt;生产与供应链里，AI 能干什么、不能干什么&lt;/Text&gt;&#10;        &lt;/Box&gt;&#10;    &lt;/Box&gt;&#10;    &lt;Box style={{ flex: 1, flexDirection: 'row', gap: 26, marginTop: 14 }}&gt;&#10;        &lt;Box style={{ flex: 52, flexDirection: 'column', gap: 10 }}&gt;&#10;            {fills.map((f, i) =&gt; (&#10;                &lt;Box key={i} style={{ flex: 1, background: '#FFFFFF', borderRadius: 12, border: '1px solid #E2E8F0', flexDirection: 'row', alignItems: 'center', gap: 14, padding: '0 20px', boxShadow: '0 2px 10px rgba(30,58,138,0.04)' }}&gt;&#10;                    &lt;Box style={{ width: 44, height: 44, borderRadius: 11, background: '#E0F7FA', justifyContent: 'center', alignItems: 'center' }}&gt;&#10;                        &lt;FAIcon name={f.icon} style={{ fill: '#0891B2', width: 22, height: 22 }} /&gt;&#10;                    &lt;/Box&gt;&#10;                    &lt;Text style={{ fontSize: 18, fontWeight: 'bold', color: '#1E3A8A', width: 130 }}&gt;{f.t}&lt;/Text&gt;&#10;                    &lt;Text style={{ flex: 1, fontSize: 15, color: '#43566b' }}&gt;{f.d}&lt;/Text&gt;&#10;                &lt;/Box&gt;&#10;            ))}&#10;        &lt;/Box&gt;&#10;        &lt;Box style={{ flex: 48, background: '#1E3A8A', borderRadius: 18, padding: '26px 30px', flexDirection: 'column', boxShadow: '0 8px 28px rgba(30,58,138,0.25)' }}&gt;&#10;            &lt;Box style={{ flexDirection: 'row', alignItems: 'center', gap: 12, marginBottom: 18 }}&gt;&#10;                &lt;FAIcon name=&quot;shield-alt&quot; style={{ fill: '#F59E0B', width: 26, height: 26 }} /&gt;&#10;                &lt;Text style={{ fontSize: 22, fontWeight: 'bold', color: '#FFFFFF' }}&gt;权限红线&lt;/Text&gt;&#10;            &lt;/Box&gt;&#10;            &lt;Box style={{ background: 'rgba(6,182,212,0.15)', borderRadius: 12, padding: '16px 20px', border: '1px solid rgba(6,182,212,0.5)' }}&gt;&#10;                &lt;Text style={{ fontSize: 15, color: '#7FD9F0', letterSpacing: 2, marginBottom: 8 }}&gt;AI 可以做&lt;/Text&gt;&#10;                &lt;Text style={{ fontSize: 17, color: '#FFFFFF', lineHeight: 1.8 }}&gt;评分 · 预测 · 排序 · 建议 · 解释&lt;br /&gt;&lt;span style={{ fontSize: 14, color: '#A9C4E8' }}&gt;（给出「为什么建议这样」的证据链）&lt;/span&gt;&lt;/Text&gt;&#10;            &lt;/Box&gt;&#10;            &lt;Box style={{ marginTop: 12, background: 'rgba(245,158,11,0.15)', borderRadius: 12, padding: '16px 20px', border: '1px solid rgba(245,158,11,0.6)' }}&gt;&#10;                &lt;Text style={{ fontSize: 15, color: '#F8C471', letterSpacing: 2, marginBottom: 8 }}&gt;人必须做&lt;/Text&gt;&#10;                &lt;Text style={{ fontSize: 17, color: '#FFFFFF', lineHeight: 1.8 }}&gt;校验 · 审批 · 记录&lt;br /&gt;&lt;span style={{ fontSize: 14, color: '#A9C4E8' }}&gt;（每一笔下单、每一次审批都要留人签字）&lt;/span&gt;&lt;/Text&gt;&#10;            &lt;/Box&gt;&#10;            &lt;Box style={{ marginTop: 'auto', paddingTop: 16 }}&gt;&#10;                &lt;Text style={{ fontSize: 16, fontWeight: 'bold', color: '#F8C471' }}&gt;AI 永远不自己下单、不自己付款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1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433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五补位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一条权限红线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743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流程与资源调度里，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能干什么、不能干什么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85800" y="1276350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876300" y="151447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19250"/>
            <a:ext cx="209550" cy="209550"/>
          </a:xfrm>
          <a:prstGeom prst="rect">
            <a:avLst/>
          </a:prstGeom>
          <a:ln/>
        </p:spPr>
      </p:pic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28750" y="161925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排产优化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2800350" y="163830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多约束下给出可执行的排程建议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85800" y="2266950"/>
            <a:ext cx="5495925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876300" y="2514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81075" y="2619375"/>
            <a:ext cx="209550" cy="209550"/>
          </a:xfrm>
          <a:prstGeom prst="rect">
            <a:avLst/>
          </a:prstGeom>
          <a:ln/>
        </p:spPr>
      </p:pic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428750" y="2619375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异常预警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2800350" y="2638425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系统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资源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交期异常提前喊话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85800" y="3267075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876300" y="35052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81075" y="3609975"/>
            <a:ext cx="209550" cy="20955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428750" y="3609975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需求预测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2800350" y="3629025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把下月要多少料算得更准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685800" y="4257675"/>
            <a:ext cx="5495925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876300" y="45053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81075" y="4610100"/>
            <a:ext cx="209550" cy="209550"/>
          </a:xfrm>
          <a:prstGeom prst="rect">
            <a:avLst/>
          </a:prstGeom>
          <a:ln/>
        </p:spPr>
      </p:pic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428750" y="461010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供应商评分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800350" y="462915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交期、质量、价格多维打分排序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685800" y="5257800"/>
            <a:ext cx="5495925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76300" y="5495925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2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81075" y="5600700"/>
            <a:ext cx="209550" cy="209550"/>
          </a:xfrm>
          <a:prstGeom prst="rect">
            <a:avLst/>
          </a:prstGeom>
          <a:ln/>
        </p:spPr>
      </p:pic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428750" y="5600700"/>
            <a:ext cx="1238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知识问答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2800350" y="5619750"/>
            <a:ext cx="319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采购规则、历史成交价一问就有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715125" y="1533525"/>
            <a:ext cx="247650" cy="2476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077075" y="1524000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715125" y="1952625"/>
            <a:ext cx="4505325" cy="1190625"/>
          </a:xfrm>
          <a:prstGeom prst="roundRect">
            <a:avLst>
              <a:gd name="adj" fmla="val 9600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905625" y="2105025"/>
            <a:ext cx="412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D9F0"/>
                </a:solidFill>
                <a:latin typeface="PingFang SC"/>
                <a:ea typeface="PingFang SC"/>
              </a:rPr>
              <a:t>AI </a:t>
            </a:r>
            <a:r>
              <a:rPr lang="zh-CN" sz="1125" spc="150">
                <a:solidFill>
                  <a:srgbClr val="7FD9F0"/>
                </a:solidFill>
                <a:latin typeface="PingFang SC"/>
                <a:ea typeface="PingFang SC"/>
              </a:rPr>
              <a:t>可以做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905625" y="2352675"/>
            <a:ext cx="4124325" cy="6381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评分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预测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排序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建议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解释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（给出「为什么建议这样」的证据链）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6715125" y="3257550"/>
            <a:ext cx="4505325" cy="1190625"/>
          </a:xfrm>
          <a:prstGeom prst="roundRect">
            <a:avLst>
              <a:gd name="adj" fmla="val 9600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905625" y="3409950"/>
            <a:ext cx="412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F8C471"/>
                </a:solidFill>
                <a:latin typeface="PingFang SC"/>
                <a:ea typeface="PingFang SC"/>
              </a:rPr>
              <a:t>人必须做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905625" y="3657600"/>
            <a:ext cx="4124325" cy="6381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校验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审批</a:t>
            </a:r>
            <a:r>
              <a:rPr lang="en-US" sz="1275">
                <a:solidFill>
                  <a:srgbClr val="FFFFFF"/>
                </a:solidFill>
                <a:latin typeface="PingFang SC"/>
                <a:ea typeface="PingFang SC"/>
              </a:rPr>
              <a:t> · </a:t>
            </a:r>
            <a:r>
              <a:rPr lang="zh-CN" sz="1275">
                <a:solidFill>
                  <a:srgbClr val="FFFFFF"/>
                </a:solidFill>
                <a:latin typeface="PingFang SC"/>
                <a:ea typeface="PingFang SC"/>
              </a:rPr>
              <a:t>记录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（每一笔下单、每一次审批都要留人签字）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715125" y="5715000"/>
            <a:ext cx="450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8C471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F8C471"/>
                </a:solidFill>
                <a:latin typeface="PingFang SC"/>
                <a:ea typeface="PingFang SC"/>
              </a:rPr>
              <a:t>永远不自己下单、不自己付款。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19 / 34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5&lt;/Text&gt;&#10;        &lt;Text style={{ fontSize: 18, color: '#7FD9F0', letterSpacing: 5, marginTop: 6 }}&gt;M5 · 3 课时&lt;/Text&gt;&#10;        &lt;Text style={{ fontSize: 54, fontWeight: 'bold', color: '#FFFFFF', marginTop: 20, lineHeight: 1.18 }}&gt;知识 RAG 与工业智能体&lt;br /&gt;把老师傅的经验装进系统&lt;/Text&gt;&#10;        &lt;Box style={{ width: 84, height: 4, background: '#06B6D4', marginTop: 30 }} /&gt;&#10;        &lt;Text style={{ fontSize: 19, color: '#A9C4E8', marginTop: 22, lineHeight: 1.6 }}&gt;五步建知识库 · 来源权威分级 · 接地三要件 · 受控发布&lt;br /&gt;实操：修一个 SOP 助手 · 看懂工业智能体最小形态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36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36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M5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知识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RAG </a:t>
            </a: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与行业智能体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把老师傅的经验装进系统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五步建知识库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来源权威分级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接地三要件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受控发布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实操：修一个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SOP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助手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看懂行业智能体最小形态。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8" name="" descr="const steps = ['切分', '嵌入', '向量库', '检索', '增强'];&#10;const ranks = [&#10;    { t: '厂商手册', d: '设备原厂参数与限位', w: 100 },&#10;    { t: '受控作业指导书', d: '受版本管理、经审批', w: 80 },&#10;    { t: '工艺标准', d: '企业内控标准', w: 60 },&#10;    { t: '历史工单', d: '修过什么、怎么修的', w: 40 },&#10;    { t: '技师笔记', d: '经验线索，需人核实', w: 22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AG 五步 + 来源权威分级&lt;/Text&gt;&#10;            &lt;Text style={{ fontSize: 17, color: '#64748B', marginTop: 4 }}&gt;初级讲过原理，这页讲工业现场怎么落地：喂什么、听谁的&lt;/Text&gt;&#10;        &lt;/Box&gt;&#10;    &lt;/Box&gt;&#10;    &lt;Box style={{ flex: 1, flexDirection: 'row', gap: 26, marginTop: 14 }}&gt;&#10;        &lt;Box style={{ flex: 52, flexDirection: 'column' }}&gt;&#10;            &lt;Box style={{ flexDirection: 'row', alignItems: 'center', gap: 6 }}&gt;&#10;                {steps.map((s, i) =&gt; (&#10;                    &lt;Box key={i} style={{ flexDirection: 'row', alignItems: 'center', gap: 6 }}&gt;&#10;                        &lt;Box style={{ padding: '12px 16px', background: i === 4 ? '#1E3A8A' : '#FFFFFF', borderRadius: 10, border: '1px solid ' + (i === 4 ? '#1E3A8A' : '#E2E8F0'), boxShadow: '0 2px 10px rgba(30,58,138,0.05)' }}&gt;&#10;                            &lt;Text style={{ fontSize: 18, fontWeight: 'bold', color: i === 4 ? '#FFFFFF' : '#1E3A8A' }}&gt;{s}&lt;/Text&gt;&#10;                        &lt;/Box&gt;&#10;                        {i &lt; steps.length - 1 &amp;&amp; &lt;FAIcon name=&quot;arrow-right&quot; style={{ fill: '#06B6D4', width: 16, height: 16 }} /&gt;}&#10;                    &lt;/Box&gt;&#10;                ))}&#10;            &lt;/Box&gt;&#10;            &lt;Box style={{ flex: 1, background: '#FFFFFF', borderRadius: 16, padding: '20px 24px', marginTop: 18, border: '1px solid #E2E8F0', flexDirection: 'column' }}&gt;&#10;                &lt;Text style={{ fontSize: 17, fontWeight: 'bold', color: '#1E3A8A', marginBottom: 10 }}&gt;每一步在车间的样子&lt;/Text&gt;&#10;                &lt;Text style={{ fontSize: 15, color: '#43566b', lineHeight: 1.9 }}&gt;&#10;                    &lt;span style={{ fontWeight: 'bold', color: '#0891B2' }}&gt;切分&lt;/span&gt; —— SOP 按工序拆段，不按字数硬切&lt;br /&gt;&#10;                    &lt;span style={{ fontWeight: 'bold', color: '#0891B2' }}&gt;嵌入 + 向量库&lt;/span&gt; —— 存进厂内知识库平台（如 Dify）&lt;br /&gt;&#10;                    &lt;span style={{ fontWeight: 'bold', color: '#0891B2' }}&gt;检索&lt;/span&gt; —— 只取最相关的 3–5 段，不喂全文&lt;br /&gt;&#10;                    &lt;span style={{ fontWeight: 'bold', color: '#0891B2' }}&gt;增强&lt;/span&gt; —— 模型「照着这几段」作答并附出处&#10;                &lt;/Text&gt;&#10;                &lt;Box style={{ marginTop: 'auto', paddingTop: 12, borderTop: '2px solid #EAF1F8' }}&gt;&#10;                    &lt;Text style={{ fontSize: 15, color: '#B45309', fontWeight: 'bold' }}&gt;工业现场最大的坑：喂进去的资料本身版本混乱、过期未撤。&lt;/Text&gt;&#10;                &lt;/Box&gt;&#10;            &lt;/Box&gt;&#10;        &lt;/Box&gt;&#10;        &lt;Box style={{ flex: 48, background: '#FFFFFF', borderRadius: 16, padding: '22px 26px', border: '1px solid #E2E8F0', boxShadow: '0 4px 16px rgba(30,58,138,0.06)', flexDirection: 'column' }}&gt;&#10;            &lt;Text style={{ fontSize: 18, fontWeight: 'bold', color: '#1E3A8A' }}&gt;来源权威分级（谁的话更可信）&lt;/Text&gt;&#10;            {ranks.map((r, i) =&gt; (&#10;                &lt;Box key={i} style={{ marginTop: i === 0 ? 16 : 12 }}&gt;&#10;                    &lt;Box style={{ flexDirection: 'row', alignItems: 'center', gap: 10, marginBottom: 4 }}&gt;&#10;                        &lt;Text style={{ fontSize: 15, fontWeight: 'bold', color: i &lt; 2 ? '#B45309' : '#43566b' }}&gt;{r.t}&lt;/Text&gt;&#10;                        &lt;Text style={{ fontSize: 13, color: '#64748B' }}&gt;{r.d}&lt;/Text&gt;&#10;                    &lt;/Box&gt;&#10;                    &lt;Box style={{ height: 8, background: '#EDF3FB', borderRadius: 4, overflow: 'hidden' }}&gt;&#10;                        &lt;Box style={{ width: r.w + '%', height: 8, background: i &lt; 2 ? '#F59E0B' : '#06B6D4', borderRadius: 4 }} /&gt;&#10;                    &lt;/Box&gt;&#10;                &lt;/Box&gt;&#10;            ))}&#10;            &lt;Text style={{ fontSize: 14, color: '#64748B', marginTop: 'auto', paddingTop: 12 }}&gt;检索结果按权威度加权：手册 ＞ 作业指导书 ＞ 标准 ＞ 工单 ＞ 笔记 —— 冲突时，信上面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1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2100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RAG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五步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来源权威分级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210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初级讲过原理，这页讲工业现场怎么落地：喂什么、听谁的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580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83820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切分</a:t>
            </a:r>
            <a:endParaRPr/>
          </a:p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390650" y="1419225"/>
            <a:ext cx="152400" cy="152400"/>
          </a:xfrm>
          <a:prstGeom prst="rect">
            <a:avLst/>
          </a:prstGeom>
          <a:ln/>
        </p:spPr>
      </p:pic>
      <p:sp>
        <p:nvSpPr>
          <p:cNvPr id="376" name=""/>
          <p:cNvSpPr/>
          <p:nvPr/>
        </p:nvSpPr>
        <p:spPr>
          <a:xfrm rot="0" flipH="0" flipV="0">
            <a:off x="160020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175260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嵌入</a:t>
            </a:r>
            <a:endParaRPr/>
          </a:p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305050" y="1419225"/>
            <a:ext cx="152400" cy="152400"/>
          </a:xfrm>
          <a:prstGeom prst="rect">
            <a:avLst/>
          </a:prstGeom>
          <a:ln/>
        </p:spPr>
      </p:pic>
      <p:sp>
        <p:nvSpPr>
          <p:cNvPr id="379" name=""/>
          <p:cNvSpPr/>
          <p:nvPr/>
        </p:nvSpPr>
        <p:spPr>
          <a:xfrm rot="0" flipH="0" flipV="0">
            <a:off x="2514600" y="1276350"/>
            <a:ext cx="81915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2667000" y="1390650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向量库</a:t>
            </a:r>
            <a:endParaRPr/>
          </a:p>
        </p:txBody>
      </p:sp>
      <p:pic>
        <p:nvPicPr>
          <p:cNvPr id="3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390900" y="1419225"/>
            <a:ext cx="152400" cy="152400"/>
          </a:xfrm>
          <a:prstGeom prst="rect">
            <a:avLst/>
          </a:prstGeom>
          <a:ln/>
        </p:spPr>
      </p:pic>
      <p:sp>
        <p:nvSpPr>
          <p:cNvPr id="382" name=""/>
          <p:cNvSpPr/>
          <p:nvPr/>
        </p:nvSpPr>
        <p:spPr>
          <a:xfrm rot="0" flipH="0" flipV="0">
            <a:off x="360045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75285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检索</a:t>
            </a:r>
            <a:endParaRPr/>
          </a:p>
        </p:txBody>
      </p:sp>
      <p:pic>
        <p:nvPicPr>
          <p:cNvPr id="3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05300" y="1419225"/>
            <a:ext cx="152400" cy="152400"/>
          </a:xfrm>
          <a:prstGeom prst="rect">
            <a:avLst/>
          </a:prstGeom>
          <a:ln/>
        </p:spPr>
      </p:pic>
      <p:sp>
        <p:nvSpPr>
          <p:cNvPr id="385" name=""/>
          <p:cNvSpPr/>
          <p:nvPr/>
        </p:nvSpPr>
        <p:spPr>
          <a:xfrm rot="0" flipH="0" flipV="0">
            <a:off x="4514850" y="1276350"/>
            <a:ext cx="647700" cy="438150"/>
          </a:xfrm>
          <a:prstGeom prst="roundRect">
            <a:avLst>
              <a:gd name="adj" fmla="val 2173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667250" y="1390650"/>
            <a:ext cx="342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增强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685800" y="1885950"/>
            <a:ext cx="5495925" cy="42672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914400" y="2076450"/>
            <a:ext cx="5038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每一步在现场的样子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914400" y="2371725"/>
            <a:ext cx="5038725" cy="13049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切分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SOP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按工序拆段，不按字数硬切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嵌入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+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向量库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存进厂内知识库平台（如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Dify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）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检索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只取最相关的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3–5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段，不喂全文</a:t>
            </a:r>
            <a:endParaRPr/>
          </a:p>
          <a:p>
            <a:pPr>
              <a:lnSpc>
                <a:spcPct val="19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增强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模型「照着这几段」作答并附出处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914400" y="5657850"/>
            <a:ext cx="5038725" cy="323850"/>
          </a:xfrm>
          <a:custGeom>
            <a:pathLst>
              <a:path w="529" h="34">
                <a:moveTo>
                  <a:pt x="0" y="0"/>
                </a:moveTo>
                <a:lnTo>
                  <a:pt x="529" y="0"/>
                </a:lnTo>
                <a:lnTo>
                  <a:pt x="529" y="2"/>
                </a:lnTo>
                <a:lnTo>
                  <a:pt x="0" y="2"/>
                </a:lnTo>
                <a:close/>
              </a:path>
            </a:pathLst>
          </a:custGeom>
          <a:solidFill>
            <a:srgbClr val="EAF1F8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14400" y="5791200"/>
            <a:ext cx="503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工业现场最大的坑：喂进去的资料本身版本混乱、过期未撤。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6429375" y="1276350"/>
            <a:ext cx="5076825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677025" y="1485900"/>
            <a:ext cx="4581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来源权威分级（谁的话更可信）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677025" y="18478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厂商手册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343775" y="185737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系统原厂参数与限位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6677025" y="20574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397" name=""/>
          <p:cNvSpPr/>
          <p:nvPr/>
        </p:nvSpPr>
        <p:spPr>
          <a:xfrm rot="0" flipH="0" flipV="0">
            <a:off x="6677025" y="20574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677025" y="224790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B45309"/>
                </a:solidFill>
                <a:latin typeface="PingFang SC"/>
                <a:ea typeface="PingFang SC"/>
              </a:rPr>
              <a:t>受控作业指导书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7772400" y="225742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受版本管理、经审批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6677025" y="245745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1" name=""/>
          <p:cNvSpPr/>
          <p:nvPr/>
        </p:nvSpPr>
        <p:spPr>
          <a:xfrm rot="0" flipH="0" flipV="0">
            <a:off x="6677025" y="2457450"/>
            <a:ext cx="3667125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677025" y="26479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工艺标准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343775" y="2657475"/>
            <a:ext cx="742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企业内控标准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6677025" y="28575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5" name=""/>
          <p:cNvSpPr/>
          <p:nvPr/>
        </p:nvSpPr>
        <p:spPr>
          <a:xfrm rot="0" flipH="0" flipV="0">
            <a:off x="6677025" y="2857500"/>
            <a:ext cx="2752725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677025" y="30480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历史处理单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343775" y="305752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修过什么、怎么修的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6677025" y="325755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6677025" y="3257550"/>
            <a:ext cx="18288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677025" y="344805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3566B"/>
                </a:solidFill>
                <a:latin typeface="PingFang SC"/>
                <a:ea typeface="PingFang SC"/>
              </a:rPr>
              <a:t>技师笔记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7343775" y="3457575"/>
            <a:ext cx="1114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经验线索，需人核实</a:t>
            </a:r>
            <a:endParaRPr/>
          </a:p>
        </p:txBody>
      </p:sp>
      <p:sp>
        <p:nvSpPr>
          <p:cNvPr id="412" name=""/>
          <p:cNvSpPr/>
          <p:nvPr/>
        </p:nvSpPr>
        <p:spPr>
          <a:xfrm rot="0" flipH="0" flipV="0">
            <a:off x="6677025" y="3657600"/>
            <a:ext cx="4581525" cy="76200"/>
          </a:xfrm>
          <a:prstGeom prst="roundRect">
            <a:avLst>
              <a:gd name="adj" fmla="val 50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413" name=""/>
          <p:cNvSpPr/>
          <p:nvPr/>
        </p:nvSpPr>
        <p:spPr>
          <a:xfrm rot="0" flipH="0" flipV="0">
            <a:off x="6677025" y="3657600"/>
            <a:ext cx="100965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6677025" y="5505450"/>
            <a:ext cx="4581525" cy="438150"/>
          </a:xfrm>
          <a:prstGeom prst="rect"/>
        </p:spPr>
        <p:txBody>
          <a:bodyPr wrap="square" lIns="0" tIns="85725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检索结果按权威度加权：手册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作业指导书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标准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处理单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＞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笔记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冲突时，信上面。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11049000" y="63627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21 / 34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7" name="" descr="const rules = [&#10;    { icon: 'quote-right', t: '给引用', d: '每个结论附来源文档与段落，点得开、查得到' },&#10;    { icon: 'question-circle', t: '不确定要说', d: '置信度低时直说「把握不大」，不装懂' },&#10;    { icon: 'ban', t: '证据缺失拒答', d: '库里查不到就不答，宁可空着不编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接地三要件：工业知识库的「安全带」&lt;/Text&gt;&#10;            &lt;Text style={{ fontSize: 17, color: '#64748B', marginTop: 4 }}&gt;车间用的 AI，必须「有据可查、知难而退、不瞎编」&lt;/Text&gt;&#10;        &lt;/Box&gt;&#10;    &lt;/Box&gt;&#10;    &lt;Box style={{ flexDirection: 'row', gap: 20, marginTop: 16 }}&gt;&#10;        {rules.map((r, i) =&gt; (&#10;            &lt;Box key={i} style={{ flex: 1, background: '#FFFFFF', borderRadius: 16, padding: '22px 24px', border: '1px solid #E2E8F0', boxShadow: '0 4px 16px rgba(30,58,138,0.06)', flexDirection: 'column' }}&gt;&#10;                &lt;Box style={{ width: 58, height: 58, borderRadius: 14, background: '#E0F7FA', justifyContent: 'center', alignItems: 'center', marginBottom: 14 }}&gt;&#10;                    &lt;FAIcon name={r.icon} style={{ fill: '#0891B2', width: 28, height: 28 }} /&gt;&#10;                &lt;/Box&gt;&#10;                &lt;Text style={{ fontSize: 21, fontWeight: 'bold', color: '#1E3A8A', marginBottom: 8 }}&gt;{r.t}&lt;/Text&gt;&#10;                &lt;Text style={{ fontSize: 16, color: '#43566b', lineHeight: 1.65 }}&gt;{r.d}&lt;/Text&gt;&#10;            &lt;/Box&gt;&#10;        ))}&#10;    &lt;/Box&gt;&#10;    &lt;Box style={{ flex: 1, flexDirection: 'row', gap: 24, marginTop: 20 }}&gt;&#10;        &lt;Box style={{ flex: 1, background: '#FFFFFF', borderRadius: 16, padding: '20px 26px', border: '1px solid #E2E8F0' }}&gt;&#10;            &lt;Box style={{ flexDirection: 'row', alignItems: 'center', gap: 10, marginBottom: 12 }}&gt;&#10;                &lt;FAIcon name=&quot;lock&quot; style={{ fill: '#1E3A8A', width: 20, height: 20 }} /&gt;&#10;                &lt;Text style={{ fontSize: 18, fontWeight: 'bold', color: '#1E3A8A' }}&gt;受控发布&lt;/Text&gt;&#10;            &lt;/Box&gt;&#10;            &lt;Text style={{ fontSize: 16, color: '#43566b', lineHeight: 1.8 }}&gt;知识库内容更新走受控流程：起草 → 工艺确认 → 安全确认（含 LOTO 锁停挂牌步骤）→ 版本发布。&lt;br /&gt;&lt;span style={{ fontWeight: 'bold', color: '#B45309' }}&gt;AI 能改初稿，但不能自己改「发布版」。&lt;/span&gt;&lt;/Text&gt;&#10;        &lt;/Box&gt;&#10;        &lt;Box style={{ flex: 1, padding: '20px 26px', background: '#FEEFE0', borderRadius: 16, border: '2px solid #F59E0B', flexDirection: 'column', justifyContent: 'center' }}&gt;&#10;            &lt;Text style={{ fontSize: 22, fontWeight: 'bold', color: '#B45309' }}&gt;红线&lt;/Text&gt;&#10;            &lt;Text style={{ fontSize: 20, color: '#43566b', lineHeight: 1.7, marginTop: 10 }}&gt;AI 生成的内容，&lt;span style={{ fontWeight: 'bold', color: '#B45309' }}&gt;核准之前，永远只是草稿&lt;/span&gt; —— 对 SOP 如此，对报价单、对工单，同样如此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2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505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接地三要件：工业知识库的「安全带」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505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现场用的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AI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，必须「有据可查、知难而退、不瞎编」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685800" y="1295400"/>
            <a:ext cx="3476625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3" name=""/>
          <p:cNvSpPr/>
          <p:nvPr/>
        </p:nvSpPr>
        <p:spPr>
          <a:xfrm rot="0" flipH="0" flipV="0">
            <a:off x="914400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57275" y="1647825"/>
            <a:ext cx="266700" cy="266700"/>
          </a:xfrm>
          <a:prstGeom prst="rect">
            <a:avLst/>
          </a:prstGeom>
          <a:ln/>
        </p:spPr>
      </p:pic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914400" y="219075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给引用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914400" y="2514600"/>
            <a:ext cx="301942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每个结论附来源文档与段落，点得开、查得到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4352925" y="1295400"/>
            <a:ext cx="3486150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4581525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647825"/>
            <a:ext cx="266700" cy="266700"/>
          </a:xfrm>
          <a:prstGeom prst="rect">
            <a:avLst/>
          </a:prstGeom>
          <a:ln/>
        </p:spPr>
      </p:pic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4581525" y="2190750"/>
            <a:ext cx="30289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不确定要说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581525" y="2514600"/>
            <a:ext cx="3028950" cy="3048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置信度低时直说「把握不大」，不装懂</a:t>
            </a:r>
            <a:endParaRPr/>
          </a:p>
        </p:txBody>
      </p:sp>
      <p:sp>
        <p:nvSpPr>
          <p:cNvPr id="432" name=""/>
          <p:cNvSpPr/>
          <p:nvPr/>
        </p:nvSpPr>
        <p:spPr>
          <a:xfrm rot="0" flipH="0" flipV="0">
            <a:off x="8029575" y="1295400"/>
            <a:ext cx="3476625" cy="2038350"/>
          </a:xfrm>
          <a:prstGeom prst="roundRect">
            <a:avLst>
              <a:gd name="adj" fmla="val 74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8258175" y="1504950"/>
            <a:ext cx="552450" cy="552450"/>
          </a:xfrm>
          <a:prstGeom prst="roundRect">
            <a:avLst>
              <a:gd name="adj" fmla="val 24138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4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01050" y="1647825"/>
            <a:ext cx="266700" cy="266700"/>
          </a:xfrm>
          <a:prstGeom prst="rect">
            <a:avLst/>
          </a:prstGeom>
          <a:ln/>
        </p:spPr>
      </p:pic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8258175" y="2190750"/>
            <a:ext cx="3019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E3A8A"/>
                </a:solidFill>
                <a:latin typeface="PingFang SC"/>
                <a:ea typeface="PingFang SC"/>
              </a:rPr>
              <a:t>证据缺失拒答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8258175" y="2514600"/>
            <a:ext cx="3019425" cy="3048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库里查不到就不答，宁可空着不编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85800" y="3524250"/>
            <a:ext cx="5295900" cy="26098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4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33450" y="3724275"/>
            <a:ext cx="190500" cy="190500"/>
          </a:xfrm>
          <a:prstGeom prst="rect">
            <a:avLst/>
          </a:prstGeom>
          <a:ln/>
        </p:spPr>
      </p:pic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219200" y="371475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受控发布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933450" y="4038600"/>
            <a:ext cx="48006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知识库内容更新走受控流程：起草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工艺确认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安全确认（含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安全前置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锁停挂牌步骤）→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版本发布。</a:t>
            </a:r>
            <a:endParaRPr/>
          </a:p>
          <a:p>
            <a:pPr>
              <a:lnSpc>
                <a:spcPct val="180000"/>
              </a:lnSpc>
            </a:pP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能改初稿，但不能自己改「发布版」。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6210300" y="3524250"/>
            <a:ext cx="5295900" cy="2609850"/>
          </a:xfrm>
          <a:prstGeom prst="roundRect">
            <a:avLst>
              <a:gd name="adj" fmla="val 5839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457950" y="4267200"/>
            <a:ext cx="4800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B45309"/>
                </a:solidFill>
                <a:latin typeface="PingFang SC"/>
                <a:ea typeface="PingFang SC"/>
              </a:rPr>
              <a:t>红线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6457950" y="4619625"/>
            <a:ext cx="480060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生成的内容，</a:t>
            </a: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核准之前，永远只是草稿</a:t>
            </a: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对</a:t>
            </a:r>
            <a:r>
              <a:rPr lang="en-US" sz="1500">
                <a:solidFill>
                  <a:srgbClr val="43566B"/>
                </a:solidFill>
                <a:latin typeface="PingFang SC"/>
                <a:ea typeface="PingFang SC"/>
              </a:rPr>
              <a:t> SOP </a:t>
            </a:r>
            <a:r>
              <a:rPr lang="zh-CN" sz="1500">
                <a:solidFill>
                  <a:srgbClr val="43566B"/>
                </a:solidFill>
                <a:latin typeface="PingFang SC"/>
                <a:ea typeface="PingFang SC"/>
              </a:rPr>
              <a:t>如此，对报价单、对处理单，同样如此。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22 / 34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6" name="" descr="const sopSteps = ['选资料', '切分', '向量化', '接 AI', '设引用', '复核发布'];&#10;const loops = [&#10;    { icon: 'eye', t: '感知', d: '读传感器 / 工单 / 图片' },&#10;    { icon: 'brain', t: '规划', d: '决定下一步做什么' },&#10;    { icon: 'bolt', t: '行动', d: '调工具 / 写记录 / 报警' },&#10;    { icon: 'sync-alt', t: '观察', d: '看结果对不对，再循环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实操：修一个 SOP 助手 + 智能体最小形态&lt;/Text&gt;&#10;            &lt;Text style={{ fontSize: 17, color: '#64748B', marginTop: 4 }}&gt;零代码、用现成知识库平台，一节课摸一遍全流程&lt;/Text&gt;&#10;        &lt;/Box&gt;&#10;    &lt;/Box&gt;&#10;    &lt;Box style={{ flex: 1, flexDirection: 'row', gap: 26, marginTop: 14 }}&gt;&#10;        &lt;Box style={{ flex: 55, background: '#FFFFFF', borderRadius: 16, padding: '22px 26px', border: '1px solid #E2E8F0', boxShadow: '0 4px 16px rgba(30,58,138,0.06)', flexDirection: 'column' }}&gt;&#10;            &lt;Text style={{ fontSize: 18, fontWeight: 'bold', color: '#1E3A8A', marginBottom: 14 }}&gt;SOP 助手六步（课堂实操路径）&lt;/Text&gt;&#10;            &lt;Box style={{ flexDirection: 'row', alignItems: 'center', gap: 6 }}&gt;&#10;                {sopSteps.map((s, i) =&gt; (&#10;                    &lt;Box key={i} style={{ flexDirection: 'row', alignItems: 'center', gap: 6 }}&gt;&#10;                        &lt;Box style={{ padding: '10px 13px', background: i === 5 ? '#1E3A8A' : '#E0F7FA', borderRadius: 10 }}&gt;&#10;                            &lt;Text style={{ fontSize: 15, fontWeight: 'bold', color: i === 5 ? '#FFFFFF' : '#0891B2' }}&gt;{i + 1}. {s}&lt;/Text&gt;&#10;                        &lt;/Box&gt;&#10;                        {i &lt; sopSteps.length - 1 &amp;&amp; &lt;FAIcon name=&quot;arrow-right&quot; style={{ fill: '#06B6D4', width: 14, height: 14 }} /&gt;}&#10;                    &lt;/Box&gt;&#10;                ))}&#10;            &lt;/Box&gt;&#10;            &lt;Box style={{ flex: 1, marginTop: 18, borderRadius: 14, overflow: 'hidden', background: '#1E3A8A' }}&gt;&#10;                &lt;Image src=&quot;assets/knowledge_base.png&quot; style={{ width: '100%', height: '100%', objectFit: 'cover' }} /&gt;&#10;            &lt;/Box&gt;&#10;            &lt;Text style={{ fontSize: 14, color: '#64748B', marginTop: 12, lineHeight: 1.6 }}&gt;验收口径：问 10 个作业问题，≥8 个答对且给得出出处，才算「可用」。&lt;/Text&gt;&#10;        &lt;/Box&gt;&#10;        &lt;Box style={{ flex: 45, flexDirection: 'column' }}&gt;&#10;            &lt;Box style={{ background: '#1E3A8A', borderRadius: 16, padding: '22px 26px', boxShadow: '0 8px 28px rgba(30,58,138,0.25)' }}&gt;&#10;                &lt;Text style={{ fontSize: 18, fontWeight: 'bold', color: '#FFFFFF' }}&gt;工业智能体最小形态&lt;/Text&gt;&#10;                &lt;Box style={{ flexDirection: 'column', gap: 10, marginTop: 14 }}&gt;&#10;                    {loops.map((l, i) =&gt; (&#10;                        &lt;Box key={i} style={{ flexDirection: 'row', alignItems: 'center', gap: 12, padding: '8px 14px', background: 'rgba(6,182,212,0.15)', borderRadius: 10, border: '1px solid rgba(6,182,212,0.45)' }}&gt;&#10;                            &lt;FAIcon name={l.icon} style={{ fill: '#7FD9F0', width: 20, height: 20 }} /&gt;&#10;                            &lt;Text style={{ fontSize: 16, fontWeight: 'bold', color: '#FFFFFF', width: 52 }}&gt;{l.t}&lt;/Text&gt;&#10;                            &lt;Text style={{ flex: 1, fontSize: 14, color: '#DCE9FB' }}&gt;{l.d}&lt;/Text&gt;&#10;                        &lt;/Box&gt;&#10;                    ))}&#10;                &lt;/Box&gt;&#10;            &lt;/Box&gt;&#10;            &lt;Box style={{ flex: 1, marginTop: 16, padding: '16px 22px', background: '#FEEFE0', borderRadius: 14, border: '1px solid #FDE7C8' }}&gt;&#10;                &lt;Text style={{ fontSize: 16, fontWeight: 'bold', color: '#B45309', lineHeight: 1.7 }}&gt;智能体不是魔法，是「闭环」：&lt;br /&gt;把「问答助手」升级成能调工具、能执行、能看结果的「干活助手」—— 先干好一件事，再谈更多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448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61626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实操：修一个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SOP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助手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智能体最小形态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6162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零代码、用现成知识库平台，一节课摸一遍全流程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685800" y="1276350"/>
            <a:ext cx="5819775" cy="4876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33450" y="1485900"/>
            <a:ext cx="5324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SOP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助手六步（课堂实操路径）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933450" y="1828800"/>
            <a:ext cx="685800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057275" y="1924050"/>
            <a:ext cx="4381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1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选资料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76400" y="1943100"/>
            <a:ext cx="133350" cy="133350"/>
          </a:xfrm>
          <a:prstGeom prst="rect">
            <a:avLst/>
          </a:prstGeom>
          <a:ln/>
        </p:spPr>
      </p:pic>
      <p:sp>
        <p:nvSpPr>
          <p:cNvPr id="456" name=""/>
          <p:cNvSpPr/>
          <p:nvPr/>
        </p:nvSpPr>
        <p:spPr>
          <a:xfrm rot="0" flipH="0" flipV="0">
            <a:off x="1847850" y="1828800"/>
            <a:ext cx="6000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1971675" y="1924050"/>
            <a:ext cx="3524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2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切分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505075" y="1943100"/>
            <a:ext cx="133350" cy="133350"/>
          </a:xfrm>
          <a:prstGeom prst="rect">
            <a:avLst/>
          </a:prstGeom>
          <a:ln/>
        </p:spPr>
      </p:pic>
      <p:sp>
        <p:nvSpPr>
          <p:cNvPr id="459" name=""/>
          <p:cNvSpPr/>
          <p:nvPr/>
        </p:nvSpPr>
        <p:spPr>
          <a:xfrm rot="0" flipH="0" flipV="0">
            <a:off x="2676525" y="1828800"/>
            <a:ext cx="7143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2800350" y="1924050"/>
            <a:ext cx="4667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3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向量化</a:t>
            </a:r>
            <a:endParaRPr/>
          </a:p>
        </p:txBody>
      </p:sp>
      <p:pic>
        <p:nvPicPr>
          <p:cNvPr id="4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48050" y="1943100"/>
            <a:ext cx="133350" cy="133350"/>
          </a:xfrm>
          <a:prstGeom prst="rect">
            <a:avLst/>
          </a:prstGeom>
          <a:ln/>
        </p:spPr>
      </p:pic>
      <p:sp>
        <p:nvSpPr>
          <p:cNvPr id="462" name=""/>
          <p:cNvSpPr/>
          <p:nvPr/>
        </p:nvSpPr>
        <p:spPr>
          <a:xfrm rot="0" flipH="0" flipV="0">
            <a:off x="3619500" y="1828800"/>
            <a:ext cx="61912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743325" y="1924050"/>
            <a:ext cx="3714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4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接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 AI</a:t>
            </a:r>
            <a:endParaRPr/>
          </a:p>
        </p:txBody>
      </p:sp>
      <p:pic>
        <p:nvPicPr>
          <p:cNvPr id="4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95775" y="1943100"/>
            <a:ext cx="133350" cy="133350"/>
          </a:xfrm>
          <a:prstGeom prst="rect">
            <a:avLst/>
          </a:prstGeom>
          <a:ln/>
        </p:spPr>
      </p:pic>
      <p:sp>
        <p:nvSpPr>
          <p:cNvPr id="465" name=""/>
          <p:cNvSpPr/>
          <p:nvPr/>
        </p:nvSpPr>
        <p:spPr>
          <a:xfrm rot="0" flipH="0" flipV="0">
            <a:off x="4467225" y="1828800"/>
            <a:ext cx="714375" cy="361950"/>
          </a:xfrm>
          <a:prstGeom prst="roundRect">
            <a:avLst>
              <a:gd name="adj" fmla="val 26316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4591050" y="1924050"/>
            <a:ext cx="4667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5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设引用</a:t>
            </a:r>
            <a:endParaRPr/>
          </a:p>
        </p:txBody>
      </p:sp>
      <p:pic>
        <p:nvPicPr>
          <p:cNvPr id="4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238750" y="1943100"/>
            <a:ext cx="133350" cy="133350"/>
          </a:xfrm>
          <a:prstGeom prst="rect">
            <a:avLst/>
          </a:prstGeom>
          <a:ln/>
        </p:spPr>
      </p:pic>
      <p:sp>
        <p:nvSpPr>
          <p:cNvPr id="468" name=""/>
          <p:cNvSpPr/>
          <p:nvPr/>
        </p:nvSpPr>
        <p:spPr>
          <a:xfrm rot="0" flipH="0" flipV="0">
            <a:off x="5410200" y="1743075"/>
            <a:ext cx="847725" cy="533400"/>
          </a:xfrm>
          <a:prstGeom prst="roundRect">
            <a:avLst>
              <a:gd name="adj" fmla="val 17857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5534025" y="1838325"/>
            <a:ext cx="60007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6</a:t>
            </a:r>
            <a:r>
              <a:rPr lang="en-US" sz="1125" b="1">
                <a:solidFill>
                  <a:srgbClr val="FFFFFF"/>
                </a:solidFill>
                <a:latin typeface="PingFang SC"/>
                <a:ea typeface="PingFang SC"/>
              </a:rPr>
              <a:t>. </a:t>
            </a:r>
            <a:r>
              <a:rPr lang="zh-CN" sz="1125" b="1">
                <a:solidFill>
                  <a:srgbClr val="FFFFFF"/>
                </a:solidFill>
                <a:latin typeface="PingFang SC"/>
                <a:ea typeface="PingFang SC"/>
              </a:rPr>
              <a:t>复核发布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933450" y="2362200"/>
            <a:ext cx="5324475" cy="3209925"/>
          </a:xfrm>
          <a:prstGeom prst="roundRect">
            <a:avLst>
              <a:gd name="adj" fmla="val 4154"/>
            </a:avLst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71" name=""/>
          <p:cNvPicPr>
            <a:picLocks noChangeAspect="1"/>
          </p:cNvPicPr>
          <p:nvPr/>
        </p:nvPicPr>
        <p:blipFill>
          <a:blip r:embed="rId2"/>
          <a:srcRect l="0" t="19856" r="0" b="19856"/>
          <a:stretch>
            <a:fillRect/>
          </a:stretch>
        </p:blipFill>
        <p:spPr>
          <a:xfrm rot="0" flipH="0" flipV="0">
            <a:off x="933450" y="2362200"/>
            <a:ext cx="5324475" cy="3209925"/>
          </a:xfrm>
          <a:custGeom>
            <a:pathLst>
              <a:path w="559" h="337">
                <a:moveTo>
                  <a:pt x="545" y="0"/>
                </a:moveTo>
                <a:cubicBezTo>
                  <a:pt x="553" y="0"/>
                  <a:pt x="559" y="6"/>
                  <a:pt x="559" y="14"/>
                </a:cubicBezTo>
                <a:lnTo>
                  <a:pt x="559" y="323"/>
                </a:lnTo>
                <a:cubicBezTo>
                  <a:pt x="559" y="331"/>
                  <a:pt x="553" y="337"/>
                  <a:pt x="545" y="337"/>
                </a:cubicBezTo>
                <a:lnTo>
                  <a:pt x="14" y="337"/>
                </a:lnTo>
                <a:cubicBezTo>
                  <a:pt x="6" y="337"/>
                  <a:pt x="0" y="331"/>
                  <a:pt x="0" y="323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lnTo>
                  <a:pt x="545" y="0"/>
                </a:lnTo>
                <a:close/>
              </a:path>
            </a:pathLst>
          </a:custGeom>
          <a:ln/>
        </p:spPr>
      </p:pic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33450" y="5686425"/>
            <a:ext cx="5324475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验收口径：问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10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个作业问题，≥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8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个答对且给得出出处，才算「可用」。</a:t>
            </a:r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6753225" y="1276350"/>
            <a:ext cx="4752975" cy="2419350"/>
          </a:xfrm>
          <a:prstGeom prst="roundRect">
            <a:avLst>
              <a:gd name="adj" fmla="val 6299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7000875" y="1485900"/>
            <a:ext cx="4257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行业智能体最小形态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7000875" y="182880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34225" y="1905000"/>
            <a:ext cx="190500" cy="190500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190500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感知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8048625" y="192405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读传感器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处理单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图片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7000875" y="226695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134225" y="2343150"/>
            <a:ext cx="190500" cy="190500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7439025" y="234315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规划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8048625" y="236220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决定下一步做什么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7000875" y="270510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134225" y="2781300"/>
            <a:ext cx="190500" cy="190500"/>
          </a:xfrm>
          <a:prstGeom prst="rect">
            <a:avLst/>
          </a:prstGeom>
          <a:ln/>
        </p:spPr>
      </p:pic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7439025" y="278130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行动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8048625" y="280035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调工具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写记录</a:t>
            </a:r>
            <a:r>
              <a:rPr lang="en-US" sz="1050">
                <a:solidFill>
                  <a:srgbClr val="DCE9F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报警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7000875" y="3143250"/>
            <a:ext cx="4257675" cy="342900"/>
          </a:xfrm>
          <a:prstGeom prst="roundRect">
            <a:avLst>
              <a:gd name="adj" fmla="val 27778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134225" y="3219450"/>
            <a:ext cx="190500" cy="190500"/>
          </a:xfrm>
          <a:prstGeom prst="rect">
            <a:avLst/>
          </a:prstGeom>
          <a:ln/>
        </p:spPr>
      </p:pic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7439025" y="3219450"/>
            <a:ext cx="495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PingFang SC"/>
                <a:ea typeface="PingFang SC"/>
              </a:rPr>
              <a:t>观察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48625" y="3238500"/>
            <a:ext cx="3076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DCE9FB"/>
                </a:solidFill>
                <a:latin typeface="PingFang SC"/>
                <a:ea typeface="PingFang SC"/>
              </a:rPr>
              <a:t>看结果对不对，再循环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6753225" y="3848100"/>
            <a:ext cx="4752975" cy="2305050"/>
          </a:xfrm>
          <a:prstGeom prst="roundRect">
            <a:avLst>
              <a:gd name="adj" fmla="val 5785"/>
            </a:avLst>
          </a:prstGeom>
          <a:solidFill>
            <a:srgbClr val="FEEFE0"/>
          </a:solidFill>
          <a:ln w="12700">
            <a:solidFill>
              <a:srgbClr val="FDE7C8"/>
            </a:solidFill>
            <a:prstDash val="solid"/>
          </a:ln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6962775" y="4000500"/>
            <a:ext cx="433387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智能体不是魔法，是「闭环」：</a:t>
            </a:r>
            <a:endParaRPr/>
          </a:p>
          <a:p>
            <a:pPr>
              <a:lnSpc>
                <a:spcPct val="170000"/>
              </a:lnSpc>
            </a:pP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把「问答助手」升级成能调工具、能执行、能看结果的「干活助手」——</a:t>
            </a:r>
            <a:r>
              <a:rPr lang="en-US" sz="1200" b="1">
                <a:solidFill>
                  <a:srgbClr val="B45309"/>
                </a:solidFill>
                <a:latin typeface="PingFang SC"/>
                <a:ea typeface="PingFang SC"/>
              </a:rPr>
              <a:t> </a:t>
            </a:r>
            <a:r>
              <a:rPr lang="zh-CN" sz="1200" b="1">
                <a:solidFill>
                  <a:srgbClr val="B45309"/>
                </a:solidFill>
                <a:latin typeface="PingFang SC"/>
                <a:ea typeface="PingFang SC"/>
              </a:rPr>
              <a:t>先干好一件事，再谈更多。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23 / 34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95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6&lt;/Text&gt;&#10;        &lt;Text style={{ fontSize: 18, color: '#7FD9F0', letterSpacing: 5, marginTop: 6 }}&gt;M6 · 3 课时&lt;/Text&gt;&#10;        &lt;Text style={{ fontSize: 54, fontWeight: 'bold', color: '#FFFFFF', marginTop: 20, lineHeight: 1.18 }}&gt;落地与申报&lt;br /&gt;让项目活下来、让资源跟上来&lt;/Text&gt;&#10;        &lt;Box style={{ width: 84, height: 4, background: '#06B6D4', marginTop: 30 }} /&gt;&#10;        &lt;Text style={{ fontSize: 19, color: '#A9C4E8', marginTop: 22, lineHeight: 1.6 }}&gt;生命周期六阶 · 数据就绪门槛 · ROI 算账 · 补贴四通道&lt;br /&gt;这门课的作业，攒起来就是一份试点申报书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497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498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M6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落地与申报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让项目活下来、让资源跟上来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生命周期六阶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数据就绪门槛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ROI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算账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补贴四通道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这门课的作业，攒起来就是一份试点申报书。</a:t>
            </a:r>
            <a:endParaRPr/>
          </a:p>
        </p:txBody>
      </p:sp>
    </p:spTree>
  </p:cSld>
</p:sld>
</file>

<file path=ppt/slides/slide2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const stages = ['选题', '试点', '验证', '推广', '运维', '复盘'];&#10;const yes = ['数据可导出、能拿到', '采集频率满足分析需求', '有人对数据质量负责'];&#10;const no = ['经验在老师傅脑子里', '数据散落各系统导不出', '出了错没人敢签字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生命周期六阶 + 数据就绪门槛&lt;/Text&gt;&#10;            &lt;Text style={{ fontSize: 17, color: '#64748B', marginTop: 4 }}&gt;试点前先自检：数据不到位，别开跑&lt;/Text&gt;&#10;        &lt;/Box&gt;&#10;    &lt;/Box&gt;&#10;    &lt;Box style={{ flexDirection: 'row', alignItems: 'center', gap: 10, marginTop: 18 }}&gt;&#10;        {stages.map((s, i) =&gt; (&#10;            &lt;Box key={i} style={{ flexDirection: 'row', alignItems: 'center', gap: 10 }}&gt;&#10;                &lt;Box style={{ padding: '14px 26px', background: i === 1 ? '#1E3A8A' : '#FFFFFF', borderRadius: 12, border: '1px solid ' + (i === 1 ? '#1E3A8A' : '#E2E8F0'), boxShadow: i === 1 ? '0 6px 20px rgba(30,58,138,0.22)' : '0 2px 10px rgba(30,58,138,0.05)' }}&gt;&#10;                    &lt;Text style={{ fontSize: 19, fontWeight: 'bold', color: i === 1 ? '#FFFFFF' : '#1E3A8A' }}&gt;{i + 1} {s}&lt;/Text&gt;&#10;                &lt;/Box&gt;&#10;                {i &lt; stages.length - 1 &amp;&amp; &lt;FAIcon name=&quot;arrow-right&quot; style={{ fill: '#06B6D4', width: 16, height: 16 }} /&gt;}&#10;            &lt;/Box&gt;&#10;        ))}&#10;        &lt;Text style={{ fontSize: 14, color: '#64748B', marginLeft: 12 }}&gt;试点只花小钱，验证要拿硬数据&lt;/Text&gt;&#10;    &lt;/Box&gt;&#10;    &lt;Box style={{ flex: 1, flexDirection: 'row', gap: 24, marginTop: 20 }}&gt;&#10;        &lt;Box style={{ flex: 1, background: '#FFFFFF', borderRadius: 16, padding: '22px 26px', border: '1px solid #A7F3D0', flexDirection: 'column' }}&gt;&#10;            &lt;Box style={{ flexDirection: 'row', alignItems: 'center', gap: 10, marginBottom: 14 }}&gt;&#10;                &lt;FAIcon name=&quot;check-circle&quot; style={{ fill: '#059669', width: 24, height: 24 }} /&gt;&#10;                &lt;Text style={{ fontSize: 20, fontWeight: 'bold', color: '#059669' }}&gt;就绪 ✅ 可以开试点&lt;/Text&gt;&#10;            &lt;/Box&gt;&#10;            {yes.map((y, i) =&gt; (&#10;                &lt;Box key={i} style={{ flexDirection: 'row', alignItems: 'center', gap: 10, marginBottom: 10 }}&gt;&#10;                    &lt;FAIcon name=&quot;check&quot; style={{ fill: '#059669', width: 16, height: 16 }} /&gt;&#10;                    &lt;Text style={{ fontSize: 17, color: '#43566b' }}&gt;{y}&lt;/Text&gt;&#10;                &lt;/Box&gt;&#10;            ))}&#10;        &lt;/Box&gt;&#10;        &lt;Box style={{ flex: 1, background: '#FFFFFF', borderRadius: 16, padding: '22px 26px', border: '1px solid #FECACA', flexDirection: 'column' }}&gt;&#10;            &lt;Box style={{ flexDirection: 'row', alignItems: 'center', gap: 10, marginBottom: 14 }}&gt;&#10;                &lt;FAIcon name=&quot;times-circle&quot; style={{ fill: '#DC2626', width: 24, height: 24 }} /&gt;&#10;                &lt;Text style={{ fontSize: 20, fontWeight: 'bold', color: '#DC2626' }}&gt;未就绪 ⛔ 先补数据&lt;/Text&gt;&#10;            &lt;/Box&gt;&#10;            {no.map((n, i) =&gt; (&#10;                &lt;Box key={i} style={{ flexDirection: 'row', alignItems: 'center', gap: 10, marginBottom: 10 }}&gt;&#10;                    &lt;FAIcon name=&quot;times&quot; style={{ fill: '#DC2626', width: 16, height: 16 }} /&gt;&#10;                    &lt;Text style={{ fontSize: 17, color: '#43566b' }}&gt;{n}&lt;/Text&gt;&#10;                &lt;/Box&gt;&#10;            ))}&#10;        &lt;/Box&gt;&#10;    &lt;/Box&gt;&#10;    &lt;Box style={{ marginTop: 16, padding: '12px 24px', background: '#1E3A8A', borderRadius: 12 }}&gt;&#10;        &lt;Text style={{ fontSize: 18, fontWeight: 'bold', color: '#FFFFFF' }}&gt;没有数据，就没有试点 —— 先把「拿数据」本身当成第一个小项目干完。&lt;/Text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5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3053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生命周期六阶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数据就绪门槛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305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试点前先自检：数据不到位，别开跑</a:t>
            </a:r>
            <a:endParaRPr/>
          </a:p>
        </p:txBody>
      </p:sp>
      <p:sp>
        <p:nvSpPr>
          <p:cNvPr id="509" name=""/>
          <p:cNvSpPr/>
          <p:nvPr/>
        </p:nvSpPr>
        <p:spPr>
          <a:xfrm rot="0" flipH="0" flipV="0">
            <a:off x="685800" y="1314450"/>
            <a:ext cx="1000125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933450" y="1447800"/>
            <a:ext cx="504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1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选题</a:t>
            </a:r>
            <a:endParaRPr/>
          </a:p>
        </p:txBody>
      </p:sp>
      <p:pic>
        <p:nvPicPr>
          <p:cNvPr id="5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781175" y="1485900"/>
            <a:ext cx="152400" cy="152400"/>
          </a:xfrm>
          <a:prstGeom prst="rect">
            <a:avLst/>
          </a:prstGeom>
          <a:ln/>
        </p:spPr>
      </p:pic>
      <p:sp>
        <p:nvSpPr>
          <p:cNvPr id="512" name=""/>
          <p:cNvSpPr/>
          <p:nvPr/>
        </p:nvSpPr>
        <p:spPr>
          <a:xfrm rot="0" flipH="0" flipV="0">
            <a:off x="20288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190500" dist="5715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22764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  <a:r>
              <a:rPr lang="en-US" sz="1425" b="1">
                <a:solidFill>
                  <a:srgbClr val="FFFFFF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试点</a:t>
            </a:r>
            <a:endParaRPr/>
          </a:p>
        </p:txBody>
      </p:sp>
      <p:pic>
        <p:nvPicPr>
          <p:cNvPr id="5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52775" y="1485900"/>
            <a:ext cx="152400" cy="152400"/>
          </a:xfrm>
          <a:prstGeom prst="rect">
            <a:avLst/>
          </a:prstGeom>
          <a:ln/>
        </p:spPr>
      </p:pic>
      <p:sp>
        <p:nvSpPr>
          <p:cNvPr id="515" name=""/>
          <p:cNvSpPr/>
          <p:nvPr/>
        </p:nvSpPr>
        <p:spPr>
          <a:xfrm rot="0" flipH="0" flipV="0">
            <a:off x="34004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6480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3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验证</a:t>
            </a:r>
            <a:endParaRPr/>
          </a:p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524375" y="1485900"/>
            <a:ext cx="152400" cy="152400"/>
          </a:xfrm>
          <a:prstGeom prst="rect">
            <a:avLst/>
          </a:prstGeom>
          <a:ln/>
        </p:spPr>
      </p:pic>
      <p:sp>
        <p:nvSpPr>
          <p:cNvPr id="518" name=""/>
          <p:cNvSpPr/>
          <p:nvPr/>
        </p:nvSpPr>
        <p:spPr>
          <a:xfrm rot="0" flipH="0" flipV="0">
            <a:off x="47720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50196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4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推广</a:t>
            </a:r>
            <a:endParaRPr/>
          </a:p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895975" y="1485900"/>
            <a:ext cx="152400" cy="152400"/>
          </a:xfrm>
          <a:prstGeom prst="rect">
            <a:avLst/>
          </a:prstGeom>
          <a:ln/>
        </p:spPr>
      </p:pic>
      <p:sp>
        <p:nvSpPr>
          <p:cNvPr id="521" name=""/>
          <p:cNvSpPr/>
          <p:nvPr/>
        </p:nvSpPr>
        <p:spPr>
          <a:xfrm rot="0" flipH="0" flipV="0">
            <a:off x="61436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63912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5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运维</a:t>
            </a:r>
            <a:endParaRPr/>
          </a:p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67575" y="1485900"/>
            <a:ext cx="152400" cy="152400"/>
          </a:xfrm>
          <a:prstGeom prst="rect">
            <a:avLst/>
          </a:prstGeom>
          <a:ln/>
        </p:spPr>
      </p:pic>
      <p:sp>
        <p:nvSpPr>
          <p:cNvPr id="524" name=""/>
          <p:cNvSpPr/>
          <p:nvPr/>
        </p:nvSpPr>
        <p:spPr>
          <a:xfrm rot="0" flipH="0" flipV="0">
            <a:off x="7515225" y="1314450"/>
            <a:ext cx="1028700" cy="48577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7762875" y="14478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6</a:t>
            </a: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复盘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753475" y="1476375"/>
            <a:ext cx="1866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试点只花小钱，验证要拿硬数据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685800" y="1990725"/>
            <a:ext cx="5295900" cy="3571875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p/>
        </p:txBody>
      </p:sp>
      <p:pic>
        <p:nvPicPr>
          <p:cNvPr id="5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33450" y="2200275"/>
            <a:ext cx="228600" cy="228600"/>
          </a:xfrm>
          <a:prstGeom prst="rect">
            <a:avLst/>
          </a:prstGeom>
          <a:ln/>
        </p:spPr>
      </p:pic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1257300" y="2200275"/>
            <a:ext cx="165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就绪</a:t>
            </a:r>
            <a:r>
              <a:rPr lang="en-US" sz="1500" b="1">
                <a:solidFill>
                  <a:srgbClr val="059669"/>
                </a:solidFill>
                <a:latin typeface="PingFang SC"/>
                <a:ea typeface="PingFang SC"/>
              </a:rPr>
              <a:t> ✅ </a:t>
            </a:r>
            <a:r>
              <a:rPr lang="zh-CN" sz="1500" b="1">
                <a:solidFill>
                  <a:srgbClr val="059669"/>
                </a:solidFill>
                <a:latin typeface="PingFang SC"/>
                <a:ea typeface="PingFang SC"/>
              </a:rPr>
              <a:t>可以开试点</a:t>
            </a:r>
            <a:endParaRPr/>
          </a:p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2590800"/>
            <a:ext cx="152400" cy="1524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181100" y="256222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数据可导出、能拿到</a:t>
            </a:r>
            <a:endParaRPr/>
          </a:p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2886075"/>
            <a:ext cx="152400" cy="15240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181100" y="28575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采集频率满足分析需求</a:t>
            </a:r>
            <a:endParaRPr/>
          </a:p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3450" y="3181350"/>
            <a:ext cx="152400" cy="1524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81100" y="315277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有人对数据质量负责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210300" y="1990725"/>
            <a:ext cx="5295900" cy="3571875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p/>
        </p:txBody>
      </p:sp>
      <p:pic>
        <p:nvPicPr>
          <p:cNvPr id="5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57950" y="2200275"/>
            <a:ext cx="228600" cy="228600"/>
          </a:xfrm>
          <a:prstGeom prst="rect">
            <a:avLst/>
          </a:prstGeom>
          <a:ln/>
        </p:spPr>
      </p:pic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6781800" y="2200275"/>
            <a:ext cx="165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未就绪</a:t>
            </a:r>
            <a:r>
              <a:rPr lang="en-US" sz="1500" b="1">
                <a:solidFill>
                  <a:srgbClr val="DC2626"/>
                </a:solidFill>
                <a:latin typeface="PingFang SC"/>
                <a:ea typeface="PingFang SC"/>
              </a:rPr>
              <a:t> ⛔ </a:t>
            </a:r>
            <a:r>
              <a:rPr lang="zh-CN" sz="1500" b="1">
                <a:solidFill>
                  <a:srgbClr val="DC2626"/>
                </a:solidFill>
                <a:latin typeface="PingFang SC"/>
                <a:ea typeface="PingFang SC"/>
              </a:rPr>
              <a:t>先补数据</a:t>
            </a:r>
            <a:endParaRPr/>
          </a:p>
        </p:txBody>
      </p:sp>
      <p:pic>
        <p:nvPicPr>
          <p:cNvPr id="5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2590800"/>
            <a:ext cx="152400" cy="152400"/>
          </a:xfrm>
          <a:prstGeom prst="rect">
            <a:avLst/>
          </a:prstGeom>
          <a:ln/>
        </p:spPr>
      </p:pic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6705600" y="2562225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经验在老师傅脑子里</a:t>
            </a:r>
            <a:endParaRPr/>
          </a:p>
        </p:txBody>
      </p:sp>
      <p:pic>
        <p:nvPicPr>
          <p:cNvPr id="5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2886075"/>
            <a:ext cx="152400" cy="152400"/>
          </a:xfrm>
          <a:prstGeom prst="rect">
            <a:avLst/>
          </a:prstGeom>
          <a:ln/>
        </p:spPr>
      </p:pic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6705600" y="2857500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数据散落各系统导不出</a:t>
            </a:r>
            <a:endParaRPr/>
          </a:p>
        </p:txBody>
      </p:sp>
      <p:pic>
        <p:nvPicPr>
          <p:cNvPr id="5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57950" y="3181350"/>
            <a:ext cx="152400" cy="152400"/>
          </a:xfrm>
          <a:prstGeom prst="rect">
            <a:avLst/>
          </a:prstGeom>
          <a:ln/>
        </p:spPr>
      </p:pic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705600" y="3152775"/>
            <a:ext cx="129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3566B"/>
                </a:solidFill>
                <a:latin typeface="PingFang SC"/>
                <a:ea typeface="PingFang SC"/>
              </a:rPr>
              <a:t>出了错没人敢签字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685800" y="5715000"/>
            <a:ext cx="10820400" cy="438150"/>
          </a:xfrm>
          <a:prstGeom prst="roundRect">
            <a:avLst>
              <a:gd name="adj" fmla="val 26087"/>
            </a:avLst>
          </a:prstGeom>
          <a:solidFill>
            <a:srgbClr val="1E3A8A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914400" y="5829300"/>
            <a:ext cx="10363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没有数据，就没有试点</a:t>
            </a:r>
            <a:r>
              <a:rPr lang="en-US" sz="1350" b="1">
                <a:solidFill>
                  <a:srgbClr val="FFFFFF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先把「拿数据」本身当成第一个小项目干完。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25 / 34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9" name="" descr="const pillars = [&#10;    { icon: 'bullseye', t: '场景' },&#10;    { icon: 'database', t: '数据' },&#10;    { icon: 'microchip', t: '算法' },&#10;    { icon: 'server', t: '算力' },&#10;    { icon: 'users', t: '组织' },&#10;    { icon: 'shield-alt', t: '安全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ROI 怎么算 + 落地的六大构件&lt;/Text&gt;&#10;            &lt;Text style={{ fontSize: 17, color: '#64748B', marginTop: 4 }}&gt;立项时把账算在前面，推广时才有底气&lt;/Text&gt;&#10;        &lt;/Box&gt;&#10;    &lt;/Box&gt;&#10;    &lt;Box style={{ flex: 1, flexDirection: 'row', gap: 24, marginTop: 14 }}&gt;&#10;        &lt;Box style={{ flex: 55, background: '#1E3A8A', borderRadius: 18, padding: '28px 32px', flexDirection: 'column', justifyContent: 'center', boxShadow: '0 8px 28px rgba(30,58,138,0.25)' }}&gt;&#10;            &lt;Text style={{ fontSize: 16, color: '#7FD9F0', letterSpacing: 2 }}&gt;预测维护试点 · 示例账&lt;/Text&gt;&#10;            &lt;Text style={{ fontSize: 30, fontWeight: 'bold', color: '#FFFFFF', fontFamily: 'Space Grotesk, Inter', marginTop: 16, textAlign: 'center' }}&gt;ROI = (120,000 − 80,000) ÷ 80,000&lt;/Text&gt;&#10;            &lt;Text style={{ fontSize: 72, fontWeight: 'bold', color: '#F8C471', fontFamily: 'Space Grotesk, Inter', textAlign: 'center', marginTop: 8 }}&gt;50%&lt;/Text&gt;&#10;            &lt;Text style={{ fontSize: 16, color: '#DCE9FB', textAlign: 'center', lineHeight: 1.8, marginTop: 12 }}&gt;年收益 12 万（停机损失减少 + 备件优化）&lt;br /&gt;一次性投入 8 万（传感器 + 平台 + 服务）&lt;/Text&gt;&#10;            &lt;Box style={{ marginTop: 18, padding: '10px 18px', background: 'rgba(6,182,212,0.18)', borderRadius: 10, border: '1px solid rgba(6,182,212,0.6)', alignSelf: 'center' }}&gt;&#10;                &lt;Text style={{ fontSize: 16, fontWeight: 'bold', color: '#7FD9F0' }}&gt;回收期约 16 个月 —— 这个数字写进申报书&lt;/Text&gt;&#10;            &lt;/Box&gt;&#10;        &lt;/Box&gt;&#10;        &lt;Box style={{ flex: 45, flexDirection: 'column' }}&gt;&#10;            &lt;Text style={{ fontSize: 18, fontWeight: 'bold', color: '#1E3A8A', marginBottom: 12 }}&gt;PwC 六大构件：缺一不算完整落地&lt;/Text&gt;&#10;            &lt;Box style={{ flex: 1, flexDirection: 'column', gap: 12 }}&gt;&#10;                {pillars.map((p, i) =&gt; (&#10;                    &lt;Box key={i} style={{ flex: 1, background: '#FFFFFF', borderRadius: 12, border: '1px solid #E2E8F0', flexDirection: 'row', alignItems: 'center', gap: 14, padding: '0 20px', boxShadow: '0 2px 10px rgba(30,58,138,0.04)' }}&gt;&#10;                        &lt;Box style={{ width: 40, height: 40, borderRadius: 10, background: i === 4 || i === 5 ? '#FEEFE0' : '#E0F7FA', justifyContent: 'center', alignItems: 'center' }}&gt;&#10;                            &lt;FAIcon name={p.icon} style={{ fill: i === 4 || i === 5 ? '#F59E0B' : '#0891B2', width: 20, height: 20 }} /&gt;&#10;                        &lt;/Box&gt;&#10;                        &lt;Text style={{ fontSize: 18, fontWeight: 'bold', color: '#1E3A8A', width: 70 }}&gt;{p.t}&lt;/Text&gt;&#10;                        &lt;Text style={{ flex: 1, fontSize: 14, color: '#43566b' }}&gt;{['选对场景，别贪大', '质量与频率过关', '先简后繁，够用即可', '私有化 / 边缘 / 云 按需', 'DRI + 培训 + 激励', '分类分级 + 权限红线'].map((d) =&gt; d)}&lt;/Text&gt;&#10;                    &lt;/Box&gt;&#10;                ))}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6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51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3243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ROI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怎么算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落地的六大构件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324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立项时把账算在前面，推广时才有底气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685800" y="1276350"/>
            <a:ext cx="5829300" cy="4876800"/>
          </a:xfrm>
          <a:prstGeom prst="roundRect">
            <a:avLst>
              <a:gd name="adj" fmla="val 3516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990600" y="22574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预测预警试点</a:t>
            </a:r>
            <a:r>
              <a:rPr lang="en-US" sz="1200" spc="150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200" spc="150">
                <a:solidFill>
                  <a:srgbClr val="7FD9F0"/>
                </a:solidFill>
                <a:latin typeface="PingFang SC"/>
                <a:ea typeface="PingFang SC"/>
              </a:rPr>
              <a:t>示例账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90600" y="2600325"/>
            <a:ext cx="5219700" cy="3429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Space Grotesk"/>
                <a:ea typeface="Space Grotesk"/>
              </a:rPr>
              <a:t>ROI = (120,000 − 80,000) ÷ 80,000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990600" y="3019425"/>
            <a:ext cx="5219700" cy="8286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5400" b="1">
                <a:solidFill>
                  <a:srgbClr val="F8C471"/>
                </a:solidFill>
                <a:latin typeface="Space Grotesk"/>
                <a:ea typeface="Space Grotesk"/>
              </a:rPr>
              <a:t>50%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990600" y="3962400"/>
            <a:ext cx="5219700" cy="666750"/>
          </a:xfrm>
          <a:prstGeom prst="rect"/>
        </p:spPr>
        <p:txBody>
          <a:bodyPr wrap="none" lIns="0" tIns="0" rIns="0" bIns="0"/>
          <a:p>
            <a:pPr algn="ctr">
              <a:lnSpc>
                <a:spcPct val="18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年收益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12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万（中断损失减少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备件优化）</a:t>
            </a:r>
            <a:endParaRPr/>
          </a:p>
          <a:p>
            <a:pPr algn="ctr">
              <a:lnSpc>
                <a:spcPct val="180000"/>
              </a:lnSpc>
            </a:pP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一次性投入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8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万（传感器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平台</a:t>
            </a:r>
            <a:r>
              <a:rPr lang="en-US" sz="1200">
                <a:solidFill>
                  <a:srgbClr val="DCE9FB"/>
                </a:solidFill>
                <a:latin typeface="PingFang SC"/>
                <a:ea typeface="PingFang SC"/>
              </a:rPr>
              <a:t> + </a:t>
            </a:r>
            <a:r>
              <a:rPr lang="zh-CN" sz="1200">
                <a:solidFill>
                  <a:srgbClr val="DCE9FB"/>
                </a:solidFill>
                <a:latin typeface="PingFang SC"/>
                <a:ea typeface="PingFang SC"/>
              </a:rPr>
              <a:t>服务）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1952625" y="4800600"/>
            <a:ext cx="3295650" cy="381000"/>
          </a:xfrm>
          <a:prstGeom prst="roundRect">
            <a:avLst>
              <a:gd name="adj" fmla="val 25000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2124075" y="4895850"/>
            <a:ext cx="2952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回收期约</a:t>
            </a: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 16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个月</a:t>
            </a:r>
            <a:r>
              <a:rPr lang="en-US" sz="120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200" b="1">
                <a:solidFill>
                  <a:srgbClr val="7FD9F0"/>
                </a:solidFill>
                <a:latin typeface="PingFang SC"/>
                <a:ea typeface="PingFang SC"/>
              </a:rPr>
              <a:t>这个数字写进申报书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6743700" y="1276350"/>
            <a:ext cx="4762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PwC 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六大构件：缺一不算完整落地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6743700" y="1600200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6934200" y="17430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1838325"/>
            <a:ext cx="190500" cy="190500"/>
          </a:xfrm>
          <a:prstGeom prst="rect">
            <a:avLst/>
          </a:prstGeom>
          <a:ln/>
        </p:spPr>
      </p:pic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7448550" y="18288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场景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8248650" y="169545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6743700" y="2381250"/>
            <a:ext cx="4762500" cy="65722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68" name=""/>
          <p:cNvSpPr/>
          <p:nvPr/>
        </p:nvSpPr>
        <p:spPr>
          <a:xfrm rot="0" flipH="0" flipV="0">
            <a:off x="6934200" y="25241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29450" y="2619375"/>
            <a:ext cx="190500" cy="190500"/>
          </a:xfrm>
          <a:prstGeom prst="rect">
            <a:avLst/>
          </a:prstGeom>
          <a:ln/>
        </p:spPr>
      </p:pic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7448550" y="260985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数据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8248650" y="246697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6743700" y="3152775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6934200" y="32956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29450" y="3390900"/>
            <a:ext cx="190500" cy="19050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7448550" y="338137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算法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8248650" y="324802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6743700" y="3933825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6934200" y="40767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5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29450" y="4171950"/>
            <a:ext cx="190500" cy="190500"/>
          </a:xfrm>
          <a:prstGeom prst="rect">
            <a:avLst/>
          </a:prstGeom>
          <a:ln/>
        </p:spPr>
      </p:pic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7448550" y="41624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算力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248650" y="4029075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6743700" y="4714875"/>
            <a:ext cx="4762500" cy="65722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6934200" y="48577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29450" y="4953000"/>
            <a:ext cx="190500" cy="190500"/>
          </a:xfrm>
          <a:prstGeom prst="rect">
            <a:avLst/>
          </a:prstGeom>
          <a:ln/>
        </p:spPr>
      </p:pic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7448550" y="494347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组织</a:t>
            </a:r>
            <a:endParaRPr/>
          </a:p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8248650" y="480060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87" name=""/>
          <p:cNvSpPr/>
          <p:nvPr/>
        </p:nvSpPr>
        <p:spPr>
          <a:xfrm rot="0" flipH="0" flipV="0">
            <a:off x="6743700" y="5486400"/>
            <a:ext cx="476250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95250" dist="19050" dir="5400000">
              <a:srgbClr val="1E3A8A">
                <a:alpha val="4000"/>
              </a:srgbClr>
            </a:outerShdw>
          </a:effectLst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6934200" y="56292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5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29450" y="5724525"/>
            <a:ext cx="190500" cy="190500"/>
          </a:xfrm>
          <a:prstGeom prst="rect">
            <a:avLst/>
          </a:prstGeom>
          <a:ln/>
        </p:spPr>
      </p:pic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7448550" y="57150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安全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8248650" y="5581650"/>
            <a:ext cx="30670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选对场景，别贪大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质量与频率过关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先简后繁，够用即可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云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按需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DRI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培训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激励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分类分级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26 / 34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4" name="" descr="const channels = [&#10;    { icon: 'landmark', t: '中央部委', d: '工信部智能制造试点示范等' },&#10;    { icon: 'map-marked-alt', t: '省级', d: '数字化转型 / 智改数转专项' },&#10;    { icon: 'city', t: '市、区县', d: '技改奖补、专精特新配套' },&#10;    { icon: 'award', t: '标准与荣誉', d: 'CMMM 成熟度贯标等资质' },&#10;];&#10;const pairs = [&#10;    ['机会画布', '选题论证'],&#10;    ['试点数据', '可行性说明'],&#10;    ['ROI 测算', '效益测算表'],&#10;    ['风险清单', '安全可信方案'],&#10;    ['团队分工', '组织保障'],&#10;    ['复盘报告', '可复制推广计划']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补贴四通道 + 课程产出 ↔ 申报材料&lt;/Text&gt;&#10;            &lt;Text style={{ fontSize: 17, color: '#64748B', marginTop: 4 }}&gt;资源不是「求」来的，是「攒」出来的&lt;/Text&gt;&#10;        &lt;/Box&gt;&#10;    &lt;/Box&gt;&#10;    &lt;Box style={{ flexDirection: 'row', gap: 16, marginTop: 16 }}&gt;&#10;        {channels.map((c, i) =&gt; (&#10;            &lt;Box key={i} style={{ flex: 1, background: '#FFFFFF', borderRadius: 14, padding: '16px 18px', border: '1px solid #E2E8F0', boxShadow: '0 3px 12px rgba(30,58,138,0.05)', flexDirection: 'row', alignItems: 'center', gap: 12 }}&gt;&#10;                &lt;Box style={{ width: 46, height: 46, borderRadius: 12, background: '#FEEFE0', justifyContent: 'center', alignItems: 'center' }}&gt;&#10;                    &lt;FAIcon name={c.icon} style={{ fill: '#F59E0B', width: 22, height: 22 }} /&gt;&#10;                &lt;/Box&gt;&#10;                &lt;Box&gt;&#10;                    &lt;Text style={{ fontSize: 17, fontWeight: 'bold', color: '#1E3A8A' }}&gt;{c.t}&lt;/Text&gt;&#10;                    &lt;Text style={{ fontSize: 13, color: '#64748B', marginTop: 2 }}&gt;{c.d}&lt;/Text&gt;&#10;                &lt;/Box&gt;&#10;            &lt;/Box&gt;&#10;        ))}&#10;    &lt;/Box&gt;&#10;    &lt;Box style={{ flex: 1, background: '#FFFFFF', borderRadius: 16, padding: '20px 26px', marginTop: 18, border: '1px solid #E2E8F0', flexDirection: 'row' }}&gt;&#10;        &lt;Box style={{ flex: 1, flexDirection: 'column', gap: 10 }}&gt;&#10;            {pairs.map((p, i) =&gt; (&#10;                &lt;Box key={i} style={{ flexDirection: 'row', alignItems: 'center', gap: 12 }}&gt;&#10;                    &lt;Box style={{ width: 220, padding: '7px 14px', background: '#E0F7FA', borderRadius: 8 }}&gt;&#10;                        &lt;Text style={{ fontSize: 15, fontWeight: 'bold', color: '#0891B2' }}&gt;课程产出：{p[0]}&lt;/Text&gt;&#10;                    &lt;/Box&gt;&#10;                    &lt;FAIcon name=&quot;arrow-right&quot; style={{ fill: '#F59E0B', width: 16, height: 16 }} /&gt;&#10;                    &lt;Box style={{ width: 220, padding: '7px 14px', background: '#EDF3FB', borderRadius: 8 }}&gt;&#10;                        &lt;Text style={{ fontSize: 15, fontWeight: 'bold', color: '#1E3A8A' }}&gt;申报材料：{p[1]}&lt;/Text&gt;&#10;                    &lt;/Box&gt;&#10;                &lt;/Box&gt;&#10;            ))}&#10;        &lt;/Box&gt;&#10;        &lt;Box style={{ width: 330, background: '#1E3A8A', borderRadius: 14, padding: '24px 28px', marginLeft: 30, flexDirection: 'column', justifyContent: 'center', boxShadow: '0 8px 24px rgba(30,58,138,0.22)' }}&gt;&#10;            &lt;FAIcon name=&quot;lightbulb&quot; style={{ fill: '#F59E0B', width: 28, height: 28 }} /&gt;&#10;            &lt;Text style={{ fontSize: 21, fontWeight: 'bold', color: '#FFFFFF', lineHeight: 1.6, marginTop: 14 }}&gt;这门课的作业，攒起来就是一份试点申报书。&lt;/Text&gt;&#10;            &lt;Text style={{ fontSize: 14, color: '#A9C4E8', marginTop: 10, lineHeight: 1.6 }}&gt;学完 = 手里有材料，而不是脑子里有想法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27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51530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补贴四通道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课程产出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↔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申报材料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资源不是「求」来的，是「攒」出来的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858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8572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1562100"/>
            <a:ext cx="209550" cy="20955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1409700" y="1485900"/>
            <a:ext cx="1485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中央部委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409700" y="17049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工信部智能制造试点示范等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4290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6004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14750" y="1562100"/>
            <a:ext cx="209550" cy="209550"/>
          </a:xfrm>
          <a:prstGeom prst="rect">
            <a:avLst/>
          </a:prstGeom>
          <a:ln/>
        </p:spPr>
      </p:pic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152900" y="1485900"/>
            <a:ext cx="1514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省级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4152900" y="170497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智改数转专项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模型券（2026 新：补模型/算力）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1722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0" name=""/>
          <p:cNvSpPr/>
          <p:nvPr/>
        </p:nvSpPr>
        <p:spPr>
          <a:xfrm rot="0" flipH="0" flipV="0">
            <a:off x="63436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57950" y="1562100"/>
            <a:ext cx="209550" cy="209550"/>
          </a:xfrm>
          <a:prstGeom prst="rect">
            <a:avLst/>
          </a:prstGeom>
          <a:ln/>
        </p:spPr>
      </p:pic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6896100" y="1485900"/>
            <a:ext cx="1362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市、区县</a:t>
            </a:r>
            <a:endParaRPr/>
          </a:p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896100" y="1704975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技改奖补、专精特新配套</a:t>
            </a:r>
            <a:endParaRPr/>
          </a:p>
        </p:txBody>
      </p:sp>
      <p:sp>
        <p:nvSpPr>
          <p:cNvPr id="614" name=""/>
          <p:cNvSpPr/>
          <p:nvPr/>
        </p:nvSpPr>
        <p:spPr>
          <a:xfrm rot="0" flipH="0" flipV="0">
            <a:off x="8915400" y="1295400"/>
            <a:ext cx="25908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086850" y="1447800"/>
            <a:ext cx="438150" cy="438150"/>
          </a:xfrm>
          <a:prstGeom prst="roundRect">
            <a:avLst>
              <a:gd name="adj" fmla="val 26087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201150" y="1562100"/>
            <a:ext cx="209550" cy="209550"/>
          </a:xfrm>
          <a:prstGeom prst="rect">
            <a:avLst/>
          </a:prstGeom>
          <a:ln/>
        </p:spPr>
      </p:pic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9639300" y="148590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标准与荣誉</a:t>
            </a:r>
            <a:endParaRPr/>
          </a:p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639300" y="1704975"/>
            <a:ext cx="1457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CMMM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成熟度贯标等资质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685800" y="2209800"/>
            <a:ext cx="10820400" cy="3943350"/>
          </a:xfrm>
          <a:prstGeom prst="roundRect">
            <a:avLst>
              <a:gd name="adj" fmla="val 386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0" name=""/>
          <p:cNvSpPr/>
          <p:nvPr/>
        </p:nvSpPr>
        <p:spPr>
          <a:xfrm rot="0" flipH="0" flipV="0">
            <a:off x="933450" y="24003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1066800" y="24669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机会画布</a:t>
            </a:r>
            <a:endParaRPr/>
          </a:p>
        </p:txBody>
      </p:sp>
      <p:pic>
        <p:nvPicPr>
          <p:cNvPr id="6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2476500"/>
            <a:ext cx="152400" cy="152400"/>
          </a:xfrm>
          <a:prstGeom prst="rect">
            <a:avLst/>
          </a:prstGeom>
          <a:ln/>
        </p:spPr>
      </p:pic>
      <p:sp>
        <p:nvSpPr>
          <p:cNvPr id="623" name=""/>
          <p:cNvSpPr/>
          <p:nvPr/>
        </p:nvSpPr>
        <p:spPr>
          <a:xfrm rot="0" flipH="0" flipV="0">
            <a:off x="3409950" y="24003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543300" y="24669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选题论证</a:t>
            </a:r>
            <a:endParaRPr/>
          </a:p>
        </p:txBody>
      </p:sp>
      <p:sp>
        <p:nvSpPr>
          <p:cNvPr id="625" name=""/>
          <p:cNvSpPr/>
          <p:nvPr/>
        </p:nvSpPr>
        <p:spPr>
          <a:xfrm rot="0" flipH="0" flipV="0">
            <a:off x="933450" y="28003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1066800" y="28670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试点数据</a:t>
            </a:r>
            <a:endParaRPr/>
          </a:p>
        </p:txBody>
      </p:sp>
      <p:pic>
        <p:nvPicPr>
          <p:cNvPr id="6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2876550"/>
            <a:ext cx="152400" cy="152400"/>
          </a:xfrm>
          <a:prstGeom prst="rect">
            <a:avLst/>
          </a:prstGeom>
          <a:ln/>
        </p:spPr>
      </p:pic>
      <p:sp>
        <p:nvSpPr>
          <p:cNvPr id="628" name=""/>
          <p:cNvSpPr/>
          <p:nvPr/>
        </p:nvSpPr>
        <p:spPr>
          <a:xfrm rot="0" flipH="0" flipV="0">
            <a:off x="3409950" y="28003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3543300" y="28670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可行性说明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933450" y="32004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066800" y="32670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en-US" sz="1125" b="1">
                <a:solidFill>
                  <a:srgbClr val="0891B2"/>
                </a:solidFill>
                <a:latin typeface="PingFang SC"/>
                <a:ea typeface="PingFang SC"/>
              </a:rPr>
              <a:t>ROI 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测算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3276600"/>
            <a:ext cx="152400" cy="152400"/>
          </a:xfrm>
          <a:prstGeom prst="rect">
            <a:avLst/>
          </a:prstGeom>
          <a:ln/>
        </p:spPr>
      </p:pic>
      <p:sp>
        <p:nvSpPr>
          <p:cNvPr id="633" name=""/>
          <p:cNvSpPr/>
          <p:nvPr/>
        </p:nvSpPr>
        <p:spPr>
          <a:xfrm rot="0" flipH="0" flipV="0">
            <a:off x="3409950" y="32004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543300" y="32670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效益测算表</a:t>
            </a:r>
            <a:endParaRPr/>
          </a:p>
        </p:txBody>
      </p:sp>
      <p:sp>
        <p:nvSpPr>
          <p:cNvPr id="635" name=""/>
          <p:cNvSpPr/>
          <p:nvPr/>
        </p:nvSpPr>
        <p:spPr>
          <a:xfrm rot="0" flipH="0" flipV="0">
            <a:off x="933450" y="36004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066800" y="36671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风险清单</a:t>
            </a:r>
            <a:endParaRPr/>
          </a:p>
        </p:txBody>
      </p:sp>
      <p:pic>
        <p:nvPicPr>
          <p:cNvPr id="6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3676650"/>
            <a:ext cx="152400" cy="152400"/>
          </a:xfrm>
          <a:prstGeom prst="rect">
            <a:avLst/>
          </a:prstGeom>
          <a:ln/>
        </p:spPr>
      </p:pic>
      <p:sp>
        <p:nvSpPr>
          <p:cNvPr id="638" name=""/>
          <p:cNvSpPr/>
          <p:nvPr/>
        </p:nvSpPr>
        <p:spPr>
          <a:xfrm rot="0" flipH="0" flipV="0">
            <a:off x="3409950" y="36004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3543300" y="36671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安全可信方案</a:t>
            </a:r>
            <a:endParaRPr/>
          </a:p>
        </p:txBody>
      </p:sp>
      <p:sp>
        <p:nvSpPr>
          <p:cNvPr id="640" name=""/>
          <p:cNvSpPr/>
          <p:nvPr/>
        </p:nvSpPr>
        <p:spPr>
          <a:xfrm rot="0" flipH="0" flipV="0">
            <a:off x="933450" y="40005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066800" y="40671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团队分工</a:t>
            </a:r>
            <a:endParaRPr/>
          </a:p>
        </p:txBody>
      </p:sp>
      <p:pic>
        <p:nvPicPr>
          <p:cNvPr id="6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4076700"/>
            <a:ext cx="152400" cy="152400"/>
          </a:xfrm>
          <a:prstGeom prst="rect">
            <a:avLst/>
          </a:prstGeom>
          <a:ln/>
        </p:spPr>
      </p:pic>
      <p:sp>
        <p:nvSpPr>
          <p:cNvPr id="643" name=""/>
          <p:cNvSpPr/>
          <p:nvPr/>
        </p:nvSpPr>
        <p:spPr>
          <a:xfrm rot="0" flipH="0" flipV="0">
            <a:off x="3409950" y="400050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543300" y="406717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组织保障</a:t>
            </a:r>
            <a:endParaRPr/>
          </a:p>
        </p:txBody>
      </p:sp>
      <p:sp>
        <p:nvSpPr>
          <p:cNvPr id="645" name=""/>
          <p:cNvSpPr/>
          <p:nvPr/>
        </p:nvSpPr>
        <p:spPr>
          <a:xfrm rot="0" flipH="0" flipV="0">
            <a:off x="933450" y="44005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66800" y="44672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课程产出：</a:t>
            </a:r>
            <a:r>
              <a:rPr lang="zh-CN" sz="1125" b="1">
                <a:solidFill>
                  <a:srgbClr val="0891B2"/>
                </a:solidFill>
                <a:latin typeface="PingFang SC"/>
                <a:ea typeface="PingFang SC"/>
              </a:rPr>
              <a:t>复盘报告</a:t>
            </a:r>
            <a:endParaRPr/>
          </a:p>
        </p:txBody>
      </p:sp>
      <p:pic>
        <p:nvPicPr>
          <p:cNvPr id="6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43250" y="4476750"/>
            <a:ext cx="152400" cy="152400"/>
          </a:xfrm>
          <a:prstGeom prst="rect">
            <a:avLst/>
          </a:prstGeom>
          <a:ln/>
        </p:spPr>
      </p:pic>
      <p:sp>
        <p:nvSpPr>
          <p:cNvPr id="648" name=""/>
          <p:cNvSpPr/>
          <p:nvPr/>
        </p:nvSpPr>
        <p:spPr>
          <a:xfrm rot="0" flipH="0" flipV="0">
            <a:off x="3409950" y="4400550"/>
            <a:ext cx="2095500" cy="304800"/>
          </a:xfrm>
          <a:prstGeom prst="roundRect">
            <a:avLst>
              <a:gd name="adj" fmla="val 25000"/>
            </a:avLst>
          </a:prstGeom>
          <a:solidFill>
            <a:srgbClr val="EDF3FB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3543300" y="4467225"/>
            <a:ext cx="1828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申报材料：</a:t>
            </a: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可复制推广计划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8115300" y="2400300"/>
            <a:ext cx="3143250" cy="3562350"/>
          </a:xfrm>
          <a:prstGeom prst="roundRect">
            <a:avLst>
              <a:gd name="adj" fmla="val 4242"/>
            </a:avLst>
          </a:prstGeom>
          <a:solidFill>
            <a:srgbClr val="1E3A8A"/>
          </a:solidFill>
          <a:ln/>
          <a:effectLst>
            <a:outerShdw blurRad="228600" dist="76200" dir="5400000">
              <a:srgbClr val="1E3A8A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6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382000" y="3419475"/>
            <a:ext cx="266700" cy="266700"/>
          </a:xfrm>
          <a:prstGeom prst="rect">
            <a:avLst/>
          </a:prstGeom>
          <a:ln/>
        </p:spPr>
      </p:pic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8382000" y="3819525"/>
            <a:ext cx="26098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75" b="1">
                <a:solidFill>
                  <a:srgbClr val="FFFFFF"/>
                </a:solidFill>
                <a:latin typeface="PingFang SC"/>
                <a:ea typeface="PingFang SC"/>
              </a:rPr>
              <a:t>这门课的作业，攒起来就是一份试点申报书。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382000" y="4686300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学完</a:t>
            </a:r>
            <a:r>
              <a:rPr lang="en-US" sz="1050">
                <a:solidFill>
                  <a:srgbClr val="A9C4E8"/>
                </a:solidFill>
                <a:latin typeface="PingFang SC"/>
                <a:ea typeface="PingFang SC"/>
              </a:rPr>
              <a:t> = </a:t>
            </a:r>
            <a:r>
              <a:rPr lang="zh-CN" sz="1050">
                <a:solidFill>
                  <a:srgbClr val="A9C4E8"/>
                </a:solidFill>
                <a:latin typeface="PingFang SC"/>
                <a:ea typeface="PingFang SC"/>
              </a:rPr>
              <a:t>手里有材料，而不是脑子里有想法。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27 / 34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56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7&lt;/Text&gt;&#10;        &lt;Text style={{ fontSize: 18, color: '#7FD9F0', letterSpacing: 5, marginTop: 6 }}&gt;M7 · 3 课时&lt;/Text&gt;&#10;        &lt;Text style={{ fontSize: 54, fontWeight: 'bold', color: '#FFFFFF', marginTop: 20, lineHeight: 1.18 }}&gt;负责任 AI&lt;br /&gt;守得住底线，才走得远&lt;/Text&gt;&#10;        &lt;Box style={{ width: 84, height: 4, background: '#06B6D4', marginTop: 30 }} /&gt;&#10;        &lt;Text style={{ fontSize: 19, color: '#A9C4E8', marginTop: 22, lineHeight: 1.6 }}&gt;NIST 四步 · 六大失效模式 · 人在回路设计 · 停止条件&lt;br /&gt;车间数据不出厂 —— 这是红线，不是选项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659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07</a:t>
            </a:r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M7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负责任</a:t>
            </a:r>
            <a:r>
              <a:rPr lang="en-US" sz="4050" b="1">
                <a:solidFill>
                  <a:srgbClr val="FFFFFF"/>
                </a:solidFill>
                <a:latin typeface="PingFang SC"/>
                <a:ea typeface="PingFang SC"/>
              </a:rPr>
              <a:t> AI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守得住底线，才走得远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NIST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四步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六大失效模式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人在回路设计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停止条件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现场数据不出厂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这是红线，不是选项。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65" name="" descr="const nist = [&#10;    { icon: 'cogs', t: 'Govern 治理', d: '立制度、明责任：谁管 AI、怎么管' },&#10;    { icon: 'map', t: 'Map 识别', d: '给场景建风险档案：错了多严重' },&#10;    { icon: 'chart-bar', t: 'Measure 度量', d: '设指标持续监控：准确率、漂移' },&#10;    { icon: 'life-ring', t: 'Manage 处置', d: '出事故有预案：停、查、改、报' },&#10;];&#10;const fails = ['数据漂移', '自动化偏见', '幻觉', '反馈回路', '安全操纵', '厂商静默更新'];&#10;&lt;Slide style={{ width: '1280px', height: '720px', background: '#F5F8FC', padding: '24px 72px', boxSizing: 'border-box', flexDirection: 'column', fontFamily: 'PingFang SC, Source Han Sans SC, sans-serif' }}&gt;&#10;    &lt;Box style={{ height: 92, flexDirection: 'row', alignItems: 'center', gap: 16 }}&gt;&#10;        &lt;Box style={{ width: 5, height: 44, background: '#06B6D4', borderRadius: 3 }} /&gt;&#10;        &lt;Box&gt;&#10;            &lt;Text style={{ fontSize: 32, fontWeight: 'bold', color: '#1E3A8A', lineHeight: 1.2 }}&gt;NIST 四步 + 六大失效模式&lt;/Text&gt;&#10;            &lt;Text style={{ fontSize: 16, color: '#64748B', marginTop: 4 }}&gt;风险管理不是文档工程，是「出了事有人接得住」&lt;/Text&gt;&#10;        &lt;/Box&gt;&#10;    &lt;/Box&gt;&#10;    &lt;Box style={{ flexDirection: 'row', gap: 16, marginTop: 12 }}&gt;&#10;        {nist.map((n, i) =&gt; (&#10;            &lt;Box key={i} style={{ flex: 1, background: '#FFFFFF', borderRadius: 14, padding: '14px 16px', border: '1px solid #E2E8F0', boxShadow: '0 3px 12px rgba(30,58,138,0.05)', flexDirection: 'row', alignItems: 'center', gap: 12 }}&gt;&#10;                &lt;Box style={{ width: 44, height: 44, borderRadius: 11, background: i % 2 === 0 ? '#E0F7FA' : '#FEEFE0', justifyContent: 'center', alignItems: 'center' }}&gt;&#10;                    &lt;FAIcon name={n.icon} style={{ fill: i % 2 === 0 ? '#0891B2' : '#F59E0B', width: 22, height: 22 }} /&gt;&#10;                &lt;/Box&gt;&#10;                &lt;Box&gt;&#10;                    &lt;Text style={{ fontSize: 17, fontWeight: 'bold', color: '#1E3A8A' }}&gt;{n.t}&lt;/Text&gt;&#10;                    &lt;Text style={{ fontSize: 13, color: '#43566b', lineHeight: 1.45, marginTop: 3 }}&gt;{n.d}&lt;/Text&gt;&#10;                &lt;/Box&gt;&#10;            &lt;/Box&gt;&#10;        ))}&#10;    &lt;/Box&gt;&#10;    &lt;Box style={{ flex: 1, background: '#FFFFFF', borderRadius: 16, padding: '16px 24px', marginTop: 16, border: '1px solid #E2E8F0', flexDirection: 'column' }}&gt;&#10;        &lt;Text style={{ fontSize: 16, fontWeight: 'bold', color: '#1E3A8A' }}&gt;六大失效模式：AI 出事，通常不是「太笨」，是「错得太自信」&lt;/Text&gt;&#10;        &lt;Box style={{ flex: 1, flexDirection: 'column', gap: 8, marginTop: 10 }}&gt;&#10;            {fails.map((f, i) =&gt; (&#10;                &lt;Box key={i} style={{ flex: 1, flexDirection: 'row', alignItems: 'center', gap: 14, padding: '0 16px', background: '#F5F8FC', borderRadius: 10, border: '1px solid #E2E8F0' }}&gt;&#10;                    &lt;Text style={{ fontSize: 16, fontWeight: 'bold', color: '#F59E0B', fontFamily: 'Space Grotesk, Inter', width: 28 }}&gt;{'0' + (i + 1)}&lt;/Text&gt;&#10;                    &lt;Text style={{ fontSize: 15, fontWeight: 'bold', color: '#1E3A8A', width: 150 }}&gt;{f}&lt;/Text&gt;&#10;                    &lt;Text style={{ flex: 1, fontSize: 13, color: '#43566b' }}&gt;{['换季/换料后数据分布变了，模型悄悄变差', '人太信 AI，连它瞎说都不查', '编造不存在的参数与标准号', 'AI 建议 → 人照抄 → 数据更偏，越滚越歪', '提示词注入：一句「忽略以上规则」就能骗它', '云端模型偷偷升级，行为变了没人知道'].map((d) =&gt; d)}&lt;/Text&gt;&#10;                &lt;/Box&gt;&#10;            ))}&#10;        &lt;/Box&gt;&#10;    &lt;/Box&gt;&#10;    &lt;Box style={{ height: 40, flexDirection: 'row', justifyContent: 'space-between', alignItems: 'center', marginTop: 8 }}&gt;&#10;        &lt;Text style={{ fontSize: 14, color: '#64748B' }}&gt;AI 场景落地 · 中级&lt;/Text&gt;&#10;        &lt;Text style={{ fontSize: 14, color: '#64748B' }}&gt;29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685800" y="457200"/>
            <a:ext cx="47625" cy="41910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619500" cy="447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NIST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四步</a:t>
            </a:r>
            <a:r>
              <a:rPr lang="en-US" sz="240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400" b="1">
                <a:solidFill>
                  <a:srgbClr val="1E3A8A"/>
                </a:solidFill>
                <a:latin typeface="PingFang SC"/>
                <a:ea typeface="PingFang SC"/>
              </a:rPr>
              <a:t>六大失效模式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885825" y="819150"/>
            <a:ext cx="361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PingFang SC"/>
                <a:ea typeface="PingFang SC"/>
              </a:rPr>
              <a:t>风险管理不是文档工程，是「出了事有人接得住」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58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8382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42975" y="1476375"/>
            <a:ext cx="209550" cy="209550"/>
          </a:xfrm>
          <a:prstGeom prst="rect">
            <a:avLst/>
          </a:prstGeom>
          <a:ln/>
        </p:spPr>
      </p:pic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1343025" y="1352550"/>
            <a:ext cx="1781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Govern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治理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1343025" y="1581150"/>
            <a:ext cx="17811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立制度、明责任：谁管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、怎么管</a:t>
            </a:r>
            <a:endParaRPr/>
          </a:p>
        </p:txBody>
      </p:sp>
      <p:sp>
        <p:nvSpPr>
          <p:cNvPr id="675" name=""/>
          <p:cNvSpPr/>
          <p:nvPr/>
        </p:nvSpPr>
        <p:spPr>
          <a:xfrm rot="0" flipH="0" flipV="0">
            <a:off x="34290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76" name=""/>
          <p:cNvSpPr/>
          <p:nvPr/>
        </p:nvSpPr>
        <p:spPr>
          <a:xfrm rot="0" flipH="0" flipV="0">
            <a:off x="35814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86175" y="1476375"/>
            <a:ext cx="209550" cy="2095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41148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Map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识别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41148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给场景建风险档案：错了多严重</a:t>
            </a:r>
            <a:endParaRPr/>
          </a:p>
        </p:txBody>
      </p:sp>
      <p:sp>
        <p:nvSpPr>
          <p:cNvPr id="680" name=""/>
          <p:cNvSpPr/>
          <p:nvPr/>
        </p:nvSpPr>
        <p:spPr>
          <a:xfrm rot="0" flipH="0" flipV="0">
            <a:off x="61722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81" name=""/>
          <p:cNvSpPr/>
          <p:nvPr/>
        </p:nvSpPr>
        <p:spPr>
          <a:xfrm rot="0" flipH="0" flipV="0">
            <a:off x="63246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6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29375" y="1476375"/>
            <a:ext cx="209550" cy="209550"/>
          </a:xfrm>
          <a:prstGeom prst="rect">
            <a:avLst/>
          </a:prstGeom>
          <a:ln/>
        </p:spPr>
      </p:pic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68580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Measure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度量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68580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设指标持续监控：准确率、漂移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8915400" y="1219200"/>
            <a:ext cx="2590800" cy="714375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86" name=""/>
          <p:cNvSpPr/>
          <p:nvPr/>
        </p:nvSpPr>
        <p:spPr>
          <a:xfrm rot="0" flipH="0" flipV="0">
            <a:off x="9067800" y="1371600"/>
            <a:ext cx="419100" cy="4191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6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72575" y="1476375"/>
            <a:ext cx="209550" cy="209550"/>
          </a:xfrm>
          <a:prstGeom prst="rect">
            <a:avLst/>
          </a:prstGeom>
          <a:ln/>
        </p:spPr>
      </p:pic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9601200" y="1352550"/>
            <a:ext cx="1733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Manage 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处置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9601200" y="1581150"/>
            <a:ext cx="17335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出事故有预案：停、查、改、报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685800" y="2085975"/>
            <a:ext cx="10820400" cy="4086225"/>
          </a:xfrm>
          <a:prstGeom prst="roundRect">
            <a:avLst>
              <a:gd name="adj" fmla="val 37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914400" y="2238375"/>
            <a:ext cx="1036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六大失效模式：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出事，通常不是「太笨」，是「错得太自信」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914400" y="2524125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1066800" y="269557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1466850" y="270510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数据漂移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3028950" y="263842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914400" y="3124200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1066800" y="328612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1466850" y="32956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自动化偏见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3028950" y="322897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914400" y="3714750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1066800" y="3886200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1466850" y="38957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幻觉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3028950" y="3829050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914400" y="4314825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1066800" y="4476750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466850" y="448627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反馈回路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028950" y="4419600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914400" y="4905375"/>
            <a:ext cx="10363200" cy="523875"/>
          </a:xfrm>
          <a:prstGeom prst="roundRect">
            <a:avLst>
              <a:gd name="adj" fmla="val 18182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066800" y="507682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466850" y="50863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安全操纵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3028950" y="501967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914400" y="5505450"/>
            <a:ext cx="10363200" cy="514350"/>
          </a:xfrm>
          <a:prstGeom prst="roundRect">
            <a:avLst>
              <a:gd name="adj" fmla="val 18519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1066800" y="5667375"/>
            <a:ext cx="266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1466850" y="567690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E3A8A"/>
                </a:solidFill>
                <a:latin typeface="PingFang SC"/>
                <a:ea typeface="PingFang SC"/>
              </a:rPr>
              <a:t>厂商静默更新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3028950" y="5610225"/>
            <a:ext cx="80962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换季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/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换料后数据分布变了，模型悄悄变差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人太信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AI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，连它瞎说都不查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编造不存在的参数与标准号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AI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建议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人照抄</a:t>
            </a:r>
            <a:r>
              <a:rPr lang="en-US" sz="975">
                <a:solidFill>
                  <a:srgbClr val="43566B"/>
                </a:solidFill>
                <a:latin typeface="PingFang SC"/>
                <a:ea typeface="PingFang SC"/>
              </a:rPr>
              <a:t> → 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数据更偏，越滚越歪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提示词注入：一句「忽略以上规则」就能骗它</a:t>
            </a:r>
            <a:r>
              <a:rPr lang="zh-CN" sz="975">
                <a:solidFill>
                  <a:srgbClr val="43566B"/>
                </a:solidFill>
                <a:latin typeface="PingFang SC"/>
                <a:ea typeface="PingFang SC"/>
              </a:rPr>
              <a:t>云端模型偷偷升级，行为变了没人知道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29 / 34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2" name="" descr="const stops = [&#10;    { t: '置信度低于阈值', d: '自动转人工复核', c: '#F59E0B' },&#10;    { t: '连续 2 次误判', d: '暂停自动判定，人工接管', c: '#F59E0B' },&#10;    { t: '安全事件', d: '立即停止 + 复盘 + 上报', c: '#DC2626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人在回路：设计 + 停止条件&lt;/Text&gt;&#10;            &lt;Text style={{ fontSize: 17, color: '#64748B', marginTop: 4 }}&gt;「AI 建议、人确认、系统留痕」—— 三句话一个闭环&lt;/Text&gt;&#10;        &lt;/Box&gt;&#10;    &lt;/Box&gt;&#10;    &lt;Box style={{ flex: 1, flexDirection: 'row', gap: 24, marginTop: 14 }}&gt;&#10;        &lt;Box style={{ flex: 55, flexDirection: 'column' }}&gt;&#10;            &lt;Box style={{ flexDirection: 'row', gap: 12, alignItems: 'stretch' }}&gt;&#10;                {[&#10;                    ['AI 建议', '附置信度 + 证据'],&#10;                    ['人确认', '处置权在人手里'],&#10;                    ['系统执行', '全程留痕可追溯'],&#10;                ].map((s, i) =&gt; (&#10;                    &lt;Box key={i} style={{ flexDirection: 'row', alignItems: 'center', gap: 12, flex: 1 }}&gt;&#10;                        &lt;Box key={'c' + i} style={{ flex: 1, background: i === 1 ? '#1E3A8A' : '#FFFFFF', borderRadius: 14, padding: '18px 16px', border: '1px solid ' + (i === 1 ? '#1E3A8A' : '#E2E8F0'), textAlign: 'center', boxShadow: i === 1 ? '0 8px 24px rgba(30,58,138,0.25)' : 'none' }}&gt;&#10;                            &lt;Text style={{ fontSize: 19, fontWeight: 'bold', color: i === 1 ? '#FFFFFF' : '#1E3A8A' }}&gt;{s[0]}&lt;/Text&gt;&#10;                            &lt;Text style={{ fontSize: 13, color: i === 1 ? '#DCE9FB' : '#64748B', marginTop: 6 }}&gt;{s[1]}&lt;/Text&gt;&#10;                        &lt;/Box&gt;&#10;                        {i &lt; 2 &amp;&amp; &lt;FAIcon name=&quot;arrow-right&quot; style={{ fill: '#F59E0B', width: 20, height: 20 }} /&gt;}&#10;                    &lt;/Box&gt;&#10;                ))}&#10;            &lt;/Box&gt;&#10;            &lt;Box style={{ flex: 1, background: '#FFFFFF', borderRadius: 16, padding: '20px 24px', marginTop: 18, border: '1px solid #E2E8F0', flexDirection: 'column' }}&gt;&#10;                &lt;Text style={{ fontSize: 18, fontWeight: 'bold', color: '#1E3A8A', marginBottom: 12 }}&gt;停止条件：写进 SOP，别靠自觉&lt;/Text&gt;&#10;                {stops.map((s, i) =&gt; (&#10;                    &lt;Box key={i} style={{ flexDirection: 'row', alignItems: 'center', gap: 12, padding: '10px 16px', background: '#F5F8FC', borderRadius: 10, marginBottom: 8 }}&gt;&#10;                        &lt;Box style={{ width: 6, height: 26, background: s.c, borderRadius: 3 }} /&gt;&#10;                        &lt;Text style={{ fontSize: 16, fontWeight: 'bold', color: '#1E3A8A', width: 190 }}&gt;{s.t}&lt;/Text&gt;&#10;                        &lt;Text style={{ flex: 1, fontSize: 15, color: '#43566b' }}&gt;{s.d}&lt;/Text&gt;&#10;                    &lt;/Box&gt;&#10;                ))}&#10;            &lt;/Box&gt;&#10;        &lt;/Box&gt;&#10;        &lt;Box style={{ flex: 45, flexDirection: 'column', gap: 16 }}&gt;&#10;            &lt;Box style={{ borderRadius: 18, overflow: 'hidden', background: '#1E3A8A', boxShadow: '0 8px 28px rgba(30,58,138,0.18)', flex: 1 }}&gt;&#10;                &lt;Image src=&quot;assets/human_in_the_loop.png&quot; style={{ width: '100%', height: '100%', objectFit: 'cover' }} /&gt;&#10;            &lt;/Box&gt;&#10;            &lt;Box style={{ padding: '16px 22px', background: '#FEEFE0', borderRadius: 14, border: '2px solid #F59E0B' }}&gt;&#10;                &lt;Text style={{ fontSize: 18, fontWeight: 'bold', color: '#B45309' }}&gt;车间数据不出厂&lt;/Text&gt;&#10;                &lt;Text style={{ fontSize: 14, color: '#43566b', marginTop: 6, lineHeight: 1.6 }}&gt;工艺参数、产量、良率 —— 敏感数据优先私有化 / 边缘部署，出厂的只有「脱敏结论」。&lt;/Text&gt;&#10;            &lt;/Box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30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98145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人在回路：设计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停止条件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981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「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建议、人确认、系统留痕」——</a:t>
            </a: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三句话一个闭环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685800" y="1276350"/>
            <a:ext cx="1562100" cy="771525"/>
          </a:xfrm>
          <a:prstGeom prst="roundRect">
            <a:avLst>
              <a:gd name="adj" fmla="val 172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838200" y="1447800"/>
            <a:ext cx="12573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425" b="1">
                <a:solidFill>
                  <a:srgbClr val="1E3A8A"/>
                </a:solidFill>
                <a:latin typeface="PingFang SC"/>
                <a:ea typeface="PingFang SC"/>
              </a:rPr>
              <a:t>AI </a:t>
            </a: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建议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838200" y="1724025"/>
            <a:ext cx="12573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附置信度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证据</a:t>
            </a:r>
            <a:endParaRPr/>
          </a:p>
        </p:txBody>
      </p:sp>
      <p:pic>
        <p:nvPicPr>
          <p:cNvPr id="7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362200" y="1571625"/>
            <a:ext cx="190500" cy="190500"/>
          </a:xfrm>
          <a:prstGeom prst="rect">
            <a:avLst/>
          </a:prstGeom>
          <a:ln/>
        </p:spPr>
      </p:pic>
      <p:sp>
        <p:nvSpPr>
          <p:cNvPr id="771" name=""/>
          <p:cNvSpPr/>
          <p:nvPr/>
        </p:nvSpPr>
        <p:spPr>
          <a:xfrm rot="0" flipH="0" flipV="0">
            <a:off x="2667000" y="1276350"/>
            <a:ext cx="1562100" cy="771525"/>
          </a:xfrm>
          <a:prstGeom prst="roundRect">
            <a:avLst>
              <a:gd name="adj" fmla="val 17284"/>
            </a:avLst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  <a:effectLst>
            <a:outerShdw blurRad="2286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819400" y="1447800"/>
            <a:ext cx="12573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人确认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2819400" y="1724025"/>
            <a:ext cx="12573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DCE9FB"/>
                </a:solidFill>
                <a:latin typeface="PingFang SC"/>
                <a:ea typeface="PingFang SC"/>
              </a:rPr>
              <a:t>处置权在人手里</a:t>
            </a:r>
            <a:endParaRPr/>
          </a:p>
        </p:txBody>
      </p:sp>
      <p:pic>
        <p:nvPicPr>
          <p:cNvPr id="7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343400" y="1571625"/>
            <a:ext cx="190500" cy="190500"/>
          </a:xfrm>
          <a:prstGeom prst="rect">
            <a:avLst/>
          </a:prstGeom>
          <a:ln/>
        </p:spPr>
      </p:pic>
      <p:sp>
        <p:nvSpPr>
          <p:cNvPr id="775" name=""/>
          <p:cNvSpPr/>
          <p:nvPr/>
        </p:nvSpPr>
        <p:spPr>
          <a:xfrm rot="0" flipH="0" flipV="0">
            <a:off x="4648200" y="1276350"/>
            <a:ext cx="1866900" cy="771525"/>
          </a:xfrm>
          <a:prstGeom prst="roundRect">
            <a:avLst>
              <a:gd name="adj" fmla="val 172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4800600" y="1447800"/>
            <a:ext cx="1562100" cy="2190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系统执行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4800600" y="1724025"/>
            <a:ext cx="15621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全程留痕可追溯</a:t>
            </a:r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685800" y="2219325"/>
            <a:ext cx="5829300" cy="3933825"/>
          </a:xfrm>
          <a:prstGeom prst="roundRect">
            <a:avLst>
              <a:gd name="adj" fmla="val 387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14400" y="2409825"/>
            <a:ext cx="5372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停止条件：写进</a:t>
            </a:r>
            <a:r>
              <a:rPr lang="en-US" sz="1350" b="1">
                <a:solidFill>
                  <a:srgbClr val="1E3A8A"/>
                </a:solidFill>
                <a:latin typeface="PingFang SC"/>
                <a:ea typeface="PingFang SC"/>
              </a:rPr>
              <a:t> SOP</a:t>
            </a: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，别靠自觉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914400" y="273367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1066800" y="282892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238250" y="28575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置信度低于阈值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3162300" y="28670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自动转人工复核</a:t>
            </a:r>
            <a:endParaRPr/>
          </a:p>
        </p:txBody>
      </p:sp>
      <p:sp>
        <p:nvSpPr>
          <p:cNvPr id="784" name=""/>
          <p:cNvSpPr/>
          <p:nvPr/>
        </p:nvSpPr>
        <p:spPr>
          <a:xfrm rot="0" flipH="0" flipV="0">
            <a:off x="914400" y="324802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5" name=""/>
          <p:cNvSpPr/>
          <p:nvPr/>
        </p:nvSpPr>
        <p:spPr>
          <a:xfrm rot="0" flipH="0" flipV="0">
            <a:off x="1066800" y="334327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238250" y="337185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连续</a:t>
            </a:r>
            <a:r>
              <a:rPr lang="en-US" sz="1200" b="1">
                <a:solidFill>
                  <a:srgbClr val="1E3A8A"/>
                </a:solidFill>
                <a:latin typeface="PingFang SC"/>
                <a:ea typeface="PingFang SC"/>
              </a:rPr>
              <a:t> 2 </a:t>
            </a: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次误判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3162300" y="338137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暂停自动判定，人工接管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14400" y="3762375"/>
            <a:ext cx="5372100" cy="438150"/>
          </a:xfrm>
          <a:prstGeom prst="roundRect">
            <a:avLst>
              <a:gd name="adj" fmla="val 21739"/>
            </a:avLst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789" name=""/>
          <p:cNvSpPr/>
          <p:nvPr/>
        </p:nvSpPr>
        <p:spPr>
          <a:xfrm rot="0" flipH="0" flipV="0">
            <a:off x="1066800" y="3857625"/>
            <a:ext cx="57150" cy="2476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238250" y="3886200"/>
            <a:ext cx="1809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3A8A"/>
                </a:solidFill>
                <a:latin typeface="PingFang SC"/>
                <a:ea typeface="PingFang SC"/>
              </a:rPr>
              <a:t>安全事件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3162300" y="38957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立即停止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复盘</a:t>
            </a:r>
            <a:r>
              <a:rPr lang="en-US" sz="1125">
                <a:solidFill>
                  <a:srgbClr val="43566B"/>
                </a:solidFill>
                <a:latin typeface="PingFang SC"/>
                <a:ea typeface="PingFang SC"/>
              </a:rPr>
              <a:t> + </a:t>
            </a:r>
            <a:r>
              <a:rPr lang="zh-CN" sz="1125">
                <a:solidFill>
                  <a:srgbClr val="43566B"/>
                </a:solidFill>
                <a:latin typeface="PingFang SC"/>
                <a:ea typeface="PingFang SC"/>
              </a:rPr>
              <a:t>上报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6743700" y="1276350"/>
            <a:ext cx="4762500" cy="3638550"/>
          </a:xfrm>
          <a:prstGeom prst="roundRect">
            <a:avLst>
              <a:gd name="adj" fmla="val 471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 r:embed="rId2"/>
          <a:srcRect l="0" t="11800" r="0" b="11800"/>
          <a:stretch>
            <a:fillRect/>
          </a:stretch>
        </p:blipFill>
        <p:spPr>
          <a:xfrm rot="0" flipH="0" flipV="0">
            <a:off x="6743700" y="1276350"/>
            <a:ext cx="4762500" cy="3638550"/>
          </a:xfrm>
          <a:custGeom>
            <a:pathLst>
              <a:path w="500" h="382">
                <a:moveTo>
                  <a:pt x="482" y="0"/>
                </a:moveTo>
                <a:cubicBezTo>
                  <a:pt x="492" y="0"/>
                  <a:pt x="500" y="8"/>
                  <a:pt x="500" y="18"/>
                </a:cubicBezTo>
                <a:lnTo>
                  <a:pt x="500" y="364"/>
                </a:lnTo>
                <a:cubicBezTo>
                  <a:pt x="500" y="374"/>
                  <a:pt x="492" y="382"/>
                  <a:pt x="482" y="382"/>
                </a:cubicBezTo>
                <a:lnTo>
                  <a:pt x="18" y="382"/>
                </a:lnTo>
                <a:cubicBezTo>
                  <a:pt x="8" y="382"/>
                  <a:pt x="0" y="374"/>
                  <a:pt x="0" y="364"/>
                </a:cubicBezTo>
                <a:lnTo>
                  <a:pt x="0" y="18"/>
                </a:lnTo>
                <a:cubicBezTo>
                  <a:pt x="0" y="8"/>
                  <a:pt x="8" y="0"/>
                  <a:pt x="18" y="0"/>
                </a:cubicBezTo>
                <a:lnTo>
                  <a:pt x="482" y="0"/>
                </a:lnTo>
                <a:close/>
              </a:path>
            </a:pathLst>
          </a:custGeom>
          <a:ln/>
        </p:spPr>
      </p:pic>
      <p:sp>
        <p:nvSpPr>
          <p:cNvPr id="794" name=""/>
          <p:cNvSpPr/>
          <p:nvPr/>
        </p:nvSpPr>
        <p:spPr>
          <a:xfrm rot="0" flipH="0" flipV="0">
            <a:off x="6743700" y="5067300"/>
            <a:ext cx="4762500" cy="1085850"/>
          </a:xfrm>
          <a:prstGeom prst="roundRect">
            <a:avLst>
              <a:gd name="adj" fmla="val 12281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6953250" y="5219700"/>
            <a:ext cx="4343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B45309"/>
                </a:solidFill>
                <a:latin typeface="PingFang SC"/>
                <a:ea typeface="PingFang SC"/>
              </a:rPr>
              <a:t>数据不出厂 · 对外内容带标识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6953250" y="5486400"/>
            <a:ext cx="4343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工艺参数、产量、良率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敏感数据优先私有化</a:t>
            </a:r>
            <a:r>
              <a:rPr lang="en-US" sz="1050">
                <a:solidFill>
                  <a:srgbClr val="43566B"/>
                </a:solidFill>
                <a:latin typeface="PingFang SC"/>
                <a:ea typeface="PingFang SC"/>
              </a:rPr>
              <a:t> / </a:t>
            </a:r>
            <a:r>
              <a:rPr lang="zh-CN" sz="1050">
                <a:solidFill>
                  <a:srgbClr val="43566B"/>
                </a:solidFill>
                <a:latin typeface="PingFang SC"/>
                <a:ea typeface="PingFang SC"/>
              </a:rPr>
              <a:t>边缘部署，出厂的只有「脱敏结论」；AI 内容对外带标识（2025-09 施行）。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30 / 34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99" name="" descr="&lt;Slide style={{ width: '1280px', height: '720px', position: 'relative', background: '#1E3A8A', overflow: 'hidden', fontFamily: 'PingFang SC, Source Han Sans SC, sans-serif' }}&gt;&#10;    &lt;Box style={{ position: 'absolute', top: 0, right: 0, width: 500, height: '720px' }}&gt;&#10;        &lt;Image src=&quot;assets/hero_cover.png&quot; style={{ width: '500px', height: '720px', objectFit: 'cover', opacity: 0.5 }} /&gt;&#10;        &lt;Box style={{ position: 'absolute', top: 0, left: 0, width: '500px', height: '720px', background: 'linear-gradient(90deg, rgba(30,58,138,1) 0%, rgba(30,58,138,0.15) 100%)' }} /&gt;&#10;    &lt;/Box&gt;&#10;    &lt;Box style={{ position: 'relative', zIndex: 1, height: '720px', padding: '0 84px', justifyContent: 'center' }}&gt;&#10;        &lt;Text style={{ fontSize: 130, fontWeight: 'bold', color: 'rgba(6,182,212,0.5)', lineHeight: 1, fontFamily: 'Space Grotesk, Inter' }}&gt;08&lt;/Text&gt;&#10;        &lt;Text style={{ fontSize: 18, color: '#7FD9F0', letterSpacing: 5, marginTop: 6 }}&gt;M8 · 3 课时&lt;/Text&gt;&#10;        &lt;Text style={{ fontSize: 54, fontWeight: 'bold', color: '#FFFFFF', marginTop: 20, lineHeight: 1.18 }}&gt;结业工作坊&lt;br /&gt;把你的场景做完&lt;/Text&gt;&#10;        &lt;Box style={{ width: 84, height: 4, background: '#06B6D4', marginTop: 30 }} /&gt;&#10;        &lt;Text style={{ fontSize: 19, color: '#A9C4E8', marginTop: 22, lineHeight: 1.6 }}&gt;四选一项目 · 六件套交付 · 8 分钟讲 + 5 分钟质询&lt;br /&gt;带着自己厂里的场景来，带着能立项的方案走。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801" name=""/>
          <p:cNvPicPr>
            <a:picLocks noChangeAspect="1"/>
          </p:cNvPicPr>
          <p:nvPr/>
        </p:nvPicPr>
        <p:blipFill>
          <a:blip r:embed="rId1">
            <a:alphaModFix amt="50000"/>
          </a:blip>
          <a:srcRect l="26242" t="0" r="26242" b="0"/>
          <a:stretch>
            <a:fillRect/>
          </a:stretch>
        </p:blipFill>
        <p:spPr>
          <a:xfrm rot="0" flipH="0" flipV="0">
            <a:off x="7429500" y="0"/>
            <a:ext cx="4762500" cy="6858000"/>
          </a:xfrm>
          <a:prstGeom prst="rect">
            <a:avLst/>
          </a:prstGeom>
          <a:ln/>
        </p:spPr>
      </p:pic>
      <p:sp>
        <p:nvSpPr>
          <p:cNvPr id="802" name=""/>
          <p:cNvSpPr/>
          <p:nvPr/>
        </p:nvSpPr>
        <p:spPr>
          <a:xfrm rot="0" flipH="0" flipV="0">
            <a:off x="7429500" y="0"/>
            <a:ext cx="4762500" cy="6858000"/>
          </a:xfrm>
          <a:prstGeom prst="rect">
            <a:avLst/>
          </a:prstGeom>
          <a:gradFill>
            <a:gsLst>
              <a:gs pos="0">
                <a:srgbClr val="1E3A8A">
                  <a:alpha val="100000"/>
                </a:srgbClr>
              </a:gs>
              <a:gs pos="100000">
                <a:srgbClr val="1E3A8A">
                  <a:alpha val="15000"/>
                </a:srgbClr>
              </a:gs>
            </a:gsLst>
            <a:lin ang="0" scaled="1"/>
          </a:gra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800100" y="1114425"/>
            <a:ext cx="10591800" cy="1485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0" b="1">
                <a:solidFill>
                  <a:srgbClr val="06B6D4">
                    <a:alpha val="50000"/>
                  </a:srgbClr>
                </a:solidFill>
                <a:latin typeface="Space Grotesk"/>
                <a:ea typeface="Space Grotesk"/>
              </a:rPr>
              <a:t>08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800100" y="2657475"/>
            <a:ext cx="1059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375">
                <a:solidFill>
                  <a:srgbClr val="7FD9F0"/>
                </a:solidFill>
                <a:latin typeface="PingFang SC"/>
                <a:ea typeface="PingFang SC"/>
              </a:rPr>
              <a:t>M8 · 3 </a:t>
            </a:r>
            <a:r>
              <a:rPr lang="zh-CN" sz="1350" spc="375">
                <a:solidFill>
                  <a:srgbClr val="7FD9F0"/>
                </a:solidFill>
                <a:latin typeface="PingFang SC"/>
                <a:ea typeface="PingFang SC"/>
              </a:rPr>
              <a:t>课时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800100" y="3057525"/>
            <a:ext cx="10591800" cy="14573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结业工作坊</a:t>
            </a:r>
            <a:endParaRPr/>
          </a:p>
          <a:p>
            <a:pPr>
              <a:lnSpc>
                <a:spcPct val="118000"/>
              </a:lnSpc>
            </a:pPr>
            <a:r>
              <a:rPr lang="zh-CN" sz="4050" b="1">
                <a:solidFill>
                  <a:srgbClr val="FFFFFF"/>
                </a:solidFill>
                <a:latin typeface="PingFang SC"/>
                <a:ea typeface="PingFang SC"/>
              </a:rPr>
              <a:t>把你的场景做完</a:t>
            </a:r>
            <a:endParaRPr/>
          </a:p>
        </p:txBody>
      </p:sp>
      <p:sp>
        <p:nvSpPr>
          <p:cNvPr id="806" name=""/>
          <p:cNvSpPr/>
          <p:nvPr/>
        </p:nvSpPr>
        <p:spPr>
          <a:xfrm rot="0" flipH="0" flipV="0">
            <a:off x="800100" y="4800600"/>
            <a:ext cx="8001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800100" y="5048250"/>
            <a:ext cx="10591800" cy="695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四选一项目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六件套交付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· 8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分钟讲</a:t>
            </a:r>
            <a:r>
              <a:rPr lang="en-US" sz="1425">
                <a:solidFill>
                  <a:srgbClr val="A9C4E8"/>
                </a:solidFill>
                <a:latin typeface="PingFang SC"/>
                <a:ea typeface="PingFang SC"/>
              </a:rPr>
              <a:t> + 5 </a:t>
            </a: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分钟质询</a:t>
            </a:r>
            <a:endParaRPr/>
          </a:p>
          <a:p>
            <a:pPr>
              <a:lnSpc>
                <a:spcPct val="160000"/>
              </a:lnSpc>
            </a:pPr>
            <a:r>
              <a:rPr lang="zh-CN" sz="1425">
                <a:solidFill>
                  <a:srgbClr val="A9C4E8"/>
                </a:solidFill>
                <a:latin typeface="PingFang SC"/>
                <a:ea typeface="PingFang SC"/>
              </a:rPr>
              <a:t>带着自己厂里的场景来，带着能立项的方案走。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08" name="" descr="const picks = [&#10;    { icon: 'heartbeat', t: '预测维护看板', d: '选一台关键设备，做预警闭环' },&#10;    { icon: 'search', t: 'AI 质检试点', d: '选一道检工序，配四控制上线' },&#10;    { icon: 'boxes', t: '智能供应链', d: '算 EBQ / 看板，盯三个异常源' },&#10;    { icon: 'robot', t: '制造助手', d: '修一个受控的 SOP 问答助手' },&#10;];&#10;const kit = ['场景卡', '数据清单', '模型/工具', '试点方案', '效益测算', '风险清单'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四选一 + 六件套 + 三把刀&lt;/Text&gt;&#10;            &lt;Text style={{ fontSize: 17, color: '#64748B', marginTop: 4 }}&gt;项目必须来自你自己的车间，不接受「别人的案例」&lt;/Text&gt;&#10;        &lt;/Box&gt;&#10;    &lt;/Box&gt;&#10;    &lt;Box style={{ flexDirection: 'row', gap: 16, marginTop: 14 }}&gt;&#10;        {picks.map((p, i) =&gt; (&#10;            &lt;Box key={i} style={{ flex: 1, background: '#FFFFFF', borderRadius: 14, padding: '18px 16px', border: '1px solid #E2E8F0', boxShadow: '0 3px 12px rgba(30,58,138,0.05)', flexDirection: 'row', alignItems: 'center', gap: 12 }}&gt;&#10;                &lt;Box style={{ width: 48, height: 48, borderRadius: 12, background: i === 0 ? '#FEEFE0' : '#E0F7FA', justifyContent: 'center', alignItems: 'center' }}&gt;&#10;                    &lt;FAIcon name={p.icon} style={{ fill: i === 0 ? '#F59E0B' : '#0891B2', width: 24, height: 24 }} /&gt;&#10;                &lt;/Box&gt;&#10;                &lt;Box&gt;&#10;                    &lt;Text style={{ fontSize: 17, fontWeight: 'bold', color: '#1E3A8A' }}&gt;{p.t}&lt;/Text&gt;&#10;                    &lt;Text style={{ fontSize: 13, color: '#64748B', marginTop: 3, lineHeight: 1.5 }}&gt;{p.d}&lt;/Text&gt;&#10;                &lt;/Box&gt;&#10;            &lt;/Box&gt;&#10;        ))}&#10;    &lt;/Box&gt;&#10;    &lt;Box style={{ flex: 1, flexDirection: 'row', gap: 24, marginTop: 18 }}&gt;&#10;        &lt;Box style={{ flex: 1, background: '#FFFFFF', borderRadius: 16, padding: '20px 24px', border: '1px solid #E2E8F0', flexDirection: 'column' }}&gt;&#10;            &lt;Text style={{ fontSize: 18, fontWeight: 'bold', color: '#1E3A8A', marginBottom: 12 }}&gt;六件套：交不出就不算做完&lt;/Text&gt;&#10;            &lt;Box style={{ flexDirection: 'column', gap: 10, flex: 1, justifyContent: 'space-between' }}&gt;&#10;                {kit.map((k, i) =&gt; (&#10;                    &lt;Box key={i} style={{ flexDirection: 'row', alignItems: 'center', gap: 12, padding: '10px 16px', background: '#F5F8FC', borderRadius: 10, border: '1px solid #E2E8F0' }}&gt;&#10;                        &lt;Text style={{ fontSize: 17, fontWeight: 'bold', color: '#0891B2', fontFamily: 'Space Grotesk, Inter' }}&gt;{'0' + (i + 1)}&lt;/Text&gt;&#10;                        &lt;Text style={{ fontSize: 17, fontWeight: 'bold', color: '#1E3A8A' }}&gt;{k}&lt;/Text&gt;&#10;                    &lt;/Box&gt;&#10;                ))}&#10;            &lt;/Box&gt;&#10;        &lt;/Box&gt;&#10;        &lt;Box style={{ flex: 1, background: '#1E3A8A', borderRadius: 16, padding: '22px 26px', flexDirection: 'column', boxShadow: '0 8px 28px rgba(30,58,138,0.25)' }}&gt;&#10;            &lt;Text style={{ fontSize: 18, fontWeight: 'bold', color: '#FFFFFF', marginBottom: 14 }}&gt;质询三把刀（评委专用）&lt;/Text&gt;&#10;            {['数据从哪来？', '错了谁担责？', '省的钱怎么验证？'].map((q, i) =&gt; (&#10;                &lt;Box key={i} style={{ flexDirection: 'row', alignItems: 'center', gap: 12, padding: '12px 18px', background: 'rgba(6,182,212,0.15)', borderRadius: 10, border: '1px solid rgba(6,182,212,0.45)', marginBottom: 10 }}&gt;&#10;                    &lt;FAIcon name=&quot;comment-dots&quot; style={{ fill: '#7FD9F0', width: 20, height: 20 }} /&gt;&#10;                    &lt;Text style={{ fontSize: 19, fontWeight: 'bold', color: '#FFFFFF' }}&gt;{q}&lt;/Text&gt;&#10;                &lt;/Box&gt;&#10;            ))}&#10;            &lt;Text style={{ fontSize: 15, color: '#A9C4E8', marginTop: 'auto', lineHeight: 1.7 }}&gt;每组 8 分钟讲 + 5 分钟质询 —— 三把刀都答得上，项目才算立得住。&lt;/Text&gt;&#10;        &lt;/Box&gt;&#10;    &lt;/Box&gt;&#10;    &lt;Box style={{ height: 40, flexDirection: 'row', justifyContent: 'space-between', alignItems: 'center', marginTop: 10 }}&gt;&#10;        &lt;Text style={{ fontSize: 14, color: '#64748B' }}&gt;AI 场景落地 · 中级&lt;/Text&gt;&#10;        &lt;Text style={{ fontSize: 14, color: '#64748B' }}&gt;32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810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374332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四选一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六件套</a:t>
            </a:r>
            <a:r>
              <a:rPr lang="en-US" sz="2550" b="1">
                <a:solidFill>
                  <a:srgbClr val="1E3A8A"/>
                </a:solidFill>
                <a:latin typeface="PingFang SC"/>
                <a:ea typeface="PingFang SC"/>
              </a:rPr>
              <a:t> + </a:t>
            </a: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三把刀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3743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项目必须来自你自己的现场，不接受「别人的案例」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6858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8382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1562100"/>
            <a:ext cx="228600" cy="2286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409700" y="1447800"/>
            <a:ext cx="1609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预测预警看板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409700" y="1676400"/>
            <a:ext cx="16097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选一台关键系统，做预警闭环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4290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35814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95700" y="1562100"/>
            <a:ext cx="228600" cy="2286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4152900" y="1447800"/>
            <a:ext cx="1609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AI 审核试点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/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4152900" y="1676400"/>
            <a:ext cx="16097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选一道检工序，配四控制上线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61722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24" name=""/>
          <p:cNvSpPr/>
          <p:nvPr/>
        </p:nvSpPr>
        <p:spPr>
          <a:xfrm rot="0" flipH="0" flipV="0">
            <a:off x="63246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38900" y="1562100"/>
            <a:ext cx="228600" cy="228600"/>
          </a:xfrm>
          <a:prstGeom prst="rect">
            <a:avLst/>
          </a:prstGeom>
          <a:ln/>
        </p:spPr>
      </p:pic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6896100" y="1447800"/>
            <a:ext cx="1685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流程资源优化</a:t>
            </a:r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6896100" y="1676400"/>
            <a:ext cx="16859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算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EBQ /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看板，盯三个异常源</a:t>
            </a:r>
            <a:endParaRPr/>
          </a:p>
        </p:txBody>
      </p:sp>
      <p:sp>
        <p:nvSpPr>
          <p:cNvPr id="828" name=""/>
          <p:cNvSpPr/>
          <p:nvPr/>
        </p:nvSpPr>
        <p:spPr>
          <a:xfrm rot="0" flipH="0" flipV="0">
            <a:off x="8915400" y="1276350"/>
            <a:ext cx="259080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14300" dist="28575" dir="5400000">
              <a:srgbClr val="1E3A8A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29" name=""/>
          <p:cNvSpPr/>
          <p:nvPr/>
        </p:nvSpPr>
        <p:spPr>
          <a:xfrm rot="0" flipH="0" flipV="0">
            <a:off x="9067800" y="1447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182100" y="1562100"/>
            <a:ext cx="228600" cy="228600"/>
          </a:xfrm>
          <a:prstGeom prst="rect">
            <a:avLst/>
          </a:prstGeom>
          <a:ln/>
        </p:spPr>
      </p:pic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9639300" y="1447800"/>
            <a:ext cx="1581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制造助手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9639300" y="1676400"/>
            <a:ext cx="15811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修一个受控的</a:t>
            </a:r>
            <a:r>
              <a:rPr lang="en-US" sz="975">
                <a:solidFill>
                  <a:srgbClr val="64748B"/>
                </a:solidFill>
                <a:latin typeface="PingFang SC"/>
                <a:ea typeface="PingFang SC"/>
              </a:rPr>
              <a:t> SOP </a:t>
            </a:r>
            <a:r>
              <a:rPr lang="zh-CN" sz="975">
                <a:solidFill>
                  <a:srgbClr val="64748B"/>
                </a:solidFill>
                <a:latin typeface="PingFang SC"/>
                <a:ea typeface="PingFang SC"/>
              </a:rPr>
              <a:t>问答助手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685800" y="2247900"/>
            <a:ext cx="5295900" cy="390525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914400" y="2438400"/>
            <a:ext cx="483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3A8A"/>
                </a:solidFill>
                <a:latin typeface="PingFang SC"/>
                <a:ea typeface="PingFang SC"/>
              </a:rPr>
              <a:t>六件套：交不出就不算做完</a:t>
            </a:r>
            <a:endParaRPr/>
          </a:p>
        </p:txBody>
      </p:sp>
      <p:sp>
        <p:nvSpPr>
          <p:cNvPr id="835" name=""/>
          <p:cNvSpPr/>
          <p:nvPr/>
        </p:nvSpPr>
        <p:spPr>
          <a:xfrm rot="0" flipH="0" flipV="0">
            <a:off x="914400" y="276225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066800" y="285750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362075" y="2857500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场景卡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914400" y="332422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1066800" y="341947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362075" y="34194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数据清单</a:t>
            </a:r>
            <a:endParaRPr/>
          </a:p>
        </p:txBody>
      </p:sp>
      <p:sp>
        <p:nvSpPr>
          <p:cNvPr id="841" name=""/>
          <p:cNvSpPr/>
          <p:nvPr/>
        </p:nvSpPr>
        <p:spPr>
          <a:xfrm rot="0" flipH="0" flipV="0">
            <a:off x="914400" y="388620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66800" y="398145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1362075" y="398145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模型</a:t>
            </a:r>
            <a:r>
              <a:rPr lang="en-US" sz="1275" b="1">
                <a:solidFill>
                  <a:srgbClr val="1E3A8A"/>
                </a:solidFill>
                <a:latin typeface="PingFang SC"/>
                <a:ea typeface="PingFang SC"/>
              </a:rPr>
              <a:t>/</a:t>
            </a: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工具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914400" y="444817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1066800" y="454342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1362075" y="45434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试点方案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14400" y="5010150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05</a:t>
            </a:r>
            <a:endParaRPr/>
          </a:p>
        </p:txBody>
      </p:sp>
      <p:sp>
        <p:nvSpPr>
          <p:cNvPr id="849" name="" descr="{&quot;isTemplate&quot;:true,&quot;type&quot;:&quot;text&quot;}"/>
          <p:cNvSpPr txBox="1"/>
          <p:nvPr/>
        </p:nvSpPr>
        <p:spPr>
          <a:xfrm rot="0" flipH="0" flipV="0">
            <a:off x="1362075" y="510540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效益测算</a:t>
            </a:r>
            <a:endParaRPr/>
          </a:p>
        </p:txBody>
      </p:sp>
      <p:sp>
        <p:nvSpPr>
          <p:cNvPr id="850" name=""/>
          <p:cNvSpPr/>
          <p:nvPr/>
        </p:nvSpPr>
        <p:spPr>
          <a:xfrm rot="0" flipH="0" flipV="0">
            <a:off x="914400" y="5572125"/>
            <a:ext cx="4838700" cy="390525"/>
          </a:xfrm>
          <a:prstGeom prst="roundRect">
            <a:avLst>
              <a:gd name="adj" fmla="val 24390"/>
            </a:avLst>
          </a:prstGeom>
          <a:solidFill>
            <a:srgbClr val="F5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1066800" y="5667375"/>
            <a:ext cx="18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891B2"/>
                </a:solidFill>
                <a:latin typeface="Space Grotesk"/>
                <a:ea typeface="Space Grotesk"/>
              </a:rPr>
              <a:t>06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362075" y="566737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3A8A"/>
                </a:solidFill>
                <a:latin typeface="PingFang SC"/>
                <a:ea typeface="PingFang SC"/>
              </a:rPr>
              <a:t>风险清单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6210300" y="2247900"/>
            <a:ext cx="5295900" cy="3905250"/>
          </a:xfrm>
          <a:prstGeom prst="roundRect">
            <a:avLst>
              <a:gd name="adj" fmla="val 3902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6457950" y="2457450"/>
            <a:ext cx="4800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PingFang SC"/>
                <a:ea typeface="PingFang SC"/>
              </a:rPr>
              <a:t>质询三把刀（评委专用）</a:t>
            </a:r>
            <a:endParaRPr/>
          </a:p>
        </p:txBody>
      </p:sp>
      <p:sp>
        <p:nvSpPr>
          <p:cNvPr id="855" name=""/>
          <p:cNvSpPr/>
          <p:nvPr/>
        </p:nvSpPr>
        <p:spPr>
          <a:xfrm rot="0" flipH="0" flipV="0">
            <a:off x="6457950" y="2800350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2933700"/>
            <a:ext cx="190500" cy="190500"/>
          </a:xfrm>
          <a:prstGeom prst="rect">
            <a:avLst/>
          </a:prstGeom>
          <a:ln/>
        </p:spPr>
      </p:pic>
      <p:sp>
        <p:nvSpPr>
          <p:cNvPr id="857" name="" descr="{&quot;isTemplate&quot;:true,&quot;type&quot;:&quot;text&quot;}"/>
          <p:cNvSpPr txBox="1"/>
          <p:nvPr/>
        </p:nvSpPr>
        <p:spPr>
          <a:xfrm rot="0" flipH="0" flipV="0">
            <a:off x="6934200" y="2914650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数据从哪来？</a:t>
            </a:r>
            <a:endParaRPr/>
          </a:p>
        </p:txBody>
      </p:sp>
      <p:sp>
        <p:nvSpPr>
          <p:cNvPr id="858" name=""/>
          <p:cNvSpPr/>
          <p:nvPr/>
        </p:nvSpPr>
        <p:spPr>
          <a:xfrm rot="0" flipH="0" flipV="0">
            <a:off x="6457950" y="3343275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3476625"/>
            <a:ext cx="190500" cy="190500"/>
          </a:xfrm>
          <a:prstGeom prst="rect">
            <a:avLst/>
          </a:prstGeom>
          <a:ln/>
        </p:spPr>
      </p:pic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6934200" y="3457575"/>
            <a:ext cx="1085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错了谁担责？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6457950" y="3886200"/>
            <a:ext cx="4800600" cy="447675"/>
          </a:xfrm>
          <a:prstGeom prst="roundRect">
            <a:avLst>
              <a:gd name="adj" fmla="val 21277"/>
            </a:avLst>
          </a:prstGeom>
          <a:solidFill>
            <a:srgbClr val="06B6D4">
              <a:alpha val="15000"/>
            </a:srgbClr>
          </a:solidFill>
          <a:ln w="12700">
            <a:solidFill>
              <a:srgbClr val="06B6D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629400" y="4019550"/>
            <a:ext cx="190500" cy="190500"/>
          </a:xfrm>
          <a:prstGeom prst="rect">
            <a:avLst/>
          </a:prstGeom>
          <a:ln/>
        </p:spPr>
      </p:pic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6934200" y="4000500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PingFang SC"/>
                <a:ea typeface="PingFang SC"/>
              </a:rPr>
              <a:t>省的钱怎么验证？</a:t>
            </a:r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6457950" y="5648325"/>
            <a:ext cx="4800600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每组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8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分钟讲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+ 5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分钟质询</a:t>
            </a:r>
            <a:r>
              <a:rPr lang="en-US" sz="1125">
                <a:solidFill>
                  <a:srgbClr val="A9C4E8"/>
                </a:solidFill>
                <a:latin typeface="PingFang SC"/>
                <a:ea typeface="PingFang SC"/>
              </a:rPr>
              <a:t> —— </a:t>
            </a:r>
            <a:r>
              <a:rPr lang="zh-CN" sz="1125">
                <a:solidFill>
                  <a:srgbClr val="A9C4E8"/>
                </a:solidFill>
                <a:latin typeface="PingFang SC"/>
                <a:ea typeface="PingFang SC"/>
              </a:rPr>
              <a:t>三把刀都答得上，项目才算立得住。</a:t>
            </a:r>
            <a:endParaRPr/>
          </a:p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32 / 34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67" name="" descr="const weights = [&#10;    { icon: 'pencil-alt', t: '小测', n: '15', d: '政策要求 + 方法论 + 权限红线' },&#10;    { icon: 'laptop-code', t: '实操', n: '35', d: '机会画布打分 + SOP 助手六步' },&#10;    { icon: 'search', t: '案例分析', n: '20', d: '96% 铁案：为什么停、怎么救' },&#10;    { icon: 'trophy', t: '迷你项目', n: '30', d: '工作坊六件套 + 三把刀答辩' },&#10;];&#10;&lt;Slide style={{ width: '1280px', height: '720px', background: '#F5F8FC', padding: '24px 72px', boxSizing: 'border-box', flexDirection: 'column', fontFamily: 'PingFang SC, Source Han Sans SC, sans-serif' }}&gt;&#10;    &lt;Box style={{ height: 96, flexDirection: 'row', alignItems: 'center', gap: 16 }}&gt;&#10;        &lt;Box style={{ width: 5, height: 46, background: '#06B6D4', borderRadius: 3 }} /&gt;&#10;        &lt;Box&gt;&#10;            &lt;Text style={{ fontSize: 34, fontWeight: 'bold', color: '#1E3A8A', lineHeight: 1.2 }}&gt;考核与认证&lt;/Text&gt;&#10;            &lt;Text style={{ fontSize: 17, color: '#64748B', marginTop: 4 }}&gt;15 + 35 + 20 + 30 —— 项目占大头，会说的不算，做出来的才算&lt;/Text&gt;&#10;        &lt;/Box&gt;&#10;    &lt;/Box&gt;&#10;    &lt;Box style={{ flexDirection: 'row', gap: 18, marginTop: 16 }}&gt;&#10;        {weights.map((w, i) =&gt; (&#10;            &lt;Box key={i} style={{ flex: 1, background: '#FFFFFF', borderRadius: 16, padding: '22px 20px', border: '1px solid #E2E8F0', boxShadow: '0 4px 16px rgba(30,58,138,0.06)', flexDirection: 'column', alignItems: 'center' }}&gt;&#10;                &lt;Box style={{ width: 56, height: 56, borderRadius: 14, background: i === 3 ? '#FEEFE0' : '#E0F7FA', justifyContent: 'center', alignItems: 'center', marginBottom: 14 }}&gt;&#10;                    &lt;FAIcon name={w.icon} style={{ fill: i === 3 ? '#F59E0B' : '#0891B2', width: 28, height: 28 }} /&gt;&#10;                &lt;/Box&gt;&#10;                &lt;Text style={{ fontSize: 19, fontWeight: 'bold', color: '#1E3A8A' }}&gt;{w.t}&lt;/Text&gt;&#10;                &lt;Text style={{ fontSize: 40, fontWeight: 'bold', color: i === 3 ? '#B45309' : '#0891B2', fontFamily: 'Space Grotesk, Inter', marginTop: 6 }}&gt;{w.n}&lt;/Text&gt;&#10;                &lt;Text style={{ fontSize: 14, color: '#64748B', marginTop: 10, textAlign: 'center', lineHeight: 1.55 }}&gt;{w.d}&lt;/Text&gt;&#10;            &lt;/Box&gt;&#10;        ))}&#10;    &lt;/Box&gt;&#10;    &lt;Box style={{ flex: 1, flexDirection: 'row', gap: 24, marginTop: 20 }}&gt;&#10;        &lt;Box style={{ flex: 1, background: '#1E3A8A', borderRadius: 16, padding: '24px 30px', flexDirection: 'column', justifyContent: 'center', boxShadow: '0 8px 28px rgba(30,58,138,0.25)' }}&gt;&#10;            &lt;Box style={{ flexDirection: 'row', alignItems: 'center', gap: 12 }}&gt;&#10;                &lt;FAIcon name=&quot;award&quot; style={{ fill: '#F59E0B', width: 28, height: 28 }} /&gt;&#10;                &lt;Text style={{ fontSize: 24, fontWeight: 'bold', color: '#FFFFFF' }}&gt;《中级 AI 场景师》&lt;/Text&gt;&#10;            &lt;/Box&gt;&#10;            &lt;Text style={{ fontSize: 17, color: '#DCE9FB', marginTop: 14, lineHeight: 1.8 }}&gt;总分 ≥ 70 通过认证，结业可上岗带试点。&lt;br /&gt;认证有效期 2 年，续期需提交一个落地案例。&lt;/Text&gt;&#10;        &lt;/Box&gt;&#10;        &lt;Box style={{ flex: 1, padding: '24px 30px', background: '#FEEFE0', borderRadius: 16, border: '2px solid #F59E0B', flexDirection: 'column', justifyContent: 'center' }}&gt;&#10;            &lt;Text style={{ fontSize: 20, fontWeight: 'bold', color: '#B45309' }}&gt;优秀通道&lt;/Text&gt;&#10;            &lt;Text style={{ fontSize: 16, color: '#43566b', lineHeight: 1.8, marginTop: 10 }}&gt;总分 ≥ 85 且项目 ≥ 85 → 授予「优秀场景设计」，进入企业 AI 倡导者储备池 —— 优先获得高级班与内部项目种子资金。&lt;/Text&gt;&#10;        &lt;/Box&gt;&#10;    &lt;/Box&gt;&#10;    &lt;Box style={{ height: 40, flexDirection: 'row', justifyContent: 'space-between', alignItems: 'center', marginTop: 12 }}&gt;&#10;        &lt;Text style={{ fontSize: 14, color: '#64748B' }}&gt;AI 场景落地 · 中级&lt;/Text&gt;&#10;        &lt;Text style={{ fontSize: 14, color: '#64748B' }}&gt;33 / 34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p/>
        </p:txBody>
      </p:sp>
      <p:sp>
        <p:nvSpPr>
          <p:cNvPr id="869" name=""/>
          <p:cNvSpPr/>
          <p:nvPr/>
        </p:nvSpPr>
        <p:spPr>
          <a:xfrm rot="0" flipH="0" flipV="0">
            <a:off x="685800" y="4667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885825" y="333375"/>
            <a:ext cx="4714875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3A8A"/>
                </a:solidFill>
                <a:latin typeface="PingFang SC"/>
                <a:ea typeface="PingFang SC"/>
              </a:rPr>
              <a:t>考核与认证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885825" y="838200"/>
            <a:ext cx="4714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PingFang SC"/>
                <a:ea typeface="PingFang SC"/>
              </a:rPr>
              <a:t>15 + 35 + 20 + 30 —— </a:t>
            </a:r>
            <a:r>
              <a:rPr lang="zh-CN" sz="1275">
                <a:solidFill>
                  <a:srgbClr val="64748B"/>
                </a:solidFill>
                <a:latin typeface="PingFang SC"/>
                <a:ea typeface="PingFang SC"/>
              </a:rPr>
              <a:t>项目占大头，会说的不算，做出来的才算</a:t>
            </a:r>
            <a:endParaRPr/>
          </a:p>
        </p:txBody>
      </p:sp>
      <p:sp>
        <p:nvSpPr>
          <p:cNvPr id="872" name=""/>
          <p:cNvSpPr/>
          <p:nvPr/>
        </p:nvSpPr>
        <p:spPr>
          <a:xfrm rot="0" flipH="0" flipV="0">
            <a:off x="685800" y="1295400"/>
            <a:ext cx="2581275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3" name=""/>
          <p:cNvSpPr/>
          <p:nvPr/>
        </p:nvSpPr>
        <p:spPr>
          <a:xfrm rot="0" flipH="0" flipV="0">
            <a:off x="1714500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47850" y="1638300"/>
            <a:ext cx="266700" cy="266700"/>
          </a:xfrm>
          <a:prstGeom prst="rect">
            <a:avLst/>
          </a:prstGeom>
          <a:ln/>
        </p:spPr>
      </p:pic>
      <p:sp>
        <p:nvSpPr>
          <p:cNvPr id="875" name="" descr="{&quot;isTemplate&quot;:true,&quot;type&quot;:&quot;text&quot;}"/>
          <p:cNvSpPr txBox="1"/>
          <p:nvPr/>
        </p:nvSpPr>
        <p:spPr>
          <a:xfrm rot="0" flipH="0" flipV="0">
            <a:off x="1800225" y="217170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小测</a:t>
            </a:r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1762125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15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1076325" y="3000375"/>
            <a:ext cx="18097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政策要求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方法论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权限红线</a:t>
            </a:r>
            <a:endParaRPr/>
          </a:p>
        </p:txBody>
      </p:sp>
      <p:sp>
        <p:nvSpPr>
          <p:cNvPr id="878" name=""/>
          <p:cNvSpPr/>
          <p:nvPr/>
        </p:nvSpPr>
        <p:spPr>
          <a:xfrm rot="0" flipH="0" flipV="0">
            <a:off x="3438525" y="1295400"/>
            <a:ext cx="2571750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9" name=""/>
          <p:cNvSpPr/>
          <p:nvPr/>
        </p:nvSpPr>
        <p:spPr>
          <a:xfrm rot="0" flipH="0" flipV="0">
            <a:off x="4457700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638300"/>
            <a:ext cx="266700" cy="266700"/>
          </a:xfrm>
          <a:prstGeom prst="rect">
            <a:avLst/>
          </a:prstGeom>
          <a:ln/>
        </p:spPr>
      </p:pic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4543425" y="2171700"/>
            <a:ext cx="361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实操</a:t>
            </a:r>
            <a:endParaRPr/>
          </a:p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4514850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35</a:t>
            </a:r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810000" y="3000375"/>
            <a:ext cx="18288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机会画布打分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SOP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助手六步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6181725" y="1295400"/>
            <a:ext cx="2581275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85" name=""/>
          <p:cNvSpPr/>
          <p:nvPr/>
        </p:nvSpPr>
        <p:spPr>
          <a:xfrm rot="0" flipH="0" flipV="0">
            <a:off x="7210425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E0F7FA"/>
          </a:solidFill>
          <a:ln/>
        </p:spPr>
        <p:txBody>
          <a:bodyPr/>
          <a:p/>
        </p:txBody>
      </p:sp>
      <p:pic>
        <p:nvPicPr>
          <p:cNvPr id="8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343775" y="1638300"/>
            <a:ext cx="266700" cy="266700"/>
          </a:xfrm>
          <a:prstGeom prst="rect">
            <a:avLst/>
          </a:prstGeom>
          <a:ln/>
        </p:spPr>
      </p:pic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7115175" y="2171700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案例分析</a:t>
            </a:r>
            <a:endParaRPr/>
          </a:p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7258050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891B2"/>
                </a:solidFill>
                <a:latin typeface="Space Grotesk"/>
                <a:ea typeface="Space Grotesk"/>
              </a:rPr>
              <a:t>20</a:t>
            </a:r>
            <a:endParaRPr/>
          </a:p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6572250" y="3000375"/>
            <a:ext cx="18097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96%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铁案：为什么停、怎么救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934450" y="1295400"/>
            <a:ext cx="2571750" cy="217170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>
              <a:srgbClr val="1E3A8A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91" name=""/>
          <p:cNvSpPr/>
          <p:nvPr/>
        </p:nvSpPr>
        <p:spPr>
          <a:xfrm rot="0" flipH="0" flipV="0">
            <a:off x="9953625" y="1504950"/>
            <a:ext cx="533400" cy="533400"/>
          </a:xfrm>
          <a:prstGeom prst="roundRect">
            <a:avLst>
              <a:gd name="adj" fmla="val 25000"/>
            </a:avLst>
          </a:prstGeom>
          <a:solidFill>
            <a:srgbClr val="FEEFE0"/>
          </a:solidFill>
          <a:ln/>
        </p:spPr>
        <p:txBody>
          <a:bodyPr/>
          <a:p/>
        </p:txBody>
      </p:sp>
      <p:pic>
        <p:nvPicPr>
          <p:cNvPr id="8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086975" y="1638300"/>
            <a:ext cx="266700" cy="266700"/>
          </a:xfrm>
          <a:prstGeom prst="rect">
            <a:avLst/>
          </a:prstGeom>
          <a:ln/>
        </p:spPr>
      </p:pic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9858375" y="2171700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3A8A"/>
                </a:solidFill>
                <a:latin typeface="PingFang SC"/>
                <a:ea typeface="PingFang SC"/>
              </a:rPr>
              <a:t>迷你项目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10010775" y="2447925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B45309"/>
                </a:solidFill>
                <a:latin typeface="Space Grotesk"/>
                <a:ea typeface="Space Grotesk"/>
              </a:rPr>
              <a:t>30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9401175" y="3000375"/>
            <a:ext cx="163830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工作坊六件套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+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三把刀答辩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685800" y="3657600"/>
            <a:ext cx="5295900" cy="2476500"/>
          </a:xfrm>
          <a:prstGeom prst="roundRect">
            <a:avLst>
              <a:gd name="adj" fmla="val 6154"/>
            </a:avLst>
          </a:prstGeom>
          <a:solidFill>
            <a:srgbClr val="1E3A8A"/>
          </a:solidFill>
          <a:ln/>
          <a:effectLst>
            <a:outerShdw blurRad="266700" dist="76200" dir="5400000">
              <a:srgbClr val="1E3A8A">
                <a:alpha val="25000"/>
              </a:srgbClr>
            </a:outerShdw>
          </a:effectLst>
        </p:spPr>
        <p:txBody>
          <a:bodyPr/>
          <a:p/>
        </p:txBody>
      </p:sp>
      <p:pic>
        <p:nvPicPr>
          <p:cNvPr id="8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71550" y="4352925"/>
            <a:ext cx="266700" cy="266700"/>
          </a:xfrm>
          <a:prstGeom prst="rect">
            <a:avLst/>
          </a:prstGeom>
          <a:ln/>
        </p:spPr>
      </p:pic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352550" y="4343400"/>
            <a:ext cx="1971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《中级</a:t>
            </a:r>
            <a:r>
              <a:rPr lang="en-US" sz="1800" b="1">
                <a:solidFill>
                  <a:srgbClr val="FFFFFF"/>
                </a:solidFill>
                <a:latin typeface="PingFang SC"/>
                <a:ea typeface="PingFang SC"/>
              </a:rPr>
              <a:t> AI </a:t>
            </a:r>
            <a:r>
              <a:rPr lang="zh-CN" sz="1800" b="1">
                <a:solidFill>
                  <a:srgbClr val="FFFFFF"/>
                </a:solidFill>
                <a:latin typeface="PingFang SC"/>
                <a:ea typeface="PingFang SC"/>
              </a:rPr>
              <a:t>场景师》</a:t>
            </a:r>
            <a:endParaRPr/>
          </a:p>
        </p:txBody>
      </p:sp>
      <p:sp>
        <p:nvSpPr>
          <p:cNvPr id="899" name="" descr="{&quot;isTemplate&quot;:true,&quot;type&quot;:&quot;text&quot;}"/>
          <p:cNvSpPr txBox="1"/>
          <p:nvPr/>
        </p:nvSpPr>
        <p:spPr>
          <a:xfrm rot="0" flipH="0" flipV="0">
            <a:off x="971550" y="4752975"/>
            <a:ext cx="4724400" cy="7048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总分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 ≥ 70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通过认证，结业可上岗带试点。</a:t>
            </a:r>
            <a:endParaRPr/>
          </a:p>
          <a:p>
            <a:pPr>
              <a:lnSpc>
                <a:spcPct val="180000"/>
              </a:lnSpc>
            </a:pP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认证有效期</a:t>
            </a:r>
            <a:r>
              <a:rPr lang="en-US" sz="1275">
                <a:solidFill>
                  <a:srgbClr val="DCE9FB"/>
                </a:solidFill>
                <a:latin typeface="PingFang SC"/>
                <a:ea typeface="PingFang SC"/>
              </a:rPr>
              <a:t> 2 </a:t>
            </a:r>
            <a:r>
              <a:rPr lang="zh-CN" sz="1275">
                <a:solidFill>
                  <a:srgbClr val="DCE9FB"/>
                </a:solidFill>
                <a:latin typeface="PingFang SC"/>
                <a:ea typeface="PingFang SC"/>
              </a:rPr>
              <a:t>年，续期需提交一个落地案例。</a:t>
            </a:r>
            <a:endParaRPr/>
          </a:p>
        </p:txBody>
      </p:sp>
      <p:sp>
        <p:nvSpPr>
          <p:cNvPr id="900" name=""/>
          <p:cNvSpPr/>
          <p:nvPr/>
        </p:nvSpPr>
        <p:spPr>
          <a:xfrm rot="0" flipH="0" flipV="0">
            <a:off x="6210300" y="3657600"/>
            <a:ext cx="5295900" cy="2476500"/>
          </a:xfrm>
          <a:prstGeom prst="roundRect">
            <a:avLst>
              <a:gd name="adj" fmla="val 6154"/>
            </a:avLst>
          </a:prstGeom>
          <a:solidFill>
            <a:srgbClr val="FEEFE0"/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6496050" y="4400550"/>
            <a:ext cx="4724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B45309"/>
                </a:solidFill>
                <a:latin typeface="PingFang SC"/>
                <a:ea typeface="PingFang SC"/>
              </a:rPr>
              <a:t>优秀通道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6496050" y="4724400"/>
            <a:ext cx="4724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总分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≥ 85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且项目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≥ 85 →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授予「优秀场景设计」，进入企业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AI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倡导者储备池</a:t>
            </a:r>
            <a:r>
              <a:rPr lang="en-US" sz="1200">
                <a:solidFill>
                  <a:srgbClr val="43566B"/>
                </a:solidFill>
                <a:latin typeface="PingFang SC"/>
                <a:ea typeface="PingFang SC"/>
              </a:rPr>
              <a:t> —— </a:t>
            </a:r>
            <a:r>
              <a:rPr lang="zh-CN" sz="1200">
                <a:solidFill>
                  <a:srgbClr val="43566B"/>
                </a:solidFill>
                <a:latin typeface="PingFang SC"/>
                <a:ea typeface="PingFang SC"/>
              </a:rPr>
              <a:t>优先获得高级班与内部项目种子资金。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685800" y="6362700"/>
            <a:ext cx="1123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AI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场景落地</a:t>
            </a: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 · </a:t>
            </a:r>
            <a:r>
              <a:rPr lang="zh-CN" sz="1050">
                <a:solidFill>
                  <a:srgbClr val="64748B"/>
                </a:solidFill>
                <a:latin typeface="PingFang SC"/>
                <a:ea typeface="PingFang SC"/>
              </a:rPr>
              <a:t>中级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11029950" y="63627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PingFang SC"/>
                <a:ea typeface="PingFang SC"/>
              </a:rPr>
              <a:t>33 / 34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05" name="" descr="&lt;Slide style={{ width: '1280px', height: '720px', position: 'relative', background: '#1E3A8A', overflow: 'hidden', fontFamily: 'PingFang SC, Source Han Sans SC, sans-serif' }}&gt;&#10;    &lt;Image src=&quot;assets/hero_cover.png&quot; style={{ position: 'absolute', top: 0, left: 0, width: '1280px', height: '720px', objectFit: 'cover', opacity: 0.4 }} /&gt;&#10;    &lt;Box style={{ position: 'absolute', top: 0, left: 0, width: '1280px', height: '720px', background: 'linear-gradient(180deg, rgba(15,23,42,0.7) 0%, rgba(30,58,138,0.85) 100%)' }} /&gt;&#10;    &lt;Box style={{ position: 'relative', zIndex: 1, height: '720px', padding: '0 84px', justifyContent: 'center', alignItems: 'center', textAlign: 'center' }}&gt;&#10;        &lt;Text style={{ fontSize: 52, fontWeight: 'bold', color: '#FFFFFF', lineHeight: 1.3, textShadow: '0 4px 24px rgba(0,0,0,0.35)' }}&gt;这门课的作业，&lt;br /&gt;攒起来就是一份试点申报书。&lt;/Text&gt;&#10;        &lt;Box style={{ width: 90, height: 4, background: '#F59E0B', marginTop: 34 }} /&gt;&#10;        &lt;Text style={{ fontSize: 22, color: '#DCE9FB', marginTop: 28, fontWeight: '600' }}&gt;AI 场景落地 · 中级 · 完&lt;/Text&gt;&#10;        &lt;Box style={{ flexDirection: 'row', alignItems: 'center', gap: 12, marginTop: 26, padding: '12px 24px', background: 'rgba(6,182,212,0.18)', border: '1px solid rgba(6,182,212,0.6)', borderRadius: 999 }}&gt;&#10;            &lt;FAIcon name=&quot;arrow-right&quot; style={{ fill: '#7FD9F0', width: 20, height: 20 }} /&gt;&#10;            &lt;Text style={{ fontSize: 18, color: '#7FD9F0', fontWeight: 'bold' }}&gt;下一步：高级 · 规划治理层 —— 算得清账、搭得起架构、推得动组织、守得住底线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p/>
        </p:txBody>
      </p:sp>
      <p:pic>
        <p:nvPicPr>
          <p:cNvPr id="907" name=""/>
          <p:cNvPicPr>
            <a:picLocks noChangeAspect="1"/>
          </p:cNvPicPr>
          <p:nvPr/>
        </p:nvPicPr>
        <p:blipFill>
          <a:blip r:embed="rId1">
            <a:alphaModFix amt="40000"/>
          </a:blip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9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>
                  <a:alpha val="70000"/>
                </a:srgbClr>
              </a:gs>
              <a:gs pos="100000">
                <a:srgbClr val="1E3A8A">
                  <a:alpha val="85000"/>
                </a:srgbClr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2876550" y="1866900"/>
            <a:ext cx="6438900" cy="1552575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这门课的作业，</a:t>
            </a:r>
            <a:endParaRPr/>
          </a:p>
          <a:p>
            <a:pPr algn="ctr">
              <a:lnSpc>
                <a:spcPct val="130000"/>
              </a:lnSpc>
            </a:pPr>
            <a:r>
              <a:rPr lang="zh-CN" sz="3900" b="1">
                <a:solidFill>
                  <a:srgbClr val="FFFFFF"/>
                </a:solidFill>
                <a:effectLst>
                  <a:outerShdw blurRad="228600" dist="38100" dir="5400000">
                    <a:srgbClr val="000000">
                      <a:alpha val="35000"/>
                    </a:srgbClr>
                  </a:outerShdw>
                </a:effectLst>
                <a:latin typeface="PingFang SC"/>
                <a:ea typeface="PingFang SC"/>
              </a:rPr>
              <a:t>攒起来就是一份试点申报书。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667375" y="3743325"/>
            <a:ext cx="857250" cy="381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4981575" y="4048125"/>
            <a:ext cx="22288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AI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场景落地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中级</a:t>
            </a:r>
            <a:r>
              <a:rPr lang="en-US" sz="1650" b="1">
                <a:solidFill>
                  <a:srgbClr val="DCE9FB"/>
                </a:solidFill>
                <a:latin typeface="PingFang SC"/>
                <a:ea typeface="PingFang SC"/>
              </a:rPr>
              <a:t> · </a:t>
            </a:r>
            <a:r>
              <a:rPr lang="zh-CN" sz="1650" b="1">
                <a:solidFill>
                  <a:srgbClr val="DCE9FB"/>
                </a:solidFill>
                <a:latin typeface="PingFang SC"/>
                <a:ea typeface="PingFang SC"/>
              </a:rPr>
              <a:t>完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2562225" y="4552950"/>
            <a:ext cx="7077075" cy="438150"/>
          </a:xfrm>
          <a:prstGeom prst="roundRect">
            <a:avLst>
              <a:gd name="adj" fmla="val 2171739"/>
            </a:avLst>
          </a:prstGeom>
          <a:solidFill>
            <a:srgbClr val="06B6D4">
              <a:alpha val="18000"/>
            </a:srgbClr>
          </a:solidFill>
          <a:ln w="12700">
            <a:solidFill>
              <a:srgbClr val="06B6D4">
                <a:alpha val="6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9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2790825" y="4676775"/>
            <a:ext cx="190500" cy="190500"/>
          </a:xfrm>
          <a:prstGeom prst="rect">
            <a:avLst/>
          </a:prstGeom>
          <a:ln/>
        </p:spPr>
      </p:pic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3095625" y="4667250"/>
            <a:ext cx="63150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下一步：高级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·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规划治理层</a:t>
            </a:r>
            <a:r>
              <a:rPr lang="en-US" sz="1350" b="1">
                <a:solidFill>
                  <a:srgbClr val="7FD9F0"/>
                </a:solidFill>
                <a:latin typeface="PingFang SC"/>
                <a:ea typeface="PingFang SC"/>
              </a:rPr>
              <a:t> —— </a:t>
            </a:r>
            <a:r>
              <a:rPr lang="zh-CN" sz="1350" b="1">
                <a:solidFill>
                  <a:srgbClr val="7FD9F0"/>
                </a:solidFill>
                <a:latin typeface="PingFang SC"/>
                <a:ea typeface="PingFang SC"/>
              </a:rPr>
              <a:t>算得清账、搭得起架构、推得动组织、守得住底线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2026-08-24T15:58:36Z</dcterms:created>
  <dcterms:modified xsi:type="dcterms:W3CDTF">2026-08-24T15:58:36Z</dcterms:modified>
</cp:coreProperties>
</file>