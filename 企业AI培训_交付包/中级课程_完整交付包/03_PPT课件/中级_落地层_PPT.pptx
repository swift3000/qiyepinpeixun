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media/image10.svg" ContentType="image/svg+xml"/>
  <Override PartName="/ppt/slides/media/image12.svg" ContentType="image/svg+xml"/>
  <Override PartName="/ppt/slides/media/image13.svg" ContentType="image/svg+xml"/>
  <Override PartName="/ppt/slides/media/image14.svg" ContentType="image/svg+xml"/>
  <Override PartName="/ppt/slides/media/image15.svg" ContentType="image/svg+xml"/>
  <Override PartName="/ppt/slides/media/image16.svg" ContentType="image/svg+xml"/>
  <Override PartName="/ppt/slides/media/image17.svg" ContentType="image/svg+xml"/>
  <Override PartName="/ppt/slides/media/image18.svg" ContentType="image/svg+xml"/>
  <Override PartName="/ppt/slides/media/image19.svg" ContentType="image/svg+xml"/>
  <Override PartName="/ppt/slides/media/image2.svg" ContentType="image/svg+xml"/>
  <Override PartName="/ppt/slides/media/image20.svg" ContentType="image/svg+xml"/>
  <Override PartName="/ppt/slides/media/image21.svg" ContentType="image/svg+xml"/>
  <Override PartName="/ppt/slides/media/image22.svg" ContentType="image/svg+xml"/>
  <Override PartName="/ppt/slides/media/image23.svg" ContentType="image/svg+xml"/>
  <Override PartName="/ppt/slides/media/image25.svg" ContentType="image/svg+xml"/>
  <Override PartName="/ppt/slides/media/image26.svg" ContentType="image/svg+xml"/>
  <Override PartName="/ppt/slides/media/image27.svg" ContentType="image/svg+xml"/>
  <Override PartName="/ppt/slides/media/image28.svg" ContentType="image/svg+xml"/>
  <Override PartName="/ppt/slides/media/image29.svg" ContentType="image/svg+xml"/>
  <Override PartName="/ppt/slides/media/image3.svg" ContentType="image/svg+xml"/>
  <Override PartName="/ppt/slides/media/image30.svg" ContentType="image/svg+xml"/>
  <Override PartName="/ppt/slides/media/image31.svg" ContentType="image/svg+xml"/>
  <Override PartName="/ppt/slides/media/image32.svg" ContentType="image/svg+xml"/>
  <Override PartName="/ppt/slides/media/image33.svg" ContentType="image/svg+xml"/>
  <Override PartName="/ppt/slides/media/image34.svg" ContentType="image/svg+xml"/>
  <Override PartName="/ppt/slides/media/image35.svg" ContentType="image/svg+xml"/>
  <Override PartName="/ppt/slides/media/image36.svg" ContentType="image/svg+xml"/>
  <Override PartName="/ppt/slides/media/image37.svg" ContentType="image/svg+xml"/>
  <Override PartName="/ppt/slides/media/image38.svg" ContentType="image/svg+xml"/>
  <Override PartName="/ppt/slides/media/image39.svg" ContentType="image/svg+xml"/>
  <Override PartName="/ppt/slides/media/image4.svg" ContentType="image/svg+xml"/>
  <Override PartName="/ppt/slides/media/image40.svg" ContentType="image/svg+xml"/>
  <Override PartName="/ppt/slides/media/image41.svg" ContentType="image/svg+xml"/>
  <Override PartName="/ppt/slides/media/image42.svg" ContentType="image/svg+xml"/>
  <Override PartName="/ppt/slides/media/image43.svg" ContentType="image/svg+xml"/>
  <Override PartName="/ppt/slides/media/image44.svg" ContentType="image/svg+xml"/>
  <Override PartName="/ppt/slides/media/image45.svg" ContentType="image/svg+xml"/>
  <Override PartName="/ppt/slides/media/image46.svg" ContentType="image/svg+xml"/>
  <Override PartName="/ppt/slides/media/image47.svg" ContentType="image/svg+xml"/>
  <Override PartName="/ppt/slides/media/image48.svg" ContentType="image/svg+xml"/>
  <Override PartName="/ppt/slides/media/image49.svg" ContentType="image/svg+xml"/>
  <Override PartName="/ppt/slides/media/image5.svg" ContentType="image/svg+xml"/>
  <Override PartName="/ppt/slides/media/image51.svg" ContentType="image/svg+xml"/>
  <Override PartName="/ppt/slides/media/image52.svg" ContentType="image/svg+xml"/>
  <Override PartName="/ppt/slides/media/image53.svg" ContentType="image/svg+xml"/>
  <Override PartName="/ppt/slides/media/image54.svg" ContentType="image/svg+xml"/>
  <Override PartName="/ppt/slides/media/image55.svg" ContentType="image/svg+xml"/>
  <Override PartName="/ppt/slides/media/image56.svg" ContentType="image/svg+xml"/>
  <Override PartName="/ppt/slides/media/image57.svg" ContentType="image/svg+xml"/>
  <Override PartName="/ppt/slides/media/image58.svg" ContentType="image/svg+xml"/>
  <Override PartName="/ppt/slides/media/image59.svg" ContentType="image/svg+xml"/>
  <Override PartName="/ppt/slides/media/image6.svg" ContentType="image/svg+xml"/>
  <Override PartName="/ppt/slides/media/image60.svg" ContentType="image/svg+xml"/>
  <Override PartName="/ppt/slides/media/image61.svg" ContentType="image/svg+xml"/>
  <Override PartName="/ppt/slides/media/image62.svg" ContentType="image/svg+xml"/>
  <Override PartName="/ppt/slides/media/image63.svg" ContentType="image/svg+xml"/>
  <Override PartName="/ppt/slides/media/image7.svg" ContentType="image/svg+xml"/>
  <Override PartName="/ppt/slides/media/image8.svg" ContentType="image/svg+xml"/>
  <Override PartName="/ppt/slides/media/image9.svg" ContentType="image/svg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0" Type="http://schemas.openxmlformats.org/officeDocument/2006/relationships/officeDocument" Target="ppt/presentation.xml"/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>
  <p:sldMasterIdLst>
    <p:sldMasterId id="2147483648" r:id="rId0"/>
  </p:sldMasterIdLst>
  <p:notesMasterIdLst>
    <p:notesMasterId r:id="rId35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0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slide" Target="slides/slide22.xml"/><Relationship Id="rId23" Type="http://schemas.openxmlformats.org/officeDocument/2006/relationships/slide" Target="slides/slide23.xml"/><Relationship Id="rId24" Type="http://schemas.openxmlformats.org/officeDocument/2006/relationships/slide" Target="slides/slide24.xml"/><Relationship Id="rId25" Type="http://schemas.openxmlformats.org/officeDocument/2006/relationships/slide" Target="slides/slide25.xml"/><Relationship Id="rId26" Type="http://schemas.openxmlformats.org/officeDocument/2006/relationships/slide" Target="slides/slide26.xml"/><Relationship Id="rId27" Type="http://schemas.openxmlformats.org/officeDocument/2006/relationships/slide" Target="slides/slide27.xml"/><Relationship Id="rId28" Type="http://schemas.openxmlformats.org/officeDocument/2006/relationships/slide" Target="slides/slide28.xml"/><Relationship Id="rId29" Type="http://schemas.openxmlformats.org/officeDocument/2006/relationships/slide" Target="slides/slide29.xml"/><Relationship Id="rId30" Type="http://schemas.openxmlformats.org/officeDocument/2006/relationships/slide" Target="slides/slide30.xml"/><Relationship Id="rId31" Type="http://schemas.openxmlformats.org/officeDocument/2006/relationships/slide" Target="slides/slide31.xml"/><Relationship Id="rId32" Type="http://schemas.openxmlformats.org/officeDocument/2006/relationships/slide" Target="slides/slide32.xml"/><Relationship Id="rId33" Type="http://schemas.openxmlformats.org/officeDocument/2006/relationships/slide" Target="slides/slide33.xml"/><Relationship Id="rId34" Type="http://schemas.openxmlformats.org/officeDocument/2006/relationships/slide" Target="slides/slide34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tableStyles" Target="tableStyles.xml"/><Relationship Id="rId38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0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1.png"/></Relationships>
</file>

<file path=ppt/slides/_rels/slide2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19.svg"/></Relationships>
</file>

<file path=ppt/slides/_rels/slide3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4.svg"/><Relationship Id="rId2" Type="http://schemas.openxmlformats.org/officeDocument/2006/relationships/image" Target="media/image42.svg"/><Relationship Id="rId3" Type="http://schemas.openxmlformats.org/officeDocument/2006/relationships/image" Target="media/image48.svg"/><Relationship Id="rId4" Type="http://schemas.openxmlformats.org/officeDocument/2006/relationships/image" Target="media/image49.svg"/></Relationships>
</file>

<file path=ppt/slides/_rels/slide4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1.png"/></Relationships>
</file>

<file path=ppt/slides/_rels/slide5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33.svg"/><Relationship Id="rId2" Type="http://schemas.openxmlformats.org/officeDocument/2006/relationships/image" Target="media/image53.svg"/><Relationship Id="rId3" Type="http://schemas.openxmlformats.org/officeDocument/2006/relationships/image" Target="media/image59.svg"/><Relationship Id="rId4" Type="http://schemas.openxmlformats.org/officeDocument/2006/relationships/image" Target="media/image60.svg"/><Relationship Id="rId5" Type="http://schemas.openxmlformats.org/officeDocument/2006/relationships/image" Target="media/image61.svg"/></Relationships>
</file>

<file path=ppt/slides/_rels/slide6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19.svg"/><Relationship Id="rId2" Type="http://schemas.openxmlformats.org/officeDocument/2006/relationships/image" Target="media/image62.svg"/><Relationship Id="rId3" Type="http://schemas.openxmlformats.org/officeDocument/2006/relationships/image" Target="media/image15.svg"/><Relationship Id="rId4" Type="http://schemas.openxmlformats.org/officeDocument/2006/relationships/image" Target="media/image63.svg"/><Relationship Id="rId5" Type="http://schemas.openxmlformats.org/officeDocument/2006/relationships/image" Target="media/image55.svg"/><Relationship Id="rId6" Type="http://schemas.openxmlformats.org/officeDocument/2006/relationships/image" Target="media/image7.svg"/><Relationship Id="rId7" Type="http://schemas.openxmlformats.org/officeDocument/2006/relationships/image" Target="media/image43.svg"/></Relationships>
</file>

<file path=ppt/slides/_rels/slide7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1.png"/></Relationships>
</file>

<file path=ppt/slides/_rels/slide9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64.png"/></Relationships>
</file>

<file path=ppt/slides/_rels/slide10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1.png"/></Relationships>
</file>

<file path=ppt/slides/_rels/slide12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2.svg"/><Relationship Id="rId2" Type="http://schemas.openxmlformats.org/officeDocument/2006/relationships/image" Target="media/image3.svg"/><Relationship Id="rId3" Type="http://schemas.openxmlformats.org/officeDocument/2006/relationships/image" Target="media/image4.svg"/></Relationships>
</file>

<file path=ppt/slides/_rels/slide13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4.svg"/><Relationship Id="rId2" Type="http://schemas.openxmlformats.org/officeDocument/2006/relationships/image" Target="media/image5.svg"/><Relationship Id="rId3" Type="http://schemas.openxmlformats.org/officeDocument/2006/relationships/image" Target="media/image6.svg"/><Relationship Id="rId4" Type="http://schemas.openxmlformats.org/officeDocument/2006/relationships/image" Target="media/image7.svg"/></Relationships>
</file>

<file path=ppt/slides/_rels/slide15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1.png"/></Relationships>
</file>

<file path=ppt/slides/_rels/slide16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8.svg"/><Relationship Id="rId2" Type="http://schemas.openxmlformats.org/officeDocument/2006/relationships/image" Target="media/image9.svg"/><Relationship Id="rId3" Type="http://schemas.openxmlformats.org/officeDocument/2006/relationships/image" Target="media/image10.svg"/><Relationship Id="rId4" Type="http://schemas.openxmlformats.org/officeDocument/2006/relationships/image" Target="media/image11.png"/></Relationships>
</file>

<file path=ppt/slides/_rels/slide17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12.svg"/></Relationships>
</file>

<file path=ppt/slides/_rels/slide19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13.svg"/><Relationship Id="rId2" Type="http://schemas.openxmlformats.org/officeDocument/2006/relationships/image" Target="media/image14.svg"/><Relationship Id="rId3" Type="http://schemas.openxmlformats.org/officeDocument/2006/relationships/image" Target="media/image15.svg"/><Relationship Id="rId4" Type="http://schemas.openxmlformats.org/officeDocument/2006/relationships/image" Target="media/image16.svg"/><Relationship Id="rId5" Type="http://schemas.openxmlformats.org/officeDocument/2006/relationships/image" Target="media/image17.svg"/><Relationship Id="rId6" Type="http://schemas.openxmlformats.org/officeDocument/2006/relationships/image" Target="media/image18.svg"/></Relationships>
</file>

<file path=ppt/slides/_rels/slide20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1.png"/></Relationships>
</file>

<file path=ppt/slides/_rels/slide2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19.svg"/></Relationships>
</file>

<file path=ppt/slides/_rels/slide22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20.svg"/><Relationship Id="rId2" Type="http://schemas.openxmlformats.org/officeDocument/2006/relationships/image" Target="media/image21.svg"/><Relationship Id="rId3" Type="http://schemas.openxmlformats.org/officeDocument/2006/relationships/image" Target="media/image22.svg"/><Relationship Id="rId4" Type="http://schemas.openxmlformats.org/officeDocument/2006/relationships/image" Target="media/image23.svg"/></Relationships>
</file>

<file path=ppt/slides/_rels/slide23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19.svg"/><Relationship Id="rId2" Type="http://schemas.openxmlformats.org/officeDocument/2006/relationships/image" Target="media/image24.png"/><Relationship Id="rId3" Type="http://schemas.openxmlformats.org/officeDocument/2006/relationships/image" Target="media/image25.svg"/><Relationship Id="rId4" Type="http://schemas.openxmlformats.org/officeDocument/2006/relationships/image" Target="media/image26.svg"/><Relationship Id="rId5" Type="http://schemas.openxmlformats.org/officeDocument/2006/relationships/image" Target="media/image27.svg"/><Relationship Id="rId6" Type="http://schemas.openxmlformats.org/officeDocument/2006/relationships/image" Target="media/image28.svg"/></Relationships>
</file>

<file path=ppt/slides/_rels/slide24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1.png"/></Relationships>
</file>

<file path=ppt/slides/_rels/slide25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19.svg"/><Relationship Id="rId2" Type="http://schemas.openxmlformats.org/officeDocument/2006/relationships/image" Target="media/image29.svg"/><Relationship Id="rId3" Type="http://schemas.openxmlformats.org/officeDocument/2006/relationships/image" Target="media/image30.svg"/><Relationship Id="rId4" Type="http://schemas.openxmlformats.org/officeDocument/2006/relationships/image" Target="media/image31.svg"/><Relationship Id="rId5" Type="http://schemas.openxmlformats.org/officeDocument/2006/relationships/image" Target="media/image32.svg"/></Relationships>
</file>

<file path=ppt/slides/_rels/slide26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33.svg"/><Relationship Id="rId2" Type="http://schemas.openxmlformats.org/officeDocument/2006/relationships/image" Target="media/image34.svg"/><Relationship Id="rId3" Type="http://schemas.openxmlformats.org/officeDocument/2006/relationships/image" Target="media/image35.svg"/><Relationship Id="rId4" Type="http://schemas.openxmlformats.org/officeDocument/2006/relationships/image" Target="media/image36.svg"/><Relationship Id="rId5" Type="http://schemas.openxmlformats.org/officeDocument/2006/relationships/image" Target="media/image37.svg"/><Relationship Id="rId6" Type="http://schemas.openxmlformats.org/officeDocument/2006/relationships/image" Target="media/image18.svg"/></Relationships>
</file>

<file path=ppt/slides/_rels/slide27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38.svg"/><Relationship Id="rId2" Type="http://schemas.openxmlformats.org/officeDocument/2006/relationships/image" Target="media/image39.svg"/><Relationship Id="rId3" Type="http://schemas.openxmlformats.org/officeDocument/2006/relationships/image" Target="media/image40.svg"/><Relationship Id="rId4" Type="http://schemas.openxmlformats.org/officeDocument/2006/relationships/image" Target="media/image41.svg"/><Relationship Id="rId5" Type="http://schemas.openxmlformats.org/officeDocument/2006/relationships/image" Target="media/image42.svg"/><Relationship Id="rId6" Type="http://schemas.openxmlformats.org/officeDocument/2006/relationships/image" Target="media/image43.svg"/></Relationships>
</file>

<file path=ppt/slides/_rels/slide28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1.png"/></Relationships>
</file>

<file path=ppt/slides/_rels/slide29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44.svg"/><Relationship Id="rId2" Type="http://schemas.openxmlformats.org/officeDocument/2006/relationships/image" Target="media/image45.svg"/><Relationship Id="rId3" Type="http://schemas.openxmlformats.org/officeDocument/2006/relationships/image" Target="media/image46.svg"/><Relationship Id="rId4" Type="http://schemas.openxmlformats.org/officeDocument/2006/relationships/image" Target="media/image47.svg"/></Relationships>
</file>

<file path=ppt/slides/_rels/slide30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42.svg"/><Relationship Id="rId2" Type="http://schemas.openxmlformats.org/officeDocument/2006/relationships/image" Target="media/image50.png"/></Relationships>
</file>

<file path=ppt/slides/_rels/slide3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1.png"/></Relationships>
</file>

<file path=ppt/slides/_rels/slide32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51.svg"/><Relationship Id="rId2" Type="http://schemas.openxmlformats.org/officeDocument/2006/relationships/image" Target="media/image4.svg"/><Relationship Id="rId3" Type="http://schemas.openxmlformats.org/officeDocument/2006/relationships/image" Target="media/image52.svg"/><Relationship Id="rId4" Type="http://schemas.openxmlformats.org/officeDocument/2006/relationships/image" Target="media/image53.svg"/><Relationship Id="rId5" Type="http://schemas.openxmlformats.org/officeDocument/2006/relationships/image" Target="media/image54.svg"/></Relationships>
</file>

<file path=ppt/slides/_rels/slide33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55.svg"/><Relationship Id="rId2" Type="http://schemas.openxmlformats.org/officeDocument/2006/relationships/image" Target="media/image56.svg"/><Relationship Id="rId3" Type="http://schemas.openxmlformats.org/officeDocument/2006/relationships/image" Target="media/image4.svg"/><Relationship Id="rId4" Type="http://schemas.openxmlformats.org/officeDocument/2006/relationships/image" Target="media/image57.svg"/><Relationship Id="rId5" Type="http://schemas.openxmlformats.org/officeDocument/2006/relationships/image" Target="media/image41.svg"/></Relationships>
</file>

<file path=ppt/slides/_rels/slide34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1.png"/><Relationship Id="rId2" Type="http://schemas.openxmlformats.org/officeDocument/2006/relationships/image" Target="media/image5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position: 'relative', background: '#1E3A8A', overflow: 'hidden', fontFamily: 'PingFang SC, Source Han Sans SC, sans-serif' }}&gt;&#10;    &lt;Image src=&quot;assets/hero_cover.png&quot; style={{ position: 'absolute', top: 0, left: 0, width: '1280px', height: '720px', objectFit: 'cover' }} /&gt;&#10;    &lt;Box style={{ position: 'absolute', top: 0, left: 0, width: '1280px', height: '720px', background: 'linear-gradient(90deg, rgba(15,23,42,0.90) 0%, rgba(30,58,138,0.60) 55%, rgba(30,58,138,0.20) 100%)' }} /&gt;&#10;    &lt;Box style={{ position: 'relative', zIndex: 1, height: '720px', padding: '0 84px', justifyContent: 'center', flexDirection: 'column' }}&gt;&#10;        &lt;Box style={{ flexDirection: 'row', alignItems: 'center', gap: 14, marginBottom: 26 }}&gt;&#10;            &lt;Box style={{ width: 58, height: 4, background: '#06B6D4' }} /&gt;&#10;            &lt;Text style={{ fontSize: 20, color: '#BFD9F5', letterSpacing: 3 }}&gt;制造业企业 AI 通识培训 · 中级（L2 + L3）&lt;/Text&gt;&#10;        &lt;/Box&gt;&#10;        &lt;Text style={{ fontSize: 84, fontWeight: 'bold', color: '#FFFFFF', lineHeight: 1.12, textShadow: '0 4px 24px rgba(0,0,0,0.35)' }}&gt;AI 场景落地&lt;/Text&gt;&#10;        &lt;Text style={{ fontSize: 30, color: '#DCE9FB', marginTop: 20, fontWeight: '600' }}&gt;从「我会用」到「我能落地」&lt;/Text&gt;&#10;        &lt;Text style={{ fontSize: 20, color: '#A9C4E8', marginTop: 16 }}&gt;找场景 · 做试点 · 拿资源 · 守底线&lt;/Text&gt;&#10;        &lt;Box style={{ flexDirection: 'row', gap: 14, marginTop: 40 }}&gt;&#10;            &lt;Box style={{ padding: '10px 22px', background: 'rgba(6,182,212,0.18)', border: '1px solid rgba(6,182,212,0.6)', borderRadius: 999 }}&gt;&#10;                &lt;Text style={{ fontSize: 17, color: '#7FD9F0', fontWeight: 'bold' }}&gt;8 大模块&lt;/Text&gt;&#10;            &lt;/Box&gt;&#10;            &lt;Box style={{ padding: '10px 22px', background: 'rgba(245,158,11,0.18)', border: '1px solid rgba(245,158,11,0.6)', borderRadius: 999 }}&gt;&#10;                &lt;Text style={{ fontSize: 17, color: '#F8C471', fontWeight: 'bold' }}&gt;24 课时&lt;/Text&gt;&#10;            &lt;/Box&gt;&#10;            &lt;Box style={{ padding: '10px 22px', background: 'rgba(255,255,255,0.10)', border: '1px solid rgba(255,255,255,0.35)', borderRadius: 999 }}&gt;&#10;                &lt;Text style={{ fontSize: 17, color: '#EAF2FC', fontWeight: 'bold' }}&gt;全程零代码&lt;/Text&gt;&#10;            &lt;/Box&gt;&#10;            &lt;Box style={{ padding: '10px 22px', background: 'rgba(255,255,255,0.10)', border: '1px solid rgba(255,255,255,0.35)', borderRadius: 999 }}&gt;&#10;                &lt;Text style={{ fontSize: 17, color: '#EAF2FC', fontWeight: 'bold' }}&gt;34 页&lt;/Text&gt;&#10;            &lt;/Box&gt;&#10;        &lt;/Box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p/>
        </p:txBody>
      </p:sp>
      <p:pic>
        <p:nvPicPr>
          <p:cNvPr id="3" name=""/>
          <p:cNvPicPr>
            <a:picLocks noChangeAspect="1"/>
          </p:cNvPicPr>
          <p:nvPr/>
        </p:nvPicPr>
        <p:blipFill>
          <a:blip r:embed="rId1"/>
          <a:srcRect l="0" t="8894" r="0" b="8894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72A">
                  <a:alpha val="90000"/>
                </a:srgbClr>
              </a:gs>
              <a:gs pos="55000">
                <a:srgbClr val="1E3A8A">
                  <a:alpha val="60000"/>
                </a:srgbClr>
              </a:gs>
              <a:gs pos="100000">
                <a:srgbClr val="1E3A8A">
                  <a:alpha val="2000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5" name=""/>
          <p:cNvSpPr/>
          <p:nvPr/>
        </p:nvSpPr>
        <p:spPr>
          <a:xfrm rot="0" flipH="0" flipV="0">
            <a:off x="800100" y="1905000"/>
            <a:ext cx="552450" cy="381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1485900" y="1809750"/>
            <a:ext cx="44672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spc="225">
                <a:solidFill>
                  <a:srgbClr val="BFD9F5"/>
                </a:solidFill>
                <a:latin typeface="PingFang SC"/>
                <a:ea typeface="PingFang SC"/>
              </a:rPr>
              <a:t>企业 AI 通识培训 · 中级（L2 + L3）</a:t>
            </a:r>
            <a:r>
              <a:rPr lang="en-US" sz="1500" spc="225">
                <a:solidFill>
                  <a:srgbClr val="BFD9F5"/>
                </a:solidFill>
                <a:latin typeface="PingFang SC"/>
                <a:ea typeface="PingFang SC"/>
              </a:rPr>
              <a:t/>
            </a:r>
            <a:r>
              <a:rPr lang="zh-CN" sz="1500" spc="225">
                <a:solidFill>
                  <a:srgbClr val="BFD9F5"/>
                </a:solidFill>
                <a:latin typeface="PingFang SC"/>
                <a:ea typeface="PingFang SC"/>
              </a:rPr>
              <a:t/>
            </a:r>
            <a:r>
              <a:rPr lang="en-US" sz="1500" spc="225">
                <a:solidFill>
                  <a:srgbClr val="BFD9F5"/>
                </a:solidFill>
                <a:latin typeface="PingFang SC"/>
                <a:ea typeface="PingFang SC"/>
              </a:rPr>
              <a:t/>
            </a:r>
            <a:r>
              <a:rPr lang="zh-CN" sz="1500" spc="225">
                <a:solidFill>
                  <a:srgbClr val="BFD9F5"/>
                </a:solidFill>
                <a:latin typeface="PingFang SC"/>
                <a:ea typeface="PingFang SC"/>
              </a:rPr>
              <a:t/>
            </a:r>
            <a:r>
              <a:rPr lang="en-US" sz="1500" spc="225">
                <a:solidFill>
                  <a:srgbClr val="BFD9F5"/>
                </a:solidFill>
                <a:latin typeface="PingFang SC"/>
                <a:ea typeface="PingFang SC"/>
              </a:rPr>
              <a:t/>
            </a:r>
            <a:r>
              <a:rPr lang="zh-CN" sz="1500" spc="225">
                <a:solidFill>
                  <a:srgbClr val="BFD9F5"/>
                </a:solidFill>
                <a:latin typeface="PingFang SC"/>
                <a:ea typeface="PingFang SC"/>
              </a:rPr>
              <a:t/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800100" y="2286000"/>
            <a:ext cx="10591800" cy="1076325"/>
          </a:xfrm>
          <a:prstGeom prst="rect"/>
        </p:spPr>
        <p:txBody>
          <a:bodyPr wrap="none" lIns="0" tIns="0" rIns="0" bIns="0"/>
          <a:p>
            <a:pPr>
              <a:lnSpc>
                <a:spcPct val="112000"/>
              </a:lnSpc>
            </a:pPr>
            <a:r>
              <a:rPr lang="en-US" sz="6300" b="1">
                <a:solidFill>
                  <a:srgbClr val="FFFFFF"/>
                </a:solidFill>
                <a:effectLst>
                  <a:outerShdw blurRad="228600" dist="38100" dir="5400000">
                    <a:srgbClr val="000000">
                      <a:alpha val="35000"/>
                    </a:srgbClr>
                  </a:outerShdw>
                </a:effectLst>
                <a:latin typeface="PingFang SC"/>
                <a:ea typeface="PingFang SC"/>
              </a:rPr>
              <a:t>AI </a:t>
            </a:r>
            <a:r>
              <a:rPr lang="zh-CN" sz="6300" b="1">
                <a:solidFill>
                  <a:srgbClr val="FFFFFF"/>
                </a:solidFill>
                <a:effectLst>
                  <a:outerShdw blurRad="228600" dist="38100" dir="5400000">
                    <a:srgbClr val="000000">
                      <a:alpha val="35000"/>
                    </a:srgbClr>
                  </a:outerShdw>
                </a:effectLst>
                <a:latin typeface="PingFang SC"/>
                <a:ea typeface="PingFang SC"/>
              </a:rPr>
              <a:t>场景落地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800100" y="3552825"/>
            <a:ext cx="105918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DCE9FB"/>
                </a:solidFill>
                <a:latin typeface="PingFang SC"/>
                <a:ea typeface="PingFang SC"/>
              </a:rPr>
              <a:t>从「我会用」到「我能落地」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800100" y="4048125"/>
            <a:ext cx="10591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A9C4E8"/>
                </a:solidFill>
                <a:latin typeface="PingFang SC"/>
                <a:ea typeface="PingFang SC"/>
              </a:rPr>
              <a:t>找场景</a:t>
            </a:r>
            <a:r>
              <a:rPr lang="en-US" sz="1500">
                <a:solidFill>
                  <a:srgbClr val="A9C4E8"/>
                </a:solidFill>
                <a:latin typeface="PingFang SC"/>
                <a:ea typeface="PingFang SC"/>
              </a:rPr>
              <a:t> · </a:t>
            </a:r>
            <a:r>
              <a:rPr lang="zh-CN" sz="1500">
                <a:solidFill>
                  <a:srgbClr val="A9C4E8"/>
                </a:solidFill>
                <a:latin typeface="PingFang SC"/>
                <a:ea typeface="PingFang SC"/>
              </a:rPr>
              <a:t>做试点</a:t>
            </a:r>
            <a:r>
              <a:rPr lang="en-US" sz="1500">
                <a:solidFill>
                  <a:srgbClr val="A9C4E8"/>
                </a:solidFill>
                <a:latin typeface="PingFang SC"/>
                <a:ea typeface="PingFang SC"/>
              </a:rPr>
              <a:t> · </a:t>
            </a:r>
            <a:r>
              <a:rPr lang="zh-CN" sz="1500">
                <a:solidFill>
                  <a:srgbClr val="A9C4E8"/>
                </a:solidFill>
                <a:latin typeface="PingFang SC"/>
                <a:ea typeface="PingFang SC"/>
              </a:rPr>
              <a:t>拿资源</a:t>
            </a:r>
            <a:r>
              <a:rPr lang="en-US" sz="1500">
                <a:solidFill>
                  <a:srgbClr val="A9C4E8"/>
                </a:solidFill>
                <a:latin typeface="PingFang SC"/>
                <a:ea typeface="PingFang SC"/>
              </a:rPr>
              <a:t> · </a:t>
            </a:r>
            <a:r>
              <a:rPr lang="zh-CN" sz="1500">
                <a:solidFill>
                  <a:srgbClr val="A9C4E8"/>
                </a:solidFill>
                <a:latin typeface="PingFang SC"/>
                <a:ea typeface="PingFang SC"/>
              </a:rPr>
              <a:t>守底线</a:t>
            </a:r>
            <a:endParaRPr/>
          </a:p>
        </p:txBody>
      </p:sp>
      <p:sp>
        <p:nvSpPr>
          <p:cNvPr id="10" name=""/>
          <p:cNvSpPr/>
          <p:nvPr/>
        </p:nvSpPr>
        <p:spPr>
          <a:xfrm rot="0" flipH="0" flipV="0">
            <a:off x="800100" y="4657725"/>
            <a:ext cx="1057275" cy="390525"/>
          </a:xfrm>
          <a:prstGeom prst="roundRect">
            <a:avLst>
              <a:gd name="adj" fmla="val 2436585"/>
            </a:avLst>
          </a:prstGeom>
          <a:solidFill>
            <a:srgbClr val="06B6D4">
              <a:alpha val="18000"/>
            </a:srgbClr>
          </a:solidFill>
          <a:ln w="12700">
            <a:solidFill>
              <a:srgbClr val="06B6D4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1009650" y="4752975"/>
            <a:ext cx="6381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7FD9F0"/>
                </a:solidFill>
                <a:latin typeface="PingFang SC"/>
                <a:ea typeface="PingFang SC"/>
              </a:rPr>
              <a:t>8 </a:t>
            </a:r>
            <a:r>
              <a:rPr lang="zh-CN" sz="1275" b="1">
                <a:solidFill>
                  <a:srgbClr val="7FD9F0"/>
                </a:solidFill>
                <a:latin typeface="PingFang SC"/>
                <a:ea typeface="PingFang SC"/>
              </a:rPr>
              <a:t>大模块</a:t>
            </a:r>
            <a:endParaRPr/>
          </a:p>
        </p:txBody>
      </p:sp>
      <p:sp>
        <p:nvSpPr>
          <p:cNvPr id="12" name=""/>
          <p:cNvSpPr/>
          <p:nvPr/>
        </p:nvSpPr>
        <p:spPr>
          <a:xfrm rot="0" flipH="0" flipV="0">
            <a:off x="1990725" y="4657725"/>
            <a:ext cx="1000125" cy="390525"/>
          </a:xfrm>
          <a:prstGeom prst="roundRect">
            <a:avLst>
              <a:gd name="adj" fmla="val 2436585"/>
            </a:avLst>
          </a:prstGeom>
          <a:solidFill>
            <a:srgbClr val="F59E0B">
              <a:alpha val="18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2200275" y="4752975"/>
            <a:ext cx="5810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8C471"/>
                </a:solidFill>
                <a:latin typeface="PingFang SC"/>
                <a:ea typeface="PingFang SC"/>
              </a:rPr>
              <a:t>24 </a:t>
            </a:r>
            <a:r>
              <a:rPr lang="zh-CN" sz="1275" b="1">
                <a:solidFill>
                  <a:srgbClr val="F8C471"/>
                </a:solidFill>
                <a:latin typeface="PingFang SC"/>
                <a:ea typeface="PingFang SC"/>
              </a:rPr>
              <a:t>课时</a:t>
            </a:r>
            <a:endParaRPr/>
          </a:p>
        </p:txBody>
      </p:sp>
      <p:sp>
        <p:nvSpPr>
          <p:cNvPr id="14" name=""/>
          <p:cNvSpPr/>
          <p:nvPr/>
        </p:nvSpPr>
        <p:spPr>
          <a:xfrm rot="0" flipH="0" flipV="0">
            <a:off x="3124200" y="4657725"/>
            <a:ext cx="1228725" cy="390525"/>
          </a:xfrm>
          <a:prstGeom prst="roundRect">
            <a:avLst>
              <a:gd name="adj" fmla="val 2436585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3333750" y="4752975"/>
            <a:ext cx="8096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EAF2FC"/>
                </a:solidFill>
                <a:latin typeface="PingFang SC"/>
                <a:ea typeface="PingFang SC"/>
              </a:rPr>
              <a:t>全程零代码</a:t>
            </a:r>
            <a:endParaRPr/>
          </a:p>
        </p:txBody>
      </p:sp>
      <p:sp>
        <p:nvSpPr>
          <p:cNvPr id="16" name=""/>
          <p:cNvSpPr/>
          <p:nvPr/>
        </p:nvSpPr>
        <p:spPr>
          <a:xfrm rot="0" flipH="0" flipV="0">
            <a:off x="4486275" y="4657725"/>
            <a:ext cx="838200" cy="390525"/>
          </a:xfrm>
          <a:prstGeom prst="roundRect">
            <a:avLst>
              <a:gd name="adj" fmla="val 2436585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4695825" y="4752975"/>
            <a:ext cx="4191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EAF2FC"/>
                </a:solidFill>
                <a:latin typeface="PingFang SC"/>
                <a:ea typeface="PingFang SC"/>
              </a:rPr>
              <a:t>34 </a:t>
            </a:r>
            <a:r>
              <a:rPr lang="zh-CN" sz="1275" b="1">
                <a:solidFill>
                  <a:srgbClr val="EAF2FC"/>
                </a:solidFill>
                <a:latin typeface="PingFang SC"/>
                <a:ea typeface="PingFang SC"/>
              </a:rPr>
              <a:t>页</a:t>
            </a:r>
            <a:endParaRPr/>
          </a:p>
        </p:txBody>
      </p:sp>
    </p:spTree>
  </p:cSld>
</p:sld>
</file>

<file path=ppt/slides/slide2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306" name="" descr="const items = [&#10;    { no: '01', t: '机会地图', d: '279 号指挥棒 · 五种补位 · 机会画布六维评分' },&#10;    { no: '02', t: '预测性维护', d: '维护四阶 · 时序三看 · 三段阈值 · OEE' },&#10;    { no: '03', t: '视觉质检', d: '分类 / 检测 / 异常检测 · 96% 铁案 · 上线四控制' },&#10;    { no: '04', t: '生产与供应链', d: '三钟不可互替 · 均值陷阱 · EBQ 与看板' },&#10;    { no: '05', t: '知识 RAG 与工业智能体', d: '五步知识库 · 接地三要件 · 智能体最小形态' },&#10;    { no: '06', t: '落地与申报', d: '数据就绪门槛 · ROI · 补贴四通道 · 申报书' },&#10;    { no: '07', t: '负责任 AI', d: 'NIST 四步 · 六大失效模式 · 人在回路' },&#10;    { no: '08', t: '结业工作坊', d: '四选一 · 六件套 · 质询三把刀' },&#10;];&#10;&lt;Slide style={{ width: '1280px', height: '720px', background: '#F5F8FC', padding: '24px 72px', boxSizing: 'border-box', flexDirection: 'column', fontFamily: 'PingFang SC, Source Han Sans SC, sans-serif' }}&gt;&#10;    &lt;Box style={{ height: 96, flexDirection: 'row', alignItems: 'center', gap: 16 }}&gt;&#10;        &lt;Box style={{ width: 5, height: 46, background: '#06B6D4', borderRadius: 3 }} /&gt;&#10;        &lt;Box&gt;&#10;            &lt;Text style={{ fontSize: 34, fontWeight: 'bold', color: '#1E3A8A', lineHeight: 1.2 }}&gt;课程目录&lt;/Text&gt;&#10;            &lt;Text style={{ fontSize: 17, color: '#64748B', marginTop: 4 }}&gt;八个模块，走通「找场景 → 做试点 → 拿资源 → 守底线」&lt;/Text&gt;&#10;        &lt;/Box&gt;&#10;    &lt;/Box&gt;&#10;    &lt;Box style={{ flex: 1, flexDirection: 'row', gap: 28, marginTop: 18 }}&gt;&#10;        &lt;Box style={{ width: 250, background: '#1E3A8A', borderRadius: 18, padding: 30, flexDirection: 'column', justifyContent: 'center' }}&gt;&#10;            &lt;Text style={{ fontSize: 20, color: '#7FD9F0', letterSpacing: 3, marginBottom: 14 }}&gt;CONTENTS&lt;/Text&gt;&#10;            &lt;Text style={{ fontSize: 60, fontWeight: 'bold', color: '#FFFFFF', fontFamily: 'Space Grotesk, Inter' }}&gt;8&lt;/Text&gt;&#10;            &lt;Text style={{ fontSize: 22, fontWeight: 'bold', color: '#DCE9FB', marginTop: 8 }}&gt;个模块 · 24 课时&lt;/Text&gt;&#10;            &lt;Box style={{ width: 54, height: 4, background: '#F59E0B', marginTop: 22 }} /&gt;&#10;            &lt;Text style={{ fontSize: 15, color: '#A9C4E8', marginTop: 18, lineHeight: 1.5 }}&gt;每个模块一个可带走的方法或工具，最后一个模块做成你自己的项目。&lt;/Text&gt;&#10;        &lt;/Box&gt;&#10;        &lt;Box style={{ flex: 1, flexDirection: 'column', justifyContent: 'space-between' }}&gt;&#10;            {items.map((it, i) =&gt; (&#10;                &lt;Box key={i} style={{ flexDirection: 'row', alignItems: 'center', gap: 18, padding: '9px 20px', background: i % 2 === 0 ? '#FFFFFF' : '#EDF3FB', borderRadius: 12, boxShadow: '0 2px 10px rgba(30,58,138,0.05)' }}&gt;&#10;                    &lt;Text style={{ fontSize: 28, fontWeight: 'bold', color: '#06B6D4', fontFamily: 'Space Grotesk, Inter', width: 56 }}&gt;{it.no}&lt;/Text&gt;&#10;                    &lt;Box style={{ flex: 1, flexDirection: 'column' }}&gt;&#10;                        &lt;Text style={{ fontSize: 19, fontWeight: 'bold', color: '#1E3A8A' }}&gt;{it.t}&lt;/Text&gt;&#10;                        &lt;Text style={{ fontSize: 13, color: '#64748B', marginTop: 2 }}&gt;{it.d}&lt;/Text&gt;&#10;                    &lt;/Box&gt;&#10;                    &lt;FAIcon name=&quot;arrow-right&quot; style={{ fill: '#06B6D4', width: 18, height: 18 }} /&gt;&#10;                &lt;/Box&gt;&#10;            ))}&#10;        &lt;/Box&gt;&#10;    &lt;/Box&gt;&#10;    &lt;Box style={{ height: 40, flexDirection: 'row', justifyContent: 'space-between', alignItems: 'center', marginTop: 8 }}&gt;&#10;        &lt;Text style={{ fontSize: 14, color: '#64748B' }}&gt;AI 场景落地 · 中级&lt;/Text&gt;&#10;        &lt;Text style={{ fontSize: 14, color: '#64748B' }}&gt;02 / 34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/>
        </p:spPr>
        <p:txBody>
          <a:bodyPr/>
          <a:p/>
        </p:txBody>
      </p:sp>
      <p:sp>
        <p:nvSpPr>
          <p:cNvPr id="308" name=""/>
          <p:cNvSpPr/>
          <p:nvPr/>
        </p:nvSpPr>
        <p:spPr>
          <a:xfrm rot="0" flipH="0" flipV="0">
            <a:off x="685800" y="466725"/>
            <a:ext cx="47625" cy="438150"/>
          </a:xfrm>
          <a:prstGeom prst="roundRect">
            <a:avLst>
              <a:gd name="adj" fmla="val 60000"/>
            </a:avLst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885825" y="333375"/>
            <a:ext cx="421005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>课程目录</a:t>
            </a:r>
            <a:endParaRPr/>
          </a:p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885825" y="838200"/>
            <a:ext cx="42100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八个模块，走通「找场景</a:t>
            </a:r>
            <a:r>
              <a:rPr lang="en-US" sz="1275">
                <a:solidFill>
                  <a:srgbClr val="64748B"/>
                </a:solidFill>
                <a:latin typeface="PingFang SC"/>
                <a:ea typeface="PingFang SC"/>
              </a:rPr>
              <a:t> → </a:t>
            </a: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做试点</a:t>
            </a:r>
            <a:r>
              <a:rPr lang="en-US" sz="1275">
                <a:solidFill>
                  <a:srgbClr val="64748B"/>
                </a:solidFill>
                <a:latin typeface="PingFang SC"/>
                <a:ea typeface="PingFang SC"/>
              </a:rPr>
              <a:t> → </a:t>
            </a: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拿资源</a:t>
            </a:r>
            <a:r>
              <a:rPr lang="en-US" sz="1275">
                <a:solidFill>
                  <a:srgbClr val="64748B"/>
                </a:solidFill>
                <a:latin typeface="PingFang SC"/>
                <a:ea typeface="PingFang SC"/>
              </a:rPr>
              <a:t> → </a:t>
            </a: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守底线」</a:t>
            </a:r>
            <a:endParaRPr/>
          </a:p>
        </p:txBody>
      </p:sp>
      <p:sp>
        <p:nvSpPr>
          <p:cNvPr id="311" name=""/>
          <p:cNvSpPr/>
          <p:nvPr/>
        </p:nvSpPr>
        <p:spPr>
          <a:xfrm rot="0" flipH="0" flipV="0">
            <a:off x="685800" y="1314450"/>
            <a:ext cx="2381250" cy="4857750"/>
          </a:xfrm>
          <a:prstGeom prst="roundRect">
            <a:avLst>
              <a:gd name="adj" fmla="val 7200"/>
            </a:avLst>
          </a:prstGeom>
          <a:solidFill>
            <a:srgbClr val="1E3A8A"/>
          </a:solidFill>
          <a:ln/>
        </p:spPr>
        <p:txBody>
          <a:bodyPr/>
          <a:p/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971550" y="2457450"/>
            <a:ext cx="1809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spc="225">
                <a:solidFill>
                  <a:srgbClr val="7FD9F0"/>
                </a:solidFill>
                <a:latin typeface="PingFang SC"/>
                <a:ea typeface="PingFang SC"/>
              </a:rPr>
              <a:t>CONTENTS</a:t>
            </a:r>
            <a:endParaRPr/>
          </a:p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971550" y="2819400"/>
            <a:ext cx="1809750" cy="685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500" b="1">
                <a:solidFill>
                  <a:srgbClr val="FFFFFF"/>
                </a:solidFill>
                <a:latin typeface="Space Grotesk"/>
                <a:ea typeface="Space Grotesk"/>
              </a:rPr>
              <a:t>8</a:t>
            </a:r>
            <a:endParaRPr/>
          </a:p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971550" y="3581400"/>
            <a:ext cx="18097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DCE9FB"/>
                </a:solidFill>
                <a:latin typeface="PingFang SC"/>
                <a:ea typeface="PingFang SC"/>
              </a:rPr>
              <a:t>个模块</a:t>
            </a:r>
            <a:r>
              <a:rPr lang="en-US" sz="1650" b="1">
                <a:solidFill>
                  <a:srgbClr val="DCE9FB"/>
                </a:solidFill>
                <a:latin typeface="PingFang SC"/>
                <a:ea typeface="PingFang SC"/>
              </a:rPr>
              <a:t> · 24 </a:t>
            </a:r>
            <a:r>
              <a:rPr lang="zh-CN" sz="1650" b="1">
                <a:solidFill>
                  <a:srgbClr val="DCE9FB"/>
                </a:solidFill>
                <a:latin typeface="PingFang SC"/>
                <a:ea typeface="PingFang SC"/>
              </a:rPr>
              <a:t>课时</a:t>
            </a:r>
            <a:endParaRPr/>
          </a:p>
        </p:txBody>
      </p:sp>
      <p:sp>
        <p:nvSpPr>
          <p:cNvPr id="315" name=""/>
          <p:cNvSpPr/>
          <p:nvPr/>
        </p:nvSpPr>
        <p:spPr>
          <a:xfrm rot="0" flipH="0" flipV="0">
            <a:off x="971550" y="4048125"/>
            <a:ext cx="514350" cy="381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971550" y="4257675"/>
            <a:ext cx="1809750" cy="771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A9C4E8"/>
                </a:solidFill>
                <a:latin typeface="PingFang SC"/>
                <a:ea typeface="PingFang SC"/>
              </a:rPr>
              <a:t>每个模块一个可带走的方法或工具，最后一个模块做成你自己的项目。</a:t>
            </a:r>
            <a:endParaRPr/>
          </a:p>
        </p:txBody>
      </p:sp>
      <p:sp>
        <p:nvSpPr>
          <p:cNvPr id="317" name=""/>
          <p:cNvSpPr/>
          <p:nvPr/>
        </p:nvSpPr>
        <p:spPr>
          <a:xfrm rot="0" flipH="0" flipV="0">
            <a:off x="3333750" y="1314450"/>
            <a:ext cx="8172450" cy="561975"/>
          </a:xfrm>
          <a:prstGeom prst="roundRect">
            <a:avLst>
              <a:gd name="adj" fmla="val 20339"/>
            </a:avLst>
          </a:prstGeom>
          <a:solidFill>
            <a:srgbClr val="FFFFFF"/>
          </a:solidFill>
          <a:ln/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3524250" y="1438275"/>
            <a:ext cx="5334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06B6D4"/>
                </a:solidFill>
                <a:latin typeface="Space Grotesk"/>
                <a:ea typeface="Space Grotesk"/>
              </a:rPr>
              <a:t>01</a:t>
            </a:r>
            <a:endParaRPr/>
          </a:p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4229100" y="1400175"/>
            <a:ext cx="67437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E3A8A"/>
                </a:solidFill>
                <a:latin typeface="PingFang SC"/>
                <a:ea typeface="PingFang SC"/>
              </a:rPr>
              <a:t>机会地图</a:t>
            </a:r>
            <a:endParaRPr/>
          </a:p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4229100" y="1638300"/>
            <a:ext cx="6743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PingFang SC"/>
                <a:ea typeface="PingFang SC"/>
              </a:rPr>
              <a:t>"人工智能+"指挥棒 · 五种补位 · 机会画布六维评分</a:t>
            </a:r>
            <a:r>
              <a:rPr lang="zh-CN" sz="975">
                <a:solidFill>
                  <a:srgbClr val="64748B"/>
                </a:solidFill>
                <a:latin typeface="PingFang SC"/>
                <a:ea typeface="PingFang SC"/>
              </a:rPr>
              <a:t/>
            </a:r>
            <a:r>
              <a:rPr lang="en-US" sz="975">
                <a:solidFill>
                  <a:srgbClr val="64748B"/>
                </a:solidFill>
                <a:latin typeface="PingFang SC"/>
                <a:ea typeface="PingFang SC"/>
              </a:rPr>
              <a:t/>
            </a:r>
            <a:r>
              <a:rPr lang="zh-CN" sz="975">
                <a:solidFill>
                  <a:srgbClr val="64748B"/>
                </a:solidFill>
                <a:latin typeface="PingFang SC"/>
                <a:ea typeface="PingFang SC"/>
              </a:rPr>
              <a:t/>
            </a:r>
            <a:r>
              <a:rPr lang="en-US" sz="975">
                <a:solidFill>
                  <a:srgbClr val="64748B"/>
                </a:solidFill>
                <a:latin typeface="PingFang SC"/>
                <a:ea typeface="PingFang SC"/>
              </a:rPr>
              <a:t/>
            </a:r>
            <a:r>
              <a:rPr lang="zh-CN" sz="975">
                <a:solidFill>
                  <a:srgbClr val="64748B"/>
                </a:solidFill>
                <a:latin typeface="PingFang SC"/>
                <a:ea typeface="PingFang SC"/>
              </a:rPr>
              <a:t/>
            </a:r>
            <a:endParaRPr/>
          </a:p>
        </p:txBody>
      </p:sp>
      <p:pic>
        <p:nvPicPr>
          <p:cNvPr id="32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1144250" y="1514475"/>
            <a:ext cx="171450" cy="171450"/>
          </a:xfrm>
          <a:prstGeom prst="rect">
            <a:avLst/>
          </a:prstGeom>
          <a:ln/>
        </p:spPr>
      </p:pic>
      <p:sp>
        <p:nvSpPr>
          <p:cNvPr id="322" name=""/>
          <p:cNvSpPr/>
          <p:nvPr/>
        </p:nvSpPr>
        <p:spPr>
          <a:xfrm rot="0" flipH="0" flipV="0">
            <a:off x="3333750" y="1924050"/>
            <a:ext cx="8172450" cy="561975"/>
          </a:xfrm>
          <a:prstGeom prst="roundRect">
            <a:avLst>
              <a:gd name="adj" fmla="val 20339"/>
            </a:avLst>
          </a:prstGeom>
          <a:solidFill>
            <a:srgbClr val="EDF3FB"/>
          </a:solidFill>
          <a:ln/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3524250" y="2047875"/>
            <a:ext cx="5334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06B6D4"/>
                </a:solidFill>
                <a:latin typeface="Space Grotesk"/>
                <a:ea typeface="Space Grotesk"/>
              </a:rPr>
              <a:t>02</a:t>
            </a:r>
            <a:endParaRPr/>
          </a:p>
        </p:txBody>
      </p:sp>
      <p:sp>
        <p:nvSpPr>
          <p:cNvPr id="324" name="" descr="{&quot;isTemplate&quot;:true,&quot;type&quot;:&quot;text&quot;}"/>
          <p:cNvSpPr txBox="1"/>
          <p:nvPr/>
        </p:nvSpPr>
        <p:spPr>
          <a:xfrm rot="0" flipH="0" flipV="0">
            <a:off x="4229100" y="2009775"/>
            <a:ext cx="67437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E3A8A"/>
                </a:solidFill>
                <a:latin typeface="PingFang SC"/>
                <a:ea typeface="PingFang SC"/>
              </a:rPr>
              <a:t>预测预警</a:t>
            </a:r>
            <a:endParaRPr/>
          </a:p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4229100" y="2247900"/>
            <a:ext cx="6743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PingFang SC"/>
                <a:ea typeface="PingFang SC"/>
              </a:rPr>
              <a:t>预测四阶</a:t>
            </a:r>
            <a:r>
              <a:rPr lang="en-US" sz="975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975">
                <a:solidFill>
                  <a:srgbClr val="64748B"/>
                </a:solidFill>
                <a:latin typeface="PingFang SC"/>
                <a:ea typeface="PingFang SC"/>
              </a:rPr>
              <a:t>时序三看</a:t>
            </a:r>
            <a:r>
              <a:rPr lang="en-US" sz="975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975">
                <a:solidFill>
                  <a:srgbClr val="64748B"/>
                </a:solidFill>
                <a:latin typeface="PingFang SC"/>
                <a:ea typeface="PingFang SC"/>
              </a:rPr>
              <a:t>三段阈值</a:t>
            </a:r>
            <a:r>
              <a:rPr lang="en-US" sz="975">
                <a:solidFill>
                  <a:srgbClr val="64748B"/>
                </a:solidFill>
                <a:latin typeface="PingFang SC"/>
                <a:ea typeface="PingFang SC"/>
              </a:rPr>
              <a:t> · 运营基线</a:t>
            </a:r>
            <a:endParaRPr/>
          </a:p>
        </p:txBody>
      </p:sp>
      <p:pic>
        <p:nvPicPr>
          <p:cNvPr id="32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1144250" y="2124075"/>
            <a:ext cx="171450" cy="171450"/>
          </a:xfrm>
          <a:prstGeom prst="rect">
            <a:avLst/>
          </a:prstGeom>
          <a:ln/>
        </p:spPr>
      </p:pic>
      <p:sp>
        <p:nvSpPr>
          <p:cNvPr id="327" name=""/>
          <p:cNvSpPr/>
          <p:nvPr/>
        </p:nvSpPr>
        <p:spPr>
          <a:xfrm rot="0" flipH="0" flipV="0">
            <a:off x="3333750" y="2543175"/>
            <a:ext cx="8172450" cy="561975"/>
          </a:xfrm>
          <a:prstGeom prst="roundRect">
            <a:avLst>
              <a:gd name="adj" fmla="val 20339"/>
            </a:avLst>
          </a:prstGeom>
          <a:solidFill>
            <a:srgbClr val="FFFFFF"/>
          </a:solidFill>
          <a:ln/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328" name="" descr="{&quot;isTemplate&quot;:true,&quot;type&quot;:&quot;text&quot;}"/>
          <p:cNvSpPr txBox="1"/>
          <p:nvPr/>
        </p:nvSpPr>
        <p:spPr>
          <a:xfrm rot="0" flipH="0" flipV="0">
            <a:off x="3524250" y="2667000"/>
            <a:ext cx="5334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06B6D4"/>
                </a:solidFill>
                <a:latin typeface="Space Grotesk"/>
                <a:ea typeface="Space Grotesk"/>
              </a:rPr>
              <a:t>03</a:t>
            </a:r>
            <a:endParaRPr/>
          </a:p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4229100" y="2628900"/>
            <a:ext cx="67437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E3A8A"/>
                </a:solidFill>
                <a:latin typeface="PingFang SC"/>
                <a:ea typeface="PingFang SC"/>
              </a:rPr>
              <a:t>智能审核</a:t>
            </a:r>
            <a:endParaRPr/>
          </a:p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4229100" y="2867025"/>
            <a:ext cx="6743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PingFang SC"/>
                <a:ea typeface="PingFang SC"/>
              </a:rPr>
              <a:t>分类</a:t>
            </a:r>
            <a:r>
              <a:rPr lang="en-US" sz="975">
                <a:solidFill>
                  <a:srgbClr val="64748B"/>
                </a:solidFill>
                <a:latin typeface="PingFang SC"/>
                <a:ea typeface="PingFang SC"/>
              </a:rPr>
              <a:t> / </a:t>
            </a:r>
            <a:r>
              <a:rPr lang="zh-CN" sz="975">
                <a:solidFill>
                  <a:srgbClr val="64748B"/>
                </a:solidFill>
                <a:latin typeface="PingFang SC"/>
                <a:ea typeface="PingFang SC"/>
              </a:rPr>
              <a:t>检测</a:t>
            </a:r>
            <a:r>
              <a:rPr lang="en-US" sz="975">
                <a:solidFill>
                  <a:srgbClr val="64748B"/>
                </a:solidFill>
                <a:latin typeface="PingFang SC"/>
                <a:ea typeface="PingFang SC"/>
              </a:rPr>
              <a:t> / </a:t>
            </a:r>
            <a:r>
              <a:rPr lang="zh-CN" sz="975">
                <a:solidFill>
                  <a:srgbClr val="64748B"/>
                </a:solidFill>
                <a:latin typeface="PingFang SC"/>
                <a:ea typeface="PingFang SC"/>
              </a:rPr>
              <a:t>异常检测</a:t>
            </a:r>
            <a:r>
              <a:rPr lang="en-US" sz="975">
                <a:solidFill>
                  <a:srgbClr val="64748B"/>
                </a:solidFill>
                <a:latin typeface="PingFang SC"/>
                <a:ea typeface="PingFang SC"/>
              </a:rPr>
              <a:t> · 96% </a:t>
            </a:r>
            <a:r>
              <a:rPr lang="zh-CN" sz="975">
                <a:solidFill>
                  <a:srgbClr val="64748B"/>
                </a:solidFill>
                <a:latin typeface="PingFang SC"/>
                <a:ea typeface="PingFang SC"/>
              </a:rPr>
              <a:t>铁案</a:t>
            </a:r>
            <a:r>
              <a:rPr lang="en-US" sz="975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975">
                <a:solidFill>
                  <a:srgbClr val="64748B"/>
                </a:solidFill>
                <a:latin typeface="PingFang SC"/>
                <a:ea typeface="PingFang SC"/>
              </a:rPr>
              <a:t>上线四控制</a:t>
            </a:r>
            <a:endParaRPr/>
          </a:p>
        </p:txBody>
      </p:sp>
      <p:pic>
        <p:nvPicPr>
          <p:cNvPr id="33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1144250" y="2743200"/>
            <a:ext cx="171450" cy="171450"/>
          </a:xfrm>
          <a:prstGeom prst="rect">
            <a:avLst/>
          </a:prstGeom>
          <a:ln/>
        </p:spPr>
      </p:pic>
      <p:sp>
        <p:nvSpPr>
          <p:cNvPr id="332" name=""/>
          <p:cNvSpPr/>
          <p:nvPr/>
        </p:nvSpPr>
        <p:spPr>
          <a:xfrm rot="0" flipH="0" flipV="0">
            <a:off x="3333750" y="3152775"/>
            <a:ext cx="8172450" cy="561975"/>
          </a:xfrm>
          <a:prstGeom prst="roundRect">
            <a:avLst>
              <a:gd name="adj" fmla="val 20339"/>
            </a:avLst>
          </a:prstGeom>
          <a:solidFill>
            <a:srgbClr val="EDF3FB"/>
          </a:solidFill>
          <a:ln/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3524250" y="3276600"/>
            <a:ext cx="5334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06B6D4"/>
                </a:solidFill>
                <a:latin typeface="Space Grotesk"/>
                <a:ea typeface="Space Grotesk"/>
              </a:rPr>
              <a:t>04</a:t>
            </a:r>
            <a:endParaRPr/>
          </a:p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4229100" y="3238500"/>
            <a:ext cx="67437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E3A8A"/>
                </a:solidFill>
                <a:latin typeface="PingFang SC"/>
                <a:ea typeface="PingFang SC"/>
              </a:rPr>
              <a:t>流程与资源调度</a:t>
            </a:r>
            <a:endParaRPr/>
          </a:p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4229100" y="3476625"/>
            <a:ext cx="6743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PingFang SC"/>
                <a:ea typeface="PingFang SC"/>
              </a:rPr>
              <a:t>三钟不可互替</a:t>
            </a:r>
            <a:r>
              <a:rPr lang="en-US" sz="975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975">
                <a:solidFill>
                  <a:srgbClr val="64748B"/>
                </a:solidFill>
                <a:latin typeface="PingFang SC"/>
                <a:ea typeface="PingFang SC"/>
              </a:rPr>
              <a:t>均值陷阱</a:t>
            </a:r>
            <a:r>
              <a:rPr lang="en-US" sz="975">
                <a:solidFill>
                  <a:srgbClr val="64748B"/>
                </a:solidFill>
                <a:latin typeface="PingFang SC"/>
                <a:ea typeface="PingFang SC"/>
              </a:rPr>
              <a:t> · EBQ </a:t>
            </a:r>
            <a:r>
              <a:rPr lang="zh-CN" sz="975">
                <a:solidFill>
                  <a:srgbClr val="64748B"/>
                </a:solidFill>
                <a:latin typeface="PingFang SC"/>
                <a:ea typeface="PingFang SC"/>
              </a:rPr>
              <a:t>与看板</a:t>
            </a:r>
            <a:endParaRPr/>
          </a:p>
        </p:txBody>
      </p:sp>
      <p:pic>
        <p:nvPicPr>
          <p:cNvPr id="33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1144250" y="3352800"/>
            <a:ext cx="171450" cy="171450"/>
          </a:xfrm>
          <a:prstGeom prst="rect">
            <a:avLst/>
          </a:prstGeom>
          <a:ln/>
        </p:spPr>
      </p:pic>
      <p:sp>
        <p:nvSpPr>
          <p:cNvPr id="337" name=""/>
          <p:cNvSpPr/>
          <p:nvPr/>
        </p:nvSpPr>
        <p:spPr>
          <a:xfrm rot="0" flipH="0" flipV="0">
            <a:off x="3333750" y="3771900"/>
            <a:ext cx="8172450" cy="561975"/>
          </a:xfrm>
          <a:prstGeom prst="roundRect">
            <a:avLst>
              <a:gd name="adj" fmla="val 20339"/>
            </a:avLst>
          </a:prstGeom>
          <a:solidFill>
            <a:srgbClr val="FFFFFF"/>
          </a:solidFill>
          <a:ln/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338" name="" descr="{&quot;isTemplate&quot;:true,&quot;type&quot;:&quot;text&quot;}"/>
          <p:cNvSpPr txBox="1"/>
          <p:nvPr/>
        </p:nvSpPr>
        <p:spPr>
          <a:xfrm rot="0" flipH="0" flipV="0">
            <a:off x="3524250" y="3895725"/>
            <a:ext cx="5334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06B6D4"/>
                </a:solidFill>
                <a:latin typeface="Space Grotesk"/>
                <a:ea typeface="Space Grotesk"/>
              </a:rPr>
              <a:t>05</a:t>
            </a:r>
            <a:endParaRPr/>
          </a:p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4229100" y="3857625"/>
            <a:ext cx="67437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E3A8A"/>
                </a:solidFill>
                <a:latin typeface="PingFang SC"/>
                <a:ea typeface="PingFang SC"/>
              </a:rPr>
              <a:t>知识</a:t>
            </a:r>
            <a:r>
              <a:rPr lang="en-US" sz="1425" b="1">
                <a:solidFill>
                  <a:srgbClr val="1E3A8A"/>
                </a:solidFill>
                <a:latin typeface="PingFang SC"/>
                <a:ea typeface="PingFang SC"/>
              </a:rPr>
              <a:t> RAG </a:t>
            </a:r>
            <a:r>
              <a:rPr lang="zh-CN" sz="1425" b="1">
                <a:solidFill>
                  <a:srgbClr val="1E3A8A"/>
                </a:solidFill>
                <a:latin typeface="PingFang SC"/>
                <a:ea typeface="PingFang SC"/>
              </a:rPr>
              <a:t>与行业智能体</a:t>
            </a:r>
            <a:endParaRPr/>
          </a:p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4229100" y="4095750"/>
            <a:ext cx="6743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PingFang SC"/>
                <a:ea typeface="PingFang SC"/>
              </a:rPr>
              <a:t>五步知识库</a:t>
            </a:r>
            <a:r>
              <a:rPr lang="en-US" sz="975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975">
                <a:solidFill>
                  <a:srgbClr val="64748B"/>
                </a:solidFill>
                <a:latin typeface="PingFang SC"/>
                <a:ea typeface="PingFang SC"/>
              </a:rPr>
              <a:t>接地三要件</a:t>
            </a:r>
            <a:r>
              <a:rPr lang="en-US" sz="975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975">
                <a:solidFill>
                  <a:srgbClr val="64748B"/>
                </a:solidFill>
                <a:latin typeface="PingFang SC"/>
                <a:ea typeface="PingFang SC"/>
              </a:rPr>
              <a:t>智能体最小形态</a:t>
            </a:r>
            <a:endParaRPr/>
          </a:p>
        </p:txBody>
      </p:sp>
      <p:pic>
        <p:nvPicPr>
          <p:cNvPr id="34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1144250" y="3971925"/>
            <a:ext cx="171450" cy="171450"/>
          </a:xfrm>
          <a:prstGeom prst="rect">
            <a:avLst/>
          </a:prstGeom>
          <a:ln/>
        </p:spPr>
      </p:pic>
      <p:sp>
        <p:nvSpPr>
          <p:cNvPr id="342" name=""/>
          <p:cNvSpPr/>
          <p:nvPr/>
        </p:nvSpPr>
        <p:spPr>
          <a:xfrm rot="0" flipH="0" flipV="0">
            <a:off x="3333750" y="4381500"/>
            <a:ext cx="8172450" cy="561975"/>
          </a:xfrm>
          <a:prstGeom prst="roundRect">
            <a:avLst>
              <a:gd name="adj" fmla="val 20339"/>
            </a:avLst>
          </a:prstGeom>
          <a:solidFill>
            <a:srgbClr val="EDF3FB"/>
          </a:solidFill>
          <a:ln/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3524250" y="4505325"/>
            <a:ext cx="5334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06B6D4"/>
                </a:solidFill>
                <a:latin typeface="Space Grotesk"/>
                <a:ea typeface="Space Grotesk"/>
              </a:rPr>
              <a:t>06</a:t>
            </a:r>
            <a:endParaRPr/>
          </a:p>
        </p:txBody>
      </p:sp>
      <p:sp>
        <p:nvSpPr>
          <p:cNvPr id="344" name="" descr="{&quot;isTemplate&quot;:true,&quot;type&quot;:&quot;text&quot;}"/>
          <p:cNvSpPr txBox="1"/>
          <p:nvPr/>
        </p:nvSpPr>
        <p:spPr>
          <a:xfrm rot="0" flipH="0" flipV="0">
            <a:off x="4229100" y="4467225"/>
            <a:ext cx="67437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E3A8A"/>
                </a:solidFill>
                <a:latin typeface="PingFang SC"/>
                <a:ea typeface="PingFang SC"/>
              </a:rPr>
              <a:t>落地与申报</a:t>
            </a:r>
            <a:endParaRPr/>
          </a:p>
        </p:txBody>
      </p:sp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4229100" y="4705350"/>
            <a:ext cx="6743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PingFang SC"/>
                <a:ea typeface="PingFang SC"/>
              </a:rPr>
              <a:t>数据就绪门槛</a:t>
            </a:r>
            <a:r>
              <a:rPr lang="en-US" sz="975">
                <a:solidFill>
                  <a:srgbClr val="64748B"/>
                </a:solidFill>
                <a:latin typeface="PingFang SC"/>
                <a:ea typeface="PingFang SC"/>
              </a:rPr>
              <a:t> · ROI · </a:t>
            </a:r>
            <a:r>
              <a:rPr lang="zh-CN" sz="975">
                <a:solidFill>
                  <a:srgbClr val="64748B"/>
                </a:solidFill>
                <a:latin typeface="PingFang SC"/>
                <a:ea typeface="PingFang SC"/>
              </a:rPr>
              <a:t>补贴四通道</a:t>
            </a:r>
            <a:r>
              <a:rPr lang="en-US" sz="975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975">
                <a:solidFill>
                  <a:srgbClr val="64748B"/>
                </a:solidFill>
                <a:latin typeface="PingFang SC"/>
                <a:ea typeface="PingFang SC"/>
              </a:rPr>
              <a:t>申报书</a:t>
            </a:r>
            <a:endParaRPr/>
          </a:p>
        </p:txBody>
      </p:sp>
      <p:pic>
        <p:nvPicPr>
          <p:cNvPr id="34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1144250" y="4581525"/>
            <a:ext cx="171450" cy="171450"/>
          </a:xfrm>
          <a:prstGeom prst="rect">
            <a:avLst/>
          </a:prstGeom>
          <a:ln/>
        </p:spPr>
      </p:pic>
      <p:sp>
        <p:nvSpPr>
          <p:cNvPr id="347" name=""/>
          <p:cNvSpPr/>
          <p:nvPr/>
        </p:nvSpPr>
        <p:spPr>
          <a:xfrm rot="0" flipH="0" flipV="0">
            <a:off x="3333750" y="5000625"/>
            <a:ext cx="8172450" cy="561975"/>
          </a:xfrm>
          <a:prstGeom prst="roundRect">
            <a:avLst>
              <a:gd name="adj" fmla="val 20339"/>
            </a:avLst>
          </a:prstGeom>
          <a:solidFill>
            <a:srgbClr val="FFFFFF"/>
          </a:solidFill>
          <a:ln/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3524250" y="5124450"/>
            <a:ext cx="5334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06B6D4"/>
                </a:solidFill>
                <a:latin typeface="Space Grotesk"/>
                <a:ea typeface="Space Grotesk"/>
              </a:rPr>
              <a:t>07</a:t>
            </a:r>
            <a:endParaRPr/>
          </a:p>
        </p:txBody>
      </p:sp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4229100" y="5086350"/>
            <a:ext cx="67437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E3A8A"/>
                </a:solidFill>
                <a:latin typeface="PingFang SC"/>
                <a:ea typeface="PingFang SC"/>
              </a:rPr>
              <a:t>负责任</a:t>
            </a:r>
            <a:r>
              <a:rPr lang="en-US" sz="1425" b="1">
                <a:solidFill>
                  <a:srgbClr val="1E3A8A"/>
                </a:solidFill>
                <a:latin typeface="PingFang SC"/>
                <a:ea typeface="PingFang SC"/>
              </a:rPr>
              <a:t> AI</a:t>
            </a:r>
            <a:endParaRPr/>
          </a:p>
        </p:txBody>
      </p:sp>
      <p:sp>
        <p:nvSpPr>
          <p:cNvPr id="350" name="" descr="{&quot;isTemplate&quot;:true,&quot;type&quot;:&quot;text&quot;}"/>
          <p:cNvSpPr txBox="1"/>
          <p:nvPr/>
        </p:nvSpPr>
        <p:spPr>
          <a:xfrm rot="0" flipH="0" flipV="0">
            <a:off x="4229100" y="5324475"/>
            <a:ext cx="6743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PingFang SC"/>
                <a:ea typeface="PingFang SC"/>
              </a:rPr>
              <a:t>NIST </a:t>
            </a:r>
            <a:r>
              <a:rPr lang="zh-CN" sz="975">
                <a:solidFill>
                  <a:srgbClr val="64748B"/>
                </a:solidFill>
                <a:latin typeface="PingFang SC"/>
                <a:ea typeface="PingFang SC"/>
              </a:rPr>
              <a:t>四步</a:t>
            </a:r>
            <a:r>
              <a:rPr lang="en-US" sz="975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975">
                <a:solidFill>
                  <a:srgbClr val="64748B"/>
                </a:solidFill>
                <a:latin typeface="PingFang SC"/>
                <a:ea typeface="PingFang SC"/>
              </a:rPr>
              <a:t>六大失效模式</a:t>
            </a:r>
            <a:r>
              <a:rPr lang="en-US" sz="975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975">
                <a:solidFill>
                  <a:srgbClr val="64748B"/>
                </a:solidFill>
                <a:latin typeface="PingFang SC"/>
                <a:ea typeface="PingFang SC"/>
              </a:rPr>
              <a:t>人在回路</a:t>
            </a:r>
            <a:endParaRPr/>
          </a:p>
        </p:txBody>
      </p:sp>
      <p:pic>
        <p:nvPicPr>
          <p:cNvPr id="35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1144250" y="5200650"/>
            <a:ext cx="171450" cy="171450"/>
          </a:xfrm>
          <a:prstGeom prst="rect">
            <a:avLst/>
          </a:prstGeom>
          <a:ln/>
        </p:spPr>
      </p:pic>
      <p:sp>
        <p:nvSpPr>
          <p:cNvPr id="352" name=""/>
          <p:cNvSpPr/>
          <p:nvPr/>
        </p:nvSpPr>
        <p:spPr>
          <a:xfrm rot="0" flipH="0" flipV="0">
            <a:off x="3333750" y="5610225"/>
            <a:ext cx="8172450" cy="561975"/>
          </a:xfrm>
          <a:prstGeom prst="roundRect">
            <a:avLst>
              <a:gd name="adj" fmla="val 20339"/>
            </a:avLst>
          </a:prstGeom>
          <a:solidFill>
            <a:srgbClr val="EDF3FB"/>
          </a:solidFill>
          <a:ln/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3524250" y="5734050"/>
            <a:ext cx="5334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06B6D4"/>
                </a:solidFill>
                <a:latin typeface="Space Grotesk"/>
                <a:ea typeface="Space Grotesk"/>
              </a:rPr>
              <a:t>08</a:t>
            </a:r>
            <a:endParaRPr/>
          </a:p>
        </p:txBody>
      </p:sp>
      <p:sp>
        <p:nvSpPr>
          <p:cNvPr id="354" name="" descr="{&quot;isTemplate&quot;:true,&quot;type&quot;:&quot;text&quot;}"/>
          <p:cNvSpPr txBox="1"/>
          <p:nvPr/>
        </p:nvSpPr>
        <p:spPr>
          <a:xfrm rot="0" flipH="0" flipV="0">
            <a:off x="4229100" y="5695950"/>
            <a:ext cx="67437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E3A8A"/>
                </a:solidFill>
                <a:latin typeface="PingFang SC"/>
                <a:ea typeface="PingFang SC"/>
              </a:rPr>
              <a:t>结业工作坊</a:t>
            </a:r>
            <a:endParaRPr/>
          </a:p>
        </p:txBody>
      </p:sp>
      <p:sp>
        <p:nvSpPr>
          <p:cNvPr id="355" name="" descr="{&quot;isTemplate&quot;:true,&quot;type&quot;:&quot;text&quot;}"/>
          <p:cNvSpPr txBox="1"/>
          <p:nvPr/>
        </p:nvSpPr>
        <p:spPr>
          <a:xfrm rot="0" flipH="0" flipV="0">
            <a:off x="4229100" y="5934075"/>
            <a:ext cx="6743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PingFang SC"/>
                <a:ea typeface="PingFang SC"/>
              </a:rPr>
              <a:t>四选一</a:t>
            </a:r>
            <a:r>
              <a:rPr lang="en-US" sz="975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975">
                <a:solidFill>
                  <a:srgbClr val="64748B"/>
                </a:solidFill>
                <a:latin typeface="PingFang SC"/>
                <a:ea typeface="PingFang SC"/>
              </a:rPr>
              <a:t>六件套</a:t>
            </a:r>
            <a:r>
              <a:rPr lang="en-US" sz="975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975">
                <a:solidFill>
                  <a:srgbClr val="64748B"/>
                </a:solidFill>
                <a:latin typeface="PingFang SC"/>
                <a:ea typeface="PingFang SC"/>
              </a:rPr>
              <a:t>质询三把刀</a:t>
            </a:r>
            <a:endParaRPr/>
          </a:p>
        </p:txBody>
      </p:sp>
      <p:pic>
        <p:nvPicPr>
          <p:cNvPr id="35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1144250" y="5810250"/>
            <a:ext cx="171450" cy="171450"/>
          </a:xfrm>
          <a:prstGeom prst="rect">
            <a:avLst/>
          </a:prstGeom>
          <a:ln/>
        </p:spPr>
      </p:pic>
      <p:sp>
        <p:nvSpPr>
          <p:cNvPr id="357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1123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AI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场景落地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中级</a:t>
            </a:r>
            <a:endParaRPr/>
          </a:p>
        </p:txBody>
      </p:sp>
      <p:sp>
        <p:nvSpPr>
          <p:cNvPr id="358" name="" descr="{&quot;isTemplate&quot;:true,&quot;type&quot;:&quot;text&quot;}"/>
          <p:cNvSpPr txBox="1"/>
          <p:nvPr/>
        </p:nvSpPr>
        <p:spPr>
          <a:xfrm rot="0" flipH="0" flipV="0">
            <a:off x="11029950" y="63627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02 / 34</a:t>
            </a:r>
            <a:endParaRPr/>
          </a:p>
        </p:txBody>
      </p:sp>
    </p:spTree>
  </p:cSld>
</p:sld>
</file>

<file path=ppt/slides/slide3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718" name="" descr="const diffs = [&#10;    { l: '建 AI 认知', r: '找对场景', note: '从「知道有 AI」到「机会画布打分」', icon: 'search' },&#10;    { l: '岗位会用 AI', r: '做成试点', note: '从「会提问」到「六件套落地」', icon: 'rocket' },&#10;    { l: '自查与改进', r: '写申报书', note: '从「个人提升」到「项目立项 + 补贴」', icon: 'file-signature' },&#10;];&#10;&lt;Slide style={{ width: '1280px', height: '720px', background: '#F5F8FC', padding: '24px 72px', boxSizing: 'border-box', flexDirection: 'column', fontFamily: 'PingFang SC, Source Han Sans SC, sans-serif' }}&gt;&#10;    &lt;Box style={{ height: 92, flexDirection: 'row', alignItems: 'center', gap: 16 }}&gt;&#10;        &lt;Box style={{ width: 5, height: 44, background: '#06B6D4', borderRadius: 3 }} /&gt;&#10;        &lt;Box&gt;&#10;            &lt;Text style={{ fontSize: 32, fontWeight: 'bold', color: '#1E3A8A', lineHeight: 1.2 }}&gt;这门课解决什么问题&lt;/Text&gt;&#10;            &lt;Text style={{ fontSize: 16, color: '#64748B', marginTop: 4 }}&gt;L2 + L3 落地层 —— 会聊天的人不少，能落地的人稀缺&lt;/Text&gt;&#10;        &lt;/Box&gt;&#10;    &lt;/Box&gt;&#10;    &lt;Box style={{ flex: 1, flexDirection: 'row', gap: 24, marginTop: 14 }}&gt;&#10;        &lt;Box style={{ width: 330, flexDirection: 'column' }}&gt;&#10;            &lt;Box style={{ background: '#1E3A8A', borderRadius: 16, padding: 20 }}&gt;&#10;                &lt;Text style={{ fontSize: 15, color: '#7FD9F0', letterSpacing: 2, marginBottom: 8 }}&gt;学完初级的人，常卡在三步&lt;/Text&gt;&#10;                &lt;Text style={{ fontSize: 17, color: '#FFFFFF', lineHeight: 1.65 }}&gt;① 会聊天，不会找场景&lt;br /&gt;② 懂原理，不敢动手做试点&lt;br /&gt;③ 有想法，报不了项目&lt;/Text&gt;&#10;            &lt;/Box&gt;&#10;            &lt;Box style={{ background: '#FFFFFF', borderRadius: 14, padding: 16, marginTop: 14, border: '1px solid #E2E8F0' }}&gt;&#10;                &lt;Text style={{ fontSize: 15, color: '#64748B', marginBottom: 6, fontWeight: 'bold' }}&gt;对象与前置&lt;/Text&gt;&#10;                &lt;Text style={{ fontSize: 14, color: '#43566b', lineHeight: 1.6 }}&gt;骨干 / 班组长 / 工程师&lt;br /&gt;前置：初级结业（会用 AI + RAG 概念）&lt;/Text&gt;&#10;            &lt;/Box&gt;&#10;            &lt;Box style={{ background: '#FFFFFF', borderRadius: 14, padding: 16, marginTop: 12, border: '1px solid #E2E8F0' }}&gt;&#10;                &lt;Text style={{ fontSize: 15, color: '#64748B', marginBottom: 6, fontWeight: 'bold' }}&gt;班型&lt;/Text&gt;&#10;                &lt;Text style={{ fontSize: 14, color: '#43566b', lineHeight: 1.6 }}&gt;标准 24h · 3 天（推荐）&lt;br /&gt;紧凑 12h / 岗位专精 6h / 投标 2h&lt;/Text&gt;&#10;            &lt;/Box&gt;&#10;        &lt;/Box&gt;&#10;        &lt;Box style={{ flex: 1, flexDirection: 'column', gap: 12 }}&gt;&#10;            &lt;Text style={{ fontSize: 17, fontWeight: 'bold', color: '#1E3A8A' }}&gt;与初级的三个跃迁&lt;/Text&gt;&#10;            {diffs.map((d, i) =&gt; (&#10;                &lt;Box key={i} style={{ flex: 1, background: '#FFFFFF', borderRadius: 14, padding: '14px 22px', border: '1px solid #E2E8F0', flexDirection: 'row', alignItems: 'center', gap: 16, boxShadow: '0 4px 16px rgba(30,58,138,0.06)' }}&gt;&#10;                    &lt;Box style={{ width: 48, height: 48, borderRadius: 12, background: '#E0F7FA', justifyContent: 'center', alignItems: 'center' }}&gt;&#10;                        &lt;FAIcon name={d.icon} style={{ fill: '#0891B2', width: 24, height: 24 }} /&gt;&#10;                    &lt;/Box&gt;&#10;                    &lt;Box style={{ width: 150 }}&gt;&#10;                        &lt;Text style={{ fontSize: 13, color: '#64748B' }}&gt;初级&lt;/Text&gt;&#10;                        &lt;Text style={{ fontSize: 17, fontWeight: 'bold', color: '#64748B', marginTop: 2 }}&gt;{d.l}&lt;/Text&gt;&#10;                    &lt;/Box&gt;&#10;                    &lt;FAIcon name=&quot;arrow-right&quot; style={{ fill: '#F59E0B', width: 22, height: 22 }} /&gt;&#10;                    &lt;Box style={{ flex: 1 }}&gt;&#10;                        &lt;Text style={{ fontSize: 13, color: '#0891B2', fontWeight: 'bold' }}&gt;中级&lt;/Text&gt;&#10;                        &lt;Text style={{ fontSize: 20, fontWeight: 'bold', color: '#1E3A8A', marginTop: 2 }}&gt;{d.r}&lt;/Text&gt;&#10;                        &lt;Text style={{ fontSize: 13, color: '#64748B', marginTop: 3 }}&gt;{d.note}&lt;/Text&gt;&#10;                    &lt;/Box&gt;&#10;                &lt;/Box&gt;&#10;            ))}&#10;        &lt;/Box&gt;&#10;    &lt;/Box&gt;&#10;    &lt;Box style={{ height: 40, flexDirection: 'row', justifyContent: 'space-between', alignItems: 'center', marginTop: 8 }}&gt;&#10;        &lt;Text style={{ fontSize: 14, color: '#64748B' }}&gt;AI 场景落地 · 中级&lt;/Text&gt;&#10;        &lt;Text style={{ fontSize: 14, color: '#64748B' }}&gt;03 / 34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/>
        </p:spPr>
        <p:txBody>
          <a:bodyPr/>
          <a:p/>
        </p:txBody>
      </p:sp>
      <p:sp>
        <p:nvSpPr>
          <p:cNvPr id="720" name=""/>
          <p:cNvSpPr/>
          <p:nvPr/>
        </p:nvSpPr>
        <p:spPr>
          <a:xfrm rot="0" flipH="0" flipV="0">
            <a:off x="685800" y="457200"/>
            <a:ext cx="47625" cy="419100"/>
          </a:xfrm>
          <a:prstGeom prst="roundRect">
            <a:avLst>
              <a:gd name="adj" fmla="val 60000"/>
            </a:avLst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721" name="" descr="{&quot;isTemplate&quot;:true,&quot;type&quot;:&quot;text&quot;}"/>
          <p:cNvSpPr txBox="1"/>
          <p:nvPr/>
        </p:nvSpPr>
        <p:spPr>
          <a:xfrm rot="0" flipH="0" flipV="0">
            <a:off x="885825" y="333375"/>
            <a:ext cx="3762375" cy="44767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400" b="1">
                <a:solidFill>
                  <a:srgbClr val="1E3A8A"/>
                </a:solidFill>
                <a:latin typeface="PingFang SC"/>
                <a:ea typeface="PingFang SC"/>
              </a:rPr>
              <a:t>这门课解决什么问题</a:t>
            </a:r>
            <a:endParaRPr/>
          </a:p>
        </p:txBody>
      </p:sp>
      <p:sp>
        <p:nvSpPr>
          <p:cNvPr id="722" name="" descr="{&quot;isTemplate&quot;:true,&quot;type&quot;:&quot;text&quot;}"/>
          <p:cNvSpPr txBox="1"/>
          <p:nvPr/>
        </p:nvSpPr>
        <p:spPr>
          <a:xfrm rot="0" flipH="0" flipV="0">
            <a:off x="885825" y="819150"/>
            <a:ext cx="37623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64748B"/>
                </a:solidFill>
                <a:latin typeface="PingFang SC"/>
                <a:ea typeface="PingFang SC"/>
              </a:rPr>
              <a:t>L2 + L3 </a:t>
            </a:r>
            <a:r>
              <a:rPr lang="zh-CN" sz="1200">
                <a:solidFill>
                  <a:srgbClr val="64748B"/>
                </a:solidFill>
                <a:latin typeface="PingFang SC"/>
                <a:ea typeface="PingFang SC"/>
              </a:rPr>
              <a:t>落地层</a:t>
            </a:r>
            <a:r>
              <a:rPr lang="en-US" sz="1200">
                <a:solidFill>
                  <a:srgbClr val="64748B"/>
                </a:solidFill>
                <a:latin typeface="PingFang SC"/>
                <a:ea typeface="PingFang SC"/>
              </a:rPr>
              <a:t> —— </a:t>
            </a:r>
            <a:r>
              <a:rPr lang="zh-CN" sz="1200">
                <a:solidFill>
                  <a:srgbClr val="64748B"/>
                </a:solidFill>
                <a:latin typeface="PingFang SC"/>
                <a:ea typeface="PingFang SC"/>
              </a:rPr>
              <a:t>会聊天的人不少，能落地的人稀缺</a:t>
            </a:r>
            <a:endParaRPr/>
          </a:p>
        </p:txBody>
      </p:sp>
      <p:sp>
        <p:nvSpPr>
          <p:cNvPr id="723" name=""/>
          <p:cNvSpPr/>
          <p:nvPr/>
        </p:nvSpPr>
        <p:spPr>
          <a:xfrm rot="0" flipH="0" flipV="0">
            <a:off x="685800" y="1238250"/>
            <a:ext cx="3143250" cy="1590675"/>
          </a:xfrm>
          <a:prstGeom prst="roundRect">
            <a:avLst>
              <a:gd name="adj" fmla="val 9581"/>
            </a:avLst>
          </a:prstGeom>
          <a:solidFill>
            <a:srgbClr val="1E3A8A"/>
          </a:solidFill>
          <a:ln/>
        </p:spPr>
        <p:txBody>
          <a:bodyPr/>
          <a:p/>
        </p:txBody>
      </p:sp>
      <p:sp>
        <p:nvSpPr>
          <p:cNvPr id="724" name="" descr="{&quot;isTemplate&quot;:true,&quot;type&quot;:&quot;text&quot;}"/>
          <p:cNvSpPr txBox="1"/>
          <p:nvPr/>
        </p:nvSpPr>
        <p:spPr>
          <a:xfrm rot="0" flipH="0" flipV="0">
            <a:off x="876300" y="1428750"/>
            <a:ext cx="2762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150">
                <a:solidFill>
                  <a:srgbClr val="7FD9F0"/>
                </a:solidFill>
                <a:latin typeface="PingFang SC"/>
                <a:ea typeface="PingFang SC"/>
              </a:rPr>
              <a:t>学完初级的人，常卡在三步</a:t>
            </a:r>
            <a:endParaRPr/>
          </a:p>
        </p:txBody>
      </p:sp>
      <p:sp>
        <p:nvSpPr>
          <p:cNvPr id="725" name="" descr="{&quot;isTemplate&quot;:true,&quot;type&quot;:&quot;text&quot;}"/>
          <p:cNvSpPr txBox="1"/>
          <p:nvPr/>
        </p:nvSpPr>
        <p:spPr>
          <a:xfrm rot="0" flipH="0" flipV="0">
            <a:off x="876300" y="1676400"/>
            <a:ext cx="2762250" cy="962025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1275">
                <a:solidFill>
                  <a:srgbClr val="FFFFFF"/>
                </a:solidFill>
                <a:latin typeface="PingFang SC"/>
                <a:ea typeface="PingFang SC"/>
              </a:rPr>
              <a:t>① </a:t>
            </a:r>
            <a:r>
              <a:rPr lang="zh-CN" sz="1275">
                <a:solidFill>
                  <a:srgbClr val="FFFFFF"/>
                </a:solidFill>
                <a:latin typeface="PingFang SC"/>
                <a:ea typeface="PingFang SC"/>
              </a:rPr>
              <a:t>会聊天，不会找场景</a:t>
            </a:r>
            <a:endParaRPr/>
          </a:p>
          <a:p>
            <a:pPr>
              <a:lnSpc>
                <a:spcPct val="165000"/>
              </a:lnSpc>
            </a:pPr>
            <a:r>
              <a:rPr lang="en-US" sz="1275">
                <a:solidFill>
                  <a:srgbClr val="FFFFFF"/>
                </a:solidFill>
                <a:latin typeface="PingFang SC"/>
                <a:ea typeface="PingFang SC"/>
              </a:rPr>
              <a:t>② </a:t>
            </a:r>
            <a:r>
              <a:rPr lang="zh-CN" sz="1275">
                <a:solidFill>
                  <a:srgbClr val="FFFFFF"/>
                </a:solidFill>
                <a:latin typeface="PingFang SC"/>
                <a:ea typeface="PingFang SC"/>
              </a:rPr>
              <a:t>懂原理，不敢动手做试点</a:t>
            </a:r>
            <a:endParaRPr/>
          </a:p>
          <a:p>
            <a:pPr>
              <a:lnSpc>
                <a:spcPct val="165000"/>
              </a:lnSpc>
            </a:pPr>
            <a:r>
              <a:rPr lang="en-US" sz="1275">
                <a:solidFill>
                  <a:srgbClr val="FFFFFF"/>
                </a:solidFill>
                <a:latin typeface="PingFang SC"/>
                <a:ea typeface="PingFang SC"/>
              </a:rPr>
              <a:t>③ </a:t>
            </a:r>
            <a:r>
              <a:rPr lang="zh-CN" sz="1275">
                <a:solidFill>
                  <a:srgbClr val="FFFFFF"/>
                </a:solidFill>
                <a:latin typeface="PingFang SC"/>
                <a:ea typeface="PingFang SC"/>
              </a:rPr>
              <a:t>有想法，报不了项目</a:t>
            </a:r>
            <a:endParaRPr/>
          </a:p>
        </p:txBody>
      </p:sp>
      <p:sp>
        <p:nvSpPr>
          <p:cNvPr id="726" name=""/>
          <p:cNvSpPr/>
          <p:nvPr/>
        </p:nvSpPr>
        <p:spPr>
          <a:xfrm rot="0" flipH="0" flipV="0">
            <a:off x="685800" y="2962275"/>
            <a:ext cx="3143250" cy="104775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27" name="" descr="{&quot;isTemplate&quot;:true,&quot;type&quot;:&quot;text&quot;}"/>
          <p:cNvSpPr txBox="1"/>
          <p:nvPr/>
        </p:nvSpPr>
        <p:spPr>
          <a:xfrm rot="0" flipH="0" flipV="0">
            <a:off x="838200" y="3114675"/>
            <a:ext cx="28384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64748B"/>
                </a:solidFill>
                <a:latin typeface="PingFang SC"/>
                <a:ea typeface="PingFang SC"/>
              </a:rPr>
              <a:t>对象与前置</a:t>
            </a:r>
            <a:endParaRPr/>
          </a:p>
        </p:txBody>
      </p:sp>
      <p:sp>
        <p:nvSpPr>
          <p:cNvPr id="728" name="" descr="{&quot;isTemplate&quot;:true,&quot;type&quot;:&quot;text&quot;}"/>
          <p:cNvSpPr txBox="1"/>
          <p:nvPr/>
        </p:nvSpPr>
        <p:spPr>
          <a:xfrm rot="0" flipH="0" flipV="0">
            <a:off x="838200" y="3343275"/>
            <a:ext cx="2838450" cy="5143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骨干</a:t>
            </a:r>
            <a:r>
              <a:rPr lang="en-US" sz="1050">
                <a:solidFill>
                  <a:srgbClr val="43566B"/>
                </a:solidFill>
                <a:latin typeface="PingFang SC"/>
                <a:ea typeface="PingFang SC"/>
              </a:rPr>
              <a:t> / </a:t>
            </a: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组长</a:t>
            </a:r>
            <a:r>
              <a:rPr lang="en-US" sz="1050">
                <a:solidFill>
                  <a:srgbClr val="43566B"/>
                </a:solidFill>
                <a:latin typeface="PingFang SC"/>
                <a:ea typeface="PingFang SC"/>
              </a:rPr>
              <a:t> / </a:t>
            </a: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工程师</a:t>
            </a:r>
            <a:endParaRPr/>
          </a:p>
          <a:p>
            <a:pPr>
              <a:lnSpc>
                <a:spcPct val="160000"/>
              </a:lnSpc>
            </a:pP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前置：初级结业（会用</a:t>
            </a:r>
            <a:r>
              <a:rPr lang="en-US" sz="1050">
                <a:solidFill>
                  <a:srgbClr val="43566B"/>
                </a:solidFill>
                <a:latin typeface="PingFang SC"/>
                <a:ea typeface="PingFang SC"/>
              </a:rPr>
              <a:t> AI + RAG </a:t>
            </a: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概念）</a:t>
            </a:r>
            <a:endParaRPr/>
          </a:p>
        </p:txBody>
      </p:sp>
      <p:sp>
        <p:nvSpPr>
          <p:cNvPr id="729" name=""/>
          <p:cNvSpPr/>
          <p:nvPr/>
        </p:nvSpPr>
        <p:spPr>
          <a:xfrm rot="0" flipH="0" flipV="0">
            <a:off x="685800" y="4124325"/>
            <a:ext cx="3143250" cy="104775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30" name="" descr="{&quot;isTemplate&quot;:true,&quot;type&quot;:&quot;text&quot;}"/>
          <p:cNvSpPr txBox="1"/>
          <p:nvPr/>
        </p:nvSpPr>
        <p:spPr>
          <a:xfrm rot="0" flipH="0" flipV="0">
            <a:off x="838200" y="4276725"/>
            <a:ext cx="28384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64748B"/>
                </a:solidFill>
                <a:latin typeface="PingFang SC"/>
                <a:ea typeface="PingFang SC"/>
              </a:rPr>
              <a:t>班型</a:t>
            </a:r>
            <a:endParaRPr/>
          </a:p>
        </p:txBody>
      </p:sp>
      <p:sp>
        <p:nvSpPr>
          <p:cNvPr id="731" name="" descr="{&quot;isTemplate&quot;:true,&quot;type&quot;:&quot;text&quot;}"/>
          <p:cNvSpPr txBox="1"/>
          <p:nvPr/>
        </p:nvSpPr>
        <p:spPr>
          <a:xfrm rot="0" flipH="0" flipV="0">
            <a:off x="838200" y="4505325"/>
            <a:ext cx="2838450" cy="5143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标准</a:t>
            </a:r>
            <a:r>
              <a:rPr lang="en-US" sz="1050">
                <a:solidFill>
                  <a:srgbClr val="43566B"/>
                </a:solidFill>
                <a:latin typeface="PingFang SC"/>
                <a:ea typeface="PingFang SC"/>
              </a:rPr>
              <a:t> 24h · 3 </a:t>
            </a: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天（推荐）</a:t>
            </a:r>
            <a:endParaRPr/>
          </a:p>
          <a:p>
            <a:pPr>
              <a:lnSpc>
                <a:spcPct val="160000"/>
              </a:lnSpc>
            </a:pP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紧凑</a:t>
            </a:r>
            <a:r>
              <a:rPr lang="en-US" sz="1050">
                <a:solidFill>
                  <a:srgbClr val="43566B"/>
                </a:solidFill>
                <a:latin typeface="PingFang SC"/>
                <a:ea typeface="PingFang SC"/>
              </a:rPr>
              <a:t> 12h / </a:t>
            </a: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岗位专精</a:t>
            </a:r>
            <a:r>
              <a:rPr lang="en-US" sz="1050">
                <a:solidFill>
                  <a:srgbClr val="43566B"/>
                </a:solidFill>
                <a:latin typeface="PingFang SC"/>
                <a:ea typeface="PingFang SC"/>
              </a:rPr>
              <a:t> 6h / </a:t>
            </a: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投标</a:t>
            </a:r>
            <a:r>
              <a:rPr lang="en-US" sz="1050">
                <a:solidFill>
                  <a:srgbClr val="43566B"/>
                </a:solidFill>
                <a:latin typeface="PingFang SC"/>
                <a:ea typeface="PingFang SC"/>
              </a:rPr>
              <a:t> 2h</a:t>
            </a:r>
            <a:endParaRPr/>
          </a:p>
        </p:txBody>
      </p:sp>
      <p:sp>
        <p:nvSpPr>
          <p:cNvPr id="732" name="" descr="{&quot;isTemplate&quot;:true,&quot;type&quot;:&quot;text&quot;}"/>
          <p:cNvSpPr txBox="1"/>
          <p:nvPr/>
        </p:nvSpPr>
        <p:spPr>
          <a:xfrm rot="0" flipH="0" flipV="0">
            <a:off x="4057650" y="1238250"/>
            <a:ext cx="7448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3A8A"/>
                </a:solidFill>
                <a:latin typeface="PingFang SC"/>
                <a:ea typeface="PingFang SC"/>
              </a:rPr>
              <a:t>与初级的三个跃迁</a:t>
            </a:r>
            <a:endParaRPr/>
          </a:p>
        </p:txBody>
      </p:sp>
      <p:sp>
        <p:nvSpPr>
          <p:cNvPr id="733" name=""/>
          <p:cNvSpPr/>
          <p:nvPr/>
        </p:nvSpPr>
        <p:spPr>
          <a:xfrm rot="0" flipH="0" flipV="0">
            <a:off x="4057650" y="1552575"/>
            <a:ext cx="7448550" cy="146685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>
              <a:srgbClr val="1E3A8A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734" name=""/>
          <p:cNvSpPr/>
          <p:nvPr/>
        </p:nvSpPr>
        <p:spPr>
          <a:xfrm rot="0" flipH="0" flipV="0">
            <a:off x="4267200" y="205740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E0F7FA"/>
          </a:solidFill>
          <a:ln/>
        </p:spPr>
        <p:txBody>
          <a:bodyPr/>
          <a:p/>
        </p:txBody>
      </p:sp>
      <p:pic>
        <p:nvPicPr>
          <p:cNvPr id="73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381500" y="2171700"/>
            <a:ext cx="228600" cy="228600"/>
          </a:xfrm>
          <a:prstGeom prst="rect">
            <a:avLst/>
          </a:prstGeom>
          <a:ln/>
        </p:spPr>
      </p:pic>
      <p:sp>
        <p:nvSpPr>
          <p:cNvPr id="736" name="" descr="{&quot;isTemplate&quot;:true,&quot;type&quot;:&quot;text&quot;}"/>
          <p:cNvSpPr txBox="1"/>
          <p:nvPr/>
        </p:nvSpPr>
        <p:spPr>
          <a:xfrm rot="0" flipH="0" flipV="0">
            <a:off x="4876800" y="2105025"/>
            <a:ext cx="1428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PingFang SC"/>
                <a:ea typeface="PingFang SC"/>
              </a:rPr>
              <a:t>初级</a:t>
            </a:r>
            <a:endParaRPr/>
          </a:p>
        </p:txBody>
      </p:sp>
      <p:sp>
        <p:nvSpPr>
          <p:cNvPr id="737" name="" descr="{&quot;isTemplate&quot;:true,&quot;type&quot;:&quot;text&quot;}"/>
          <p:cNvSpPr txBox="1"/>
          <p:nvPr/>
        </p:nvSpPr>
        <p:spPr>
          <a:xfrm rot="0" flipH="0" flipV="0">
            <a:off x="4876800" y="2276475"/>
            <a:ext cx="1428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64748B"/>
                </a:solidFill>
                <a:latin typeface="PingFang SC"/>
                <a:ea typeface="PingFang SC"/>
              </a:rPr>
              <a:t>建</a:t>
            </a:r>
            <a:r>
              <a:rPr lang="en-US" sz="1275" b="1">
                <a:solidFill>
                  <a:srgbClr val="64748B"/>
                </a:solidFill>
                <a:latin typeface="PingFang SC"/>
                <a:ea typeface="PingFang SC"/>
              </a:rPr>
              <a:t> AI </a:t>
            </a:r>
            <a:r>
              <a:rPr lang="zh-CN" sz="1275" b="1">
                <a:solidFill>
                  <a:srgbClr val="64748B"/>
                </a:solidFill>
                <a:latin typeface="PingFang SC"/>
                <a:ea typeface="PingFang SC"/>
              </a:rPr>
              <a:t>认知</a:t>
            </a:r>
            <a:endParaRPr/>
          </a:p>
        </p:txBody>
      </p:sp>
      <p:pic>
        <p:nvPicPr>
          <p:cNvPr id="73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457950" y="2181225"/>
            <a:ext cx="209550" cy="209550"/>
          </a:xfrm>
          <a:prstGeom prst="rect">
            <a:avLst/>
          </a:prstGeom>
          <a:ln/>
        </p:spPr>
      </p:pic>
      <p:sp>
        <p:nvSpPr>
          <p:cNvPr id="739" name="" descr="{&quot;isTemplate&quot;:true,&quot;type&quot;:&quot;text&quot;}"/>
          <p:cNvSpPr txBox="1"/>
          <p:nvPr/>
        </p:nvSpPr>
        <p:spPr>
          <a:xfrm rot="0" flipH="0" flipV="0">
            <a:off x="6819900" y="2000250"/>
            <a:ext cx="4476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891B2"/>
                </a:solidFill>
                <a:latin typeface="PingFang SC"/>
                <a:ea typeface="PingFang SC"/>
              </a:rPr>
              <a:t>中级</a:t>
            </a:r>
            <a:endParaRPr/>
          </a:p>
        </p:txBody>
      </p:sp>
      <p:sp>
        <p:nvSpPr>
          <p:cNvPr id="740" name="" descr="{&quot;isTemplate&quot;:true,&quot;type&quot;:&quot;text&quot;}"/>
          <p:cNvSpPr txBox="1"/>
          <p:nvPr/>
        </p:nvSpPr>
        <p:spPr>
          <a:xfrm rot="0" flipH="0" flipV="0">
            <a:off x="6819900" y="2171700"/>
            <a:ext cx="4476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3A8A"/>
                </a:solidFill>
                <a:latin typeface="PingFang SC"/>
                <a:ea typeface="PingFang SC"/>
              </a:rPr>
              <a:t>找对场景</a:t>
            </a:r>
            <a:endParaRPr/>
          </a:p>
        </p:txBody>
      </p:sp>
      <p:sp>
        <p:nvSpPr>
          <p:cNvPr id="741" name="" descr="{&quot;isTemplate&quot;:true,&quot;type&quot;:&quot;text&quot;}"/>
          <p:cNvSpPr txBox="1"/>
          <p:nvPr/>
        </p:nvSpPr>
        <p:spPr>
          <a:xfrm rot="0" flipH="0" flipV="0">
            <a:off x="6819900" y="2428875"/>
            <a:ext cx="4476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PingFang SC"/>
                <a:ea typeface="PingFang SC"/>
              </a:rPr>
              <a:t>从「知道有</a:t>
            </a:r>
            <a:r>
              <a:rPr lang="en-US" sz="975">
                <a:solidFill>
                  <a:srgbClr val="64748B"/>
                </a:solidFill>
                <a:latin typeface="PingFang SC"/>
                <a:ea typeface="PingFang SC"/>
              </a:rPr>
              <a:t> AI</a:t>
            </a:r>
            <a:r>
              <a:rPr lang="zh-CN" sz="975">
                <a:solidFill>
                  <a:srgbClr val="64748B"/>
                </a:solidFill>
                <a:latin typeface="PingFang SC"/>
                <a:ea typeface="PingFang SC"/>
              </a:rPr>
              <a:t>」到「机会画布打分」</a:t>
            </a:r>
            <a:endParaRPr/>
          </a:p>
        </p:txBody>
      </p:sp>
      <p:sp>
        <p:nvSpPr>
          <p:cNvPr id="742" name=""/>
          <p:cNvSpPr/>
          <p:nvPr/>
        </p:nvSpPr>
        <p:spPr>
          <a:xfrm rot="0" flipH="0" flipV="0">
            <a:off x="4057650" y="3133725"/>
            <a:ext cx="7448550" cy="1457325"/>
          </a:xfrm>
          <a:prstGeom prst="roundRect">
            <a:avLst>
              <a:gd name="adj" fmla="val 91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>
              <a:srgbClr val="1E3A8A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743" name=""/>
          <p:cNvSpPr/>
          <p:nvPr/>
        </p:nvSpPr>
        <p:spPr>
          <a:xfrm rot="0" flipH="0" flipV="0">
            <a:off x="4267200" y="363855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E0F7FA"/>
          </a:solidFill>
          <a:ln/>
        </p:spPr>
        <p:txBody>
          <a:bodyPr/>
          <a:p/>
        </p:txBody>
      </p:sp>
      <p:pic>
        <p:nvPicPr>
          <p:cNvPr id="74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4381500" y="3752850"/>
            <a:ext cx="228600" cy="228600"/>
          </a:xfrm>
          <a:prstGeom prst="rect">
            <a:avLst/>
          </a:prstGeom>
          <a:ln/>
        </p:spPr>
      </p:pic>
      <p:sp>
        <p:nvSpPr>
          <p:cNvPr id="745" name="" descr="{&quot;isTemplate&quot;:true,&quot;type&quot;:&quot;text&quot;}"/>
          <p:cNvSpPr txBox="1"/>
          <p:nvPr/>
        </p:nvSpPr>
        <p:spPr>
          <a:xfrm rot="0" flipH="0" flipV="0">
            <a:off x="4876800" y="3676650"/>
            <a:ext cx="1428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PingFang SC"/>
                <a:ea typeface="PingFang SC"/>
              </a:rPr>
              <a:t>初级</a:t>
            </a:r>
            <a:endParaRPr/>
          </a:p>
        </p:txBody>
      </p:sp>
      <p:sp>
        <p:nvSpPr>
          <p:cNvPr id="746" name="" descr="{&quot;isTemplate&quot;:true,&quot;type&quot;:&quot;text&quot;}"/>
          <p:cNvSpPr txBox="1"/>
          <p:nvPr/>
        </p:nvSpPr>
        <p:spPr>
          <a:xfrm rot="0" flipH="0" flipV="0">
            <a:off x="4876800" y="3848100"/>
            <a:ext cx="1428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64748B"/>
                </a:solidFill>
                <a:latin typeface="PingFang SC"/>
                <a:ea typeface="PingFang SC"/>
              </a:rPr>
              <a:t>岗位会用</a:t>
            </a:r>
            <a:r>
              <a:rPr lang="en-US" sz="1275" b="1">
                <a:solidFill>
                  <a:srgbClr val="64748B"/>
                </a:solidFill>
                <a:latin typeface="PingFang SC"/>
                <a:ea typeface="PingFang SC"/>
              </a:rPr>
              <a:t> AI</a:t>
            </a:r>
            <a:endParaRPr/>
          </a:p>
        </p:txBody>
      </p:sp>
      <p:pic>
        <p:nvPicPr>
          <p:cNvPr id="74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457950" y="3762375"/>
            <a:ext cx="209550" cy="209550"/>
          </a:xfrm>
          <a:prstGeom prst="rect">
            <a:avLst/>
          </a:prstGeom>
          <a:ln/>
        </p:spPr>
      </p:pic>
      <p:sp>
        <p:nvSpPr>
          <p:cNvPr id="748" name="" descr="{&quot;isTemplate&quot;:true,&quot;type&quot;:&quot;text&quot;}"/>
          <p:cNvSpPr txBox="1"/>
          <p:nvPr/>
        </p:nvSpPr>
        <p:spPr>
          <a:xfrm rot="0" flipH="0" flipV="0">
            <a:off x="6819900" y="3571875"/>
            <a:ext cx="4476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891B2"/>
                </a:solidFill>
                <a:latin typeface="PingFang SC"/>
                <a:ea typeface="PingFang SC"/>
              </a:rPr>
              <a:t>中级</a:t>
            </a:r>
            <a:endParaRPr/>
          </a:p>
        </p:txBody>
      </p:sp>
      <p:sp>
        <p:nvSpPr>
          <p:cNvPr id="749" name="" descr="{&quot;isTemplate&quot;:true,&quot;type&quot;:&quot;text&quot;}"/>
          <p:cNvSpPr txBox="1"/>
          <p:nvPr/>
        </p:nvSpPr>
        <p:spPr>
          <a:xfrm rot="0" flipH="0" flipV="0">
            <a:off x="6819900" y="3743325"/>
            <a:ext cx="4476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3A8A"/>
                </a:solidFill>
                <a:latin typeface="PingFang SC"/>
                <a:ea typeface="PingFang SC"/>
              </a:rPr>
              <a:t>做成试点</a:t>
            </a:r>
            <a:endParaRPr/>
          </a:p>
        </p:txBody>
      </p:sp>
      <p:sp>
        <p:nvSpPr>
          <p:cNvPr id="750" name="" descr="{&quot;isTemplate&quot;:true,&quot;type&quot;:&quot;text&quot;}"/>
          <p:cNvSpPr txBox="1"/>
          <p:nvPr/>
        </p:nvSpPr>
        <p:spPr>
          <a:xfrm rot="0" flipH="0" flipV="0">
            <a:off x="6819900" y="4000500"/>
            <a:ext cx="4476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PingFang SC"/>
                <a:ea typeface="PingFang SC"/>
              </a:rPr>
              <a:t>从「会提问」到「六件套落地」</a:t>
            </a:r>
            <a:endParaRPr/>
          </a:p>
        </p:txBody>
      </p:sp>
      <p:sp>
        <p:nvSpPr>
          <p:cNvPr id="751" name=""/>
          <p:cNvSpPr/>
          <p:nvPr/>
        </p:nvSpPr>
        <p:spPr>
          <a:xfrm rot="0" flipH="0" flipV="0">
            <a:off x="4057650" y="4705350"/>
            <a:ext cx="7448550" cy="146685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>
              <a:srgbClr val="1E3A8A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752" name=""/>
          <p:cNvSpPr/>
          <p:nvPr/>
        </p:nvSpPr>
        <p:spPr>
          <a:xfrm rot="0" flipH="0" flipV="0">
            <a:off x="4267200" y="5210175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E0F7FA"/>
          </a:solidFill>
          <a:ln/>
        </p:spPr>
        <p:txBody>
          <a:bodyPr/>
          <a:p/>
        </p:txBody>
      </p:sp>
      <p:pic>
        <p:nvPicPr>
          <p:cNvPr id="75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4381500" y="5324475"/>
            <a:ext cx="228600" cy="228600"/>
          </a:xfrm>
          <a:prstGeom prst="rect">
            <a:avLst/>
          </a:prstGeom>
          <a:ln/>
        </p:spPr>
      </p:pic>
      <p:sp>
        <p:nvSpPr>
          <p:cNvPr id="754" name="" descr="{&quot;isTemplate&quot;:true,&quot;type&quot;:&quot;text&quot;}"/>
          <p:cNvSpPr txBox="1"/>
          <p:nvPr/>
        </p:nvSpPr>
        <p:spPr>
          <a:xfrm rot="0" flipH="0" flipV="0">
            <a:off x="4876800" y="5257800"/>
            <a:ext cx="1428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PingFang SC"/>
                <a:ea typeface="PingFang SC"/>
              </a:rPr>
              <a:t>初级</a:t>
            </a:r>
            <a:endParaRPr/>
          </a:p>
        </p:txBody>
      </p:sp>
      <p:sp>
        <p:nvSpPr>
          <p:cNvPr id="755" name="" descr="{&quot;isTemplate&quot;:true,&quot;type&quot;:&quot;text&quot;}"/>
          <p:cNvSpPr txBox="1"/>
          <p:nvPr/>
        </p:nvSpPr>
        <p:spPr>
          <a:xfrm rot="0" flipH="0" flipV="0">
            <a:off x="4876800" y="5429250"/>
            <a:ext cx="1428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64748B"/>
                </a:solidFill>
                <a:latin typeface="PingFang SC"/>
                <a:ea typeface="PingFang SC"/>
              </a:rPr>
              <a:t>自查与改进</a:t>
            </a:r>
            <a:endParaRPr/>
          </a:p>
        </p:txBody>
      </p:sp>
      <p:pic>
        <p:nvPicPr>
          <p:cNvPr id="75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457950" y="5334000"/>
            <a:ext cx="209550" cy="209550"/>
          </a:xfrm>
          <a:prstGeom prst="rect">
            <a:avLst/>
          </a:prstGeom>
          <a:ln/>
        </p:spPr>
      </p:pic>
      <p:sp>
        <p:nvSpPr>
          <p:cNvPr id="757" name="" descr="{&quot;isTemplate&quot;:true,&quot;type&quot;:&quot;text&quot;}"/>
          <p:cNvSpPr txBox="1"/>
          <p:nvPr/>
        </p:nvSpPr>
        <p:spPr>
          <a:xfrm rot="0" flipH="0" flipV="0">
            <a:off x="6819900" y="5153025"/>
            <a:ext cx="4476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891B2"/>
                </a:solidFill>
                <a:latin typeface="PingFang SC"/>
                <a:ea typeface="PingFang SC"/>
              </a:rPr>
              <a:t>中级</a:t>
            </a:r>
            <a:endParaRPr/>
          </a:p>
        </p:txBody>
      </p:sp>
      <p:sp>
        <p:nvSpPr>
          <p:cNvPr id="758" name="" descr="{&quot;isTemplate&quot;:true,&quot;type&quot;:&quot;text&quot;}"/>
          <p:cNvSpPr txBox="1"/>
          <p:nvPr/>
        </p:nvSpPr>
        <p:spPr>
          <a:xfrm rot="0" flipH="0" flipV="0">
            <a:off x="6819900" y="5324475"/>
            <a:ext cx="4476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3A8A"/>
                </a:solidFill>
                <a:latin typeface="PingFang SC"/>
                <a:ea typeface="PingFang SC"/>
              </a:rPr>
              <a:t>写申报书</a:t>
            </a:r>
            <a:endParaRPr/>
          </a:p>
        </p:txBody>
      </p:sp>
      <p:sp>
        <p:nvSpPr>
          <p:cNvPr id="759" name="" descr="{&quot;isTemplate&quot;:true,&quot;type&quot;:&quot;text&quot;}"/>
          <p:cNvSpPr txBox="1"/>
          <p:nvPr/>
        </p:nvSpPr>
        <p:spPr>
          <a:xfrm rot="0" flipH="0" flipV="0">
            <a:off x="6819900" y="5581650"/>
            <a:ext cx="4476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PingFang SC"/>
                <a:ea typeface="PingFang SC"/>
              </a:rPr>
              <a:t>从「个人提升」到「项目立项</a:t>
            </a:r>
            <a:r>
              <a:rPr lang="en-US" sz="975">
                <a:solidFill>
                  <a:srgbClr val="64748B"/>
                </a:solidFill>
                <a:latin typeface="PingFang SC"/>
                <a:ea typeface="PingFang SC"/>
              </a:rPr>
              <a:t> + </a:t>
            </a:r>
            <a:r>
              <a:rPr lang="zh-CN" sz="975">
                <a:solidFill>
                  <a:srgbClr val="64748B"/>
                </a:solidFill>
                <a:latin typeface="PingFang SC"/>
                <a:ea typeface="PingFang SC"/>
              </a:rPr>
              <a:t>补贴」</a:t>
            </a:r>
            <a:endParaRPr/>
          </a:p>
        </p:txBody>
      </p:sp>
      <p:sp>
        <p:nvSpPr>
          <p:cNvPr id="760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1123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AI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场景落地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中级</a:t>
            </a:r>
            <a:endParaRPr/>
          </a:p>
        </p:txBody>
      </p:sp>
      <p:sp>
        <p:nvSpPr>
          <p:cNvPr id="761" name="" descr="{&quot;isTemplate&quot;:true,&quot;type&quot;:&quot;text&quot;}"/>
          <p:cNvSpPr txBox="1"/>
          <p:nvPr/>
        </p:nvSpPr>
        <p:spPr>
          <a:xfrm rot="0" flipH="0" flipV="0">
            <a:off x="11029950" y="63627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03 / 34</a:t>
            </a:r>
            <a:endParaRPr/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15" name="" descr="&lt;Slide style={{ width: '1280px', height: '720px', position: 'relative', background: '#1E3A8A', overflow: 'hidden', fontFamily: 'PingFang SC, Source Han Sans SC, sans-serif' }}&gt;&#10;    &lt;Box style={{ position: 'absolute', top: 0, right: 0, width: 500, height: '720px' }}&gt;&#10;        &lt;Image src=&quot;assets/hero_cover.png&quot; style={{ width: '500px', height: '720px', objectFit: 'cover', opacity: 0.5 }} /&gt;&#10;        &lt;Box style={{ position: 'absolute', top: 0, left: 0, width: '500px', height: '720px', background: 'linear-gradient(90deg, rgba(30,58,138,1) 0%, rgba(30,58,138,0.15) 100%)' }} /&gt;&#10;    &lt;/Box&gt;&#10;    &lt;Box style={{ position: 'relative', zIndex: 1, height: '720px', padding: '0 84px', justifyContent: 'center' }}&gt;&#10;        &lt;Text style={{ fontSize: 130, fontWeight: 'bold', color: 'rgba(6,182,212,0.5)', lineHeight: 1, fontFamily: 'Space Grotesk, Inter' }}&gt;01&lt;/Text&gt;&#10;        &lt;Text style={{ fontSize: 18, color: '#7FD9F0', letterSpacing: 5, marginTop: 6 }}&gt;M1 · 3 课时&lt;/Text&gt;&#10;        &lt;Text style={{ fontSize: 54, fontWeight: 'bold', color: '#FFFFFF', marginTop: 20, lineHeight: 1.18 }}&gt;机会地图&lt;br /&gt;先找对问题，再谈 AI&lt;/Text&gt;&#10;        &lt;Box style={{ width: 84, height: 4, background: '#06B6D4', marginTop: 30 }} /&gt;&#10;        &lt;Text style={{ fontSize: 19, color: '#A9C4E8', marginTop: 22, lineHeight: 1.6 }}&gt;政策指挥棒 · 技术演进四阶 · 五种补位 · DOWNTIME 八大浪费&lt;br /&gt;用机会画布六维打分，把「感觉有价值」变成「证据有价值」。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p/>
        </p:txBody>
      </p:sp>
      <p:pic>
        <p:nvPicPr>
          <p:cNvPr id="917" name=""/>
          <p:cNvPicPr>
            <a:picLocks noChangeAspect="1"/>
          </p:cNvPicPr>
          <p:nvPr/>
        </p:nvPicPr>
        <p:blipFill>
          <a:blip r:embed="rId1">
            <a:alphaModFix amt="50000"/>
          </a:blip>
          <a:srcRect l="26242" t="0" r="26242" b="0"/>
          <a:stretch>
            <a:fillRect/>
          </a:stretch>
        </p:blipFill>
        <p:spPr>
          <a:xfrm rot="0" flipH="0" flipV="0">
            <a:off x="7429500" y="0"/>
            <a:ext cx="4762500" cy="6858000"/>
          </a:xfrm>
          <a:prstGeom prst="rect">
            <a:avLst/>
          </a:prstGeom>
          <a:ln/>
        </p:spPr>
      </p:pic>
      <p:sp>
        <p:nvSpPr>
          <p:cNvPr id="918" name=""/>
          <p:cNvSpPr/>
          <p:nvPr/>
        </p:nvSpPr>
        <p:spPr>
          <a:xfrm rot="0" flipH="0" flipV="0">
            <a:off x="7429500" y="0"/>
            <a:ext cx="4762500" cy="6858000"/>
          </a:xfrm>
          <a:prstGeom prst="rect">
            <a:avLst/>
          </a:prstGeom>
          <a:gradFill>
            <a:gsLst>
              <a:gs pos="0">
                <a:srgbClr val="1E3A8A">
                  <a:alpha val="100000"/>
                </a:srgbClr>
              </a:gs>
              <a:gs pos="100000">
                <a:srgbClr val="1E3A8A">
                  <a:alpha val="1500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919" name="" descr="{&quot;isTemplate&quot;:true,&quot;type&quot;:&quot;text&quot;}"/>
          <p:cNvSpPr txBox="1"/>
          <p:nvPr/>
        </p:nvSpPr>
        <p:spPr>
          <a:xfrm rot="0" flipH="0" flipV="0">
            <a:off x="800100" y="1114425"/>
            <a:ext cx="10591800" cy="1485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0" b="1">
                <a:solidFill>
                  <a:srgbClr val="06B6D4">
                    <a:alpha val="50000"/>
                  </a:srgbClr>
                </a:solidFill>
                <a:latin typeface="Space Grotesk"/>
                <a:ea typeface="Space Grotesk"/>
              </a:rPr>
              <a:t>01</a:t>
            </a:r>
            <a:endParaRPr/>
          </a:p>
        </p:txBody>
      </p:sp>
      <p:sp>
        <p:nvSpPr>
          <p:cNvPr id="920" name="" descr="{&quot;isTemplate&quot;:true,&quot;type&quot;:&quot;text&quot;}"/>
          <p:cNvSpPr txBox="1"/>
          <p:nvPr/>
        </p:nvSpPr>
        <p:spPr>
          <a:xfrm rot="0" flipH="0" flipV="0">
            <a:off x="800100" y="2657475"/>
            <a:ext cx="10591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spc="375">
                <a:solidFill>
                  <a:srgbClr val="7FD9F0"/>
                </a:solidFill>
                <a:latin typeface="PingFang SC"/>
                <a:ea typeface="PingFang SC"/>
              </a:rPr>
              <a:t>M1 · 3 </a:t>
            </a:r>
            <a:r>
              <a:rPr lang="zh-CN" sz="1350" spc="375">
                <a:solidFill>
                  <a:srgbClr val="7FD9F0"/>
                </a:solidFill>
                <a:latin typeface="PingFang SC"/>
                <a:ea typeface="PingFang SC"/>
              </a:rPr>
              <a:t>课时</a:t>
            </a:r>
            <a:endParaRPr/>
          </a:p>
        </p:txBody>
      </p:sp>
      <p:sp>
        <p:nvSpPr>
          <p:cNvPr id="921" name="" descr="{&quot;isTemplate&quot;:true,&quot;type&quot;:&quot;text&quot;}"/>
          <p:cNvSpPr txBox="1"/>
          <p:nvPr/>
        </p:nvSpPr>
        <p:spPr>
          <a:xfrm rot="0" flipH="0" flipV="0">
            <a:off x="800100" y="3057525"/>
            <a:ext cx="10591800" cy="1457325"/>
          </a:xfrm>
          <a:prstGeom prst="rect"/>
        </p:spPr>
        <p:txBody>
          <a:bodyPr wrap="none" lIns="0" tIns="0" rIns="0" bIns="0"/>
          <a:p>
            <a:pPr>
              <a:lnSpc>
                <a:spcPct val="118000"/>
              </a:lnSpc>
            </a:pPr>
            <a:r>
              <a:rPr lang="zh-CN" sz="4050" b="1">
                <a:solidFill>
                  <a:srgbClr val="FFFFFF"/>
                </a:solidFill>
                <a:latin typeface="PingFang SC"/>
                <a:ea typeface="PingFang SC"/>
              </a:rPr>
              <a:t>机会地图</a:t>
            </a:r>
            <a:endParaRPr/>
          </a:p>
          <a:p>
            <a:pPr>
              <a:lnSpc>
                <a:spcPct val="118000"/>
              </a:lnSpc>
            </a:pPr>
            <a:r>
              <a:rPr lang="zh-CN" sz="4050" b="1">
                <a:solidFill>
                  <a:srgbClr val="FFFFFF"/>
                </a:solidFill>
                <a:latin typeface="PingFang SC"/>
                <a:ea typeface="PingFang SC"/>
              </a:rPr>
              <a:t>先找对问题，再谈</a:t>
            </a:r>
            <a:r>
              <a:rPr lang="en-US" sz="4050" b="1">
                <a:solidFill>
                  <a:srgbClr val="FFFFFF"/>
                </a:solidFill>
                <a:latin typeface="PingFang SC"/>
                <a:ea typeface="PingFang SC"/>
              </a:rPr>
              <a:t> AI</a:t>
            </a:r>
            <a:endParaRPr/>
          </a:p>
        </p:txBody>
      </p:sp>
      <p:sp>
        <p:nvSpPr>
          <p:cNvPr id="922" name=""/>
          <p:cNvSpPr/>
          <p:nvPr/>
        </p:nvSpPr>
        <p:spPr>
          <a:xfrm rot="0" flipH="0" flipV="0">
            <a:off x="800100" y="4800600"/>
            <a:ext cx="800100" cy="381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923" name="" descr="{&quot;isTemplate&quot;:true,&quot;type&quot;:&quot;text&quot;}"/>
          <p:cNvSpPr txBox="1"/>
          <p:nvPr/>
        </p:nvSpPr>
        <p:spPr>
          <a:xfrm rot="0" flipH="0" flipV="0">
            <a:off x="800100" y="5048250"/>
            <a:ext cx="10591800" cy="695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A9C4E8"/>
                </a:solidFill>
                <a:latin typeface="PingFang SC"/>
                <a:ea typeface="PingFang SC"/>
              </a:rPr>
              <a:t>政策指挥棒</a:t>
            </a:r>
            <a:r>
              <a:rPr lang="en-US" sz="1425">
                <a:solidFill>
                  <a:srgbClr val="A9C4E8"/>
                </a:solidFill>
                <a:latin typeface="PingFang SC"/>
                <a:ea typeface="PingFang SC"/>
              </a:rPr>
              <a:t> · </a:t>
            </a:r>
            <a:r>
              <a:rPr lang="zh-CN" sz="1425">
                <a:solidFill>
                  <a:srgbClr val="A9C4E8"/>
                </a:solidFill>
                <a:latin typeface="PingFang SC"/>
                <a:ea typeface="PingFang SC"/>
              </a:rPr>
              <a:t>技术演进四阶</a:t>
            </a:r>
            <a:r>
              <a:rPr lang="en-US" sz="1425">
                <a:solidFill>
                  <a:srgbClr val="A9C4E8"/>
                </a:solidFill>
                <a:latin typeface="PingFang SC"/>
                <a:ea typeface="PingFang SC"/>
              </a:rPr>
              <a:t> · </a:t>
            </a:r>
            <a:r>
              <a:rPr lang="zh-CN" sz="1425">
                <a:solidFill>
                  <a:srgbClr val="A9C4E8"/>
                </a:solidFill>
                <a:latin typeface="PingFang SC"/>
                <a:ea typeface="PingFang SC"/>
              </a:rPr>
              <a:t>五种补位</a:t>
            </a:r>
            <a:r>
              <a:rPr lang="en-US" sz="1425">
                <a:solidFill>
                  <a:srgbClr val="A9C4E8"/>
                </a:solidFill>
                <a:latin typeface="PingFang SC"/>
                <a:ea typeface="PingFang SC"/>
              </a:rPr>
              <a:t> · 低效 </a:t>
            </a:r>
            <a:r>
              <a:rPr lang="zh-CN" sz="1425">
                <a:solidFill>
                  <a:srgbClr val="A9C4E8"/>
                </a:solidFill>
                <a:latin typeface="PingFang SC"/>
                <a:ea typeface="PingFang SC"/>
              </a:rPr>
              <a:t>八大浪费</a:t>
            </a:r>
            <a:endParaRPr/>
          </a:p>
          <a:p>
            <a:pPr>
              <a:lnSpc>
                <a:spcPct val="160000"/>
              </a:lnSpc>
            </a:pPr>
            <a:r>
              <a:rPr lang="zh-CN" sz="1425">
                <a:solidFill>
                  <a:srgbClr val="A9C4E8"/>
                </a:solidFill>
                <a:latin typeface="PingFang SC"/>
                <a:ea typeface="PingFang SC"/>
              </a:rPr>
              <a:t>用机会画布六维打分，把「感觉有价值」变成「证据有价值」。</a:t>
            </a:r>
            <a:endParaRPr/>
          </a:p>
        </p:txBody>
      </p:sp>
    </p:spTree>
  </p:cSld>
</p:sld>
</file>

<file path=ppt/slides/slide5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924" name="" descr="const reqs = [&#10;    { icon: 'bullseye', t: '场景牵引，以用促研', d: 'AI 从场景出发，不从技术出发；用起来，才能带出真需求。' },&#10;    { icon: 'robot', t: '工业智能体培育', d: '2027 年前培育约 1000 个工业智能体、500 个应用场景。' },&#10;    { icon: 'industry', t: '标杆试点培育', d: '培育约 1000 家标杆试点企业，可申报、可复制、可推广。' },&#10;    { icon: 'shield-alt', t: '安全可信', d: '数据与算法分类分级管理，安全可信前提下部署推广。' },&#10;];&#10;&lt;Slide style={{ width: '1280px', height: '720px', background: '#F5F8FC', padding: '24px 72px', boxSizing: 'border-box', flexDirection: 'column', fontFamily: 'PingFang SC, Source Han Sans SC, sans-serif' }}&gt;&#10;    &lt;Box style={{ height: 96, flexDirection: 'row', alignItems: 'center', gap: 16 }}&gt;&#10;        &lt;Box style={{ width: 5, height: 46, background: '#06B6D4', borderRadius: 3 }} /&gt;&#10;        &lt;Box&gt;&#10;            &lt;Text style={{ fontSize: 34, fontWeight: 'bold', color: '#1E3A8A', lineHeight: 1.2 }}&gt;政策指挥棒：279 号文四类要求&lt;/Text&gt;&#10;            &lt;Text style={{ fontSize: 17, color: '#64748B', marginTop: 4 }}&gt;国家把「怎么干」写清楚了 —— 你的立项书就该照着写&lt;/Text&gt;&#10;        &lt;/Box&gt;&#10;    &lt;/Box&gt;&#10;    &lt;Box style={{ flex: 1, flexDirection: 'row', gap: 20, marginTop: 18 }}&gt;&#10;        {reqs.map((r, i) =&gt; (&#10;            &lt;Box key={i} style={{ flex: 1, background: '#FFFFFF', borderRadius: 16, padding: 24, border: '1px solid #E2E8F0', boxShadow: '0 4px 16px rgba(30,58,138,0.06)', flexDirection: 'column' }}&gt;&#10;                &lt;Box style={{ width: 62, height: 62, borderRadius: 16, background: i === 2 ? '#FEEFE0' : '#E0F7FA', justifyContent: 'center', alignItems: 'center', marginBottom: 16 }}&gt;&#10;                    &lt;FAIcon name={r.icon} style={{ fill: i === 2 ? '#F59E0B' : '#0891B2', width: 32, height: 32 }} /&gt;&#10;                &lt;/Box&gt;&#10;                &lt;Text style={{ fontSize: 21, fontWeight: 'bold', color: '#1E3A8A', lineHeight: 1.3, marginBottom: 10 }}&gt;{r.t}&lt;/Text&gt;&#10;                &lt;Text style={{ fontSize: 15, color: '#43566b', lineHeight: 1.65, flex: 1 }}&gt;{r.d}&lt;/Text&gt;&#10;            &lt;/Box&gt;&#10;        ))}&#10;    &lt;/Box&gt;&#10;    &lt;Box style={{ marginTop: 18, padding: '14px 24px', background: '#1E3A8A', borderRadius: 12, flexDirection: 'row', alignItems: 'center', gap: 14 }}&gt;&#10;        &lt;FAIcon name=&quot;flag&quot; style={{ fill: '#F59E0B', width: 22, height: 22 }} /&gt;&#10;        &lt;Text style={{ fontSize: 19, fontWeight: 'bold', color: '#FFFFFF' }}&gt;政策指挥棒 = 你的项目立项书 —— 用政策的语言，写你厂里的场景。&lt;/Text&gt;&#10;    &lt;/Box&gt;&#10;    &lt;Box style={{ height: 40, flexDirection: 'row', justifyContent: 'space-between', alignItems: 'center', marginTop: 10 }}&gt;&#10;        &lt;Text style={{ fontSize: 14, color: '#64748B' }}&gt;AI 场景落地 · 中级&lt;/Text&gt;&#10;        &lt;Text style={{ fontSize: 14, color: '#64748B' }}&gt;05 / 34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/>
        </p:spPr>
        <p:txBody>
          <a:bodyPr/>
          <a:p/>
        </p:txBody>
      </p:sp>
      <p:sp>
        <p:nvSpPr>
          <p:cNvPr id="926" name=""/>
          <p:cNvSpPr/>
          <p:nvPr/>
        </p:nvSpPr>
        <p:spPr>
          <a:xfrm rot="0" flipH="0" flipV="0">
            <a:off x="685800" y="466725"/>
            <a:ext cx="47625" cy="438150"/>
          </a:xfrm>
          <a:prstGeom prst="roundRect">
            <a:avLst>
              <a:gd name="adj" fmla="val 60000"/>
            </a:avLst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927" name="" descr="{&quot;isTemplate&quot;:true,&quot;type&quot;:&quot;text&quot;}"/>
          <p:cNvSpPr txBox="1"/>
          <p:nvPr/>
        </p:nvSpPr>
        <p:spPr>
          <a:xfrm rot="0" flipH="0" flipV="0">
            <a:off x="885825" y="333375"/>
            <a:ext cx="4562475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>政策指挥棒："人工智能+"四类要求</a:t>
            </a:r>
            <a:r>
              <a:rPr lang="en-US" sz="2550" b="1">
                <a:solidFill>
                  <a:srgbClr val="1E3A8A"/>
                </a:solidFill>
                <a:latin typeface="PingFang SC"/>
                <a:ea typeface="PingFang SC"/>
              </a:rPr>
              <a:t/>
            </a: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/>
            </a:r>
            <a:endParaRPr/>
          </a:p>
        </p:txBody>
      </p:sp>
      <p:sp>
        <p:nvSpPr>
          <p:cNvPr id="928" name="" descr="{&quot;isTemplate&quot;:true,&quot;type&quot;:&quot;text&quot;}"/>
          <p:cNvSpPr txBox="1"/>
          <p:nvPr/>
        </p:nvSpPr>
        <p:spPr>
          <a:xfrm rot="0" flipH="0" flipV="0">
            <a:off x="885825" y="838200"/>
            <a:ext cx="45624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国家把「怎么干」写清楚了</a:t>
            </a:r>
            <a:r>
              <a:rPr lang="en-US" sz="1275">
                <a:solidFill>
                  <a:srgbClr val="64748B"/>
                </a:solidFill>
                <a:latin typeface="PingFang SC"/>
                <a:ea typeface="PingFang SC"/>
              </a:rPr>
              <a:t> —— </a:t>
            </a: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你的立项书就该照着写</a:t>
            </a:r>
            <a:endParaRPr/>
          </a:p>
        </p:txBody>
      </p:sp>
      <p:sp>
        <p:nvSpPr>
          <p:cNvPr id="929" name=""/>
          <p:cNvSpPr/>
          <p:nvPr/>
        </p:nvSpPr>
        <p:spPr>
          <a:xfrm rot="0" flipH="0" flipV="0">
            <a:off x="685800" y="1314450"/>
            <a:ext cx="2562225" cy="4181475"/>
          </a:xfrm>
          <a:prstGeom prst="roundRect">
            <a:avLst>
              <a:gd name="adj" fmla="val 59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>
              <a:srgbClr val="1E3A8A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930" name=""/>
          <p:cNvSpPr/>
          <p:nvPr/>
        </p:nvSpPr>
        <p:spPr>
          <a:xfrm rot="0" flipH="0" flipV="0">
            <a:off x="914400" y="1543050"/>
            <a:ext cx="590550" cy="590550"/>
          </a:xfrm>
          <a:prstGeom prst="roundRect">
            <a:avLst>
              <a:gd name="adj" fmla="val 25806"/>
            </a:avLst>
          </a:prstGeom>
          <a:solidFill>
            <a:srgbClr val="E0F7FA"/>
          </a:solidFill>
          <a:ln/>
        </p:spPr>
        <p:txBody>
          <a:bodyPr/>
          <a:p/>
        </p:txBody>
      </p:sp>
      <p:pic>
        <p:nvPicPr>
          <p:cNvPr id="93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057275" y="1685925"/>
            <a:ext cx="304800" cy="304800"/>
          </a:xfrm>
          <a:prstGeom prst="rect">
            <a:avLst/>
          </a:prstGeom>
          <a:ln/>
        </p:spPr>
      </p:pic>
      <p:sp>
        <p:nvSpPr>
          <p:cNvPr id="932" name="" descr="{&quot;isTemplate&quot;:true,&quot;type&quot;:&quot;text&quot;}"/>
          <p:cNvSpPr txBox="1"/>
          <p:nvPr/>
        </p:nvSpPr>
        <p:spPr>
          <a:xfrm rot="0" flipH="0" flipV="0">
            <a:off x="914400" y="2286000"/>
            <a:ext cx="2105025" cy="3143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75" b="1">
                <a:solidFill>
                  <a:srgbClr val="1E3A8A"/>
                </a:solidFill>
                <a:latin typeface="PingFang SC"/>
                <a:ea typeface="PingFang SC"/>
              </a:rPr>
              <a:t>场景牵引，以用促研</a:t>
            </a:r>
            <a:endParaRPr/>
          </a:p>
        </p:txBody>
      </p:sp>
      <p:sp>
        <p:nvSpPr>
          <p:cNvPr id="933" name="" descr="{&quot;isTemplate&quot;:true,&quot;type&quot;:&quot;text&quot;}"/>
          <p:cNvSpPr txBox="1"/>
          <p:nvPr/>
        </p:nvSpPr>
        <p:spPr>
          <a:xfrm rot="0" flipH="0" flipV="0">
            <a:off x="914400" y="2695575"/>
            <a:ext cx="2105025" cy="2571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1125">
                <a:solidFill>
                  <a:srgbClr val="43566B"/>
                </a:solidFill>
                <a:latin typeface="PingFang SC"/>
                <a:ea typeface="PingFang SC"/>
              </a:rPr>
              <a:t>AI </a:t>
            </a: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从场景出发，不从技术出发；用起来，才能带出真需求。</a:t>
            </a:r>
            <a:endParaRPr/>
          </a:p>
        </p:txBody>
      </p:sp>
      <p:sp>
        <p:nvSpPr>
          <p:cNvPr id="934" name=""/>
          <p:cNvSpPr/>
          <p:nvPr/>
        </p:nvSpPr>
        <p:spPr>
          <a:xfrm rot="0" flipH="0" flipV="0">
            <a:off x="3438525" y="1314450"/>
            <a:ext cx="2562225" cy="4181475"/>
          </a:xfrm>
          <a:prstGeom prst="roundRect">
            <a:avLst>
              <a:gd name="adj" fmla="val 59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>
              <a:srgbClr val="1E3A8A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935" name=""/>
          <p:cNvSpPr/>
          <p:nvPr/>
        </p:nvSpPr>
        <p:spPr>
          <a:xfrm rot="0" flipH="0" flipV="0">
            <a:off x="3667125" y="1543050"/>
            <a:ext cx="590550" cy="590550"/>
          </a:xfrm>
          <a:prstGeom prst="roundRect">
            <a:avLst>
              <a:gd name="adj" fmla="val 25806"/>
            </a:avLst>
          </a:prstGeom>
          <a:solidFill>
            <a:srgbClr val="E0F7FA"/>
          </a:solidFill>
          <a:ln/>
        </p:spPr>
        <p:txBody>
          <a:bodyPr/>
          <a:p/>
        </p:txBody>
      </p:sp>
      <p:pic>
        <p:nvPicPr>
          <p:cNvPr id="93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3810000" y="1685925"/>
            <a:ext cx="304800" cy="304800"/>
          </a:xfrm>
          <a:prstGeom prst="rect">
            <a:avLst/>
          </a:prstGeom>
          <a:ln/>
        </p:spPr>
      </p:pic>
      <p:sp>
        <p:nvSpPr>
          <p:cNvPr id="937" name="" descr="{&quot;isTemplate&quot;:true,&quot;type&quot;:&quot;text&quot;}"/>
          <p:cNvSpPr txBox="1"/>
          <p:nvPr/>
        </p:nvSpPr>
        <p:spPr>
          <a:xfrm rot="0" flipH="0" flipV="0">
            <a:off x="3667125" y="2286000"/>
            <a:ext cx="2105025" cy="3143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75" b="1">
                <a:solidFill>
                  <a:srgbClr val="1E3A8A"/>
                </a:solidFill>
                <a:latin typeface="PingFang SC"/>
                <a:ea typeface="PingFang SC"/>
              </a:rPr>
              <a:t>行业智能体培育</a:t>
            </a:r>
            <a:endParaRPr/>
          </a:p>
        </p:txBody>
      </p:sp>
      <p:sp>
        <p:nvSpPr>
          <p:cNvPr id="938" name="" descr="{&quot;isTemplate&quot;:true,&quot;type&quot;:&quot;text&quot;}"/>
          <p:cNvSpPr txBox="1"/>
          <p:nvPr/>
        </p:nvSpPr>
        <p:spPr>
          <a:xfrm rot="0" flipH="0" flipV="0">
            <a:off x="3667125" y="2695575"/>
            <a:ext cx="2105025" cy="2571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1125">
                <a:solidFill>
                  <a:srgbClr val="43566B"/>
                </a:solidFill>
                <a:latin typeface="PingFang SC"/>
                <a:ea typeface="PingFang SC"/>
              </a:rPr>
              <a:t>2027 </a:t>
            </a: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年前培育约</a:t>
            </a:r>
            <a:r>
              <a:rPr lang="en-US" sz="1125">
                <a:solidFill>
                  <a:srgbClr val="43566B"/>
                </a:solidFill>
                <a:latin typeface="PingFang SC"/>
                <a:ea typeface="PingFang SC"/>
              </a:rPr>
              <a:t> 1000 </a:t>
            </a: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个行业智能体、</a:t>
            </a:r>
            <a:r>
              <a:rPr lang="en-US" sz="1125">
                <a:solidFill>
                  <a:srgbClr val="43566B"/>
                </a:solidFill>
                <a:latin typeface="PingFang SC"/>
                <a:ea typeface="PingFang SC"/>
              </a:rPr>
              <a:t>500 </a:t>
            </a: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个应用场景。</a:t>
            </a:r>
            <a:endParaRPr/>
          </a:p>
        </p:txBody>
      </p:sp>
      <p:sp>
        <p:nvSpPr>
          <p:cNvPr id="939" name=""/>
          <p:cNvSpPr/>
          <p:nvPr/>
        </p:nvSpPr>
        <p:spPr>
          <a:xfrm rot="0" flipH="0" flipV="0">
            <a:off x="6191250" y="1314450"/>
            <a:ext cx="2562225" cy="4181475"/>
          </a:xfrm>
          <a:prstGeom prst="roundRect">
            <a:avLst>
              <a:gd name="adj" fmla="val 59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>
              <a:srgbClr val="1E3A8A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940" name=""/>
          <p:cNvSpPr/>
          <p:nvPr/>
        </p:nvSpPr>
        <p:spPr>
          <a:xfrm rot="0" flipH="0" flipV="0">
            <a:off x="6419850" y="1543050"/>
            <a:ext cx="590550" cy="590550"/>
          </a:xfrm>
          <a:prstGeom prst="roundRect">
            <a:avLst>
              <a:gd name="adj" fmla="val 25806"/>
            </a:avLst>
          </a:prstGeom>
          <a:solidFill>
            <a:srgbClr val="FEEFE0"/>
          </a:solidFill>
          <a:ln/>
        </p:spPr>
        <p:txBody>
          <a:bodyPr/>
          <a:p/>
        </p:txBody>
      </p:sp>
      <p:pic>
        <p:nvPicPr>
          <p:cNvPr id="94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6562725" y="1685925"/>
            <a:ext cx="304800" cy="304800"/>
          </a:xfrm>
          <a:prstGeom prst="rect">
            <a:avLst/>
          </a:prstGeom>
          <a:ln/>
        </p:spPr>
      </p:pic>
      <p:sp>
        <p:nvSpPr>
          <p:cNvPr id="942" name="" descr="{&quot;isTemplate&quot;:true,&quot;type&quot;:&quot;text&quot;}"/>
          <p:cNvSpPr txBox="1"/>
          <p:nvPr/>
        </p:nvSpPr>
        <p:spPr>
          <a:xfrm rot="0" flipH="0" flipV="0">
            <a:off x="6419850" y="2286000"/>
            <a:ext cx="2105025" cy="3143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75" b="1">
                <a:solidFill>
                  <a:srgbClr val="1E3A8A"/>
                </a:solidFill>
                <a:latin typeface="PingFang SC"/>
                <a:ea typeface="PingFang SC"/>
              </a:rPr>
              <a:t>标杆试点培育</a:t>
            </a:r>
            <a:endParaRPr/>
          </a:p>
        </p:txBody>
      </p:sp>
      <p:sp>
        <p:nvSpPr>
          <p:cNvPr id="943" name="" descr="{&quot;isTemplate&quot;:true,&quot;type&quot;:&quot;text&quot;}"/>
          <p:cNvSpPr txBox="1"/>
          <p:nvPr/>
        </p:nvSpPr>
        <p:spPr>
          <a:xfrm rot="0" flipH="0" flipV="0">
            <a:off x="6419850" y="2695575"/>
            <a:ext cx="2105025" cy="2571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培育约</a:t>
            </a:r>
            <a:r>
              <a:rPr lang="en-US" sz="1125">
                <a:solidFill>
                  <a:srgbClr val="43566B"/>
                </a:solidFill>
                <a:latin typeface="PingFang SC"/>
                <a:ea typeface="PingFang SC"/>
              </a:rPr>
              <a:t> 1000 </a:t>
            </a: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家标杆试点企业，可申报、可复制、可推广。</a:t>
            </a:r>
            <a:endParaRPr/>
          </a:p>
        </p:txBody>
      </p:sp>
      <p:sp>
        <p:nvSpPr>
          <p:cNvPr id="944" name=""/>
          <p:cNvSpPr/>
          <p:nvPr/>
        </p:nvSpPr>
        <p:spPr>
          <a:xfrm rot="0" flipH="0" flipV="0">
            <a:off x="8943975" y="1314450"/>
            <a:ext cx="2562225" cy="4181475"/>
          </a:xfrm>
          <a:prstGeom prst="roundRect">
            <a:avLst>
              <a:gd name="adj" fmla="val 59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>
              <a:srgbClr val="1E3A8A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945" name=""/>
          <p:cNvSpPr/>
          <p:nvPr/>
        </p:nvSpPr>
        <p:spPr>
          <a:xfrm rot="0" flipH="0" flipV="0">
            <a:off x="9172575" y="1543050"/>
            <a:ext cx="590550" cy="590550"/>
          </a:xfrm>
          <a:prstGeom prst="roundRect">
            <a:avLst>
              <a:gd name="adj" fmla="val 25806"/>
            </a:avLst>
          </a:prstGeom>
          <a:solidFill>
            <a:srgbClr val="E0F7FA"/>
          </a:solidFill>
          <a:ln/>
        </p:spPr>
        <p:txBody>
          <a:bodyPr/>
          <a:p/>
        </p:txBody>
      </p:sp>
      <p:pic>
        <p:nvPicPr>
          <p:cNvPr id="94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9315450" y="1685925"/>
            <a:ext cx="304800" cy="304800"/>
          </a:xfrm>
          <a:prstGeom prst="rect">
            <a:avLst/>
          </a:prstGeom>
          <a:ln/>
        </p:spPr>
      </p:pic>
      <p:sp>
        <p:nvSpPr>
          <p:cNvPr id="947" name="" descr="{&quot;isTemplate&quot;:true,&quot;type&quot;:&quot;text&quot;}"/>
          <p:cNvSpPr txBox="1"/>
          <p:nvPr/>
        </p:nvSpPr>
        <p:spPr>
          <a:xfrm rot="0" flipH="0" flipV="0">
            <a:off x="9172575" y="2286000"/>
            <a:ext cx="2105025" cy="3143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75" b="1">
                <a:solidFill>
                  <a:srgbClr val="1E3A8A"/>
                </a:solidFill>
                <a:latin typeface="PingFang SC"/>
                <a:ea typeface="PingFang SC"/>
              </a:rPr>
              <a:t>安全可信</a:t>
            </a:r>
            <a:endParaRPr/>
          </a:p>
        </p:txBody>
      </p:sp>
      <p:sp>
        <p:nvSpPr>
          <p:cNvPr id="948" name="" descr="{&quot;isTemplate&quot;:true,&quot;type&quot;:&quot;text&quot;}"/>
          <p:cNvSpPr txBox="1"/>
          <p:nvPr/>
        </p:nvSpPr>
        <p:spPr>
          <a:xfrm rot="0" flipH="0" flipV="0">
            <a:off x="9172575" y="2695575"/>
            <a:ext cx="2105025" cy="2571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数据与算法分类分级管理，安全可信前提下部署推广。</a:t>
            </a:r>
            <a:endParaRPr/>
          </a:p>
        </p:txBody>
      </p:sp>
      <p:sp>
        <p:nvSpPr>
          <p:cNvPr id="949" name=""/>
          <p:cNvSpPr/>
          <p:nvPr/>
        </p:nvSpPr>
        <p:spPr>
          <a:xfrm rot="0" flipH="0" flipV="0">
            <a:off x="685800" y="5667375"/>
            <a:ext cx="10820400" cy="485775"/>
          </a:xfrm>
          <a:prstGeom prst="roundRect">
            <a:avLst>
              <a:gd name="adj" fmla="val 23529"/>
            </a:avLst>
          </a:prstGeom>
          <a:solidFill>
            <a:srgbClr val="1E3A8A"/>
          </a:solidFill>
          <a:ln/>
        </p:spPr>
        <p:txBody>
          <a:bodyPr/>
          <a:p/>
        </p:txBody>
      </p:sp>
      <p:pic>
        <p:nvPicPr>
          <p:cNvPr id="95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914400" y="5810250"/>
            <a:ext cx="209550" cy="209550"/>
          </a:xfrm>
          <a:prstGeom prst="rect">
            <a:avLst/>
          </a:prstGeom>
          <a:ln/>
        </p:spPr>
      </p:pic>
      <p:sp>
        <p:nvSpPr>
          <p:cNvPr id="951" name="" descr="{&quot;isTemplate&quot;:true,&quot;type&quot;:&quot;text&quot;}"/>
          <p:cNvSpPr txBox="1"/>
          <p:nvPr/>
        </p:nvSpPr>
        <p:spPr>
          <a:xfrm rot="0" flipH="0" flipV="0">
            <a:off x="1257300" y="5800725"/>
            <a:ext cx="56007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PingFang SC"/>
                <a:ea typeface="PingFang SC"/>
              </a:rPr>
              <a:t>政策指挥棒</a:t>
            </a:r>
            <a:r>
              <a:rPr lang="en-US" sz="1425" b="1">
                <a:solidFill>
                  <a:srgbClr val="FFFFFF"/>
                </a:solidFill>
                <a:latin typeface="PingFang SC"/>
                <a:ea typeface="PingFang SC"/>
              </a:rPr>
              <a:t> = </a:t>
            </a:r>
            <a:r>
              <a:rPr lang="zh-CN" sz="1425" b="1">
                <a:solidFill>
                  <a:srgbClr val="FFFFFF"/>
                </a:solidFill>
                <a:latin typeface="PingFang SC"/>
                <a:ea typeface="PingFang SC"/>
              </a:rPr>
              <a:t>你的项目立项书</a:t>
            </a:r>
            <a:r>
              <a:rPr lang="en-US" sz="1425" b="1">
                <a:solidFill>
                  <a:srgbClr val="FFFFFF"/>
                </a:solidFill>
                <a:latin typeface="PingFang SC"/>
                <a:ea typeface="PingFang SC"/>
              </a:rPr>
              <a:t> —— </a:t>
            </a:r>
            <a:r>
              <a:rPr lang="zh-CN" sz="1425" b="1">
                <a:solidFill>
                  <a:srgbClr val="FFFFFF"/>
                </a:solidFill>
                <a:latin typeface="PingFang SC"/>
                <a:ea typeface="PingFang SC"/>
              </a:rPr>
              <a:t>用政策的语言，写你厂里的场景。</a:t>
            </a:r>
            <a:endParaRPr/>
          </a:p>
        </p:txBody>
      </p:sp>
      <p:sp>
        <p:nvSpPr>
          <p:cNvPr id="952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1123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AI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场景落地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中级</a:t>
            </a:r>
            <a:endParaRPr/>
          </a:p>
        </p:txBody>
      </p:sp>
      <p:sp>
        <p:nvSpPr>
          <p:cNvPr id="953" name="" descr="{&quot;isTemplate&quot;:true,&quot;type&quot;:&quot;text&quot;}"/>
          <p:cNvSpPr txBox="1"/>
          <p:nvPr/>
        </p:nvSpPr>
        <p:spPr>
          <a:xfrm rot="0" flipH="0" flipV="0">
            <a:off x="11029950" y="63627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05 / 34</a:t>
            </a:r>
            <a:endParaRPr/>
          </a:p>
        </p:txBody>
      </p:sp>
    </p:spTree>
  </p:cSld>
</p:sld>
</file>

<file path=ppt/slides/slide6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954" name="" descr="const stages = ['统计分析', '机器学习', '深度学习', '大模型'];&#10;const fills = [&#10;    { icon: 'eye', t: '感知', d: '看见 / 听见：视觉质检、声纹监测' },&#10;    { icon: 'chart-line', t: '预测', d: '预判未来：设备寿命、需求波动' },&#10;    { icon: 'brain', t: '推荐', d: '给选项：工艺参数、排产方案' },&#10;    { icon: 'pencil-alt', t: '生成', d: '出内容：SOP 初稿、工单总结' },&#10;    { icon: 'sync-alt', t: '学习', d: '越用越准：反馈闭环迭代' },&#10;];&#10;&lt;Slide style={{ width: '1280px', height: '720px', background: '#F5F8FC', padding: '24px 72px', boxSizing: 'border-box', flexDirection: 'column', fontFamily: 'PingFang SC, Source Han Sans SC, sans-serif' }}&gt;&#10;    &lt;Box style={{ height: 96, flexDirection: 'row', alignItems: 'center', gap: 16 }}&gt;&#10;        &lt;Box style={{ width: 5, height: 46, background: '#06B6D4', borderRadius: 3 }} /&gt;&#10;        &lt;Box&gt;&#10;            &lt;Text style={{ fontSize: 34, fontWeight: 'bold', color: '#1E3A8A', lineHeight: 1.2 }}&gt;找场景的两个坐标&lt;/Text&gt;&#10;            &lt;Text style={{ fontSize: 17, color: '#64748B', marginTop: 4 }}&gt;技术走到哪一步，AI 能在你厂里补什么位&lt;/Text&gt;&#10;        &lt;/Box&gt;&#10;    &lt;/Box&gt;&#10;    &lt;Box style={{ flexDirection: 'row', alignItems: 'center', gap: 8, marginTop: 14 }}&gt;&#10;        &lt;Text style={{ fontSize: 16, fontWeight: 'bold', color: '#64748B', marginRight: 8 }}&gt;技术演进四阶&lt;/Text&gt;&#10;        {stages.map((s, i) =&gt; (&#10;            &lt;Box key={i} style={{ flexDirection: 'row', alignItems: 'center', gap: 8 }}&gt;&#10;                &lt;Box style={{ padding: '10px 18px', background: i === 3 ? '#1E3A8A' : '#FFFFFF', borderRadius: 10, border: '1px solid ' + (i === 3 ? '#1E3A8A' : '#E2E8F0') }}&gt;&#10;                    &lt;Text style={{ fontSize: 17, fontWeight: 'bold', color: i === 3 ? '#FFFFFF' : '#1E3A8A' }}&gt;{s}&lt;/Text&gt;&#10;                &lt;/Box&gt;&#10;                {i &lt; stages.length - 1 &amp;&amp; &lt;FAIcon name=&quot;arrow-right&quot; style={{ fill: '#06B6D4', width: 16, height: 16 }} /&gt;}&#10;            &lt;/Box&gt;&#10;        ))}&#10;        &lt;Text style={{ fontSize: 14, color: '#64748B', marginLeft: 10 }}&gt;越靠右越「聪明」，也越贵 —— 不是越新越好&lt;/Text&gt;&#10;    &lt;/Box&gt;&#10;    &lt;Box style={{ flex: 1, flexDirection: 'row', gap: 18, marginTop: 18 }}&gt;&#10;        {fills.map((f, i) =&gt; (&#10;            &lt;Box key={i} style={{ flex: 1, background: '#FFFFFF', borderRadius: 16, padding: '22px 16px', border: '1px solid #E2E8F0', boxShadow: '0 4px 16px rgba(30,58,138,0.06)', flexDirection: 'column', alignItems: 'center' }}&gt;&#10;                &lt;Box style={{ width: 58, height: 58, borderRadius: 14, background: '#E0F7FA', justifyContent: 'center', alignItems: 'center', marginBottom: 12 }}&gt;&#10;                    &lt;FAIcon name={f.icon} style={{ fill: '#0891B2', width: 28, height: 28 }} /&gt;&#10;                &lt;/Box&gt;&#10;                &lt;Text style={{ fontSize: 21, fontWeight: 'bold', color: '#1E3A8A' }}&gt;{f.t}&lt;/Text&gt;&#10;                &lt;Text style={{ fontSize: 14, color: '#43566b', lineHeight: 1.55, marginTop: 8, textAlign: 'center' }}&gt;{f.d}&lt;/Text&gt;&#10;            &lt;/Box&gt;&#10;        ))}&#10;    &lt;/Box&gt;&#10;    &lt;Box style={{ marginTop: 16, padding: '14px 24px', background: '#FEEFE0', borderRadius: 12, flexDirection: 'row', alignItems: 'center', gap: 14 }}&gt;&#10;        &lt;FAIcon name=&quot;lightbulb&quot; style={{ fill: '#F59E0B', width: 22, height: 22 }} /&gt;&#10;        &lt;Text style={{ fontSize: 19, fontWeight: 'bold', color: '#B45309' }}&gt;口诀：用能可靠解决问题的最简方法 —— 别一上来就上大模型，先找最小的可用切入点。&lt;/Text&gt;&#10;    &lt;/Box&gt;&#10;    &lt;Box style={{ height: 40, flexDirection: 'row', justifyContent: 'space-between', alignItems: 'center', marginTop: 10 }}&gt;&#10;        &lt;Text style={{ fontSize: 14, color: '#64748B' }}&gt;AI 场景落地 · 中级&lt;/Text&gt;&#10;        &lt;Text style={{ fontSize: 14, color: '#64748B' }}&gt;06 / 34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/>
        </p:spPr>
        <p:txBody>
          <a:bodyPr/>
          <a:p/>
        </p:txBody>
      </p:sp>
      <p:sp>
        <p:nvSpPr>
          <p:cNvPr id="956" name=""/>
          <p:cNvSpPr/>
          <p:nvPr/>
        </p:nvSpPr>
        <p:spPr>
          <a:xfrm rot="0" flipH="0" flipV="0">
            <a:off x="685800" y="466725"/>
            <a:ext cx="47625" cy="438150"/>
          </a:xfrm>
          <a:prstGeom prst="roundRect">
            <a:avLst>
              <a:gd name="adj" fmla="val 60000"/>
            </a:avLst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957" name="" descr="{&quot;isTemplate&quot;:true,&quot;type&quot;:&quot;text&quot;}"/>
          <p:cNvSpPr txBox="1"/>
          <p:nvPr/>
        </p:nvSpPr>
        <p:spPr>
          <a:xfrm rot="0" flipH="0" flipV="0">
            <a:off x="885825" y="333375"/>
            <a:ext cx="295275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>找场景的两个坐标</a:t>
            </a:r>
            <a:endParaRPr/>
          </a:p>
        </p:txBody>
      </p:sp>
      <p:sp>
        <p:nvSpPr>
          <p:cNvPr id="958" name="" descr="{&quot;isTemplate&quot;:true,&quot;type&quot;:&quot;text&quot;}"/>
          <p:cNvSpPr txBox="1"/>
          <p:nvPr/>
        </p:nvSpPr>
        <p:spPr>
          <a:xfrm rot="0" flipH="0" flipV="0">
            <a:off x="885825" y="838200"/>
            <a:ext cx="2952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技术走到哪一步，</a:t>
            </a:r>
            <a:r>
              <a:rPr lang="en-US" sz="1275">
                <a:solidFill>
                  <a:srgbClr val="64748B"/>
                </a:solidFill>
                <a:latin typeface="PingFang SC"/>
                <a:ea typeface="PingFang SC"/>
              </a:rPr>
              <a:t>AI </a:t>
            </a: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能在你厂里补什么位</a:t>
            </a:r>
            <a:endParaRPr/>
          </a:p>
        </p:txBody>
      </p:sp>
      <p:sp>
        <p:nvSpPr>
          <p:cNvPr id="959" name="" descr="{&quot;isTemplate&quot;:true,&quot;type&quot;:&quot;text&quot;}"/>
          <p:cNvSpPr txBox="1"/>
          <p:nvPr/>
        </p:nvSpPr>
        <p:spPr>
          <a:xfrm rot="0" flipH="0" flipV="0">
            <a:off x="685800" y="1381125"/>
            <a:ext cx="914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64748B"/>
                </a:solidFill>
                <a:latin typeface="PingFang SC"/>
                <a:ea typeface="PingFang SC"/>
              </a:rPr>
              <a:t>技术演进四阶</a:t>
            </a:r>
            <a:endParaRPr/>
          </a:p>
        </p:txBody>
      </p:sp>
      <p:sp>
        <p:nvSpPr>
          <p:cNvPr id="960" name=""/>
          <p:cNvSpPr/>
          <p:nvPr/>
        </p:nvSpPr>
        <p:spPr>
          <a:xfrm rot="0" flipH="0" flipV="0">
            <a:off x="1752600" y="1276350"/>
            <a:ext cx="990600" cy="390525"/>
          </a:xfrm>
          <a:prstGeom prst="roundRect">
            <a:avLst>
              <a:gd name="adj" fmla="val 243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61" name="" descr="{&quot;isTemplate&quot;:true,&quot;type&quot;:&quot;text&quot;}"/>
          <p:cNvSpPr txBox="1"/>
          <p:nvPr/>
        </p:nvSpPr>
        <p:spPr>
          <a:xfrm rot="0" flipH="0" flipV="0">
            <a:off x="1924050" y="1371600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3A8A"/>
                </a:solidFill>
                <a:latin typeface="PingFang SC"/>
                <a:ea typeface="PingFang SC"/>
              </a:rPr>
              <a:t>统计分析</a:t>
            </a:r>
            <a:endParaRPr/>
          </a:p>
        </p:txBody>
      </p:sp>
      <p:pic>
        <p:nvPicPr>
          <p:cNvPr id="96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2819400" y="1400175"/>
            <a:ext cx="152400" cy="152400"/>
          </a:xfrm>
          <a:prstGeom prst="rect">
            <a:avLst/>
          </a:prstGeom>
          <a:ln/>
        </p:spPr>
      </p:pic>
      <p:sp>
        <p:nvSpPr>
          <p:cNvPr id="963" name=""/>
          <p:cNvSpPr/>
          <p:nvPr/>
        </p:nvSpPr>
        <p:spPr>
          <a:xfrm rot="0" flipH="0" flipV="0">
            <a:off x="3048000" y="1276350"/>
            <a:ext cx="990600" cy="390525"/>
          </a:xfrm>
          <a:prstGeom prst="roundRect">
            <a:avLst>
              <a:gd name="adj" fmla="val 243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64" name="" descr="{&quot;isTemplate&quot;:true,&quot;type&quot;:&quot;text&quot;}"/>
          <p:cNvSpPr txBox="1"/>
          <p:nvPr/>
        </p:nvSpPr>
        <p:spPr>
          <a:xfrm rot="0" flipH="0" flipV="0">
            <a:off x="3219450" y="1371600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3A8A"/>
                </a:solidFill>
                <a:latin typeface="PingFang SC"/>
                <a:ea typeface="PingFang SC"/>
              </a:rPr>
              <a:t>机器学习</a:t>
            </a:r>
            <a:endParaRPr/>
          </a:p>
        </p:txBody>
      </p:sp>
      <p:pic>
        <p:nvPicPr>
          <p:cNvPr id="96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114800" y="1400175"/>
            <a:ext cx="152400" cy="152400"/>
          </a:xfrm>
          <a:prstGeom prst="rect">
            <a:avLst/>
          </a:prstGeom>
          <a:ln/>
        </p:spPr>
      </p:pic>
      <p:sp>
        <p:nvSpPr>
          <p:cNvPr id="966" name=""/>
          <p:cNvSpPr/>
          <p:nvPr/>
        </p:nvSpPr>
        <p:spPr>
          <a:xfrm rot="0" flipH="0" flipV="0">
            <a:off x="4343400" y="1276350"/>
            <a:ext cx="990600" cy="390525"/>
          </a:xfrm>
          <a:prstGeom prst="roundRect">
            <a:avLst>
              <a:gd name="adj" fmla="val 243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67" name="" descr="{&quot;isTemplate&quot;:true,&quot;type&quot;:&quot;text&quot;}"/>
          <p:cNvSpPr txBox="1"/>
          <p:nvPr/>
        </p:nvSpPr>
        <p:spPr>
          <a:xfrm rot="0" flipH="0" flipV="0">
            <a:off x="4514850" y="1371600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3A8A"/>
                </a:solidFill>
                <a:latin typeface="PingFang SC"/>
                <a:ea typeface="PingFang SC"/>
              </a:rPr>
              <a:t>深度学习</a:t>
            </a:r>
            <a:endParaRPr/>
          </a:p>
        </p:txBody>
      </p:sp>
      <p:pic>
        <p:nvPicPr>
          <p:cNvPr id="96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410200" y="1400175"/>
            <a:ext cx="152400" cy="152400"/>
          </a:xfrm>
          <a:prstGeom prst="rect">
            <a:avLst/>
          </a:prstGeom>
          <a:ln/>
        </p:spPr>
      </p:pic>
      <p:sp>
        <p:nvSpPr>
          <p:cNvPr id="969" name=""/>
          <p:cNvSpPr/>
          <p:nvPr/>
        </p:nvSpPr>
        <p:spPr>
          <a:xfrm rot="0" flipH="0" flipV="0">
            <a:off x="5638800" y="1276350"/>
            <a:ext cx="828675" cy="390525"/>
          </a:xfrm>
          <a:prstGeom prst="roundRect">
            <a:avLst>
              <a:gd name="adj" fmla="val 24390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p/>
        </p:txBody>
      </p:sp>
      <p:sp>
        <p:nvSpPr>
          <p:cNvPr id="970" name="" descr="{&quot;isTemplate&quot;:true,&quot;type&quot;:&quot;text&quot;}"/>
          <p:cNvSpPr txBox="1"/>
          <p:nvPr/>
        </p:nvSpPr>
        <p:spPr>
          <a:xfrm rot="0" flipH="0" flipV="0">
            <a:off x="5810250" y="1371600"/>
            <a:ext cx="485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PingFang SC"/>
                <a:ea typeface="PingFang SC"/>
              </a:rPr>
              <a:t>大模型</a:t>
            </a:r>
            <a:endParaRPr/>
          </a:p>
        </p:txBody>
      </p:sp>
      <p:sp>
        <p:nvSpPr>
          <p:cNvPr id="971" name="" descr="{&quot;isTemplate&quot;:true,&quot;type&quot;:&quot;text&quot;}"/>
          <p:cNvSpPr txBox="1"/>
          <p:nvPr/>
        </p:nvSpPr>
        <p:spPr>
          <a:xfrm rot="0" flipH="0" flipV="0">
            <a:off x="6638925" y="1390650"/>
            <a:ext cx="2762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越靠右越「聪明」，也越贵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——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不是越新越好</a:t>
            </a:r>
            <a:endParaRPr/>
          </a:p>
        </p:txBody>
      </p:sp>
      <p:sp>
        <p:nvSpPr>
          <p:cNvPr id="972" name=""/>
          <p:cNvSpPr/>
          <p:nvPr/>
        </p:nvSpPr>
        <p:spPr>
          <a:xfrm rot="0" flipH="0" flipV="0">
            <a:off x="685800" y="1838325"/>
            <a:ext cx="2028825" cy="3676650"/>
          </a:xfrm>
          <a:prstGeom prst="roundRect">
            <a:avLst>
              <a:gd name="adj" fmla="val 75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>
              <a:srgbClr val="1E3A8A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973" name=""/>
          <p:cNvSpPr/>
          <p:nvPr/>
        </p:nvSpPr>
        <p:spPr>
          <a:xfrm rot="0" flipH="0" flipV="0">
            <a:off x="1428750" y="2047875"/>
            <a:ext cx="552450" cy="552450"/>
          </a:xfrm>
          <a:prstGeom prst="roundRect">
            <a:avLst>
              <a:gd name="adj" fmla="val 24138"/>
            </a:avLst>
          </a:prstGeom>
          <a:solidFill>
            <a:srgbClr val="E0F7FA"/>
          </a:solidFill>
          <a:ln/>
        </p:spPr>
        <p:txBody>
          <a:bodyPr/>
          <a:p/>
        </p:txBody>
      </p:sp>
      <p:pic>
        <p:nvPicPr>
          <p:cNvPr id="97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1571625" y="2190750"/>
            <a:ext cx="266700" cy="266700"/>
          </a:xfrm>
          <a:prstGeom prst="rect">
            <a:avLst/>
          </a:prstGeom>
          <a:ln/>
        </p:spPr>
      </p:pic>
      <p:sp>
        <p:nvSpPr>
          <p:cNvPr id="975" name="" descr="{&quot;isTemplate&quot;:true,&quot;type&quot;:&quot;text&quot;}"/>
          <p:cNvSpPr txBox="1"/>
          <p:nvPr/>
        </p:nvSpPr>
        <p:spPr>
          <a:xfrm rot="0" flipH="0" flipV="0">
            <a:off x="1504950" y="2714625"/>
            <a:ext cx="4000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E3A8A"/>
                </a:solidFill>
                <a:latin typeface="PingFang SC"/>
                <a:ea typeface="PingFang SC"/>
              </a:rPr>
              <a:t>感知</a:t>
            </a:r>
            <a:endParaRPr/>
          </a:p>
        </p:txBody>
      </p:sp>
      <p:sp>
        <p:nvSpPr>
          <p:cNvPr id="976" name="" descr="{&quot;isTemplate&quot;:true,&quot;type&quot;:&quot;text&quot;}"/>
          <p:cNvSpPr txBox="1"/>
          <p:nvPr/>
        </p:nvSpPr>
        <p:spPr>
          <a:xfrm rot="0" flipH="0" flipV="0">
            <a:off x="838200" y="3038475"/>
            <a:ext cx="1724025" cy="504825"/>
          </a:xfrm>
          <a:prstGeom prst="rect"/>
        </p:spPr>
        <p:txBody>
          <a:bodyPr wrap="square" lIns="0" tIns="0" rIns="0" bIns="0">
            <a:normAutofit/>
          </a:bodyPr>
          <a:p>
            <a:pPr algn="ctr">
              <a:lnSpc>
                <a:spcPct val="155000"/>
              </a:lnSpc>
            </a:pP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看见</a:t>
            </a:r>
            <a:r>
              <a:rPr lang="en-US" sz="1050">
                <a:solidFill>
                  <a:srgbClr val="43566B"/>
                </a:solidFill>
                <a:latin typeface="PingFang SC"/>
                <a:ea typeface="PingFang SC"/>
              </a:rPr>
              <a:t> / </a:t>
            </a: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听见：智能审核、声纹监测</a:t>
            </a:r>
            <a:endParaRPr/>
          </a:p>
        </p:txBody>
      </p:sp>
      <p:sp>
        <p:nvSpPr>
          <p:cNvPr id="977" name=""/>
          <p:cNvSpPr/>
          <p:nvPr/>
        </p:nvSpPr>
        <p:spPr>
          <a:xfrm rot="0" flipH="0" flipV="0">
            <a:off x="2886075" y="1838325"/>
            <a:ext cx="2028825" cy="3676650"/>
          </a:xfrm>
          <a:prstGeom prst="roundRect">
            <a:avLst>
              <a:gd name="adj" fmla="val 75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>
              <a:srgbClr val="1E3A8A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978" name=""/>
          <p:cNvSpPr/>
          <p:nvPr/>
        </p:nvSpPr>
        <p:spPr>
          <a:xfrm rot="0" flipH="0" flipV="0">
            <a:off x="3629025" y="2047875"/>
            <a:ext cx="552450" cy="552450"/>
          </a:xfrm>
          <a:prstGeom prst="roundRect">
            <a:avLst>
              <a:gd name="adj" fmla="val 24138"/>
            </a:avLst>
          </a:prstGeom>
          <a:solidFill>
            <a:srgbClr val="E0F7FA"/>
          </a:solidFill>
          <a:ln/>
        </p:spPr>
        <p:txBody>
          <a:bodyPr/>
          <a:p/>
        </p:txBody>
      </p:sp>
      <p:pic>
        <p:nvPicPr>
          <p:cNvPr id="97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3771900" y="2190750"/>
            <a:ext cx="266700" cy="266700"/>
          </a:xfrm>
          <a:prstGeom prst="rect">
            <a:avLst/>
          </a:prstGeom>
          <a:ln/>
        </p:spPr>
      </p:pic>
      <p:sp>
        <p:nvSpPr>
          <p:cNvPr id="980" name="" descr="{&quot;isTemplate&quot;:true,&quot;type&quot;:&quot;text&quot;}"/>
          <p:cNvSpPr txBox="1"/>
          <p:nvPr/>
        </p:nvSpPr>
        <p:spPr>
          <a:xfrm rot="0" flipH="0" flipV="0">
            <a:off x="3705225" y="2714625"/>
            <a:ext cx="4000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E3A8A"/>
                </a:solidFill>
                <a:latin typeface="PingFang SC"/>
                <a:ea typeface="PingFang SC"/>
              </a:rPr>
              <a:t>预测</a:t>
            </a:r>
            <a:endParaRPr/>
          </a:p>
        </p:txBody>
      </p:sp>
      <p:sp>
        <p:nvSpPr>
          <p:cNvPr id="981" name="" descr="{&quot;isTemplate&quot;:true,&quot;type&quot;:&quot;text&quot;}"/>
          <p:cNvSpPr txBox="1"/>
          <p:nvPr/>
        </p:nvSpPr>
        <p:spPr>
          <a:xfrm rot="0" flipH="0" flipV="0">
            <a:off x="3038475" y="3038475"/>
            <a:ext cx="1724025" cy="504825"/>
          </a:xfrm>
          <a:prstGeom prst="rect"/>
        </p:spPr>
        <p:txBody>
          <a:bodyPr wrap="square" lIns="0" tIns="0" rIns="0" bIns="0">
            <a:normAutofit/>
          </a:bodyPr>
          <a:p>
            <a:pPr algn="ctr">
              <a:lnSpc>
                <a:spcPct val="155000"/>
              </a:lnSpc>
            </a:pP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预判未来：系统寿命、需求波动</a:t>
            </a:r>
            <a:endParaRPr/>
          </a:p>
        </p:txBody>
      </p:sp>
      <p:sp>
        <p:nvSpPr>
          <p:cNvPr id="982" name=""/>
          <p:cNvSpPr/>
          <p:nvPr/>
        </p:nvSpPr>
        <p:spPr>
          <a:xfrm rot="0" flipH="0" flipV="0">
            <a:off x="5086350" y="1838325"/>
            <a:ext cx="2019300" cy="3676650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>
              <a:srgbClr val="1E3A8A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983" name=""/>
          <p:cNvSpPr/>
          <p:nvPr/>
        </p:nvSpPr>
        <p:spPr>
          <a:xfrm rot="0" flipH="0" flipV="0">
            <a:off x="5819775" y="2047875"/>
            <a:ext cx="552450" cy="552450"/>
          </a:xfrm>
          <a:prstGeom prst="roundRect">
            <a:avLst>
              <a:gd name="adj" fmla="val 24138"/>
            </a:avLst>
          </a:prstGeom>
          <a:solidFill>
            <a:srgbClr val="E0F7FA"/>
          </a:solidFill>
          <a:ln/>
        </p:spPr>
        <p:txBody>
          <a:bodyPr/>
          <a:p/>
        </p:txBody>
      </p:sp>
      <p:pic>
        <p:nvPicPr>
          <p:cNvPr id="98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5962650" y="2190750"/>
            <a:ext cx="266700" cy="266700"/>
          </a:xfrm>
          <a:prstGeom prst="rect">
            <a:avLst/>
          </a:prstGeom>
          <a:ln/>
        </p:spPr>
      </p:pic>
      <p:sp>
        <p:nvSpPr>
          <p:cNvPr id="985" name="" descr="{&quot;isTemplate&quot;:true,&quot;type&quot;:&quot;text&quot;}"/>
          <p:cNvSpPr txBox="1"/>
          <p:nvPr/>
        </p:nvSpPr>
        <p:spPr>
          <a:xfrm rot="0" flipH="0" flipV="0">
            <a:off x="5895975" y="2714625"/>
            <a:ext cx="4000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E3A8A"/>
                </a:solidFill>
                <a:latin typeface="PingFang SC"/>
                <a:ea typeface="PingFang SC"/>
              </a:rPr>
              <a:t>推荐</a:t>
            </a:r>
            <a:endParaRPr/>
          </a:p>
        </p:txBody>
      </p:sp>
      <p:sp>
        <p:nvSpPr>
          <p:cNvPr id="986" name="" descr="{&quot;isTemplate&quot;:true,&quot;type&quot;:&quot;text&quot;}"/>
          <p:cNvSpPr txBox="1"/>
          <p:nvPr/>
        </p:nvSpPr>
        <p:spPr>
          <a:xfrm rot="0" flipH="0" flipV="0">
            <a:off x="5238750" y="3038475"/>
            <a:ext cx="1714500" cy="504825"/>
          </a:xfrm>
          <a:prstGeom prst="rect"/>
        </p:spPr>
        <p:txBody>
          <a:bodyPr wrap="square" lIns="0" tIns="0" rIns="0" bIns="0">
            <a:normAutofit/>
          </a:bodyPr>
          <a:p>
            <a:pPr algn="ctr">
              <a:lnSpc>
                <a:spcPct val="155000"/>
              </a:lnSpc>
            </a:pP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给选项：工艺参数、排产方案</a:t>
            </a:r>
            <a:endParaRPr/>
          </a:p>
        </p:txBody>
      </p:sp>
      <p:sp>
        <p:nvSpPr>
          <p:cNvPr id="987" name=""/>
          <p:cNvSpPr/>
          <p:nvPr/>
        </p:nvSpPr>
        <p:spPr>
          <a:xfrm rot="0" flipH="0" flipV="0">
            <a:off x="7277100" y="1838325"/>
            <a:ext cx="2028825" cy="3676650"/>
          </a:xfrm>
          <a:prstGeom prst="roundRect">
            <a:avLst>
              <a:gd name="adj" fmla="val 75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>
              <a:srgbClr val="1E3A8A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988" name=""/>
          <p:cNvSpPr/>
          <p:nvPr/>
        </p:nvSpPr>
        <p:spPr>
          <a:xfrm rot="0" flipH="0" flipV="0">
            <a:off x="8020050" y="2047875"/>
            <a:ext cx="552450" cy="552450"/>
          </a:xfrm>
          <a:prstGeom prst="roundRect">
            <a:avLst>
              <a:gd name="adj" fmla="val 24138"/>
            </a:avLst>
          </a:prstGeom>
          <a:solidFill>
            <a:srgbClr val="E0F7FA"/>
          </a:solidFill>
          <a:ln/>
        </p:spPr>
        <p:txBody>
          <a:bodyPr/>
          <a:p/>
        </p:txBody>
      </p:sp>
      <p:pic>
        <p:nvPicPr>
          <p:cNvPr id="98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8162925" y="2190750"/>
            <a:ext cx="266700" cy="266700"/>
          </a:xfrm>
          <a:prstGeom prst="rect">
            <a:avLst/>
          </a:prstGeom>
          <a:ln/>
        </p:spPr>
      </p:pic>
      <p:sp>
        <p:nvSpPr>
          <p:cNvPr id="990" name="" descr="{&quot;isTemplate&quot;:true,&quot;type&quot;:&quot;text&quot;}"/>
          <p:cNvSpPr txBox="1"/>
          <p:nvPr/>
        </p:nvSpPr>
        <p:spPr>
          <a:xfrm rot="0" flipH="0" flipV="0">
            <a:off x="8096250" y="2714625"/>
            <a:ext cx="4000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E3A8A"/>
                </a:solidFill>
                <a:latin typeface="PingFang SC"/>
                <a:ea typeface="PingFang SC"/>
              </a:rPr>
              <a:t>生成</a:t>
            </a:r>
            <a:endParaRPr/>
          </a:p>
        </p:txBody>
      </p:sp>
      <p:sp>
        <p:nvSpPr>
          <p:cNvPr id="991" name="" descr="{&quot;isTemplate&quot;:true,&quot;type&quot;:&quot;text&quot;}"/>
          <p:cNvSpPr txBox="1"/>
          <p:nvPr/>
        </p:nvSpPr>
        <p:spPr>
          <a:xfrm rot="0" flipH="0" flipV="0">
            <a:off x="7429500" y="3038475"/>
            <a:ext cx="1724025" cy="504825"/>
          </a:xfrm>
          <a:prstGeom prst="rect"/>
        </p:spPr>
        <p:txBody>
          <a:bodyPr wrap="square" lIns="0" tIns="0" rIns="0" bIns="0">
            <a:normAutofit/>
          </a:bodyPr>
          <a:p>
            <a:pPr algn="ctr">
              <a:lnSpc>
                <a:spcPct val="155000"/>
              </a:lnSpc>
            </a:pP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出内容：</a:t>
            </a:r>
            <a:r>
              <a:rPr lang="en-US" sz="1050">
                <a:solidFill>
                  <a:srgbClr val="43566B"/>
                </a:solidFill>
                <a:latin typeface="PingFang SC"/>
                <a:ea typeface="PingFang SC"/>
              </a:rPr>
              <a:t>SOP </a:t>
            </a: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初稿、处理单总结</a:t>
            </a:r>
            <a:endParaRPr/>
          </a:p>
        </p:txBody>
      </p:sp>
      <p:sp>
        <p:nvSpPr>
          <p:cNvPr id="992" name=""/>
          <p:cNvSpPr/>
          <p:nvPr/>
        </p:nvSpPr>
        <p:spPr>
          <a:xfrm rot="0" flipH="0" flipV="0">
            <a:off x="9477375" y="1838325"/>
            <a:ext cx="2028825" cy="3676650"/>
          </a:xfrm>
          <a:prstGeom prst="roundRect">
            <a:avLst>
              <a:gd name="adj" fmla="val 75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>
              <a:srgbClr val="1E3A8A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993" name=""/>
          <p:cNvSpPr/>
          <p:nvPr/>
        </p:nvSpPr>
        <p:spPr>
          <a:xfrm rot="0" flipH="0" flipV="0">
            <a:off x="10220325" y="2047875"/>
            <a:ext cx="552450" cy="552450"/>
          </a:xfrm>
          <a:prstGeom prst="roundRect">
            <a:avLst>
              <a:gd name="adj" fmla="val 24138"/>
            </a:avLst>
          </a:prstGeom>
          <a:solidFill>
            <a:srgbClr val="E0F7FA"/>
          </a:solidFill>
          <a:ln/>
        </p:spPr>
        <p:txBody>
          <a:bodyPr/>
          <a:p/>
        </p:txBody>
      </p:sp>
      <p:pic>
        <p:nvPicPr>
          <p:cNvPr id="99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 rot="0" flipH="0" flipV="0">
            <a:off x="10363200" y="2190750"/>
            <a:ext cx="266700" cy="266700"/>
          </a:xfrm>
          <a:prstGeom prst="rect">
            <a:avLst/>
          </a:prstGeom>
          <a:ln/>
        </p:spPr>
      </p:pic>
      <p:sp>
        <p:nvSpPr>
          <p:cNvPr id="995" name="" descr="{&quot;isTemplate&quot;:true,&quot;type&quot;:&quot;text&quot;}"/>
          <p:cNvSpPr txBox="1"/>
          <p:nvPr/>
        </p:nvSpPr>
        <p:spPr>
          <a:xfrm rot="0" flipH="0" flipV="0">
            <a:off x="10296525" y="2714625"/>
            <a:ext cx="4000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E3A8A"/>
                </a:solidFill>
                <a:latin typeface="PingFang SC"/>
                <a:ea typeface="PingFang SC"/>
              </a:rPr>
              <a:t>学习</a:t>
            </a:r>
            <a:endParaRPr/>
          </a:p>
        </p:txBody>
      </p:sp>
      <p:sp>
        <p:nvSpPr>
          <p:cNvPr id="996" name="" descr="{&quot;isTemplate&quot;:true,&quot;type&quot;:&quot;text&quot;}"/>
          <p:cNvSpPr txBox="1"/>
          <p:nvPr/>
        </p:nvSpPr>
        <p:spPr>
          <a:xfrm rot="0" flipH="0" flipV="0">
            <a:off x="9763125" y="3038475"/>
            <a:ext cx="1466850" cy="257175"/>
          </a:xfrm>
          <a:prstGeom prst="rect"/>
        </p:spPr>
        <p:txBody>
          <a:bodyPr wrap="none" lIns="0" tIns="0" rIns="0" bIns="0"/>
          <a:p>
            <a:pPr algn="ctr">
              <a:lnSpc>
                <a:spcPct val="155000"/>
              </a:lnSpc>
            </a:pP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越用越准：反馈闭环迭代</a:t>
            </a:r>
            <a:endParaRPr/>
          </a:p>
        </p:txBody>
      </p:sp>
      <p:sp>
        <p:nvSpPr>
          <p:cNvPr id="997" name=""/>
          <p:cNvSpPr/>
          <p:nvPr/>
        </p:nvSpPr>
        <p:spPr>
          <a:xfrm rot="0" flipH="0" flipV="0">
            <a:off x="685800" y="5667375"/>
            <a:ext cx="10820400" cy="485775"/>
          </a:xfrm>
          <a:prstGeom prst="roundRect">
            <a:avLst>
              <a:gd name="adj" fmla="val 23529"/>
            </a:avLst>
          </a:prstGeom>
          <a:solidFill>
            <a:srgbClr val="FEEFE0"/>
          </a:solidFill>
          <a:ln/>
        </p:spPr>
        <p:txBody>
          <a:bodyPr/>
          <a:p/>
        </p:txBody>
      </p:sp>
      <p:pic>
        <p:nvPicPr>
          <p:cNvPr id="99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7"/>
              </a:ext>
            </a:extLst>
          </a:blip>
          <a:stretch>
            <a:fillRect/>
          </a:stretch>
        </p:blipFill>
        <p:spPr>
          <a:xfrm rot="0" flipH="0" flipV="0">
            <a:off x="914400" y="5810250"/>
            <a:ext cx="209550" cy="209550"/>
          </a:xfrm>
          <a:prstGeom prst="rect">
            <a:avLst/>
          </a:prstGeom>
          <a:ln/>
        </p:spPr>
      </p:pic>
      <p:sp>
        <p:nvSpPr>
          <p:cNvPr id="999" name="" descr="{&quot;isTemplate&quot;:true,&quot;type&quot;:&quot;text&quot;}"/>
          <p:cNvSpPr txBox="1"/>
          <p:nvPr/>
        </p:nvSpPr>
        <p:spPr>
          <a:xfrm rot="0" flipH="0" flipV="0">
            <a:off x="1257300" y="5800725"/>
            <a:ext cx="71818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B45309"/>
                </a:solidFill>
                <a:latin typeface="PingFang SC"/>
                <a:ea typeface="PingFang SC"/>
              </a:rPr>
              <a:t>口诀：用能可靠解决问题的最简方法</a:t>
            </a:r>
            <a:r>
              <a:rPr lang="en-US" sz="1425" b="1">
                <a:solidFill>
                  <a:srgbClr val="B45309"/>
                </a:solidFill>
                <a:latin typeface="PingFang SC"/>
                <a:ea typeface="PingFang SC"/>
              </a:rPr>
              <a:t> —— </a:t>
            </a:r>
            <a:r>
              <a:rPr lang="zh-CN" sz="1425" b="1">
                <a:solidFill>
                  <a:srgbClr val="B45309"/>
                </a:solidFill>
                <a:latin typeface="PingFang SC"/>
                <a:ea typeface="PingFang SC"/>
              </a:rPr>
              <a:t>别一上来就上大模型，先找最小的可用切入点。</a:t>
            </a:r>
            <a:endParaRPr/>
          </a:p>
        </p:txBody>
      </p:sp>
      <p:sp>
        <p:nvSpPr>
          <p:cNvPr id="1000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1123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AI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场景落地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中级</a:t>
            </a:r>
            <a:endParaRPr/>
          </a:p>
        </p:txBody>
      </p:sp>
      <p:sp>
        <p:nvSpPr>
          <p:cNvPr id="1001" name="" descr="{&quot;isTemplate&quot;:true,&quot;type&quot;:&quot;text&quot;}"/>
          <p:cNvSpPr txBox="1"/>
          <p:nvPr/>
        </p:nvSpPr>
        <p:spPr>
          <a:xfrm rot="0" flipH="0" flipV="0">
            <a:off x="11029950" y="63627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06 / 34</a:t>
            </a:r>
            <a:endParaRPr/>
          </a:p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>
  <p:cSld>
    <p:spTree>
      <p:nvGrpSpPr>
        <p:cNvPr id="1002" name="" descr="const dims = [&#10;    { t: '价值', d: '省多少钱 / 减多少风险', s: 5 },&#10;    { t: '可行性', d: '数据与技术是否就绪', s: 4 },&#10;    { t: '风险', d: '出错代价（分数越高越危险）', s: 3 },&#10;    { t: '学习速度', d: '多快能看到第一个结果', s: 4 },&#10;    { t: '可复制性', d: '能扩几条线、几座厂', s: 4 },&#10;    { t: '采纳度', d: '一线愿不愿意真用', s: 5 },&#10;];&#10;&lt;Slide style={{ width: '1280px', height: '720px', background: '#F5F8FC', padding: '24px 72px', boxSizing: 'border-box', flexDirection: 'column', fontFamily: 'PingFang SC, Source Han Sans SC, sans-serif' }}&gt;&#10;    &lt;Box style={{ height: 96, flexDirection: 'row', alignItems: 'center', gap: 16 }}&gt;&#10;        &lt;Box style={{ width: 5, height: 46, background: '#06B6D4', borderRadius: 3 }} /&gt;&#10;        &lt;Box&gt;&#10;            &lt;Text style={{ fontSize: 34, fontWeight: 'bold', color: '#1E3A8A', lineHeight: 1.2 }}&gt;场景从哪来 + 机会画布六维&lt;/Text&gt;&#10;            &lt;Text style={{ fontSize: 17, color: '#64748B', marginTop: 4 }}&gt;先扫 DOWNTIME 八大浪费找候选，再用六维打分定优先级&lt;/Text&gt;&#10;        &lt;/Box&gt;&#10;    &lt;/Box&gt;&#10;    &lt;Box style={{ flex: 1, flexDirection: 'row', gap: 26, marginTop: 14 }}&gt;&#10;        &lt;Box style={{ width: 400, flexDirection: 'column' }}&gt;&#10;            &lt;Text style={{ fontSize: 18, fontWeight: 'bold', color: '#1E3A8A', marginBottom: 10 }}&gt;候选清单：DOWNTIME 八大浪费&lt;/Text&gt;&#10;            &lt;Box style={{ flex: 1, flexDirection: 'column', gap: 8 }}&gt;&#10;                {[&#10;                    ['D', '等待 —— 人等设备 / 设备等料'],&#10;                    ['O', '过量生产 —— 做得比需要的多'],&#10;                    ['W', '在制品积压 —— 线上堆着一堆'],&#10;                    ['N', '人才未利用 —— 经验没被听见'],&#10;                    ['T', '搬运 —— 料与货反复倒腾'],&#10;                    ['I', '库存 —— 仓里压着现金'],&#10;                    ['M', '多余动作 —— 重复找、重复录'],&#10;                    ['E', '过度加工 —— 精度做得过头'],&#10;                ].map((w, i) =&gt; (&#10;                    &lt;Box key={i} style={{ flexDirection: 'row', alignItems: 'center', gap: 12, padding: '7px 14px', background: '#FFFFFF', borderRadius: 10, border: '1px solid #E2E8F0' }}&gt;&#10;                        &lt;Text style={{ fontSize: 17, fontWeight: 'bold', color: '#06B6D4', fontFamily: 'Space Grotesk, Inter', width: 24 }}&gt;{w[0]}&lt;/Text&gt;&#10;                        &lt;Text style={{ fontSize: 15, color: '#43566b' }}&gt;{w[1]}&lt;/Text&gt;&#10;                    &lt;/Box&gt;&#10;                ))}&#10;            &lt;/Box&gt;&#10;            &lt;Box style={{ marginTop: 12, padding: '12px 16px', background: '#FFFFFF', borderRadius: 10, border: '1px dashed #06B6D4' }}&gt;&#10;                &lt;Text style={{ fontSize: 15, color: '#0891B2', lineHeight: 1.6 }}&gt;每条浪费问一句：&lt;span style={{ fontWeight: 'bold' }}&gt;这里 AI 能补哪个位？&lt;/span&gt;（感知 / 预测 / 推荐 / 生成 / 学习）&lt;/Text&gt;&#10;            &lt;/Box&gt;&#10;        &lt;/Box&gt;&#10;        &lt;Box style={{ flex: 1, background: '#FFFFFF', borderRadius: 16, padding: '22px 26px', border: '1px solid #E2E8F0', boxShadow: '0 4px 16px rgba(30,58,138,0.06)', flexDirection: 'column' }}&gt;&#10;            &lt;Box style={{ flexDirection: 'row', justifyContent: 'space-between', alignItems: 'baseline', marginBottom: 12 }}&gt;&#10;                &lt;Text style={{ fontSize: 18, fontWeight: 'bold', color: '#1E3A8A' }}&gt;机会画布 · 六维打分（各 1–5 分）&lt;/Text&gt;&#10;                &lt;Text style={{ fontSize: 15, color: '#64748B' }}&gt;示例场景得分&lt;/Text&gt;&#10;            &lt;/Box&gt;&#10;            {dims.map((d, i) =&gt; (&#10;                &lt;Box key={i} style={{ flexDirection: 'row', alignItems: 'center', gap: 12, marginBottom: 9 }}&gt;&#10;                    &lt;Text style={{ fontSize: 16, fontWeight: 'bold', color: '#1E3A8A', width: 88 }}&gt;{d.t}&lt;/Text&gt;&#10;                    &lt;Box style={{ flex: 1, height: 10, background: '#EDF3FB', borderRadius: 5, overflow: 'hidden' }}&gt;&#10;                        &lt;Box style={{ width: d.s * 20 + '%', height: 10, background: i === 2 ? '#F59E0B' : '#06B6D4', borderRadius: 5 }} /&gt;&#10;                    &lt;/Box&gt;&#10;                    &lt;Text style={{ fontSize: 16, fontWeight: 'bold', color: i === 2 ? '#B45309' : '#0891B2', width: 24, fontFamily: 'Space Grotesk, Inter' }}&gt;{d.s}&lt;/Text&gt;&#10;                &lt;/Box&gt;&#10;            ))}&#10;            &lt;Box style={{ marginTop: 'auto', paddingTop: 12, borderTop: '2px solid #EAF1F8', flexDirection: 'row', alignItems: 'center', gap: 10 }}&gt;&#10;                &lt;Text style={{ fontSize: 20, fontWeight: 'bold', color: '#1E3A8A' }}&gt;总分 25 / 30&lt;/Text&gt;&#10;                &lt;Box style={{ padding: '6px 14px', background: '#1E3A8A', borderRadius: 999 }}&gt;&#10;                    &lt;Text style={{ fontSize: 15, fontWeight: 'bold', color: '#FFFFFF' }}&gt;≥ 24 分 → 进试点&lt;/Text&gt;&#10;                &lt;/Box&gt;&#10;            &lt;/Box&gt;&#10;        &lt;/Box&gt;&#10;    &lt;/Box&gt;&#10;    &lt;Box style={{ height: 40, flexDirection: 'row', justifyContent: 'space-between', alignItems: 'center', marginTop: 10 }}&gt;&#10;        &lt;Text style={{ fontSize: 14, color: '#64748B' }}&gt;AI 场景落地 · 中级&lt;/Text&gt;&#10;        &lt;Text style={{ fontSize: 14, color: '#64748B' }}&gt;07 / 34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/>
        </p:spPr>
        <p:txBody>
          <a:bodyPr/>
          <a:p/>
        </p:txBody>
      </p:sp>
      <p:sp>
        <p:nvSpPr>
          <p:cNvPr id="1004" name=""/>
          <p:cNvSpPr/>
          <p:nvPr/>
        </p:nvSpPr>
        <p:spPr>
          <a:xfrm rot="0" flipH="0" flipV="0">
            <a:off x="685800" y="466725"/>
            <a:ext cx="47625" cy="438150"/>
          </a:xfrm>
          <a:prstGeom prst="roundRect">
            <a:avLst>
              <a:gd name="adj" fmla="val 60000"/>
            </a:avLst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1005" name="" descr="{&quot;isTemplate&quot;:true,&quot;type&quot;:&quot;text&quot;}"/>
          <p:cNvSpPr txBox="1"/>
          <p:nvPr/>
        </p:nvSpPr>
        <p:spPr>
          <a:xfrm rot="0" flipH="0" flipV="0">
            <a:off x="885825" y="333375"/>
            <a:ext cx="4238625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>场景从哪来</a:t>
            </a:r>
            <a:r>
              <a:rPr lang="en-US" sz="2550" b="1">
                <a:solidFill>
                  <a:srgbClr val="1E3A8A"/>
                </a:solidFill>
                <a:latin typeface="PingFang SC"/>
                <a:ea typeface="PingFang SC"/>
              </a:rPr>
              <a:t> + </a:t>
            </a: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>机会画布六维</a:t>
            </a:r>
            <a:endParaRPr/>
          </a:p>
        </p:txBody>
      </p:sp>
      <p:sp>
        <p:nvSpPr>
          <p:cNvPr id="1006" name="" descr="{&quot;isTemplate&quot;:true,&quot;type&quot;:&quot;text&quot;}"/>
          <p:cNvSpPr txBox="1"/>
          <p:nvPr/>
        </p:nvSpPr>
        <p:spPr>
          <a:xfrm rot="0" flipH="0" flipV="0">
            <a:off x="885825" y="838200"/>
            <a:ext cx="42386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先扫</a:t>
            </a:r>
            <a:r>
              <a:rPr lang="en-US" sz="1275">
                <a:solidFill>
                  <a:srgbClr val="64748B"/>
                </a:solidFill>
                <a:latin typeface="PingFang SC"/>
                <a:ea typeface="PingFang SC"/>
              </a:rPr>
              <a:t> 低效 </a:t>
            </a: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八大浪费找候选，再用六维打分定优先级</a:t>
            </a:r>
            <a:endParaRPr/>
          </a:p>
        </p:txBody>
      </p:sp>
      <p:sp>
        <p:nvSpPr>
          <p:cNvPr id="1007" name="" descr="{&quot;isTemplate&quot;:true,&quot;type&quot;:&quot;text&quot;}"/>
          <p:cNvSpPr txBox="1"/>
          <p:nvPr/>
        </p:nvSpPr>
        <p:spPr>
          <a:xfrm rot="0" flipH="0" flipV="0">
            <a:off x="685800" y="1276350"/>
            <a:ext cx="3810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3A8A"/>
                </a:solidFill>
                <a:latin typeface="PingFang SC"/>
                <a:ea typeface="PingFang SC"/>
              </a:rPr>
              <a:t>候选清单：</a:t>
            </a:r>
            <a:r>
              <a:rPr lang="en-US" sz="1350" b="1">
                <a:solidFill>
                  <a:srgbClr val="1E3A8A"/>
                </a:solidFill>
                <a:latin typeface="PingFang SC"/>
                <a:ea typeface="PingFang SC"/>
              </a:rPr>
              <a:t>低效 </a:t>
            </a:r>
            <a:r>
              <a:rPr lang="zh-CN" sz="1350" b="1">
                <a:solidFill>
                  <a:srgbClr val="1E3A8A"/>
                </a:solidFill>
                <a:latin typeface="PingFang SC"/>
                <a:ea typeface="PingFang SC"/>
              </a:rPr>
              <a:t>八大浪费</a:t>
            </a:r>
            <a:endParaRPr/>
          </a:p>
        </p:txBody>
      </p:sp>
      <p:sp>
        <p:nvSpPr>
          <p:cNvPr id="1008" name=""/>
          <p:cNvSpPr/>
          <p:nvPr/>
        </p:nvSpPr>
        <p:spPr>
          <a:xfrm rot="0" flipH="0" flipV="0">
            <a:off x="685800" y="1581150"/>
            <a:ext cx="3810000" cy="333375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09" name="" descr="{&quot;isTemplate&quot;:true,&quot;type&quot;:&quot;text&quot;}"/>
          <p:cNvSpPr txBox="1"/>
          <p:nvPr/>
        </p:nvSpPr>
        <p:spPr>
          <a:xfrm rot="0" flipH="0" flipV="0">
            <a:off x="819150" y="1647825"/>
            <a:ext cx="228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6B6D4"/>
                </a:solidFill>
                <a:latin typeface="Space Grotesk"/>
                <a:ea typeface="Space Grotesk"/>
              </a:rPr>
              <a:t>D</a:t>
            </a:r>
            <a:endParaRPr/>
          </a:p>
        </p:txBody>
      </p:sp>
      <p:sp>
        <p:nvSpPr>
          <p:cNvPr id="1010" name="" descr="{&quot;isTemplate&quot;:true,&quot;type&quot;:&quot;text&quot;}"/>
          <p:cNvSpPr txBox="1"/>
          <p:nvPr/>
        </p:nvSpPr>
        <p:spPr>
          <a:xfrm rot="0" flipH="0" flipV="0">
            <a:off x="1162050" y="1666875"/>
            <a:ext cx="1981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等待</a:t>
            </a:r>
            <a:r>
              <a:rPr lang="en-US" sz="1125">
                <a:solidFill>
                  <a:srgbClr val="43566B"/>
                </a:solidFill>
                <a:latin typeface="PingFang SC"/>
                <a:ea typeface="PingFang SC"/>
              </a:rPr>
              <a:t> —— </a:t>
            </a: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人等系统</a:t>
            </a:r>
            <a:r>
              <a:rPr lang="en-US" sz="1125">
                <a:solidFill>
                  <a:srgbClr val="43566B"/>
                </a:solidFill>
                <a:latin typeface="PingFang SC"/>
                <a:ea typeface="PingFang SC"/>
              </a:rPr>
              <a:t> / </a:t>
            </a: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系统等料</a:t>
            </a:r>
            <a:endParaRPr/>
          </a:p>
        </p:txBody>
      </p:sp>
      <p:sp>
        <p:nvSpPr>
          <p:cNvPr id="1011" name=""/>
          <p:cNvSpPr/>
          <p:nvPr/>
        </p:nvSpPr>
        <p:spPr>
          <a:xfrm rot="0" flipH="0" flipV="0">
            <a:off x="685800" y="1990725"/>
            <a:ext cx="3810000" cy="333375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12" name="" descr="{&quot;isTemplate&quot;:true,&quot;type&quot;:&quot;text&quot;}"/>
          <p:cNvSpPr txBox="1"/>
          <p:nvPr/>
        </p:nvSpPr>
        <p:spPr>
          <a:xfrm rot="0" flipH="0" flipV="0">
            <a:off x="819150" y="2057400"/>
            <a:ext cx="228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6B6D4"/>
                </a:solidFill>
                <a:latin typeface="Space Grotesk"/>
                <a:ea typeface="Space Grotesk"/>
              </a:rPr>
              <a:t>O</a:t>
            </a:r>
            <a:endParaRPr/>
          </a:p>
        </p:txBody>
      </p:sp>
      <p:sp>
        <p:nvSpPr>
          <p:cNvPr id="1013" name="" descr="{&quot;isTemplate&quot;:true,&quot;type&quot;:&quot;text&quot;}"/>
          <p:cNvSpPr txBox="1"/>
          <p:nvPr/>
        </p:nvSpPr>
        <p:spPr>
          <a:xfrm rot="0" flipH="0" flipV="0">
            <a:off x="1162050" y="2076450"/>
            <a:ext cx="1952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过量生产</a:t>
            </a:r>
            <a:r>
              <a:rPr lang="en-US" sz="1125">
                <a:solidFill>
                  <a:srgbClr val="43566B"/>
                </a:solidFill>
                <a:latin typeface="PingFang SC"/>
                <a:ea typeface="PingFang SC"/>
              </a:rPr>
              <a:t> —— </a:t>
            </a: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做得比需要的多</a:t>
            </a:r>
            <a:endParaRPr/>
          </a:p>
        </p:txBody>
      </p:sp>
      <p:sp>
        <p:nvSpPr>
          <p:cNvPr id="1014" name=""/>
          <p:cNvSpPr/>
          <p:nvPr/>
        </p:nvSpPr>
        <p:spPr>
          <a:xfrm rot="0" flipH="0" flipV="0">
            <a:off x="685800" y="2400300"/>
            <a:ext cx="3810000" cy="333375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15" name="" descr="{&quot;isTemplate&quot;:true,&quot;type&quot;:&quot;text&quot;}"/>
          <p:cNvSpPr txBox="1"/>
          <p:nvPr/>
        </p:nvSpPr>
        <p:spPr>
          <a:xfrm rot="0" flipH="0" flipV="0">
            <a:off x="819150" y="2466975"/>
            <a:ext cx="228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6B6D4"/>
                </a:solidFill>
                <a:latin typeface="Space Grotesk"/>
                <a:ea typeface="Space Grotesk"/>
              </a:rPr>
              <a:t>W</a:t>
            </a:r>
            <a:endParaRPr/>
          </a:p>
        </p:txBody>
      </p:sp>
      <p:sp>
        <p:nvSpPr>
          <p:cNvPr id="1016" name="" descr="{&quot;isTemplate&quot;:true,&quot;type&quot;:&quot;text&quot;}"/>
          <p:cNvSpPr txBox="1"/>
          <p:nvPr/>
        </p:nvSpPr>
        <p:spPr>
          <a:xfrm rot="0" flipH="0" flipV="0">
            <a:off x="1162050" y="2486025"/>
            <a:ext cx="1952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在制品积压</a:t>
            </a:r>
            <a:r>
              <a:rPr lang="en-US" sz="1125">
                <a:solidFill>
                  <a:srgbClr val="43566B"/>
                </a:solidFill>
                <a:latin typeface="PingFang SC"/>
                <a:ea typeface="PingFang SC"/>
              </a:rPr>
              <a:t> —— </a:t>
            </a: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线上堆着一堆</a:t>
            </a:r>
            <a:endParaRPr/>
          </a:p>
        </p:txBody>
      </p:sp>
      <p:sp>
        <p:nvSpPr>
          <p:cNvPr id="1017" name=""/>
          <p:cNvSpPr/>
          <p:nvPr/>
        </p:nvSpPr>
        <p:spPr>
          <a:xfrm rot="0" flipH="0" flipV="0">
            <a:off x="685800" y="2809875"/>
            <a:ext cx="3810000" cy="333375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18" name="" descr="{&quot;isTemplate&quot;:true,&quot;type&quot;:&quot;text&quot;}"/>
          <p:cNvSpPr txBox="1"/>
          <p:nvPr/>
        </p:nvSpPr>
        <p:spPr>
          <a:xfrm rot="0" flipH="0" flipV="0">
            <a:off x="819150" y="2876550"/>
            <a:ext cx="228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6B6D4"/>
                </a:solidFill>
                <a:latin typeface="Space Grotesk"/>
                <a:ea typeface="Space Grotesk"/>
              </a:rPr>
              <a:t>N</a:t>
            </a:r>
            <a:endParaRPr/>
          </a:p>
        </p:txBody>
      </p:sp>
      <p:sp>
        <p:nvSpPr>
          <p:cNvPr id="1019" name="" descr="{&quot;isTemplate&quot;:true,&quot;type&quot;:&quot;text&quot;}"/>
          <p:cNvSpPr txBox="1"/>
          <p:nvPr/>
        </p:nvSpPr>
        <p:spPr>
          <a:xfrm rot="0" flipH="0" flipV="0">
            <a:off x="1162050" y="2895600"/>
            <a:ext cx="1952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人才未利用</a:t>
            </a:r>
            <a:r>
              <a:rPr lang="en-US" sz="1125">
                <a:solidFill>
                  <a:srgbClr val="43566B"/>
                </a:solidFill>
                <a:latin typeface="PingFang SC"/>
                <a:ea typeface="PingFang SC"/>
              </a:rPr>
              <a:t> —— </a:t>
            </a: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经验没被听见</a:t>
            </a:r>
            <a:endParaRPr/>
          </a:p>
        </p:txBody>
      </p:sp>
      <p:sp>
        <p:nvSpPr>
          <p:cNvPr id="1020" name=""/>
          <p:cNvSpPr/>
          <p:nvPr/>
        </p:nvSpPr>
        <p:spPr>
          <a:xfrm rot="0" flipH="0" flipV="0">
            <a:off x="685800" y="3219450"/>
            <a:ext cx="3810000" cy="333375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21" name="" descr="{&quot;isTemplate&quot;:true,&quot;type&quot;:&quot;text&quot;}"/>
          <p:cNvSpPr txBox="1"/>
          <p:nvPr/>
        </p:nvSpPr>
        <p:spPr>
          <a:xfrm rot="0" flipH="0" flipV="0">
            <a:off x="819150" y="3286125"/>
            <a:ext cx="228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6B6D4"/>
                </a:solidFill>
                <a:latin typeface="Space Grotesk"/>
                <a:ea typeface="Space Grotesk"/>
              </a:rPr>
              <a:t>T</a:t>
            </a:r>
            <a:endParaRPr/>
          </a:p>
        </p:txBody>
      </p:sp>
      <p:sp>
        <p:nvSpPr>
          <p:cNvPr id="1022" name="" descr="{&quot;isTemplate&quot;:true,&quot;type&quot;:&quot;text&quot;}"/>
          <p:cNvSpPr txBox="1"/>
          <p:nvPr/>
        </p:nvSpPr>
        <p:spPr>
          <a:xfrm rot="0" flipH="0" flipV="0">
            <a:off x="1162050" y="3305175"/>
            <a:ext cx="1666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搬运</a:t>
            </a:r>
            <a:r>
              <a:rPr lang="en-US" sz="1125">
                <a:solidFill>
                  <a:srgbClr val="43566B"/>
                </a:solidFill>
                <a:latin typeface="PingFang SC"/>
                <a:ea typeface="PingFang SC"/>
              </a:rPr>
              <a:t> —— </a:t>
            </a: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料与货反复倒腾</a:t>
            </a:r>
            <a:endParaRPr/>
          </a:p>
        </p:txBody>
      </p:sp>
      <p:sp>
        <p:nvSpPr>
          <p:cNvPr id="1023" name=""/>
          <p:cNvSpPr/>
          <p:nvPr/>
        </p:nvSpPr>
        <p:spPr>
          <a:xfrm rot="0" flipH="0" flipV="0">
            <a:off x="685800" y="3629025"/>
            <a:ext cx="3810000" cy="333375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24" name="" descr="{&quot;isTemplate&quot;:true,&quot;type&quot;:&quot;text&quot;}"/>
          <p:cNvSpPr txBox="1"/>
          <p:nvPr/>
        </p:nvSpPr>
        <p:spPr>
          <a:xfrm rot="0" flipH="0" flipV="0">
            <a:off x="819150" y="3695700"/>
            <a:ext cx="228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6B6D4"/>
                </a:solidFill>
                <a:latin typeface="Space Grotesk"/>
                <a:ea typeface="Space Grotesk"/>
              </a:rPr>
              <a:t>I</a:t>
            </a:r>
            <a:endParaRPr/>
          </a:p>
        </p:txBody>
      </p:sp>
      <p:sp>
        <p:nvSpPr>
          <p:cNvPr id="1025" name="" descr="{&quot;isTemplate&quot;:true,&quot;type&quot;:&quot;text&quot;}"/>
          <p:cNvSpPr txBox="1"/>
          <p:nvPr/>
        </p:nvSpPr>
        <p:spPr>
          <a:xfrm rot="0" flipH="0" flipV="0">
            <a:off x="1162050" y="3714750"/>
            <a:ext cx="1524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库存</a:t>
            </a:r>
            <a:r>
              <a:rPr lang="en-US" sz="1125">
                <a:solidFill>
                  <a:srgbClr val="43566B"/>
                </a:solidFill>
                <a:latin typeface="PingFang SC"/>
                <a:ea typeface="PingFang SC"/>
              </a:rPr>
              <a:t> —— </a:t>
            </a: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仓里压着现金</a:t>
            </a:r>
            <a:endParaRPr/>
          </a:p>
        </p:txBody>
      </p:sp>
      <p:sp>
        <p:nvSpPr>
          <p:cNvPr id="1026" name=""/>
          <p:cNvSpPr/>
          <p:nvPr/>
        </p:nvSpPr>
        <p:spPr>
          <a:xfrm rot="0" flipH="0" flipV="0">
            <a:off x="685800" y="4038600"/>
            <a:ext cx="3810000" cy="333375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27" name="" descr="{&quot;isTemplate&quot;:true,&quot;type&quot;:&quot;text&quot;}"/>
          <p:cNvSpPr txBox="1"/>
          <p:nvPr/>
        </p:nvSpPr>
        <p:spPr>
          <a:xfrm rot="0" flipH="0" flipV="0">
            <a:off x="819150" y="4105275"/>
            <a:ext cx="228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6B6D4"/>
                </a:solidFill>
                <a:latin typeface="Space Grotesk"/>
                <a:ea typeface="Space Grotesk"/>
              </a:rPr>
              <a:t>M</a:t>
            </a:r>
            <a:endParaRPr/>
          </a:p>
        </p:txBody>
      </p:sp>
      <p:sp>
        <p:nvSpPr>
          <p:cNvPr id="1028" name="" descr="{&quot;isTemplate&quot;:true,&quot;type&quot;:&quot;text&quot;}"/>
          <p:cNvSpPr txBox="1"/>
          <p:nvPr/>
        </p:nvSpPr>
        <p:spPr>
          <a:xfrm rot="0" flipH="0" flipV="0">
            <a:off x="1162050" y="4124325"/>
            <a:ext cx="1952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多余动作</a:t>
            </a:r>
            <a:r>
              <a:rPr lang="en-US" sz="1125">
                <a:solidFill>
                  <a:srgbClr val="43566B"/>
                </a:solidFill>
                <a:latin typeface="PingFang SC"/>
                <a:ea typeface="PingFang SC"/>
              </a:rPr>
              <a:t> —— </a:t>
            </a: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重复找、重复录</a:t>
            </a:r>
            <a:endParaRPr/>
          </a:p>
        </p:txBody>
      </p:sp>
      <p:sp>
        <p:nvSpPr>
          <p:cNvPr id="1029" name=""/>
          <p:cNvSpPr/>
          <p:nvPr/>
        </p:nvSpPr>
        <p:spPr>
          <a:xfrm rot="0" flipH="0" flipV="0">
            <a:off x="685800" y="4448175"/>
            <a:ext cx="3810000" cy="333375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30" name="" descr="{&quot;isTemplate&quot;:true,&quot;type&quot;:&quot;text&quot;}"/>
          <p:cNvSpPr txBox="1"/>
          <p:nvPr/>
        </p:nvSpPr>
        <p:spPr>
          <a:xfrm rot="0" flipH="0" flipV="0">
            <a:off x="819150" y="4514850"/>
            <a:ext cx="228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6B6D4"/>
                </a:solidFill>
                <a:latin typeface="Space Grotesk"/>
                <a:ea typeface="Space Grotesk"/>
              </a:rPr>
              <a:t>E</a:t>
            </a:r>
            <a:endParaRPr/>
          </a:p>
        </p:txBody>
      </p:sp>
      <p:sp>
        <p:nvSpPr>
          <p:cNvPr id="1031" name="" descr="{&quot;isTemplate&quot;:true,&quot;type&quot;:&quot;text&quot;}"/>
          <p:cNvSpPr txBox="1"/>
          <p:nvPr/>
        </p:nvSpPr>
        <p:spPr>
          <a:xfrm rot="0" flipH="0" flipV="0">
            <a:off x="1162050" y="4533900"/>
            <a:ext cx="1809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过度加工</a:t>
            </a:r>
            <a:r>
              <a:rPr lang="en-US" sz="1125">
                <a:solidFill>
                  <a:srgbClr val="43566B"/>
                </a:solidFill>
                <a:latin typeface="PingFang SC"/>
                <a:ea typeface="PingFang SC"/>
              </a:rPr>
              <a:t> —— </a:t>
            </a: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精度做得过头</a:t>
            </a:r>
            <a:endParaRPr/>
          </a:p>
        </p:txBody>
      </p:sp>
      <p:sp>
        <p:nvSpPr>
          <p:cNvPr id="1032" name=""/>
          <p:cNvSpPr/>
          <p:nvPr/>
        </p:nvSpPr>
        <p:spPr>
          <a:xfrm rot="0" flipH="0" flipV="0">
            <a:off x="685800" y="5372100"/>
            <a:ext cx="3810000" cy="781050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06B6D4"/>
            </a:solidFill>
            <a:prstDash val="dash"/>
          </a:ln>
        </p:spPr>
        <p:txBody>
          <a:bodyPr/>
          <a:p/>
        </p:txBody>
      </p:sp>
      <p:sp>
        <p:nvSpPr>
          <p:cNvPr id="1033" name="" descr="{&quot;isTemplate&quot;:true,&quot;type&quot;:&quot;text&quot;}"/>
          <p:cNvSpPr txBox="1"/>
          <p:nvPr/>
        </p:nvSpPr>
        <p:spPr>
          <a:xfrm rot="0" flipH="0" flipV="0">
            <a:off x="838200" y="5486400"/>
            <a:ext cx="35052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0891B2"/>
                </a:solidFill>
                <a:latin typeface="PingFang SC"/>
                <a:ea typeface="PingFang SC"/>
              </a:rPr>
              <a:t>每条浪费问一句：</a:t>
            </a:r>
            <a:r>
              <a:rPr lang="zh-CN" sz="1125" b="1">
                <a:solidFill>
                  <a:srgbClr val="0891B2"/>
                </a:solidFill>
                <a:latin typeface="PingFang SC"/>
                <a:ea typeface="PingFang SC"/>
              </a:rPr>
              <a:t>这里</a:t>
            </a:r>
            <a:r>
              <a:rPr lang="en-US" sz="1125" b="1">
                <a:solidFill>
                  <a:srgbClr val="0891B2"/>
                </a:solidFill>
                <a:latin typeface="PingFang SC"/>
                <a:ea typeface="PingFang SC"/>
              </a:rPr>
              <a:t> AI </a:t>
            </a:r>
            <a:r>
              <a:rPr lang="zh-CN" sz="1125" b="1">
                <a:solidFill>
                  <a:srgbClr val="0891B2"/>
                </a:solidFill>
                <a:latin typeface="PingFang SC"/>
                <a:ea typeface="PingFang SC"/>
              </a:rPr>
              <a:t>能补哪个位？</a:t>
            </a:r>
            <a:r>
              <a:rPr lang="zh-CN" sz="1125">
                <a:solidFill>
                  <a:srgbClr val="0891B2"/>
                </a:solidFill>
                <a:latin typeface="PingFang SC"/>
                <a:ea typeface="PingFang SC"/>
              </a:rPr>
              <a:t>（感知</a:t>
            </a:r>
            <a:r>
              <a:rPr lang="en-US" sz="1125">
                <a:solidFill>
                  <a:srgbClr val="0891B2"/>
                </a:solidFill>
                <a:latin typeface="PingFang SC"/>
                <a:ea typeface="PingFang SC"/>
              </a:rPr>
              <a:t> / </a:t>
            </a:r>
            <a:r>
              <a:rPr lang="zh-CN" sz="1125">
                <a:solidFill>
                  <a:srgbClr val="0891B2"/>
                </a:solidFill>
                <a:latin typeface="PingFang SC"/>
                <a:ea typeface="PingFang SC"/>
              </a:rPr>
              <a:t>预测</a:t>
            </a:r>
            <a:r>
              <a:rPr lang="en-US" sz="1125">
                <a:solidFill>
                  <a:srgbClr val="0891B2"/>
                </a:solidFill>
                <a:latin typeface="PingFang SC"/>
                <a:ea typeface="PingFang SC"/>
              </a:rPr>
              <a:t> / </a:t>
            </a:r>
            <a:r>
              <a:rPr lang="zh-CN" sz="1125">
                <a:solidFill>
                  <a:srgbClr val="0891B2"/>
                </a:solidFill>
                <a:latin typeface="PingFang SC"/>
                <a:ea typeface="PingFang SC"/>
              </a:rPr>
              <a:t>推荐</a:t>
            </a:r>
            <a:r>
              <a:rPr lang="en-US" sz="1125">
                <a:solidFill>
                  <a:srgbClr val="0891B2"/>
                </a:solidFill>
                <a:latin typeface="PingFang SC"/>
                <a:ea typeface="PingFang SC"/>
              </a:rPr>
              <a:t> / </a:t>
            </a:r>
            <a:r>
              <a:rPr lang="zh-CN" sz="1125">
                <a:solidFill>
                  <a:srgbClr val="0891B2"/>
                </a:solidFill>
                <a:latin typeface="PingFang SC"/>
                <a:ea typeface="PingFang SC"/>
              </a:rPr>
              <a:t>生成</a:t>
            </a:r>
            <a:r>
              <a:rPr lang="en-US" sz="1125">
                <a:solidFill>
                  <a:srgbClr val="0891B2"/>
                </a:solidFill>
                <a:latin typeface="PingFang SC"/>
                <a:ea typeface="PingFang SC"/>
              </a:rPr>
              <a:t> / </a:t>
            </a:r>
            <a:r>
              <a:rPr lang="zh-CN" sz="1125">
                <a:solidFill>
                  <a:srgbClr val="0891B2"/>
                </a:solidFill>
                <a:latin typeface="PingFang SC"/>
                <a:ea typeface="PingFang SC"/>
              </a:rPr>
              <a:t>学习）</a:t>
            </a:r>
            <a:endParaRPr/>
          </a:p>
        </p:txBody>
      </p:sp>
      <p:sp>
        <p:nvSpPr>
          <p:cNvPr id="1034" name=""/>
          <p:cNvSpPr/>
          <p:nvPr/>
        </p:nvSpPr>
        <p:spPr>
          <a:xfrm rot="0" flipH="0" flipV="0">
            <a:off x="4743450" y="1276350"/>
            <a:ext cx="6762750" cy="487680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>
              <a:srgbClr val="1E3A8A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035" name="" descr="{&quot;isTemplate&quot;:true,&quot;type&quot;:&quot;text&quot;}"/>
          <p:cNvSpPr txBox="1"/>
          <p:nvPr/>
        </p:nvSpPr>
        <p:spPr>
          <a:xfrm rot="0" flipH="0" flipV="0">
            <a:off x="4991100" y="1485900"/>
            <a:ext cx="26860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3A8A"/>
                </a:solidFill>
                <a:latin typeface="PingFang SC"/>
                <a:ea typeface="PingFang SC"/>
              </a:rPr>
              <a:t>机会画布</a:t>
            </a:r>
            <a:r>
              <a:rPr lang="en-US" sz="1350" b="1">
                <a:solidFill>
                  <a:srgbClr val="1E3A8A"/>
                </a:solidFill>
                <a:latin typeface="PingFang SC"/>
                <a:ea typeface="PingFang SC"/>
              </a:rPr>
              <a:t> · </a:t>
            </a:r>
            <a:r>
              <a:rPr lang="zh-CN" sz="1350" b="1">
                <a:solidFill>
                  <a:srgbClr val="1E3A8A"/>
                </a:solidFill>
                <a:latin typeface="PingFang SC"/>
                <a:ea typeface="PingFang SC"/>
              </a:rPr>
              <a:t>六维打分（各</a:t>
            </a:r>
            <a:r>
              <a:rPr lang="en-US" sz="1350" b="1">
                <a:solidFill>
                  <a:srgbClr val="1E3A8A"/>
                </a:solidFill>
                <a:latin typeface="PingFang SC"/>
                <a:ea typeface="PingFang SC"/>
              </a:rPr>
              <a:t> 1–5 </a:t>
            </a:r>
            <a:r>
              <a:rPr lang="zh-CN" sz="1350" b="1">
                <a:solidFill>
                  <a:srgbClr val="1E3A8A"/>
                </a:solidFill>
                <a:latin typeface="PingFang SC"/>
                <a:ea typeface="PingFang SC"/>
              </a:rPr>
              <a:t>分）</a:t>
            </a:r>
            <a:endParaRPr/>
          </a:p>
        </p:txBody>
      </p:sp>
      <p:sp>
        <p:nvSpPr>
          <p:cNvPr id="1036" name="" descr="{&quot;isTemplate&quot;:true,&quot;type&quot;:&quot;text&quot;}"/>
          <p:cNvSpPr txBox="1"/>
          <p:nvPr/>
        </p:nvSpPr>
        <p:spPr>
          <a:xfrm rot="0" flipH="0" flipV="0">
            <a:off x="10401300" y="1485900"/>
            <a:ext cx="857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PingFang SC"/>
                <a:ea typeface="PingFang SC"/>
              </a:rPr>
              <a:t>示例场景得分</a:t>
            </a:r>
            <a:endParaRPr/>
          </a:p>
        </p:txBody>
      </p:sp>
      <p:sp>
        <p:nvSpPr>
          <p:cNvPr id="1037" name="" descr="{&quot;isTemplate&quot;:true,&quot;type&quot;:&quot;text&quot;}"/>
          <p:cNvSpPr txBox="1"/>
          <p:nvPr/>
        </p:nvSpPr>
        <p:spPr>
          <a:xfrm rot="0" flipH="0" flipV="0">
            <a:off x="4991100" y="1809750"/>
            <a:ext cx="838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E3A8A"/>
                </a:solidFill>
                <a:latin typeface="PingFang SC"/>
                <a:ea typeface="PingFang SC"/>
              </a:rPr>
              <a:t>价值</a:t>
            </a:r>
            <a:endParaRPr/>
          </a:p>
        </p:txBody>
      </p:sp>
      <p:sp>
        <p:nvSpPr>
          <p:cNvPr id="1038" name=""/>
          <p:cNvSpPr/>
          <p:nvPr/>
        </p:nvSpPr>
        <p:spPr>
          <a:xfrm rot="0" flipH="0" flipV="0">
            <a:off x="5943600" y="1857375"/>
            <a:ext cx="4972050" cy="95250"/>
          </a:xfrm>
          <a:prstGeom prst="roundRect">
            <a:avLst>
              <a:gd name="adj" fmla="val 50000"/>
            </a:avLst>
          </a:prstGeom>
          <a:solidFill>
            <a:srgbClr val="EDF3FB"/>
          </a:solidFill>
          <a:ln/>
        </p:spPr>
        <p:txBody>
          <a:bodyPr/>
          <a:p/>
        </p:txBody>
      </p:sp>
      <p:sp>
        <p:nvSpPr>
          <p:cNvPr id="1039" name=""/>
          <p:cNvSpPr/>
          <p:nvPr/>
        </p:nvSpPr>
        <p:spPr>
          <a:xfrm rot="0" flipH="0" flipV="0">
            <a:off x="5943600" y="1857375"/>
            <a:ext cx="4972050" cy="9525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1040" name="" descr="{&quot;isTemplate&quot;:true,&quot;type&quot;:&quot;text&quot;}"/>
          <p:cNvSpPr txBox="1"/>
          <p:nvPr/>
        </p:nvSpPr>
        <p:spPr>
          <a:xfrm rot="0" flipH="0" flipV="0">
            <a:off x="11029950" y="1809750"/>
            <a:ext cx="228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891B2"/>
                </a:solidFill>
                <a:latin typeface="Space Grotesk"/>
                <a:ea typeface="Space Grotesk"/>
              </a:rPr>
              <a:t>5</a:t>
            </a:r>
            <a:endParaRPr/>
          </a:p>
        </p:txBody>
      </p:sp>
      <p:sp>
        <p:nvSpPr>
          <p:cNvPr id="1041" name="" descr="{&quot;isTemplate&quot;:true,&quot;type&quot;:&quot;text&quot;}"/>
          <p:cNvSpPr txBox="1"/>
          <p:nvPr/>
        </p:nvSpPr>
        <p:spPr>
          <a:xfrm rot="0" flipH="0" flipV="0">
            <a:off x="4991100" y="2085975"/>
            <a:ext cx="838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E3A8A"/>
                </a:solidFill>
                <a:latin typeface="PingFang SC"/>
                <a:ea typeface="PingFang SC"/>
              </a:rPr>
              <a:t>可行性</a:t>
            </a:r>
            <a:endParaRPr/>
          </a:p>
        </p:txBody>
      </p:sp>
      <p:sp>
        <p:nvSpPr>
          <p:cNvPr id="1042" name=""/>
          <p:cNvSpPr/>
          <p:nvPr/>
        </p:nvSpPr>
        <p:spPr>
          <a:xfrm rot="0" flipH="0" flipV="0">
            <a:off x="5943600" y="2133600"/>
            <a:ext cx="4972050" cy="95250"/>
          </a:xfrm>
          <a:prstGeom prst="roundRect">
            <a:avLst>
              <a:gd name="adj" fmla="val 50000"/>
            </a:avLst>
          </a:prstGeom>
          <a:solidFill>
            <a:srgbClr val="EDF3FB"/>
          </a:solidFill>
          <a:ln/>
        </p:spPr>
        <p:txBody>
          <a:bodyPr/>
          <a:p/>
        </p:txBody>
      </p:sp>
      <p:sp>
        <p:nvSpPr>
          <p:cNvPr id="1043" name=""/>
          <p:cNvSpPr/>
          <p:nvPr/>
        </p:nvSpPr>
        <p:spPr>
          <a:xfrm rot="0" flipH="0" flipV="0">
            <a:off x="5943600" y="2133600"/>
            <a:ext cx="3981450" cy="9525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1044" name="" descr="{&quot;isTemplate&quot;:true,&quot;type&quot;:&quot;text&quot;}"/>
          <p:cNvSpPr txBox="1"/>
          <p:nvPr/>
        </p:nvSpPr>
        <p:spPr>
          <a:xfrm rot="0" flipH="0" flipV="0">
            <a:off x="11029950" y="2085975"/>
            <a:ext cx="228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891B2"/>
                </a:solidFill>
                <a:latin typeface="Space Grotesk"/>
                <a:ea typeface="Space Grotesk"/>
              </a:rPr>
              <a:t>4</a:t>
            </a:r>
            <a:endParaRPr/>
          </a:p>
        </p:txBody>
      </p:sp>
      <p:sp>
        <p:nvSpPr>
          <p:cNvPr id="1045" name="" descr="{&quot;isTemplate&quot;:true,&quot;type&quot;:&quot;text&quot;}"/>
          <p:cNvSpPr txBox="1"/>
          <p:nvPr/>
        </p:nvSpPr>
        <p:spPr>
          <a:xfrm rot="0" flipH="0" flipV="0">
            <a:off x="4991100" y="2362200"/>
            <a:ext cx="838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E3A8A"/>
                </a:solidFill>
                <a:latin typeface="PingFang SC"/>
                <a:ea typeface="PingFang SC"/>
              </a:rPr>
              <a:t>风险</a:t>
            </a:r>
            <a:endParaRPr/>
          </a:p>
        </p:txBody>
      </p:sp>
      <p:sp>
        <p:nvSpPr>
          <p:cNvPr id="1046" name=""/>
          <p:cNvSpPr/>
          <p:nvPr/>
        </p:nvSpPr>
        <p:spPr>
          <a:xfrm rot="0" flipH="0" flipV="0">
            <a:off x="5943600" y="2409825"/>
            <a:ext cx="4972050" cy="95250"/>
          </a:xfrm>
          <a:prstGeom prst="roundRect">
            <a:avLst>
              <a:gd name="adj" fmla="val 50000"/>
            </a:avLst>
          </a:prstGeom>
          <a:solidFill>
            <a:srgbClr val="EDF3FB"/>
          </a:solidFill>
          <a:ln/>
        </p:spPr>
        <p:txBody>
          <a:bodyPr/>
          <a:p/>
        </p:txBody>
      </p:sp>
      <p:sp>
        <p:nvSpPr>
          <p:cNvPr id="1047" name=""/>
          <p:cNvSpPr/>
          <p:nvPr/>
        </p:nvSpPr>
        <p:spPr>
          <a:xfrm rot="0" flipH="0" flipV="0">
            <a:off x="5943600" y="2409825"/>
            <a:ext cx="2981325" cy="952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048" name="" descr="{&quot;isTemplate&quot;:true,&quot;type&quot;:&quot;text&quot;}"/>
          <p:cNvSpPr txBox="1"/>
          <p:nvPr/>
        </p:nvSpPr>
        <p:spPr>
          <a:xfrm rot="0" flipH="0" flipV="0">
            <a:off x="11029950" y="2362200"/>
            <a:ext cx="228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B45309"/>
                </a:solidFill>
                <a:latin typeface="Space Grotesk"/>
                <a:ea typeface="Space Grotesk"/>
              </a:rPr>
              <a:t>3</a:t>
            </a:r>
            <a:endParaRPr/>
          </a:p>
        </p:txBody>
      </p:sp>
      <p:sp>
        <p:nvSpPr>
          <p:cNvPr id="1049" name="" descr="{&quot;isTemplate&quot;:true,&quot;type&quot;:&quot;text&quot;}"/>
          <p:cNvSpPr txBox="1"/>
          <p:nvPr/>
        </p:nvSpPr>
        <p:spPr>
          <a:xfrm rot="0" flipH="0" flipV="0">
            <a:off x="4991100" y="2638425"/>
            <a:ext cx="838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E3A8A"/>
                </a:solidFill>
                <a:latin typeface="PingFang SC"/>
                <a:ea typeface="PingFang SC"/>
              </a:rPr>
              <a:t>学习速度</a:t>
            </a:r>
            <a:endParaRPr/>
          </a:p>
        </p:txBody>
      </p:sp>
      <p:sp>
        <p:nvSpPr>
          <p:cNvPr id="1050" name=""/>
          <p:cNvSpPr/>
          <p:nvPr/>
        </p:nvSpPr>
        <p:spPr>
          <a:xfrm rot="0" flipH="0" flipV="0">
            <a:off x="5943600" y="2686050"/>
            <a:ext cx="4972050" cy="95250"/>
          </a:xfrm>
          <a:prstGeom prst="roundRect">
            <a:avLst>
              <a:gd name="adj" fmla="val 50000"/>
            </a:avLst>
          </a:prstGeom>
          <a:solidFill>
            <a:srgbClr val="EDF3FB"/>
          </a:solidFill>
          <a:ln/>
        </p:spPr>
        <p:txBody>
          <a:bodyPr/>
          <a:p/>
        </p:txBody>
      </p:sp>
      <p:sp>
        <p:nvSpPr>
          <p:cNvPr id="1051" name=""/>
          <p:cNvSpPr/>
          <p:nvPr/>
        </p:nvSpPr>
        <p:spPr>
          <a:xfrm rot="0" flipH="0" flipV="0">
            <a:off x="5943600" y="2686050"/>
            <a:ext cx="3981450" cy="9525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1052" name="" descr="{&quot;isTemplate&quot;:true,&quot;type&quot;:&quot;text&quot;}"/>
          <p:cNvSpPr txBox="1"/>
          <p:nvPr/>
        </p:nvSpPr>
        <p:spPr>
          <a:xfrm rot="0" flipH="0" flipV="0">
            <a:off x="11029950" y="2638425"/>
            <a:ext cx="228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891B2"/>
                </a:solidFill>
                <a:latin typeface="Space Grotesk"/>
                <a:ea typeface="Space Grotesk"/>
              </a:rPr>
              <a:t>4</a:t>
            </a:r>
            <a:endParaRPr/>
          </a:p>
        </p:txBody>
      </p:sp>
      <p:sp>
        <p:nvSpPr>
          <p:cNvPr id="1053" name="" descr="{&quot;isTemplate&quot;:true,&quot;type&quot;:&quot;text&quot;}"/>
          <p:cNvSpPr txBox="1"/>
          <p:nvPr/>
        </p:nvSpPr>
        <p:spPr>
          <a:xfrm rot="0" flipH="0" flipV="0">
            <a:off x="4991100" y="2914650"/>
            <a:ext cx="838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E3A8A"/>
                </a:solidFill>
                <a:latin typeface="PingFang SC"/>
                <a:ea typeface="PingFang SC"/>
              </a:rPr>
              <a:t>可复制性</a:t>
            </a:r>
            <a:endParaRPr/>
          </a:p>
        </p:txBody>
      </p:sp>
      <p:sp>
        <p:nvSpPr>
          <p:cNvPr id="1054" name=""/>
          <p:cNvSpPr/>
          <p:nvPr/>
        </p:nvSpPr>
        <p:spPr>
          <a:xfrm rot="0" flipH="0" flipV="0">
            <a:off x="5943600" y="2962275"/>
            <a:ext cx="4972050" cy="95250"/>
          </a:xfrm>
          <a:prstGeom prst="roundRect">
            <a:avLst>
              <a:gd name="adj" fmla="val 50000"/>
            </a:avLst>
          </a:prstGeom>
          <a:solidFill>
            <a:srgbClr val="EDF3FB"/>
          </a:solidFill>
          <a:ln/>
        </p:spPr>
        <p:txBody>
          <a:bodyPr/>
          <a:p/>
        </p:txBody>
      </p:sp>
      <p:sp>
        <p:nvSpPr>
          <p:cNvPr id="1055" name=""/>
          <p:cNvSpPr/>
          <p:nvPr/>
        </p:nvSpPr>
        <p:spPr>
          <a:xfrm rot="0" flipH="0" flipV="0">
            <a:off x="5943600" y="2962275"/>
            <a:ext cx="3981450" cy="9525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1056" name="" descr="{&quot;isTemplate&quot;:true,&quot;type&quot;:&quot;text&quot;}"/>
          <p:cNvSpPr txBox="1"/>
          <p:nvPr/>
        </p:nvSpPr>
        <p:spPr>
          <a:xfrm rot="0" flipH="0" flipV="0">
            <a:off x="11029950" y="2914650"/>
            <a:ext cx="228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891B2"/>
                </a:solidFill>
                <a:latin typeface="Space Grotesk"/>
                <a:ea typeface="Space Grotesk"/>
              </a:rPr>
              <a:t>4</a:t>
            </a:r>
            <a:endParaRPr/>
          </a:p>
        </p:txBody>
      </p:sp>
      <p:sp>
        <p:nvSpPr>
          <p:cNvPr id="1057" name="" descr="{&quot;isTemplate&quot;:true,&quot;type&quot;:&quot;text&quot;}"/>
          <p:cNvSpPr txBox="1"/>
          <p:nvPr/>
        </p:nvSpPr>
        <p:spPr>
          <a:xfrm rot="0" flipH="0" flipV="0">
            <a:off x="4991100" y="3190875"/>
            <a:ext cx="838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E3A8A"/>
                </a:solidFill>
                <a:latin typeface="PingFang SC"/>
                <a:ea typeface="PingFang SC"/>
              </a:rPr>
              <a:t>采纳度</a:t>
            </a:r>
            <a:endParaRPr/>
          </a:p>
        </p:txBody>
      </p:sp>
      <p:sp>
        <p:nvSpPr>
          <p:cNvPr id="1058" name=""/>
          <p:cNvSpPr/>
          <p:nvPr/>
        </p:nvSpPr>
        <p:spPr>
          <a:xfrm rot="0" flipH="0" flipV="0">
            <a:off x="5943600" y="3238500"/>
            <a:ext cx="4972050" cy="95250"/>
          </a:xfrm>
          <a:prstGeom prst="roundRect">
            <a:avLst>
              <a:gd name="adj" fmla="val 50000"/>
            </a:avLst>
          </a:prstGeom>
          <a:solidFill>
            <a:srgbClr val="EDF3FB"/>
          </a:solidFill>
          <a:ln/>
        </p:spPr>
        <p:txBody>
          <a:bodyPr/>
          <a:p/>
        </p:txBody>
      </p:sp>
      <p:sp>
        <p:nvSpPr>
          <p:cNvPr id="1059" name=""/>
          <p:cNvSpPr/>
          <p:nvPr/>
        </p:nvSpPr>
        <p:spPr>
          <a:xfrm rot="0" flipH="0" flipV="0">
            <a:off x="5943600" y="3238500"/>
            <a:ext cx="4972050" cy="9525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1060" name="" descr="{&quot;isTemplate&quot;:true,&quot;type&quot;:&quot;text&quot;}"/>
          <p:cNvSpPr txBox="1"/>
          <p:nvPr/>
        </p:nvSpPr>
        <p:spPr>
          <a:xfrm rot="0" flipH="0" flipV="0">
            <a:off x="11029950" y="3190875"/>
            <a:ext cx="228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891B2"/>
                </a:solidFill>
                <a:latin typeface="Space Grotesk"/>
                <a:ea typeface="Space Grotesk"/>
              </a:rPr>
              <a:t>5</a:t>
            </a:r>
            <a:endParaRPr/>
          </a:p>
        </p:txBody>
      </p:sp>
      <p:sp>
        <p:nvSpPr>
          <p:cNvPr id="1061" name=""/>
          <p:cNvSpPr/>
          <p:nvPr/>
        </p:nvSpPr>
        <p:spPr>
          <a:xfrm rot="0" flipH="0" flipV="0">
            <a:off x="4991100" y="5524500"/>
            <a:ext cx="6267450" cy="438150"/>
          </a:xfrm>
          <a:custGeom>
            <a:pathLst>
              <a:path w="658" h="46">
                <a:moveTo>
                  <a:pt x="0" y="0"/>
                </a:moveTo>
                <a:lnTo>
                  <a:pt x="658" y="0"/>
                </a:lnTo>
                <a:lnTo>
                  <a:pt x="658" y="2"/>
                </a:lnTo>
                <a:lnTo>
                  <a:pt x="0" y="2"/>
                </a:lnTo>
                <a:close/>
              </a:path>
            </a:pathLst>
          </a:custGeom>
          <a:solidFill>
            <a:srgbClr val="EAF1F8"/>
          </a:solidFill>
          <a:ln/>
        </p:spPr>
        <p:txBody>
          <a:bodyPr/>
          <a:p/>
        </p:txBody>
      </p:sp>
      <p:sp>
        <p:nvSpPr>
          <p:cNvPr id="1062" name="" descr="{&quot;isTemplate&quot;:true,&quot;type&quot;:&quot;text&quot;}"/>
          <p:cNvSpPr txBox="1"/>
          <p:nvPr/>
        </p:nvSpPr>
        <p:spPr>
          <a:xfrm rot="0" flipH="0" flipV="0">
            <a:off x="4991100" y="5686425"/>
            <a:ext cx="11239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3A8A"/>
                </a:solidFill>
                <a:latin typeface="PingFang SC"/>
                <a:ea typeface="PingFang SC"/>
              </a:rPr>
              <a:t>总分</a:t>
            </a:r>
            <a:r>
              <a:rPr lang="en-US" sz="1500" b="1">
                <a:solidFill>
                  <a:srgbClr val="1E3A8A"/>
                </a:solidFill>
                <a:latin typeface="PingFang SC"/>
                <a:ea typeface="PingFang SC"/>
              </a:rPr>
              <a:t> 25 / 30</a:t>
            </a:r>
            <a:endParaRPr/>
          </a:p>
        </p:txBody>
      </p:sp>
      <p:sp>
        <p:nvSpPr>
          <p:cNvPr id="1063" name=""/>
          <p:cNvSpPr/>
          <p:nvPr/>
        </p:nvSpPr>
        <p:spPr>
          <a:xfrm rot="0" flipH="0" flipV="0">
            <a:off x="6210300" y="5657850"/>
            <a:ext cx="1457325" cy="285750"/>
          </a:xfrm>
          <a:prstGeom prst="roundRect">
            <a:avLst>
              <a:gd name="adj" fmla="val 3330000"/>
            </a:avLst>
          </a:prstGeom>
          <a:solidFill>
            <a:srgbClr val="1E3A8A"/>
          </a:solidFill>
          <a:ln/>
        </p:spPr>
        <p:txBody>
          <a:bodyPr/>
          <a:p/>
        </p:txBody>
      </p:sp>
      <p:sp>
        <p:nvSpPr>
          <p:cNvPr id="1064" name="" descr="{&quot;isTemplate&quot;:true,&quot;type&quot;:&quot;text&quot;}"/>
          <p:cNvSpPr txBox="1"/>
          <p:nvPr/>
        </p:nvSpPr>
        <p:spPr>
          <a:xfrm rot="0" flipH="0" flipV="0">
            <a:off x="6343650" y="5715000"/>
            <a:ext cx="1190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PingFang SC"/>
                <a:ea typeface="PingFang SC"/>
              </a:rPr>
              <a:t>≥ 24 </a:t>
            </a:r>
            <a:r>
              <a:rPr lang="zh-CN" sz="1125" b="1">
                <a:solidFill>
                  <a:srgbClr val="FFFFFF"/>
                </a:solidFill>
                <a:latin typeface="PingFang SC"/>
                <a:ea typeface="PingFang SC"/>
              </a:rPr>
              <a:t>分</a:t>
            </a:r>
            <a:r>
              <a:rPr lang="en-US" sz="1125" b="1">
                <a:solidFill>
                  <a:srgbClr val="FFFFFF"/>
                </a:solidFill>
                <a:latin typeface="PingFang SC"/>
                <a:ea typeface="PingFang SC"/>
              </a:rPr>
              <a:t> → </a:t>
            </a:r>
            <a:r>
              <a:rPr lang="zh-CN" sz="1125" b="1">
                <a:solidFill>
                  <a:srgbClr val="FFFFFF"/>
                </a:solidFill>
                <a:latin typeface="PingFang SC"/>
                <a:ea typeface="PingFang SC"/>
              </a:rPr>
              <a:t>进试点</a:t>
            </a:r>
            <a:endParaRPr/>
          </a:p>
        </p:txBody>
      </p:sp>
      <p:sp>
        <p:nvSpPr>
          <p:cNvPr id="1065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1123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AI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场景落地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中级</a:t>
            </a:r>
            <a:endParaRPr/>
          </a:p>
        </p:txBody>
      </p:sp>
      <p:sp>
        <p:nvSpPr>
          <p:cNvPr id="1066" name="" descr="{&quot;isTemplate&quot;:true,&quot;type&quot;:&quot;text&quot;}"/>
          <p:cNvSpPr txBox="1"/>
          <p:nvPr/>
        </p:nvSpPr>
        <p:spPr>
          <a:xfrm rot="0" flipH="0" flipV="0">
            <a:off x="11029950" y="63627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07 / 34</a:t>
            </a:r>
            <a:endParaRPr/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67" name="" descr="&lt;Slide style={{ width: '1280px', height: '720px', position: 'relative', background: '#1E3A8A', overflow: 'hidden', fontFamily: 'PingFang SC, Source Han Sans SC, sans-serif' }}&gt;&#10;    &lt;Box style={{ position: 'absolute', top: 0, right: 0, width: 500, height: '720px' }}&gt;&#10;        &lt;Image src=&quot;assets/hero_cover.png&quot; style={{ width: '500px', height: '720px', objectFit: 'cover', opacity: 0.5 }} /&gt;&#10;        &lt;Box style={{ position: 'absolute', top: 0, left: 0, width: '500px', height: '720px', background: 'linear-gradient(90deg, rgba(30,58,138,1) 0%, rgba(30,58,138,0.15) 100%)' }} /&gt;&#10;    &lt;/Box&gt;&#10;    &lt;Box style={{ position: 'relative', zIndex: 1, height: '720px', padding: '0 84px', justifyContent: 'center' }}&gt;&#10;        &lt;Text style={{ fontSize: 130, fontWeight: 'bold', color: 'rgba(6,182,212,0.5)', lineHeight: 1, fontFamily: 'Space Grotesk, Inter' }}&gt;02&lt;/Text&gt;&#10;        &lt;Text style={{ fontSize: 18, color: '#7FD9F0', letterSpacing: 5, marginTop: 6 }}&gt;M2 · 3 课时&lt;/Text&gt;&#10;        &lt;Text style={{ fontSize: 54, fontWeight: 'bold', color: '#FFFFFF', marginTop: 20, lineHeight: 1.18 }}&gt;预测性维护&lt;br /&gt;让设备先开口&lt;/Text&gt;&#10;        &lt;Box style={{ width: 84, height: 4, background: '#06B6D4', marginTop: 30 }} /&gt;&#10;        &lt;Text style={{ fontSize: 19, color: '#A9C4E8', marginTop: 22, lineHeight: 1.6 }}&gt;维护四阶演进 · 时序三看 · 三段阈值与处置权 · OEE 算账&lt;br /&gt;标杆：陕汽 10 秒预警 · 西门子非计划停机 -50%。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p/>
        </p:txBody>
      </p:sp>
      <p:pic>
        <p:nvPicPr>
          <p:cNvPr id="1069" name=""/>
          <p:cNvPicPr>
            <a:picLocks noChangeAspect="1"/>
          </p:cNvPicPr>
          <p:nvPr/>
        </p:nvPicPr>
        <p:blipFill>
          <a:blip r:embed="rId1">
            <a:alphaModFix amt="50000"/>
          </a:blip>
          <a:srcRect l="26242" t="0" r="26242" b="0"/>
          <a:stretch>
            <a:fillRect/>
          </a:stretch>
        </p:blipFill>
        <p:spPr>
          <a:xfrm rot="0" flipH="0" flipV="0">
            <a:off x="7429500" y="0"/>
            <a:ext cx="4762500" cy="6858000"/>
          </a:xfrm>
          <a:prstGeom prst="rect">
            <a:avLst/>
          </a:prstGeom>
          <a:ln/>
        </p:spPr>
      </p:pic>
      <p:sp>
        <p:nvSpPr>
          <p:cNvPr id="1070" name=""/>
          <p:cNvSpPr/>
          <p:nvPr/>
        </p:nvSpPr>
        <p:spPr>
          <a:xfrm rot="0" flipH="0" flipV="0">
            <a:off x="7429500" y="0"/>
            <a:ext cx="4762500" cy="6858000"/>
          </a:xfrm>
          <a:prstGeom prst="rect">
            <a:avLst/>
          </a:prstGeom>
          <a:gradFill>
            <a:gsLst>
              <a:gs pos="0">
                <a:srgbClr val="1E3A8A">
                  <a:alpha val="100000"/>
                </a:srgbClr>
              </a:gs>
              <a:gs pos="100000">
                <a:srgbClr val="1E3A8A">
                  <a:alpha val="1500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1071" name="" descr="{&quot;isTemplate&quot;:true,&quot;type&quot;:&quot;text&quot;}"/>
          <p:cNvSpPr txBox="1"/>
          <p:nvPr/>
        </p:nvSpPr>
        <p:spPr>
          <a:xfrm rot="0" flipH="0" flipV="0">
            <a:off x="800100" y="1114425"/>
            <a:ext cx="10591800" cy="1485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0" b="1">
                <a:solidFill>
                  <a:srgbClr val="06B6D4">
                    <a:alpha val="50000"/>
                  </a:srgbClr>
                </a:solidFill>
                <a:latin typeface="Space Grotesk"/>
                <a:ea typeface="Space Grotesk"/>
              </a:rPr>
              <a:t>02</a:t>
            </a:r>
            <a:endParaRPr/>
          </a:p>
        </p:txBody>
      </p:sp>
      <p:sp>
        <p:nvSpPr>
          <p:cNvPr id="1072" name="" descr="{&quot;isTemplate&quot;:true,&quot;type&quot;:&quot;text&quot;}"/>
          <p:cNvSpPr txBox="1"/>
          <p:nvPr/>
        </p:nvSpPr>
        <p:spPr>
          <a:xfrm rot="0" flipH="0" flipV="0">
            <a:off x="800100" y="2657475"/>
            <a:ext cx="10591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spc="375">
                <a:solidFill>
                  <a:srgbClr val="7FD9F0"/>
                </a:solidFill>
                <a:latin typeface="PingFang SC"/>
                <a:ea typeface="PingFang SC"/>
              </a:rPr>
              <a:t>M2 · 3 </a:t>
            </a:r>
            <a:r>
              <a:rPr lang="zh-CN" sz="1350" spc="375">
                <a:solidFill>
                  <a:srgbClr val="7FD9F0"/>
                </a:solidFill>
                <a:latin typeface="PingFang SC"/>
                <a:ea typeface="PingFang SC"/>
              </a:rPr>
              <a:t>课时</a:t>
            </a:r>
            <a:endParaRPr/>
          </a:p>
        </p:txBody>
      </p:sp>
      <p:sp>
        <p:nvSpPr>
          <p:cNvPr id="1073" name="" descr="{&quot;isTemplate&quot;:true,&quot;type&quot;:&quot;text&quot;}"/>
          <p:cNvSpPr txBox="1"/>
          <p:nvPr/>
        </p:nvSpPr>
        <p:spPr>
          <a:xfrm rot="0" flipH="0" flipV="0">
            <a:off x="800100" y="3057525"/>
            <a:ext cx="10591800" cy="1457325"/>
          </a:xfrm>
          <a:prstGeom prst="rect"/>
        </p:spPr>
        <p:txBody>
          <a:bodyPr wrap="none" lIns="0" tIns="0" rIns="0" bIns="0"/>
          <a:p>
            <a:pPr>
              <a:lnSpc>
                <a:spcPct val="118000"/>
              </a:lnSpc>
            </a:pPr>
            <a:r>
              <a:rPr lang="zh-CN" sz="4050" b="1">
                <a:solidFill>
                  <a:srgbClr val="FFFFFF"/>
                </a:solidFill>
                <a:latin typeface="PingFang SC"/>
                <a:ea typeface="PingFang SC"/>
              </a:rPr>
              <a:t>预测预警</a:t>
            </a:r>
            <a:endParaRPr/>
          </a:p>
          <a:p>
            <a:pPr>
              <a:lnSpc>
                <a:spcPct val="118000"/>
              </a:lnSpc>
            </a:pPr>
            <a:r>
              <a:rPr lang="zh-CN" sz="4050" b="1">
                <a:solidFill>
                  <a:srgbClr val="FFFFFF"/>
                </a:solidFill>
                <a:latin typeface="PingFang SC"/>
                <a:ea typeface="PingFang SC"/>
              </a:rPr>
              <a:t>让系统先开口</a:t>
            </a:r>
            <a:endParaRPr/>
          </a:p>
        </p:txBody>
      </p:sp>
      <p:sp>
        <p:nvSpPr>
          <p:cNvPr id="1074" name=""/>
          <p:cNvSpPr/>
          <p:nvPr/>
        </p:nvSpPr>
        <p:spPr>
          <a:xfrm rot="0" flipH="0" flipV="0">
            <a:off x="800100" y="4800600"/>
            <a:ext cx="800100" cy="381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1075" name="" descr="{&quot;isTemplate&quot;:true,&quot;type&quot;:&quot;text&quot;}"/>
          <p:cNvSpPr txBox="1"/>
          <p:nvPr/>
        </p:nvSpPr>
        <p:spPr>
          <a:xfrm rot="0" flipH="0" flipV="0">
            <a:off x="800100" y="5048250"/>
            <a:ext cx="10591800" cy="695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A9C4E8"/>
                </a:solidFill>
                <a:latin typeface="PingFang SC"/>
                <a:ea typeface="PingFang SC"/>
              </a:rPr>
              <a:t>预测四阶演进</a:t>
            </a:r>
            <a:r>
              <a:rPr lang="en-US" sz="1425">
                <a:solidFill>
                  <a:srgbClr val="A9C4E8"/>
                </a:solidFill>
                <a:latin typeface="PingFang SC"/>
                <a:ea typeface="PingFang SC"/>
              </a:rPr>
              <a:t> · </a:t>
            </a:r>
            <a:r>
              <a:rPr lang="zh-CN" sz="1425">
                <a:solidFill>
                  <a:srgbClr val="A9C4E8"/>
                </a:solidFill>
                <a:latin typeface="PingFang SC"/>
                <a:ea typeface="PingFang SC"/>
              </a:rPr>
              <a:t>时序三看</a:t>
            </a:r>
            <a:r>
              <a:rPr lang="en-US" sz="1425">
                <a:solidFill>
                  <a:srgbClr val="A9C4E8"/>
                </a:solidFill>
                <a:latin typeface="PingFang SC"/>
                <a:ea typeface="PingFang SC"/>
              </a:rPr>
              <a:t> · </a:t>
            </a:r>
            <a:r>
              <a:rPr lang="zh-CN" sz="1425">
                <a:solidFill>
                  <a:srgbClr val="A9C4E8"/>
                </a:solidFill>
                <a:latin typeface="PingFang SC"/>
                <a:ea typeface="PingFang SC"/>
              </a:rPr>
              <a:t>三段阈值与处置权</a:t>
            </a:r>
            <a:r>
              <a:rPr lang="en-US" sz="1425">
                <a:solidFill>
                  <a:srgbClr val="A9C4E8"/>
                </a:solidFill>
                <a:latin typeface="PingFang SC"/>
                <a:ea typeface="PingFang SC"/>
              </a:rPr>
              <a:t> · 运营基线 </a:t>
            </a:r>
            <a:r>
              <a:rPr lang="zh-CN" sz="1425">
                <a:solidFill>
                  <a:srgbClr val="A9C4E8"/>
                </a:solidFill>
                <a:latin typeface="PingFang SC"/>
                <a:ea typeface="PingFang SC"/>
              </a:rPr>
              <a:t>算账</a:t>
            </a:r>
            <a:endParaRPr/>
          </a:p>
          <a:p>
            <a:pPr>
              <a:lnSpc>
                <a:spcPct val="160000"/>
              </a:lnSpc>
            </a:pPr>
            <a:r>
              <a:rPr lang="zh-CN" sz="1425">
                <a:solidFill>
                  <a:srgbClr val="A9C4E8"/>
                </a:solidFill>
                <a:latin typeface="PingFang SC"/>
                <a:ea typeface="PingFang SC"/>
              </a:rPr>
              <a:t>标杆：跨行业标杆</a:t>
            </a:r>
            <a:r>
              <a:rPr lang="en-US" sz="1425">
                <a:solidFill>
                  <a:srgbClr val="A9C4E8"/>
                </a:solidFill>
                <a:latin typeface="PingFang SC"/>
                <a:ea typeface="PingFang SC"/>
              </a:rPr>
              <a:t> 10 </a:t>
            </a:r>
            <a:r>
              <a:rPr lang="zh-CN" sz="1425">
                <a:solidFill>
                  <a:srgbClr val="A9C4E8"/>
                </a:solidFill>
                <a:latin typeface="PingFang SC"/>
                <a:ea typeface="PingFang SC"/>
              </a:rPr>
              <a:t>秒预警</a:t>
            </a:r>
            <a:r>
              <a:rPr lang="en-US" sz="1425">
                <a:solidFill>
                  <a:srgbClr val="A9C4E8"/>
                </a:solidFill>
                <a:latin typeface="PingFang SC"/>
                <a:ea typeface="PingFang SC"/>
              </a:rPr>
              <a:t> · </a:t>
            </a:r>
            <a:r>
              <a:rPr lang="zh-CN" sz="1425">
                <a:solidFill>
                  <a:srgbClr val="A9C4E8"/>
                </a:solidFill>
                <a:latin typeface="PingFang SC"/>
                <a:ea typeface="PingFang SC"/>
              </a:rPr>
              <a:t>厂商案例非计划中断</a:t>
            </a:r>
            <a:r>
              <a:rPr lang="en-US" sz="1425">
                <a:solidFill>
                  <a:srgbClr val="A9C4E8"/>
                </a:solidFill>
                <a:latin typeface="PingFang SC"/>
                <a:ea typeface="PingFang SC"/>
              </a:rPr>
              <a:t> -50%</a:t>
            </a:r>
            <a:r>
              <a:rPr lang="zh-CN" sz="1425">
                <a:solidFill>
                  <a:srgbClr val="A9C4E8"/>
                </a:solidFill>
                <a:latin typeface="PingFang SC"/>
                <a:ea typeface="PingFang SC"/>
              </a:rPr>
              <a:t>。</a:t>
            </a:r>
            <a:endParaRPr/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76" name="" descr="const stages = [&#10;    { t: '事后维护', d: '坏了再修', tag: '最贵', hot: false },&#10;    { t: '计划维护', d: '按日历换件', tag: '保守', hot: false },&#10;    { t: '状态维护', d: '看指标报警', tag: '被动', hot: false },&#10;    { t: '预测维护', d: 'AI 提前预警', tag: '主动', hot: true },&#10;];&#10;&lt;Slide style={{ width: '1280px', height: '720px', background: '#F5F8FC', padding: '24px 72px', boxSizing: 'border-box', flexDirection: 'column', fontFamily: 'PingFang SC, Source Han Sans SC, sans-serif' }}&gt;&#10;    &lt;Box style={{ height: 96, flexDirection: 'row', alignItems: 'center', gap: 16 }}&gt;&#10;        &lt;Box style={{ width: 5, height: 46, background: '#06B6D4', borderRadius: 3 }} /&gt;&#10;        &lt;Box&gt;&#10;            &lt;Text style={{ fontSize: 34, fontWeight: 'bold', color: '#1E3A8A', lineHeight: 1.2 }}&gt;维护四阶演进 + 时序三看&lt;/Text&gt;&#10;            &lt;Text style={{ fontSize: 17, color: '#64748B', marginTop: 4 }}&gt;预测维护 = 状态维护 + 趋势外推 + 处置闭环&lt;/Text&gt;&#10;        &lt;/Box&gt;&#10;    &lt;/Box&gt;&#10;    &lt;Box style={{ flex: 1, flexDirection: 'row', gap: 26, marginTop: 14 }}&gt;&#10;        &lt;Box style={{ flex: 55, flexDirection: 'column' }}&gt;&#10;            &lt;Box style={{ flexDirection: 'row', gap: 14 }}&gt;&#10;                {stages.map((s, i) =&gt; (&#10;                    &lt;Box key={i} style={{ flex: 1, background: s.hot ? '#1E3A8A' : '#FFFFFF', borderRadius: 14, padding: '18px 14px', border: '1px solid ' + (s.hot ? '#1E3A8A' : '#E2E8F0'), flexDirection: 'column', alignItems: 'center', boxShadow: s.hot ? '0 8px 24px rgba(30,58,138,0.25)' : 'none' }}&gt;&#10;                        &lt;Text style={{ fontSize: 15, color: s.hot ? '#7FD9F0' : '#64748B', marginBottom: 6, fontFamily: 'Space Grotesk, Inter' }}&gt;{'0' + (i + 1)}&lt;/Text&gt;&#10;                        &lt;Text style={{ fontSize: 20, fontWeight: 'bold', color: s.hot ? '#FFFFFF' : '#1E3A8A', textAlign: 'center' }}&gt;{s.t}&lt;/Text&gt;&#10;                        &lt;Text style={{ fontSize: 14, color: s.hot ? '#DCE9FB' : '#43566b', marginTop: 8, textAlign: 'center' }}&gt;{s.d}&lt;/Text&gt;&#10;                        &lt;Box style={{ marginTop: 12, padding: '4px 12px', background: s.hot ? '#F59E0B' : '#EDF3FB', borderRadius: 999 }}&gt;&#10;                            &lt;Text style={{ fontSize: 13, fontWeight: 'bold', color: s.hot ? '#FFFFFF' : '#64748B' }}&gt;{s.tag}&lt;/Text&gt;&#10;                        &lt;/Box&gt;&#10;                    &lt;/Box&gt;&#10;                ))}&#10;            &lt;/Box&gt;&#10;            &lt;Box style={{ flex: 1, background: '#FFFFFF', borderRadius: 16, padding: '20px 24px', marginTop: 20, border: '1px solid #E2E8F0', flexDirection: 'column' }}&gt;&#10;                &lt;Text style={{ fontSize: 18, fontWeight: 'bold', color: '#1E3A8A', marginBottom: 12 }}&gt;时序三看：AI 看的是曲线形状，不是单点&lt;/Text&gt;&#10;                &lt;Box style={{ flexDirection: 'row', gap: 14 }}&gt;&#10;                    {[&#10;                        ['趋势', '缓慢漂移：振动值一个月涨了 8%'],&#10;                        ['阈值', '越限报警：温度超过工艺上限'],&#10;                        ['突变', '阶跃跳变：某时刻突然翻倍'],&#10;                    ].map((x, i) =&gt; (&#10;                        &lt;Box key={i} style={{ flex: 1, padding: '14px 16px', background: '#F5F8FC', borderRadius: 12, border: '1px solid #E2E8F0' }}&gt;&#10;                            &lt;Text style={{ fontSize: 18, fontWeight: 'bold', color: '#0891B2' }}&gt;{x[0]}&lt;/Text&gt;&#10;                            &lt;Text style={{ fontSize: 14, color: '#43566b', lineHeight: 1.55, marginTop: 6 }}&gt;{x[1]}&lt;/Text&gt;&#10;                        &lt;/Box&gt;&#10;                    ))}&#10;                &lt;/Box&gt;&#10;                &lt;Text style={{ fontSize: 15, color: '#64748B', marginTop: 'auto', paddingTop: 14 }}&gt;数据链六阶：采集 → 传输 → 清洗 → 标注 → 建模 → 反馈 —— 断在哪一环，项目就死在哪一环。&lt;/Text&gt;&#10;            &lt;/Box&gt;&#10;        &lt;/Box&gt;&#10;        &lt;Box style={{ flex: 45, borderRadius: 18, overflow: 'hidden', background: '#1E3A8A', boxShadow: '0 8px 28px rgba(30,58,138,0.18)' }}&gt;&#10;            &lt;Image src=&quot;assets/predictive_maintenance.png&quot; style={{ width: '100%', height: '100%', objectFit: 'cover' }} /&gt;&#10;        &lt;/Box&gt;&#10;    &lt;/Box&gt;&#10;    &lt;Box style={{ height: 40, flexDirection: 'row', justifyContent: 'space-between', alignItems: 'center', marginTop: 10 }}&gt;&#10;        &lt;Text style={{ fontSize: 14, color: '#64748B' }}&gt;AI 场景落地 · 中级&lt;/Text&gt;&#10;        &lt;Text style={{ fontSize: 14, color: '#64748B' }}&gt;09 / 34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/>
        </p:spPr>
        <p:txBody>
          <a:bodyPr/>
          <a:p/>
        </p:txBody>
      </p:sp>
      <p:sp>
        <p:nvSpPr>
          <p:cNvPr id="1078" name=""/>
          <p:cNvSpPr/>
          <p:nvPr/>
        </p:nvSpPr>
        <p:spPr>
          <a:xfrm rot="0" flipH="0" flipV="0">
            <a:off x="685800" y="466725"/>
            <a:ext cx="47625" cy="438150"/>
          </a:xfrm>
          <a:prstGeom prst="roundRect">
            <a:avLst>
              <a:gd name="adj" fmla="val 60000"/>
            </a:avLst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1079" name="" descr="{&quot;isTemplate&quot;:true,&quot;type&quot;:&quot;text&quot;}"/>
          <p:cNvSpPr txBox="1"/>
          <p:nvPr/>
        </p:nvSpPr>
        <p:spPr>
          <a:xfrm rot="0" flipH="0" flipV="0">
            <a:off x="885825" y="333375"/>
            <a:ext cx="36576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>预测四阶演进</a:t>
            </a:r>
            <a:r>
              <a:rPr lang="en-US" sz="2550" b="1">
                <a:solidFill>
                  <a:srgbClr val="1E3A8A"/>
                </a:solidFill>
                <a:latin typeface="PingFang SC"/>
                <a:ea typeface="PingFang SC"/>
              </a:rPr>
              <a:t> + </a:t>
            </a: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>时序三看</a:t>
            </a:r>
            <a:endParaRPr/>
          </a:p>
        </p:txBody>
      </p:sp>
      <p:sp>
        <p:nvSpPr>
          <p:cNvPr id="1080" name="" descr="{&quot;isTemplate&quot;:true,&quot;type&quot;:&quot;text&quot;}"/>
          <p:cNvSpPr txBox="1"/>
          <p:nvPr/>
        </p:nvSpPr>
        <p:spPr>
          <a:xfrm rot="0" flipH="0" flipV="0">
            <a:off x="885825" y="838200"/>
            <a:ext cx="3657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预测预警</a:t>
            </a:r>
            <a:r>
              <a:rPr lang="en-US" sz="1275">
                <a:solidFill>
                  <a:srgbClr val="64748B"/>
                </a:solidFill>
                <a:latin typeface="PingFang SC"/>
                <a:ea typeface="PingFang SC"/>
              </a:rPr>
              <a:t> = </a:t>
            </a: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状态监测</a:t>
            </a:r>
            <a:r>
              <a:rPr lang="en-US" sz="1275">
                <a:solidFill>
                  <a:srgbClr val="64748B"/>
                </a:solidFill>
                <a:latin typeface="PingFang SC"/>
                <a:ea typeface="PingFang SC"/>
              </a:rPr>
              <a:t> + </a:t>
            </a: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趋势外推</a:t>
            </a:r>
            <a:r>
              <a:rPr lang="en-US" sz="1275">
                <a:solidFill>
                  <a:srgbClr val="64748B"/>
                </a:solidFill>
                <a:latin typeface="PingFang SC"/>
                <a:ea typeface="PingFang SC"/>
              </a:rPr>
              <a:t> + </a:t>
            </a: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处置闭环</a:t>
            </a:r>
            <a:endParaRPr/>
          </a:p>
        </p:txBody>
      </p:sp>
      <p:sp>
        <p:nvSpPr>
          <p:cNvPr id="1081" name=""/>
          <p:cNvSpPr/>
          <p:nvPr/>
        </p:nvSpPr>
        <p:spPr>
          <a:xfrm rot="0" flipH="0" flipV="0">
            <a:off x="685800" y="1276350"/>
            <a:ext cx="1352550" cy="1381125"/>
          </a:xfrm>
          <a:prstGeom prst="roundRect">
            <a:avLst>
              <a:gd name="adj" fmla="val 98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82" name="" descr="{&quot;isTemplate&quot;:true,&quot;type&quot;:&quot;text&quot;}"/>
          <p:cNvSpPr txBox="1"/>
          <p:nvPr/>
        </p:nvSpPr>
        <p:spPr>
          <a:xfrm rot="0" flipH="0" flipV="0">
            <a:off x="1285875" y="1447800"/>
            <a:ext cx="1619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64748B"/>
                </a:solidFill>
                <a:latin typeface="Space Grotesk"/>
                <a:ea typeface="Space Grotesk"/>
              </a:rPr>
              <a:t>01</a:t>
            </a:r>
            <a:endParaRPr/>
          </a:p>
        </p:txBody>
      </p:sp>
      <p:sp>
        <p:nvSpPr>
          <p:cNvPr id="1083" name="" descr="{&quot;isTemplate&quot;:true,&quot;type&quot;:&quot;text&quot;}"/>
          <p:cNvSpPr txBox="1"/>
          <p:nvPr/>
        </p:nvSpPr>
        <p:spPr>
          <a:xfrm rot="0" flipH="0" flipV="0">
            <a:off x="981075" y="1676400"/>
            <a:ext cx="762000" cy="2286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500" b="1">
                <a:solidFill>
                  <a:srgbClr val="1E3A8A"/>
                </a:solidFill>
                <a:latin typeface="PingFang SC"/>
                <a:ea typeface="PingFang SC"/>
              </a:rPr>
              <a:t>事后复盘</a:t>
            </a:r>
            <a:endParaRPr/>
          </a:p>
        </p:txBody>
      </p:sp>
      <p:sp>
        <p:nvSpPr>
          <p:cNvPr id="1084" name="" descr="{&quot;isTemplate&quot;:true,&quot;type&quot;:&quot;text&quot;}"/>
          <p:cNvSpPr txBox="1"/>
          <p:nvPr/>
        </p:nvSpPr>
        <p:spPr>
          <a:xfrm rot="0" flipH="0" flipV="0">
            <a:off x="1095375" y="1981200"/>
            <a:ext cx="53340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坏了再修</a:t>
            </a:r>
            <a:endParaRPr/>
          </a:p>
        </p:txBody>
      </p:sp>
      <p:sp>
        <p:nvSpPr>
          <p:cNvPr id="1085" name=""/>
          <p:cNvSpPr/>
          <p:nvPr/>
        </p:nvSpPr>
        <p:spPr>
          <a:xfrm rot="0" flipH="0" flipV="0">
            <a:off x="1123950" y="2257425"/>
            <a:ext cx="476250" cy="228600"/>
          </a:xfrm>
          <a:prstGeom prst="roundRect">
            <a:avLst>
              <a:gd name="adj" fmla="val 4162500"/>
            </a:avLst>
          </a:prstGeom>
          <a:solidFill>
            <a:srgbClr val="EDF3FB"/>
          </a:solidFill>
          <a:ln/>
        </p:spPr>
        <p:txBody>
          <a:bodyPr/>
          <a:p/>
        </p:txBody>
      </p:sp>
      <p:sp>
        <p:nvSpPr>
          <p:cNvPr id="1086" name="" descr="{&quot;isTemplate&quot;:true,&quot;type&quot;:&quot;text&quot;}"/>
          <p:cNvSpPr txBox="1"/>
          <p:nvPr/>
        </p:nvSpPr>
        <p:spPr>
          <a:xfrm rot="0" flipH="0" flipV="0">
            <a:off x="1238250" y="2295525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64748B"/>
                </a:solidFill>
                <a:latin typeface="PingFang SC"/>
                <a:ea typeface="PingFang SC"/>
              </a:rPr>
              <a:t>最贵</a:t>
            </a:r>
            <a:endParaRPr/>
          </a:p>
        </p:txBody>
      </p:sp>
      <p:sp>
        <p:nvSpPr>
          <p:cNvPr id="1087" name=""/>
          <p:cNvSpPr/>
          <p:nvPr/>
        </p:nvSpPr>
        <p:spPr>
          <a:xfrm rot="0" flipH="0" flipV="0">
            <a:off x="2171700" y="1276350"/>
            <a:ext cx="1362075" cy="1381125"/>
          </a:xfrm>
          <a:prstGeom prst="roundRect">
            <a:avLst>
              <a:gd name="adj" fmla="val 97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88" name="" descr="{&quot;isTemplate&quot;:true,&quot;type&quot;:&quot;text&quot;}"/>
          <p:cNvSpPr txBox="1"/>
          <p:nvPr/>
        </p:nvSpPr>
        <p:spPr>
          <a:xfrm rot="0" flipH="0" flipV="0">
            <a:off x="2771775" y="1447800"/>
            <a:ext cx="1619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64748B"/>
                </a:solidFill>
                <a:latin typeface="Space Grotesk"/>
                <a:ea typeface="Space Grotesk"/>
              </a:rPr>
              <a:t>02</a:t>
            </a:r>
            <a:endParaRPr/>
          </a:p>
        </p:txBody>
      </p:sp>
      <p:sp>
        <p:nvSpPr>
          <p:cNvPr id="1089" name="" descr="{&quot;isTemplate&quot;:true,&quot;type&quot;:&quot;text&quot;}"/>
          <p:cNvSpPr txBox="1"/>
          <p:nvPr/>
        </p:nvSpPr>
        <p:spPr>
          <a:xfrm rot="0" flipH="0" flipV="0">
            <a:off x="2476500" y="1676400"/>
            <a:ext cx="762000" cy="2286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500" b="1">
                <a:solidFill>
                  <a:srgbClr val="1E3A8A"/>
                </a:solidFill>
                <a:latin typeface="PingFang SC"/>
                <a:ea typeface="PingFang SC"/>
              </a:rPr>
              <a:t>统计预测</a:t>
            </a:r>
            <a:endParaRPr/>
          </a:p>
        </p:txBody>
      </p:sp>
      <p:sp>
        <p:nvSpPr>
          <p:cNvPr id="1090" name="" descr="{&quot;isTemplate&quot;:true,&quot;type&quot;:&quot;text&quot;}"/>
          <p:cNvSpPr txBox="1"/>
          <p:nvPr/>
        </p:nvSpPr>
        <p:spPr>
          <a:xfrm rot="0" flipH="0" flipV="0">
            <a:off x="2524125" y="1981200"/>
            <a:ext cx="66675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按日历换件</a:t>
            </a:r>
            <a:endParaRPr/>
          </a:p>
        </p:txBody>
      </p:sp>
      <p:sp>
        <p:nvSpPr>
          <p:cNvPr id="1091" name=""/>
          <p:cNvSpPr/>
          <p:nvPr/>
        </p:nvSpPr>
        <p:spPr>
          <a:xfrm rot="0" flipH="0" flipV="0">
            <a:off x="2619375" y="2257425"/>
            <a:ext cx="476250" cy="228600"/>
          </a:xfrm>
          <a:prstGeom prst="roundRect">
            <a:avLst>
              <a:gd name="adj" fmla="val 4162500"/>
            </a:avLst>
          </a:prstGeom>
          <a:solidFill>
            <a:srgbClr val="EDF3FB"/>
          </a:solidFill>
          <a:ln/>
        </p:spPr>
        <p:txBody>
          <a:bodyPr/>
          <a:p/>
        </p:txBody>
      </p:sp>
      <p:sp>
        <p:nvSpPr>
          <p:cNvPr id="1092" name="" descr="{&quot;isTemplate&quot;:true,&quot;type&quot;:&quot;text&quot;}"/>
          <p:cNvSpPr txBox="1"/>
          <p:nvPr/>
        </p:nvSpPr>
        <p:spPr>
          <a:xfrm rot="0" flipH="0" flipV="0">
            <a:off x="2733675" y="2295525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64748B"/>
                </a:solidFill>
                <a:latin typeface="PingFang SC"/>
                <a:ea typeface="PingFang SC"/>
              </a:rPr>
              <a:t>保守</a:t>
            </a:r>
            <a:endParaRPr/>
          </a:p>
        </p:txBody>
      </p:sp>
      <p:sp>
        <p:nvSpPr>
          <p:cNvPr id="1093" name=""/>
          <p:cNvSpPr/>
          <p:nvPr/>
        </p:nvSpPr>
        <p:spPr>
          <a:xfrm rot="0" flipH="0" flipV="0">
            <a:off x="3667125" y="1276350"/>
            <a:ext cx="1352550" cy="1381125"/>
          </a:xfrm>
          <a:prstGeom prst="roundRect">
            <a:avLst>
              <a:gd name="adj" fmla="val 98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94" name="" descr="{&quot;isTemplate&quot;:true,&quot;type&quot;:&quot;text&quot;}"/>
          <p:cNvSpPr txBox="1"/>
          <p:nvPr/>
        </p:nvSpPr>
        <p:spPr>
          <a:xfrm rot="0" flipH="0" flipV="0">
            <a:off x="4267200" y="1447800"/>
            <a:ext cx="1619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64748B"/>
                </a:solidFill>
                <a:latin typeface="Space Grotesk"/>
                <a:ea typeface="Space Grotesk"/>
              </a:rPr>
              <a:t>03</a:t>
            </a:r>
            <a:endParaRPr/>
          </a:p>
        </p:txBody>
      </p:sp>
      <p:sp>
        <p:nvSpPr>
          <p:cNvPr id="1095" name="" descr="{&quot;isTemplate&quot;:true,&quot;type&quot;:&quot;text&quot;}"/>
          <p:cNvSpPr txBox="1"/>
          <p:nvPr/>
        </p:nvSpPr>
        <p:spPr>
          <a:xfrm rot="0" flipH="0" flipV="0">
            <a:off x="3962400" y="1676400"/>
            <a:ext cx="762000" cy="2286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500" b="1">
                <a:solidFill>
                  <a:srgbClr val="1E3A8A"/>
                </a:solidFill>
                <a:latin typeface="PingFang SC"/>
                <a:ea typeface="PingFang SC"/>
              </a:rPr>
              <a:t>状态监测</a:t>
            </a:r>
            <a:endParaRPr/>
          </a:p>
        </p:txBody>
      </p:sp>
      <p:sp>
        <p:nvSpPr>
          <p:cNvPr id="1096" name="" descr="{&quot;isTemplate&quot;:true,&quot;type&quot;:&quot;text&quot;}"/>
          <p:cNvSpPr txBox="1"/>
          <p:nvPr/>
        </p:nvSpPr>
        <p:spPr>
          <a:xfrm rot="0" flipH="0" flipV="0">
            <a:off x="4010025" y="1981200"/>
            <a:ext cx="66675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看指标报警</a:t>
            </a:r>
            <a:endParaRPr/>
          </a:p>
        </p:txBody>
      </p:sp>
      <p:sp>
        <p:nvSpPr>
          <p:cNvPr id="1097" name=""/>
          <p:cNvSpPr/>
          <p:nvPr/>
        </p:nvSpPr>
        <p:spPr>
          <a:xfrm rot="0" flipH="0" flipV="0">
            <a:off x="4105275" y="2257425"/>
            <a:ext cx="476250" cy="228600"/>
          </a:xfrm>
          <a:prstGeom prst="roundRect">
            <a:avLst>
              <a:gd name="adj" fmla="val 4162500"/>
            </a:avLst>
          </a:prstGeom>
          <a:solidFill>
            <a:srgbClr val="EDF3FB"/>
          </a:solidFill>
          <a:ln/>
        </p:spPr>
        <p:txBody>
          <a:bodyPr/>
          <a:p/>
        </p:txBody>
      </p:sp>
      <p:sp>
        <p:nvSpPr>
          <p:cNvPr id="1098" name="" descr="{&quot;isTemplate&quot;:true,&quot;type&quot;:&quot;text&quot;}"/>
          <p:cNvSpPr txBox="1"/>
          <p:nvPr/>
        </p:nvSpPr>
        <p:spPr>
          <a:xfrm rot="0" flipH="0" flipV="0">
            <a:off x="4219575" y="2295525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64748B"/>
                </a:solidFill>
                <a:latin typeface="PingFang SC"/>
                <a:ea typeface="PingFang SC"/>
              </a:rPr>
              <a:t>被动</a:t>
            </a:r>
            <a:endParaRPr/>
          </a:p>
        </p:txBody>
      </p:sp>
      <p:sp>
        <p:nvSpPr>
          <p:cNvPr id="1099" name=""/>
          <p:cNvSpPr/>
          <p:nvPr/>
        </p:nvSpPr>
        <p:spPr>
          <a:xfrm rot="0" flipH="0" flipV="0">
            <a:off x="5153025" y="1276350"/>
            <a:ext cx="1352550" cy="1381125"/>
          </a:xfrm>
          <a:prstGeom prst="roundRect">
            <a:avLst>
              <a:gd name="adj" fmla="val 9859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  <a:effectLst>
            <a:outerShdw blurRad="228600" dist="76200" dir="5400000">
              <a:srgbClr val="1E3A8A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00" name="" descr="{&quot;isTemplate&quot;:true,&quot;type&quot;:&quot;text&quot;}"/>
          <p:cNvSpPr txBox="1"/>
          <p:nvPr/>
        </p:nvSpPr>
        <p:spPr>
          <a:xfrm rot="0" flipH="0" flipV="0">
            <a:off x="5753100" y="1447800"/>
            <a:ext cx="1619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7FD9F0"/>
                </a:solidFill>
                <a:latin typeface="Space Grotesk"/>
                <a:ea typeface="Space Grotesk"/>
              </a:rPr>
              <a:t>04</a:t>
            </a:r>
            <a:endParaRPr/>
          </a:p>
        </p:txBody>
      </p:sp>
      <p:sp>
        <p:nvSpPr>
          <p:cNvPr id="1101" name="" descr="{&quot;isTemplate&quot;:true,&quot;type&quot;:&quot;text&quot;}"/>
          <p:cNvSpPr txBox="1"/>
          <p:nvPr/>
        </p:nvSpPr>
        <p:spPr>
          <a:xfrm rot="0" flipH="0" flipV="0">
            <a:off x="5448300" y="1676400"/>
            <a:ext cx="762000" cy="2286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PingFang SC"/>
                <a:ea typeface="PingFang SC"/>
              </a:rPr>
              <a:t>预测预警</a:t>
            </a:r>
            <a:endParaRPr/>
          </a:p>
        </p:txBody>
      </p:sp>
      <p:sp>
        <p:nvSpPr>
          <p:cNvPr id="1102" name="" descr="{&quot;isTemplate&quot;:true,&quot;type&quot;:&quot;text&quot;}"/>
          <p:cNvSpPr txBox="1"/>
          <p:nvPr/>
        </p:nvSpPr>
        <p:spPr>
          <a:xfrm rot="0" flipH="0" flipV="0">
            <a:off x="5476875" y="1981200"/>
            <a:ext cx="70485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050">
                <a:solidFill>
                  <a:srgbClr val="DCE9FB"/>
                </a:solidFill>
                <a:latin typeface="PingFang SC"/>
                <a:ea typeface="PingFang SC"/>
              </a:rPr>
              <a:t>AI </a:t>
            </a:r>
            <a:r>
              <a:rPr lang="zh-CN" sz="1050">
                <a:solidFill>
                  <a:srgbClr val="DCE9FB"/>
                </a:solidFill>
                <a:latin typeface="PingFang SC"/>
                <a:ea typeface="PingFang SC"/>
              </a:rPr>
              <a:t>提前预警</a:t>
            </a:r>
            <a:endParaRPr/>
          </a:p>
        </p:txBody>
      </p:sp>
      <p:sp>
        <p:nvSpPr>
          <p:cNvPr id="1103" name=""/>
          <p:cNvSpPr/>
          <p:nvPr/>
        </p:nvSpPr>
        <p:spPr>
          <a:xfrm rot="0" flipH="0" flipV="0">
            <a:off x="5591175" y="2257425"/>
            <a:ext cx="476250" cy="228600"/>
          </a:xfrm>
          <a:prstGeom prst="roundRect">
            <a:avLst>
              <a:gd name="adj" fmla="val 4162500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104" name="" descr="{&quot;isTemplate&quot;:true,&quot;type&quot;:&quot;text&quot;}"/>
          <p:cNvSpPr txBox="1"/>
          <p:nvPr/>
        </p:nvSpPr>
        <p:spPr>
          <a:xfrm rot="0" flipH="0" flipV="0">
            <a:off x="5705475" y="2295525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PingFang SC"/>
                <a:ea typeface="PingFang SC"/>
              </a:rPr>
              <a:t>主动</a:t>
            </a:r>
            <a:endParaRPr/>
          </a:p>
        </p:txBody>
      </p:sp>
      <p:sp>
        <p:nvSpPr>
          <p:cNvPr id="1105" name=""/>
          <p:cNvSpPr/>
          <p:nvPr/>
        </p:nvSpPr>
        <p:spPr>
          <a:xfrm rot="0" flipH="0" flipV="0">
            <a:off x="685800" y="2847975"/>
            <a:ext cx="5819775" cy="3305175"/>
          </a:xfrm>
          <a:prstGeom prst="roundRect">
            <a:avLst>
              <a:gd name="adj" fmla="val 46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106" name="" descr="{&quot;isTemplate&quot;:true,&quot;type&quot;:&quot;text&quot;}"/>
          <p:cNvSpPr txBox="1"/>
          <p:nvPr/>
        </p:nvSpPr>
        <p:spPr>
          <a:xfrm rot="0" flipH="0" flipV="0">
            <a:off x="914400" y="3038475"/>
            <a:ext cx="53625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3A8A"/>
                </a:solidFill>
                <a:latin typeface="PingFang SC"/>
                <a:ea typeface="PingFang SC"/>
              </a:rPr>
              <a:t>时序三看：</a:t>
            </a:r>
            <a:r>
              <a:rPr lang="en-US" sz="1350" b="1">
                <a:solidFill>
                  <a:srgbClr val="1E3A8A"/>
                </a:solidFill>
                <a:latin typeface="PingFang SC"/>
                <a:ea typeface="PingFang SC"/>
              </a:rPr>
              <a:t>AI </a:t>
            </a:r>
            <a:r>
              <a:rPr lang="zh-CN" sz="1350" b="1">
                <a:solidFill>
                  <a:srgbClr val="1E3A8A"/>
                </a:solidFill>
                <a:latin typeface="PingFang SC"/>
                <a:ea typeface="PingFang SC"/>
              </a:rPr>
              <a:t>看的是曲线形状，不是单点</a:t>
            </a:r>
            <a:endParaRPr/>
          </a:p>
        </p:txBody>
      </p:sp>
      <p:sp>
        <p:nvSpPr>
          <p:cNvPr id="1107" name=""/>
          <p:cNvSpPr/>
          <p:nvPr/>
        </p:nvSpPr>
        <p:spPr>
          <a:xfrm rot="0" flipH="0" flipV="0">
            <a:off x="914400" y="3362325"/>
            <a:ext cx="1695450" cy="1038225"/>
          </a:xfrm>
          <a:prstGeom prst="roundRect">
            <a:avLst>
              <a:gd name="adj" fmla="val 11009"/>
            </a:avLst>
          </a:prstGeom>
          <a:solidFill>
            <a:srgbClr val="F5F8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108" name="" descr="{&quot;isTemplate&quot;:true,&quot;type&quot;:&quot;text&quot;}"/>
          <p:cNvSpPr txBox="1"/>
          <p:nvPr/>
        </p:nvSpPr>
        <p:spPr>
          <a:xfrm rot="0" flipH="0" flipV="0">
            <a:off x="1066800" y="3495675"/>
            <a:ext cx="13906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891B2"/>
                </a:solidFill>
                <a:latin typeface="PingFang SC"/>
                <a:ea typeface="PingFang SC"/>
              </a:rPr>
              <a:t>趋势</a:t>
            </a:r>
            <a:endParaRPr/>
          </a:p>
        </p:txBody>
      </p:sp>
      <p:sp>
        <p:nvSpPr>
          <p:cNvPr id="1109" name="" descr="{&quot;isTemplate&quot;:true,&quot;type&quot;:&quot;text&quot;}"/>
          <p:cNvSpPr txBox="1"/>
          <p:nvPr/>
        </p:nvSpPr>
        <p:spPr>
          <a:xfrm rot="0" flipH="0" flipV="0">
            <a:off x="1066800" y="3762375"/>
            <a:ext cx="139065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缓慢漂移：指标值一个月涨了</a:t>
            </a:r>
            <a:r>
              <a:rPr lang="en-US" sz="1050">
                <a:solidFill>
                  <a:srgbClr val="43566B"/>
                </a:solidFill>
                <a:latin typeface="PingFang SC"/>
                <a:ea typeface="PingFang SC"/>
              </a:rPr>
              <a:t> 8%</a:t>
            </a:r>
            <a:endParaRPr/>
          </a:p>
        </p:txBody>
      </p:sp>
      <p:sp>
        <p:nvSpPr>
          <p:cNvPr id="1110" name=""/>
          <p:cNvSpPr/>
          <p:nvPr/>
        </p:nvSpPr>
        <p:spPr>
          <a:xfrm rot="0" flipH="0" flipV="0">
            <a:off x="2743200" y="3362325"/>
            <a:ext cx="1704975" cy="1038225"/>
          </a:xfrm>
          <a:prstGeom prst="roundRect">
            <a:avLst>
              <a:gd name="adj" fmla="val 11009"/>
            </a:avLst>
          </a:prstGeom>
          <a:solidFill>
            <a:srgbClr val="F5F8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111" name="" descr="{&quot;isTemplate&quot;:true,&quot;type&quot;:&quot;text&quot;}"/>
          <p:cNvSpPr txBox="1"/>
          <p:nvPr/>
        </p:nvSpPr>
        <p:spPr>
          <a:xfrm rot="0" flipH="0" flipV="0">
            <a:off x="2895600" y="3495675"/>
            <a:ext cx="14001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891B2"/>
                </a:solidFill>
                <a:latin typeface="PingFang SC"/>
                <a:ea typeface="PingFang SC"/>
              </a:rPr>
              <a:t>阈值</a:t>
            </a:r>
            <a:endParaRPr/>
          </a:p>
        </p:txBody>
      </p:sp>
      <p:sp>
        <p:nvSpPr>
          <p:cNvPr id="1112" name="" descr="{&quot;isTemplate&quot;:true,&quot;type&quot;:&quot;text&quot;}"/>
          <p:cNvSpPr txBox="1"/>
          <p:nvPr/>
        </p:nvSpPr>
        <p:spPr>
          <a:xfrm rot="0" flipH="0" flipV="0">
            <a:off x="2895600" y="3762375"/>
            <a:ext cx="1400175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越限报警：温度超过工艺上限</a:t>
            </a:r>
            <a:endParaRPr/>
          </a:p>
        </p:txBody>
      </p:sp>
      <p:sp>
        <p:nvSpPr>
          <p:cNvPr id="1113" name=""/>
          <p:cNvSpPr/>
          <p:nvPr/>
        </p:nvSpPr>
        <p:spPr>
          <a:xfrm rot="0" flipH="0" flipV="0">
            <a:off x="4581525" y="3362325"/>
            <a:ext cx="1695450" cy="1038225"/>
          </a:xfrm>
          <a:prstGeom prst="roundRect">
            <a:avLst>
              <a:gd name="adj" fmla="val 11009"/>
            </a:avLst>
          </a:prstGeom>
          <a:solidFill>
            <a:srgbClr val="F5F8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114" name="" descr="{&quot;isTemplate&quot;:true,&quot;type&quot;:&quot;text&quot;}"/>
          <p:cNvSpPr txBox="1"/>
          <p:nvPr/>
        </p:nvSpPr>
        <p:spPr>
          <a:xfrm rot="0" flipH="0" flipV="0">
            <a:off x="4733925" y="3495675"/>
            <a:ext cx="13906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891B2"/>
                </a:solidFill>
                <a:latin typeface="PingFang SC"/>
                <a:ea typeface="PingFang SC"/>
              </a:rPr>
              <a:t>突变</a:t>
            </a:r>
            <a:endParaRPr/>
          </a:p>
        </p:txBody>
      </p:sp>
      <p:sp>
        <p:nvSpPr>
          <p:cNvPr id="1115" name="" descr="{&quot;isTemplate&quot;:true,&quot;type&quot;:&quot;text&quot;}"/>
          <p:cNvSpPr txBox="1"/>
          <p:nvPr/>
        </p:nvSpPr>
        <p:spPr>
          <a:xfrm rot="0" flipH="0" flipV="0">
            <a:off x="4733925" y="3762375"/>
            <a:ext cx="139065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阶跃跳变：某时刻突然翻倍</a:t>
            </a:r>
            <a:endParaRPr/>
          </a:p>
        </p:txBody>
      </p:sp>
      <p:sp>
        <p:nvSpPr>
          <p:cNvPr id="1116" name="" descr="{&quot;isTemplate&quot;:true,&quot;type&quot;:&quot;text&quot;}"/>
          <p:cNvSpPr txBox="1"/>
          <p:nvPr/>
        </p:nvSpPr>
        <p:spPr>
          <a:xfrm rot="0" flipH="0" flipV="0">
            <a:off x="914400" y="5486400"/>
            <a:ext cx="5362575" cy="476250"/>
          </a:xfrm>
          <a:prstGeom prst="rect"/>
        </p:spPr>
        <p:txBody>
          <a:bodyPr wrap="square" lIns="0" tIns="100013" rIns="0" bIns="0">
            <a:normAutofit/>
          </a:bodyPr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PingFang SC"/>
                <a:ea typeface="PingFang SC"/>
              </a:rPr>
              <a:t>数据链六阶：采集</a:t>
            </a:r>
            <a:r>
              <a:rPr lang="en-US" sz="1125">
                <a:solidFill>
                  <a:srgbClr val="64748B"/>
                </a:solidFill>
                <a:latin typeface="PingFang SC"/>
                <a:ea typeface="PingFang SC"/>
              </a:rPr>
              <a:t> → </a:t>
            </a:r>
            <a:r>
              <a:rPr lang="zh-CN" sz="1125">
                <a:solidFill>
                  <a:srgbClr val="64748B"/>
                </a:solidFill>
                <a:latin typeface="PingFang SC"/>
                <a:ea typeface="PingFang SC"/>
              </a:rPr>
              <a:t>传输</a:t>
            </a:r>
            <a:r>
              <a:rPr lang="en-US" sz="1125">
                <a:solidFill>
                  <a:srgbClr val="64748B"/>
                </a:solidFill>
                <a:latin typeface="PingFang SC"/>
                <a:ea typeface="PingFang SC"/>
              </a:rPr>
              <a:t> → </a:t>
            </a:r>
            <a:r>
              <a:rPr lang="zh-CN" sz="1125">
                <a:solidFill>
                  <a:srgbClr val="64748B"/>
                </a:solidFill>
                <a:latin typeface="PingFang SC"/>
                <a:ea typeface="PingFang SC"/>
              </a:rPr>
              <a:t>清洗</a:t>
            </a:r>
            <a:r>
              <a:rPr lang="en-US" sz="1125">
                <a:solidFill>
                  <a:srgbClr val="64748B"/>
                </a:solidFill>
                <a:latin typeface="PingFang SC"/>
                <a:ea typeface="PingFang SC"/>
              </a:rPr>
              <a:t> → </a:t>
            </a:r>
            <a:r>
              <a:rPr lang="zh-CN" sz="1125">
                <a:solidFill>
                  <a:srgbClr val="64748B"/>
                </a:solidFill>
                <a:latin typeface="PingFang SC"/>
                <a:ea typeface="PingFang SC"/>
              </a:rPr>
              <a:t>标注</a:t>
            </a:r>
            <a:r>
              <a:rPr lang="en-US" sz="1125">
                <a:solidFill>
                  <a:srgbClr val="64748B"/>
                </a:solidFill>
                <a:latin typeface="PingFang SC"/>
                <a:ea typeface="PingFang SC"/>
              </a:rPr>
              <a:t> → </a:t>
            </a:r>
            <a:r>
              <a:rPr lang="zh-CN" sz="1125">
                <a:solidFill>
                  <a:srgbClr val="64748B"/>
                </a:solidFill>
                <a:latin typeface="PingFang SC"/>
                <a:ea typeface="PingFang SC"/>
              </a:rPr>
              <a:t>建模</a:t>
            </a:r>
            <a:r>
              <a:rPr lang="en-US" sz="1125">
                <a:solidFill>
                  <a:srgbClr val="64748B"/>
                </a:solidFill>
                <a:latin typeface="PingFang SC"/>
                <a:ea typeface="PingFang SC"/>
              </a:rPr>
              <a:t> → </a:t>
            </a:r>
            <a:r>
              <a:rPr lang="zh-CN" sz="1125">
                <a:solidFill>
                  <a:srgbClr val="64748B"/>
                </a:solidFill>
                <a:latin typeface="PingFang SC"/>
                <a:ea typeface="PingFang SC"/>
              </a:rPr>
              <a:t>反馈</a:t>
            </a:r>
            <a:r>
              <a:rPr lang="en-US" sz="1125">
                <a:solidFill>
                  <a:srgbClr val="64748B"/>
                </a:solidFill>
                <a:latin typeface="PingFang SC"/>
                <a:ea typeface="PingFang SC"/>
              </a:rPr>
              <a:t> —— </a:t>
            </a:r>
            <a:r>
              <a:rPr lang="zh-CN" sz="1125">
                <a:solidFill>
                  <a:srgbClr val="64748B"/>
                </a:solidFill>
                <a:latin typeface="PingFang SC"/>
                <a:ea typeface="PingFang SC"/>
              </a:rPr>
              <a:t>断在哪一环，项目就死在哪一环。</a:t>
            </a:r>
            <a:endParaRPr/>
          </a:p>
        </p:txBody>
      </p:sp>
      <p:sp>
        <p:nvSpPr>
          <p:cNvPr id="1117" name=""/>
          <p:cNvSpPr/>
          <p:nvPr/>
        </p:nvSpPr>
        <p:spPr>
          <a:xfrm rot="0" flipH="0" flipV="0">
            <a:off x="6753225" y="1276350"/>
            <a:ext cx="4752975" cy="4876800"/>
          </a:xfrm>
          <a:prstGeom prst="roundRect">
            <a:avLst>
              <a:gd name="adj" fmla="val 3607"/>
            </a:avLst>
          </a:prstGeom>
          <a:solidFill>
            <a:srgbClr val="1E3A8A"/>
          </a:solidFill>
          <a:ln/>
          <a:effectLst>
            <a:outerShdw blurRad="266700" dist="76200" dir="5400000">
              <a:srgbClr val="1E3A8A">
                <a:alpha val="18000"/>
              </a:srgbClr>
            </a:outerShdw>
          </a:effectLst>
        </p:spPr>
        <p:txBody>
          <a:bodyPr/>
          <a:p/>
        </p:txBody>
      </p:sp>
      <p:pic>
        <p:nvPicPr>
          <p:cNvPr id="1118" name=""/>
          <p:cNvPicPr>
            <a:picLocks noChangeAspect="1"/>
          </p:cNvPicPr>
          <p:nvPr/>
        </p:nvPicPr>
        <p:blipFill>
          <a:blip r:embed="rId1"/>
          <a:srcRect l="1269" t="0" r="1269" b="0"/>
          <a:stretch>
            <a:fillRect/>
          </a:stretch>
        </p:blipFill>
        <p:spPr>
          <a:xfrm rot="0" flipH="0" flipV="0">
            <a:off x="6753225" y="1276350"/>
            <a:ext cx="4752975" cy="4876800"/>
          </a:xfrm>
          <a:custGeom>
            <a:pathLst>
              <a:path w="499" h="512">
                <a:moveTo>
                  <a:pt x="481" y="0"/>
                </a:moveTo>
                <a:cubicBezTo>
                  <a:pt x="491" y="0"/>
                  <a:pt x="499" y="8"/>
                  <a:pt x="499" y="18"/>
                </a:cubicBezTo>
                <a:lnTo>
                  <a:pt x="499" y="494"/>
                </a:lnTo>
                <a:cubicBezTo>
                  <a:pt x="499" y="504"/>
                  <a:pt x="491" y="512"/>
                  <a:pt x="481" y="512"/>
                </a:cubicBezTo>
                <a:lnTo>
                  <a:pt x="18" y="512"/>
                </a:lnTo>
                <a:cubicBezTo>
                  <a:pt x="8" y="512"/>
                  <a:pt x="0" y="504"/>
                  <a:pt x="0" y="494"/>
                </a:cubicBezTo>
                <a:lnTo>
                  <a:pt x="0" y="18"/>
                </a:lnTo>
                <a:cubicBezTo>
                  <a:pt x="0" y="8"/>
                  <a:pt x="8" y="0"/>
                  <a:pt x="18" y="0"/>
                </a:cubicBezTo>
                <a:lnTo>
                  <a:pt x="481" y="0"/>
                </a:lnTo>
                <a:close/>
              </a:path>
            </a:pathLst>
          </a:custGeom>
          <a:ln/>
        </p:spPr>
      </p:pic>
      <p:sp>
        <p:nvSpPr>
          <p:cNvPr id="1119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1123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AI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场景落地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中级</a:t>
            </a:r>
            <a:endParaRPr/>
          </a:p>
        </p:txBody>
      </p:sp>
      <p:sp>
        <p:nvSpPr>
          <p:cNvPr id="1120" name="" descr="{&quot;isTemplate&quot;:true,&quot;type&quot;:&quot;text&quot;}"/>
          <p:cNvSpPr txBox="1"/>
          <p:nvPr/>
        </p:nvSpPr>
        <p:spPr>
          <a:xfrm rot="0" flipH="0" flipV="0">
            <a:off x="11029950" y="63627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09 / 34</a:t>
            </a:r>
            <a:endParaRPr/>
          </a:p>
        </p:txBody>
      </p:sp>
    </p:spTree>
  </p:cSld>
</p:sld>
</file>

<file path=ppt/slides/slide10.xml><?xml version="1.0" encoding="utf-8"?>
<p:sld xmlns:a="http://schemas.openxmlformats.org/drawingml/2006/main" xmlns:p="http://schemas.openxmlformats.org/presentationml/2006/main">
  <p:cSld>
    <p:spTree>
      <p:nvGrpSpPr>
        <p:cNvPr id="18" name="" descr="const zones = [&#10;    { c: '#059669', t: '正常区', d: '指标在绿区 → 继续观察，不动作', act: 'AI 静默' },&#10;    { c: '#F59E0B', t: '预警区', d: '指标进黄区 → 加密巡检，安排点检', act: 'AI 提示 + 人确认' },&#10;    { c: '#DC2626', t: '危险区', d: '指标进红区 → 排停产检修方案', act: '人拍板停机' },&#10;];&#10;&lt;Slide style={{ width: '1280px', height: '720px', background: '#F5F8FC', padding: '24px 72px', boxSizing: 'border-box', flexDirection: 'column', fontFamily: 'PingFang SC, Source Han Sans SC, sans-serif' }}&gt;&#10;    &lt;Box style={{ height: 96, flexDirection: 'row', alignItems: 'center', gap: 16 }}&gt;&#10;        &lt;Box style={{ width: 5, height: 46, background: '#06B6D4', borderRadius: 3 }} /&gt;&#10;        &lt;Box&gt;&#10;            &lt;Text style={{ fontSize: 34, fontWeight: 'bold', color: '#1E3A8A', lineHeight: 1.2 }}&gt;三段阈值 + 处置权，用 OEE 算账&lt;/Text&gt;&#10;            &lt;Text style={{ fontSize: 17, color: '#64748B', marginTop: 4 }}&gt;预警必须配「然后呢」—— 谁来看、谁来动、动了算谁的&lt;/Text&gt;&#10;        &lt;/Box&gt;&#10;    &lt;/Box&gt;&#10;    &lt;Box style={{ flex: 1, flexDirection: 'row', gap: 24, marginTop: 14 }}&gt;&#10;        &lt;Box style={{ flex: 58, flexDirection: 'column', gap: 12 }}&gt;&#10;            {zones.map((z, i) =&gt; (&#10;                &lt;Box key={i} style={{ flex: 1, background: '#FFFFFF', borderRadius: 14, border: '1px solid #E2E8F0', flexDirection: 'row', alignItems: 'center', padding: '0 22px', boxShadow: '0 3px 12px rgba(30,58,138,0.05)' }}&gt;&#10;                    &lt;Box style={{ width: 8, alignSelf: 'stretch', background: z.c, borderTopLeftRadius: 14, borderBottomLeftRadius: 14 }} /&gt;&#10;                    &lt;Box style={{ width: 96 }}&gt;&#10;                        &lt;Text style={{ fontSize: 20, fontWeight: 'bold', color: z.c }}&gt;{z.t}&lt;/Text&gt;&#10;                    &lt;/Box&gt;&#10;                    &lt;Text style={{ flex: 1, fontSize: 16, color: '#43566b' }}&gt;{z.d}&lt;/Text&gt;&#10;                    &lt;Box style={{ padding: '6px 14px', background: '#F5F8FC', borderRadius: 999, border: '1px solid #E2E8F0' }}&gt;&#10;                        &lt;Text style={{ fontSize: 14, fontWeight: 'bold', color: '#1E3A8A' }}&gt;{z.act}&lt;/Text&gt;&#10;                    &lt;/Box&gt;&#10;                &lt;/Box&gt;&#10;            ))}&#10;            &lt;Box style={{ padding: '10px 18px', background: '#FEEFE0', borderRadius: 10 }}&gt;&#10;                &lt;Text style={{ fontSize: 16, fontWeight: 'bold', color: '#B45309' }}&gt;处置权永远在人：AI 给建议，停机由班组长拍板 —— 建议权可以下放，决策权不行。&lt;/Text&gt;&#10;            &lt;/Box&gt;&#10;        &lt;/Box&gt;&#10;        &lt;Box style={{ flex: 42, flexDirection: 'column', gap: 14 }}&gt;&#10;            &lt;Box style={{ background: '#1E3A8A', borderRadius: 18, padding: '24px 28px', flexDirection: 'column', alignItems: 'center' }}&gt;&#10;                &lt;Text style={{ fontSize: 16, color: '#7FD9F0', letterSpacing: 2 }}&gt;OEE 示例（效率 × 性能 × 质量）&lt;/Text&gt;&#10;                &lt;Text style={{ fontSize: 58, fontWeight: 'bold', color: '#FFFFFF', fontFamily: 'Space Grotesk, Inter', marginTop: 10 }}&gt;83.8%&lt;/Text&gt;&#10;                &lt;Text style={{ fontSize: 18, color: '#DCE9FB', marginTop: 10, fontFamily: 'Space Grotesk, Inter' }}&gt;0.90 × 0.95 × 0.98&lt;/Text&gt;&#10;                &lt;Text style={{ fontSize: 14, color: '#A9C4E8', marginTop: 12, textAlign: 'center' }}&gt;停机、降速、不良各吃掉一块 —— 预测维护专治第一项&lt;/Text&gt;&#10;            &lt;/Box&gt;&#10;            &lt;Box style={{ flex: 1, background: '#FFFFFF', borderRadius: 16, padding: '18px 22px', border: '1px solid #E2E8F0' }}&gt;&#10;                &lt;Text style={{ fontSize: 16, fontWeight: 'bold', color: '#1E3A8A', marginBottom: 10 }}&gt;行业标杆&lt;/Text&gt;&#10;                &lt;Text style={{ fontSize: 16, color: '#43566b', lineHeight: 1.8 }}&gt;陕汽：振动异常 &lt;span style={{ fontWeight: 'bold', color: '#B45309' }}&gt;10 秒&lt;/span&gt; 级预警&lt;br /&gt;西门子：非计划停机 &lt;span style={{ fontWeight: 'bold', color: '#B45309' }}&gt;-50%&lt;/span&gt; · 维护成本 &lt;span style={{ fontWeight: 'bold', color: '#B45309' }}&gt;-25%&lt;/span&gt;&lt;/Text&gt;&#10;            &lt;/Box&gt;&#10;        &lt;/Box&gt;&#10;    &lt;/Box&gt;&#10;    &lt;Box style={{ height: 40, flexDirection: 'row', justifyContent: 'space-between', alignItems: 'center', marginTop: 10 }}&gt;&#10;        &lt;Text style={{ fontSize: 14, color: '#64748B' }}&gt;AI 场景落地 · 中级&lt;/Text&gt;&#10;        &lt;Text style={{ fontSize: 14, color: '#64748B' }}&gt;10 / 34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/>
        </p:spPr>
        <p:txBody>
          <a:bodyPr/>
          <a:p/>
        </p:txBody>
      </p:sp>
      <p:sp>
        <p:nvSpPr>
          <p:cNvPr id="20" name=""/>
          <p:cNvSpPr/>
          <p:nvPr/>
        </p:nvSpPr>
        <p:spPr>
          <a:xfrm rot="0" flipH="0" flipV="0">
            <a:off x="685800" y="466725"/>
            <a:ext cx="47625" cy="438150"/>
          </a:xfrm>
          <a:prstGeom prst="roundRect">
            <a:avLst>
              <a:gd name="adj" fmla="val 60000"/>
            </a:avLst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885825" y="333375"/>
            <a:ext cx="485775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>三段阈值</a:t>
            </a:r>
            <a:r>
              <a:rPr lang="en-US" sz="2550" b="1">
                <a:solidFill>
                  <a:srgbClr val="1E3A8A"/>
                </a:solidFill>
                <a:latin typeface="PingFang SC"/>
                <a:ea typeface="PingFang SC"/>
              </a:rPr>
              <a:t> + </a:t>
            </a: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>处置权，用</a:t>
            </a:r>
            <a:r>
              <a:rPr lang="en-US" sz="2550" b="1">
                <a:solidFill>
                  <a:srgbClr val="1E3A8A"/>
                </a:solidFill>
                <a:latin typeface="PingFang SC"/>
                <a:ea typeface="PingFang SC"/>
              </a:rPr>
              <a:t> 运营基线 </a:t>
            </a: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>算账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885825" y="838200"/>
            <a:ext cx="4857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预警必须配「然后呢」——</a:t>
            </a:r>
            <a:r>
              <a:rPr lang="en-US" sz="1275">
                <a:solidFill>
                  <a:srgbClr val="64748B"/>
                </a:solidFill>
                <a:latin typeface="PingFang SC"/>
                <a:ea typeface="PingFang SC"/>
              </a:rPr>
              <a:t> </a:t>
            </a: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谁来看、谁来动、动了算谁的</a:t>
            </a:r>
            <a:endParaRPr/>
          </a:p>
        </p:txBody>
      </p:sp>
      <p:sp>
        <p:nvSpPr>
          <p:cNvPr id="23" name=""/>
          <p:cNvSpPr/>
          <p:nvPr/>
        </p:nvSpPr>
        <p:spPr>
          <a:xfrm rot="0" flipH="0" flipV="0">
            <a:off x="685800" y="1276350"/>
            <a:ext cx="6143625" cy="1381125"/>
          </a:xfrm>
          <a:prstGeom prst="roundRect">
            <a:avLst>
              <a:gd name="adj" fmla="val 96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28575" dir="5400000">
              <a:srgbClr val="1E3A8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24" name=""/>
          <p:cNvSpPr/>
          <p:nvPr/>
        </p:nvSpPr>
        <p:spPr>
          <a:xfrm rot="0" flipH="0" flipV="0">
            <a:off x="895350" y="1971675"/>
            <a:ext cx="76200" cy="0"/>
          </a:xfrm>
          <a:custGeom>
            <a:pathLst>
              <a:path w="8" h="0">
                <a:moveTo>
                  <a:pt x="0" y="0"/>
                </a:moveTo>
                <a:lnTo>
                  <a:pt x="8" y="0"/>
                </a:lnTo>
                <a:lnTo>
                  <a:pt x="8" y="0"/>
                </a:lnTo>
                <a:lnTo>
                  <a:pt x="8" y="0"/>
                </a:lnTo>
                <a:lnTo>
                  <a:pt x="8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059669"/>
          </a:solidFill>
          <a:ln/>
        </p:spPr>
        <p:txBody>
          <a:bodyPr/>
          <a:p/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971550" y="1857375"/>
            <a:ext cx="914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59669"/>
                </a:solidFill>
                <a:latin typeface="PingFang SC"/>
                <a:ea typeface="PingFang SC"/>
              </a:rPr>
              <a:t>正常区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1885950" y="1876425"/>
            <a:ext cx="40290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3566B"/>
                </a:solidFill>
                <a:latin typeface="PingFang SC"/>
                <a:ea typeface="PingFang SC"/>
              </a:rPr>
              <a:t>指标在绿区</a:t>
            </a:r>
            <a:r>
              <a:rPr lang="en-US" sz="1200">
                <a:solidFill>
                  <a:srgbClr val="43566B"/>
                </a:solidFill>
                <a:latin typeface="PingFang SC"/>
                <a:ea typeface="PingFang SC"/>
              </a:rPr>
              <a:t> → </a:t>
            </a:r>
            <a:r>
              <a:rPr lang="zh-CN" sz="1200">
                <a:solidFill>
                  <a:srgbClr val="43566B"/>
                </a:solidFill>
                <a:latin typeface="PingFang SC"/>
                <a:ea typeface="PingFang SC"/>
              </a:rPr>
              <a:t>继续观察，不动作</a:t>
            </a:r>
            <a:endParaRPr/>
          </a:p>
        </p:txBody>
      </p:sp>
      <p:sp>
        <p:nvSpPr>
          <p:cNvPr id="27" name=""/>
          <p:cNvSpPr/>
          <p:nvPr/>
        </p:nvSpPr>
        <p:spPr>
          <a:xfrm rot="0" flipH="0" flipV="0">
            <a:off x="5915025" y="1828800"/>
            <a:ext cx="704850" cy="276225"/>
          </a:xfrm>
          <a:prstGeom prst="roundRect">
            <a:avLst>
              <a:gd name="adj" fmla="val 3444828"/>
            </a:avLst>
          </a:prstGeom>
          <a:solidFill>
            <a:srgbClr val="F5F8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6048375" y="1885950"/>
            <a:ext cx="438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3A8A"/>
                </a:solidFill>
                <a:latin typeface="PingFang SC"/>
                <a:ea typeface="PingFang SC"/>
              </a:rPr>
              <a:t>AI </a:t>
            </a:r>
            <a:r>
              <a:rPr lang="zh-CN" sz="1050" b="1">
                <a:solidFill>
                  <a:srgbClr val="1E3A8A"/>
                </a:solidFill>
                <a:latin typeface="PingFang SC"/>
                <a:ea typeface="PingFang SC"/>
              </a:rPr>
              <a:t>静默</a:t>
            </a:r>
            <a:endParaRPr/>
          </a:p>
        </p:txBody>
      </p:sp>
      <p:sp>
        <p:nvSpPr>
          <p:cNvPr id="29" name=""/>
          <p:cNvSpPr/>
          <p:nvPr/>
        </p:nvSpPr>
        <p:spPr>
          <a:xfrm rot="0" flipH="0" flipV="0">
            <a:off x="685800" y="2771775"/>
            <a:ext cx="6143625" cy="1390650"/>
          </a:xfrm>
          <a:prstGeom prst="roundRect">
            <a:avLst>
              <a:gd name="adj" fmla="val 95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28575" dir="5400000">
              <a:srgbClr val="1E3A8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30" name=""/>
          <p:cNvSpPr/>
          <p:nvPr/>
        </p:nvSpPr>
        <p:spPr>
          <a:xfrm rot="0" flipH="0" flipV="0">
            <a:off x="895350" y="3467100"/>
            <a:ext cx="76200" cy="0"/>
          </a:xfrm>
          <a:custGeom>
            <a:pathLst>
              <a:path w="8" h="0">
                <a:moveTo>
                  <a:pt x="0" y="0"/>
                </a:moveTo>
                <a:lnTo>
                  <a:pt x="8" y="0"/>
                </a:lnTo>
                <a:lnTo>
                  <a:pt x="8" y="0"/>
                </a:lnTo>
                <a:lnTo>
                  <a:pt x="8" y="0"/>
                </a:lnTo>
                <a:lnTo>
                  <a:pt x="8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p/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971550" y="3352800"/>
            <a:ext cx="914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59E0B"/>
                </a:solidFill>
                <a:latin typeface="PingFang SC"/>
                <a:ea typeface="PingFang SC"/>
              </a:rPr>
              <a:t>预警区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1885950" y="3371850"/>
            <a:ext cx="34575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3566B"/>
                </a:solidFill>
                <a:latin typeface="PingFang SC"/>
                <a:ea typeface="PingFang SC"/>
              </a:rPr>
              <a:t>指标进黄区</a:t>
            </a:r>
            <a:r>
              <a:rPr lang="en-US" sz="1200">
                <a:solidFill>
                  <a:srgbClr val="43566B"/>
                </a:solidFill>
                <a:latin typeface="PingFang SC"/>
                <a:ea typeface="PingFang SC"/>
              </a:rPr>
              <a:t> → </a:t>
            </a:r>
            <a:r>
              <a:rPr lang="zh-CN" sz="1200">
                <a:solidFill>
                  <a:srgbClr val="43566B"/>
                </a:solidFill>
                <a:latin typeface="PingFang SC"/>
                <a:ea typeface="PingFang SC"/>
              </a:rPr>
              <a:t>加密巡检，安排检查</a:t>
            </a:r>
            <a:endParaRPr/>
          </a:p>
        </p:txBody>
      </p:sp>
      <p:sp>
        <p:nvSpPr>
          <p:cNvPr id="33" name=""/>
          <p:cNvSpPr/>
          <p:nvPr/>
        </p:nvSpPr>
        <p:spPr>
          <a:xfrm rot="0" flipH="0" flipV="0">
            <a:off x="5343525" y="3333750"/>
            <a:ext cx="1276350" cy="276225"/>
          </a:xfrm>
          <a:prstGeom prst="roundRect">
            <a:avLst>
              <a:gd name="adj" fmla="val 3444828"/>
            </a:avLst>
          </a:prstGeom>
          <a:solidFill>
            <a:srgbClr val="F5F8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5476875" y="3390900"/>
            <a:ext cx="1009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3A8A"/>
                </a:solidFill>
                <a:latin typeface="PingFang SC"/>
                <a:ea typeface="PingFang SC"/>
              </a:rPr>
              <a:t>AI </a:t>
            </a:r>
            <a:r>
              <a:rPr lang="zh-CN" sz="1050" b="1">
                <a:solidFill>
                  <a:srgbClr val="1E3A8A"/>
                </a:solidFill>
                <a:latin typeface="PingFang SC"/>
                <a:ea typeface="PingFang SC"/>
              </a:rPr>
              <a:t>提示</a:t>
            </a:r>
            <a:r>
              <a:rPr lang="en-US" sz="1050" b="1">
                <a:solidFill>
                  <a:srgbClr val="1E3A8A"/>
                </a:solidFill>
                <a:latin typeface="PingFang SC"/>
                <a:ea typeface="PingFang SC"/>
              </a:rPr>
              <a:t> + </a:t>
            </a:r>
            <a:r>
              <a:rPr lang="zh-CN" sz="1050" b="1">
                <a:solidFill>
                  <a:srgbClr val="1E3A8A"/>
                </a:solidFill>
                <a:latin typeface="PingFang SC"/>
                <a:ea typeface="PingFang SC"/>
              </a:rPr>
              <a:t>人确认</a:t>
            </a:r>
            <a:endParaRPr/>
          </a:p>
        </p:txBody>
      </p:sp>
      <p:sp>
        <p:nvSpPr>
          <p:cNvPr id="35" name=""/>
          <p:cNvSpPr/>
          <p:nvPr/>
        </p:nvSpPr>
        <p:spPr>
          <a:xfrm rot="0" flipH="0" flipV="0">
            <a:off x="685800" y="4276725"/>
            <a:ext cx="6143625" cy="1381125"/>
          </a:xfrm>
          <a:prstGeom prst="roundRect">
            <a:avLst>
              <a:gd name="adj" fmla="val 96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28575" dir="5400000">
              <a:srgbClr val="1E3A8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36" name=""/>
          <p:cNvSpPr/>
          <p:nvPr/>
        </p:nvSpPr>
        <p:spPr>
          <a:xfrm rot="0" flipH="0" flipV="0">
            <a:off x="895350" y="4972050"/>
            <a:ext cx="76200" cy="0"/>
          </a:xfrm>
          <a:custGeom>
            <a:pathLst>
              <a:path w="8" h="0">
                <a:moveTo>
                  <a:pt x="0" y="0"/>
                </a:moveTo>
                <a:lnTo>
                  <a:pt x="8" y="0"/>
                </a:lnTo>
                <a:lnTo>
                  <a:pt x="8" y="0"/>
                </a:lnTo>
                <a:lnTo>
                  <a:pt x="8" y="0"/>
                </a:lnTo>
                <a:lnTo>
                  <a:pt x="8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DC2626"/>
          </a:solidFill>
          <a:ln/>
        </p:spPr>
        <p:txBody>
          <a:bodyPr/>
          <a:p/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971550" y="4857750"/>
            <a:ext cx="914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DC2626"/>
                </a:solidFill>
                <a:latin typeface="PingFang SC"/>
                <a:ea typeface="PingFang SC"/>
              </a:rPr>
              <a:t>危险区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1885950" y="4876800"/>
            <a:ext cx="38004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3566B"/>
                </a:solidFill>
                <a:latin typeface="PingFang SC"/>
                <a:ea typeface="PingFang SC"/>
              </a:rPr>
              <a:t>指标进红区</a:t>
            </a:r>
            <a:r>
              <a:rPr lang="en-US" sz="1200">
                <a:solidFill>
                  <a:srgbClr val="43566B"/>
                </a:solidFill>
                <a:latin typeface="PingFang SC"/>
                <a:ea typeface="PingFang SC"/>
              </a:rPr>
              <a:t> → </a:t>
            </a:r>
            <a:r>
              <a:rPr lang="zh-CN" sz="1200">
                <a:solidFill>
                  <a:srgbClr val="43566B"/>
                </a:solidFill>
                <a:latin typeface="PingFang SC"/>
                <a:ea typeface="PingFang SC"/>
              </a:rPr>
              <a:t>排停产检修方案</a:t>
            </a:r>
            <a:endParaRPr/>
          </a:p>
        </p:txBody>
      </p:sp>
      <p:sp>
        <p:nvSpPr>
          <p:cNvPr id="39" name=""/>
          <p:cNvSpPr/>
          <p:nvPr/>
        </p:nvSpPr>
        <p:spPr>
          <a:xfrm rot="0" flipH="0" flipV="0">
            <a:off x="5686425" y="4829175"/>
            <a:ext cx="933450" cy="276225"/>
          </a:xfrm>
          <a:prstGeom prst="roundRect">
            <a:avLst>
              <a:gd name="adj" fmla="val 3444828"/>
            </a:avLst>
          </a:prstGeom>
          <a:solidFill>
            <a:srgbClr val="F5F8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5819775" y="4886325"/>
            <a:ext cx="66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E3A8A"/>
                </a:solidFill>
                <a:latin typeface="PingFang SC"/>
                <a:ea typeface="PingFang SC"/>
              </a:rPr>
              <a:t>人拍板处置</a:t>
            </a:r>
            <a:endParaRPr/>
          </a:p>
        </p:txBody>
      </p:sp>
      <p:sp>
        <p:nvSpPr>
          <p:cNvPr id="41" name=""/>
          <p:cNvSpPr/>
          <p:nvPr/>
        </p:nvSpPr>
        <p:spPr>
          <a:xfrm rot="0" flipH="0" flipV="0">
            <a:off x="685800" y="5772150"/>
            <a:ext cx="6143625" cy="381000"/>
          </a:xfrm>
          <a:prstGeom prst="roundRect">
            <a:avLst>
              <a:gd name="adj" fmla="val 25000"/>
            </a:avLst>
          </a:prstGeom>
          <a:solidFill>
            <a:srgbClr val="FEEFE0"/>
          </a:solidFill>
          <a:ln/>
        </p:spPr>
        <p:txBody>
          <a:bodyPr/>
          <a:p/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857250" y="5867400"/>
            <a:ext cx="5800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B45309"/>
                </a:solidFill>
                <a:latin typeface="PingFang SC"/>
                <a:ea typeface="PingFang SC"/>
              </a:rPr>
              <a:t>处置权永远在人：</a:t>
            </a:r>
            <a:r>
              <a:rPr lang="en-US" sz="1200" b="1">
                <a:solidFill>
                  <a:srgbClr val="B45309"/>
                </a:solidFill>
                <a:latin typeface="PingFang SC"/>
                <a:ea typeface="PingFang SC"/>
              </a:rPr>
              <a:t>AI </a:t>
            </a:r>
            <a:r>
              <a:rPr lang="zh-CN" sz="1200" b="1">
                <a:solidFill>
                  <a:srgbClr val="B45309"/>
                </a:solidFill>
                <a:latin typeface="PingFang SC"/>
                <a:ea typeface="PingFang SC"/>
              </a:rPr>
              <a:t>给建议，处置由组长拍板</a:t>
            </a:r>
            <a:r>
              <a:rPr lang="en-US" sz="1200" b="1">
                <a:solidFill>
                  <a:srgbClr val="B45309"/>
                </a:solidFill>
                <a:latin typeface="PingFang SC"/>
                <a:ea typeface="PingFang SC"/>
              </a:rPr>
              <a:t> —— </a:t>
            </a:r>
            <a:r>
              <a:rPr lang="zh-CN" sz="1200" b="1">
                <a:solidFill>
                  <a:srgbClr val="B45309"/>
                </a:solidFill>
                <a:latin typeface="PingFang SC"/>
                <a:ea typeface="PingFang SC"/>
              </a:rPr>
              <a:t>建议权可以下放，决策权不行。</a:t>
            </a:r>
            <a:endParaRPr/>
          </a:p>
        </p:txBody>
      </p:sp>
      <p:sp>
        <p:nvSpPr>
          <p:cNvPr id="43" name=""/>
          <p:cNvSpPr/>
          <p:nvPr/>
        </p:nvSpPr>
        <p:spPr>
          <a:xfrm rot="0" flipH="0" flipV="0">
            <a:off x="7058025" y="1276350"/>
            <a:ext cx="4448175" cy="1990725"/>
          </a:xfrm>
          <a:prstGeom prst="roundRect">
            <a:avLst>
              <a:gd name="adj" fmla="val 8612"/>
            </a:avLst>
          </a:prstGeom>
          <a:solidFill>
            <a:srgbClr val="1E3A8A"/>
          </a:solidFill>
          <a:ln/>
        </p:spPr>
        <p:txBody>
          <a:bodyPr/>
          <a:p/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7953375" y="1504950"/>
            <a:ext cx="26574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7FD9F0"/>
                </a:solidFill>
                <a:latin typeface="PingFang SC"/>
                <a:ea typeface="PingFang SC"/>
              </a:rPr>
              <a:t>运营基线 </a:t>
            </a:r>
            <a:r>
              <a:rPr lang="zh-CN" sz="1200" spc="150">
                <a:solidFill>
                  <a:srgbClr val="7FD9F0"/>
                </a:solidFill>
                <a:latin typeface="PingFang SC"/>
                <a:ea typeface="PingFang SC"/>
              </a:rPr>
              <a:t>示例（效率</a:t>
            </a:r>
            <a:r>
              <a:rPr lang="en-US" sz="1200" spc="150">
                <a:solidFill>
                  <a:srgbClr val="7FD9F0"/>
                </a:solidFill>
                <a:latin typeface="PingFang SC"/>
                <a:ea typeface="PingFang SC"/>
              </a:rPr>
              <a:t> × </a:t>
            </a:r>
            <a:r>
              <a:rPr lang="zh-CN" sz="1200" spc="150">
                <a:solidFill>
                  <a:srgbClr val="7FD9F0"/>
                </a:solidFill>
                <a:latin typeface="PingFang SC"/>
                <a:ea typeface="PingFang SC"/>
              </a:rPr>
              <a:t>性能</a:t>
            </a:r>
            <a:r>
              <a:rPr lang="en-US" sz="1200" spc="150">
                <a:solidFill>
                  <a:srgbClr val="7FD9F0"/>
                </a:solidFill>
                <a:latin typeface="PingFang SC"/>
                <a:ea typeface="PingFang SC"/>
              </a:rPr>
              <a:t> × </a:t>
            </a:r>
            <a:r>
              <a:rPr lang="zh-CN" sz="1200" spc="150">
                <a:solidFill>
                  <a:srgbClr val="7FD9F0"/>
                </a:solidFill>
                <a:latin typeface="PingFang SC"/>
                <a:ea typeface="PingFang SC"/>
              </a:rPr>
              <a:t>质量）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8496300" y="1790700"/>
            <a:ext cx="1571625" cy="666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350" b="1">
                <a:solidFill>
                  <a:srgbClr val="FFFFFF"/>
                </a:solidFill>
                <a:latin typeface="Space Grotesk"/>
                <a:ea typeface="Space Grotesk"/>
              </a:rPr>
              <a:t>83.8%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8582025" y="2552700"/>
            <a:ext cx="14001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DCE9FB"/>
                </a:solidFill>
                <a:latin typeface="Space Grotesk"/>
                <a:ea typeface="Space Grotesk"/>
              </a:rPr>
              <a:t>0.90 × 0.95 × 0.98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7639050" y="2876550"/>
            <a:ext cx="329565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050">
                <a:solidFill>
                  <a:srgbClr val="A9C4E8"/>
                </a:solidFill>
                <a:latin typeface="PingFang SC"/>
                <a:ea typeface="PingFang SC"/>
              </a:rPr>
              <a:t>中断、降速、差错各吃掉一块</a:t>
            </a:r>
            <a:r>
              <a:rPr lang="en-US" sz="1050">
                <a:solidFill>
                  <a:srgbClr val="A9C4E8"/>
                </a:solidFill>
                <a:latin typeface="PingFang SC"/>
                <a:ea typeface="PingFang SC"/>
              </a:rPr>
              <a:t> —— </a:t>
            </a:r>
            <a:r>
              <a:rPr lang="zh-CN" sz="1050">
                <a:solidFill>
                  <a:srgbClr val="A9C4E8"/>
                </a:solidFill>
                <a:latin typeface="PingFang SC"/>
                <a:ea typeface="PingFang SC"/>
              </a:rPr>
              <a:t>预测预警专治第一项</a:t>
            </a:r>
            <a:endParaRPr/>
          </a:p>
        </p:txBody>
      </p:sp>
      <p:sp>
        <p:nvSpPr>
          <p:cNvPr id="48" name=""/>
          <p:cNvSpPr/>
          <p:nvPr/>
        </p:nvSpPr>
        <p:spPr>
          <a:xfrm rot="0" flipH="0" flipV="0">
            <a:off x="7058025" y="3400425"/>
            <a:ext cx="4448175" cy="2752725"/>
          </a:xfrm>
          <a:prstGeom prst="roundRect">
            <a:avLst>
              <a:gd name="adj" fmla="val 55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7267575" y="3571875"/>
            <a:ext cx="40290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E3A8A"/>
                </a:solidFill>
                <a:latin typeface="PingFang SC"/>
                <a:ea typeface="PingFang SC"/>
              </a:rPr>
              <a:t>行业标杆</a:t>
            </a:r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7267575" y="3857625"/>
            <a:ext cx="4029075" cy="666750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200">
                <a:solidFill>
                  <a:srgbClr val="43566B"/>
                </a:solidFill>
                <a:latin typeface="PingFang SC"/>
                <a:ea typeface="PingFang SC"/>
              </a:rPr>
              <a:t>跨行业标杆：指标异常</a:t>
            </a:r>
            <a:r>
              <a:rPr lang="en-US" sz="1200">
                <a:solidFill>
                  <a:srgbClr val="43566B"/>
                </a:solidFill>
                <a:latin typeface="PingFang SC"/>
                <a:ea typeface="PingFang SC"/>
              </a:rPr>
              <a:t> </a:t>
            </a:r>
            <a:r>
              <a:rPr lang="en-US" sz="1200" b="1">
                <a:solidFill>
                  <a:srgbClr val="B45309"/>
                </a:solidFill>
                <a:latin typeface="PingFang SC"/>
                <a:ea typeface="PingFang SC"/>
              </a:rPr>
              <a:t>10 </a:t>
            </a:r>
            <a:r>
              <a:rPr lang="zh-CN" sz="1200" b="1">
                <a:solidFill>
                  <a:srgbClr val="B45309"/>
                </a:solidFill>
                <a:latin typeface="PingFang SC"/>
                <a:ea typeface="PingFang SC"/>
              </a:rPr>
              <a:t>秒</a:t>
            </a:r>
            <a:r>
              <a:rPr lang="en-US" sz="1200">
                <a:solidFill>
                  <a:srgbClr val="43566B"/>
                </a:solidFill>
                <a:latin typeface="PingFang SC"/>
                <a:ea typeface="PingFang SC"/>
              </a:rPr>
              <a:t> </a:t>
            </a:r>
            <a:r>
              <a:rPr lang="zh-CN" sz="1200">
                <a:solidFill>
                  <a:srgbClr val="43566B"/>
                </a:solidFill>
                <a:latin typeface="PingFang SC"/>
                <a:ea typeface="PingFang SC"/>
              </a:rPr>
              <a:t>级预警</a:t>
            </a:r>
            <a:endParaRPr/>
          </a:p>
          <a:p>
            <a:pPr>
              <a:lnSpc>
                <a:spcPct val="180000"/>
              </a:lnSpc>
            </a:pPr>
            <a:r>
              <a:rPr lang="zh-CN" sz="1200">
                <a:solidFill>
                  <a:srgbClr val="43566B"/>
                </a:solidFill>
                <a:latin typeface="PingFang SC"/>
                <a:ea typeface="PingFang SC"/>
              </a:rPr>
              <a:t>跨行业标杆：非计划中断 -50% · 运维成本 -25%</a:t>
            </a:r>
            <a:r>
              <a:rPr lang="en-US" sz="1200">
                <a:solidFill>
                  <a:srgbClr val="43566B"/>
                </a:solidFill>
                <a:latin typeface="PingFang SC"/>
                <a:ea typeface="PingFang SC"/>
              </a:rPr>
              <a:t/>
            </a:r>
            <a:r>
              <a:rPr lang="en-US" sz="1200" b="1">
                <a:solidFill>
                  <a:srgbClr val="B45309"/>
                </a:solidFill>
                <a:latin typeface="PingFang SC"/>
                <a:ea typeface="PingFang SC"/>
              </a:rPr>
              <a:t/>
            </a:r>
            <a:r>
              <a:rPr lang="en-US" sz="1200">
                <a:solidFill>
                  <a:srgbClr val="43566B"/>
                </a:solidFill>
                <a:latin typeface="PingFang SC"/>
                <a:ea typeface="PingFang SC"/>
              </a:rPr>
              <a:t/>
            </a:r>
            <a:r>
              <a:rPr lang="zh-CN" sz="1200">
                <a:solidFill>
                  <a:srgbClr val="43566B"/>
                </a:solidFill>
                <a:latin typeface="PingFang SC"/>
                <a:ea typeface="PingFang SC"/>
              </a:rPr>
              <a:t/>
            </a:r>
            <a:r>
              <a:rPr lang="en-US" sz="1200">
                <a:solidFill>
                  <a:srgbClr val="43566B"/>
                </a:solidFill>
                <a:latin typeface="PingFang SC"/>
                <a:ea typeface="PingFang SC"/>
              </a:rPr>
              <a:t/>
            </a:r>
            <a:r>
              <a:rPr lang="en-US" sz="1200" b="1">
                <a:solidFill>
                  <a:srgbClr val="B45309"/>
                </a:solidFill>
                <a:latin typeface="PingFang SC"/>
                <a:ea typeface="PingFang SC"/>
              </a:rPr>
              <a:t/>
            </a:r>
            <a:endParaRPr/>
          </a:p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1123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AI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场景落地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中级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11049000" y="63627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10 / 34</a:t>
            </a:r>
            <a:endParaRPr/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3" name="" descr="&lt;Slide style={{ width: '1280px', height: '720px', position: 'relative', background: '#1E3A8A', overflow: 'hidden', fontFamily: 'PingFang SC, Source Han Sans SC, sans-serif' }}&gt;&#10;    &lt;Box style={{ position: 'absolute', top: 0, right: 0, width: 500, height: '720px' }}&gt;&#10;        &lt;Image src=&quot;assets/hero_cover.png&quot; style={{ width: '500px', height: '720px', objectFit: 'cover', opacity: 0.5 }} /&gt;&#10;        &lt;Box style={{ position: 'absolute', top: 0, left: 0, width: '500px', height: '720px', background: 'linear-gradient(90deg, rgba(30,58,138,1) 0%, rgba(30,58,138,0.15) 100%)' }} /&gt;&#10;    &lt;/Box&gt;&#10;    &lt;Box style={{ position: 'relative', zIndex: 1, height: '720px', padding: '0 84px', justifyContent: 'center' }}&gt;&#10;        &lt;Text style={{ fontSize: 130, fontWeight: 'bold', color: 'rgba(6,182,212,0.5)', lineHeight: 1, fontFamily: 'Space Grotesk, Inter' }}&gt;03&lt;/Text&gt;&#10;        &lt;Text style={{ fontSize: 18, color: '#7FD9F0', letterSpacing: 5, marginTop: 6 }}&gt;M3 · 3 课时&lt;/Text&gt;&#10;        &lt;Text style={{ fontSize: 54, fontWeight: 'bold', color: '#FFFFFF', marginTop: 20, lineHeight: 1.18 }}&gt;视觉质检&lt;br /&gt;给产线装上第二双眼睛&lt;/Text&gt;&#10;        &lt;Box style={{ width: 84, height: 4, background: '#06B6D4', marginTop: 30 }} /&gt;&#10;        &lt;Text style={{ fontSize: 19, color: '#A9C4E8', marginTop: 22, lineHeight: 1.6 }}&gt;三任务 · 混淆矩阵 · 96% 铁案 · 上线四控制&lt;br /&gt;标杆：单件检测 30 秒 vs 人工 2–3 小时 · 博世误检 -40%。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p/>
        </p:txBody>
      </p:sp>
      <p:pic>
        <p:nvPicPr>
          <p:cNvPr id="55" name=""/>
          <p:cNvPicPr>
            <a:picLocks noChangeAspect="1"/>
          </p:cNvPicPr>
          <p:nvPr/>
        </p:nvPicPr>
        <p:blipFill>
          <a:blip r:embed="rId1">
            <a:alphaModFix amt="50000"/>
          </a:blip>
          <a:srcRect l="26242" t="0" r="26242" b="0"/>
          <a:stretch>
            <a:fillRect/>
          </a:stretch>
        </p:blipFill>
        <p:spPr>
          <a:xfrm rot="0" flipH="0" flipV="0">
            <a:off x="7429500" y="0"/>
            <a:ext cx="4762500" cy="6858000"/>
          </a:xfrm>
          <a:prstGeom prst="rect">
            <a:avLst/>
          </a:prstGeom>
          <a:ln/>
        </p:spPr>
      </p:pic>
      <p:sp>
        <p:nvSpPr>
          <p:cNvPr id="56" name=""/>
          <p:cNvSpPr/>
          <p:nvPr/>
        </p:nvSpPr>
        <p:spPr>
          <a:xfrm rot="0" flipH="0" flipV="0">
            <a:off x="7429500" y="0"/>
            <a:ext cx="4762500" cy="6858000"/>
          </a:xfrm>
          <a:prstGeom prst="rect">
            <a:avLst/>
          </a:prstGeom>
          <a:gradFill>
            <a:gsLst>
              <a:gs pos="0">
                <a:srgbClr val="1E3A8A">
                  <a:alpha val="100000"/>
                </a:srgbClr>
              </a:gs>
              <a:gs pos="100000">
                <a:srgbClr val="1E3A8A">
                  <a:alpha val="1500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800100" y="1114425"/>
            <a:ext cx="10591800" cy="1485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0" b="1">
                <a:solidFill>
                  <a:srgbClr val="06B6D4">
                    <a:alpha val="50000"/>
                  </a:srgbClr>
                </a:solidFill>
                <a:latin typeface="Space Grotesk"/>
                <a:ea typeface="Space Grotesk"/>
              </a:rPr>
              <a:t>03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800100" y="2657475"/>
            <a:ext cx="10591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spc="375">
                <a:solidFill>
                  <a:srgbClr val="7FD9F0"/>
                </a:solidFill>
                <a:latin typeface="PingFang SC"/>
                <a:ea typeface="PingFang SC"/>
              </a:rPr>
              <a:t>M3 · 3 </a:t>
            </a:r>
            <a:r>
              <a:rPr lang="zh-CN" sz="1350" spc="375">
                <a:solidFill>
                  <a:srgbClr val="7FD9F0"/>
                </a:solidFill>
                <a:latin typeface="PingFang SC"/>
                <a:ea typeface="PingFang SC"/>
              </a:rPr>
              <a:t>课时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800100" y="3057525"/>
            <a:ext cx="10591800" cy="1457325"/>
          </a:xfrm>
          <a:prstGeom prst="rect"/>
        </p:spPr>
        <p:txBody>
          <a:bodyPr wrap="none" lIns="0" tIns="0" rIns="0" bIns="0"/>
          <a:p>
            <a:pPr>
              <a:lnSpc>
                <a:spcPct val="118000"/>
              </a:lnSpc>
            </a:pPr>
            <a:r>
              <a:rPr lang="zh-CN" sz="4050" b="1">
                <a:solidFill>
                  <a:srgbClr val="FFFFFF"/>
                </a:solidFill>
                <a:latin typeface="PingFang SC"/>
                <a:ea typeface="PingFang SC"/>
              </a:rPr>
              <a:t>智能审核</a:t>
            </a:r>
            <a:endParaRPr/>
          </a:p>
          <a:p>
            <a:pPr>
              <a:lnSpc>
                <a:spcPct val="118000"/>
              </a:lnSpc>
            </a:pPr>
            <a:r>
              <a:rPr lang="zh-CN" sz="4050" b="1">
                <a:solidFill>
                  <a:srgbClr val="FFFFFF"/>
                </a:solidFill>
                <a:latin typeface="PingFang SC"/>
                <a:ea typeface="PingFang SC"/>
              </a:rPr>
              <a:t>给流程装上第二双眼睛</a:t>
            </a:r>
            <a:endParaRPr/>
          </a:p>
        </p:txBody>
      </p:sp>
      <p:sp>
        <p:nvSpPr>
          <p:cNvPr id="60" name=""/>
          <p:cNvSpPr/>
          <p:nvPr/>
        </p:nvSpPr>
        <p:spPr>
          <a:xfrm rot="0" flipH="0" flipV="0">
            <a:off x="800100" y="4800600"/>
            <a:ext cx="800100" cy="381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800100" y="5048250"/>
            <a:ext cx="10591800" cy="695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A9C4E8"/>
                </a:solidFill>
                <a:latin typeface="PingFang SC"/>
                <a:ea typeface="PingFang SC"/>
              </a:rPr>
              <a:t>三任务</a:t>
            </a:r>
            <a:r>
              <a:rPr lang="en-US" sz="1425">
                <a:solidFill>
                  <a:srgbClr val="A9C4E8"/>
                </a:solidFill>
                <a:latin typeface="PingFang SC"/>
                <a:ea typeface="PingFang SC"/>
              </a:rPr>
              <a:t> · </a:t>
            </a:r>
            <a:r>
              <a:rPr lang="zh-CN" sz="1425">
                <a:solidFill>
                  <a:srgbClr val="A9C4E8"/>
                </a:solidFill>
                <a:latin typeface="PingFang SC"/>
                <a:ea typeface="PingFang SC"/>
              </a:rPr>
              <a:t>混淆矩阵</a:t>
            </a:r>
            <a:r>
              <a:rPr lang="en-US" sz="1425">
                <a:solidFill>
                  <a:srgbClr val="A9C4E8"/>
                </a:solidFill>
                <a:latin typeface="PingFang SC"/>
                <a:ea typeface="PingFang SC"/>
              </a:rPr>
              <a:t> · 96% </a:t>
            </a:r>
            <a:r>
              <a:rPr lang="zh-CN" sz="1425">
                <a:solidFill>
                  <a:srgbClr val="A9C4E8"/>
                </a:solidFill>
                <a:latin typeface="PingFang SC"/>
                <a:ea typeface="PingFang SC"/>
              </a:rPr>
              <a:t>铁案</a:t>
            </a:r>
            <a:r>
              <a:rPr lang="en-US" sz="1425">
                <a:solidFill>
                  <a:srgbClr val="A9C4E8"/>
                </a:solidFill>
                <a:latin typeface="PingFang SC"/>
                <a:ea typeface="PingFang SC"/>
              </a:rPr>
              <a:t> · </a:t>
            </a:r>
            <a:r>
              <a:rPr lang="zh-CN" sz="1425">
                <a:solidFill>
                  <a:srgbClr val="A9C4E8"/>
                </a:solidFill>
                <a:latin typeface="PingFang SC"/>
                <a:ea typeface="PingFang SC"/>
              </a:rPr>
              <a:t>上线四控制</a:t>
            </a:r>
            <a:endParaRPr/>
          </a:p>
          <a:p>
            <a:pPr>
              <a:lnSpc>
                <a:spcPct val="160000"/>
              </a:lnSpc>
            </a:pPr>
            <a:r>
              <a:rPr lang="zh-CN" sz="1425">
                <a:solidFill>
                  <a:srgbClr val="A9C4E8"/>
                </a:solidFill>
                <a:latin typeface="PingFang SC"/>
                <a:ea typeface="PingFang SC"/>
              </a:rPr>
              <a:t>标杆：单件检测</a:t>
            </a:r>
            <a:r>
              <a:rPr lang="en-US" sz="1425">
                <a:solidFill>
                  <a:srgbClr val="A9C4E8"/>
                </a:solidFill>
                <a:latin typeface="PingFang SC"/>
                <a:ea typeface="PingFang SC"/>
              </a:rPr>
              <a:t> 30 </a:t>
            </a:r>
            <a:r>
              <a:rPr lang="zh-CN" sz="1425">
                <a:solidFill>
                  <a:srgbClr val="A9C4E8"/>
                </a:solidFill>
                <a:latin typeface="PingFang SC"/>
                <a:ea typeface="PingFang SC"/>
              </a:rPr>
              <a:t>秒</a:t>
            </a:r>
            <a:r>
              <a:rPr lang="en-US" sz="1425">
                <a:solidFill>
                  <a:srgbClr val="A9C4E8"/>
                </a:solidFill>
                <a:latin typeface="PingFang SC"/>
                <a:ea typeface="PingFang SC"/>
              </a:rPr>
              <a:t> vs </a:t>
            </a:r>
            <a:r>
              <a:rPr lang="zh-CN" sz="1425">
                <a:solidFill>
                  <a:srgbClr val="A9C4E8"/>
                </a:solidFill>
                <a:latin typeface="PingFang SC"/>
                <a:ea typeface="PingFang SC"/>
              </a:rPr>
              <a:t>人工</a:t>
            </a:r>
            <a:r>
              <a:rPr lang="en-US" sz="1425">
                <a:solidFill>
                  <a:srgbClr val="A9C4E8"/>
                </a:solidFill>
                <a:latin typeface="PingFang SC"/>
                <a:ea typeface="PingFang SC"/>
              </a:rPr>
              <a:t> 2–3 </a:t>
            </a:r>
            <a:r>
              <a:rPr lang="zh-CN" sz="1425">
                <a:solidFill>
                  <a:srgbClr val="A9C4E8"/>
                </a:solidFill>
                <a:latin typeface="PingFang SC"/>
                <a:ea typeface="PingFang SC"/>
              </a:rPr>
              <a:t>小时</a:t>
            </a:r>
            <a:r>
              <a:rPr lang="en-US" sz="1425">
                <a:solidFill>
                  <a:srgbClr val="A9C4E8"/>
                </a:solidFill>
                <a:latin typeface="PingFang SC"/>
                <a:ea typeface="PingFang SC"/>
              </a:rPr>
              <a:t> · </a:t>
            </a:r>
            <a:r>
              <a:rPr lang="zh-CN" sz="1425">
                <a:solidFill>
                  <a:srgbClr val="A9C4E8"/>
                </a:solidFill>
                <a:latin typeface="PingFang SC"/>
                <a:ea typeface="PingFang SC"/>
              </a:rPr>
              <a:t>厂商案例误检</a:t>
            </a:r>
            <a:r>
              <a:rPr lang="en-US" sz="1425">
                <a:solidFill>
                  <a:srgbClr val="A9C4E8"/>
                </a:solidFill>
                <a:latin typeface="PingFang SC"/>
                <a:ea typeface="PingFang SC"/>
              </a:rPr>
              <a:t> -40%</a:t>
            </a:r>
            <a:r>
              <a:rPr lang="zh-CN" sz="1425">
                <a:solidFill>
                  <a:srgbClr val="A9C4E8"/>
                </a:solidFill>
                <a:latin typeface="PingFang SC"/>
                <a:ea typeface="PingFang SC"/>
              </a:rPr>
              <a:t>。</a:t>
            </a:r>
            <a:endParaRPr/>
          </a:p>
        </p:txBody>
      </p:sp>
    </p:spTree>
  </p:cSld>
</p:sld>
</file>

<file path=ppt/slides/slide12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62" name="" descr="const tasks = [&#10;    { icon: 'thumbs-up', t: '分类', d: '这是不是不良品？', ex: '好 / 坏、A 类 / B 类' },&#10;    { icon: 'crosshairs', t: '定位检测', d: '缺陷在哪、有多大？', ex: '画框标出划痕位置' },&#10;    { icon: 'search', t: '异常检测', d: '它「不对劲」吗？', ex: '没有坏件样本也能找异常' },&#10;];&#10;const matrix = [&#10;    { k: 'TP 真阳', d: '是不良，判成不良', c: '#059669' },&#10;    { k: 'FP 假阳', d: '是好的，判成不良（虚惊）', c: '#F59E0B' },&#10;    { k: 'FN 假阴', d: '是不良，放过了（最危险）', c: '#DC2626' },&#10;    { k: 'TN 真阴', d: '是好的，放行', c: '#64748B' },&#10;];&#10;&lt;Slide style={{ width: '1280px', height: '720px', background: '#F5F8FC', padding: '24px 72px', boxSizing: 'border-box', flexDirection: 'column', fontFamily: 'PingFang SC, Source Han Sans SC, sans-serif' }}&gt;&#10;    &lt;Box style={{ height: 96, flexDirection: 'row', alignItems: 'center', gap: 16 }}&gt;&#10;        &lt;Box style={{ width: 5, height: 46, background: '#06B6D4', borderRadius: 3 }} /&gt;&#10;        &lt;Box&gt;&#10;            &lt;Text style={{ fontSize: 34, fontWeight: 'bold', color: '#1E3A8A', lineHeight: 1.2 }}&gt;视觉质检的三任务 + 一张混淆矩阵&lt;/Text&gt;&#10;            &lt;Text style={{ fontSize: 17, color: '#64748B', marginTop: 4 }}&gt;先搞清楚「问什么问题」，再谈模型&lt;/Text&gt;&#10;        &lt;/Box&gt;&#10;    &lt;/Box&gt;&#10;    &lt;Box style={{ flexDirection: 'row', gap: 20, marginTop: 16 }}&gt;&#10;        {tasks.map((t, i) =&gt; (&#10;            &lt;Box key={i} style={{ flex: 1, background: '#FFFFFF', borderRadius: 16, padding: '20px 22px', border: '1px solid #E2E8F0', boxShadow: '0 4px 16px rgba(30,58,138,0.06)', flexDirection: 'row', alignItems: 'center', gap: 16 }}&gt;&#10;                &lt;Box style={{ width: 56, height: 56, borderRadius: 14, background: '#E0F7FA', justifyContent: 'center', alignItems: 'center' }}&gt;&#10;                    &lt;FAIcon name={t.icon} style={{ fill: '#0891B2', width: 28, height: 28 }} /&gt;&#10;                &lt;/Box&gt;&#10;                &lt;Box&gt;&#10;                    &lt;Text style={{ fontSize: 21, fontWeight: 'bold', color: '#1E3A8A' }}&gt;{t.t}&lt;/Text&gt;&#10;                    &lt;Text style={{ fontSize: 15, color: '#43566b', marginTop: 4 }}&gt;{t.d}（{t.ex}）&lt;/Text&gt;&#10;                &lt;/Box&gt;&#10;            &lt;/Box&gt;&#10;        ))}&#10;    &lt;/Box&gt;&#10;    &lt;Box style={{ flex: 1, flexDirection: 'row', gap: 24, marginTop: 20 }}&gt;&#10;        &lt;Box style={{ width: 470, background: '#FFFFFF', borderRadius: 16, padding: '20px 24px', border: '1px solid #E2E8F0' }}&gt;&#10;            &lt;Text style={{ fontSize: 17, fontWeight: 'bold', color: '#1E3A8A', marginBottom: 12 }}&gt;混淆矩阵：判对判错，四种情况&lt;/Text&gt;&#10;            &lt;Box style={{ flexDirection: 'row', gap: 12 }}&gt;&#10;                &lt;Box style={{ flex: 1, padding: '14px 16px', borderRadius: 12, background: '#F5F8FC', border: '1px solid #E2E8F0' }}&gt;&#10;                    &lt;Text style={{ fontSize: 16, fontWeight: 'bold', color: matrix[0].c }}&gt;{matrix[0].k}&lt;/Text&gt;&#10;                    &lt;Text style={{ fontSize: 14, color: '#43566b', marginTop: 4 }}&gt;{matrix[0].d}&lt;/Text&gt;&#10;                &lt;/Box&gt;&#10;                &lt;Box style={{ flex: 1, padding: '14px 16px', borderRadius: 12, background: '#F5F8FC', border: '1px solid #E2E8F0' }}&gt;&#10;                    &lt;Text style={{ fontSize: 16, fontWeight: 'bold', color: matrix[1].c }}&gt;{matrix[1].k}&lt;/Text&gt;&#10;                    &lt;Text style={{ fontSize: 14, color: '#43566b', marginTop: 4 }}&gt;{matrix[1].d}&lt;/Text&gt;&#10;                &lt;/Box&gt;&#10;            &lt;/Box&gt;&#10;            &lt;Box style={{ flexDirection: 'row', gap: 12, marginTop: 12 }}&gt;&#10;                &lt;Box style={{ flex: 1, padding: '14px 16px', borderRadius: 12, background: '#FEF2F2', border: '1px solid #FECACA' }}&gt;&#10;                    &lt;Text style={{ fontSize: 16, fontWeight: 'bold', color: matrix[2].c }}&gt;{matrix[2].k}&lt;/Text&gt;&#10;                    &lt;Text style={{ fontSize: 14, color: '#43566b', marginTop: 4 }}&gt;{matrix[2].d}&lt;/Text&gt;&#10;                &lt;/Box&gt;&#10;                &lt;Box style={{ flex: 1, padding: '14px 16px', borderRadius: 12, background: '#F5F8FC', border: '1px solid #E2E8F0' }}&gt;&#10;                    &lt;Text style={{ fontSize: 16, fontWeight: 'bold', color: matrix[3].c }}&gt;{matrix[3].k}&lt;/Text&gt;&#10;                    &lt;Text style={{ fontSize: 14, color: '#43566b', marginTop: 4 }}&gt;{matrix[3].d}&lt;/Text&gt;&#10;                &lt;/Box&gt;&#10;            &lt;/Box&gt;&#10;        &lt;/Box&gt;&#10;        &lt;Box style={{ flex: 1, background: '#1E3A8A', borderRadius: 16, padding: '24px 28px', flexDirection: 'column', justifyContent: 'center' }}&gt;&#10;            &lt;Text style={{ fontSize: 20, color: '#7FD9F0', letterSpacing: 2 }}&gt;验收时先看哪个指标？&lt;/Text&gt;&#10;            &lt;Text style={{ fontSize: 44, fontWeight: 'bold', color: '#FFFFFF', marginTop: 14 }}&gt;召回率&lt;/Text&gt;&#10;            &lt;Text style={{ fontSize: 17, color: '#DCE9FB', marginTop: 16, lineHeight: 1.7 }}&gt;「没放过坏件」比「不虚惊」更重要。&lt;br /&gt;FP 的代价是多一道人工复检；FN 的代价是不良流到客户手里。&lt;br /&gt;安全关键件，宁可多喊狼来了，不可漏一只狼。&lt;/Text&gt;&#10;        &lt;/Box&gt;&#10;    &lt;/Box&gt;&#10;    &lt;Box style={{ height: 40, flexDirection: 'row', justifyContent: 'space-between', alignItems: 'center', marginTop: 10 }}&gt;&#10;        &lt;Text style={{ fontSize: 14, color: '#64748B' }}&gt;AI 场景落地 · 中级&lt;/Text&gt;&#10;        &lt;Text style={{ fontSize: 14, color: '#64748B' }}&gt;12 / 34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/>
        </p:spPr>
        <p:txBody>
          <a:bodyPr/>
          <a:p/>
        </p:txBody>
      </p:sp>
      <p:sp>
        <p:nvSpPr>
          <p:cNvPr id="64" name=""/>
          <p:cNvSpPr/>
          <p:nvPr/>
        </p:nvSpPr>
        <p:spPr>
          <a:xfrm rot="0" flipH="0" flipV="0">
            <a:off x="685800" y="466725"/>
            <a:ext cx="47625" cy="438150"/>
          </a:xfrm>
          <a:prstGeom prst="roundRect">
            <a:avLst>
              <a:gd name="adj" fmla="val 60000"/>
            </a:avLst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885825" y="333375"/>
            <a:ext cx="4953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>智能审核的三任务</a:t>
            </a:r>
            <a:r>
              <a:rPr lang="en-US" sz="2550" b="1">
                <a:solidFill>
                  <a:srgbClr val="1E3A8A"/>
                </a:solidFill>
                <a:latin typeface="PingFang SC"/>
                <a:ea typeface="PingFang SC"/>
              </a:rPr>
              <a:t> + </a:t>
            </a: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>一张混淆矩阵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885825" y="838200"/>
            <a:ext cx="4953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先搞清楚「问什么问题」，再谈模型</a:t>
            </a:r>
            <a:endParaRPr/>
          </a:p>
        </p:txBody>
      </p:sp>
      <p:sp>
        <p:nvSpPr>
          <p:cNvPr id="67" name=""/>
          <p:cNvSpPr/>
          <p:nvPr/>
        </p:nvSpPr>
        <p:spPr>
          <a:xfrm rot="0" flipH="0" flipV="0">
            <a:off x="685800" y="1295400"/>
            <a:ext cx="3476625" cy="914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>
              <a:srgbClr val="1E3A8A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68" name=""/>
          <p:cNvSpPr/>
          <p:nvPr/>
        </p:nvSpPr>
        <p:spPr>
          <a:xfrm rot="0" flipH="0" flipV="0">
            <a:off x="895350" y="1485900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E0F7FA"/>
          </a:solidFill>
          <a:ln/>
        </p:spPr>
        <p:txBody>
          <a:bodyPr/>
          <a:p/>
        </p:txBody>
      </p:sp>
      <p:pic>
        <p:nvPicPr>
          <p:cNvPr id="6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028700" y="1619250"/>
            <a:ext cx="266700" cy="266700"/>
          </a:xfrm>
          <a:prstGeom prst="rect">
            <a:avLst/>
          </a:prstGeom>
          <a:ln/>
        </p:spPr>
      </p:pic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1514475" y="1524000"/>
            <a:ext cx="24384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E3A8A"/>
                </a:solidFill>
                <a:latin typeface="PingFang SC"/>
                <a:ea typeface="PingFang SC"/>
              </a:rPr>
              <a:t>分类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1514475" y="1809750"/>
            <a:ext cx="2438400" cy="342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这是不是异常件？</a:t>
            </a: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（</a:t>
            </a: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好</a:t>
            </a:r>
            <a:r>
              <a:rPr lang="en-US" sz="1125">
                <a:solidFill>
                  <a:srgbClr val="43566B"/>
                </a:solidFill>
                <a:latin typeface="PingFang SC"/>
                <a:ea typeface="PingFang SC"/>
              </a:rPr>
              <a:t> / </a:t>
            </a: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坏、</a:t>
            </a:r>
            <a:r>
              <a:rPr lang="en-US" sz="1125">
                <a:solidFill>
                  <a:srgbClr val="43566B"/>
                </a:solidFill>
                <a:latin typeface="PingFang SC"/>
                <a:ea typeface="PingFang SC"/>
              </a:rPr>
              <a:t>A </a:t>
            </a: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类</a:t>
            </a:r>
            <a:r>
              <a:rPr lang="en-US" sz="1125">
                <a:solidFill>
                  <a:srgbClr val="43566B"/>
                </a:solidFill>
                <a:latin typeface="PingFang SC"/>
                <a:ea typeface="PingFang SC"/>
              </a:rPr>
              <a:t> / B </a:t>
            </a: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类</a:t>
            </a: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）</a:t>
            </a:r>
            <a:endParaRPr/>
          </a:p>
        </p:txBody>
      </p:sp>
      <p:sp>
        <p:nvSpPr>
          <p:cNvPr id="72" name=""/>
          <p:cNvSpPr/>
          <p:nvPr/>
        </p:nvSpPr>
        <p:spPr>
          <a:xfrm rot="0" flipH="0" flipV="0">
            <a:off x="4352925" y="1295400"/>
            <a:ext cx="3486150" cy="914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>
              <a:srgbClr val="1E3A8A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73" name=""/>
          <p:cNvSpPr/>
          <p:nvPr/>
        </p:nvSpPr>
        <p:spPr>
          <a:xfrm rot="0" flipH="0" flipV="0">
            <a:off x="4562475" y="1485900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E0F7FA"/>
          </a:solidFill>
          <a:ln/>
        </p:spPr>
        <p:txBody>
          <a:bodyPr/>
          <a:p/>
        </p:txBody>
      </p:sp>
      <p:pic>
        <p:nvPicPr>
          <p:cNvPr id="7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695825" y="1619250"/>
            <a:ext cx="266700" cy="266700"/>
          </a:xfrm>
          <a:prstGeom prst="rect">
            <a:avLst/>
          </a:prstGeom>
          <a:ln/>
        </p:spPr>
      </p:pic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5191125" y="1524000"/>
            <a:ext cx="24384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E3A8A"/>
                </a:solidFill>
                <a:latin typeface="PingFang SC"/>
                <a:ea typeface="PingFang SC"/>
              </a:rPr>
              <a:t>定位检测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5191125" y="1809750"/>
            <a:ext cx="2438400" cy="342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异常在哪、有多大？（标出位置）</a:t>
            </a: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/>
            </a: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/>
            </a: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/>
            </a:r>
            <a:endParaRPr/>
          </a:p>
        </p:txBody>
      </p:sp>
      <p:sp>
        <p:nvSpPr>
          <p:cNvPr id="77" name=""/>
          <p:cNvSpPr/>
          <p:nvPr/>
        </p:nvSpPr>
        <p:spPr>
          <a:xfrm rot="0" flipH="0" flipV="0">
            <a:off x="8029575" y="1295400"/>
            <a:ext cx="3476625" cy="914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>
              <a:srgbClr val="1E3A8A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78" name=""/>
          <p:cNvSpPr/>
          <p:nvPr/>
        </p:nvSpPr>
        <p:spPr>
          <a:xfrm rot="0" flipH="0" flipV="0">
            <a:off x="8239125" y="1485900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E0F7FA"/>
          </a:solidFill>
          <a:ln/>
        </p:spPr>
        <p:txBody>
          <a:bodyPr/>
          <a:p/>
        </p:txBody>
      </p:sp>
      <p:pic>
        <p:nvPicPr>
          <p:cNvPr id="7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8372475" y="1619250"/>
            <a:ext cx="266700" cy="266700"/>
          </a:xfrm>
          <a:prstGeom prst="rect">
            <a:avLst/>
          </a:prstGeom>
          <a:ln/>
        </p:spPr>
      </p:pic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8829675" y="1524000"/>
            <a:ext cx="24669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E3A8A"/>
                </a:solidFill>
                <a:latin typeface="PingFang SC"/>
                <a:ea typeface="PingFang SC"/>
              </a:rPr>
              <a:t>异常检测</a:t>
            </a:r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8829675" y="1809750"/>
            <a:ext cx="2466975" cy="342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它「不对劲」吗？</a:t>
            </a: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（</a:t>
            </a: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没有坏件样本也能找异常</a:t>
            </a: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）</a:t>
            </a:r>
            <a:endParaRPr/>
          </a:p>
        </p:txBody>
      </p:sp>
      <p:sp>
        <p:nvSpPr>
          <p:cNvPr id="82" name=""/>
          <p:cNvSpPr/>
          <p:nvPr/>
        </p:nvSpPr>
        <p:spPr>
          <a:xfrm rot="0" flipH="0" flipV="0">
            <a:off x="685800" y="2400300"/>
            <a:ext cx="4476750" cy="3752850"/>
          </a:xfrm>
          <a:prstGeom prst="roundRect">
            <a:avLst>
              <a:gd name="adj" fmla="val 4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914400" y="2590800"/>
            <a:ext cx="4019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3A8A"/>
                </a:solidFill>
                <a:latin typeface="PingFang SC"/>
                <a:ea typeface="PingFang SC"/>
              </a:rPr>
              <a:t>混淆矩阵：判对判错，四种情况</a:t>
            </a:r>
            <a:endParaRPr/>
          </a:p>
        </p:txBody>
      </p:sp>
      <p:sp>
        <p:nvSpPr>
          <p:cNvPr id="84" name=""/>
          <p:cNvSpPr/>
          <p:nvPr/>
        </p:nvSpPr>
        <p:spPr>
          <a:xfrm rot="0" flipH="0" flipV="0">
            <a:off x="914400" y="2905125"/>
            <a:ext cx="1952625" cy="657225"/>
          </a:xfrm>
          <a:prstGeom prst="roundRect">
            <a:avLst>
              <a:gd name="adj" fmla="val 17391"/>
            </a:avLst>
          </a:prstGeom>
          <a:solidFill>
            <a:srgbClr val="F5F8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1066800" y="3038475"/>
            <a:ext cx="16478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59669"/>
                </a:solidFill>
                <a:latin typeface="PingFang SC"/>
                <a:ea typeface="PingFang SC"/>
              </a:rPr>
              <a:t>TP </a:t>
            </a:r>
            <a:r>
              <a:rPr lang="zh-CN" sz="1200" b="1">
                <a:solidFill>
                  <a:srgbClr val="059669"/>
                </a:solidFill>
                <a:latin typeface="PingFang SC"/>
                <a:ea typeface="PingFang SC"/>
              </a:rPr>
              <a:t>真阳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1066800" y="3267075"/>
            <a:ext cx="1647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是差错，判成差错</a:t>
            </a:r>
            <a:endParaRPr/>
          </a:p>
        </p:txBody>
      </p:sp>
      <p:sp>
        <p:nvSpPr>
          <p:cNvPr id="87" name=""/>
          <p:cNvSpPr/>
          <p:nvPr/>
        </p:nvSpPr>
        <p:spPr>
          <a:xfrm rot="0" flipH="0" flipV="0">
            <a:off x="2981325" y="2905125"/>
            <a:ext cx="1952625" cy="657225"/>
          </a:xfrm>
          <a:prstGeom prst="roundRect">
            <a:avLst>
              <a:gd name="adj" fmla="val 17391"/>
            </a:avLst>
          </a:prstGeom>
          <a:solidFill>
            <a:srgbClr val="F5F8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3133725" y="3038475"/>
            <a:ext cx="16478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59E0B"/>
                </a:solidFill>
                <a:latin typeface="PingFang SC"/>
                <a:ea typeface="PingFang SC"/>
              </a:rPr>
              <a:t>FP </a:t>
            </a:r>
            <a:r>
              <a:rPr lang="zh-CN" sz="1200" b="1">
                <a:solidFill>
                  <a:srgbClr val="F59E0B"/>
                </a:solidFill>
                <a:latin typeface="PingFang SC"/>
                <a:ea typeface="PingFang SC"/>
              </a:rPr>
              <a:t>假阳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3133725" y="3267075"/>
            <a:ext cx="1647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是好的，判成差错（虚惊）</a:t>
            </a:r>
            <a:endParaRPr/>
          </a:p>
        </p:txBody>
      </p:sp>
      <p:sp>
        <p:nvSpPr>
          <p:cNvPr id="90" name=""/>
          <p:cNvSpPr/>
          <p:nvPr/>
        </p:nvSpPr>
        <p:spPr>
          <a:xfrm rot="0" flipH="0" flipV="0">
            <a:off x="914400" y="3676650"/>
            <a:ext cx="1952625" cy="657225"/>
          </a:xfrm>
          <a:prstGeom prst="roundRect">
            <a:avLst>
              <a:gd name="adj" fmla="val 17391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p/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1066800" y="3810000"/>
            <a:ext cx="16478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DC2626"/>
                </a:solidFill>
                <a:latin typeface="PingFang SC"/>
                <a:ea typeface="PingFang SC"/>
              </a:rPr>
              <a:t>FN </a:t>
            </a:r>
            <a:r>
              <a:rPr lang="zh-CN" sz="1200" b="1">
                <a:solidFill>
                  <a:srgbClr val="DC2626"/>
                </a:solidFill>
                <a:latin typeface="PingFang SC"/>
                <a:ea typeface="PingFang SC"/>
              </a:rPr>
              <a:t>假阴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1066800" y="4038600"/>
            <a:ext cx="1647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是差错，放过了（最危险）</a:t>
            </a:r>
            <a:endParaRPr/>
          </a:p>
        </p:txBody>
      </p:sp>
      <p:sp>
        <p:nvSpPr>
          <p:cNvPr id="93" name=""/>
          <p:cNvSpPr/>
          <p:nvPr/>
        </p:nvSpPr>
        <p:spPr>
          <a:xfrm rot="0" flipH="0" flipV="0">
            <a:off x="2981325" y="3676650"/>
            <a:ext cx="1952625" cy="657225"/>
          </a:xfrm>
          <a:prstGeom prst="roundRect">
            <a:avLst>
              <a:gd name="adj" fmla="val 17391"/>
            </a:avLst>
          </a:prstGeom>
          <a:solidFill>
            <a:srgbClr val="F5F8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3133725" y="3810000"/>
            <a:ext cx="16478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64748B"/>
                </a:solidFill>
                <a:latin typeface="PingFang SC"/>
                <a:ea typeface="PingFang SC"/>
              </a:rPr>
              <a:t>TN </a:t>
            </a:r>
            <a:r>
              <a:rPr lang="zh-CN" sz="1200" b="1">
                <a:solidFill>
                  <a:srgbClr val="64748B"/>
                </a:solidFill>
                <a:latin typeface="PingFang SC"/>
                <a:ea typeface="PingFang SC"/>
              </a:rPr>
              <a:t>真阴</a:t>
            </a:r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3133725" y="4038600"/>
            <a:ext cx="1647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是好的，放行</a:t>
            </a:r>
            <a:endParaRPr/>
          </a:p>
        </p:txBody>
      </p:sp>
      <p:sp>
        <p:nvSpPr>
          <p:cNvPr id="96" name=""/>
          <p:cNvSpPr/>
          <p:nvPr/>
        </p:nvSpPr>
        <p:spPr>
          <a:xfrm rot="0" flipH="0" flipV="0">
            <a:off x="5391150" y="2400300"/>
            <a:ext cx="6115050" cy="3752850"/>
          </a:xfrm>
          <a:prstGeom prst="roundRect">
            <a:avLst>
              <a:gd name="adj" fmla="val 4061"/>
            </a:avLst>
          </a:prstGeom>
          <a:solidFill>
            <a:srgbClr val="1E3A8A"/>
          </a:solidFill>
          <a:ln/>
        </p:spPr>
        <p:txBody>
          <a:bodyPr/>
          <a:p/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5657850" y="3267075"/>
            <a:ext cx="55816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spc="150">
                <a:solidFill>
                  <a:srgbClr val="7FD9F0"/>
                </a:solidFill>
                <a:latin typeface="PingFang SC"/>
                <a:ea typeface="PingFang SC"/>
              </a:rPr>
              <a:t>验收时先看哪个指标？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5657850" y="3629025"/>
            <a:ext cx="558165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300" b="1">
                <a:solidFill>
                  <a:srgbClr val="FFFFFF"/>
                </a:solidFill>
                <a:latin typeface="PingFang SC"/>
                <a:ea typeface="PingFang SC"/>
              </a:rPr>
              <a:t>召回率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5657850" y="4286250"/>
            <a:ext cx="5581650" cy="10001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75">
                <a:solidFill>
                  <a:srgbClr val="DCE9FB"/>
                </a:solidFill>
                <a:latin typeface="PingFang SC"/>
                <a:ea typeface="PingFang SC"/>
              </a:rPr>
              <a:t>「没放过坏件」比「不虚惊」更重要。</a:t>
            </a:r>
            <a:endParaRPr/>
          </a:p>
          <a:p>
            <a:pPr>
              <a:lnSpc>
                <a:spcPct val="170000"/>
              </a:lnSpc>
            </a:pPr>
            <a:r>
              <a:rPr lang="en-US" sz="1275">
                <a:solidFill>
                  <a:srgbClr val="DCE9FB"/>
                </a:solidFill>
                <a:latin typeface="PingFang SC"/>
                <a:ea typeface="PingFang SC"/>
              </a:rPr>
              <a:t>FP </a:t>
            </a:r>
            <a:r>
              <a:rPr lang="zh-CN" sz="1275">
                <a:solidFill>
                  <a:srgbClr val="DCE9FB"/>
                </a:solidFill>
                <a:latin typeface="PingFang SC"/>
                <a:ea typeface="PingFang SC"/>
              </a:rPr>
              <a:t>的代价是多一道人工复检；</a:t>
            </a:r>
            <a:r>
              <a:rPr lang="en-US" sz="1275">
                <a:solidFill>
                  <a:srgbClr val="DCE9FB"/>
                </a:solidFill>
                <a:latin typeface="PingFang SC"/>
                <a:ea typeface="PingFang SC"/>
              </a:rPr>
              <a:t>FN </a:t>
            </a:r>
            <a:r>
              <a:rPr lang="zh-CN" sz="1275">
                <a:solidFill>
                  <a:srgbClr val="DCE9FB"/>
                </a:solidFill>
                <a:latin typeface="PingFang SC"/>
                <a:ea typeface="PingFang SC"/>
              </a:rPr>
              <a:t>的代价是差错流到客户手里。</a:t>
            </a:r>
            <a:endParaRPr/>
          </a:p>
          <a:p>
            <a:pPr>
              <a:lnSpc>
                <a:spcPct val="170000"/>
              </a:lnSpc>
            </a:pPr>
            <a:r>
              <a:rPr lang="zh-CN" sz="1275">
                <a:solidFill>
                  <a:srgbClr val="DCE9FB"/>
                </a:solidFill>
                <a:latin typeface="PingFang SC"/>
                <a:ea typeface="PingFang SC"/>
              </a:rPr>
              <a:t>安全关键件，宁可多喊狼来了，不可漏一只狼。</a:t>
            </a:r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1123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AI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场景落地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中级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11049000" y="63627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12 / 34</a:t>
            </a:r>
            <a:endParaRPr/>
          </a:p>
        </p:txBody>
      </p:sp>
    </p:spTree>
  </p:cSld>
</p:sld>
</file>

<file path=ppt/slides/slide13.xml><?xml version="1.0" encoding="utf-8"?>
<p:sld xmlns:a="http://schemas.openxmlformats.org/drawingml/2006/main" xmlns:p="http://schemas.openxmlformats.org/presentationml/2006/main">
  <p:cSld>
    <p:spTree>
      <p:nvGrpSpPr>
        <p:cNvPr id="102" name="" descr="&lt;Slide style={{ width: '1280px', height: '720px', background: '#F5F8FC', padding: '24px 72px', boxSizing: 'border-box', flexDirection: 'column', fontFamily: 'PingFang SC, Source Han Sans SC, sans-serif' }}&gt;&#10;    &lt;Box style={{ height: 96, flexDirection: 'row', alignItems: 'center', gap: 16 }}&gt;&#10;        &lt;Box style={{ width: 5, height: 46, background: '#06B6D4', borderRadius: 3 }} /&gt;&#10;        &lt;Box&gt;&#10;            &lt;Text style={{ fontSize: 34, fontWeight: 'bold', color: '#1E3A8A', lineHeight: 1.2 }}&gt;铁案：96% 准确率，为什么必须停&lt;/Text&gt;&#10;            &lt;Text style={{ fontSize: 17, color: '#64748B', marginTop: 4 }}&gt;整体准确率会骗人 —— 拆开看「安全关键件」就露馅&lt;/Text&gt;&#10;        &lt;/Box&gt;&#10;    &lt;/Box&gt;&#10;    &lt;Box style={{ flex: 1, flexDirection: 'row', gap: 24, marginTop: 14 }}&gt;&#10;        &lt;Box style={{ flex: 1, background: '#FFFFFF', borderRadius: 18, padding: '28px 30px', border: '1px solid #E2E8F0', flexDirection: 'column', alignItems: 'center', justifyContent: 'center', boxShadow: '0 4px 16px rgba(30,58,138,0.06)' }}&gt;&#10;            &lt;Text style={{ fontSize: 16, color: '#64748B' }}&gt;整体准确率（汇报口径）&lt;/Text&gt;&#10;            &lt;Text style={{ fontSize: 76, fontWeight: 'bold', color: '#059669', fontFamily: 'Space Grotesk, Inter', marginTop: 8 }}&gt;96%&lt;/Text&gt;&#10;            &lt;Text style={{ fontSize: 16, color: '#43566b', marginTop: 10, textAlign: 'center', lineHeight: 1.6 }}&gt;1000 件里错 40 件 —— 看起来很美&lt;/Text&gt;&#10;        &lt;/Box&gt;&#10;        &lt;Box style={{ width: 90, justifyContent: 'center', alignItems: 'center' }}&gt;&#10;            &lt;Text style={{ fontSize: 44, fontWeight: 'bold', color: '#F59E0B', fontFamily: 'Space Grotesk, Inter' }}&gt;VS&lt;/Text&gt;&#10;        &lt;/Box&gt;&#10;        &lt;Box style={{ flex: 1, background: '#1E3A8A', borderRadius: 18, padding: '28px 30px', flexDirection: 'column', alignItems: 'center', justifyContent: 'center', boxShadow: '0 8px 28px rgba(30,58,138,0.25)' }}&gt;&#10;            &lt;Text style={{ fontSize: 16, color: '#7FD9F0' }}&gt;安全关键件召回率（真相口径）&lt;/Text&gt;&#10;            &lt;Text style={{ fontSize: 76, fontWeight: 'bold', color: '#F8C471', fontFamily: 'Space Grotesk, Inter', marginTop: 8 }}&gt;80%&lt;/Text&gt;&#10;            &lt;Text style={{ fontSize: 16, color: '#DCE9FB', marginTop: 10, textAlign: 'center', lineHeight: 1.6 }}&gt;10 个关键裂纹件，漏了 2 个 —— 每个都是潜在事故&lt;/Text&gt;&#10;        &lt;/Box&gt;&#10;    &lt;/Box&gt;&#10;    &lt;Box style={{ flexDirection: 'row', gap: 24, marginTop: 22 }}&gt;&#10;        &lt;Box style={{ flex: 1, padding: '18px 24px', background: '#FEF2F2', borderRadius: 14, border: '1px solid #FECACA' }}&gt;&#10;            &lt;Text style={{ fontSize: 17, fontWeight: 'bold', color: '#DC2626' }}&gt;当时的错误决策&lt;/Text&gt;&#10;            &lt;Text style={{ fontSize: 16, color: '#43566b', marginTop: 6, lineHeight: 1.6 }}&gt;拿着 96% 的整体准确率上线自动判定 —— 让 AI 直接「放行」。&lt;/Text&gt;&#10;        &lt;/Box&gt;&#10;        &lt;Box style={{ flex: 1, padding: '18px 24px', background: '#FFFFFF', borderRadius: 14, border: '2px solid #06B6D4' }}&gt;&#10;            &lt;Text style={{ fontSize: 17, fontWeight: 'bold', color: '#0891B2' }}&gt;纠正后的做法&lt;/Text&gt;&#10;            &lt;Text style={{ fontSize: 16, color: '#43566b', marginTop: 6, lineHeight: 1.6 }}&gt;安全件改为「AI 标记 + 人工复核」双签；非安全件才允许自动放行。&lt;/Text&gt;&#10;        &lt;/Box&gt;&#10;        &lt;Box style={{ flex: 1, padding: '18px 24px', background: '#FEEFE0', borderRadius: 14, border: '1px solid #FDE7C8' }}&gt;&#10;            &lt;Text style={{ fontSize: 17, fontWeight: 'bold', color: '#B45309' }}&gt;教训（MIT Sloan）&lt;/Text&gt;&#10;            &lt;Text style={{ fontSize: 16, color: '#43566b', marginTop: 6, lineHeight: 1.6 }}&gt;「别用更复杂的模型补烂数据」—— 先分层评估、先补数据，再谈算法。&lt;/Text&gt;&#10;        &lt;/Box&gt;&#10;    &lt;/Box&gt;&#10;    &lt;Box style={{ height: 40, flexDirection: 'row', justifyContent: 'space-between', alignItems: 'center', marginTop: 12 }}&gt;&#10;        &lt;Text style={{ fontSize: 14, color: '#64748B' }}&gt;AI 场景落地 · 中级&lt;/Text&gt;&#10;        &lt;Text style={{ fontSize: 14, color: '#64748B' }}&gt;13 / 34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/>
        </p:spPr>
        <p:txBody>
          <a:bodyPr/>
          <a:p/>
        </p:txBody>
      </p:sp>
      <p:sp>
        <p:nvSpPr>
          <p:cNvPr id="104" name=""/>
          <p:cNvSpPr/>
          <p:nvPr/>
        </p:nvSpPr>
        <p:spPr>
          <a:xfrm rot="0" flipH="0" flipV="0">
            <a:off x="685800" y="466725"/>
            <a:ext cx="47625" cy="438150"/>
          </a:xfrm>
          <a:prstGeom prst="roundRect">
            <a:avLst>
              <a:gd name="adj" fmla="val 60000"/>
            </a:avLst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885825" y="333375"/>
            <a:ext cx="50292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>铁案：</a:t>
            </a:r>
            <a:r>
              <a:rPr lang="en-US" sz="2550" b="1">
                <a:solidFill>
                  <a:srgbClr val="1E3A8A"/>
                </a:solidFill>
                <a:latin typeface="PingFang SC"/>
                <a:ea typeface="PingFang SC"/>
              </a:rPr>
              <a:t>96% </a:t>
            </a: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>准确率，为什么必须停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885825" y="838200"/>
            <a:ext cx="5029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整体准确率会骗人</a:t>
            </a:r>
            <a:r>
              <a:rPr lang="en-US" sz="1275">
                <a:solidFill>
                  <a:srgbClr val="64748B"/>
                </a:solidFill>
                <a:latin typeface="PingFang SC"/>
                <a:ea typeface="PingFang SC"/>
              </a:rPr>
              <a:t> —— </a:t>
            </a: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拆开看「安全关键件」就露馅</a:t>
            </a:r>
            <a:endParaRPr/>
          </a:p>
        </p:txBody>
      </p:sp>
      <p:sp>
        <p:nvSpPr>
          <p:cNvPr id="107" name=""/>
          <p:cNvSpPr/>
          <p:nvPr/>
        </p:nvSpPr>
        <p:spPr>
          <a:xfrm rot="0" flipH="0" flipV="0">
            <a:off x="685800" y="1276350"/>
            <a:ext cx="4752975" cy="3457575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>
              <a:srgbClr val="1E3A8A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2228850" y="2238375"/>
            <a:ext cx="1676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PingFang SC"/>
                <a:ea typeface="PingFang SC"/>
              </a:rPr>
              <a:t>整体准确率（汇报口径）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2333625" y="2505075"/>
            <a:ext cx="1457325" cy="876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700" b="1">
                <a:solidFill>
                  <a:srgbClr val="059669"/>
                </a:solidFill>
                <a:latin typeface="Space Grotesk"/>
                <a:ea typeface="Space Grotesk"/>
              </a:rPr>
              <a:t>96%</a:t>
            </a:r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1838325" y="3476625"/>
            <a:ext cx="2457450" cy="295275"/>
          </a:xfrm>
          <a:prstGeom prst="rect"/>
        </p:spPr>
        <p:txBody>
          <a:bodyPr wrap="none" lIns="0" tIns="0" rIns="0" bIns="0"/>
          <a:p>
            <a:pPr algn="ctr">
              <a:lnSpc>
                <a:spcPct val="160000"/>
              </a:lnSpc>
            </a:pPr>
            <a:r>
              <a:rPr lang="en-US" sz="1200">
                <a:solidFill>
                  <a:srgbClr val="43566B"/>
                </a:solidFill>
                <a:latin typeface="PingFang SC"/>
                <a:ea typeface="PingFang SC"/>
              </a:rPr>
              <a:t>1000 </a:t>
            </a:r>
            <a:r>
              <a:rPr lang="zh-CN" sz="1200">
                <a:solidFill>
                  <a:srgbClr val="43566B"/>
                </a:solidFill>
                <a:latin typeface="PingFang SC"/>
                <a:ea typeface="PingFang SC"/>
              </a:rPr>
              <a:t>件里错</a:t>
            </a:r>
            <a:r>
              <a:rPr lang="en-US" sz="1200">
                <a:solidFill>
                  <a:srgbClr val="43566B"/>
                </a:solidFill>
                <a:latin typeface="PingFang SC"/>
                <a:ea typeface="PingFang SC"/>
              </a:rPr>
              <a:t> 40 </a:t>
            </a:r>
            <a:r>
              <a:rPr lang="zh-CN" sz="1200">
                <a:solidFill>
                  <a:srgbClr val="43566B"/>
                </a:solidFill>
                <a:latin typeface="PingFang SC"/>
                <a:ea typeface="PingFang SC"/>
              </a:rPr>
              <a:t>件</a:t>
            </a:r>
            <a:r>
              <a:rPr lang="en-US" sz="1200">
                <a:solidFill>
                  <a:srgbClr val="43566B"/>
                </a:solidFill>
                <a:latin typeface="PingFang SC"/>
                <a:ea typeface="PingFang SC"/>
              </a:rPr>
              <a:t> —— </a:t>
            </a:r>
            <a:r>
              <a:rPr lang="zh-CN" sz="1200">
                <a:solidFill>
                  <a:srgbClr val="43566B"/>
                </a:solidFill>
                <a:latin typeface="PingFang SC"/>
                <a:ea typeface="PingFang SC"/>
              </a:rPr>
              <a:t>看起来很美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5819775" y="2752725"/>
            <a:ext cx="56197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F59E0B"/>
                </a:solidFill>
                <a:latin typeface="Space Grotesk"/>
                <a:ea typeface="Space Grotesk"/>
              </a:rPr>
              <a:t>VS</a:t>
            </a:r>
            <a:endParaRPr/>
          </a:p>
        </p:txBody>
      </p:sp>
      <p:sp>
        <p:nvSpPr>
          <p:cNvPr id="112" name=""/>
          <p:cNvSpPr/>
          <p:nvPr/>
        </p:nvSpPr>
        <p:spPr>
          <a:xfrm rot="0" flipH="0" flipV="0">
            <a:off x="6753225" y="1276350"/>
            <a:ext cx="4752975" cy="3457575"/>
          </a:xfrm>
          <a:prstGeom prst="roundRect">
            <a:avLst>
              <a:gd name="adj" fmla="val 4959"/>
            </a:avLst>
          </a:prstGeom>
          <a:solidFill>
            <a:srgbClr val="1E3A8A"/>
          </a:solidFill>
          <a:ln/>
          <a:effectLst>
            <a:outerShdw blurRad="266700" dist="76200" dir="5400000">
              <a:srgbClr val="1E3A8A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8067675" y="2238375"/>
            <a:ext cx="2133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7FD9F0"/>
                </a:solidFill>
                <a:latin typeface="PingFang SC"/>
                <a:ea typeface="PingFang SC"/>
              </a:rPr>
              <a:t>安全关键件召回率（真相口径）</a:t>
            </a:r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8401050" y="2505075"/>
            <a:ext cx="1457325" cy="876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700" b="1">
                <a:solidFill>
                  <a:srgbClr val="F8C471"/>
                </a:solidFill>
                <a:latin typeface="Space Grotesk"/>
                <a:ea typeface="Space Grotesk"/>
              </a:rPr>
              <a:t>80%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7353300" y="3476625"/>
            <a:ext cx="3552825" cy="295275"/>
          </a:xfrm>
          <a:prstGeom prst="rect"/>
        </p:spPr>
        <p:txBody>
          <a:bodyPr wrap="none" lIns="0" tIns="0" rIns="0" bIns="0"/>
          <a:p>
            <a:pPr algn="ctr">
              <a:lnSpc>
                <a:spcPct val="160000"/>
              </a:lnSpc>
            </a:pPr>
            <a:r>
              <a:rPr lang="en-US" sz="1200">
                <a:solidFill>
                  <a:srgbClr val="DCE9FB"/>
                </a:solidFill>
                <a:latin typeface="PingFang SC"/>
                <a:ea typeface="PingFang SC"/>
              </a:rPr>
              <a:t>10 </a:t>
            </a:r>
            <a:r>
              <a:rPr lang="zh-CN" sz="1200">
                <a:solidFill>
                  <a:srgbClr val="DCE9FB"/>
                </a:solidFill>
                <a:latin typeface="PingFang SC"/>
                <a:ea typeface="PingFang SC"/>
              </a:rPr>
              <a:t>个关键关键异常件，漏了</a:t>
            </a:r>
            <a:r>
              <a:rPr lang="en-US" sz="1200">
                <a:solidFill>
                  <a:srgbClr val="DCE9FB"/>
                </a:solidFill>
                <a:latin typeface="PingFang SC"/>
                <a:ea typeface="PingFang SC"/>
              </a:rPr>
              <a:t> 2 </a:t>
            </a:r>
            <a:r>
              <a:rPr lang="zh-CN" sz="1200">
                <a:solidFill>
                  <a:srgbClr val="DCE9FB"/>
                </a:solidFill>
                <a:latin typeface="PingFang SC"/>
                <a:ea typeface="PingFang SC"/>
              </a:rPr>
              <a:t>个</a:t>
            </a:r>
            <a:r>
              <a:rPr lang="en-US" sz="1200">
                <a:solidFill>
                  <a:srgbClr val="DCE9FB"/>
                </a:solidFill>
                <a:latin typeface="PingFang SC"/>
                <a:ea typeface="PingFang SC"/>
              </a:rPr>
              <a:t> —— </a:t>
            </a:r>
            <a:r>
              <a:rPr lang="zh-CN" sz="1200">
                <a:solidFill>
                  <a:srgbClr val="DCE9FB"/>
                </a:solidFill>
                <a:latin typeface="PingFang SC"/>
                <a:ea typeface="PingFang SC"/>
              </a:rPr>
              <a:t>每个都是潜在事故</a:t>
            </a:r>
            <a:endParaRPr/>
          </a:p>
        </p:txBody>
      </p:sp>
      <p:sp>
        <p:nvSpPr>
          <p:cNvPr id="116" name=""/>
          <p:cNvSpPr/>
          <p:nvPr/>
        </p:nvSpPr>
        <p:spPr>
          <a:xfrm rot="0" flipH="0" flipV="0">
            <a:off x="685800" y="4943475"/>
            <a:ext cx="3457575" cy="1190625"/>
          </a:xfrm>
          <a:prstGeom prst="roundRect">
            <a:avLst>
              <a:gd name="adj" fmla="val 11200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p/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914400" y="5114925"/>
            <a:ext cx="30003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DC2626"/>
                </a:solidFill>
                <a:latin typeface="PingFang SC"/>
                <a:ea typeface="PingFang SC"/>
              </a:rPr>
              <a:t>当时的错误决策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914400" y="5372100"/>
            <a:ext cx="300037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43566B"/>
                </a:solidFill>
                <a:latin typeface="PingFang SC"/>
                <a:ea typeface="PingFang SC"/>
              </a:rPr>
              <a:t>拿着</a:t>
            </a:r>
            <a:r>
              <a:rPr lang="en-US" sz="1200">
                <a:solidFill>
                  <a:srgbClr val="43566B"/>
                </a:solidFill>
                <a:latin typeface="PingFang SC"/>
                <a:ea typeface="PingFang SC"/>
              </a:rPr>
              <a:t> 96% </a:t>
            </a:r>
            <a:r>
              <a:rPr lang="zh-CN" sz="1200">
                <a:solidFill>
                  <a:srgbClr val="43566B"/>
                </a:solidFill>
                <a:latin typeface="PingFang SC"/>
                <a:ea typeface="PingFang SC"/>
              </a:rPr>
              <a:t>的整体准确率上线自动判定</a:t>
            </a:r>
            <a:r>
              <a:rPr lang="en-US" sz="1200">
                <a:solidFill>
                  <a:srgbClr val="43566B"/>
                </a:solidFill>
                <a:latin typeface="PingFang SC"/>
                <a:ea typeface="PingFang SC"/>
              </a:rPr>
              <a:t> —— </a:t>
            </a:r>
            <a:r>
              <a:rPr lang="zh-CN" sz="1200">
                <a:solidFill>
                  <a:srgbClr val="43566B"/>
                </a:solidFill>
                <a:latin typeface="PingFang SC"/>
                <a:ea typeface="PingFang SC"/>
              </a:rPr>
              <a:t>让</a:t>
            </a:r>
            <a:r>
              <a:rPr lang="en-US" sz="1200">
                <a:solidFill>
                  <a:srgbClr val="43566B"/>
                </a:solidFill>
                <a:latin typeface="PingFang SC"/>
                <a:ea typeface="PingFang SC"/>
              </a:rPr>
              <a:t> AI </a:t>
            </a:r>
            <a:r>
              <a:rPr lang="zh-CN" sz="1200">
                <a:solidFill>
                  <a:srgbClr val="43566B"/>
                </a:solidFill>
                <a:latin typeface="PingFang SC"/>
                <a:ea typeface="PingFang SC"/>
              </a:rPr>
              <a:t>直接「放行」。</a:t>
            </a:r>
            <a:endParaRPr/>
          </a:p>
        </p:txBody>
      </p:sp>
      <p:sp>
        <p:nvSpPr>
          <p:cNvPr id="119" name=""/>
          <p:cNvSpPr/>
          <p:nvPr/>
        </p:nvSpPr>
        <p:spPr>
          <a:xfrm rot="0" flipH="0" flipV="0">
            <a:off x="4371975" y="4943475"/>
            <a:ext cx="3448050" cy="1190625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 w="25400">
            <a:solidFill>
              <a:srgbClr val="06B6D4"/>
            </a:solidFill>
            <a:prstDash val="solid"/>
          </a:ln>
        </p:spPr>
        <p:txBody>
          <a:bodyPr/>
          <a:p/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4600575" y="5114925"/>
            <a:ext cx="2990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891B2"/>
                </a:solidFill>
                <a:latin typeface="PingFang SC"/>
                <a:ea typeface="PingFang SC"/>
              </a:rPr>
              <a:t>纠正后的做法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4600575" y="5372100"/>
            <a:ext cx="29908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43566B"/>
                </a:solidFill>
                <a:latin typeface="PingFang SC"/>
                <a:ea typeface="PingFang SC"/>
              </a:rPr>
              <a:t>安全件改为「</a:t>
            </a:r>
            <a:r>
              <a:rPr lang="en-US" sz="1200">
                <a:solidFill>
                  <a:srgbClr val="43566B"/>
                </a:solidFill>
                <a:latin typeface="PingFang SC"/>
                <a:ea typeface="PingFang SC"/>
              </a:rPr>
              <a:t>AI </a:t>
            </a:r>
            <a:r>
              <a:rPr lang="zh-CN" sz="1200">
                <a:solidFill>
                  <a:srgbClr val="43566B"/>
                </a:solidFill>
                <a:latin typeface="PingFang SC"/>
                <a:ea typeface="PingFang SC"/>
              </a:rPr>
              <a:t>标记</a:t>
            </a:r>
            <a:r>
              <a:rPr lang="en-US" sz="1200">
                <a:solidFill>
                  <a:srgbClr val="43566B"/>
                </a:solidFill>
                <a:latin typeface="PingFang SC"/>
                <a:ea typeface="PingFang SC"/>
              </a:rPr>
              <a:t> + </a:t>
            </a:r>
            <a:r>
              <a:rPr lang="zh-CN" sz="1200">
                <a:solidFill>
                  <a:srgbClr val="43566B"/>
                </a:solidFill>
                <a:latin typeface="PingFang SC"/>
                <a:ea typeface="PingFang SC"/>
              </a:rPr>
              <a:t>人工复核」双签；非安全件才允许自动放行。</a:t>
            </a:r>
            <a:endParaRPr/>
          </a:p>
        </p:txBody>
      </p:sp>
      <p:sp>
        <p:nvSpPr>
          <p:cNvPr id="122" name=""/>
          <p:cNvSpPr/>
          <p:nvPr/>
        </p:nvSpPr>
        <p:spPr>
          <a:xfrm rot="0" flipH="0" flipV="0">
            <a:off x="8048625" y="4943475"/>
            <a:ext cx="3457575" cy="1190625"/>
          </a:xfrm>
          <a:prstGeom prst="roundRect">
            <a:avLst>
              <a:gd name="adj" fmla="val 11200"/>
            </a:avLst>
          </a:prstGeom>
          <a:solidFill>
            <a:srgbClr val="FEEFE0"/>
          </a:solidFill>
          <a:ln w="12700">
            <a:solidFill>
              <a:srgbClr val="FDE7C8"/>
            </a:solidFill>
            <a:prstDash val="solid"/>
          </a:ln>
        </p:spPr>
        <p:txBody>
          <a:bodyPr/>
          <a:p/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8277225" y="5114925"/>
            <a:ext cx="30003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B45309"/>
                </a:solidFill>
                <a:latin typeface="PingFang SC"/>
                <a:ea typeface="PingFang SC"/>
              </a:rPr>
              <a:t>教训（</a:t>
            </a:r>
            <a:r>
              <a:rPr lang="en-US" sz="1275" b="1">
                <a:solidFill>
                  <a:srgbClr val="B45309"/>
                </a:solidFill>
                <a:latin typeface="PingFang SC"/>
                <a:ea typeface="PingFang SC"/>
              </a:rPr>
              <a:t>MIT Sloan</a:t>
            </a:r>
            <a:r>
              <a:rPr lang="zh-CN" sz="1275" b="1">
                <a:solidFill>
                  <a:srgbClr val="B45309"/>
                </a:solidFill>
                <a:latin typeface="PingFang SC"/>
                <a:ea typeface="PingFang SC"/>
              </a:rPr>
              <a:t>）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8277225" y="5372100"/>
            <a:ext cx="300037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43566B"/>
                </a:solidFill>
                <a:latin typeface="PingFang SC"/>
                <a:ea typeface="PingFang SC"/>
              </a:rPr>
              <a:t>「别用更复杂的模型补烂数据」——</a:t>
            </a:r>
            <a:r>
              <a:rPr lang="en-US" sz="1200">
                <a:solidFill>
                  <a:srgbClr val="43566B"/>
                </a:solidFill>
                <a:latin typeface="PingFang SC"/>
                <a:ea typeface="PingFang SC"/>
              </a:rPr>
              <a:t> </a:t>
            </a:r>
            <a:r>
              <a:rPr lang="zh-CN" sz="1200">
                <a:solidFill>
                  <a:srgbClr val="43566B"/>
                </a:solidFill>
                <a:latin typeface="PingFang SC"/>
                <a:ea typeface="PingFang SC"/>
              </a:rPr>
              <a:t>先分层评估、先补数据，再谈算法。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1123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AI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场景落地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中级</a:t>
            </a:r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11049000" y="63627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13 / 34</a:t>
            </a:r>
            <a:endParaRPr/>
          </a:p>
        </p:txBody>
      </p:sp>
    </p:spTree>
  </p:cSld>
</p:sld>
</file>

<file path=ppt/slides/slide14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27" name="" descr="const controls = [&#10;    { icon: 'search', t: '抽样复核', d: '按 5–10% 随机抽检 AI 判定' },&#10;    { icon: 'sliders-h', t: '置信度门槛', d: '低于阈值自动转人工' },&#10;    { icon: 'user-check', t: '双签', d: '安全关键件 AI + 人共同确认' },&#10;    { icon: 'sync-alt', t: '定期回测', d: '每月用新数据重测召回率' },&#10;];&#10;&lt;Slide style={{ width: '1280px', height: '720px', background: '#F5F8FC', padding: '24px 72px', boxSizing: 'border-box', flexDirection: 'column', fontFamily: 'PingFang SC, Source Han Sans SC, sans-serif' }}&gt;&#10;    &lt;Box style={{ height: 96, flexDirection: 'row', alignItems: 'center', gap: 16 }}&gt;&#10;        &lt;Box style={{ width: 5, height: 46, background: '#06B6D4', borderRadius: 3 }} /&gt;&#10;        &lt;Box&gt;&#10;            &lt;Text style={{ fontSize: 34, fontWeight: 'bold', color: '#1E3A8A', lineHeight: 1.2 }}&gt;上线四控制：AI 出证据，人留处置权&lt;/Text&gt;&#10;            &lt;Text style={{ fontSize: 17, color: '#64748B', marginTop: 4 }}&gt;敢上线的不是模型多准，是控制措施多硬&lt;/Text&gt;&#10;        &lt;/Box&gt;&#10;    &lt;/Box&gt;&#10;    &lt;Box style={{ flex: 1, flexDirection: 'row', gap: 26, marginTop: 14 }}&gt;&#10;        &lt;Box style={{ flex: 55, flexDirection: 'column', gap: 14 }}&gt;&#10;            &lt;Box style={{ flexDirection: 'row', gap: 16 }}&gt;&#10;                {controls.map((c, i) =&gt; (&#10;                    &lt;Box key={i} style={{ flex: 1, background: '#FFFFFF', borderRadius: 14, padding: '20px 16px', border: '1px solid #E2E8F0', boxShadow: '0 3px 12px rgba(30,58,138,0.05)', flexDirection: 'column', alignItems: 'center' }}&gt;&#10;                        &lt;Box style={{ width: 52, height: 52, borderRadius: 13, background: '#E0F7FA', justifyContent: 'center', alignItems: 'center', marginBottom: 12 }}&gt;&#10;                            &lt;FAIcon name={c.icon} style={{ fill: '#0891B2', width: 26, height: 26 }} /&gt;&#10;                        &lt;/Box&gt;&#10;                        &lt;Text style={{ fontSize: 18, fontWeight: 'bold', color: '#1E3A8A' }}&gt;{c.t}&lt;/Text&gt;&#10;                        &lt;Text style={{ fontSize: 14, color: '#43566b', lineHeight: 1.5, marginTop: 8, textAlign: 'center' }}&gt;{c.d}&lt;/Text&gt;&#10;                    &lt;/Box&gt;&#10;                ))}&#10;            &lt;/Box&gt;&#10;            &lt;Box style={{ flex: 1, background: '#FFFFFF', borderRadius: 16, padding: '20px 24px', border: '1px solid #E2E8F0' }}&gt;&#10;                &lt;Text style={{ fontSize: 17, fontWeight: 'bold', color: '#1E3A8A', marginBottom: 10 }}&gt;AI 的「证据包」长什么样&lt;/Text&gt;&#10;                &lt;Text style={{ fontSize: 16, color: '#43566b', lineHeight: 1.8 }}&gt;① 缺陷截图（圈出位置）&lt;br /&gt;② 置信度数值（87%）&lt;br /&gt;③ 命中的判定规则 / 相似样本&lt;br /&gt;&lt;span style={{ fontWeight: 'bold', color: '#B45309' }}&gt;人看到的是证据，不是「AI 说它有缺陷」这五个字。&lt;/span&gt;&lt;/Text&gt;&#10;            &lt;/Box&gt;&#10;        &lt;/Box&gt;&#10;        &lt;Box style={{ flex: 45, flexDirection: 'column', gap: 16 }}&gt;&#10;            &lt;Box style={{ background: '#1E3A8A', borderRadius: 18, padding: '24px 28px', flexDirection: 'column', alignItems: 'center' }}&gt;&#10;                &lt;Text style={{ fontSize: 15, color: '#7FD9F0', letterSpacing: 2 }}&gt;陕汽：单件外观检测&lt;/Text&gt;&#10;                &lt;Box style={{ flexDirection: 'row', alignItems: 'baseline', gap: 14, marginTop: 12 }}&gt;&#10;                    &lt;Text style={{ fontSize: 46, fontWeight: 'bold', color: '#FFFFFF', fontFamily: 'Space Grotesk, Inter' }}&gt;30 秒&lt;/Text&gt;&#10;                    &lt;Text style={{ fontSize: 22, color: '#7FD9F0' }}&gt;vs&lt;/Text&gt;&#10;                    &lt;Text style={{ fontSize: 26, fontWeight: 'bold', color: '#A9C4E8', fontFamily: 'Space Grotesk, Inter' }}&gt;2–3 小时&lt;/Text&gt;&#10;                &lt;/Box&gt;&#10;                &lt;Box style={{ marginTop: 16, padding: '8px 18px', background: '#F59E0B', borderRadius: 999 }}&gt;&#10;                    &lt;Text style={{ fontSize: 18, fontWeight: 'bold', color: '#FFFFFF' }}&gt;提速 240–360 倍&lt;/Text&gt;&#10;                &lt;/Box&gt;&#10;            &lt;/Box&gt;&#10;            &lt;Box style={{ flex: 1, background: '#FFFFFF', borderRadius: 16, padding: '20px 24px', border: '1px solid #E2E8F0' }}&gt;&#10;                &lt;Text style={{ fontSize: 17, fontWeight: 'bold', color: '#1E3A8A', marginBottom: 8 }}&gt;博世：误检率 -40%&lt;/Text&gt;&#10;                &lt;Text style={{ fontSize: 15, color: '#43566b', lineHeight: 1.7 }}&gt;靠的不是换更贵的模型，而是持续回测 + 样本迭代 —— 四控制里「定期回测」的回报。&lt;/Text&gt;&#10;            &lt;/Box&gt;&#10;        &lt;/Box&gt;&#10;    &lt;/Box&gt;&#10;    &lt;Box style={{ height: 40, flexDirection: 'row', justifyContent: 'space-between', alignItems: 'center', marginTop: 10 }}&gt;&#10;        &lt;Text style={{ fontSize: 14, color: '#64748B' }}&gt;AI 场景落地 · 中级&lt;/Text&gt;&#10;        &lt;Text style={{ fontSize: 14, color: '#64748B' }}&gt;14 / 34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/>
        </p:spPr>
        <p:txBody>
          <a:bodyPr/>
          <a:p/>
        </p:txBody>
      </p:sp>
      <p:sp>
        <p:nvSpPr>
          <p:cNvPr id="129" name=""/>
          <p:cNvSpPr/>
          <p:nvPr/>
        </p:nvSpPr>
        <p:spPr>
          <a:xfrm rot="0" flipH="0" flipV="0">
            <a:off x="685800" y="466725"/>
            <a:ext cx="47625" cy="438150"/>
          </a:xfrm>
          <a:prstGeom prst="roundRect">
            <a:avLst>
              <a:gd name="adj" fmla="val 60000"/>
            </a:avLst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885825" y="333375"/>
            <a:ext cx="527685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>上线四控制：</a:t>
            </a:r>
            <a:r>
              <a:rPr lang="en-US" sz="2550" b="1">
                <a:solidFill>
                  <a:srgbClr val="1E3A8A"/>
                </a:solidFill>
                <a:latin typeface="PingFang SC"/>
                <a:ea typeface="PingFang SC"/>
              </a:rPr>
              <a:t>AI </a:t>
            </a: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>出证据，人留处置权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885825" y="838200"/>
            <a:ext cx="5276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敢上线的不是模型多准，是控制措施多硬</a:t>
            </a:r>
            <a:endParaRPr/>
          </a:p>
        </p:txBody>
      </p:sp>
      <p:sp>
        <p:nvSpPr>
          <p:cNvPr id="132" name=""/>
          <p:cNvSpPr/>
          <p:nvPr/>
        </p:nvSpPr>
        <p:spPr>
          <a:xfrm rot="0" flipH="0" flipV="0">
            <a:off x="685800" y="1276350"/>
            <a:ext cx="1343025" cy="1762125"/>
          </a:xfrm>
          <a:prstGeom prst="roundRect">
            <a:avLst>
              <a:gd name="adj" fmla="val 99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28575" dir="5400000">
              <a:srgbClr val="1E3A8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133" name=""/>
          <p:cNvSpPr/>
          <p:nvPr/>
        </p:nvSpPr>
        <p:spPr>
          <a:xfrm rot="0" flipH="0" flipV="0">
            <a:off x="1114425" y="1466850"/>
            <a:ext cx="495300" cy="495300"/>
          </a:xfrm>
          <a:prstGeom prst="roundRect">
            <a:avLst>
              <a:gd name="adj" fmla="val 25000"/>
            </a:avLst>
          </a:prstGeom>
          <a:solidFill>
            <a:srgbClr val="E0F7FA"/>
          </a:solidFill>
          <a:ln/>
        </p:spPr>
        <p:txBody>
          <a:bodyPr/>
          <a:p/>
        </p:txBody>
      </p:sp>
      <p:pic>
        <p:nvPicPr>
          <p:cNvPr id="13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238250" y="1590675"/>
            <a:ext cx="247650" cy="247650"/>
          </a:xfrm>
          <a:prstGeom prst="rect">
            <a:avLst/>
          </a:prstGeom>
          <a:ln/>
        </p:spPr>
      </p:pic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1019175" y="2076450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3A8A"/>
                </a:solidFill>
                <a:latin typeface="PingFang SC"/>
                <a:ea typeface="PingFang SC"/>
              </a:rPr>
              <a:t>抽样复核</a:t>
            </a:r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838200" y="2362200"/>
            <a:ext cx="1038225" cy="485775"/>
          </a:xfrm>
          <a:prstGeom prst="rect"/>
        </p:spPr>
        <p:txBody>
          <a:bodyPr wrap="square" lIns="0" tIns="0" rIns="0" bIns="0">
            <a:normAutofit/>
          </a:bodyPr>
          <a:p>
            <a:pPr algn="ctr">
              <a:lnSpc>
                <a:spcPct val="150000"/>
              </a:lnSpc>
            </a:pP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按</a:t>
            </a:r>
            <a:r>
              <a:rPr lang="en-US" sz="1050">
                <a:solidFill>
                  <a:srgbClr val="43566B"/>
                </a:solidFill>
                <a:latin typeface="PingFang SC"/>
                <a:ea typeface="PingFang SC"/>
              </a:rPr>
              <a:t> 5–10% </a:t>
            </a: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随机抽检</a:t>
            </a:r>
            <a:r>
              <a:rPr lang="en-US" sz="1050">
                <a:solidFill>
                  <a:srgbClr val="43566B"/>
                </a:solidFill>
                <a:latin typeface="PingFang SC"/>
                <a:ea typeface="PingFang SC"/>
              </a:rPr>
              <a:t> AI </a:t>
            </a: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判定</a:t>
            </a:r>
            <a:endParaRPr/>
          </a:p>
        </p:txBody>
      </p:sp>
      <p:sp>
        <p:nvSpPr>
          <p:cNvPr id="137" name=""/>
          <p:cNvSpPr/>
          <p:nvPr/>
        </p:nvSpPr>
        <p:spPr>
          <a:xfrm rot="0" flipH="0" flipV="0">
            <a:off x="2181225" y="1276350"/>
            <a:ext cx="1343025" cy="1762125"/>
          </a:xfrm>
          <a:prstGeom prst="roundRect">
            <a:avLst>
              <a:gd name="adj" fmla="val 99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28575" dir="5400000">
              <a:srgbClr val="1E3A8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138" name=""/>
          <p:cNvSpPr/>
          <p:nvPr/>
        </p:nvSpPr>
        <p:spPr>
          <a:xfrm rot="0" flipH="0" flipV="0">
            <a:off x="2609850" y="1466850"/>
            <a:ext cx="495300" cy="495300"/>
          </a:xfrm>
          <a:prstGeom prst="roundRect">
            <a:avLst>
              <a:gd name="adj" fmla="val 25000"/>
            </a:avLst>
          </a:prstGeom>
          <a:solidFill>
            <a:srgbClr val="E0F7FA"/>
          </a:solidFill>
          <a:ln/>
        </p:spPr>
        <p:txBody>
          <a:bodyPr/>
          <a:p/>
        </p:txBody>
      </p:sp>
      <p:pic>
        <p:nvPicPr>
          <p:cNvPr id="13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2733675" y="1590675"/>
            <a:ext cx="247650" cy="247650"/>
          </a:xfrm>
          <a:prstGeom prst="rect">
            <a:avLst/>
          </a:prstGeom>
          <a:ln/>
        </p:spPr>
      </p:pic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2428875" y="2076450"/>
            <a:ext cx="857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3A8A"/>
                </a:solidFill>
                <a:latin typeface="PingFang SC"/>
                <a:ea typeface="PingFang SC"/>
              </a:rPr>
              <a:t>置信度门槛</a:t>
            </a:r>
            <a:endParaRPr/>
          </a:p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2333625" y="2362200"/>
            <a:ext cx="1038225" cy="485775"/>
          </a:xfrm>
          <a:prstGeom prst="rect"/>
        </p:spPr>
        <p:txBody>
          <a:bodyPr wrap="square" lIns="0" tIns="0" rIns="0" bIns="0">
            <a:normAutofit/>
          </a:bodyPr>
          <a:p>
            <a:pPr algn="ctr">
              <a:lnSpc>
                <a:spcPct val="150000"/>
              </a:lnSpc>
            </a:pP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低于阈值自动转人工</a:t>
            </a:r>
            <a:endParaRPr/>
          </a:p>
        </p:txBody>
      </p:sp>
      <p:sp>
        <p:nvSpPr>
          <p:cNvPr id="142" name=""/>
          <p:cNvSpPr/>
          <p:nvPr/>
        </p:nvSpPr>
        <p:spPr>
          <a:xfrm rot="0" flipH="0" flipV="0">
            <a:off x="3676650" y="1276350"/>
            <a:ext cx="1333500" cy="176212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28575" dir="5400000">
              <a:srgbClr val="1E3A8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143" name=""/>
          <p:cNvSpPr/>
          <p:nvPr/>
        </p:nvSpPr>
        <p:spPr>
          <a:xfrm rot="0" flipH="0" flipV="0">
            <a:off x="4095750" y="1466850"/>
            <a:ext cx="495300" cy="495300"/>
          </a:xfrm>
          <a:prstGeom prst="roundRect">
            <a:avLst>
              <a:gd name="adj" fmla="val 25000"/>
            </a:avLst>
          </a:prstGeom>
          <a:solidFill>
            <a:srgbClr val="E0F7FA"/>
          </a:solidFill>
          <a:ln/>
        </p:spPr>
        <p:txBody>
          <a:bodyPr/>
          <a:p/>
        </p:txBody>
      </p:sp>
      <p:pic>
        <p:nvPicPr>
          <p:cNvPr id="14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4219575" y="1590675"/>
            <a:ext cx="247650" cy="247650"/>
          </a:xfrm>
          <a:prstGeom prst="rect">
            <a:avLst/>
          </a:prstGeom>
          <a:ln/>
        </p:spPr>
      </p:pic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4171950" y="2076450"/>
            <a:ext cx="342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3A8A"/>
                </a:solidFill>
                <a:latin typeface="PingFang SC"/>
                <a:ea typeface="PingFang SC"/>
              </a:rPr>
              <a:t>双签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3829050" y="2362200"/>
            <a:ext cx="1028700" cy="485775"/>
          </a:xfrm>
          <a:prstGeom prst="rect"/>
        </p:spPr>
        <p:txBody>
          <a:bodyPr wrap="square" lIns="0" tIns="0" rIns="0" bIns="0">
            <a:normAutofit/>
          </a:bodyPr>
          <a:p>
            <a:pPr algn="ctr">
              <a:lnSpc>
                <a:spcPct val="150000"/>
              </a:lnSpc>
            </a:pP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安全关键件</a:t>
            </a:r>
            <a:r>
              <a:rPr lang="en-US" sz="1050">
                <a:solidFill>
                  <a:srgbClr val="43566B"/>
                </a:solidFill>
                <a:latin typeface="PingFang SC"/>
                <a:ea typeface="PingFang SC"/>
              </a:rPr>
              <a:t> AI + </a:t>
            </a: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人共同确认</a:t>
            </a:r>
            <a:endParaRPr/>
          </a:p>
        </p:txBody>
      </p:sp>
      <p:sp>
        <p:nvSpPr>
          <p:cNvPr id="147" name=""/>
          <p:cNvSpPr/>
          <p:nvPr/>
        </p:nvSpPr>
        <p:spPr>
          <a:xfrm rot="0" flipH="0" flipV="0">
            <a:off x="5162550" y="1276350"/>
            <a:ext cx="1343025" cy="1762125"/>
          </a:xfrm>
          <a:prstGeom prst="roundRect">
            <a:avLst>
              <a:gd name="adj" fmla="val 99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28575" dir="5400000">
              <a:srgbClr val="1E3A8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148" name=""/>
          <p:cNvSpPr/>
          <p:nvPr/>
        </p:nvSpPr>
        <p:spPr>
          <a:xfrm rot="0" flipH="0" flipV="0">
            <a:off x="5591175" y="1466850"/>
            <a:ext cx="495300" cy="495300"/>
          </a:xfrm>
          <a:prstGeom prst="roundRect">
            <a:avLst>
              <a:gd name="adj" fmla="val 25000"/>
            </a:avLst>
          </a:prstGeom>
          <a:solidFill>
            <a:srgbClr val="E0F7FA"/>
          </a:solidFill>
          <a:ln/>
        </p:spPr>
        <p:txBody>
          <a:bodyPr/>
          <a:p/>
        </p:txBody>
      </p:sp>
      <p:pic>
        <p:nvPicPr>
          <p:cNvPr id="14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5715000" y="1590675"/>
            <a:ext cx="247650" cy="247650"/>
          </a:xfrm>
          <a:prstGeom prst="rect">
            <a:avLst/>
          </a:prstGeom>
          <a:ln/>
        </p:spPr>
      </p:pic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5495925" y="2076450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3A8A"/>
                </a:solidFill>
                <a:latin typeface="PingFang SC"/>
                <a:ea typeface="PingFang SC"/>
              </a:rPr>
              <a:t>定期回测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5314950" y="2362200"/>
            <a:ext cx="1038225" cy="485775"/>
          </a:xfrm>
          <a:prstGeom prst="rect"/>
        </p:spPr>
        <p:txBody>
          <a:bodyPr wrap="square" lIns="0" tIns="0" rIns="0" bIns="0">
            <a:normAutofit/>
          </a:bodyPr>
          <a:p>
            <a:pPr algn="ctr">
              <a:lnSpc>
                <a:spcPct val="150000"/>
              </a:lnSpc>
            </a:pP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每月用新数据重测召回率</a:t>
            </a:r>
            <a:endParaRPr/>
          </a:p>
        </p:txBody>
      </p:sp>
      <p:sp>
        <p:nvSpPr>
          <p:cNvPr id="152" name=""/>
          <p:cNvSpPr/>
          <p:nvPr/>
        </p:nvSpPr>
        <p:spPr>
          <a:xfrm rot="0" flipH="0" flipV="0">
            <a:off x="685800" y="3171825"/>
            <a:ext cx="5819775" cy="2981325"/>
          </a:xfrm>
          <a:prstGeom prst="roundRect">
            <a:avLst>
              <a:gd name="adj" fmla="val 51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914400" y="3362325"/>
            <a:ext cx="53625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E3A8A"/>
                </a:solidFill>
                <a:latin typeface="PingFang SC"/>
                <a:ea typeface="PingFang SC"/>
              </a:rPr>
              <a:t>AI </a:t>
            </a:r>
            <a:r>
              <a:rPr lang="zh-CN" sz="1275" b="1">
                <a:solidFill>
                  <a:srgbClr val="1E3A8A"/>
                </a:solidFill>
                <a:latin typeface="PingFang SC"/>
                <a:ea typeface="PingFang SC"/>
              </a:rPr>
              <a:t>的「证据包」长什么样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914400" y="3657600"/>
            <a:ext cx="5362575" cy="132397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200">
                <a:solidFill>
                  <a:srgbClr val="43566B"/>
                </a:solidFill>
                <a:latin typeface="PingFang SC"/>
                <a:ea typeface="PingFang SC"/>
              </a:rPr>
              <a:t>① 异常截图（标出位置）</a:t>
            </a:r>
            <a:r>
              <a:rPr lang="zh-CN" sz="1200">
                <a:solidFill>
                  <a:srgbClr val="43566B"/>
                </a:solidFill>
                <a:latin typeface="PingFang SC"/>
                <a:ea typeface="PingFang SC"/>
              </a:rPr>
              <a:t/>
            </a:r>
            <a:endParaRPr/>
          </a:p>
          <a:p>
            <a:pPr>
              <a:lnSpc>
                <a:spcPct val="180000"/>
              </a:lnSpc>
            </a:pPr>
            <a:r>
              <a:rPr lang="en-US" sz="1200">
                <a:solidFill>
                  <a:srgbClr val="43566B"/>
                </a:solidFill>
                <a:latin typeface="PingFang SC"/>
                <a:ea typeface="PingFang SC"/>
              </a:rPr>
              <a:t>② </a:t>
            </a:r>
            <a:r>
              <a:rPr lang="zh-CN" sz="1200">
                <a:solidFill>
                  <a:srgbClr val="43566B"/>
                </a:solidFill>
                <a:latin typeface="PingFang SC"/>
                <a:ea typeface="PingFang SC"/>
              </a:rPr>
              <a:t>置信度数值（</a:t>
            </a:r>
            <a:r>
              <a:rPr lang="en-US" sz="1200">
                <a:solidFill>
                  <a:srgbClr val="43566B"/>
                </a:solidFill>
                <a:latin typeface="PingFang SC"/>
                <a:ea typeface="PingFang SC"/>
              </a:rPr>
              <a:t>87%</a:t>
            </a:r>
            <a:r>
              <a:rPr lang="zh-CN" sz="1200">
                <a:solidFill>
                  <a:srgbClr val="43566B"/>
                </a:solidFill>
                <a:latin typeface="PingFang SC"/>
                <a:ea typeface="PingFang SC"/>
              </a:rPr>
              <a:t>）</a:t>
            </a:r>
            <a:endParaRPr/>
          </a:p>
          <a:p>
            <a:pPr>
              <a:lnSpc>
                <a:spcPct val="180000"/>
              </a:lnSpc>
            </a:pPr>
            <a:r>
              <a:rPr lang="en-US" sz="1200">
                <a:solidFill>
                  <a:srgbClr val="43566B"/>
                </a:solidFill>
                <a:latin typeface="PingFang SC"/>
                <a:ea typeface="PingFang SC"/>
              </a:rPr>
              <a:t>③ </a:t>
            </a:r>
            <a:r>
              <a:rPr lang="zh-CN" sz="1200">
                <a:solidFill>
                  <a:srgbClr val="43566B"/>
                </a:solidFill>
                <a:latin typeface="PingFang SC"/>
                <a:ea typeface="PingFang SC"/>
              </a:rPr>
              <a:t>命中的判定规则</a:t>
            </a:r>
            <a:r>
              <a:rPr lang="en-US" sz="1200">
                <a:solidFill>
                  <a:srgbClr val="43566B"/>
                </a:solidFill>
                <a:latin typeface="PingFang SC"/>
                <a:ea typeface="PingFang SC"/>
              </a:rPr>
              <a:t> / </a:t>
            </a:r>
            <a:r>
              <a:rPr lang="zh-CN" sz="1200">
                <a:solidFill>
                  <a:srgbClr val="43566B"/>
                </a:solidFill>
                <a:latin typeface="PingFang SC"/>
                <a:ea typeface="PingFang SC"/>
              </a:rPr>
              <a:t>相似样本</a:t>
            </a:r>
            <a:endParaRPr/>
          </a:p>
          <a:p>
            <a:pPr>
              <a:lnSpc>
                <a:spcPct val="180000"/>
              </a:lnSpc>
            </a:pPr>
            <a:r>
              <a:rPr lang="zh-CN" sz="1200" b="1">
                <a:solidFill>
                  <a:srgbClr val="B45309"/>
                </a:solidFill>
                <a:latin typeface="PingFang SC"/>
                <a:ea typeface="PingFang SC"/>
              </a:rPr>
              <a:t>人看到的是证据，不是「AI 说它有异常」这五个字。</a:t>
            </a:r>
            <a:r>
              <a:rPr lang="en-US" sz="1200" b="1">
                <a:solidFill>
                  <a:srgbClr val="B45309"/>
                </a:solidFill>
                <a:latin typeface="PingFang SC"/>
                <a:ea typeface="PingFang SC"/>
              </a:rPr>
              <a:t/>
            </a:r>
            <a:r>
              <a:rPr lang="zh-CN" sz="1200" b="1">
                <a:solidFill>
                  <a:srgbClr val="B45309"/>
                </a:solidFill>
                <a:latin typeface="PingFang SC"/>
                <a:ea typeface="PingFang SC"/>
              </a:rPr>
              <a:t/>
            </a:r>
            <a:endParaRPr/>
          </a:p>
        </p:txBody>
      </p:sp>
      <p:sp>
        <p:nvSpPr>
          <p:cNvPr id="155" name=""/>
          <p:cNvSpPr/>
          <p:nvPr/>
        </p:nvSpPr>
        <p:spPr>
          <a:xfrm rot="0" flipH="0" flipV="0">
            <a:off x="6753225" y="1276350"/>
            <a:ext cx="4752975" cy="1790700"/>
          </a:xfrm>
          <a:prstGeom prst="roundRect">
            <a:avLst>
              <a:gd name="adj" fmla="val 9574"/>
            </a:avLst>
          </a:prstGeom>
          <a:solidFill>
            <a:srgbClr val="1E3A8A"/>
          </a:solidFill>
          <a:ln/>
        </p:spPr>
        <p:txBody>
          <a:bodyPr/>
          <a:p/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8401050" y="1504950"/>
            <a:ext cx="1457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150">
                <a:solidFill>
                  <a:srgbClr val="7FD9F0"/>
                </a:solidFill>
                <a:latin typeface="PingFang SC"/>
                <a:ea typeface="PingFang SC"/>
              </a:rPr>
              <a:t>跨行业标杆：单件外观检测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7877175" y="1790700"/>
            <a:ext cx="1047750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450" b="1">
                <a:solidFill>
                  <a:srgbClr val="FFFFFF"/>
                </a:solidFill>
                <a:latin typeface="Space Grotesk"/>
                <a:ea typeface="Space Grotesk"/>
              </a:rPr>
              <a:t>30 </a:t>
            </a:r>
            <a:r>
              <a:rPr lang="zh-CN" sz="3450" b="1">
                <a:solidFill>
                  <a:srgbClr val="FFFFFF"/>
                </a:solidFill>
                <a:latin typeface="Space Grotesk"/>
                <a:ea typeface="Space Grotesk"/>
              </a:rPr>
              <a:t>秒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9058275" y="1790700"/>
            <a:ext cx="209550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>
                <a:solidFill>
                  <a:srgbClr val="7FD9F0"/>
                </a:solidFill>
                <a:latin typeface="PingFang SC"/>
                <a:ea typeface="PingFang SC"/>
              </a:rPr>
              <a:t>vs</a:t>
            </a:r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9401175" y="1790700"/>
            <a:ext cx="981075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A9C4E8"/>
                </a:solidFill>
                <a:latin typeface="Space Grotesk"/>
                <a:ea typeface="Space Grotesk"/>
              </a:rPr>
              <a:t>2–3 </a:t>
            </a:r>
            <a:r>
              <a:rPr lang="zh-CN" sz="1950" b="1">
                <a:solidFill>
                  <a:srgbClr val="A9C4E8"/>
                </a:solidFill>
                <a:latin typeface="Space Grotesk"/>
                <a:ea typeface="Space Grotesk"/>
              </a:rPr>
              <a:t>小时</a:t>
            </a:r>
            <a:endParaRPr/>
          </a:p>
        </p:txBody>
      </p:sp>
      <p:sp>
        <p:nvSpPr>
          <p:cNvPr id="160" name=""/>
          <p:cNvSpPr/>
          <p:nvPr/>
        </p:nvSpPr>
        <p:spPr>
          <a:xfrm rot="0" flipH="0" flipV="0">
            <a:off x="8267700" y="2476500"/>
            <a:ext cx="1733550" cy="361950"/>
          </a:xfrm>
          <a:prstGeom prst="roundRect">
            <a:avLst>
              <a:gd name="adj" fmla="val 2628947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8439150" y="2552700"/>
            <a:ext cx="13906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PingFang SC"/>
                <a:ea typeface="PingFang SC"/>
              </a:rPr>
              <a:t>提速</a:t>
            </a:r>
            <a:r>
              <a:rPr lang="en-US" sz="1350" b="1">
                <a:solidFill>
                  <a:srgbClr val="FFFFFF"/>
                </a:solidFill>
                <a:latin typeface="PingFang SC"/>
                <a:ea typeface="PingFang SC"/>
              </a:rPr>
              <a:t> 240–360 </a:t>
            </a:r>
            <a:r>
              <a:rPr lang="zh-CN" sz="1350" b="1">
                <a:solidFill>
                  <a:srgbClr val="FFFFFF"/>
                </a:solidFill>
                <a:latin typeface="PingFang SC"/>
                <a:ea typeface="PingFang SC"/>
              </a:rPr>
              <a:t>倍</a:t>
            </a:r>
            <a:endParaRPr/>
          </a:p>
        </p:txBody>
      </p:sp>
      <p:sp>
        <p:nvSpPr>
          <p:cNvPr id="162" name=""/>
          <p:cNvSpPr/>
          <p:nvPr/>
        </p:nvSpPr>
        <p:spPr>
          <a:xfrm rot="0" flipH="0" flipV="0">
            <a:off x="6753225" y="3219450"/>
            <a:ext cx="4752975" cy="2933700"/>
          </a:xfrm>
          <a:prstGeom prst="roundRect">
            <a:avLst>
              <a:gd name="adj" fmla="val 519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6981825" y="3409950"/>
            <a:ext cx="4295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3A8A"/>
                </a:solidFill>
                <a:latin typeface="PingFang SC"/>
                <a:ea typeface="PingFang SC"/>
              </a:rPr>
              <a:t>厂商案例：误检率</a:t>
            </a:r>
            <a:r>
              <a:rPr lang="en-US" sz="1275" b="1">
                <a:solidFill>
                  <a:srgbClr val="1E3A8A"/>
                </a:solidFill>
                <a:latin typeface="PingFang SC"/>
                <a:ea typeface="PingFang SC"/>
              </a:rPr>
              <a:t> -40%</a:t>
            </a:r>
            <a:endParaRPr/>
          </a:p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6981825" y="3686175"/>
            <a:ext cx="429577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靠的不是换更贵的模型，而是持续回测</a:t>
            </a:r>
            <a:r>
              <a:rPr lang="en-US" sz="1125">
                <a:solidFill>
                  <a:srgbClr val="43566B"/>
                </a:solidFill>
                <a:latin typeface="PingFang SC"/>
                <a:ea typeface="PingFang SC"/>
              </a:rPr>
              <a:t> + </a:t>
            </a: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样本迭代</a:t>
            </a:r>
            <a:r>
              <a:rPr lang="en-US" sz="1125">
                <a:solidFill>
                  <a:srgbClr val="43566B"/>
                </a:solidFill>
                <a:latin typeface="PingFang SC"/>
                <a:ea typeface="PingFang SC"/>
              </a:rPr>
              <a:t> —— </a:t>
            </a: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四控制里「定期回测」的回报。</a:t>
            </a:r>
            <a:endParaRPr/>
          </a:p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1123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AI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场景落地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中级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11049000" y="63627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14 / 34</a:t>
            </a:r>
            <a:endParaRPr/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7" name="" descr="&lt;Slide style={{ width: '1280px', height: '720px', position: 'relative', background: '#1E3A8A', overflow: 'hidden', fontFamily: 'PingFang SC, Source Han Sans SC, sans-serif' }}&gt;&#10;    &lt;Box style={{ position: 'absolute', top: 0, right: 0, width: 500, height: '720px' }}&gt;&#10;        &lt;Image src=&quot;assets/hero_cover.png&quot; style={{ width: '500px', height: '720px', objectFit: 'cover', opacity: 0.5 }} /&gt;&#10;        &lt;Box style={{ position: 'absolute', top: 0, left: 0, width: '500px', height: '720px', background: 'linear-gradient(90deg, rgba(30,58,138,1) 0%, rgba(30,58,138,0.15) 100%)' }} /&gt;&#10;    &lt;/Box&gt;&#10;    &lt;Box style={{ position: 'relative', zIndex: 1, height: '720px', padding: '0 84px', justifyContent: 'center' }}&gt;&#10;        &lt;Text style={{ fontSize: 130, fontWeight: 'bold', color: 'rgba(6,182,212,0.5)', lineHeight: 1, fontFamily: 'Space Grotesk, Inter' }}&gt;04&lt;/Text&gt;&#10;        &lt;Text style={{ fontSize: 18, color: '#7FD9F0', letterSpacing: 5, marginTop: 6 }}&gt;M4 · 3 课时&lt;/Text&gt;&#10;        &lt;Text style={{ fontSize: 54, fontWeight: 'bold', color: '#FFFFFF', marginTop: 20, lineHeight: 1.18 }}&gt;生产与供应链&lt;br /&gt;让节拍说话&lt;/Text&gt;&#10;        &lt;Box style={{ width: 84, height: 4, background: '#06B6D4', marginTop: 30 }} /&gt;&#10;        &lt;Text style={{ fontSize: 19, color: '#A9C4E8', marginTop: 22, lineHeight: 1.6 }}&gt;三钟不可互替 · 均值陷阱 · ABC 与关键度 · EBQ 与看板&lt;br /&gt;AI 五补位 + 权限红线：建议权给 AI，审批权给人。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p/>
        </p:txBody>
      </p:sp>
      <p:pic>
        <p:nvPicPr>
          <p:cNvPr id="169" name=""/>
          <p:cNvPicPr>
            <a:picLocks noChangeAspect="1"/>
          </p:cNvPicPr>
          <p:nvPr/>
        </p:nvPicPr>
        <p:blipFill>
          <a:blip r:embed="rId1">
            <a:alphaModFix amt="50000"/>
          </a:blip>
          <a:srcRect l="26242" t="0" r="26242" b="0"/>
          <a:stretch>
            <a:fillRect/>
          </a:stretch>
        </p:blipFill>
        <p:spPr>
          <a:xfrm rot="0" flipH="0" flipV="0">
            <a:off x="7429500" y="0"/>
            <a:ext cx="4762500" cy="6858000"/>
          </a:xfrm>
          <a:prstGeom prst="rect">
            <a:avLst/>
          </a:prstGeom>
          <a:ln/>
        </p:spPr>
      </p:pic>
      <p:sp>
        <p:nvSpPr>
          <p:cNvPr id="170" name=""/>
          <p:cNvSpPr/>
          <p:nvPr/>
        </p:nvSpPr>
        <p:spPr>
          <a:xfrm rot="0" flipH="0" flipV="0">
            <a:off x="7429500" y="0"/>
            <a:ext cx="4762500" cy="6858000"/>
          </a:xfrm>
          <a:prstGeom prst="rect">
            <a:avLst/>
          </a:prstGeom>
          <a:gradFill>
            <a:gsLst>
              <a:gs pos="0">
                <a:srgbClr val="1E3A8A">
                  <a:alpha val="100000"/>
                </a:srgbClr>
              </a:gs>
              <a:gs pos="100000">
                <a:srgbClr val="1E3A8A">
                  <a:alpha val="1500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800100" y="1114425"/>
            <a:ext cx="10591800" cy="1485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0" b="1">
                <a:solidFill>
                  <a:srgbClr val="06B6D4">
                    <a:alpha val="50000"/>
                  </a:srgbClr>
                </a:solidFill>
                <a:latin typeface="Space Grotesk"/>
                <a:ea typeface="Space Grotesk"/>
              </a:rPr>
              <a:t>04</a:t>
            </a:r>
            <a:endParaRPr/>
          </a:p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800100" y="2657475"/>
            <a:ext cx="10591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spc="375">
                <a:solidFill>
                  <a:srgbClr val="7FD9F0"/>
                </a:solidFill>
                <a:latin typeface="PingFang SC"/>
                <a:ea typeface="PingFang SC"/>
              </a:rPr>
              <a:t>M4 · 3 </a:t>
            </a:r>
            <a:r>
              <a:rPr lang="zh-CN" sz="1350" spc="375">
                <a:solidFill>
                  <a:srgbClr val="7FD9F0"/>
                </a:solidFill>
                <a:latin typeface="PingFang SC"/>
                <a:ea typeface="PingFang SC"/>
              </a:rPr>
              <a:t>课时</a:t>
            </a:r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800100" y="3057525"/>
            <a:ext cx="10591800" cy="1457325"/>
          </a:xfrm>
          <a:prstGeom prst="rect"/>
        </p:spPr>
        <p:txBody>
          <a:bodyPr wrap="none" lIns="0" tIns="0" rIns="0" bIns="0"/>
          <a:p>
            <a:pPr>
              <a:lnSpc>
                <a:spcPct val="118000"/>
              </a:lnSpc>
            </a:pPr>
            <a:r>
              <a:rPr lang="zh-CN" sz="4050" b="1">
                <a:solidFill>
                  <a:srgbClr val="FFFFFF"/>
                </a:solidFill>
                <a:latin typeface="PingFang SC"/>
                <a:ea typeface="PingFang SC"/>
              </a:rPr>
              <a:t>流程与资源调度</a:t>
            </a:r>
            <a:endParaRPr/>
          </a:p>
          <a:p>
            <a:pPr>
              <a:lnSpc>
                <a:spcPct val="118000"/>
              </a:lnSpc>
            </a:pPr>
            <a:r>
              <a:rPr lang="zh-CN" sz="4050" b="1">
                <a:solidFill>
                  <a:srgbClr val="FFFFFF"/>
                </a:solidFill>
                <a:latin typeface="PingFang SC"/>
                <a:ea typeface="PingFang SC"/>
              </a:rPr>
              <a:t>让节拍说话</a:t>
            </a:r>
            <a:endParaRPr/>
          </a:p>
        </p:txBody>
      </p:sp>
      <p:sp>
        <p:nvSpPr>
          <p:cNvPr id="174" name=""/>
          <p:cNvSpPr/>
          <p:nvPr/>
        </p:nvSpPr>
        <p:spPr>
          <a:xfrm rot="0" flipH="0" flipV="0">
            <a:off x="800100" y="4800600"/>
            <a:ext cx="800100" cy="381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800100" y="5048250"/>
            <a:ext cx="10591800" cy="695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A9C4E8"/>
                </a:solidFill>
                <a:latin typeface="PingFang SC"/>
                <a:ea typeface="PingFang SC"/>
              </a:rPr>
              <a:t>三钟不可互替</a:t>
            </a:r>
            <a:r>
              <a:rPr lang="en-US" sz="1425">
                <a:solidFill>
                  <a:srgbClr val="A9C4E8"/>
                </a:solidFill>
                <a:latin typeface="PingFang SC"/>
                <a:ea typeface="PingFang SC"/>
              </a:rPr>
              <a:t> · </a:t>
            </a:r>
            <a:r>
              <a:rPr lang="zh-CN" sz="1425">
                <a:solidFill>
                  <a:srgbClr val="A9C4E8"/>
                </a:solidFill>
                <a:latin typeface="PingFang SC"/>
                <a:ea typeface="PingFang SC"/>
              </a:rPr>
              <a:t>均值陷阱</a:t>
            </a:r>
            <a:r>
              <a:rPr lang="en-US" sz="1425">
                <a:solidFill>
                  <a:srgbClr val="A9C4E8"/>
                </a:solidFill>
                <a:latin typeface="PingFang SC"/>
                <a:ea typeface="PingFang SC"/>
              </a:rPr>
              <a:t> · ABC </a:t>
            </a:r>
            <a:r>
              <a:rPr lang="zh-CN" sz="1425">
                <a:solidFill>
                  <a:srgbClr val="A9C4E8"/>
                </a:solidFill>
                <a:latin typeface="PingFang SC"/>
                <a:ea typeface="PingFang SC"/>
              </a:rPr>
              <a:t>与关键度</a:t>
            </a:r>
            <a:r>
              <a:rPr lang="en-US" sz="1425">
                <a:solidFill>
                  <a:srgbClr val="A9C4E8"/>
                </a:solidFill>
                <a:latin typeface="PingFang SC"/>
                <a:ea typeface="PingFang SC"/>
              </a:rPr>
              <a:t> · EBQ </a:t>
            </a:r>
            <a:r>
              <a:rPr lang="zh-CN" sz="1425">
                <a:solidFill>
                  <a:srgbClr val="A9C4E8"/>
                </a:solidFill>
                <a:latin typeface="PingFang SC"/>
                <a:ea typeface="PingFang SC"/>
              </a:rPr>
              <a:t>与看板</a:t>
            </a:r>
            <a:endParaRPr/>
          </a:p>
          <a:p>
            <a:pPr>
              <a:lnSpc>
                <a:spcPct val="160000"/>
              </a:lnSpc>
            </a:pPr>
            <a:r>
              <a:rPr lang="en-US" sz="1425">
                <a:solidFill>
                  <a:srgbClr val="A9C4E8"/>
                </a:solidFill>
                <a:latin typeface="PingFang SC"/>
                <a:ea typeface="PingFang SC"/>
              </a:rPr>
              <a:t>AI </a:t>
            </a:r>
            <a:r>
              <a:rPr lang="zh-CN" sz="1425">
                <a:solidFill>
                  <a:srgbClr val="A9C4E8"/>
                </a:solidFill>
                <a:latin typeface="PingFang SC"/>
                <a:ea typeface="PingFang SC"/>
              </a:rPr>
              <a:t>五补位</a:t>
            </a:r>
            <a:r>
              <a:rPr lang="en-US" sz="1425">
                <a:solidFill>
                  <a:srgbClr val="A9C4E8"/>
                </a:solidFill>
                <a:latin typeface="PingFang SC"/>
                <a:ea typeface="PingFang SC"/>
              </a:rPr>
              <a:t> + </a:t>
            </a:r>
            <a:r>
              <a:rPr lang="zh-CN" sz="1425">
                <a:solidFill>
                  <a:srgbClr val="A9C4E8"/>
                </a:solidFill>
                <a:latin typeface="PingFang SC"/>
                <a:ea typeface="PingFang SC"/>
              </a:rPr>
              <a:t>权限红线：建议权给</a:t>
            </a:r>
            <a:r>
              <a:rPr lang="en-US" sz="1425">
                <a:solidFill>
                  <a:srgbClr val="A9C4E8"/>
                </a:solidFill>
                <a:latin typeface="PingFang SC"/>
                <a:ea typeface="PingFang SC"/>
              </a:rPr>
              <a:t> AI</a:t>
            </a:r>
            <a:r>
              <a:rPr lang="zh-CN" sz="1425">
                <a:solidFill>
                  <a:srgbClr val="A9C4E8"/>
                </a:solidFill>
                <a:latin typeface="PingFang SC"/>
                <a:ea typeface="PingFang SC"/>
              </a:rPr>
              <a:t>，审批权给人。</a:t>
            </a:r>
            <a:endParaRPr/>
          </a:p>
        </p:txBody>
      </p:sp>
    </p:spTree>
  </p:cSld>
</p:sld>
</file>

<file path=ppt/slides/slide16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76" name="" descr="const clocks = [&#10;    { icon: 'bullseye', t: 'Takt 节拍', d: '客户的需求速率', who: '客户定', big: '2.0 分/件', note: '420 分钟 ÷ 210 件' },&#10;    { icon: 'stopwatch', t: 'Cycle 周期', d: '工序实际做一件要多久', who: '我们管', big: '1.8 分/件（均值）', note: '看 90 分位才真实' },&#10;    { icon: 'hourglass-half', t: 'Lead 提前期', d: '下订单到交货要多久', who: 'AI 压缩', big: '以天计', note: '预测 + 看板主战场' },&#10;];&#10;&lt;Slide style={{ width: '1280px', height: '720px', background: '#F5F8FC', padding: '24px 72px', boxSizing: 'border-box', flexDirection: 'column', fontFamily: 'PingFang SC, Source Han Sans SC, sans-serif' }}&gt;&#10;    &lt;Box style={{ height: 96, flexDirection: 'row', alignItems: 'center', gap: 16 }}&gt;&#10;        &lt;Box style={{ width: 5, height: 46, background: '#06B6D4', borderRadius: 3 }} /&gt;&#10;        &lt;Box&gt;&#10;            &lt;Text style={{ fontSize: 34, fontWeight: 'bold', color: '#1E3A8A', lineHeight: 1.2 }}&gt;三钟：Takt / Cycle / Lead 不可互替&lt;/Text&gt;&#10;            &lt;Text style={{ fontSize: 17, color: '#64748B', marginTop: 4 }}&gt;很多「产能问题」，其实是把三个钟当成了同一个钟&lt;/Text&gt;&#10;        &lt;/Box&gt;&#10;    &lt;/Box&gt;&#10;    &lt;Box style={{ flexDirection: 'row', gap: 22, marginTop: 16 }}&gt;&#10;        {clocks.map((c, i) =&gt; (&#10;            &lt;Box key={i} style={{ flex: 1, background: '#FFFFFF', borderRadius: 16, padding: '24px 24px', border: '1px solid #E2E8F0', boxShadow: '0 4px 16px rgba(30,58,138,0.06)', flexDirection: 'column' }}&gt;&#10;                &lt;Box style={{ flexDirection: 'row', alignItems: 'center', gap: 12, marginBottom: 12 }}&gt;&#10;                    &lt;Box style={{ width: 52, height: 52, borderRadius: 13, background: i === 0 ? '#FEEFE0' : '#E0F7FA', justifyContent: 'center', alignItems: 'center' }}&gt;&#10;                        &lt;FAIcon name={c.icon} style={{ fill: i === 0 ? '#F59E0B' : '#0891B2', width: 26, height: 26 }} /&gt;&#10;                    &lt;/Box&gt;&#10;                    &lt;Box&gt;&#10;                        &lt;Text style={{ fontSize: 21, fontWeight: 'bold', color: '#1E3A8A' }}&gt;{c.t}&lt;/Text&gt;&#10;                        &lt;Text style={{ fontSize: 14, color: '#64748B', marginTop: 2 }}&gt;{c.d}&lt;/Text&gt;&#10;                    &lt;/Box&gt;&#10;                &lt;/Box&gt;&#10;                &lt;Text style={{ fontSize: 24, fontWeight: 'bold', color: i === 0 ? '#B45309' : '#0891B2', fontFamily: 'Space Grotesk, Inter' }}&gt;{c.big}&lt;/Text&gt;&#10;                &lt;Text style={{ fontSize: 14, color: '#43566b', marginTop: 6 }}&gt;{c.note}&lt;/Text&gt;&#10;                &lt;Box style={{ marginTop: 'auto', paddingTop: 14, borderTop: '2px solid #EAF1F8' }}&gt;&#10;                    &lt;Text style={{ fontSize: 15, fontWeight: 'bold', color: '#64748B' }}&gt;{c.who}&lt;/Text&gt;&#10;                &lt;/Box&gt;&#10;            &lt;/Box&gt;&#10;        ))}&#10;    &lt;/Box&gt;&#10;    &lt;Box style={{ flex: 1, flexDirection: 'row', gap: 24, marginTop: 20 }}&gt;&#10;        &lt;Box style={{ flex: 55, background: '#FFFFFF', borderRadius: 16, padding: '20px 26px', border: '1px solid #E2E8F0', flexDirection: 'column', justifyContent: 'center' }}&gt;&#10;            &lt;Text style={{ fontSize: 19, fontWeight: 'bold', color: '#1E3A8A' }}&gt;算一遍节拍&lt;/Text&gt;&#10;            &lt;Text style={{ fontSize: 26, fontWeight: 'bold', color: '#1E3A8A', fontFamily: 'Space Grotesk, Inter', marginTop: 12, textAlign: 'center' }}&gt;420 分钟 ÷ 210 件 = 2.0 分/件&lt;/Text&gt;&#10;            &lt;Text style={{ fontSize: 15, color: '#64748B', marginTop: 12, textAlign: 'center', lineHeight: 1.7 }}&gt;客户一天要 210 件，有效生产 420 分钟 ——&lt;br /&gt;每 2 分钟必须下线 1 件合格品，这是整条线的「心跳」。&lt;/Text&gt;&#10;        &lt;/Box&gt;&#10;        &lt;Box style={{ flex: 45, borderRadius: 18, overflow: 'hidden', background: '#1E3A8A', boxShadow: '0 8px 28px rgba(30,58,138,0.18)' }}&gt;&#10;            &lt;Image src=&quot;assets/lean_value_stream.png&quot; style={{ width: '100%', height: '100%', objectFit: 'cover' }} /&gt;&#10;        &lt;/Box&gt;&#10;    &lt;/Box&gt;&#10;    &lt;Box style={{ height: 40, flexDirection: 'row', justifyContent: 'space-between', alignItems: 'center', marginTop: 10 }}&gt;&#10;        &lt;Text style={{ fontSize: 14, color: '#64748B' }}&gt;AI 场景落地 · 中级&lt;/Text&gt;&#10;        &lt;Text style={{ fontSize: 14, color: '#64748B' }}&gt;16 / 34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/>
        </p:spPr>
        <p:txBody>
          <a:bodyPr/>
          <a:p/>
        </p:txBody>
      </p:sp>
      <p:sp>
        <p:nvSpPr>
          <p:cNvPr id="178" name=""/>
          <p:cNvSpPr/>
          <p:nvPr/>
        </p:nvSpPr>
        <p:spPr>
          <a:xfrm rot="0" flipH="0" flipV="0">
            <a:off x="685800" y="466725"/>
            <a:ext cx="47625" cy="438150"/>
          </a:xfrm>
          <a:prstGeom prst="roundRect">
            <a:avLst>
              <a:gd name="adj" fmla="val 60000"/>
            </a:avLst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885825" y="333375"/>
            <a:ext cx="542925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>三钟：</a:t>
            </a:r>
            <a:r>
              <a:rPr lang="en-US" sz="2550" b="1">
                <a:solidFill>
                  <a:srgbClr val="1E3A8A"/>
                </a:solidFill>
                <a:latin typeface="PingFang SC"/>
                <a:ea typeface="PingFang SC"/>
              </a:rPr>
              <a:t>Takt / Cycle / Lead </a:t>
            </a: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>不可互替</a:t>
            </a:r>
            <a:endParaRPr/>
          </a:p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885825" y="838200"/>
            <a:ext cx="5429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很多「产能问题」，其实是把三个钟当成了同一个钟</a:t>
            </a:r>
            <a:endParaRPr/>
          </a:p>
        </p:txBody>
      </p:sp>
      <p:sp>
        <p:nvSpPr>
          <p:cNvPr id="181" name=""/>
          <p:cNvSpPr/>
          <p:nvPr/>
        </p:nvSpPr>
        <p:spPr>
          <a:xfrm rot="0" flipH="0" flipV="0">
            <a:off x="685800" y="1295400"/>
            <a:ext cx="3467100" cy="1885950"/>
          </a:xfrm>
          <a:prstGeom prst="roundRect">
            <a:avLst>
              <a:gd name="adj" fmla="val 80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>
              <a:srgbClr val="1E3A8A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82" name=""/>
          <p:cNvSpPr/>
          <p:nvPr/>
        </p:nvSpPr>
        <p:spPr>
          <a:xfrm rot="0" flipH="0" flipV="0">
            <a:off x="914400" y="1524000"/>
            <a:ext cx="495300" cy="495300"/>
          </a:xfrm>
          <a:prstGeom prst="roundRect">
            <a:avLst>
              <a:gd name="adj" fmla="val 25000"/>
            </a:avLst>
          </a:prstGeom>
          <a:solidFill>
            <a:srgbClr val="FEEFE0"/>
          </a:solidFill>
          <a:ln/>
        </p:spPr>
        <p:txBody>
          <a:bodyPr/>
          <a:p/>
        </p:txBody>
      </p:sp>
      <p:pic>
        <p:nvPicPr>
          <p:cNvPr id="18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038225" y="1647825"/>
            <a:ext cx="247650" cy="247650"/>
          </a:xfrm>
          <a:prstGeom prst="rect">
            <a:avLst/>
          </a:prstGeom>
          <a:ln/>
        </p:spPr>
      </p:pic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1524000" y="1562100"/>
            <a:ext cx="9334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1E3A8A"/>
                </a:solidFill>
                <a:latin typeface="PingFang SC"/>
                <a:ea typeface="PingFang SC"/>
              </a:rPr>
              <a:t>Takt </a:t>
            </a:r>
            <a:r>
              <a:rPr lang="zh-CN" sz="1575" b="1">
                <a:solidFill>
                  <a:srgbClr val="1E3A8A"/>
                </a:solidFill>
                <a:latin typeface="PingFang SC"/>
                <a:ea typeface="PingFang SC"/>
              </a:rPr>
              <a:t>节拍</a:t>
            </a:r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1524000" y="1828800"/>
            <a:ext cx="933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客户的需求速率</a:t>
            </a:r>
            <a:endParaRPr/>
          </a:p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914400" y="2133600"/>
            <a:ext cx="30099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B45309"/>
                </a:solidFill>
                <a:latin typeface="Space Grotesk"/>
                <a:ea typeface="Space Grotesk"/>
              </a:rPr>
              <a:t>2.0 </a:t>
            </a:r>
            <a:r>
              <a:rPr lang="zh-CN" sz="1800" b="1">
                <a:solidFill>
                  <a:srgbClr val="B45309"/>
                </a:solidFill>
                <a:latin typeface="Space Grotesk"/>
                <a:ea typeface="Space Grotesk"/>
              </a:rPr>
              <a:t>分</a:t>
            </a:r>
            <a:r>
              <a:rPr lang="en-US" sz="1800" b="1">
                <a:solidFill>
                  <a:srgbClr val="B45309"/>
                </a:solidFill>
                <a:latin typeface="Space Grotesk"/>
                <a:ea typeface="Space Grotesk"/>
              </a:rPr>
              <a:t>/</a:t>
            </a:r>
            <a:r>
              <a:rPr lang="zh-CN" sz="1800" b="1">
                <a:solidFill>
                  <a:srgbClr val="B45309"/>
                </a:solidFill>
                <a:latin typeface="Space Grotesk"/>
                <a:ea typeface="Space Grotesk"/>
              </a:rPr>
              <a:t>件</a:t>
            </a:r>
            <a:endParaRPr/>
          </a:p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914400" y="2466975"/>
            <a:ext cx="3009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43566B"/>
                </a:solidFill>
                <a:latin typeface="PingFang SC"/>
                <a:ea typeface="PingFang SC"/>
              </a:rPr>
              <a:t>420 </a:t>
            </a: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分钟</a:t>
            </a:r>
            <a:r>
              <a:rPr lang="en-US" sz="1050">
                <a:solidFill>
                  <a:srgbClr val="43566B"/>
                </a:solidFill>
                <a:latin typeface="PingFang SC"/>
                <a:ea typeface="PingFang SC"/>
              </a:rPr>
              <a:t> ÷ 210 </a:t>
            </a: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件</a:t>
            </a:r>
            <a:endParaRPr/>
          </a:p>
        </p:txBody>
      </p:sp>
      <p:sp>
        <p:nvSpPr>
          <p:cNvPr id="188" name=""/>
          <p:cNvSpPr/>
          <p:nvPr/>
        </p:nvSpPr>
        <p:spPr>
          <a:xfrm rot="0" flipH="0" flipV="0">
            <a:off x="914400" y="2628900"/>
            <a:ext cx="3009900" cy="342900"/>
          </a:xfrm>
          <a:custGeom>
            <a:pathLst>
              <a:path w="316" h="36">
                <a:moveTo>
                  <a:pt x="0" y="0"/>
                </a:moveTo>
                <a:lnTo>
                  <a:pt x="316" y="0"/>
                </a:lnTo>
                <a:lnTo>
                  <a:pt x="316" y="2"/>
                </a:lnTo>
                <a:lnTo>
                  <a:pt x="0" y="2"/>
                </a:lnTo>
                <a:close/>
              </a:path>
            </a:pathLst>
          </a:custGeom>
          <a:solidFill>
            <a:srgbClr val="EAF1F8"/>
          </a:solidFill>
          <a:ln/>
        </p:spPr>
        <p:txBody>
          <a:bodyPr/>
          <a:p/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914400" y="2781300"/>
            <a:ext cx="3009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64748B"/>
                </a:solidFill>
                <a:latin typeface="PingFang SC"/>
                <a:ea typeface="PingFang SC"/>
              </a:rPr>
              <a:t>客户定</a:t>
            </a:r>
            <a:endParaRPr/>
          </a:p>
        </p:txBody>
      </p:sp>
      <p:sp>
        <p:nvSpPr>
          <p:cNvPr id="190" name=""/>
          <p:cNvSpPr/>
          <p:nvPr/>
        </p:nvSpPr>
        <p:spPr>
          <a:xfrm rot="0" flipH="0" flipV="0">
            <a:off x="4362450" y="1295400"/>
            <a:ext cx="3467100" cy="1885950"/>
          </a:xfrm>
          <a:prstGeom prst="roundRect">
            <a:avLst>
              <a:gd name="adj" fmla="val 80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>
              <a:srgbClr val="1E3A8A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91" name=""/>
          <p:cNvSpPr/>
          <p:nvPr/>
        </p:nvSpPr>
        <p:spPr>
          <a:xfrm rot="0" flipH="0" flipV="0">
            <a:off x="4591050" y="1524000"/>
            <a:ext cx="495300" cy="495300"/>
          </a:xfrm>
          <a:prstGeom prst="roundRect">
            <a:avLst>
              <a:gd name="adj" fmla="val 25000"/>
            </a:avLst>
          </a:prstGeom>
          <a:solidFill>
            <a:srgbClr val="E0F7FA"/>
          </a:solidFill>
          <a:ln/>
        </p:spPr>
        <p:txBody>
          <a:bodyPr/>
          <a:p/>
        </p:txBody>
      </p:sp>
      <p:pic>
        <p:nvPicPr>
          <p:cNvPr id="19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714875" y="1647825"/>
            <a:ext cx="247650" cy="247650"/>
          </a:xfrm>
          <a:prstGeom prst="rect">
            <a:avLst/>
          </a:prstGeom>
          <a:ln/>
        </p:spPr>
      </p:pic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5200650" y="1562100"/>
            <a:ext cx="13335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1E3A8A"/>
                </a:solidFill>
                <a:latin typeface="PingFang SC"/>
                <a:ea typeface="PingFang SC"/>
              </a:rPr>
              <a:t>Cycle </a:t>
            </a:r>
            <a:r>
              <a:rPr lang="zh-CN" sz="1575" b="1">
                <a:solidFill>
                  <a:srgbClr val="1E3A8A"/>
                </a:solidFill>
                <a:latin typeface="PingFang SC"/>
                <a:ea typeface="PingFang SC"/>
              </a:rPr>
              <a:t>周期</a:t>
            </a:r>
            <a:endParaRPr/>
          </a:p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5200650" y="1828800"/>
            <a:ext cx="1333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工序实际做一件要多久</a:t>
            </a:r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4591050" y="2133600"/>
            <a:ext cx="30099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0891B2"/>
                </a:solidFill>
                <a:latin typeface="Space Grotesk"/>
                <a:ea typeface="Space Grotesk"/>
              </a:rPr>
              <a:t>1.8 </a:t>
            </a:r>
            <a:r>
              <a:rPr lang="zh-CN" sz="1800" b="1">
                <a:solidFill>
                  <a:srgbClr val="0891B2"/>
                </a:solidFill>
                <a:latin typeface="Space Grotesk"/>
                <a:ea typeface="Space Grotesk"/>
              </a:rPr>
              <a:t>分</a:t>
            </a:r>
            <a:r>
              <a:rPr lang="en-US" sz="1800" b="1">
                <a:solidFill>
                  <a:srgbClr val="0891B2"/>
                </a:solidFill>
                <a:latin typeface="Space Grotesk"/>
                <a:ea typeface="Space Grotesk"/>
              </a:rPr>
              <a:t>/</a:t>
            </a:r>
            <a:r>
              <a:rPr lang="zh-CN" sz="1800" b="1">
                <a:solidFill>
                  <a:srgbClr val="0891B2"/>
                </a:solidFill>
                <a:latin typeface="Space Grotesk"/>
                <a:ea typeface="Space Grotesk"/>
              </a:rPr>
              <a:t>件（均值）</a:t>
            </a:r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4591050" y="2466975"/>
            <a:ext cx="3009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看</a:t>
            </a:r>
            <a:r>
              <a:rPr lang="en-US" sz="1050">
                <a:solidFill>
                  <a:srgbClr val="43566B"/>
                </a:solidFill>
                <a:latin typeface="PingFang SC"/>
                <a:ea typeface="PingFang SC"/>
              </a:rPr>
              <a:t> 90 </a:t>
            </a: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分位才真实</a:t>
            </a:r>
            <a:endParaRPr/>
          </a:p>
        </p:txBody>
      </p:sp>
      <p:sp>
        <p:nvSpPr>
          <p:cNvPr id="197" name=""/>
          <p:cNvSpPr/>
          <p:nvPr/>
        </p:nvSpPr>
        <p:spPr>
          <a:xfrm rot="0" flipH="0" flipV="0">
            <a:off x="4591050" y="2628900"/>
            <a:ext cx="3009900" cy="342900"/>
          </a:xfrm>
          <a:custGeom>
            <a:pathLst>
              <a:path w="316" h="36">
                <a:moveTo>
                  <a:pt x="0" y="0"/>
                </a:moveTo>
                <a:lnTo>
                  <a:pt x="316" y="0"/>
                </a:lnTo>
                <a:lnTo>
                  <a:pt x="316" y="2"/>
                </a:lnTo>
                <a:lnTo>
                  <a:pt x="0" y="2"/>
                </a:lnTo>
                <a:close/>
              </a:path>
            </a:pathLst>
          </a:custGeom>
          <a:solidFill>
            <a:srgbClr val="EAF1F8"/>
          </a:solidFill>
          <a:ln/>
        </p:spPr>
        <p:txBody>
          <a:bodyPr/>
          <a:p/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4591050" y="2781300"/>
            <a:ext cx="3009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64748B"/>
                </a:solidFill>
                <a:latin typeface="PingFang SC"/>
                <a:ea typeface="PingFang SC"/>
              </a:rPr>
              <a:t>我们管</a:t>
            </a:r>
            <a:endParaRPr/>
          </a:p>
        </p:txBody>
      </p:sp>
      <p:sp>
        <p:nvSpPr>
          <p:cNvPr id="199" name=""/>
          <p:cNvSpPr/>
          <p:nvPr/>
        </p:nvSpPr>
        <p:spPr>
          <a:xfrm rot="0" flipH="0" flipV="0">
            <a:off x="8039100" y="1295400"/>
            <a:ext cx="3467100" cy="1885950"/>
          </a:xfrm>
          <a:prstGeom prst="roundRect">
            <a:avLst>
              <a:gd name="adj" fmla="val 80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>
              <a:srgbClr val="1E3A8A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00" name=""/>
          <p:cNvSpPr/>
          <p:nvPr/>
        </p:nvSpPr>
        <p:spPr>
          <a:xfrm rot="0" flipH="0" flipV="0">
            <a:off x="8267700" y="1524000"/>
            <a:ext cx="495300" cy="495300"/>
          </a:xfrm>
          <a:prstGeom prst="roundRect">
            <a:avLst>
              <a:gd name="adj" fmla="val 25000"/>
            </a:avLst>
          </a:prstGeom>
          <a:solidFill>
            <a:srgbClr val="E0F7FA"/>
          </a:solidFill>
          <a:ln/>
        </p:spPr>
        <p:txBody>
          <a:bodyPr/>
          <a:p/>
        </p:txBody>
      </p:sp>
      <p:pic>
        <p:nvPicPr>
          <p:cNvPr id="20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8391525" y="1647825"/>
            <a:ext cx="247650" cy="247650"/>
          </a:xfrm>
          <a:prstGeom prst="rect">
            <a:avLst/>
          </a:prstGeom>
          <a:ln/>
        </p:spPr>
      </p:pic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8877300" y="1562100"/>
            <a:ext cx="12001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1E3A8A"/>
                </a:solidFill>
                <a:latin typeface="PingFang SC"/>
                <a:ea typeface="PingFang SC"/>
              </a:rPr>
              <a:t>Lead </a:t>
            </a:r>
            <a:r>
              <a:rPr lang="zh-CN" sz="1575" b="1">
                <a:solidFill>
                  <a:srgbClr val="1E3A8A"/>
                </a:solidFill>
                <a:latin typeface="PingFang SC"/>
                <a:ea typeface="PingFang SC"/>
              </a:rPr>
              <a:t>提前期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8877300" y="1828800"/>
            <a:ext cx="1200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下订单到交货要多久</a:t>
            </a:r>
            <a:endParaRPr/>
          </a:p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8267700" y="2133600"/>
            <a:ext cx="30099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891B2"/>
                </a:solidFill>
                <a:latin typeface="Space Grotesk"/>
                <a:ea typeface="Space Grotesk"/>
              </a:rPr>
              <a:t>以天计</a:t>
            </a:r>
            <a:endParaRPr/>
          </a:p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8267700" y="2466975"/>
            <a:ext cx="3009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预测</a:t>
            </a:r>
            <a:r>
              <a:rPr lang="en-US" sz="1050">
                <a:solidFill>
                  <a:srgbClr val="43566B"/>
                </a:solidFill>
                <a:latin typeface="PingFang SC"/>
                <a:ea typeface="PingFang SC"/>
              </a:rPr>
              <a:t> + </a:t>
            </a: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看板主战场</a:t>
            </a:r>
            <a:endParaRPr/>
          </a:p>
        </p:txBody>
      </p:sp>
      <p:sp>
        <p:nvSpPr>
          <p:cNvPr id="206" name=""/>
          <p:cNvSpPr/>
          <p:nvPr/>
        </p:nvSpPr>
        <p:spPr>
          <a:xfrm rot="0" flipH="0" flipV="0">
            <a:off x="8267700" y="2628900"/>
            <a:ext cx="3009900" cy="342900"/>
          </a:xfrm>
          <a:custGeom>
            <a:pathLst>
              <a:path w="316" h="36">
                <a:moveTo>
                  <a:pt x="0" y="0"/>
                </a:moveTo>
                <a:lnTo>
                  <a:pt x="316" y="0"/>
                </a:lnTo>
                <a:lnTo>
                  <a:pt x="316" y="2"/>
                </a:lnTo>
                <a:lnTo>
                  <a:pt x="0" y="2"/>
                </a:lnTo>
                <a:close/>
              </a:path>
            </a:pathLst>
          </a:custGeom>
          <a:solidFill>
            <a:srgbClr val="EAF1F8"/>
          </a:solidFill>
          <a:ln/>
        </p:spPr>
        <p:txBody>
          <a:bodyPr/>
          <a:p/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8267700" y="2781300"/>
            <a:ext cx="3009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64748B"/>
                </a:solidFill>
                <a:latin typeface="PingFang SC"/>
                <a:ea typeface="PingFang SC"/>
              </a:rPr>
              <a:t>AI </a:t>
            </a:r>
            <a:r>
              <a:rPr lang="zh-CN" sz="1125" b="1">
                <a:solidFill>
                  <a:srgbClr val="64748B"/>
                </a:solidFill>
                <a:latin typeface="PingFang SC"/>
                <a:ea typeface="PingFang SC"/>
              </a:rPr>
              <a:t>压缩</a:t>
            </a:r>
            <a:endParaRPr/>
          </a:p>
        </p:txBody>
      </p:sp>
      <p:sp>
        <p:nvSpPr>
          <p:cNvPr id="208" name=""/>
          <p:cNvSpPr/>
          <p:nvPr/>
        </p:nvSpPr>
        <p:spPr>
          <a:xfrm rot="0" flipH="0" flipV="0">
            <a:off x="685800" y="3371850"/>
            <a:ext cx="5829300" cy="2781300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933450" y="4095750"/>
            <a:ext cx="5334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E3A8A"/>
                </a:solidFill>
                <a:latin typeface="PingFang SC"/>
                <a:ea typeface="PingFang SC"/>
              </a:rPr>
              <a:t>算一遍节拍</a:t>
            </a:r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933450" y="4429125"/>
            <a:ext cx="5334000" cy="3048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950" b="1">
                <a:solidFill>
                  <a:srgbClr val="1E3A8A"/>
                </a:solidFill>
                <a:latin typeface="Space Grotesk"/>
                <a:ea typeface="Space Grotesk"/>
              </a:rPr>
              <a:t>420 </a:t>
            </a:r>
            <a:r>
              <a:rPr lang="zh-CN" sz="1950" b="1">
                <a:solidFill>
                  <a:srgbClr val="1E3A8A"/>
                </a:solidFill>
                <a:latin typeface="Space Grotesk"/>
                <a:ea typeface="Space Grotesk"/>
              </a:rPr>
              <a:t>分钟</a:t>
            </a:r>
            <a:r>
              <a:rPr lang="en-US" sz="1950" b="1">
                <a:solidFill>
                  <a:srgbClr val="1E3A8A"/>
                </a:solidFill>
                <a:latin typeface="Space Grotesk"/>
                <a:ea typeface="Space Grotesk"/>
              </a:rPr>
              <a:t> ÷ 210 </a:t>
            </a:r>
            <a:r>
              <a:rPr lang="zh-CN" sz="1950" b="1">
                <a:solidFill>
                  <a:srgbClr val="1E3A8A"/>
                </a:solidFill>
                <a:latin typeface="Space Grotesk"/>
                <a:ea typeface="Space Grotesk"/>
              </a:rPr>
              <a:t>件</a:t>
            </a:r>
            <a:r>
              <a:rPr lang="en-US" sz="1950" b="1">
                <a:solidFill>
                  <a:srgbClr val="1E3A8A"/>
                </a:solidFill>
                <a:latin typeface="Space Grotesk"/>
                <a:ea typeface="Space Grotesk"/>
              </a:rPr>
              <a:t> = 2.0 </a:t>
            </a:r>
            <a:r>
              <a:rPr lang="zh-CN" sz="1950" b="1">
                <a:solidFill>
                  <a:srgbClr val="1E3A8A"/>
                </a:solidFill>
                <a:latin typeface="Space Grotesk"/>
                <a:ea typeface="Space Grotesk"/>
              </a:rPr>
              <a:t>分</a:t>
            </a:r>
            <a:r>
              <a:rPr lang="en-US" sz="1950" b="1">
                <a:solidFill>
                  <a:srgbClr val="1E3A8A"/>
                </a:solidFill>
                <a:latin typeface="Space Grotesk"/>
                <a:ea typeface="Space Grotesk"/>
              </a:rPr>
              <a:t>/</a:t>
            </a:r>
            <a:r>
              <a:rPr lang="zh-CN" sz="1950" b="1">
                <a:solidFill>
                  <a:srgbClr val="1E3A8A"/>
                </a:solidFill>
                <a:latin typeface="Space Grotesk"/>
                <a:ea typeface="Space Grotesk"/>
              </a:rPr>
              <a:t>件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933450" y="4848225"/>
            <a:ext cx="5334000" cy="590550"/>
          </a:xfrm>
          <a:prstGeom prst="rect"/>
        </p:spPr>
        <p:txBody>
          <a:bodyPr wrap="none" lIns="0" tIns="0" rIns="0" bIns="0"/>
          <a:p>
            <a:pPr algn="ctr">
              <a:lnSpc>
                <a:spcPct val="170000"/>
              </a:lnSpc>
            </a:pPr>
            <a:r>
              <a:rPr lang="zh-CN" sz="1125">
                <a:solidFill>
                  <a:srgbClr val="64748B"/>
                </a:solidFill>
                <a:latin typeface="PingFang SC"/>
                <a:ea typeface="PingFang SC"/>
              </a:rPr>
              <a:t>客户一天要</a:t>
            </a:r>
            <a:r>
              <a:rPr lang="en-US" sz="1125">
                <a:solidFill>
                  <a:srgbClr val="64748B"/>
                </a:solidFill>
                <a:latin typeface="PingFang SC"/>
                <a:ea typeface="PingFang SC"/>
              </a:rPr>
              <a:t> 210 </a:t>
            </a:r>
            <a:r>
              <a:rPr lang="zh-CN" sz="1125">
                <a:solidFill>
                  <a:srgbClr val="64748B"/>
                </a:solidFill>
                <a:latin typeface="PingFang SC"/>
                <a:ea typeface="PingFang SC"/>
              </a:rPr>
              <a:t>件，有效生产</a:t>
            </a:r>
            <a:r>
              <a:rPr lang="en-US" sz="1125">
                <a:solidFill>
                  <a:srgbClr val="64748B"/>
                </a:solidFill>
                <a:latin typeface="PingFang SC"/>
                <a:ea typeface="PingFang SC"/>
              </a:rPr>
              <a:t> 420 </a:t>
            </a:r>
            <a:r>
              <a:rPr lang="zh-CN" sz="1125">
                <a:solidFill>
                  <a:srgbClr val="64748B"/>
                </a:solidFill>
                <a:latin typeface="PingFang SC"/>
                <a:ea typeface="PingFang SC"/>
              </a:rPr>
              <a:t>分钟</a:t>
            </a:r>
            <a:r>
              <a:rPr lang="en-US" sz="1125">
                <a:solidFill>
                  <a:srgbClr val="64748B"/>
                </a:solidFill>
                <a:latin typeface="PingFang SC"/>
                <a:ea typeface="PingFang SC"/>
              </a:rPr>
              <a:t> ——</a:t>
            </a:r>
            <a:endParaRPr/>
          </a:p>
          <a:p>
            <a:pPr algn="ctr">
              <a:lnSpc>
                <a:spcPct val="170000"/>
              </a:lnSpc>
            </a:pPr>
            <a:r>
              <a:rPr lang="zh-CN" sz="1125">
                <a:solidFill>
                  <a:srgbClr val="64748B"/>
                </a:solidFill>
                <a:latin typeface="PingFang SC"/>
                <a:ea typeface="PingFang SC"/>
              </a:rPr>
              <a:t>每</a:t>
            </a:r>
            <a:r>
              <a:rPr lang="en-US" sz="1125">
                <a:solidFill>
                  <a:srgbClr val="64748B"/>
                </a:solidFill>
                <a:latin typeface="PingFang SC"/>
                <a:ea typeface="PingFang SC"/>
              </a:rPr>
              <a:t> 2 </a:t>
            </a:r>
            <a:r>
              <a:rPr lang="zh-CN" sz="1125">
                <a:solidFill>
                  <a:srgbClr val="64748B"/>
                </a:solidFill>
                <a:latin typeface="PingFang SC"/>
                <a:ea typeface="PingFang SC"/>
              </a:rPr>
              <a:t>分钟必须下线</a:t>
            </a:r>
            <a:r>
              <a:rPr lang="en-US" sz="1125">
                <a:solidFill>
                  <a:srgbClr val="64748B"/>
                </a:solidFill>
                <a:latin typeface="PingFang SC"/>
                <a:ea typeface="PingFang SC"/>
              </a:rPr>
              <a:t> 1 </a:t>
            </a:r>
            <a:r>
              <a:rPr lang="zh-CN" sz="1125">
                <a:solidFill>
                  <a:srgbClr val="64748B"/>
                </a:solidFill>
                <a:latin typeface="PingFang SC"/>
                <a:ea typeface="PingFang SC"/>
              </a:rPr>
              <a:t>件合格品，这是整条线的「心跳」。</a:t>
            </a:r>
            <a:endParaRPr/>
          </a:p>
        </p:txBody>
      </p:sp>
      <p:sp>
        <p:nvSpPr>
          <p:cNvPr id="212" name=""/>
          <p:cNvSpPr/>
          <p:nvPr/>
        </p:nvSpPr>
        <p:spPr>
          <a:xfrm rot="0" flipH="0" flipV="0">
            <a:off x="6743700" y="3371850"/>
            <a:ext cx="4762500" cy="2781300"/>
          </a:xfrm>
          <a:prstGeom prst="roundRect">
            <a:avLst>
              <a:gd name="adj" fmla="val 6164"/>
            </a:avLst>
          </a:prstGeom>
          <a:solidFill>
            <a:srgbClr val="1E3A8A"/>
          </a:solidFill>
          <a:ln/>
          <a:effectLst>
            <a:outerShdw blurRad="266700" dist="76200" dir="5400000">
              <a:srgbClr val="1E3A8A">
                <a:alpha val="18000"/>
              </a:srgbClr>
            </a:outerShdw>
          </a:effectLst>
        </p:spPr>
        <p:txBody>
          <a:bodyPr/>
          <a:p/>
        </p:txBody>
      </p:sp>
      <p:pic>
        <p:nvPicPr>
          <p:cNvPr id="213" name=""/>
          <p:cNvPicPr>
            <a:picLocks noChangeAspect="1"/>
          </p:cNvPicPr>
          <p:nvPr/>
        </p:nvPicPr>
        <p:blipFill>
          <a:blip r:embed="rId4"/>
          <a:srcRect l="0" t="20800" r="0" b="20800"/>
          <a:stretch>
            <a:fillRect/>
          </a:stretch>
        </p:blipFill>
        <p:spPr>
          <a:xfrm rot="0" flipH="0" flipV="0">
            <a:off x="6743700" y="3371850"/>
            <a:ext cx="4762500" cy="2781300"/>
          </a:xfrm>
          <a:custGeom>
            <a:pathLst>
              <a:path w="500" h="292">
                <a:moveTo>
                  <a:pt x="482" y="0"/>
                </a:moveTo>
                <a:cubicBezTo>
                  <a:pt x="492" y="0"/>
                  <a:pt x="500" y="8"/>
                  <a:pt x="500" y="18"/>
                </a:cubicBezTo>
                <a:lnTo>
                  <a:pt x="500" y="274"/>
                </a:lnTo>
                <a:cubicBezTo>
                  <a:pt x="500" y="284"/>
                  <a:pt x="492" y="292"/>
                  <a:pt x="482" y="292"/>
                </a:cubicBezTo>
                <a:lnTo>
                  <a:pt x="18" y="292"/>
                </a:lnTo>
                <a:cubicBezTo>
                  <a:pt x="8" y="292"/>
                  <a:pt x="0" y="284"/>
                  <a:pt x="0" y="274"/>
                </a:cubicBezTo>
                <a:lnTo>
                  <a:pt x="0" y="18"/>
                </a:lnTo>
                <a:cubicBezTo>
                  <a:pt x="0" y="8"/>
                  <a:pt x="8" y="0"/>
                  <a:pt x="18" y="0"/>
                </a:cubicBezTo>
                <a:lnTo>
                  <a:pt x="482" y="0"/>
                </a:lnTo>
                <a:close/>
              </a:path>
            </a:pathLst>
          </a:custGeom>
          <a:ln/>
        </p:spPr>
      </p:pic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1123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AI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场景落地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中级</a:t>
            </a:r>
            <a:endParaRPr/>
          </a:p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11049000" y="63627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16 / 34</a:t>
            </a:r>
            <a:endParaRPr/>
          </a:p>
        </p:txBody>
      </p:sp>
    </p:spTree>
  </p:cSld>
</p:sld>
</file>

<file path=ppt/slides/slide17.xml><?xml version="1.0" encoding="utf-8"?>
<p:sld xmlns:a="http://schemas.openxmlformats.org/drawingml/2006/main" xmlns:p="http://schemas.openxmlformats.org/presentationml/2006/main">
  <p:cSld>
    <p:spTree>
      <p:nvGrpSpPr>
        <p:cNvPr id="216" name="" descr="&lt;Slide style={{ width: '1280px', height: '720px', background: '#F5F8FC', padding: '24px 72px', boxSizing: 'border-box', flexDirection: 'column', fontFamily: 'PingFang SC, Source Han Sans SC, sans-serif' }}&gt;&#10;    &lt;Box style={{ height: 96, flexDirection: 'row', alignItems: 'center', gap: 16 }}&gt;&#10;        &lt;Box style={{ width: 5, height: 46, background: '#06B6D4', borderRadius: 3 }} /&gt;&#10;        &lt;Box&gt;&#10;            &lt;Text style={{ fontSize: 34, fontWeight: 'bold', color: '#1E3A8A', lineHeight: 1.2 }}&gt;均值陷阱：看着稳，其实在爆线&lt;/Text&gt;&#10;            &lt;Text style={{ fontSize: 17, color: '#64748B', marginTop: 4 }}&gt;用均值做决策，会把最危险的那 10% 藏起来&lt;/Text&gt;&#10;        &lt;/Box&gt;&#10;    &lt;/Box&gt;&#10;    &lt;Box style={{ flex: 1, flexDirection: 'row', gap: 24, marginTop: 14 }}&gt;&#10;        &lt;Box style={{ flex: 1, background: '#FFFFFF', borderRadius: 18, padding: '26px 30px', border: '1px solid #E2E8F0', flexDirection: 'column', alignItems: 'center', justifyContent: 'center' }}&gt;&#10;            &lt;Text style={{ fontSize: 16, color: '#64748B' }}&gt;工序周期均值&lt;/Text&gt;&#10;            &lt;Text style={{ fontSize: 68, fontWeight: 'bold', color: '#059669', fontFamily: 'Space Grotesk, Inter', marginTop: 8 }}&gt;1.8&lt;/Text&gt;&#10;            &lt;Text style={{ fontSize: 18, color: '#43566b' }}&gt;分钟/件&lt;/Text&gt;&#10;            &lt;Box style={{ marginTop: 16, padding: '8px 18px', background: '#EDF3FB', borderRadius: 999 }}&gt;&#10;                &lt;Text style={{ fontSize: 15, color: '#64748B' }}&gt;＜ 节拍 2.0，「产能够」的错觉&lt;/Text&gt;&#10;            &lt;/Box&gt;&#10;        &lt;/Box&gt;&#10;        &lt;Box style={{ width: 90, justifyContent: 'center', alignItems: 'center' }}&gt;&#10;            &lt;Text style={{ fontSize: 44, fontWeight: 'bold', color: '#F59E0B', fontFamily: 'Space Grotesk, Inter' }}&gt;→&lt;/Text&gt;&#10;        &lt;/Box&gt;&#10;        &lt;Box style={{ flex: 1, background: '#1E3A8A', borderRadius: 18, padding: '26px 30px', flexDirection: 'column', alignItems: 'center', justifyContent: 'center', boxShadow: '0 8px 28px rgba(30,58,138,0.25)' }}&gt;&#10;            &lt;Text style={{ fontSize: 16, color: '#7FD9F0' }}&gt;90 分位周期（真实尾部）&lt;/Text&gt;&#10;            &lt;Text style={{ fontSize: 68, fontWeight: 'bold', color: '#F8C471', fontFamily: 'Space Grotesk, Inter', marginTop: 8 }}&gt;2.4&lt;/Text&gt;&#10;            &lt;Text style={{ fontSize: 18, color: '#DCE9FB' }}&gt;分钟/件&lt;/Text&gt;&#10;            &lt;Box style={{ marginTop: 16, padding: '8px 18px', background: '#F59E0B', borderRadius: 999 }}&gt;&#10;                &lt;Text style={{ fontSize: 15, fontWeight: 'bold', color: '#FFFFFF' }}&gt;＞ 节拍 2.0 → 每 10 件就有 1 件爆线&lt;/Text&gt;&#10;            &lt;/Box&gt;&#10;        &lt;/Box&gt;&#10;    &lt;/Box&gt;&#10;    &lt;Box style={{ flexDirection: 'row', gap: 24, marginTop: 22 }}&gt;&#10;        &lt;Box style={{ flex: 1, padding: '18px 26px', background: '#FEEFE0', borderRadius: 14, border: '1px solid #FDE7C8' }}&gt;&#10;            &lt;Text style={{ fontSize: 20, fontWeight: 'bold', color: '#B45309' }}&gt;结论：先稳过程，再买产能&lt;/Text&gt;&#10;            &lt;Text style={{ fontSize: 15, color: '#43566b', marginTop: 8, lineHeight: 1.7 }}&gt;花几万元把周期波动压下来，比花几百万元加设备更划算 —— AI 在这里补「异常预警 + 波动归因」位。&lt;/Text&gt;&#10;        &lt;/Box&gt;&#10;        &lt;Box style={{ flex: 1, padding: '18px 26px', background: '#FFFFFF', borderRadius: 14, border: '1px solid #E2E8F0' }}&gt;&#10;            &lt;Text style={{ fontSize: 20, fontWeight: 'bold', color: '#1E3A8A' }}&gt;ABC 分类 + 关键度覆写&lt;/Text&gt;&#10;            &lt;Text style={{ fontSize: 15, color: '#43566b', marginTop: 8, lineHeight: 1.7 }}&gt;A 类高值物料 → AI 重点盯；C 类简单件 → 别浪费算力。&lt;br /&gt;但安全 / 质量红线可把 C 件「覆写」升级为重点 —— 价值维度之上还有风险维度。&lt;/Text&gt;&#10;        &lt;/Box&gt;&#10;    &lt;/Box&gt;&#10;    &lt;Box style={{ height: 40, flexDirection: 'row', justifyContent: 'space-between', alignItems: 'center', marginTop: 12 }}&gt;&#10;        &lt;Text style={{ fontSize: 14, color: '#64748B' }}&gt;AI 场景落地 · 中级&lt;/Text&gt;&#10;        &lt;Text style={{ fontSize: 14, color: '#64748B' }}&gt;17 / 34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/>
        </p:spPr>
        <p:txBody>
          <a:bodyPr/>
          <a:p/>
        </p:txBody>
      </p:sp>
      <p:sp>
        <p:nvSpPr>
          <p:cNvPr id="218" name=""/>
          <p:cNvSpPr/>
          <p:nvPr/>
        </p:nvSpPr>
        <p:spPr>
          <a:xfrm rot="0" flipH="0" flipV="0">
            <a:off x="685800" y="466725"/>
            <a:ext cx="47625" cy="438150"/>
          </a:xfrm>
          <a:prstGeom prst="roundRect">
            <a:avLst>
              <a:gd name="adj" fmla="val 60000"/>
            </a:avLst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885825" y="333375"/>
            <a:ext cx="45339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>均值陷阱：看着稳，其实在爆线</a:t>
            </a:r>
            <a:endParaRPr/>
          </a:p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885825" y="838200"/>
            <a:ext cx="4533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用均值做决策，会把最危险的那</a:t>
            </a:r>
            <a:r>
              <a:rPr lang="en-US" sz="1275">
                <a:solidFill>
                  <a:srgbClr val="64748B"/>
                </a:solidFill>
                <a:latin typeface="PingFang SC"/>
                <a:ea typeface="PingFang SC"/>
              </a:rPr>
              <a:t> 10% </a:t>
            </a: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藏起来</a:t>
            </a:r>
            <a:endParaRPr/>
          </a:p>
        </p:txBody>
      </p:sp>
      <p:sp>
        <p:nvSpPr>
          <p:cNvPr id="221" name=""/>
          <p:cNvSpPr/>
          <p:nvPr/>
        </p:nvSpPr>
        <p:spPr>
          <a:xfrm rot="0" flipH="0" flipV="0">
            <a:off x="685800" y="1276350"/>
            <a:ext cx="4752975" cy="3124200"/>
          </a:xfrm>
          <a:prstGeom prst="roundRect">
            <a:avLst>
              <a:gd name="adj" fmla="val 548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2609850" y="1971675"/>
            <a:ext cx="914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PingFang SC"/>
                <a:ea typeface="PingFang SC"/>
              </a:rPr>
              <a:t>工序周期均值</a:t>
            </a:r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2609850" y="2238375"/>
            <a:ext cx="904875" cy="7810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100" b="1">
                <a:solidFill>
                  <a:srgbClr val="059669"/>
                </a:solidFill>
                <a:latin typeface="Space Grotesk"/>
                <a:ea typeface="Space Grotesk"/>
              </a:rPr>
              <a:t>1.8</a:t>
            </a:r>
            <a:endParaRPr/>
          </a:p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2762250" y="3019425"/>
            <a:ext cx="6000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3566B"/>
                </a:solidFill>
                <a:latin typeface="PingFang SC"/>
                <a:ea typeface="PingFang SC"/>
              </a:rPr>
              <a:t>分钟</a:t>
            </a:r>
            <a:r>
              <a:rPr lang="en-US" sz="1350">
                <a:solidFill>
                  <a:srgbClr val="43566B"/>
                </a:solidFill>
                <a:latin typeface="PingFang SC"/>
                <a:ea typeface="PingFang SC"/>
              </a:rPr>
              <a:t>/</a:t>
            </a:r>
            <a:r>
              <a:rPr lang="zh-CN" sz="1350">
                <a:solidFill>
                  <a:srgbClr val="43566B"/>
                </a:solidFill>
                <a:latin typeface="PingFang SC"/>
                <a:ea typeface="PingFang SC"/>
              </a:rPr>
              <a:t>件</a:t>
            </a:r>
            <a:endParaRPr/>
          </a:p>
        </p:txBody>
      </p:sp>
      <p:sp>
        <p:nvSpPr>
          <p:cNvPr id="225" name=""/>
          <p:cNvSpPr/>
          <p:nvPr/>
        </p:nvSpPr>
        <p:spPr>
          <a:xfrm rot="0" flipH="0" flipV="0">
            <a:off x="1885950" y="3381375"/>
            <a:ext cx="2362200" cy="323850"/>
          </a:xfrm>
          <a:prstGeom prst="roundRect">
            <a:avLst>
              <a:gd name="adj" fmla="val 2938235"/>
            </a:avLst>
          </a:prstGeom>
          <a:solidFill>
            <a:srgbClr val="EDF3FB"/>
          </a:solidFill>
          <a:ln/>
        </p:spPr>
        <p:txBody>
          <a:bodyPr/>
          <a:p/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2057400" y="3457575"/>
            <a:ext cx="2019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PingFang SC"/>
                <a:ea typeface="PingFang SC"/>
              </a:rPr>
              <a:t>＜</a:t>
            </a:r>
            <a:r>
              <a:rPr lang="en-US" sz="1125">
                <a:solidFill>
                  <a:srgbClr val="64748B"/>
                </a:solidFill>
                <a:latin typeface="PingFang SC"/>
                <a:ea typeface="PingFang SC"/>
              </a:rPr>
              <a:t> </a:t>
            </a:r>
            <a:r>
              <a:rPr lang="zh-CN" sz="1125">
                <a:solidFill>
                  <a:srgbClr val="64748B"/>
                </a:solidFill>
                <a:latin typeface="PingFang SC"/>
                <a:ea typeface="PingFang SC"/>
              </a:rPr>
              <a:t>节拍</a:t>
            </a:r>
            <a:r>
              <a:rPr lang="en-US" sz="1125">
                <a:solidFill>
                  <a:srgbClr val="64748B"/>
                </a:solidFill>
                <a:latin typeface="PingFang SC"/>
                <a:ea typeface="PingFang SC"/>
              </a:rPr>
              <a:t> 2.0</a:t>
            </a:r>
            <a:r>
              <a:rPr lang="zh-CN" sz="1125">
                <a:solidFill>
                  <a:srgbClr val="64748B"/>
                </a:solidFill>
                <a:latin typeface="PingFang SC"/>
                <a:ea typeface="PingFang SC"/>
              </a:rPr>
              <a:t>，「产能够」的错觉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5886450" y="2590800"/>
            <a:ext cx="41910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3300" b="1">
                <a:solidFill>
                  <a:srgbClr val="F59E0B"/>
                </a:solidFill>
                <a:latin typeface="Space Grotesk"/>
                <a:ea typeface="Space Grotesk"/>
              </a:rPr>
              <a:t>→</a:t>
            </a:r>
            <a:endParaRPr/>
          </a:p>
        </p:txBody>
      </p:sp>
      <p:sp>
        <p:nvSpPr>
          <p:cNvPr id="228" name=""/>
          <p:cNvSpPr/>
          <p:nvPr/>
        </p:nvSpPr>
        <p:spPr>
          <a:xfrm rot="0" flipH="0" flipV="0">
            <a:off x="6753225" y="1276350"/>
            <a:ext cx="4752975" cy="3124200"/>
          </a:xfrm>
          <a:prstGeom prst="roundRect">
            <a:avLst>
              <a:gd name="adj" fmla="val 5488"/>
            </a:avLst>
          </a:prstGeom>
          <a:solidFill>
            <a:srgbClr val="1E3A8A"/>
          </a:solidFill>
          <a:ln/>
          <a:effectLst>
            <a:outerShdw blurRad="266700" dist="76200" dir="5400000">
              <a:srgbClr val="1E3A8A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8248650" y="1971675"/>
            <a:ext cx="17621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7FD9F0"/>
                </a:solidFill>
                <a:latin typeface="PingFang SC"/>
                <a:ea typeface="PingFang SC"/>
              </a:rPr>
              <a:t>90 </a:t>
            </a:r>
            <a:r>
              <a:rPr lang="zh-CN" sz="1200">
                <a:solidFill>
                  <a:srgbClr val="7FD9F0"/>
                </a:solidFill>
                <a:latin typeface="PingFang SC"/>
                <a:ea typeface="PingFang SC"/>
              </a:rPr>
              <a:t>分位周期（真实尾部）</a:t>
            </a:r>
            <a:endParaRPr/>
          </a:p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8677275" y="2238375"/>
            <a:ext cx="904875" cy="7810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100" b="1">
                <a:solidFill>
                  <a:srgbClr val="F8C471"/>
                </a:solidFill>
                <a:latin typeface="Space Grotesk"/>
                <a:ea typeface="Space Grotesk"/>
              </a:rPr>
              <a:t>2.4</a:t>
            </a:r>
            <a:endParaRPr/>
          </a:p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8829675" y="3019425"/>
            <a:ext cx="6000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DCE9FB"/>
                </a:solidFill>
                <a:latin typeface="PingFang SC"/>
                <a:ea typeface="PingFang SC"/>
              </a:rPr>
              <a:t>分钟</a:t>
            </a:r>
            <a:r>
              <a:rPr lang="en-US" sz="1350">
                <a:solidFill>
                  <a:srgbClr val="DCE9FB"/>
                </a:solidFill>
                <a:latin typeface="PingFang SC"/>
                <a:ea typeface="PingFang SC"/>
              </a:rPr>
              <a:t>/</a:t>
            </a:r>
            <a:r>
              <a:rPr lang="zh-CN" sz="1350">
                <a:solidFill>
                  <a:srgbClr val="DCE9FB"/>
                </a:solidFill>
                <a:latin typeface="PingFang SC"/>
                <a:ea typeface="PingFang SC"/>
              </a:rPr>
              <a:t>件</a:t>
            </a:r>
            <a:endParaRPr/>
          </a:p>
        </p:txBody>
      </p:sp>
      <p:sp>
        <p:nvSpPr>
          <p:cNvPr id="232" name=""/>
          <p:cNvSpPr/>
          <p:nvPr/>
        </p:nvSpPr>
        <p:spPr>
          <a:xfrm rot="0" flipH="0" flipV="0">
            <a:off x="7772400" y="3381375"/>
            <a:ext cx="2714625" cy="323850"/>
          </a:xfrm>
          <a:prstGeom prst="roundRect">
            <a:avLst>
              <a:gd name="adj" fmla="val 2938235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7943850" y="3457575"/>
            <a:ext cx="2371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PingFang SC"/>
                <a:ea typeface="PingFang SC"/>
              </a:rPr>
              <a:t>＞</a:t>
            </a:r>
            <a:r>
              <a:rPr lang="en-US" sz="1125" b="1">
                <a:solidFill>
                  <a:srgbClr val="FFFFFF"/>
                </a:solidFill>
                <a:latin typeface="PingFang SC"/>
                <a:ea typeface="PingFang SC"/>
              </a:rPr>
              <a:t> </a:t>
            </a:r>
            <a:r>
              <a:rPr lang="zh-CN" sz="1125" b="1">
                <a:solidFill>
                  <a:srgbClr val="FFFFFF"/>
                </a:solidFill>
                <a:latin typeface="PingFang SC"/>
                <a:ea typeface="PingFang SC"/>
              </a:rPr>
              <a:t>节拍</a:t>
            </a:r>
            <a:r>
              <a:rPr lang="en-US" sz="1125" b="1">
                <a:solidFill>
                  <a:srgbClr val="FFFFFF"/>
                </a:solidFill>
                <a:latin typeface="PingFang SC"/>
                <a:ea typeface="PingFang SC"/>
              </a:rPr>
              <a:t> 2.0 → </a:t>
            </a:r>
            <a:r>
              <a:rPr lang="zh-CN" sz="1125" b="1">
                <a:solidFill>
                  <a:srgbClr val="FFFFFF"/>
                </a:solidFill>
                <a:latin typeface="PingFang SC"/>
                <a:ea typeface="PingFang SC"/>
              </a:rPr>
              <a:t>每</a:t>
            </a:r>
            <a:r>
              <a:rPr lang="en-US" sz="1125" b="1">
                <a:solidFill>
                  <a:srgbClr val="FFFFFF"/>
                </a:solidFill>
                <a:latin typeface="PingFang SC"/>
                <a:ea typeface="PingFang SC"/>
              </a:rPr>
              <a:t> 10 </a:t>
            </a:r>
            <a:r>
              <a:rPr lang="zh-CN" sz="1125" b="1">
                <a:solidFill>
                  <a:srgbClr val="FFFFFF"/>
                </a:solidFill>
                <a:latin typeface="PingFang SC"/>
                <a:ea typeface="PingFang SC"/>
              </a:rPr>
              <a:t>件就有</a:t>
            </a:r>
            <a:r>
              <a:rPr lang="en-US" sz="1125" b="1">
                <a:solidFill>
                  <a:srgbClr val="FFFFFF"/>
                </a:solidFill>
                <a:latin typeface="PingFang SC"/>
                <a:ea typeface="PingFang SC"/>
              </a:rPr>
              <a:t> 1 </a:t>
            </a:r>
            <a:r>
              <a:rPr lang="zh-CN" sz="1125" b="1">
                <a:solidFill>
                  <a:srgbClr val="FFFFFF"/>
                </a:solidFill>
                <a:latin typeface="PingFang SC"/>
                <a:ea typeface="PingFang SC"/>
              </a:rPr>
              <a:t>件爆线</a:t>
            </a:r>
            <a:endParaRPr/>
          </a:p>
        </p:txBody>
      </p:sp>
      <p:sp>
        <p:nvSpPr>
          <p:cNvPr id="234" name=""/>
          <p:cNvSpPr/>
          <p:nvPr/>
        </p:nvSpPr>
        <p:spPr>
          <a:xfrm rot="0" flipH="0" flipV="0">
            <a:off x="685800" y="4610100"/>
            <a:ext cx="5295900" cy="1524000"/>
          </a:xfrm>
          <a:prstGeom prst="roundRect">
            <a:avLst>
              <a:gd name="adj" fmla="val 8750"/>
            </a:avLst>
          </a:prstGeom>
          <a:solidFill>
            <a:srgbClr val="FEEFE0"/>
          </a:solidFill>
          <a:ln w="12700">
            <a:solidFill>
              <a:srgbClr val="FDE7C8"/>
            </a:solidFill>
            <a:prstDash val="solid"/>
          </a:ln>
        </p:spPr>
        <p:txBody>
          <a:bodyPr/>
          <a:p/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933450" y="4781550"/>
            <a:ext cx="4800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B45309"/>
                </a:solidFill>
                <a:latin typeface="PingFang SC"/>
                <a:ea typeface="PingFang SC"/>
              </a:rPr>
              <a:t>结论：先稳过程，再买产能</a:t>
            </a:r>
            <a:endParaRPr/>
          </a:p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933450" y="5086350"/>
            <a:ext cx="48006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花几万元把周期波动压下来，比花几百万元加系统更划算</a:t>
            </a:r>
            <a:r>
              <a:rPr lang="en-US" sz="1125">
                <a:solidFill>
                  <a:srgbClr val="43566B"/>
                </a:solidFill>
                <a:latin typeface="PingFang SC"/>
                <a:ea typeface="PingFang SC"/>
              </a:rPr>
              <a:t> —— AI </a:t>
            </a: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在这里补「异常预警</a:t>
            </a:r>
            <a:r>
              <a:rPr lang="en-US" sz="1125">
                <a:solidFill>
                  <a:srgbClr val="43566B"/>
                </a:solidFill>
                <a:latin typeface="PingFang SC"/>
                <a:ea typeface="PingFang SC"/>
              </a:rPr>
              <a:t> + </a:t>
            </a: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波动归因」位。</a:t>
            </a:r>
            <a:endParaRPr/>
          </a:p>
        </p:txBody>
      </p:sp>
      <p:sp>
        <p:nvSpPr>
          <p:cNvPr id="237" name=""/>
          <p:cNvSpPr/>
          <p:nvPr/>
        </p:nvSpPr>
        <p:spPr>
          <a:xfrm rot="0" flipH="0" flipV="0">
            <a:off x="6210300" y="4610100"/>
            <a:ext cx="5295900" cy="152400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6457950" y="4781550"/>
            <a:ext cx="4800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E3A8A"/>
                </a:solidFill>
                <a:latin typeface="PingFang SC"/>
                <a:ea typeface="PingFang SC"/>
              </a:rPr>
              <a:t>ABC </a:t>
            </a:r>
            <a:r>
              <a:rPr lang="zh-CN" sz="1500" b="1">
                <a:solidFill>
                  <a:srgbClr val="1E3A8A"/>
                </a:solidFill>
                <a:latin typeface="PingFang SC"/>
                <a:ea typeface="PingFang SC"/>
              </a:rPr>
              <a:t>分类</a:t>
            </a:r>
            <a:r>
              <a:rPr lang="en-US" sz="1500" b="1">
                <a:solidFill>
                  <a:srgbClr val="1E3A8A"/>
                </a:solidFill>
                <a:latin typeface="PingFang SC"/>
                <a:ea typeface="PingFang SC"/>
              </a:rPr>
              <a:t> + </a:t>
            </a:r>
            <a:r>
              <a:rPr lang="zh-CN" sz="1500" b="1">
                <a:solidFill>
                  <a:srgbClr val="1E3A8A"/>
                </a:solidFill>
                <a:latin typeface="PingFang SC"/>
                <a:ea typeface="PingFang SC"/>
              </a:rPr>
              <a:t>关键度覆写</a:t>
            </a:r>
            <a:endParaRPr/>
          </a:p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6457950" y="5086350"/>
            <a:ext cx="4800600" cy="876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1125">
                <a:solidFill>
                  <a:srgbClr val="43566B"/>
                </a:solidFill>
                <a:latin typeface="PingFang SC"/>
                <a:ea typeface="PingFang SC"/>
              </a:rPr>
              <a:t>A </a:t>
            </a: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类高值资源</a:t>
            </a:r>
            <a:r>
              <a:rPr lang="en-US" sz="1125">
                <a:solidFill>
                  <a:srgbClr val="43566B"/>
                </a:solidFill>
                <a:latin typeface="PingFang SC"/>
                <a:ea typeface="PingFang SC"/>
              </a:rPr>
              <a:t> → AI </a:t>
            </a: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重点盯；</a:t>
            </a:r>
            <a:r>
              <a:rPr lang="en-US" sz="1125">
                <a:solidFill>
                  <a:srgbClr val="43566B"/>
                </a:solidFill>
                <a:latin typeface="PingFang SC"/>
                <a:ea typeface="PingFang SC"/>
              </a:rPr>
              <a:t>C </a:t>
            </a: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类简单件</a:t>
            </a:r>
            <a:r>
              <a:rPr lang="en-US" sz="1125">
                <a:solidFill>
                  <a:srgbClr val="43566B"/>
                </a:solidFill>
                <a:latin typeface="PingFang SC"/>
                <a:ea typeface="PingFang SC"/>
              </a:rPr>
              <a:t> → </a:t>
            </a: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别浪费算力。</a:t>
            </a:r>
            <a:endParaRPr/>
          </a:p>
          <a:p>
            <a:pPr>
              <a:lnSpc>
                <a:spcPct val="170000"/>
              </a:lnSpc>
            </a:pP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但安全</a:t>
            </a:r>
            <a:r>
              <a:rPr lang="en-US" sz="1125">
                <a:solidFill>
                  <a:srgbClr val="43566B"/>
                </a:solidFill>
                <a:latin typeface="PingFang SC"/>
                <a:ea typeface="PingFang SC"/>
              </a:rPr>
              <a:t> / </a:t>
            </a: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质量红线可把</a:t>
            </a:r>
            <a:r>
              <a:rPr lang="en-US" sz="1125">
                <a:solidFill>
                  <a:srgbClr val="43566B"/>
                </a:solidFill>
                <a:latin typeface="PingFang SC"/>
                <a:ea typeface="PingFang SC"/>
              </a:rPr>
              <a:t> C </a:t>
            </a: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件「覆写」升级为重点</a:t>
            </a:r>
            <a:r>
              <a:rPr lang="en-US" sz="1125">
                <a:solidFill>
                  <a:srgbClr val="43566B"/>
                </a:solidFill>
                <a:latin typeface="PingFang SC"/>
                <a:ea typeface="PingFang SC"/>
              </a:rPr>
              <a:t> —— </a:t>
            </a: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价值维度之上还有风险维度。</a:t>
            </a:r>
            <a:endParaRPr/>
          </a:p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1123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AI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场景落地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中级</a:t>
            </a:r>
            <a:endParaRPr/>
          </a:p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11058525" y="6362700"/>
            <a:ext cx="447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17 / 34</a:t>
            </a:r>
            <a:endParaRPr/>
          </a:p>
        </p:txBody>
      </p:sp>
    </p:spTree>
  </p:cSld>
</p:sld>
</file>

<file path=ppt/slides/slide18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242" name="" descr="&lt;Slide style={{ width: '1280px', height: '720px', background: '#F5F8FC', padding: '24px 72px', boxSizing: 'border-box', flexDirection: 'column', fontFamily: 'PingFang SC, Source Han Sans SC, sans-serif' }}&gt;&#10;    &lt;Box style={{ height: 96, flexDirection: 'row', alignItems: 'center', gap: 16 }}&gt;&#10;        &lt;Box style={{ width: 5, height: 46, background: '#06B6D4', borderRadius: 3 }} /&gt;&#10;        &lt;Box&gt;&#10;            &lt;Text style={{ fontSize: 34, fontWeight: 'bold', color: '#1E3A8A', lineHeight: 1.2 }}&gt;EBQ 与经济看板：数字怎么来的&lt;/Text&gt;&#10;            &lt;Text style={{ fontSize: 17, color: '#64748B', marginTop: 4 }}&gt;两个公式，把「拍脑袋定库存」变成「算出来才下料」&lt;/Text&gt;&#10;        &lt;/Box&gt;&#10;    &lt;/Box&gt;&#10;    &lt;Box style={{ flex: 1, flexDirection: 'row', gap: 24, marginTop: 14 }}&gt;&#10;        &lt;Box style={{ flex: 1, background: '#FFFFFF', borderRadius: 18, padding: '26px 30px', border: '1px solid #E2E8F0', flexDirection: 'column', boxShadow: '0 4px 16px rgba(30,58,138,0.06)' }}&gt;&#10;            &lt;Text style={{ fontSize: 17, color: '#64748B' }}&gt;经济批量 EBQ（采购/生产一批多少件最划算）&lt;/Text&gt;&#10;            &lt;Text style={{ fontSize: 60, fontWeight: 'bold', color: '#1E3A8A', fontFamily: 'Space Grotesk, Inter', marginTop: 14 }}&gt;≈ 1033 件&lt;/Text&gt;&#10;            &lt;Box style={{ marginTop: 18, padding: '14px 20px', background: '#F5F8FC', borderRadius: 12, border: '1px dashed #06B6D4' }}&gt;&#10;                &lt;Text style={{ fontSize: 17, color: '#0891B2', fontFamily: 'Space Grotesk, Inter' }}&gt;√(2 × 年需求 × 订货成本 ÷ 持有成本)&lt;/Text&gt;&#10;            &lt;/Box&gt;&#10;            &lt;Text style={{ fontSize: 15, color: '#43566b', marginTop: 16, lineHeight: 1.7 }}&gt;订货成本与持有成本打架：批越小订得勤（贵），批越大压库存（也贵）—— 平衡点就是 EBQ。&lt;br /&gt;&lt;span style={{ fontWeight: 'bold', color: '#B45309' }}&gt;AI 补位：需求波动时，EBQ 该每天重算，而不是年初算一次。&lt;/span&gt;&lt;/Text&gt;&#10;        &lt;/Box&gt;&#10;        &lt;Box style={{ flex: 1, background: '#1E3A8A', borderRadius: 18, padding: '26px 30px', flexDirection: 'column', boxShadow: '0 8px 28px rgba(30,58,138,0.25)' }}&gt;&#10;            &lt;Text style={{ fontSize: 17, color: '#7FD9F0' }}&gt;看板卡数（线上流动多少张卡最顺）&lt;/Text&gt;&#10;            &lt;Text style={{ fontSize: 60, fontWeight: 'bold', color: '#FFFFFF', fontFamily: 'Space Grotesk, Inter', marginTop: 14 }}&gt;22 张&lt;/Text&gt;&#10;            &lt;Box style={{ marginTop: 18, padding: '14px 20px', background: 'rgba(6,182,212,0.15)', borderRadius: 12, border: '1px solid rgba(6,182,212,0.5)' }}&gt;&#10;                &lt;Text style={{ fontSize: 16, color: '#7FD9F0', fontFamily: 'Space Grotesk, Inter' }}&gt;500 件/天 × 2 天 × 1.10 ÷ 50 件/卡&lt;/Text&gt;&#10;            &lt;/Box&gt;&#10;            &lt;Text style={{ fontSize: 15, color: '#DCE9FB', marginTop: 16, lineHeight: 1.7 }}&gt;需求 × 补货周期 × 保险系数 ÷ 容器容量。&lt;br /&gt;卡是「流动的许可证」—— 没有卡，上游不许生产。&lt;/Text&gt;&#10;        &lt;/Box&gt;&#10;    &lt;/Box&gt;&#10;    &lt;Box style={{ marginTop: 20, padding: '14px 24px', background: '#FEF2F2', borderRadius: 12, border: '1px solid #FECACA', flexDirection: 'row', alignItems: 'center', gap: 14 }}&gt;&#10;        &lt;FAIcon name=&quot;exclamation-triangle&quot; style={{ fill: '#DC2626', width: 22, height: 22 }} /&gt;&#10;        &lt;Text style={{ fontSize: 18, fontWeight: 'bold', color: '#DC2626' }}&gt;警语：「缺料就加卡」= 掩盖交期问题 —— 看板卡越加越多不是成绩，是仓库替供应商背锅的警报灯。&lt;/Text&gt;&#10;    &lt;/Box&gt;&#10;    &lt;Box style={{ height: 40, flexDirection: 'row', justifyContent: 'space-between', alignItems: 'center', marginTop: 10 }}&gt;&#10;        &lt;Text style={{ fontSize: 14, color: '#64748B' }}&gt;AI 场景落地 · 中级&lt;/Text&gt;&#10;        &lt;Text style={{ fontSize: 14, color: '#64748B' }}&gt;18 / 34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/>
        </p:spPr>
        <p:txBody>
          <a:bodyPr/>
          <a:p/>
        </p:txBody>
      </p:sp>
      <p:sp>
        <p:nvSpPr>
          <p:cNvPr id="244" name=""/>
          <p:cNvSpPr/>
          <p:nvPr/>
        </p:nvSpPr>
        <p:spPr>
          <a:xfrm rot="0" flipH="0" flipV="0">
            <a:off x="685800" y="466725"/>
            <a:ext cx="47625" cy="438150"/>
          </a:xfrm>
          <a:prstGeom prst="roundRect">
            <a:avLst>
              <a:gd name="adj" fmla="val 60000"/>
            </a:avLst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885825" y="333375"/>
            <a:ext cx="4676775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2550" b="1">
                <a:solidFill>
                  <a:srgbClr val="1E3A8A"/>
                </a:solidFill>
                <a:latin typeface="PingFang SC"/>
                <a:ea typeface="PingFang SC"/>
              </a:rPr>
              <a:t>EBQ </a:t>
            </a: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>与经济看板：数字怎么来的</a:t>
            </a:r>
            <a:endParaRPr/>
          </a:p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885825" y="838200"/>
            <a:ext cx="4676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两个公式，把「拍脑袋定库存」变成「算出来才下单」</a:t>
            </a:r>
            <a:endParaRPr/>
          </a:p>
        </p:txBody>
      </p:sp>
      <p:sp>
        <p:nvSpPr>
          <p:cNvPr id="247" name=""/>
          <p:cNvSpPr/>
          <p:nvPr/>
        </p:nvSpPr>
        <p:spPr>
          <a:xfrm rot="0" flipH="0" flipV="0">
            <a:off x="685800" y="1276350"/>
            <a:ext cx="5295900" cy="4210050"/>
          </a:xfrm>
          <a:prstGeom prst="roundRect">
            <a:avLst>
              <a:gd name="adj" fmla="val 407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>
              <a:srgbClr val="1E3A8A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971550" y="1524000"/>
            <a:ext cx="4724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经济批量</a:t>
            </a:r>
            <a:r>
              <a:rPr lang="en-US" sz="1275">
                <a:solidFill>
                  <a:srgbClr val="64748B"/>
                </a:solidFill>
                <a:latin typeface="PingFang SC"/>
                <a:ea typeface="PingFang SC"/>
              </a:rPr>
              <a:t> EBQ</a:t>
            </a: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（采购</a:t>
            </a:r>
            <a:r>
              <a:rPr lang="en-US" sz="1275">
                <a:solidFill>
                  <a:srgbClr val="64748B"/>
                </a:solidFill>
                <a:latin typeface="PingFang SC"/>
                <a:ea typeface="PingFang SC"/>
              </a:rPr>
              <a:t>/</a:t>
            </a: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生产一批多少件最划算）</a:t>
            </a:r>
            <a:endParaRPr/>
          </a:p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971550" y="1857375"/>
            <a:ext cx="4724400" cy="685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500" b="1">
                <a:solidFill>
                  <a:srgbClr val="1E3A8A"/>
                </a:solidFill>
                <a:latin typeface="Space Grotesk"/>
                <a:ea typeface="Space Grotesk"/>
              </a:rPr>
              <a:t>≈ 1033 </a:t>
            </a:r>
            <a:r>
              <a:rPr lang="zh-CN" sz="4500" b="1">
                <a:solidFill>
                  <a:srgbClr val="1E3A8A"/>
                </a:solidFill>
                <a:latin typeface="Space Grotesk"/>
                <a:ea typeface="Space Grotesk"/>
              </a:rPr>
              <a:t>件</a:t>
            </a:r>
            <a:endParaRPr/>
          </a:p>
        </p:txBody>
      </p:sp>
      <p:sp>
        <p:nvSpPr>
          <p:cNvPr id="250" name=""/>
          <p:cNvSpPr/>
          <p:nvPr/>
        </p:nvSpPr>
        <p:spPr>
          <a:xfrm rot="0" flipH="0" flipV="0">
            <a:off x="971550" y="2714625"/>
            <a:ext cx="4724400" cy="466725"/>
          </a:xfrm>
          <a:prstGeom prst="roundRect">
            <a:avLst>
              <a:gd name="adj" fmla="val 24490"/>
            </a:avLst>
          </a:prstGeom>
          <a:solidFill>
            <a:srgbClr val="F5F8FC"/>
          </a:solidFill>
          <a:ln w="12700">
            <a:solidFill>
              <a:srgbClr val="06B6D4"/>
            </a:solidFill>
            <a:prstDash val="dash"/>
          </a:ln>
        </p:spPr>
        <p:txBody>
          <a:bodyPr/>
          <a:p/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1162050" y="2847975"/>
            <a:ext cx="4343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0891B2"/>
                </a:solidFill>
                <a:latin typeface="Space Grotesk"/>
                <a:ea typeface="Space Grotesk"/>
              </a:rPr>
              <a:t>√(2 × </a:t>
            </a:r>
            <a:r>
              <a:rPr lang="zh-CN" sz="1275">
                <a:solidFill>
                  <a:srgbClr val="0891B2"/>
                </a:solidFill>
                <a:latin typeface="Space Grotesk"/>
                <a:ea typeface="Space Grotesk"/>
              </a:rPr>
              <a:t>年需求</a:t>
            </a:r>
            <a:r>
              <a:rPr lang="en-US" sz="1275">
                <a:solidFill>
                  <a:srgbClr val="0891B2"/>
                </a:solidFill>
                <a:latin typeface="Space Grotesk"/>
                <a:ea typeface="Space Grotesk"/>
              </a:rPr>
              <a:t> × </a:t>
            </a:r>
            <a:r>
              <a:rPr lang="zh-CN" sz="1275">
                <a:solidFill>
                  <a:srgbClr val="0891B2"/>
                </a:solidFill>
                <a:latin typeface="Space Grotesk"/>
                <a:ea typeface="Space Grotesk"/>
              </a:rPr>
              <a:t>订货成本</a:t>
            </a:r>
            <a:r>
              <a:rPr lang="en-US" sz="1275">
                <a:solidFill>
                  <a:srgbClr val="0891B2"/>
                </a:solidFill>
                <a:latin typeface="Space Grotesk"/>
                <a:ea typeface="Space Grotesk"/>
              </a:rPr>
              <a:t> ÷ </a:t>
            </a:r>
            <a:r>
              <a:rPr lang="zh-CN" sz="1275">
                <a:solidFill>
                  <a:srgbClr val="0891B2"/>
                </a:solidFill>
                <a:latin typeface="Space Grotesk"/>
                <a:ea typeface="Space Grotesk"/>
              </a:rPr>
              <a:t>持有成本</a:t>
            </a:r>
            <a:r>
              <a:rPr lang="en-US" sz="1275">
                <a:solidFill>
                  <a:srgbClr val="0891B2"/>
                </a:solidFill>
                <a:latin typeface="Space Grotesk"/>
                <a:ea typeface="Space Grotesk"/>
              </a:rPr>
              <a:t>)</a:t>
            </a:r>
            <a:endParaRPr/>
          </a:p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971550" y="3333750"/>
            <a:ext cx="4724400" cy="876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订货成本与持有成本打架：批越小订得勤（贵），批越大压库存（也贵）——</a:t>
            </a:r>
            <a:r>
              <a:rPr lang="en-US" sz="1125">
                <a:solidFill>
                  <a:srgbClr val="43566B"/>
                </a:solidFill>
                <a:latin typeface="PingFang SC"/>
                <a:ea typeface="PingFang SC"/>
              </a:rPr>
              <a:t> </a:t>
            </a: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平衡点就是</a:t>
            </a:r>
            <a:r>
              <a:rPr lang="en-US" sz="1125">
                <a:solidFill>
                  <a:srgbClr val="43566B"/>
                </a:solidFill>
                <a:latin typeface="PingFang SC"/>
                <a:ea typeface="PingFang SC"/>
              </a:rPr>
              <a:t> EBQ</a:t>
            </a: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。</a:t>
            </a:r>
            <a:endParaRPr/>
          </a:p>
          <a:p>
            <a:pPr>
              <a:lnSpc>
                <a:spcPct val="170000"/>
              </a:lnSpc>
            </a:pPr>
            <a:r>
              <a:rPr lang="en-US" sz="1125" b="1">
                <a:solidFill>
                  <a:srgbClr val="B45309"/>
                </a:solidFill>
                <a:latin typeface="PingFang SC"/>
                <a:ea typeface="PingFang SC"/>
              </a:rPr>
              <a:t>AI </a:t>
            </a:r>
            <a:r>
              <a:rPr lang="zh-CN" sz="1125" b="1">
                <a:solidFill>
                  <a:srgbClr val="B45309"/>
                </a:solidFill>
                <a:latin typeface="PingFang SC"/>
                <a:ea typeface="PingFang SC"/>
              </a:rPr>
              <a:t>补位：需求波动时，</a:t>
            </a:r>
            <a:r>
              <a:rPr lang="en-US" sz="1125" b="1">
                <a:solidFill>
                  <a:srgbClr val="B45309"/>
                </a:solidFill>
                <a:latin typeface="PingFang SC"/>
                <a:ea typeface="PingFang SC"/>
              </a:rPr>
              <a:t>EBQ </a:t>
            </a:r>
            <a:r>
              <a:rPr lang="zh-CN" sz="1125" b="1">
                <a:solidFill>
                  <a:srgbClr val="B45309"/>
                </a:solidFill>
                <a:latin typeface="PingFang SC"/>
                <a:ea typeface="PingFang SC"/>
              </a:rPr>
              <a:t>该每天重算，而不是年初算一次。</a:t>
            </a:r>
            <a:endParaRPr/>
          </a:p>
        </p:txBody>
      </p:sp>
      <p:sp>
        <p:nvSpPr>
          <p:cNvPr id="253" name=""/>
          <p:cNvSpPr/>
          <p:nvPr/>
        </p:nvSpPr>
        <p:spPr>
          <a:xfrm rot="0" flipH="0" flipV="0">
            <a:off x="6210300" y="1276350"/>
            <a:ext cx="5295900" cy="4210050"/>
          </a:xfrm>
          <a:prstGeom prst="roundRect">
            <a:avLst>
              <a:gd name="adj" fmla="val 4072"/>
            </a:avLst>
          </a:prstGeom>
          <a:solidFill>
            <a:srgbClr val="1E3A8A"/>
          </a:solidFill>
          <a:ln/>
          <a:effectLst>
            <a:outerShdw blurRad="266700" dist="76200" dir="5400000">
              <a:srgbClr val="1E3A8A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6496050" y="1524000"/>
            <a:ext cx="4724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7FD9F0"/>
                </a:solidFill>
                <a:latin typeface="PingFang SC"/>
                <a:ea typeface="PingFang SC"/>
              </a:rPr>
              <a:t>看板卡数（线上流动多少张卡最顺）</a:t>
            </a:r>
            <a:endParaRPr/>
          </a:p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6496050" y="1857375"/>
            <a:ext cx="4724400" cy="685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500" b="1">
                <a:solidFill>
                  <a:srgbClr val="FFFFFF"/>
                </a:solidFill>
                <a:latin typeface="Space Grotesk"/>
                <a:ea typeface="Space Grotesk"/>
              </a:rPr>
              <a:t>22 </a:t>
            </a:r>
            <a:r>
              <a:rPr lang="zh-CN" sz="4500" b="1">
                <a:solidFill>
                  <a:srgbClr val="FFFFFF"/>
                </a:solidFill>
                <a:latin typeface="Space Grotesk"/>
                <a:ea typeface="Space Grotesk"/>
              </a:rPr>
              <a:t>张</a:t>
            </a:r>
            <a:endParaRPr/>
          </a:p>
        </p:txBody>
      </p:sp>
      <p:sp>
        <p:nvSpPr>
          <p:cNvPr id="256" name=""/>
          <p:cNvSpPr/>
          <p:nvPr/>
        </p:nvSpPr>
        <p:spPr>
          <a:xfrm rot="0" flipH="0" flipV="0">
            <a:off x="6496050" y="2714625"/>
            <a:ext cx="4724400" cy="457200"/>
          </a:xfrm>
          <a:prstGeom prst="roundRect">
            <a:avLst>
              <a:gd name="adj" fmla="val 25000"/>
            </a:avLst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5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6686550" y="2847975"/>
            <a:ext cx="4343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7FD9F0"/>
                </a:solidFill>
                <a:latin typeface="Space Grotesk"/>
                <a:ea typeface="Space Grotesk"/>
              </a:rPr>
              <a:t>500 </a:t>
            </a:r>
            <a:r>
              <a:rPr lang="zh-CN" sz="1200">
                <a:solidFill>
                  <a:srgbClr val="7FD9F0"/>
                </a:solidFill>
                <a:latin typeface="Space Grotesk"/>
                <a:ea typeface="Space Grotesk"/>
              </a:rPr>
              <a:t>件</a:t>
            </a:r>
            <a:r>
              <a:rPr lang="en-US" sz="1200">
                <a:solidFill>
                  <a:srgbClr val="7FD9F0"/>
                </a:solidFill>
                <a:latin typeface="Space Grotesk"/>
                <a:ea typeface="Space Grotesk"/>
              </a:rPr>
              <a:t>/</a:t>
            </a:r>
            <a:r>
              <a:rPr lang="zh-CN" sz="1200">
                <a:solidFill>
                  <a:srgbClr val="7FD9F0"/>
                </a:solidFill>
                <a:latin typeface="Space Grotesk"/>
                <a:ea typeface="Space Grotesk"/>
              </a:rPr>
              <a:t>天</a:t>
            </a:r>
            <a:r>
              <a:rPr lang="en-US" sz="1200">
                <a:solidFill>
                  <a:srgbClr val="7FD9F0"/>
                </a:solidFill>
                <a:latin typeface="Space Grotesk"/>
                <a:ea typeface="Space Grotesk"/>
              </a:rPr>
              <a:t> × 2 </a:t>
            </a:r>
            <a:r>
              <a:rPr lang="zh-CN" sz="1200">
                <a:solidFill>
                  <a:srgbClr val="7FD9F0"/>
                </a:solidFill>
                <a:latin typeface="Space Grotesk"/>
                <a:ea typeface="Space Grotesk"/>
              </a:rPr>
              <a:t>天</a:t>
            </a:r>
            <a:r>
              <a:rPr lang="en-US" sz="1200">
                <a:solidFill>
                  <a:srgbClr val="7FD9F0"/>
                </a:solidFill>
                <a:latin typeface="Space Grotesk"/>
                <a:ea typeface="Space Grotesk"/>
              </a:rPr>
              <a:t> × 1.10 ÷ 50 </a:t>
            </a:r>
            <a:r>
              <a:rPr lang="zh-CN" sz="1200">
                <a:solidFill>
                  <a:srgbClr val="7FD9F0"/>
                </a:solidFill>
                <a:latin typeface="Space Grotesk"/>
                <a:ea typeface="Space Grotesk"/>
              </a:rPr>
              <a:t>件</a:t>
            </a:r>
            <a:r>
              <a:rPr lang="en-US" sz="1200">
                <a:solidFill>
                  <a:srgbClr val="7FD9F0"/>
                </a:solidFill>
                <a:latin typeface="Space Grotesk"/>
                <a:ea typeface="Space Grotesk"/>
              </a:rPr>
              <a:t>/</a:t>
            </a:r>
            <a:r>
              <a:rPr lang="zh-CN" sz="1200">
                <a:solidFill>
                  <a:srgbClr val="7FD9F0"/>
                </a:solidFill>
                <a:latin typeface="Space Grotesk"/>
                <a:ea typeface="Space Grotesk"/>
              </a:rPr>
              <a:t>卡</a:t>
            </a:r>
            <a:endParaRPr/>
          </a:p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6496050" y="3324225"/>
            <a:ext cx="4724400" cy="5905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DCE9FB"/>
                </a:solidFill>
                <a:latin typeface="PingFang SC"/>
                <a:ea typeface="PingFang SC"/>
              </a:rPr>
              <a:t>需求</a:t>
            </a:r>
            <a:r>
              <a:rPr lang="en-US" sz="1125">
                <a:solidFill>
                  <a:srgbClr val="DCE9FB"/>
                </a:solidFill>
                <a:latin typeface="PingFang SC"/>
                <a:ea typeface="PingFang SC"/>
              </a:rPr>
              <a:t> × </a:t>
            </a:r>
            <a:r>
              <a:rPr lang="zh-CN" sz="1125">
                <a:solidFill>
                  <a:srgbClr val="DCE9FB"/>
                </a:solidFill>
                <a:latin typeface="PingFang SC"/>
                <a:ea typeface="PingFang SC"/>
              </a:rPr>
              <a:t>补货周期</a:t>
            </a:r>
            <a:r>
              <a:rPr lang="en-US" sz="1125">
                <a:solidFill>
                  <a:srgbClr val="DCE9FB"/>
                </a:solidFill>
                <a:latin typeface="PingFang SC"/>
                <a:ea typeface="PingFang SC"/>
              </a:rPr>
              <a:t> × </a:t>
            </a:r>
            <a:r>
              <a:rPr lang="zh-CN" sz="1125">
                <a:solidFill>
                  <a:srgbClr val="DCE9FB"/>
                </a:solidFill>
                <a:latin typeface="PingFang SC"/>
                <a:ea typeface="PingFang SC"/>
              </a:rPr>
              <a:t>保险系数</a:t>
            </a:r>
            <a:r>
              <a:rPr lang="en-US" sz="1125">
                <a:solidFill>
                  <a:srgbClr val="DCE9FB"/>
                </a:solidFill>
                <a:latin typeface="PingFang SC"/>
                <a:ea typeface="PingFang SC"/>
              </a:rPr>
              <a:t> ÷ </a:t>
            </a:r>
            <a:r>
              <a:rPr lang="zh-CN" sz="1125">
                <a:solidFill>
                  <a:srgbClr val="DCE9FB"/>
                </a:solidFill>
                <a:latin typeface="PingFang SC"/>
                <a:ea typeface="PingFang SC"/>
              </a:rPr>
              <a:t>容器容量。</a:t>
            </a:r>
            <a:endParaRPr/>
          </a:p>
          <a:p>
            <a:pPr>
              <a:lnSpc>
                <a:spcPct val="170000"/>
              </a:lnSpc>
            </a:pPr>
            <a:r>
              <a:rPr lang="zh-CN" sz="1125">
                <a:solidFill>
                  <a:srgbClr val="DCE9FB"/>
                </a:solidFill>
                <a:latin typeface="PingFang SC"/>
                <a:ea typeface="PingFang SC"/>
              </a:rPr>
              <a:t>卡是「流动的许可证」——</a:t>
            </a:r>
            <a:r>
              <a:rPr lang="en-US" sz="1125">
                <a:solidFill>
                  <a:srgbClr val="DCE9FB"/>
                </a:solidFill>
                <a:latin typeface="PingFang SC"/>
                <a:ea typeface="PingFang SC"/>
              </a:rPr>
              <a:t> </a:t>
            </a:r>
            <a:r>
              <a:rPr lang="zh-CN" sz="1125">
                <a:solidFill>
                  <a:srgbClr val="DCE9FB"/>
                </a:solidFill>
                <a:latin typeface="PingFang SC"/>
                <a:ea typeface="PingFang SC"/>
              </a:rPr>
              <a:t>没有卡，上游不许生产。</a:t>
            </a:r>
            <a:endParaRPr/>
          </a:p>
        </p:txBody>
      </p:sp>
      <p:sp>
        <p:nvSpPr>
          <p:cNvPr id="259" name=""/>
          <p:cNvSpPr/>
          <p:nvPr/>
        </p:nvSpPr>
        <p:spPr>
          <a:xfrm rot="0" flipH="0" flipV="0">
            <a:off x="685800" y="5676900"/>
            <a:ext cx="10820400" cy="476250"/>
          </a:xfrm>
          <a:prstGeom prst="roundRect">
            <a:avLst>
              <a:gd name="adj" fmla="val 24000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p/>
        </p:txBody>
      </p:sp>
      <p:pic>
        <p:nvPicPr>
          <p:cNvPr id="26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14400" y="5810250"/>
            <a:ext cx="209550" cy="209550"/>
          </a:xfrm>
          <a:prstGeom prst="rect">
            <a:avLst/>
          </a:prstGeom>
          <a:ln/>
        </p:spPr>
      </p:pic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1257300" y="5810250"/>
            <a:ext cx="78200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DC2626"/>
                </a:solidFill>
                <a:latin typeface="PingFang SC"/>
                <a:ea typeface="PingFang SC"/>
              </a:rPr>
              <a:t>警语：「缺货就加卡」</a:t>
            </a:r>
            <a:r>
              <a:rPr lang="en-US" sz="1350" b="1">
                <a:solidFill>
                  <a:srgbClr val="DC2626"/>
                </a:solidFill>
                <a:latin typeface="PingFang SC"/>
                <a:ea typeface="PingFang SC"/>
              </a:rPr>
              <a:t>= </a:t>
            </a:r>
            <a:r>
              <a:rPr lang="zh-CN" sz="1350" b="1">
                <a:solidFill>
                  <a:srgbClr val="DC2626"/>
                </a:solidFill>
                <a:latin typeface="PingFang SC"/>
                <a:ea typeface="PingFang SC"/>
              </a:rPr>
              <a:t>掩盖交期问题</a:t>
            </a:r>
            <a:r>
              <a:rPr lang="en-US" sz="1350" b="1">
                <a:solidFill>
                  <a:srgbClr val="DC2626"/>
                </a:solidFill>
                <a:latin typeface="PingFang SC"/>
                <a:ea typeface="PingFang SC"/>
              </a:rPr>
              <a:t> —— </a:t>
            </a:r>
            <a:r>
              <a:rPr lang="zh-CN" sz="1350" b="1">
                <a:solidFill>
                  <a:srgbClr val="DC2626"/>
                </a:solidFill>
                <a:latin typeface="PingFang SC"/>
                <a:ea typeface="PingFang SC"/>
              </a:rPr>
              <a:t>看板卡越加越多不是成绩，是仓库替供应商背锅的警报灯。</a:t>
            </a:r>
            <a:endParaRPr/>
          </a:p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1123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AI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场景落地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中级</a:t>
            </a:r>
            <a:endParaRPr/>
          </a:p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11049000" y="63627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18 / 34</a:t>
            </a:r>
            <a:endParaRPr/>
          </a:p>
        </p:txBody>
      </p:sp>
    </p:spTree>
  </p:cSld>
</p:sld>
</file>

<file path=ppt/slides/slide19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264" name="" descr="const fills = [&#10;    { icon: 'calendar-check', t: '排产优化', d: '多约束下给出可执行的排程建议' },&#10;    { icon: 'bell', t: '异常预警', d: '设备 / 物料 / 交期异常提前喊话' },&#10;    { icon: 'chart-line', t: '需求预测', d: '把下月要多少料算得更准' },&#10;    { icon: 'star', t: '供应商评分', d: '交期、质量、价格多维打分排序' },&#10;    { icon: 'comment-dots', t: '知识问答', d: '采购规则、历史成交价一问就有' },&#10;];&#10;&lt;Slide style={{ width: '1280px', height: '720px', background: '#F5F8FC', padding: '24px 72px', boxSizing: 'border-box', flexDirection: 'column', fontFamily: 'PingFang SC, Source Han Sans SC, sans-serif' }}&gt;&#10;    &lt;Box style={{ height: 96, flexDirection: 'row', alignItems: 'center', gap: 16 }}&gt;&#10;        &lt;Box style={{ width: 5, height: 46, background: '#06B6D4', borderRadius: 3 }} /&gt;&#10;        &lt;Box&gt;&#10;            &lt;Text style={{ fontSize: 34, fontWeight: 'bold', color: '#1E3A8A', lineHeight: 1.2 }}&gt;AI 五补位 + 一条权限红线&lt;/Text&gt;&#10;            &lt;Text style={{ fontSize: 17, color: '#64748B', marginTop: 4 }}&gt;生产与供应链里，AI 能干什么、不能干什么&lt;/Text&gt;&#10;        &lt;/Box&gt;&#10;    &lt;/Box&gt;&#10;    &lt;Box style={{ flex: 1, flexDirection: 'row', gap: 26, marginTop: 14 }}&gt;&#10;        &lt;Box style={{ flex: 52, flexDirection: 'column', gap: 10 }}&gt;&#10;            {fills.map((f, i) =&gt; (&#10;                &lt;Box key={i} style={{ flex: 1, background: '#FFFFFF', borderRadius: 12, border: '1px solid #E2E8F0', flexDirection: 'row', alignItems: 'center', gap: 14, padding: '0 20px', boxShadow: '0 2px 10px rgba(30,58,138,0.04)' }}&gt;&#10;                    &lt;Box style={{ width: 44, height: 44, borderRadius: 11, background: '#E0F7FA', justifyContent: 'center', alignItems: 'center' }}&gt;&#10;                        &lt;FAIcon name={f.icon} style={{ fill: '#0891B2', width: 22, height: 22 }} /&gt;&#10;                    &lt;/Box&gt;&#10;                    &lt;Text style={{ fontSize: 18, fontWeight: 'bold', color: '#1E3A8A', width: 130 }}&gt;{f.t}&lt;/Text&gt;&#10;                    &lt;Text style={{ flex: 1, fontSize: 15, color: '#43566b' }}&gt;{f.d}&lt;/Text&gt;&#10;                &lt;/Box&gt;&#10;            ))}&#10;        &lt;/Box&gt;&#10;        &lt;Box style={{ flex: 48, background: '#1E3A8A', borderRadius: 18, padding: '26px 30px', flexDirection: 'column', boxShadow: '0 8px 28px rgba(30,58,138,0.25)' }}&gt;&#10;            &lt;Box style={{ flexDirection: 'row', alignItems: 'center', gap: 12, marginBottom: 18 }}&gt;&#10;                &lt;FAIcon name=&quot;shield-alt&quot; style={{ fill: '#F59E0B', width: 26, height: 26 }} /&gt;&#10;                &lt;Text style={{ fontSize: 22, fontWeight: 'bold', color: '#FFFFFF' }}&gt;权限红线&lt;/Text&gt;&#10;            &lt;/Box&gt;&#10;            &lt;Box style={{ background: 'rgba(6,182,212,0.15)', borderRadius: 12, padding: '16px 20px', border: '1px solid rgba(6,182,212,0.5)' }}&gt;&#10;                &lt;Text style={{ fontSize: 15, color: '#7FD9F0', letterSpacing: 2, marginBottom: 8 }}&gt;AI 可以做&lt;/Text&gt;&#10;                &lt;Text style={{ fontSize: 17, color: '#FFFFFF', lineHeight: 1.8 }}&gt;评分 · 预测 · 排序 · 建议 · 解释&lt;br /&gt;&lt;span style={{ fontSize: 14, color: '#A9C4E8' }}&gt;（给出「为什么建议这样」的证据链）&lt;/span&gt;&lt;/Text&gt;&#10;            &lt;/Box&gt;&#10;            &lt;Box style={{ marginTop: 12, background: 'rgba(245,158,11,0.15)', borderRadius: 12, padding: '16px 20px', border: '1px solid rgba(245,158,11,0.6)' }}&gt;&#10;                &lt;Text style={{ fontSize: 15, color: '#F8C471', letterSpacing: 2, marginBottom: 8 }}&gt;人必须做&lt;/Text&gt;&#10;                &lt;Text style={{ fontSize: 17, color: '#FFFFFF', lineHeight: 1.8 }}&gt;校验 · 审批 · 记录&lt;br /&gt;&lt;span style={{ fontSize: 14, color: '#A9C4E8' }}&gt;（每一笔下单、每一次审批都要留人签字）&lt;/span&gt;&lt;/Text&gt;&#10;            &lt;/Box&gt;&#10;            &lt;Box style={{ marginTop: 'auto', paddingTop: 16 }}&gt;&#10;                &lt;Text style={{ fontSize: 16, fontWeight: 'bold', color: '#F8C471' }}&gt;AI 永远不自己下单、不自己付款。&lt;/Text&gt;&#10;            &lt;/Box&gt;&#10;        &lt;/Box&gt;&#10;    &lt;/Box&gt;&#10;    &lt;Box style={{ height: 40, flexDirection: 'row', justifyContent: 'space-between', alignItems: 'center', marginTop: 10 }}&gt;&#10;        &lt;Text style={{ fontSize: 14, color: '#64748B' }}&gt;AI 场景落地 · 中级&lt;/Text&gt;&#10;        &lt;Text style={{ fontSize: 14, color: '#64748B' }}&gt;19 / 34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/>
        </p:spPr>
        <p:txBody>
          <a:bodyPr/>
          <a:p/>
        </p:txBody>
      </p:sp>
      <p:sp>
        <p:nvSpPr>
          <p:cNvPr id="266" name=""/>
          <p:cNvSpPr/>
          <p:nvPr/>
        </p:nvSpPr>
        <p:spPr>
          <a:xfrm rot="0" flipH="0" flipV="0">
            <a:off x="685800" y="466725"/>
            <a:ext cx="47625" cy="438150"/>
          </a:xfrm>
          <a:prstGeom prst="roundRect">
            <a:avLst>
              <a:gd name="adj" fmla="val 60000"/>
            </a:avLst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885825" y="333375"/>
            <a:ext cx="3743325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2550" b="1">
                <a:solidFill>
                  <a:srgbClr val="1E3A8A"/>
                </a:solidFill>
                <a:latin typeface="PingFang SC"/>
                <a:ea typeface="PingFang SC"/>
              </a:rPr>
              <a:t>AI </a:t>
            </a: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>五补位</a:t>
            </a:r>
            <a:r>
              <a:rPr lang="en-US" sz="2550" b="1">
                <a:solidFill>
                  <a:srgbClr val="1E3A8A"/>
                </a:solidFill>
                <a:latin typeface="PingFang SC"/>
                <a:ea typeface="PingFang SC"/>
              </a:rPr>
              <a:t> + </a:t>
            </a: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>一条权限红线</a:t>
            </a:r>
            <a:endParaRPr/>
          </a:p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885825" y="838200"/>
            <a:ext cx="37433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流程与资源调度里，</a:t>
            </a:r>
            <a:r>
              <a:rPr lang="en-US" sz="1275">
                <a:solidFill>
                  <a:srgbClr val="64748B"/>
                </a:solidFill>
                <a:latin typeface="PingFang SC"/>
                <a:ea typeface="PingFang SC"/>
              </a:rPr>
              <a:t>AI </a:t>
            </a: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能干什么、不能干什么</a:t>
            </a:r>
            <a:endParaRPr/>
          </a:p>
        </p:txBody>
      </p:sp>
      <p:sp>
        <p:nvSpPr>
          <p:cNvPr id="269" name=""/>
          <p:cNvSpPr/>
          <p:nvPr/>
        </p:nvSpPr>
        <p:spPr>
          <a:xfrm rot="0" flipH="0" flipV="0">
            <a:off x="685800" y="1276350"/>
            <a:ext cx="5495925" cy="89535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95250" dist="19050" dir="5400000">
              <a:srgbClr val="1E3A8A">
                <a:alpha val="4000"/>
              </a:srgbClr>
            </a:outerShdw>
          </a:effectLst>
        </p:spPr>
        <p:txBody>
          <a:bodyPr/>
          <a:p/>
        </p:txBody>
      </p:sp>
      <p:sp>
        <p:nvSpPr>
          <p:cNvPr id="270" name=""/>
          <p:cNvSpPr/>
          <p:nvPr/>
        </p:nvSpPr>
        <p:spPr>
          <a:xfrm rot="0" flipH="0" flipV="0">
            <a:off x="876300" y="1514475"/>
            <a:ext cx="419100" cy="419100"/>
          </a:xfrm>
          <a:prstGeom prst="roundRect">
            <a:avLst>
              <a:gd name="adj" fmla="val 25000"/>
            </a:avLst>
          </a:prstGeom>
          <a:solidFill>
            <a:srgbClr val="E0F7FA"/>
          </a:solidFill>
          <a:ln/>
        </p:spPr>
        <p:txBody>
          <a:bodyPr/>
          <a:p/>
        </p:txBody>
      </p:sp>
      <p:pic>
        <p:nvPicPr>
          <p:cNvPr id="27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81075" y="1619250"/>
            <a:ext cx="209550" cy="209550"/>
          </a:xfrm>
          <a:prstGeom prst="rect">
            <a:avLst/>
          </a:prstGeom>
          <a:ln/>
        </p:spPr>
      </p:pic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1428750" y="1619250"/>
            <a:ext cx="1238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3A8A"/>
                </a:solidFill>
                <a:latin typeface="PingFang SC"/>
                <a:ea typeface="PingFang SC"/>
              </a:rPr>
              <a:t>排产优化</a:t>
            </a:r>
            <a:endParaRPr/>
          </a:p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2800350" y="1638300"/>
            <a:ext cx="3190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多约束下给出可执行的排程建议</a:t>
            </a:r>
            <a:endParaRPr/>
          </a:p>
        </p:txBody>
      </p:sp>
      <p:sp>
        <p:nvSpPr>
          <p:cNvPr id="274" name=""/>
          <p:cNvSpPr/>
          <p:nvPr/>
        </p:nvSpPr>
        <p:spPr>
          <a:xfrm rot="0" flipH="0" flipV="0">
            <a:off x="685800" y="2266950"/>
            <a:ext cx="5495925" cy="904875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95250" dist="19050" dir="5400000">
              <a:srgbClr val="1E3A8A">
                <a:alpha val="4000"/>
              </a:srgbClr>
            </a:outerShdw>
          </a:effectLst>
        </p:spPr>
        <p:txBody>
          <a:bodyPr/>
          <a:p/>
        </p:txBody>
      </p:sp>
      <p:sp>
        <p:nvSpPr>
          <p:cNvPr id="275" name=""/>
          <p:cNvSpPr/>
          <p:nvPr/>
        </p:nvSpPr>
        <p:spPr>
          <a:xfrm rot="0" flipH="0" flipV="0">
            <a:off x="876300" y="2514600"/>
            <a:ext cx="419100" cy="419100"/>
          </a:xfrm>
          <a:prstGeom prst="roundRect">
            <a:avLst>
              <a:gd name="adj" fmla="val 25000"/>
            </a:avLst>
          </a:prstGeom>
          <a:solidFill>
            <a:srgbClr val="E0F7FA"/>
          </a:solidFill>
          <a:ln/>
        </p:spPr>
        <p:txBody>
          <a:bodyPr/>
          <a:p/>
        </p:txBody>
      </p:sp>
      <p:pic>
        <p:nvPicPr>
          <p:cNvPr id="27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981075" y="2619375"/>
            <a:ext cx="209550" cy="209550"/>
          </a:xfrm>
          <a:prstGeom prst="rect">
            <a:avLst/>
          </a:prstGeom>
          <a:ln/>
        </p:spPr>
      </p:pic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1428750" y="2619375"/>
            <a:ext cx="1238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3A8A"/>
                </a:solidFill>
                <a:latin typeface="PingFang SC"/>
                <a:ea typeface="PingFang SC"/>
              </a:rPr>
              <a:t>异常预警</a:t>
            </a:r>
            <a:endParaRPr/>
          </a:p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2800350" y="2638425"/>
            <a:ext cx="3190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系统</a:t>
            </a:r>
            <a:r>
              <a:rPr lang="en-US" sz="1125">
                <a:solidFill>
                  <a:srgbClr val="43566B"/>
                </a:solidFill>
                <a:latin typeface="PingFang SC"/>
                <a:ea typeface="PingFang SC"/>
              </a:rPr>
              <a:t> / </a:t>
            </a: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资源</a:t>
            </a:r>
            <a:r>
              <a:rPr lang="en-US" sz="1125">
                <a:solidFill>
                  <a:srgbClr val="43566B"/>
                </a:solidFill>
                <a:latin typeface="PingFang SC"/>
                <a:ea typeface="PingFang SC"/>
              </a:rPr>
              <a:t> / </a:t>
            </a: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交期异常提前喊话</a:t>
            </a:r>
            <a:endParaRPr/>
          </a:p>
        </p:txBody>
      </p:sp>
      <p:sp>
        <p:nvSpPr>
          <p:cNvPr id="279" name=""/>
          <p:cNvSpPr/>
          <p:nvPr/>
        </p:nvSpPr>
        <p:spPr>
          <a:xfrm rot="0" flipH="0" flipV="0">
            <a:off x="685800" y="3267075"/>
            <a:ext cx="5495925" cy="89535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95250" dist="19050" dir="5400000">
              <a:srgbClr val="1E3A8A">
                <a:alpha val="4000"/>
              </a:srgbClr>
            </a:outerShdw>
          </a:effectLst>
        </p:spPr>
        <p:txBody>
          <a:bodyPr/>
          <a:p/>
        </p:txBody>
      </p:sp>
      <p:sp>
        <p:nvSpPr>
          <p:cNvPr id="280" name=""/>
          <p:cNvSpPr/>
          <p:nvPr/>
        </p:nvSpPr>
        <p:spPr>
          <a:xfrm rot="0" flipH="0" flipV="0">
            <a:off x="876300" y="3505200"/>
            <a:ext cx="419100" cy="419100"/>
          </a:xfrm>
          <a:prstGeom prst="roundRect">
            <a:avLst>
              <a:gd name="adj" fmla="val 25000"/>
            </a:avLst>
          </a:prstGeom>
          <a:solidFill>
            <a:srgbClr val="E0F7FA"/>
          </a:solidFill>
          <a:ln/>
        </p:spPr>
        <p:txBody>
          <a:bodyPr/>
          <a:p/>
        </p:txBody>
      </p:sp>
      <p:pic>
        <p:nvPicPr>
          <p:cNvPr id="28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981075" y="3609975"/>
            <a:ext cx="209550" cy="209550"/>
          </a:xfrm>
          <a:prstGeom prst="rect">
            <a:avLst/>
          </a:prstGeom>
          <a:ln/>
        </p:spPr>
      </p:pic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1428750" y="3609975"/>
            <a:ext cx="1238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3A8A"/>
                </a:solidFill>
                <a:latin typeface="PingFang SC"/>
                <a:ea typeface="PingFang SC"/>
              </a:rPr>
              <a:t>需求预测</a:t>
            </a:r>
            <a:endParaRPr/>
          </a:p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2800350" y="3629025"/>
            <a:ext cx="3190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把下月要多少料算得更准</a:t>
            </a:r>
            <a:endParaRPr/>
          </a:p>
        </p:txBody>
      </p:sp>
      <p:sp>
        <p:nvSpPr>
          <p:cNvPr id="284" name=""/>
          <p:cNvSpPr/>
          <p:nvPr/>
        </p:nvSpPr>
        <p:spPr>
          <a:xfrm rot="0" flipH="0" flipV="0">
            <a:off x="685800" y="4257675"/>
            <a:ext cx="5495925" cy="904875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95250" dist="19050" dir="5400000">
              <a:srgbClr val="1E3A8A">
                <a:alpha val="4000"/>
              </a:srgbClr>
            </a:outerShdw>
          </a:effectLst>
        </p:spPr>
        <p:txBody>
          <a:bodyPr/>
          <a:p/>
        </p:txBody>
      </p:sp>
      <p:sp>
        <p:nvSpPr>
          <p:cNvPr id="285" name=""/>
          <p:cNvSpPr/>
          <p:nvPr/>
        </p:nvSpPr>
        <p:spPr>
          <a:xfrm rot="0" flipH="0" flipV="0">
            <a:off x="876300" y="4505325"/>
            <a:ext cx="419100" cy="419100"/>
          </a:xfrm>
          <a:prstGeom prst="roundRect">
            <a:avLst>
              <a:gd name="adj" fmla="val 25000"/>
            </a:avLst>
          </a:prstGeom>
          <a:solidFill>
            <a:srgbClr val="E0F7FA"/>
          </a:solidFill>
          <a:ln/>
        </p:spPr>
        <p:txBody>
          <a:bodyPr/>
          <a:p/>
        </p:txBody>
      </p:sp>
      <p:pic>
        <p:nvPicPr>
          <p:cNvPr id="28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981075" y="4610100"/>
            <a:ext cx="209550" cy="209550"/>
          </a:xfrm>
          <a:prstGeom prst="rect">
            <a:avLst/>
          </a:prstGeom>
          <a:ln/>
        </p:spPr>
      </p:pic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1428750" y="4610100"/>
            <a:ext cx="1238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3A8A"/>
                </a:solidFill>
                <a:latin typeface="PingFang SC"/>
                <a:ea typeface="PingFang SC"/>
              </a:rPr>
              <a:t>供应商评分</a:t>
            </a:r>
            <a:endParaRPr/>
          </a:p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2800350" y="4629150"/>
            <a:ext cx="3190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交期、质量、价格多维打分排序</a:t>
            </a:r>
            <a:endParaRPr/>
          </a:p>
        </p:txBody>
      </p:sp>
      <p:sp>
        <p:nvSpPr>
          <p:cNvPr id="289" name=""/>
          <p:cNvSpPr/>
          <p:nvPr/>
        </p:nvSpPr>
        <p:spPr>
          <a:xfrm rot="0" flipH="0" flipV="0">
            <a:off x="685800" y="5257800"/>
            <a:ext cx="5495925" cy="89535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95250" dist="19050" dir="5400000">
              <a:srgbClr val="1E3A8A">
                <a:alpha val="4000"/>
              </a:srgbClr>
            </a:outerShdw>
          </a:effectLst>
        </p:spPr>
        <p:txBody>
          <a:bodyPr/>
          <a:p/>
        </p:txBody>
      </p:sp>
      <p:sp>
        <p:nvSpPr>
          <p:cNvPr id="290" name=""/>
          <p:cNvSpPr/>
          <p:nvPr/>
        </p:nvSpPr>
        <p:spPr>
          <a:xfrm rot="0" flipH="0" flipV="0">
            <a:off x="876300" y="5495925"/>
            <a:ext cx="419100" cy="419100"/>
          </a:xfrm>
          <a:prstGeom prst="roundRect">
            <a:avLst>
              <a:gd name="adj" fmla="val 25000"/>
            </a:avLst>
          </a:prstGeom>
          <a:solidFill>
            <a:srgbClr val="E0F7FA"/>
          </a:solidFill>
          <a:ln/>
        </p:spPr>
        <p:txBody>
          <a:bodyPr/>
          <a:p/>
        </p:txBody>
      </p:sp>
      <p:pic>
        <p:nvPicPr>
          <p:cNvPr id="29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981075" y="5600700"/>
            <a:ext cx="209550" cy="209550"/>
          </a:xfrm>
          <a:prstGeom prst="rect">
            <a:avLst/>
          </a:prstGeom>
          <a:ln/>
        </p:spPr>
      </p:pic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1428750" y="5600700"/>
            <a:ext cx="1238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3A8A"/>
                </a:solidFill>
                <a:latin typeface="PingFang SC"/>
                <a:ea typeface="PingFang SC"/>
              </a:rPr>
              <a:t>知识问答</a:t>
            </a:r>
            <a:endParaRPr/>
          </a:p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2800350" y="5619750"/>
            <a:ext cx="3190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采购规则、历史成交价一问就有</a:t>
            </a:r>
            <a:endParaRPr/>
          </a:p>
        </p:txBody>
      </p:sp>
      <p:sp>
        <p:nvSpPr>
          <p:cNvPr id="294" name=""/>
          <p:cNvSpPr/>
          <p:nvPr/>
        </p:nvSpPr>
        <p:spPr>
          <a:xfrm rot="0" flipH="0" flipV="0">
            <a:off x="6429375" y="1276350"/>
            <a:ext cx="5076825" cy="4876800"/>
          </a:xfrm>
          <a:prstGeom prst="roundRect">
            <a:avLst>
              <a:gd name="adj" fmla="val 3516"/>
            </a:avLst>
          </a:prstGeom>
          <a:solidFill>
            <a:srgbClr val="1E3A8A"/>
          </a:solidFill>
          <a:ln/>
          <a:effectLst>
            <a:outerShdw blurRad="266700" dist="76200" dir="5400000">
              <a:srgbClr val="1E3A8A">
                <a:alpha val="25000"/>
              </a:srgbClr>
            </a:outerShdw>
          </a:effectLst>
        </p:spPr>
        <p:txBody>
          <a:bodyPr/>
          <a:p/>
        </p:txBody>
      </p:sp>
      <p:pic>
        <p:nvPicPr>
          <p:cNvPr id="29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 rot="0" flipH="0" flipV="0">
            <a:off x="6715125" y="1533525"/>
            <a:ext cx="247650" cy="247650"/>
          </a:xfrm>
          <a:prstGeom prst="rect">
            <a:avLst/>
          </a:prstGeom>
          <a:ln/>
        </p:spPr>
      </p:pic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7077075" y="1524000"/>
            <a:ext cx="838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PingFang SC"/>
                <a:ea typeface="PingFang SC"/>
              </a:rPr>
              <a:t>权限红线</a:t>
            </a:r>
            <a:endParaRPr/>
          </a:p>
        </p:txBody>
      </p:sp>
      <p:sp>
        <p:nvSpPr>
          <p:cNvPr id="297" name=""/>
          <p:cNvSpPr/>
          <p:nvPr/>
        </p:nvSpPr>
        <p:spPr>
          <a:xfrm rot="0" flipH="0" flipV="0">
            <a:off x="6715125" y="1952625"/>
            <a:ext cx="4505325" cy="1190625"/>
          </a:xfrm>
          <a:prstGeom prst="roundRect">
            <a:avLst>
              <a:gd name="adj" fmla="val 9600"/>
            </a:avLst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5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6905625" y="2105025"/>
            <a:ext cx="4124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7FD9F0"/>
                </a:solidFill>
                <a:latin typeface="PingFang SC"/>
                <a:ea typeface="PingFang SC"/>
              </a:rPr>
              <a:t>AI </a:t>
            </a:r>
            <a:r>
              <a:rPr lang="zh-CN" sz="1125" spc="150">
                <a:solidFill>
                  <a:srgbClr val="7FD9F0"/>
                </a:solidFill>
                <a:latin typeface="PingFang SC"/>
                <a:ea typeface="PingFang SC"/>
              </a:rPr>
              <a:t>可以做</a:t>
            </a:r>
            <a:endParaRPr/>
          </a:p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6905625" y="2352675"/>
            <a:ext cx="4124325" cy="63817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275">
                <a:solidFill>
                  <a:srgbClr val="FFFFFF"/>
                </a:solidFill>
                <a:latin typeface="PingFang SC"/>
                <a:ea typeface="PingFang SC"/>
              </a:rPr>
              <a:t>评分</a:t>
            </a:r>
            <a:r>
              <a:rPr lang="en-US" sz="1275">
                <a:solidFill>
                  <a:srgbClr val="FFFFFF"/>
                </a:solidFill>
                <a:latin typeface="PingFang SC"/>
                <a:ea typeface="PingFang SC"/>
              </a:rPr>
              <a:t> · </a:t>
            </a:r>
            <a:r>
              <a:rPr lang="zh-CN" sz="1275">
                <a:solidFill>
                  <a:srgbClr val="FFFFFF"/>
                </a:solidFill>
                <a:latin typeface="PingFang SC"/>
                <a:ea typeface="PingFang SC"/>
              </a:rPr>
              <a:t>预测</a:t>
            </a:r>
            <a:r>
              <a:rPr lang="en-US" sz="1275">
                <a:solidFill>
                  <a:srgbClr val="FFFFFF"/>
                </a:solidFill>
                <a:latin typeface="PingFang SC"/>
                <a:ea typeface="PingFang SC"/>
              </a:rPr>
              <a:t> · </a:t>
            </a:r>
            <a:r>
              <a:rPr lang="zh-CN" sz="1275">
                <a:solidFill>
                  <a:srgbClr val="FFFFFF"/>
                </a:solidFill>
                <a:latin typeface="PingFang SC"/>
                <a:ea typeface="PingFang SC"/>
              </a:rPr>
              <a:t>排序</a:t>
            </a:r>
            <a:r>
              <a:rPr lang="en-US" sz="1275">
                <a:solidFill>
                  <a:srgbClr val="FFFFFF"/>
                </a:solidFill>
                <a:latin typeface="PingFang SC"/>
                <a:ea typeface="PingFang SC"/>
              </a:rPr>
              <a:t> · </a:t>
            </a:r>
            <a:r>
              <a:rPr lang="zh-CN" sz="1275">
                <a:solidFill>
                  <a:srgbClr val="FFFFFF"/>
                </a:solidFill>
                <a:latin typeface="PingFang SC"/>
                <a:ea typeface="PingFang SC"/>
              </a:rPr>
              <a:t>建议</a:t>
            </a:r>
            <a:r>
              <a:rPr lang="en-US" sz="1275">
                <a:solidFill>
                  <a:srgbClr val="FFFFFF"/>
                </a:solidFill>
                <a:latin typeface="PingFang SC"/>
                <a:ea typeface="PingFang SC"/>
              </a:rPr>
              <a:t> · </a:t>
            </a:r>
            <a:r>
              <a:rPr lang="zh-CN" sz="1275">
                <a:solidFill>
                  <a:srgbClr val="FFFFFF"/>
                </a:solidFill>
                <a:latin typeface="PingFang SC"/>
                <a:ea typeface="PingFang SC"/>
              </a:rPr>
              <a:t>解释</a:t>
            </a:r>
            <a:endParaRPr/>
          </a:p>
          <a:p>
            <a:pPr>
              <a:lnSpc>
                <a:spcPct val="180000"/>
              </a:lnSpc>
            </a:pPr>
            <a:r>
              <a:rPr lang="zh-CN" sz="1050">
                <a:solidFill>
                  <a:srgbClr val="A9C4E8"/>
                </a:solidFill>
                <a:latin typeface="PingFang SC"/>
                <a:ea typeface="PingFang SC"/>
              </a:rPr>
              <a:t>（给出「为什么建议这样」的证据链）</a:t>
            </a:r>
            <a:endParaRPr/>
          </a:p>
        </p:txBody>
      </p:sp>
      <p:sp>
        <p:nvSpPr>
          <p:cNvPr id="300" name=""/>
          <p:cNvSpPr/>
          <p:nvPr/>
        </p:nvSpPr>
        <p:spPr>
          <a:xfrm rot="0" flipH="0" flipV="0">
            <a:off x="6715125" y="3257550"/>
            <a:ext cx="4505325" cy="1190625"/>
          </a:xfrm>
          <a:prstGeom prst="roundRect">
            <a:avLst>
              <a:gd name="adj" fmla="val 9600"/>
            </a:avLst>
          </a:prstGeom>
          <a:solidFill>
            <a:srgbClr val="F59E0B">
              <a:alpha val="15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6905625" y="3409950"/>
            <a:ext cx="4124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150">
                <a:solidFill>
                  <a:srgbClr val="F8C471"/>
                </a:solidFill>
                <a:latin typeface="PingFang SC"/>
                <a:ea typeface="PingFang SC"/>
              </a:rPr>
              <a:t>人必须做</a:t>
            </a:r>
            <a:endParaRPr/>
          </a:p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6905625" y="3657600"/>
            <a:ext cx="4124325" cy="63817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275">
                <a:solidFill>
                  <a:srgbClr val="FFFFFF"/>
                </a:solidFill>
                <a:latin typeface="PingFang SC"/>
                <a:ea typeface="PingFang SC"/>
              </a:rPr>
              <a:t>校验</a:t>
            </a:r>
            <a:r>
              <a:rPr lang="en-US" sz="1275">
                <a:solidFill>
                  <a:srgbClr val="FFFFFF"/>
                </a:solidFill>
                <a:latin typeface="PingFang SC"/>
                <a:ea typeface="PingFang SC"/>
              </a:rPr>
              <a:t> · </a:t>
            </a:r>
            <a:r>
              <a:rPr lang="zh-CN" sz="1275">
                <a:solidFill>
                  <a:srgbClr val="FFFFFF"/>
                </a:solidFill>
                <a:latin typeface="PingFang SC"/>
                <a:ea typeface="PingFang SC"/>
              </a:rPr>
              <a:t>审批</a:t>
            </a:r>
            <a:r>
              <a:rPr lang="en-US" sz="1275">
                <a:solidFill>
                  <a:srgbClr val="FFFFFF"/>
                </a:solidFill>
                <a:latin typeface="PingFang SC"/>
                <a:ea typeface="PingFang SC"/>
              </a:rPr>
              <a:t> · </a:t>
            </a:r>
            <a:r>
              <a:rPr lang="zh-CN" sz="1275">
                <a:solidFill>
                  <a:srgbClr val="FFFFFF"/>
                </a:solidFill>
                <a:latin typeface="PingFang SC"/>
                <a:ea typeface="PingFang SC"/>
              </a:rPr>
              <a:t>记录</a:t>
            </a:r>
            <a:endParaRPr/>
          </a:p>
          <a:p>
            <a:pPr>
              <a:lnSpc>
                <a:spcPct val="180000"/>
              </a:lnSpc>
            </a:pPr>
            <a:r>
              <a:rPr lang="zh-CN" sz="1050">
                <a:solidFill>
                  <a:srgbClr val="A9C4E8"/>
                </a:solidFill>
                <a:latin typeface="PingFang SC"/>
                <a:ea typeface="PingFang SC"/>
              </a:rPr>
              <a:t>（每一笔下单、每一次审批都要留人签字）</a:t>
            </a:r>
            <a:endParaRPr/>
          </a:p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6715125" y="5715000"/>
            <a:ext cx="4505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8C471"/>
                </a:solidFill>
                <a:latin typeface="PingFang SC"/>
                <a:ea typeface="PingFang SC"/>
              </a:rPr>
              <a:t>AI </a:t>
            </a:r>
            <a:r>
              <a:rPr lang="zh-CN" sz="1200" b="1">
                <a:solidFill>
                  <a:srgbClr val="F8C471"/>
                </a:solidFill>
                <a:latin typeface="PingFang SC"/>
                <a:ea typeface="PingFang SC"/>
              </a:rPr>
              <a:t>永远不自己下单、不自己付款。</a:t>
            </a:r>
            <a:endParaRPr/>
          </a:p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1123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AI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场景落地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中级</a:t>
            </a:r>
            <a:endParaRPr/>
          </a:p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11049000" y="63627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19 / 34</a:t>
            </a:r>
            <a:endParaRPr/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9" name="" descr="&lt;Slide style={{ width: '1280px', height: '720px', position: 'relative', background: '#1E3A8A', overflow: 'hidden', fontFamily: 'PingFang SC, Source Han Sans SC, sans-serif' }}&gt;&#10;    &lt;Box style={{ position: 'absolute', top: 0, right: 0, width: 500, height: '720px' }}&gt;&#10;        &lt;Image src=&quot;assets/hero_cover.png&quot; style={{ width: '500px', height: '720px', objectFit: 'cover', opacity: 0.5 }} /&gt;&#10;        &lt;Box style={{ position: 'absolute', top: 0, left: 0, width: '500px', height: '720px', background: 'linear-gradient(90deg, rgba(30,58,138,1) 0%, rgba(30,58,138,0.15) 100%)' }} /&gt;&#10;    &lt;/Box&gt;&#10;    &lt;Box style={{ position: 'relative', zIndex: 1, height: '720px', padding: '0 84px', justifyContent: 'center' }}&gt;&#10;        &lt;Text style={{ fontSize: 130, fontWeight: 'bold', color: 'rgba(6,182,212,0.5)', lineHeight: 1, fontFamily: 'Space Grotesk, Inter' }}&gt;05&lt;/Text&gt;&#10;        &lt;Text style={{ fontSize: 18, color: '#7FD9F0', letterSpacing: 5, marginTop: 6 }}&gt;M5 · 3 课时&lt;/Text&gt;&#10;        &lt;Text style={{ fontSize: 54, fontWeight: 'bold', color: '#FFFFFF', marginTop: 20, lineHeight: 1.18 }}&gt;知识 RAG 与工业智能体&lt;br /&gt;把老师傅的经验装进系统&lt;/Text&gt;&#10;        &lt;Box style={{ width: 84, height: 4, background: '#06B6D4', marginTop: 30 }} /&gt;&#10;        &lt;Text style={{ fontSize: 19, color: '#A9C4E8', marginTop: 22, lineHeight: 1.6 }}&gt;五步建知识库 · 来源权威分级 · 接地三要件 · 受控发布&lt;br /&gt;实操：修一个 SOP 助手 · 看懂工业智能体最小形态。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p/>
        </p:txBody>
      </p:sp>
      <p:pic>
        <p:nvPicPr>
          <p:cNvPr id="361" name=""/>
          <p:cNvPicPr>
            <a:picLocks noChangeAspect="1"/>
          </p:cNvPicPr>
          <p:nvPr/>
        </p:nvPicPr>
        <p:blipFill>
          <a:blip r:embed="rId1">
            <a:alphaModFix amt="50000"/>
          </a:blip>
          <a:srcRect l="26242" t="0" r="26242" b="0"/>
          <a:stretch>
            <a:fillRect/>
          </a:stretch>
        </p:blipFill>
        <p:spPr>
          <a:xfrm rot="0" flipH="0" flipV="0">
            <a:off x="7429500" y="0"/>
            <a:ext cx="4762500" cy="6858000"/>
          </a:xfrm>
          <a:prstGeom prst="rect">
            <a:avLst/>
          </a:prstGeom>
          <a:ln/>
        </p:spPr>
      </p:pic>
      <p:sp>
        <p:nvSpPr>
          <p:cNvPr id="362" name=""/>
          <p:cNvSpPr/>
          <p:nvPr/>
        </p:nvSpPr>
        <p:spPr>
          <a:xfrm rot="0" flipH="0" flipV="0">
            <a:off x="7429500" y="0"/>
            <a:ext cx="4762500" cy="6858000"/>
          </a:xfrm>
          <a:prstGeom prst="rect">
            <a:avLst/>
          </a:prstGeom>
          <a:gradFill>
            <a:gsLst>
              <a:gs pos="0">
                <a:srgbClr val="1E3A8A">
                  <a:alpha val="100000"/>
                </a:srgbClr>
              </a:gs>
              <a:gs pos="100000">
                <a:srgbClr val="1E3A8A">
                  <a:alpha val="1500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363" name="" descr="{&quot;isTemplate&quot;:true,&quot;type&quot;:&quot;text&quot;}"/>
          <p:cNvSpPr txBox="1"/>
          <p:nvPr/>
        </p:nvSpPr>
        <p:spPr>
          <a:xfrm rot="0" flipH="0" flipV="0">
            <a:off x="800100" y="1114425"/>
            <a:ext cx="10591800" cy="1485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0" b="1">
                <a:solidFill>
                  <a:srgbClr val="06B6D4">
                    <a:alpha val="50000"/>
                  </a:srgbClr>
                </a:solidFill>
                <a:latin typeface="Space Grotesk"/>
                <a:ea typeface="Space Grotesk"/>
              </a:rPr>
              <a:t>05</a:t>
            </a:r>
            <a:endParaRPr/>
          </a:p>
        </p:txBody>
      </p:sp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800100" y="2657475"/>
            <a:ext cx="10591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spc="375">
                <a:solidFill>
                  <a:srgbClr val="7FD9F0"/>
                </a:solidFill>
                <a:latin typeface="PingFang SC"/>
                <a:ea typeface="PingFang SC"/>
              </a:rPr>
              <a:t>M5 · 3 </a:t>
            </a:r>
            <a:r>
              <a:rPr lang="zh-CN" sz="1350" spc="375">
                <a:solidFill>
                  <a:srgbClr val="7FD9F0"/>
                </a:solidFill>
                <a:latin typeface="PingFang SC"/>
                <a:ea typeface="PingFang SC"/>
              </a:rPr>
              <a:t>课时</a:t>
            </a:r>
            <a:endParaRPr/>
          </a:p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800100" y="3057525"/>
            <a:ext cx="10591800" cy="1457325"/>
          </a:xfrm>
          <a:prstGeom prst="rect"/>
        </p:spPr>
        <p:txBody>
          <a:bodyPr wrap="none" lIns="0" tIns="0" rIns="0" bIns="0"/>
          <a:p>
            <a:pPr>
              <a:lnSpc>
                <a:spcPct val="118000"/>
              </a:lnSpc>
            </a:pPr>
            <a:r>
              <a:rPr lang="zh-CN" sz="4050" b="1">
                <a:solidFill>
                  <a:srgbClr val="FFFFFF"/>
                </a:solidFill>
                <a:latin typeface="PingFang SC"/>
                <a:ea typeface="PingFang SC"/>
              </a:rPr>
              <a:t>知识</a:t>
            </a:r>
            <a:r>
              <a:rPr lang="en-US" sz="4050" b="1">
                <a:solidFill>
                  <a:srgbClr val="FFFFFF"/>
                </a:solidFill>
                <a:latin typeface="PingFang SC"/>
                <a:ea typeface="PingFang SC"/>
              </a:rPr>
              <a:t> RAG </a:t>
            </a:r>
            <a:r>
              <a:rPr lang="zh-CN" sz="4050" b="1">
                <a:solidFill>
                  <a:srgbClr val="FFFFFF"/>
                </a:solidFill>
                <a:latin typeface="PingFang SC"/>
                <a:ea typeface="PingFang SC"/>
              </a:rPr>
              <a:t>与行业智能体</a:t>
            </a:r>
            <a:endParaRPr/>
          </a:p>
          <a:p>
            <a:pPr>
              <a:lnSpc>
                <a:spcPct val="118000"/>
              </a:lnSpc>
            </a:pPr>
            <a:r>
              <a:rPr lang="zh-CN" sz="4050" b="1">
                <a:solidFill>
                  <a:srgbClr val="FFFFFF"/>
                </a:solidFill>
                <a:latin typeface="PingFang SC"/>
                <a:ea typeface="PingFang SC"/>
              </a:rPr>
              <a:t>把老师傅的经验装进系统</a:t>
            </a:r>
            <a:endParaRPr/>
          </a:p>
        </p:txBody>
      </p:sp>
      <p:sp>
        <p:nvSpPr>
          <p:cNvPr id="366" name=""/>
          <p:cNvSpPr/>
          <p:nvPr/>
        </p:nvSpPr>
        <p:spPr>
          <a:xfrm rot="0" flipH="0" flipV="0">
            <a:off x="800100" y="4800600"/>
            <a:ext cx="800100" cy="381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367" name="" descr="{&quot;isTemplate&quot;:true,&quot;type&quot;:&quot;text&quot;}"/>
          <p:cNvSpPr txBox="1"/>
          <p:nvPr/>
        </p:nvSpPr>
        <p:spPr>
          <a:xfrm rot="0" flipH="0" flipV="0">
            <a:off x="800100" y="5048250"/>
            <a:ext cx="10591800" cy="695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A9C4E8"/>
                </a:solidFill>
                <a:latin typeface="PingFang SC"/>
                <a:ea typeface="PingFang SC"/>
              </a:rPr>
              <a:t>五步建知识库</a:t>
            </a:r>
            <a:r>
              <a:rPr lang="en-US" sz="1425">
                <a:solidFill>
                  <a:srgbClr val="A9C4E8"/>
                </a:solidFill>
                <a:latin typeface="PingFang SC"/>
                <a:ea typeface="PingFang SC"/>
              </a:rPr>
              <a:t> · </a:t>
            </a:r>
            <a:r>
              <a:rPr lang="zh-CN" sz="1425">
                <a:solidFill>
                  <a:srgbClr val="A9C4E8"/>
                </a:solidFill>
                <a:latin typeface="PingFang SC"/>
                <a:ea typeface="PingFang SC"/>
              </a:rPr>
              <a:t>来源权威分级</a:t>
            </a:r>
            <a:r>
              <a:rPr lang="en-US" sz="1425">
                <a:solidFill>
                  <a:srgbClr val="A9C4E8"/>
                </a:solidFill>
                <a:latin typeface="PingFang SC"/>
                <a:ea typeface="PingFang SC"/>
              </a:rPr>
              <a:t> · </a:t>
            </a:r>
            <a:r>
              <a:rPr lang="zh-CN" sz="1425">
                <a:solidFill>
                  <a:srgbClr val="A9C4E8"/>
                </a:solidFill>
                <a:latin typeface="PingFang SC"/>
                <a:ea typeface="PingFang SC"/>
              </a:rPr>
              <a:t>接地三要件</a:t>
            </a:r>
            <a:r>
              <a:rPr lang="en-US" sz="1425">
                <a:solidFill>
                  <a:srgbClr val="A9C4E8"/>
                </a:solidFill>
                <a:latin typeface="PingFang SC"/>
                <a:ea typeface="PingFang SC"/>
              </a:rPr>
              <a:t> · </a:t>
            </a:r>
            <a:r>
              <a:rPr lang="zh-CN" sz="1425">
                <a:solidFill>
                  <a:srgbClr val="A9C4E8"/>
                </a:solidFill>
                <a:latin typeface="PingFang SC"/>
                <a:ea typeface="PingFang SC"/>
              </a:rPr>
              <a:t>受控发布</a:t>
            </a:r>
            <a:endParaRPr/>
          </a:p>
          <a:p>
            <a:pPr>
              <a:lnSpc>
                <a:spcPct val="160000"/>
              </a:lnSpc>
            </a:pPr>
            <a:r>
              <a:rPr lang="zh-CN" sz="1425">
                <a:solidFill>
                  <a:srgbClr val="A9C4E8"/>
                </a:solidFill>
                <a:latin typeface="PingFang SC"/>
                <a:ea typeface="PingFang SC"/>
              </a:rPr>
              <a:t>实操：修一个</a:t>
            </a:r>
            <a:r>
              <a:rPr lang="en-US" sz="1425">
                <a:solidFill>
                  <a:srgbClr val="A9C4E8"/>
                </a:solidFill>
                <a:latin typeface="PingFang SC"/>
                <a:ea typeface="PingFang SC"/>
              </a:rPr>
              <a:t> SOP </a:t>
            </a:r>
            <a:r>
              <a:rPr lang="zh-CN" sz="1425">
                <a:solidFill>
                  <a:srgbClr val="A9C4E8"/>
                </a:solidFill>
                <a:latin typeface="PingFang SC"/>
                <a:ea typeface="PingFang SC"/>
              </a:rPr>
              <a:t>助手</a:t>
            </a:r>
            <a:r>
              <a:rPr lang="en-US" sz="1425">
                <a:solidFill>
                  <a:srgbClr val="A9C4E8"/>
                </a:solidFill>
                <a:latin typeface="PingFang SC"/>
                <a:ea typeface="PingFang SC"/>
              </a:rPr>
              <a:t> · </a:t>
            </a:r>
            <a:r>
              <a:rPr lang="zh-CN" sz="1425">
                <a:solidFill>
                  <a:srgbClr val="A9C4E8"/>
                </a:solidFill>
                <a:latin typeface="PingFang SC"/>
                <a:ea typeface="PingFang SC"/>
              </a:rPr>
              <a:t>看懂行业智能体最小形态。</a:t>
            </a:r>
            <a:endParaRPr/>
          </a:p>
        </p:txBody>
      </p:sp>
    </p:spTree>
  </p:cSld>
</p:sld>
</file>

<file path=ppt/slides/slide21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368" name="" descr="const steps = ['切分', '嵌入', '向量库', '检索', '增强'];&#10;const ranks = [&#10;    { t: '厂商手册', d: '设备原厂参数与限位', w: 100 },&#10;    { t: '受控作业指导书', d: '受版本管理、经审批', w: 80 },&#10;    { t: '工艺标准', d: '企业内控标准', w: 60 },&#10;    { t: '历史工单', d: '修过什么、怎么修的', w: 40 },&#10;    { t: '技师笔记', d: '经验线索，需人核实', w: 22 },&#10;];&#10;&lt;Slide style={{ width: '1280px', height: '720px', background: '#F5F8FC', padding: '24px 72px', boxSizing: 'border-box', flexDirection: 'column', fontFamily: 'PingFang SC, Source Han Sans SC, sans-serif' }}&gt;&#10;    &lt;Box style={{ height: 96, flexDirection: 'row', alignItems: 'center', gap: 16 }}&gt;&#10;        &lt;Box style={{ width: 5, height: 46, background: '#06B6D4', borderRadius: 3 }} /&gt;&#10;        &lt;Box&gt;&#10;            &lt;Text style={{ fontSize: 34, fontWeight: 'bold', color: '#1E3A8A', lineHeight: 1.2 }}&gt;RAG 五步 + 来源权威分级&lt;/Text&gt;&#10;            &lt;Text style={{ fontSize: 17, color: '#64748B', marginTop: 4 }}&gt;初级讲过原理，这页讲工业现场怎么落地：喂什么、听谁的&lt;/Text&gt;&#10;        &lt;/Box&gt;&#10;    &lt;/Box&gt;&#10;    &lt;Box style={{ flex: 1, flexDirection: 'row', gap: 26, marginTop: 14 }}&gt;&#10;        &lt;Box style={{ flex: 52, flexDirection: 'column' }}&gt;&#10;            &lt;Box style={{ flexDirection: 'row', alignItems: 'center', gap: 6 }}&gt;&#10;                {steps.map((s, i) =&gt; (&#10;                    &lt;Box key={i} style={{ flexDirection: 'row', alignItems: 'center', gap: 6 }}&gt;&#10;                        &lt;Box style={{ padding: '12px 16px', background: i === 4 ? '#1E3A8A' : '#FFFFFF', borderRadius: 10, border: '1px solid ' + (i === 4 ? '#1E3A8A' : '#E2E8F0'), boxShadow: '0 2px 10px rgba(30,58,138,0.05)' }}&gt;&#10;                            &lt;Text style={{ fontSize: 18, fontWeight: 'bold', color: i === 4 ? '#FFFFFF' : '#1E3A8A' }}&gt;{s}&lt;/Text&gt;&#10;                        &lt;/Box&gt;&#10;                        {i &lt; steps.length - 1 &amp;&amp; &lt;FAIcon name=&quot;arrow-right&quot; style={{ fill: '#06B6D4', width: 16, height: 16 }} /&gt;}&#10;                    &lt;/Box&gt;&#10;                ))}&#10;            &lt;/Box&gt;&#10;            &lt;Box style={{ flex: 1, background: '#FFFFFF', borderRadius: 16, padding: '20px 24px', marginTop: 18, border: '1px solid #E2E8F0', flexDirection: 'column' }}&gt;&#10;                &lt;Text style={{ fontSize: 17, fontWeight: 'bold', color: '#1E3A8A', marginBottom: 10 }}&gt;每一步在车间的样子&lt;/Text&gt;&#10;                &lt;Text style={{ fontSize: 15, color: '#43566b', lineHeight: 1.9 }}&gt;&#10;                    &lt;span style={{ fontWeight: 'bold', color: '#0891B2' }}&gt;切分&lt;/span&gt; —— SOP 按工序拆段，不按字数硬切&lt;br /&gt;&#10;                    &lt;span style={{ fontWeight: 'bold', color: '#0891B2' }}&gt;嵌入 + 向量库&lt;/span&gt; —— 存进厂内知识库平台（如 Dify）&lt;br /&gt;&#10;                    &lt;span style={{ fontWeight: 'bold', color: '#0891B2' }}&gt;检索&lt;/span&gt; —— 只取最相关的 3–5 段，不喂全文&lt;br /&gt;&#10;                    &lt;span style={{ fontWeight: 'bold', color: '#0891B2' }}&gt;增强&lt;/span&gt; —— 模型「照着这几段」作答并附出处&#10;                &lt;/Text&gt;&#10;                &lt;Box style={{ marginTop: 'auto', paddingTop: 12, borderTop: '2px solid #EAF1F8' }}&gt;&#10;                    &lt;Text style={{ fontSize: 15, color: '#B45309', fontWeight: 'bold' }}&gt;工业现场最大的坑：喂进去的资料本身版本混乱、过期未撤。&lt;/Text&gt;&#10;                &lt;/Box&gt;&#10;            &lt;/Box&gt;&#10;        &lt;/Box&gt;&#10;        &lt;Box style={{ flex: 48, background: '#FFFFFF', borderRadius: 16, padding: '22px 26px', border: '1px solid #E2E8F0', boxShadow: '0 4px 16px rgba(30,58,138,0.06)', flexDirection: 'column' }}&gt;&#10;            &lt;Text style={{ fontSize: 18, fontWeight: 'bold', color: '#1E3A8A' }}&gt;来源权威分级（谁的话更可信）&lt;/Text&gt;&#10;            {ranks.map((r, i) =&gt; (&#10;                &lt;Box key={i} style={{ marginTop: i === 0 ? 16 : 12 }}&gt;&#10;                    &lt;Box style={{ flexDirection: 'row', alignItems: 'center', gap: 10, marginBottom: 4 }}&gt;&#10;                        &lt;Text style={{ fontSize: 15, fontWeight: 'bold', color: i &lt; 2 ? '#B45309' : '#43566b' }}&gt;{r.t}&lt;/Text&gt;&#10;                        &lt;Text style={{ fontSize: 13, color: '#64748B' }}&gt;{r.d}&lt;/Text&gt;&#10;                    &lt;/Box&gt;&#10;                    &lt;Box style={{ height: 8, background: '#EDF3FB', borderRadius: 4, overflow: 'hidden' }}&gt;&#10;                        &lt;Box style={{ width: r.w + '%', height: 8, background: i &lt; 2 ? '#F59E0B' : '#06B6D4', borderRadius: 4 }} /&gt;&#10;                    &lt;/Box&gt;&#10;                &lt;/Box&gt;&#10;            ))}&#10;            &lt;Text style={{ fontSize: 14, color: '#64748B', marginTop: 'auto', paddingTop: 12 }}&gt;检索结果按权威度加权：手册 ＞ 作业指导书 ＞ 标准 ＞ 工单 ＞ 笔记 —— 冲突时，信上面。&lt;/Text&gt;&#10;        &lt;/Box&gt;&#10;    &lt;/Box&gt;&#10;    &lt;Box style={{ height: 40, flexDirection: 'row', justifyContent: 'space-between', alignItems: 'center', marginTop: 10 }}&gt;&#10;        &lt;Text style={{ fontSize: 14, color: '#64748B' }}&gt;AI 场景落地 · 中级&lt;/Text&gt;&#10;        &lt;Text style={{ fontSize: 14, color: '#64748B' }}&gt;21 / 34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/>
        </p:spPr>
        <p:txBody>
          <a:bodyPr/>
          <a:p/>
        </p:txBody>
      </p:sp>
      <p:sp>
        <p:nvSpPr>
          <p:cNvPr id="370" name=""/>
          <p:cNvSpPr/>
          <p:nvPr/>
        </p:nvSpPr>
        <p:spPr>
          <a:xfrm rot="0" flipH="0" flipV="0">
            <a:off x="685800" y="466725"/>
            <a:ext cx="47625" cy="438150"/>
          </a:xfrm>
          <a:prstGeom prst="roundRect">
            <a:avLst>
              <a:gd name="adj" fmla="val 60000"/>
            </a:avLst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371" name="" descr="{&quot;isTemplate&quot;:true,&quot;type&quot;:&quot;text&quot;}"/>
          <p:cNvSpPr txBox="1"/>
          <p:nvPr/>
        </p:nvSpPr>
        <p:spPr>
          <a:xfrm rot="0" flipH="0" flipV="0">
            <a:off x="885825" y="333375"/>
            <a:ext cx="421005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2550" b="1">
                <a:solidFill>
                  <a:srgbClr val="1E3A8A"/>
                </a:solidFill>
                <a:latin typeface="PingFang SC"/>
                <a:ea typeface="PingFang SC"/>
              </a:rPr>
              <a:t>RAG </a:t>
            </a: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>五步</a:t>
            </a:r>
            <a:r>
              <a:rPr lang="en-US" sz="2550" b="1">
                <a:solidFill>
                  <a:srgbClr val="1E3A8A"/>
                </a:solidFill>
                <a:latin typeface="PingFang SC"/>
                <a:ea typeface="PingFang SC"/>
              </a:rPr>
              <a:t> + </a:t>
            </a: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>来源权威分级</a:t>
            </a:r>
            <a:endParaRPr/>
          </a:p>
        </p:txBody>
      </p:sp>
      <p:sp>
        <p:nvSpPr>
          <p:cNvPr id="372" name="" descr="{&quot;isTemplate&quot;:true,&quot;type&quot;:&quot;text&quot;}"/>
          <p:cNvSpPr txBox="1"/>
          <p:nvPr/>
        </p:nvSpPr>
        <p:spPr>
          <a:xfrm rot="0" flipH="0" flipV="0">
            <a:off x="885825" y="838200"/>
            <a:ext cx="42100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初级讲过原理，这页讲工业现场怎么落地：喂什么、听谁的</a:t>
            </a:r>
            <a:endParaRPr/>
          </a:p>
        </p:txBody>
      </p:sp>
      <p:sp>
        <p:nvSpPr>
          <p:cNvPr id="373" name=""/>
          <p:cNvSpPr/>
          <p:nvPr/>
        </p:nvSpPr>
        <p:spPr>
          <a:xfrm rot="0" flipH="0" flipV="0">
            <a:off x="685800" y="1276350"/>
            <a:ext cx="647700" cy="43815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374" name="" descr="{&quot;isTemplate&quot;:true,&quot;type&quot;:&quot;text&quot;}"/>
          <p:cNvSpPr txBox="1"/>
          <p:nvPr/>
        </p:nvSpPr>
        <p:spPr>
          <a:xfrm rot="0" flipH="0" flipV="0">
            <a:off x="838200" y="1390650"/>
            <a:ext cx="342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3A8A"/>
                </a:solidFill>
                <a:latin typeface="PingFang SC"/>
                <a:ea typeface="PingFang SC"/>
              </a:rPr>
              <a:t>切分</a:t>
            </a:r>
            <a:endParaRPr/>
          </a:p>
        </p:txBody>
      </p:sp>
      <p:pic>
        <p:nvPicPr>
          <p:cNvPr id="37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390650" y="1419225"/>
            <a:ext cx="152400" cy="152400"/>
          </a:xfrm>
          <a:prstGeom prst="rect">
            <a:avLst/>
          </a:prstGeom>
          <a:ln/>
        </p:spPr>
      </p:pic>
      <p:sp>
        <p:nvSpPr>
          <p:cNvPr id="376" name=""/>
          <p:cNvSpPr/>
          <p:nvPr/>
        </p:nvSpPr>
        <p:spPr>
          <a:xfrm rot="0" flipH="0" flipV="0">
            <a:off x="1600200" y="1276350"/>
            <a:ext cx="647700" cy="43815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377" name="" descr="{&quot;isTemplate&quot;:true,&quot;type&quot;:&quot;text&quot;}"/>
          <p:cNvSpPr txBox="1"/>
          <p:nvPr/>
        </p:nvSpPr>
        <p:spPr>
          <a:xfrm rot="0" flipH="0" flipV="0">
            <a:off x="1752600" y="1390650"/>
            <a:ext cx="342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3A8A"/>
                </a:solidFill>
                <a:latin typeface="PingFang SC"/>
                <a:ea typeface="PingFang SC"/>
              </a:rPr>
              <a:t>嵌入</a:t>
            </a:r>
            <a:endParaRPr/>
          </a:p>
        </p:txBody>
      </p:sp>
      <p:pic>
        <p:nvPicPr>
          <p:cNvPr id="37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2305050" y="1419225"/>
            <a:ext cx="152400" cy="152400"/>
          </a:xfrm>
          <a:prstGeom prst="rect">
            <a:avLst/>
          </a:prstGeom>
          <a:ln/>
        </p:spPr>
      </p:pic>
      <p:sp>
        <p:nvSpPr>
          <p:cNvPr id="379" name=""/>
          <p:cNvSpPr/>
          <p:nvPr/>
        </p:nvSpPr>
        <p:spPr>
          <a:xfrm rot="0" flipH="0" flipV="0">
            <a:off x="2514600" y="1276350"/>
            <a:ext cx="819150" cy="43815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380" name="" descr="{&quot;isTemplate&quot;:true,&quot;type&quot;:&quot;text&quot;}"/>
          <p:cNvSpPr txBox="1"/>
          <p:nvPr/>
        </p:nvSpPr>
        <p:spPr>
          <a:xfrm rot="0" flipH="0" flipV="0">
            <a:off x="2667000" y="1390650"/>
            <a:ext cx="5143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3A8A"/>
                </a:solidFill>
                <a:latin typeface="PingFang SC"/>
                <a:ea typeface="PingFang SC"/>
              </a:rPr>
              <a:t>向量库</a:t>
            </a:r>
            <a:endParaRPr/>
          </a:p>
        </p:txBody>
      </p:sp>
      <p:pic>
        <p:nvPicPr>
          <p:cNvPr id="38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390900" y="1419225"/>
            <a:ext cx="152400" cy="152400"/>
          </a:xfrm>
          <a:prstGeom prst="rect">
            <a:avLst/>
          </a:prstGeom>
          <a:ln/>
        </p:spPr>
      </p:pic>
      <p:sp>
        <p:nvSpPr>
          <p:cNvPr id="382" name=""/>
          <p:cNvSpPr/>
          <p:nvPr/>
        </p:nvSpPr>
        <p:spPr>
          <a:xfrm rot="0" flipH="0" flipV="0">
            <a:off x="3600450" y="1276350"/>
            <a:ext cx="647700" cy="43815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383" name="" descr="{&quot;isTemplate&quot;:true,&quot;type&quot;:&quot;text&quot;}"/>
          <p:cNvSpPr txBox="1"/>
          <p:nvPr/>
        </p:nvSpPr>
        <p:spPr>
          <a:xfrm rot="0" flipH="0" flipV="0">
            <a:off x="3752850" y="1390650"/>
            <a:ext cx="342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3A8A"/>
                </a:solidFill>
                <a:latin typeface="PingFang SC"/>
                <a:ea typeface="PingFang SC"/>
              </a:rPr>
              <a:t>检索</a:t>
            </a:r>
            <a:endParaRPr/>
          </a:p>
        </p:txBody>
      </p:sp>
      <p:pic>
        <p:nvPicPr>
          <p:cNvPr id="38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305300" y="1419225"/>
            <a:ext cx="152400" cy="152400"/>
          </a:xfrm>
          <a:prstGeom prst="rect">
            <a:avLst/>
          </a:prstGeom>
          <a:ln/>
        </p:spPr>
      </p:pic>
      <p:sp>
        <p:nvSpPr>
          <p:cNvPr id="385" name=""/>
          <p:cNvSpPr/>
          <p:nvPr/>
        </p:nvSpPr>
        <p:spPr>
          <a:xfrm rot="0" flipH="0" flipV="0">
            <a:off x="4514850" y="1276350"/>
            <a:ext cx="647700" cy="438150"/>
          </a:xfrm>
          <a:prstGeom prst="roundRect">
            <a:avLst>
              <a:gd name="adj" fmla="val 21739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386" name="" descr="{&quot;isTemplate&quot;:true,&quot;type&quot;:&quot;text&quot;}"/>
          <p:cNvSpPr txBox="1"/>
          <p:nvPr/>
        </p:nvSpPr>
        <p:spPr>
          <a:xfrm rot="0" flipH="0" flipV="0">
            <a:off x="4667250" y="1390650"/>
            <a:ext cx="342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PingFang SC"/>
                <a:ea typeface="PingFang SC"/>
              </a:rPr>
              <a:t>增强</a:t>
            </a:r>
            <a:endParaRPr/>
          </a:p>
        </p:txBody>
      </p:sp>
      <p:sp>
        <p:nvSpPr>
          <p:cNvPr id="387" name=""/>
          <p:cNvSpPr/>
          <p:nvPr/>
        </p:nvSpPr>
        <p:spPr>
          <a:xfrm rot="0" flipH="0" flipV="0">
            <a:off x="685800" y="1885950"/>
            <a:ext cx="5495925" cy="42672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88" name="" descr="{&quot;isTemplate&quot;:true,&quot;type&quot;:&quot;text&quot;}"/>
          <p:cNvSpPr txBox="1"/>
          <p:nvPr/>
        </p:nvSpPr>
        <p:spPr>
          <a:xfrm rot="0" flipH="0" flipV="0">
            <a:off x="914400" y="2076450"/>
            <a:ext cx="50387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3A8A"/>
                </a:solidFill>
                <a:latin typeface="PingFang SC"/>
                <a:ea typeface="PingFang SC"/>
              </a:rPr>
              <a:t>每一步在现场的样子</a:t>
            </a:r>
            <a:endParaRPr/>
          </a:p>
        </p:txBody>
      </p:sp>
      <p:sp>
        <p:nvSpPr>
          <p:cNvPr id="389" name="" descr="{&quot;isTemplate&quot;:true,&quot;type&quot;:&quot;text&quot;}"/>
          <p:cNvSpPr txBox="1"/>
          <p:nvPr/>
        </p:nvSpPr>
        <p:spPr>
          <a:xfrm rot="0" flipH="0" flipV="0">
            <a:off x="914400" y="2371725"/>
            <a:ext cx="5038725" cy="1304925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1125" b="1">
                <a:solidFill>
                  <a:srgbClr val="0891B2"/>
                </a:solidFill>
                <a:latin typeface="PingFang SC"/>
                <a:ea typeface="PingFang SC"/>
              </a:rPr>
              <a:t>切分</a:t>
            </a:r>
            <a:r>
              <a:rPr lang="en-US" sz="1125">
                <a:solidFill>
                  <a:srgbClr val="43566B"/>
                </a:solidFill>
                <a:latin typeface="PingFang SC"/>
                <a:ea typeface="PingFang SC"/>
              </a:rPr>
              <a:t> —— SOP </a:t>
            </a: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按工序拆段，不按字数硬切</a:t>
            </a:r>
            <a:endParaRPr/>
          </a:p>
          <a:p>
            <a:pPr>
              <a:lnSpc>
                <a:spcPct val="190000"/>
              </a:lnSpc>
            </a:pPr>
            <a:r>
              <a:rPr lang="zh-CN" sz="1125" b="1">
                <a:solidFill>
                  <a:srgbClr val="0891B2"/>
                </a:solidFill>
                <a:latin typeface="PingFang SC"/>
                <a:ea typeface="PingFang SC"/>
              </a:rPr>
              <a:t>嵌入</a:t>
            </a:r>
            <a:r>
              <a:rPr lang="en-US" sz="1125" b="1">
                <a:solidFill>
                  <a:srgbClr val="0891B2"/>
                </a:solidFill>
                <a:latin typeface="PingFang SC"/>
                <a:ea typeface="PingFang SC"/>
              </a:rPr>
              <a:t> + </a:t>
            </a:r>
            <a:r>
              <a:rPr lang="zh-CN" sz="1125" b="1">
                <a:solidFill>
                  <a:srgbClr val="0891B2"/>
                </a:solidFill>
                <a:latin typeface="PingFang SC"/>
                <a:ea typeface="PingFang SC"/>
              </a:rPr>
              <a:t>向量库</a:t>
            </a:r>
            <a:r>
              <a:rPr lang="en-US" sz="1125">
                <a:solidFill>
                  <a:srgbClr val="43566B"/>
                </a:solidFill>
                <a:latin typeface="PingFang SC"/>
                <a:ea typeface="PingFang SC"/>
              </a:rPr>
              <a:t> —— </a:t>
            </a: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存进厂内知识库平台（如</a:t>
            </a:r>
            <a:r>
              <a:rPr lang="en-US" sz="1125">
                <a:solidFill>
                  <a:srgbClr val="43566B"/>
                </a:solidFill>
                <a:latin typeface="PingFang SC"/>
                <a:ea typeface="PingFang SC"/>
              </a:rPr>
              <a:t> Dify</a:t>
            </a: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）</a:t>
            </a:r>
            <a:endParaRPr/>
          </a:p>
          <a:p>
            <a:pPr>
              <a:lnSpc>
                <a:spcPct val="190000"/>
              </a:lnSpc>
            </a:pPr>
            <a:r>
              <a:rPr lang="zh-CN" sz="1125" b="1">
                <a:solidFill>
                  <a:srgbClr val="0891B2"/>
                </a:solidFill>
                <a:latin typeface="PingFang SC"/>
                <a:ea typeface="PingFang SC"/>
              </a:rPr>
              <a:t>检索</a:t>
            </a:r>
            <a:r>
              <a:rPr lang="en-US" sz="1125">
                <a:solidFill>
                  <a:srgbClr val="43566B"/>
                </a:solidFill>
                <a:latin typeface="PingFang SC"/>
                <a:ea typeface="PingFang SC"/>
              </a:rPr>
              <a:t> —— </a:t>
            </a: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只取最相关的</a:t>
            </a:r>
            <a:r>
              <a:rPr lang="en-US" sz="1125">
                <a:solidFill>
                  <a:srgbClr val="43566B"/>
                </a:solidFill>
                <a:latin typeface="PingFang SC"/>
                <a:ea typeface="PingFang SC"/>
              </a:rPr>
              <a:t> 3–5 </a:t>
            </a: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段，不喂全文</a:t>
            </a:r>
            <a:endParaRPr/>
          </a:p>
          <a:p>
            <a:pPr>
              <a:lnSpc>
                <a:spcPct val="190000"/>
              </a:lnSpc>
            </a:pPr>
            <a:r>
              <a:rPr lang="zh-CN" sz="1125" b="1">
                <a:solidFill>
                  <a:srgbClr val="0891B2"/>
                </a:solidFill>
                <a:latin typeface="PingFang SC"/>
                <a:ea typeface="PingFang SC"/>
              </a:rPr>
              <a:t>增强</a:t>
            </a:r>
            <a:r>
              <a:rPr lang="en-US" sz="1125">
                <a:solidFill>
                  <a:srgbClr val="43566B"/>
                </a:solidFill>
                <a:latin typeface="PingFang SC"/>
                <a:ea typeface="PingFang SC"/>
              </a:rPr>
              <a:t> —— </a:t>
            </a: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模型「照着这几段」作答并附出处</a:t>
            </a:r>
            <a:endParaRPr/>
          </a:p>
        </p:txBody>
      </p:sp>
      <p:sp>
        <p:nvSpPr>
          <p:cNvPr id="390" name=""/>
          <p:cNvSpPr/>
          <p:nvPr/>
        </p:nvSpPr>
        <p:spPr>
          <a:xfrm rot="0" flipH="0" flipV="0">
            <a:off x="914400" y="5657850"/>
            <a:ext cx="5038725" cy="323850"/>
          </a:xfrm>
          <a:custGeom>
            <a:pathLst>
              <a:path w="529" h="34">
                <a:moveTo>
                  <a:pt x="0" y="0"/>
                </a:moveTo>
                <a:lnTo>
                  <a:pt x="529" y="0"/>
                </a:lnTo>
                <a:lnTo>
                  <a:pt x="529" y="2"/>
                </a:lnTo>
                <a:lnTo>
                  <a:pt x="0" y="2"/>
                </a:lnTo>
                <a:close/>
              </a:path>
            </a:pathLst>
          </a:custGeom>
          <a:solidFill>
            <a:srgbClr val="EAF1F8"/>
          </a:solidFill>
          <a:ln/>
        </p:spPr>
        <p:txBody>
          <a:bodyPr/>
          <a:p/>
        </p:txBody>
      </p:sp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914400" y="5791200"/>
            <a:ext cx="5038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B45309"/>
                </a:solidFill>
                <a:latin typeface="PingFang SC"/>
                <a:ea typeface="PingFang SC"/>
              </a:rPr>
              <a:t>工业现场最大的坑：喂进去的资料本身版本混乱、过期未撤。</a:t>
            </a:r>
            <a:endParaRPr/>
          </a:p>
        </p:txBody>
      </p:sp>
      <p:sp>
        <p:nvSpPr>
          <p:cNvPr id="392" name=""/>
          <p:cNvSpPr/>
          <p:nvPr/>
        </p:nvSpPr>
        <p:spPr>
          <a:xfrm rot="0" flipH="0" flipV="0">
            <a:off x="6429375" y="1276350"/>
            <a:ext cx="5076825" cy="487680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>
              <a:srgbClr val="1E3A8A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393" name="" descr="{&quot;isTemplate&quot;:true,&quot;type&quot;:&quot;text&quot;}"/>
          <p:cNvSpPr txBox="1"/>
          <p:nvPr/>
        </p:nvSpPr>
        <p:spPr>
          <a:xfrm rot="0" flipH="0" flipV="0">
            <a:off x="6677025" y="1485900"/>
            <a:ext cx="45815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3A8A"/>
                </a:solidFill>
                <a:latin typeface="PingFang SC"/>
                <a:ea typeface="PingFang SC"/>
              </a:rPr>
              <a:t>来源权威分级（谁的话更可信）</a:t>
            </a:r>
            <a:endParaRPr/>
          </a:p>
        </p:txBody>
      </p:sp>
      <p:sp>
        <p:nvSpPr>
          <p:cNvPr id="394" name="" descr="{&quot;isTemplate&quot;:true,&quot;type&quot;:&quot;text&quot;}"/>
          <p:cNvSpPr txBox="1"/>
          <p:nvPr/>
        </p:nvSpPr>
        <p:spPr>
          <a:xfrm rot="0" flipH="0" flipV="0">
            <a:off x="6677025" y="184785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B45309"/>
                </a:solidFill>
                <a:latin typeface="PingFang SC"/>
                <a:ea typeface="PingFang SC"/>
              </a:rPr>
              <a:t>厂商手册</a:t>
            </a:r>
            <a:endParaRPr/>
          </a:p>
        </p:txBody>
      </p:sp>
      <p:sp>
        <p:nvSpPr>
          <p:cNvPr id="395" name="" descr="{&quot;isTemplate&quot;:true,&quot;type&quot;:&quot;text&quot;}"/>
          <p:cNvSpPr txBox="1"/>
          <p:nvPr/>
        </p:nvSpPr>
        <p:spPr>
          <a:xfrm rot="0" flipH="0" flipV="0">
            <a:off x="7343775" y="1857375"/>
            <a:ext cx="111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PingFang SC"/>
                <a:ea typeface="PingFang SC"/>
              </a:rPr>
              <a:t>系统原厂参数与限位</a:t>
            </a:r>
            <a:endParaRPr/>
          </a:p>
        </p:txBody>
      </p:sp>
      <p:sp>
        <p:nvSpPr>
          <p:cNvPr id="396" name=""/>
          <p:cNvSpPr/>
          <p:nvPr/>
        </p:nvSpPr>
        <p:spPr>
          <a:xfrm rot="0" flipH="0" flipV="0">
            <a:off x="6677025" y="2057400"/>
            <a:ext cx="4581525" cy="76200"/>
          </a:xfrm>
          <a:prstGeom prst="roundRect">
            <a:avLst>
              <a:gd name="adj" fmla="val 50000"/>
            </a:avLst>
          </a:prstGeom>
          <a:solidFill>
            <a:srgbClr val="EDF3FB"/>
          </a:solidFill>
          <a:ln/>
        </p:spPr>
        <p:txBody>
          <a:bodyPr/>
          <a:p/>
        </p:txBody>
      </p:sp>
      <p:sp>
        <p:nvSpPr>
          <p:cNvPr id="397" name=""/>
          <p:cNvSpPr/>
          <p:nvPr/>
        </p:nvSpPr>
        <p:spPr>
          <a:xfrm rot="0" flipH="0" flipV="0">
            <a:off x="6677025" y="2057400"/>
            <a:ext cx="4581525" cy="762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398" name="" descr="{&quot;isTemplate&quot;:true,&quot;type&quot;:&quot;text&quot;}"/>
          <p:cNvSpPr txBox="1"/>
          <p:nvPr/>
        </p:nvSpPr>
        <p:spPr>
          <a:xfrm rot="0" flipH="0" flipV="0">
            <a:off x="6677025" y="2247900"/>
            <a:ext cx="1000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B45309"/>
                </a:solidFill>
                <a:latin typeface="PingFang SC"/>
                <a:ea typeface="PingFang SC"/>
              </a:rPr>
              <a:t>受控作业指导书</a:t>
            </a:r>
            <a:endParaRPr/>
          </a:p>
        </p:txBody>
      </p:sp>
      <p:sp>
        <p:nvSpPr>
          <p:cNvPr id="399" name="" descr="{&quot;isTemplate&quot;:true,&quot;type&quot;:&quot;text&quot;}"/>
          <p:cNvSpPr txBox="1"/>
          <p:nvPr/>
        </p:nvSpPr>
        <p:spPr>
          <a:xfrm rot="0" flipH="0" flipV="0">
            <a:off x="7772400" y="2257425"/>
            <a:ext cx="111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PingFang SC"/>
                <a:ea typeface="PingFang SC"/>
              </a:rPr>
              <a:t>受版本管理、经审批</a:t>
            </a:r>
            <a:endParaRPr/>
          </a:p>
        </p:txBody>
      </p:sp>
      <p:sp>
        <p:nvSpPr>
          <p:cNvPr id="400" name=""/>
          <p:cNvSpPr/>
          <p:nvPr/>
        </p:nvSpPr>
        <p:spPr>
          <a:xfrm rot="0" flipH="0" flipV="0">
            <a:off x="6677025" y="2457450"/>
            <a:ext cx="4581525" cy="76200"/>
          </a:xfrm>
          <a:prstGeom prst="roundRect">
            <a:avLst>
              <a:gd name="adj" fmla="val 50000"/>
            </a:avLst>
          </a:prstGeom>
          <a:solidFill>
            <a:srgbClr val="EDF3FB"/>
          </a:solidFill>
          <a:ln/>
        </p:spPr>
        <p:txBody>
          <a:bodyPr/>
          <a:p/>
        </p:txBody>
      </p:sp>
      <p:sp>
        <p:nvSpPr>
          <p:cNvPr id="401" name=""/>
          <p:cNvSpPr/>
          <p:nvPr/>
        </p:nvSpPr>
        <p:spPr>
          <a:xfrm rot="0" flipH="0" flipV="0">
            <a:off x="6677025" y="2457450"/>
            <a:ext cx="3667125" cy="762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402" name="" descr="{&quot;isTemplate&quot;:true,&quot;type&quot;:&quot;text&quot;}"/>
          <p:cNvSpPr txBox="1"/>
          <p:nvPr/>
        </p:nvSpPr>
        <p:spPr>
          <a:xfrm rot="0" flipH="0" flipV="0">
            <a:off x="6677025" y="264795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43566B"/>
                </a:solidFill>
                <a:latin typeface="PingFang SC"/>
                <a:ea typeface="PingFang SC"/>
              </a:rPr>
              <a:t>工艺标准</a:t>
            </a:r>
            <a:endParaRPr/>
          </a:p>
        </p:txBody>
      </p:sp>
      <p:sp>
        <p:nvSpPr>
          <p:cNvPr id="403" name="" descr="{&quot;isTemplate&quot;:true,&quot;type&quot;:&quot;text&quot;}"/>
          <p:cNvSpPr txBox="1"/>
          <p:nvPr/>
        </p:nvSpPr>
        <p:spPr>
          <a:xfrm rot="0" flipH="0" flipV="0">
            <a:off x="7343775" y="2657475"/>
            <a:ext cx="742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PingFang SC"/>
                <a:ea typeface="PingFang SC"/>
              </a:rPr>
              <a:t>企业内控标准</a:t>
            </a:r>
            <a:endParaRPr/>
          </a:p>
        </p:txBody>
      </p:sp>
      <p:sp>
        <p:nvSpPr>
          <p:cNvPr id="404" name=""/>
          <p:cNvSpPr/>
          <p:nvPr/>
        </p:nvSpPr>
        <p:spPr>
          <a:xfrm rot="0" flipH="0" flipV="0">
            <a:off x="6677025" y="2857500"/>
            <a:ext cx="4581525" cy="76200"/>
          </a:xfrm>
          <a:prstGeom prst="roundRect">
            <a:avLst>
              <a:gd name="adj" fmla="val 50000"/>
            </a:avLst>
          </a:prstGeom>
          <a:solidFill>
            <a:srgbClr val="EDF3FB"/>
          </a:solidFill>
          <a:ln/>
        </p:spPr>
        <p:txBody>
          <a:bodyPr/>
          <a:p/>
        </p:txBody>
      </p:sp>
      <p:sp>
        <p:nvSpPr>
          <p:cNvPr id="405" name=""/>
          <p:cNvSpPr/>
          <p:nvPr/>
        </p:nvSpPr>
        <p:spPr>
          <a:xfrm rot="0" flipH="0" flipV="0">
            <a:off x="6677025" y="2857500"/>
            <a:ext cx="2752725" cy="762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406" name="" descr="{&quot;isTemplate&quot;:true,&quot;type&quot;:&quot;text&quot;}"/>
          <p:cNvSpPr txBox="1"/>
          <p:nvPr/>
        </p:nvSpPr>
        <p:spPr>
          <a:xfrm rot="0" flipH="0" flipV="0">
            <a:off x="6677025" y="304800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43566B"/>
                </a:solidFill>
                <a:latin typeface="PingFang SC"/>
                <a:ea typeface="PingFang SC"/>
              </a:rPr>
              <a:t>历史处理单</a:t>
            </a:r>
            <a:endParaRPr/>
          </a:p>
        </p:txBody>
      </p:sp>
      <p:sp>
        <p:nvSpPr>
          <p:cNvPr id="407" name="" descr="{&quot;isTemplate&quot;:true,&quot;type&quot;:&quot;text&quot;}"/>
          <p:cNvSpPr txBox="1"/>
          <p:nvPr/>
        </p:nvSpPr>
        <p:spPr>
          <a:xfrm rot="0" flipH="0" flipV="0">
            <a:off x="7343775" y="3057525"/>
            <a:ext cx="111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PingFang SC"/>
                <a:ea typeface="PingFang SC"/>
              </a:rPr>
              <a:t>修过什么、怎么修的</a:t>
            </a:r>
            <a:endParaRPr/>
          </a:p>
        </p:txBody>
      </p:sp>
      <p:sp>
        <p:nvSpPr>
          <p:cNvPr id="408" name=""/>
          <p:cNvSpPr/>
          <p:nvPr/>
        </p:nvSpPr>
        <p:spPr>
          <a:xfrm rot="0" flipH="0" flipV="0">
            <a:off x="6677025" y="3257550"/>
            <a:ext cx="4581525" cy="76200"/>
          </a:xfrm>
          <a:prstGeom prst="roundRect">
            <a:avLst>
              <a:gd name="adj" fmla="val 50000"/>
            </a:avLst>
          </a:prstGeom>
          <a:solidFill>
            <a:srgbClr val="EDF3FB"/>
          </a:solidFill>
          <a:ln/>
        </p:spPr>
        <p:txBody>
          <a:bodyPr/>
          <a:p/>
        </p:txBody>
      </p:sp>
      <p:sp>
        <p:nvSpPr>
          <p:cNvPr id="409" name=""/>
          <p:cNvSpPr/>
          <p:nvPr/>
        </p:nvSpPr>
        <p:spPr>
          <a:xfrm rot="0" flipH="0" flipV="0">
            <a:off x="6677025" y="3257550"/>
            <a:ext cx="1828800" cy="762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410" name="" descr="{&quot;isTemplate&quot;:true,&quot;type&quot;:&quot;text&quot;}"/>
          <p:cNvSpPr txBox="1"/>
          <p:nvPr/>
        </p:nvSpPr>
        <p:spPr>
          <a:xfrm rot="0" flipH="0" flipV="0">
            <a:off x="6677025" y="344805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43566B"/>
                </a:solidFill>
                <a:latin typeface="PingFang SC"/>
                <a:ea typeface="PingFang SC"/>
              </a:rPr>
              <a:t>技师笔记</a:t>
            </a:r>
            <a:endParaRPr/>
          </a:p>
        </p:txBody>
      </p:sp>
      <p:sp>
        <p:nvSpPr>
          <p:cNvPr id="411" name="" descr="{&quot;isTemplate&quot;:true,&quot;type&quot;:&quot;text&quot;}"/>
          <p:cNvSpPr txBox="1"/>
          <p:nvPr/>
        </p:nvSpPr>
        <p:spPr>
          <a:xfrm rot="0" flipH="0" flipV="0">
            <a:off x="7343775" y="3457575"/>
            <a:ext cx="111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PingFang SC"/>
                <a:ea typeface="PingFang SC"/>
              </a:rPr>
              <a:t>经验线索，需人核实</a:t>
            </a:r>
            <a:endParaRPr/>
          </a:p>
        </p:txBody>
      </p:sp>
      <p:sp>
        <p:nvSpPr>
          <p:cNvPr id="412" name=""/>
          <p:cNvSpPr/>
          <p:nvPr/>
        </p:nvSpPr>
        <p:spPr>
          <a:xfrm rot="0" flipH="0" flipV="0">
            <a:off x="6677025" y="3657600"/>
            <a:ext cx="4581525" cy="76200"/>
          </a:xfrm>
          <a:prstGeom prst="roundRect">
            <a:avLst>
              <a:gd name="adj" fmla="val 50000"/>
            </a:avLst>
          </a:prstGeom>
          <a:solidFill>
            <a:srgbClr val="EDF3FB"/>
          </a:solidFill>
          <a:ln/>
        </p:spPr>
        <p:txBody>
          <a:bodyPr/>
          <a:p/>
        </p:txBody>
      </p:sp>
      <p:sp>
        <p:nvSpPr>
          <p:cNvPr id="413" name=""/>
          <p:cNvSpPr/>
          <p:nvPr/>
        </p:nvSpPr>
        <p:spPr>
          <a:xfrm rot="0" flipH="0" flipV="0">
            <a:off x="6677025" y="3657600"/>
            <a:ext cx="1009650" cy="762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414" name="" descr="{&quot;isTemplate&quot;:true,&quot;type&quot;:&quot;text&quot;}"/>
          <p:cNvSpPr txBox="1"/>
          <p:nvPr/>
        </p:nvSpPr>
        <p:spPr>
          <a:xfrm rot="0" flipH="0" flipV="0">
            <a:off x="6677025" y="5505450"/>
            <a:ext cx="4581525" cy="438150"/>
          </a:xfrm>
          <a:prstGeom prst="rect"/>
        </p:spPr>
        <p:txBody>
          <a:bodyPr wrap="square" lIns="0" tIns="85725" rIns="0" bIns="0">
            <a:normAutofit/>
          </a:bodyPr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检索结果按权威度加权：手册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＞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作业指导书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＞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标准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＞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处理单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＞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笔记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——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冲突时，信上面。</a:t>
            </a:r>
            <a:endParaRPr/>
          </a:p>
        </p:txBody>
      </p:sp>
      <p:sp>
        <p:nvSpPr>
          <p:cNvPr id="415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1123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AI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场景落地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中级</a:t>
            </a:r>
            <a:endParaRPr/>
          </a:p>
        </p:txBody>
      </p:sp>
      <p:sp>
        <p:nvSpPr>
          <p:cNvPr id="416" name="" descr="{&quot;isTemplate&quot;:true,&quot;type&quot;:&quot;text&quot;}"/>
          <p:cNvSpPr txBox="1"/>
          <p:nvPr/>
        </p:nvSpPr>
        <p:spPr>
          <a:xfrm rot="0" flipH="0" flipV="0">
            <a:off x="11049000" y="63627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21 / 34</a:t>
            </a:r>
            <a:endParaRPr/>
          </a:p>
        </p:txBody>
      </p:sp>
    </p:spTree>
  </p:cSld>
</p:sld>
</file>

<file path=ppt/slides/slide22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417" name="" descr="const rules = [&#10;    { icon: 'quote-right', t: '给引用', d: '每个结论附来源文档与段落，点得开、查得到' },&#10;    { icon: 'question-circle', t: '不确定要说', d: '置信度低时直说「把握不大」，不装懂' },&#10;    { icon: 'ban', t: '证据缺失拒答', d: '库里查不到就不答，宁可空着不编' },&#10;];&#10;&lt;Slide style={{ width: '1280px', height: '720px', background: '#F5F8FC', padding: '24px 72px', boxSizing: 'border-box', flexDirection: 'column', fontFamily: 'PingFang SC, Source Han Sans SC, sans-serif' }}&gt;&#10;    &lt;Box style={{ height: 96, flexDirection: 'row', alignItems: 'center', gap: 16 }}&gt;&#10;        &lt;Box style={{ width: 5, height: 46, background: '#06B6D4', borderRadius: 3 }} /&gt;&#10;        &lt;Box&gt;&#10;            &lt;Text style={{ fontSize: 34, fontWeight: 'bold', color: '#1E3A8A', lineHeight: 1.2 }}&gt;接地三要件：工业知识库的「安全带」&lt;/Text&gt;&#10;            &lt;Text style={{ fontSize: 17, color: '#64748B', marginTop: 4 }}&gt;车间用的 AI，必须「有据可查、知难而退、不瞎编」&lt;/Text&gt;&#10;        &lt;/Box&gt;&#10;    &lt;/Box&gt;&#10;    &lt;Box style={{ flexDirection: 'row', gap: 20, marginTop: 16 }}&gt;&#10;        {rules.map((r, i) =&gt; (&#10;            &lt;Box key={i} style={{ flex: 1, background: '#FFFFFF', borderRadius: 16, padding: '22px 24px', border: '1px solid #E2E8F0', boxShadow: '0 4px 16px rgba(30,58,138,0.06)', flexDirection: 'column' }}&gt;&#10;                &lt;Box style={{ width: 58, height: 58, borderRadius: 14, background: '#E0F7FA', justifyContent: 'center', alignItems: 'center', marginBottom: 14 }}&gt;&#10;                    &lt;FAIcon name={r.icon} style={{ fill: '#0891B2', width: 28, height: 28 }} /&gt;&#10;                &lt;/Box&gt;&#10;                &lt;Text style={{ fontSize: 21, fontWeight: 'bold', color: '#1E3A8A', marginBottom: 8 }}&gt;{r.t}&lt;/Text&gt;&#10;                &lt;Text style={{ fontSize: 16, color: '#43566b', lineHeight: 1.65 }}&gt;{r.d}&lt;/Text&gt;&#10;            &lt;/Box&gt;&#10;        ))}&#10;    &lt;/Box&gt;&#10;    &lt;Box style={{ flex: 1, flexDirection: 'row', gap: 24, marginTop: 20 }}&gt;&#10;        &lt;Box style={{ flex: 1, background: '#FFFFFF', borderRadius: 16, padding: '20px 26px', border: '1px solid #E2E8F0' }}&gt;&#10;            &lt;Box style={{ flexDirection: 'row', alignItems: 'center', gap: 10, marginBottom: 12 }}&gt;&#10;                &lt;FAIcon name=&quot;lock&quot; style={{ fill: '#1E3A8A', width: 20, height: 20 }} /&gt;&#10;                &lt;Text style={{ fontSize: 18, fontWeight: 'bold', color: '#1E3A8A' }}&gt;受控发布&lt;/Text&gt;&#10;            &lt;/Box&gt;&#10;            &lt;Text style={{ fontSize: 16, color: '#43566b', lineHeight: 1.8 }}&gt;知识库内容更新走受控流程：起草 → 工艺确认 → 安全确认（含 LOTO 锁停挂牌步骤）→ 版本发布。&lt;br /&gt;&lt;span style={{ fontWeight: 'bold', color: '#B45309' }}&gt;AI 能改初稿，但不能自己改「发布版」。&lt;/span&gt;&lt;/Text&gt;&#10;        &lt;/Box&gt;&#10;        &lt;Box style={{ flex: 1, padding: '20px 26px', background: '#FEEFE0', borderRadius: 16, border: '2px solid #F59E0B', flexDirection: 'column', justifyContent: 'center' }}&gt;&#10;            &lt;Text style={{ fontSize: 22, fontWeight: 'bold', color: '#B45309' }}&gt;红线&lt;/Text&gt;&#10;            &lt;Text style={{ fontSize: 20, color: '#43566b', lineHeight: 1.7, marginTop: 10 }}&gt;AI 生成的内容，&lt;span style={{ fontWeight: 'bold', color: '#B45309' }}&gt;核准之前，永远只是草稿&lt;/span&gt; —— 对 SOP 如此，对报价单、对工单，同样如此。&lt;/Text&gt;&#10;        &lt;/Box&gt;&#10;    &lt;/Box&gt;&#10;    &lt;Box style={{ height: 40, flexDirection: 'row', justifyContent: 'space-between', alignItems: 'center', marginTop: 12 }}&gt;&#10;        &lt;Text style={{ fontSize: 14, color: '#64748B' }}&gt;AI 场景落地 · 中级&lt;/Text&gt;&#10;        &lt;Text style={{ fontSize: 14, color: '#64748B' }}&gt;22 / 34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/>
        </p:spPr>
        <p:txBody>
          <a:bodyPr/>
          <a:p/>
        </p:txBody>
      </p:sp>
      <p:sp>
        <p:nvSpPr>
          <p:cNvPr id="419" name=""/>
          <p:cNvSpPr/>
          <p:nvPr/>
        </p:nvSpPr>
        <p:spPr>
          <a:xfrm rot="0" flipH="0" flipV="0">
            <a:off x="685800" y="466725"/>
            <a:ext cx="47625" cy="438150"/>
          </a:xfrm>
          <a:prstGeom prst="roundRect">
            <a:avLst>
              <a:gd name="adj" fmla="val 60000"/>
            </a:avLst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420" name="" descr="{&quot;isTemplate&quot;:true,&quot;type&quot;:&quot;text&quot;}"/>
          <p:cNvSpPr txBox="1"/>
          <p:nvPr/>
        </p:nvSpPr>
        <p:spPr>
          <a:xfrm rot="0" flipH="0" flipV="0">
            <a:off x="885825" y="333375"/>
            <a:ext cx="550545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>接地三要件：工业知识库的「安全带」</a:t>
            </a:r>
            <a:endParaRPr/>
          </a:p>
        </p:txBody>
      </p:sp>
      <p:sp>
        <p:nvSpPr>
          <p:cNvPr id="421" name="" descr="{&quot;isTemplate&quot;:true,&quot;type&quot;:&quot;text&quot;}"/>
          <p:cNvSpPr txBox="1"/>
          <p:nvPr/>
        </p:nvSpPr>
        <p:spPr>
          <a:xfrm rot="0" flipH="0" flipV="0">
            <a:off x="885825" y="838200"/>
            <a:ext cx="55054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现场用的</a:t>
            </a:r>
            <a:r>
              <a:rPr lang="en-US" sz="1275">
                <a:solidFill>
                  <a:srgbClr val="64748B"/>
                </a:solidFill>
                <a:latin typeface="PingFang SC"/>
                <a:ea typeface="PingFang SC"/>
              </a:rPr>
              <a:t> AI</a:t>
            </a: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，必须「有据可查、知难而退、不瞎编」</a:t>
            </a:r>
            <a:endParaRPr/>
          </a:p>
        </p:txBody>
      </p:sp>
      <p:sp>
        <p:nvSpPr>
          <p:cNvPr id="422" name=""/>
          <p:cNvSpPr/>
          <p:nvPr/>
        </p:nvSpPr>
        <p:spPr>
          <a:xfrm rot="0" flipH="0" flipV="0">
            <a:off x="685800" y="1295400"/>
            <a:ext cx="3476625" cy="2038350"/>
          </a:xfrm>
          <a:prstGeom prst="roundRect">
            <a:avLst>
              <a:gd name="adj" fmla="val 74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>
              <a:srgbClr val="1E3A8A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423" name=""/>
          <p:cNvSpPr/>
          <p:nvPr/>
        </p:nvSpPr>
        <p:spPr>
          <a:xfrm rot="0" flipH="0" flipV="0">
            <a:off x="914400" y="1504950"/>
            <a:ext cx="552450" cy="552450"/>
          </a:xfrm>
          <a:prstGeom prst="roundRect">
            <a:avLst>
              <a:gd name="adj" fmla="val 24138"/>
            </a:avLst>
          </a:prstGeom>
          <a:solidFill>
            <a:srgbClr val="E0F7FA"/>
          </a:solidFill>
          <a:ln/>
        </p:spPr>
        <p:txBody>
          <a:bodyPr/>
          <a:p/>
        </p:txBody>
      </p:sp>
      <p:pic>
        <p:nvPicPr>
          <p:cNvPr id="42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057275" y="1647825"/>
            <a:ext cx="266700" cy="266700"/>
          </a:xfrm>
          <a:prstGeom prst="rect">
            <a:avLst/>
          </a:prstGeom>
          <a:ln/>
        </p:spPr>
      </p:pic>
      <p:sp>
        <p:nvSpPr>
          <p:cNvPr id="425" name="" descr="{&quot;isTemplate&quot;:true,&quot;type&quot;:&quot;text&quot;}"/>
          <p:cNvSpPr txBox="1"/>
          <p:nvPr/>
        </p:nvSpPr>
        <p:spPr>
          <a:xfrm rot="0" flipH="0" flipV="0">
            <a:off x="914400" y="2190750"/>
            <a:ext cx="30194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E3A8A"/>
                </a:solidFill>
                <a:latin typeface="PingFang SC"/>
                <a:ea typeface="PingFang SC"/>
              </a:rPr>
              <a:t>给引用</a:t>
            </a:r>
            <a:endParaRPr/>
          </a:p>
        </p:txBody>
      </p:sp>
      <p:sp>
        <p:nvSpPr>
          <p:cNvPr id="426" name="" descr="{&quot;isTemplate&quot;:true,&quot;type&quot;:&quot;text&quot;}"/>
          <p:cNvSpPr txBox="1"/>
          <p:nvPr/>
        </p:nvSpPr>
        <p:spPr>
          <a:xfrm rot="0" flipH="0" flipV="0">
            <a:off x="914400" y="2514600"/>
            <a:ext cx="3019425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00">
                <a:solidFill>
                  <a:srgbClr val="43566B"/>
                </a:solidFill>
                <a:latin typeface="PingFang SC"/>
                <a:ea typeface="PingFang SC"/>
              </a:rPr>
              <a:t>每个结论附来源文档与段落，点得开、查得到</a:t>
            </a:r>
            <a:endParaRPr/>
          </a:p>
        </p:txBody>
      </p:sp>
      <p:sp>
        <p:nvSpPr>
          <p:cNvPr id="427" name=""/>
          <p:cNvSpPr/>
          <p:nvPr/>
        </p:nvSpPr>
        <p:spPr>
          <a:xfrm rot="0" flipH="0" flipV="0">
            <a:off x="4352925" y="1295400"/>
            <a:ext cx="3486150" cy="2038350"/>
          </a:xfrm>
          <a:prstGeom prst="roundRect">
            <a:avLst>
              <a:gd name="adj" fmla="val 74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>
              <a:srgbClr val="1E3A8A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428" name=""/>
          <p:cNvSpPr/>
          <p:nvPr/>
        </p:nvSpPr>
        <p:spPr>
          <a:xfrm rot="0" flipH="0" flipV="0">
            <a:off x="4581525" y="1504950"/>
            <a:ext cx="552450" cy="552450"/>
          </a:xfrm>
          <a:prstGeom prst="roundRect">
            <a:avLst>
              <a:gd name="adj" fmla="val 24138"/>
            </a:avLst>
          </a:prstGeom>
          <a:solidFill>
            <a:srgbClr val="E0F7FA"/>
          </a:solidFill>
          <a:ln/>
        </p:spPr>
        <p:txBody>
          <a:bodyPr/>
          <a:p/>
        </p:txBody>
      </p:sp>
      <p:pic>
        <p:nvPicPr>
          <p:cNvPr id="42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724400" y="1647825"/>
            <a:ext cx="266700" cy="266700"/>
          </a:xfrm>
          <a:prstGeom prst="rect">
            <a:avLst/>
          </a:prstGeom>
          <a:ln/>
        </p:spPr>
      </p:pic>
      <p:sp>
        <p:nvSpPr>
          <p:cNvPr id="430" name="" descr="{&quot;isTemplate&quot;:true,&quot;type&quot;:&quot;text&quot;}"/>
          <p:cNvSpPr txBox="1"/>
          <p:nvPr/>
        </p:nvSpPr>
        <p:spPr>
          <a:xfrm rot="0" flipH="0" flipV="0">
            <a:off x="4581525" y="2190750"/>
            <a:ext cx="30289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E3A8A"/>
                </a:solidFill>
                <a:latin typeface="PingFang SC"/>
                <a:ea typeface="PingFang SC"/>
              </a:rPr>
              <a:t>不确定要说</a:t>
            </a:r>
            <a:endParaRPr/>
          </a:p>
        </p:txBody>
      </p:sp>
      <p:sp>
        <p:nvSpPr>
          <p:cNvPr id="431" name="" descr="{&quot;isTemplate&quot;:true,&quot;type&quot;:&quot;text&quot;}"/>
          <p:cNvSpPr txBox="1"/>
          <p:nvPr/>
        </p:nvSpPr>
        <p:spPr>
          <a:xfrm rot="0" flipH="0" flipV="0">
            <a:off x="4581525" y="2514600"/>
            <a:ext cx="3028950" cy="3048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200">
                <a:solidFill>
                  <a:srgbClr val="43566B"/>
                </a:solidFill>
                <a:latin typeface="PingFang SC"/>
                <a:ea typeface="PingFang SC"/>
              </a:rPr>
              <a:t>置信度低时直说「把握不大」，不装懂</a:t>
            </a:r>
            <a:endParaRPr/>
          </a:p>
        </p:txBody>
      </p:sp>
      <p:sp>
        <p:nvSpPr>
          <p:cNvPr id="432" name=""/>
          <p:cNvSpPr/>
          <p:nvPr/>
        </p:nvSpPr>
        <p:spPr>
          <a:xfrm rot="0" flipH="0" flipV="0">
            <a:off x="8029575" y="1295400"/>
            <a:ext cx="3476625" cy="2038350"/>
          </a:xfrm>
          <a:prstGeom prst="roundRect">
            <a:avLst>
              <a:gd name="adj" fmla="val 74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>
              <a:srgbClr val="1E3A8A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433" name=""/>
          <p:cNvSpPr/>
          <p:nvPr/>
        </p:nvSpPr>
        <p:spPr>
          <a:xfrm rot="0" flipH="0" flipV="0">
            <a:off x="8258175" y="1504950"/>
            <a:ext cx="552450" cy="552450"/>
          </a:xfrm>
          <a:prstGeom prst="roundRect">
            <a:avLst>
              <a:gd name="adj" fmla="val 24138"/>
            </a:avLst>
          </a:prstGeom>
          <a:solidFill>
            <a:srgbClr val="E0F7FA"/>
          </a:solidFill>
          <a:ln/>
        </p:spPr>
        <p:txBody>
          <a:bodyPr/>
          <a:p/>
        </p:txBody>
      </p:sp>
      <p:pic>
        <p:nvPicPr>
          <p:cNvPr id="43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8401050" y="1647825"/>
            <a:ext cx="266700" cy="266700"/>
          </a:xfrm>
          <a:prstGeom prst="rect">
            <a:avLst/>
          </a:prstGeom>
          <a:ln/>
        </p:spPr>
      </p:pic>
      <p:sp>
        <p:nvSpPr>
          <p:cNvPr id="435" name="" descr="{&quot;isTemplate&quot;:true,&quot;type&quot;:&quot;text&quot;}"/>
          <p:cNvSpPr txBox="1"/>
          <p:nvPr/>
        </p:nvSpPr>
        <p:spPr>
          <a:xfrm rot="0" flipH="0" flipV="0">
            <a:off x="8258175" y="2190750"/>
            <a:ext cx="30194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E3A8A"/>
                </a:solidFill>
                <a:latin typeface="PingFang SC"/>
                <a:ea typeface="PingFang SC"/>
              </a:rPr>
              <a:t>证据缺失拒答</a:t>
            </a:r>
            <a:endParaRPr/>
          </a:p>
        </p:txBody>
      </p:sp>
      <p:sp>
        <p:nvSpPr>
          <p:cNvPr id="436" name="" descr="{&quot;isTemplate&quot;:true,&quot;type&quot;:&quot;text&quot;}"/>
          <p:cNvSpPr txBox="1"/>
          <p:nvPr/>
        </p:nvSpPr>
        <p:spPr>
          <a:xfrm rot="0" flipH="0" flipV="0">
            <a:off x="8258175" y="2514600"/>
            <a:ext cx="3019425" cy="3048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200">
                <a:solidFill>
                  <a:srgbClr val="43566B"/>
                </a:solidFill>
                <a:latin typeface="PingFang SC"/>
                <a:ea typeface="PingFang SC"/>
              </a:rPr>
              <a:t>库里查不到就不答，宁可空着不编</a:t>
            </a:r>
            <a:endParaRPr/>
          </a:p>
        </p:txBody>
      </p:sp>
      <p:sp>
        <p:nvSpPr>
          <p:cNvPr id="437" name=""/>
          <p:cNvSpPr/>
          <p:nvPr/>
        </p:nvSpPr>
        <p:spPr>
          <a:xfrm rot="0" flipH="0" flipV="0">
            <a:off x="685800" y="3524250"/>
            <a:ext cx="5295900" cy="2609850"/>
          </a:xfrm>
          <a:prstGeom prst="roundRect">
            <a:avLst>
              <a:gd name="adj" fmla="val 583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pic>
        <p:nvPicPr>
          <p:cNvPr id="43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933450" y="3724275"/>
            <a:ext cx="190500" cy="190500"/>
          </a:xfrm>
          <a:prstGeom prst="rect">
            <a:avLst/>
          </a:prstGeom>
          <a:ln/>
        </p:spPr>
      </p:pic>
      <p:sp>
        <p:nvSpPr>
          <p:cNvPr id="439" name="" descr="{&quot;isTemplate&quot;:true,&quot;type&quot;:&quot;text&quot;}"/>
          <p:cNvSpPr txBox="1"/>
          <p:nvPr/>
        </p:nvSpPr>
        <p:spPr>
          <a:xfrm rot="0" flipH="0" flipV="0">
            <a:off x="1219200" y="3714750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3A8A"/>
                </a:solidFill>
                <a:latin typeface="PingFang SC"/>
                <a:ea typeface="PingFang SC"/>
              </a:rPr>
              <a:t>受控发布</a:t>
            </a:r>
            <a:endParaRPr/>
          </a:p>
        </p:txBody>
      </p:sp>
      <p:sp>
        <p:nvSpPr>
          <p:cNvPr id="440" name="" descr="{&quot;isTemplate&quot;:true,&quot;type&quot;:&quot;text&quot;}"/>
          <p:cNvSpPr txBox="1"/>
          <p:nvPr/>
        </p:nvSpPr>
        <p:spPr>
          <a:xfrm rot="0" flipH="0" flipV="0">
            <a:off x="933450" y="4038600"/>
            <a:ext cx="4800600" cy="990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200">
                <a:solidFill>
                  <a:srgbClr val="43566B"/>
                </a:solidFill>
                <a:latin typeface="PingFang SC"/>
                <a:ea typeface="PingFang SC"/>
              </a:rPr>
              <a:t>知识库内容更新走受控流程：起草</a:t>
            </a:r>
            <a:r>
              <a:rPr lang="en-US" sz="1200">
                <a:solidFill>
                  <a:srgbClr val="43566B"/>
                </a:solidFill>
                <a:latin typeface="PingFang SC"/>
                <a:ea typeface="PingFang SC"/>
              </a:rPr>
              <a:t> → </a:t>
            </a:r>
            <a:r>
              <a:rPr lang="zh-CN" sz="1200">
                <a:solidFill>
                  <a:srgbClr val="43566B"/>
                </a:solidFill>
                <a:latin typeface="PingFang SC"/>
                <a:ea typeface="PingFang SC"/>
              </a:rPr>
              <a:t>工艺确认</a:t>
            </a:r>
            <a:r>
              <a:rPr lang="en-US" sz="1200">
                <a:solidFill>
                  <a:srgbClr val="43566B"/>
                </a:solidFill>
                <a:latin typeface="PingFang SC"/>
                <a:ea typeface="PingFang SC"/>
              </a:rPr>
              <a:t> → </a:t>
            </a:r>
            <a:r>
              <a:rPr lang="zh-CN" sz="1200">
                <a:solidFill>
                  <a:srgbClr val="43566B"/>
                </a:solidFill>
                <a:latin typeface="PingFang SC"/>
                <a:ea typeface="PingFang SC"/>
              </a:rPr>
              <a:t>安全确认（含</a:t>
            </a:r>
            <a:r>
              <a:rPr lang="en-US" sz="1200">
                <a:solidFill>
                  <a:srgbClr val="43566B"/>
                </a:solidFill>
                <a:latin typeface="PingFang SC"/>
                <a:ea typeface="PingFang SC"/>
              </a:rPr>
              <a:t> 安全前置 </a:t>
            </a:r>
            <a:r>
              <a:rPr lang="zh-CN" sz="1200">
                <a:solidFill>
                  <a:srgbClr val="43566B"/>
                </a:solidFill>
                <a:latin typeface="PingFang SC"/>
                <a:ea typeface="PingFang SC"/>
              </a:rPr>
              <a:t>锁停挂牌步骤）→</a:t>
            </a:r>
            <a:r>
              <a:rPr lang="en-US" sz="1200">
                <a:solidFill>
                  <a:srgbClr val="43566B"/>
                </a:solidFill>
                <a:latin typeface="PingFang SC"/>
                <a:ea typeface="PingFang SC"/>
              </a:rPr>
              <a:t> </a:t>
            </a:r>
            <a:r>
              <a:rPr lang="zh-CN" sz="1200">
                <a:solidFill>
                  <a:srgbClr val="43566B"/>
                </a:solidFill>
                <a:latin typeface="PingFang SC"/>
                <a:ea typeface="PingFang SC"/>
              </a:rPr>
              <a:t>版本发布。</a:t>
            </a:r>
            <a:endParaRPr/>
          </a:p>
          <a:p>
            <a:pPr>
              <a:lnSpc>
                <a:spcPct val="180000"/>
              </a:lnSpc>
            </a:pPr>
            <a:r>
              <a:rPr lang="en-US" sz="1200" b="1">
                <a:solidFill>
                  <a:srgbClr val="B45309"/>
                </a:solidFill>
                <a:latin typeface="PingFang SC"/>
                <a:ea typeface="PingFang SC"/>
              </a:rPr>
              <a:t>AI </a:t>
            </a:r>
            <a:r>
              <a:rPr lang="zh-CN" sz="1200" b="1">
                <a:solidFill>
                  <a:srgbClr val="B45309"/>
                </a:solidFill>
                <a:latin typeface="PingFang SC"/>
                <a:ea typeface="PingFang SC"/>
              </a:rPr>
              <a:t>能改初稿，但不能自己改「发布版」。</a:t>
            </a:r>
            <a:endParaRPr/>
          </a:p>
        </p:txBody>
      </p:sp>
      <p:sp>
        <p:nvSpPr>
          <p:cNvPr id="441" name=""/>
          <p:cNvSpPr/>
          <p:nvPr/>
        </p:nvSpPr>
        <p:spPr>
          <a:xfrm rot="0" flipH="0" flipV="0">
            <a:off x="6210300" y="3524250"/>
            <a:ext cx="5295900" cy="2609850"/>
          </a:xfrm>
          <a:prstGeom prst="roundRect">
            <a:avLst>
              <a:gd name="adj" fmla="val 5839"/>
            </a:avLst>
          </a:prstGeom>
          <a:solidFill>
            <a:srgbClr val="FEEFE0"/>
          </a:solidFill>
          <a:ln w="254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442" name="" descr="{&quot;isTemplate&quot;:true,&quot;type&quot;:&quot;text&quot;}"/>
          <p:cNvSpPr txBox="1"/>
          <p:nvPr/>
        </p:nvSpPr>
        <p:spPr>
          <a:xfrm rot="0" flipH="0" flipV="0">
            <a:off x="6457950" y="4267200"/>
            <a:ext cx="48006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B45309"/>
                </a:solidFill>
                <a:latin typeface="PingFang SC"/>
                <a:ea typeface="PingFang SC"/>
              </a:rPr>
              <a:t>红线</a:t>
            </a:r>
            <a:endParaRPr/>
          </a:p>
        </p:txBody>
      </p:sp>
      <p:sp>
        <p:nvSpPr>
          <p:cNvPr id="443" name="" descr="{&quot;isTemplate&quot;:true,&quot;type&quot;:&quot;text&quot;}"/>
          <p:cNvSpPr txBox="1"/>
          <p:nvPr/>
        </p:nvSpPr>
        <p:spPr>
          <a:xfrm rot="0" flipH="0" flipV="0">
            <a:off x="6457950" y="4619625"/>
            <a:ext cx="4800600" cy="781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1500">
                <a:solidFill>
                  <a:srgbClr val="43566B"/>
                </a:solidFill>
                <a:latin typeface="PingFang SC"/>
                <a:ea typeface="PingFang SC"/>
              </a:rPr>
              <a:t>AI </a:t>
            </a:r>
            <a:r>
              <a:rPr lang="zh-CN" sz="1500">
                <a:solidFill>
                  <a:srgbClr val="43566B"/>
                </a:solidFill>
                <a:latin typeface="PingFang SC"/>
                <a:ea typeface="PingFang SC"/>
              </a:rPr>
              <a:t>生成的内容，</a:t>
            </a:r>
            <a:r>
              <a:rPr lang="zh-CN" sz="1500" b="1">
                <a:solidFill>
                  <a:srgbClr val="B45309"/>
                </a:solidFill>
                <a:latin typeface="PingFang SC"/>
                <a:ea typeface="PingFang SC"/>
              </a:rPr>
              <a:t>核准之前，永远只是草稿</a:t>
            </a:r>
            <a:r>
              <a:rPr lang="en-US" sz="1500">
                <a:solidFill>
                  <a:srgbClr val="43566B"/>
                </a:solidFill>
                <a:latin typeface="PingFang SC"/>
                <a:ea typeface="PingFang SC"/>
              </a:rPr>
              <a:t> —— </a:t>
            </a:r>
            <a:r>
              <a:rPr lang="zh-CN" sz="1500">
                <a:solidFill>
                  <a:srgbClr val="43566B"/>
                </a:solidFill>
                <a:latin typeface="PingFang SC"/>
                <a:ea typeface="PingFang SC"/>
              </a:rPr>
              <a:t>对</a:t>
            </a:r>
            <a:r>
              <a:rPr lang="en-US" sz="1500">
                <a:solidFill>
                  <a:srgbClr val="43566B"/>
                </a:solidFill>
                <a:latin typeface="PingFang SC"/>
                <a:ea typeface="PingFang SC"/>
              </a:rPr>
              <a:t> SOP </a:t>
            </a:r>
            <a:r>
              <a:rPr lang="zh-CN" sz="1500">
                <a:solidFill>
                  <a:srgbClr val="43566B"/>
                </a:solidFill>
                <a:latin typeface="PingFang SC"/>
                <a:ea typeface="PingFang SC"/>
              </a:rPr>
              <a:t>如此，对报价单、对处理单，同样如此。</a:t>
            </a:r>
            <a:endParaRPr/>
          </a:p>
        </p:txBody>
      </p:sp>
      <p:sp>
        <p:nvSpPr>
          <p:cNvPr id="444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1123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AI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场景落地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中级</a:t>
            </a:r>
            <a:endParaRPr/>
          </a:p>
        </p:txBody>
      </p:sp>
      <p:sp>
        <p:nvSpPr>
          <p:cNvPr id="445" name="" descr="{&quot;isTemplate&quot;:true,&quot;type&quot;:&quot;text&quot;}"/>
          <p:cNvSpPr txBox="1"/>
          <p:nvPr/>
        </p:nvSpPr>
        <p:spPr>
          <a:xfrm rot="0" flipH="0" flipV="0">
            <a:off x="11029950" y="63627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22 / 34</a:t>
            </a:r>
            <a:endParaRPr/>
          </a:p>
        </p:txBody>
      </p:sp>
    </p:spTree>
  </p:cSld>
</p:sld>
</file>

<file path=ppt/slides/slide23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446" name="" descr="const sopSteps = ['选资料', '切分', '向量化', '接 AI', '设引用', '复核发布'];&#10;const loops = [&#10;    { icon: 'eye', t: '感知', d: '读传感器 / 工单 / 图片' },&#10;    { icon: 'brain', t: '规划', d: '决定下一步做什么' },&#10;    { icon: 'bolt', t: '行动', d: '调工具 / 写记录 / 报警' },&#10;    { icon: 'sync-alt', t: '观察', d: '看结果对不对，再循环' },&#10;];&#10;&lt;Slide style={{ width: '1280px', height: '720px', background: '#F5F8FC', padding: '24px 72px', boxSizing: 'border-box', flexDirection: 'column', fontFamily: 'PingFang SC, Source Han Sans SC, sans-serif' }}&gt;&#10;    &lt;Box style={{ height: 96, flexDirection: 'row', alignItems: 'center', gap: 16 }}&gt;&#10;        &lt;Box style={{ width: 5, height: 46, background: '#06B6D4', borderRadius: 3 }} /&gt;&#10;        &lt;Box&gt;&#10;            &lt;Text style={{ fontSize: 34, fontWeight: 'bold', color: '#1E3A8A', lineHeight: 1.2 }}&gt;实操：修一个 SOP 助手 + 智能体最小形态&lt;/Text&gt;&#10;            &lt;Text style={{ fontSize: 17, color: '#64748B', marginTop: 4 }}&gt;零代码、用现成知识库平台，一节课摸一遍全流程&lt;/Text&gt;&#10;        &lt;/Box&gt;&#10;    &lt;/Box&gt;&#10;    &lt;Box style={{ flex: 1, flexDirection: 'row', gap: 26, marginTop: 14 }}&gt;&#10;        &lt;Box style={{ flex: 55, background: '#FFFFFF', borderRadius: 16, padding: '22px 26px', border: '1px solid #E2E8F0', boxShadow: '0 4px 16px rgba(30,58,138,0.06)', flexDirection: 'column' }}&gt;&#10;            &lt;Text style={{ fontSize: 18, fontWeight: 'bold', color: '#1E3A8A', marginBottom: 14 }}&gt;SOP 助手六步（课堂实操路径）&lt;/Text&gt;&#10;            &lt;Box style={{ flexDirection: 'row', alignItems: 'center', gap: 6 }}&gt;&#10;                {sopSteps.map((s, i) =&gt; (&#10;                    &lt;Box key={i} style={{ flexDirection: 'row', alignItems: 'center', gap: 6 }}&gt;&#10;                        &lt;Box style={{ padding: '10px 13px', background: i === 5 ? '#1E3A8A' : '#E0F7FA', borderRadius: 10 }}&gt;&#10;                            &lt;Text style={{ fontSize: 15, fontWeight: 'bold', color: i === 5 ? '#FFFFFF' : '#0891B2' }}&gt;{i + 1}. {s}&lt;/Text&gt;&#10;                        &lt;/Box&gt;&#10;                        {i &lt; sopSteps.length - 1 &amp;&amp; &lt;FAIcon name=&quot;arrow-right&quot; style={{ fill: '#06B6D4', width: 14, height: 14 }} /&gt;}&#10;                    &lt;/Box&gt;&#10;                ))}&#10;            &lt;/Box&gt;&#10;            &lt;Box style={{ flex: 1, marginTop: 18, borderRadius: 14, overflow: 'hidden', background: '#1E3A8A' }}&gt;&#10;                &lt;Image src=&quot;assets/knowledge_base.png&quot; style={{ width: '100%', height: '100%', objectFit: 'cover' }} /&gt;&#10;            &lt;/Box&gt;&#10;            &lt;Text style={{ fontSize: 14, color: '#64748B', marginTop: 12, lineHeight: 1.6 }}&gt;验收口径：问 10 个作业问题，≥8 个答对且给得出出处，才算「可用」。&lt;/Text&gt;&#10;        &lt;/Box&gt;&#10;        &lt;Box style={{ flex: 45, flexDirection: 'column' }}&gt;&#10;            &lt;Box style={{ background: '#1E3A8A', borderRadius: 16, padding: '22px 26px', boxShadow: '0 8px 28px rgba(30,58,138,0.25)' }}&gt;&#10;                &lt;Text style={{ fontSize: 18, fontWeight: 'bold', color: '#FFFFFF' }}&gt;工业智能体最小形态&lt;/Text&gt;&#10;                &lt;Box style={{ flexDirection: 'column', gap: 10, marginTop: 14 }}&gt;&#10;                    {loops.map((l, i) =&gt; (&#10;                        &lt;Box key={i} style={{ flexDirection: 'row', alignItems: 'center', gap: 12, padding: '8px 14px', background: 'rgba(6,182,212,0.15)', borderRadius: 10, border: '1px solid rgba(6,182,212,0.45)' }}&gt;&#10;                            &lt;FAIcon name={l.icon} style={{ fill: '#7FD9F0', width: 20, height: 20 }} /&gt;&#10;                            &lt;Text style={{ fontSize: 16, fontWeight: 'bold', color: '#FFFFFF', width: 52 }}&gt;{l.t}&lt;/Text&gt;&#10;                            &lt;Text style={{ flex: 1, fontSize: 14, color: '#DCE9FB' }}&gt;{l.d}&lt;/Text&gt;&#10;                        &lt;/Box&gt;&#10;                    ))}&#10;                &lt;/Box&gt;&#10;            &lt;/Box&gt;&#10;            &lt;Box style={{ flex: 1, marginTop: 16, padding: '16px 22px', background: '#FEEFE0', borderRadius: 14, border: '1px solid #FDE7C8' }}&gt;&#10;                &lt;Text style={{ fontSize: 16, fontWeight: 'bold', color: '#B45309', lineHeight: 1.7 }}&gt;智能体不是魔法，是「闭环」：&lt;br /&gt;把「问答助手」升级成能调工具、能执行、能看结果的「干活助手」—— 先干好一件事，再谈更多。&lt;/Text&gt;&#10;            &lt;/Box&gt;&#10;        &lt;/Box&gt;&#10;    &lt;/Box&gt;&#10;    &lt;Box style={{ height: 40, flexDirection: 'row', justifyContent: 'space-between', alignItems: 'center', marginTop: 10 }}&gt;&#10;        &lt;Text style={{ fontSize: 14, color: '#64748B' }}&gt;AI 场景落地 · 中级&lt;/Text&gt;&#10;        &lt;Text style={{ fontSize: 14, color: '#64748B' }}&gt;23 / 34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/>
        </p:spPr>
        <p:txBody>
          <a:bodyPr/>
          <a:p/>
        </p:txBody>
      </p:sp>
      <p:sp>
        <p:nvSpPr>
          <p:cNvPr id="448" name=""/>
          <p:cNvSpPr/>
          <p:nvPr/>
        </p:nvSpPr>
        <p:spPr>
          <a:xfrm rot="0" flipH="0" flipV="0">
            <a:off x="685800" y="466725"/>
            <a:ext cx="47625" cy="438150"/>
          </a:xfrm>
          <a:prstGeom prst="roundRect">
            <a:avLst>
              <a:gd name="adj" fmla="val 60000"/>
            </a:avLst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449" name="" descr="{&quot;isTemplate&quot;:true,&quot;type&quot;:&quot;text&quot;}"/>
          <p:cNvSpPr txBox="1"/>
          <p:nvPr/>
        </p:nvSpPr>
        <p:spPr>
          <a:xfrm rot="0" flipH="0" flipV="0">
            <a:off x="885825" y="333375"/>
            <a:ext cx="6162675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>实操：修一个</a:t>
            </a:r>
            <a:r>
              <a:rPr lang="en-US" sz="2550" b="1">
                <a:solidFill>
                  <a:srgbClr val="1E3A8A"/>
                </a:solidFill>
                <a:latin typeface="PingFang SC"/>
                <a:ea typeface="PingFang SC"/>
              </a:rPr>
              <a:t> SOP </a:t>
            </a: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>助手</a:t>
            </a:r>
            <a:r>
              <a:rPr lang="en-US" sz="2550" b="1">
                <a:solidFill>
                  <a:srgbClr val="1E3A8A"/>
                </a:solidFill>
                <a:latin typeface="PingFang SC"/>
                <a:ea typeface="PingFang SC"/>
              </a:rPr>
              <a:t> + </a:t>
            </a: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>智能体最小形态</a:t>
            </a:r>
            <a:endParaRPr/>
          </a:p>
        </p:txBody>
      </p:sp>
      <p:sp>
        <p:nvSpPr>
          <p:cNvPr id="450" name="" descr="{&quot;isTemplate&quot;:true,&quot;type&quot;:&quot;text&quot;}"/>
          <p:cNvSpPr txBox="1"/>
          <p:nvPr/>
        </p:nvSpPr>
        <p:spPr>
          <a:xfrm rot="0" flipH="0" flipV="0">
            <a:off x="885825" y="838200"/>
            <a:ext cx="61626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零代码、用现成知识库平台，一节课摸一遍全流程</a:t>
            </a:r>
            <a:endParaRPr/>
          </a:p>
        </p:txBody>
      </p:sp>
      <p:sp>
        <p:nvSpPr>
          <p:cNvPr id="451" name=""/>
          <p:cNvSpPr/>
          <p:nvPr/>
        </p:nvSpPr>
        <p:spPr>
          <a:xfrm rot="0" flipH="0" flipV="0">
            <a:off x="685800" y="1276350"/>
            <a:ext cx="5819775" cy="487680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>
              <a:srgbClr val="1E3A8A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452" name="" descr="{&quot;isTemplate&quot;:true,&quot;type&quot;:&quot;text&quot;}"/>
          <p:cNvSpPr txBox="1"/>
          <p:nvPr/>
        </p:nvSpPr>
        <p:spPr>
          <a:xfrm rot="0" flipH="0" flipV="0">
            <a:off x="933450" y="1485900"/>
            <a:ext cx="53244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E3A8A"/>
                </a:solidFill>
                <a:latin typeface="PingFang SC"/>
                <a:ea typeface="PingFang SC"/>
              </a:rPr>
              <a:t>SOP </a:t>
            </a:r>
            <a:r>
              <a:rPr lang="zh-CN" sz="1350" b="1">
                <a:solidFill>
                  <a:srgbClr val="1E3A8A"/>
                </a:solidFill>
                <a:latin typeface="PingFang SC"/>
                <a:ea typeface="PingFang SC"/>
              </a:rPr>
              <a:t>助手六步（课堂实操路径）</a:t>
            </a:r>
            <a:endParaRPr/>
          </a:p>
        </p:txBody>
      </p:sp>
      <p:sp>
        <p:nvSpPr>
          <p:cNvPr id="453" name=""/>
          <p:cNvSpPr/>
          <p:nvPr/>
        </p:nvSpPr>
        <p:spPr>
          <a:xfrm rot="0" flipH="0" flipV="0">
            <a:off x="933450" y="1828800"/>
            <a:ext cx="685800" cy="361950"/>
          </a:xfrm>
          <a:prstGeom prst="roundRect">
            <a:avLst>
              <a:gd name="adj" fmla="val 26316"/>
            </a:avLst>
          </a:prstGeom>
          <a:solidFill>
            <a:srgbClr val="E0F7FA"/>
          </a:solidFill>
          <a:ln/>
        </p:spPr>
        <p:txBody>
          <a:bodyPr/>
          <a:p/>
        </p:txBody>
      </p:sp>
      <p:sp>
        <p:nvSpPr>
          <p:cNvPr id="454" name="" descr="{&quot;isTemplate&quot;:true,&quot;type&quot;:&quot;text&quot;}"/>
          <p:cNvSpPr txBox="1"/>
          <p:nvPr/>
        </p:nvSpPr>
        <p:spPr>
          <a:xfrm rot="0" flipH="0" flipV="0">
            <a:off x="1057275" y="1924050"/>
            <a:ext cx="438150" cy="342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891B2"/>
                </a:solidFill>
                <a:latin typeface="PingFang SC"/>
                <a:ea typeface="PingFang SC"/>
              </a:rPr>
              <a:t>1</a:t>
            </a:r>
            <a:r>
              <a:rPr lang="en-US" sz="1125" b="1">
                <a:solidFill>
                  <a:srgbClr val="0891B2"/>
                </a:solidFill>
                <a:latin typeface="PingFang SC"/>
                <a:ea typeface="PingFang SC"/>
              </a:rPr>
              <a:t>. </a:t>
            </a:r>
            <a:r>
              <a:rPr lang="zh-CN" sz="1125" b="1">
                <a:solidFill>
                  <a:srgbClr val="0891B2"/>
                </a:solidFill>
                <a:latin typeface="PingFang SC"/>
                <a:ea typeface="PingFang SC"/>
              </a:rPr>
              <a:t>选资料</a:t>
            </a:r>
            <a:endParaRPr/>
          </a:p>
        </p:txBody>
      </p:sp>
      <p:pic>
        <p:nvPicPr>
          <p:cNvPr id="45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676400" y="1943100"/>
            <a:ext cx="133350" cy="133350"/>
          </a:xfrm>
          <a:prstGeom prst="rect">
            <a:avLst/>
          </a:prstGeom>
          <a:ln/>
        </p:spPr>
      </p:pic>
      <p:sp>
        <p:nvSpPr>
          <p:cNvPr id="456" name=""/>
          <p:cNvSpPr/>
          <p:nvPr/>
        </p:nvSpPr>
        <p:spPr>
          <a:xfrm rot="0" flipH="0" flipV="0">
            <a:off x="1847850" y="1828800"/>
            <a:ext cx="600075" cy="361950"/>
          </a:xfrm>
          <a:prstGeom prst="roundRect">
            <a:avLst>
              <a:gd name="adj" fmla="val 26316"/>
            </a:avLst>
          </a:prstGeom>
          <a:solidFill>
            <a:srgbClr val="E0F7FA"/>
          </a:solidFill>
          <a:ln/>
        </p:spPr>
        <p:txBody>
          <a:bodyPr/>
          <a:p/>
        </p:txBody>
      </p:sp>
      <p:sp>
        <p:nvSpPr>
          <p:cNvPr id="457" name="" descr="{&quot;isTemplate&quot;:true,&quot;type&quot;:&quot;text&quot;}"/>
          <p:cNvSpPr txBox="1"/>
          <p:nvPr/>
        </p:nvSpPr>
        <p:spPr>
          <a:xfrm rot="0" flipH="0" flipV="0">
            <a:off x="1971675" y="1924050"/>
            <a:ext cx="352425" cy="342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891B2"/>
                </a:solidFill>
                <a:latin typeface="PingFang SC"/>
                <a:ea typeface="PingFang SC"/>
              </a:rPr>
              <a:t>2</a:t>
            </a:r>
            <a:r>
              <a:rPr lang="en-US" sz="1125" b="1">
                <a:solidFill>
                  <a:srgbClr val="0891B2"/>
                </a:solidFill>
                <a:latin typeface="PingFang SC"/>
                <a:ea typeface="PingFang SC"/>
              </a:rPr>
              <a:t>. </a:t>
            </a:r>
            <a:r>
              <a:rPr lang="zh-CN" sz="1125" b="1">
                <a:solidFill>
                  <a:srgbClr val="0891B2"/>
                </a:solidFill>
                <a:latin typeface="PingFang SC"/>
                <a:ea typeface="PingFang SC"/>
              </a:rPr>
              <a:t>切分</a:t>
            </a:r>
            <a:endParaRPr/>
          </a:p>
        </p:txBody>
      </p:sp>
      <p:pic>
        <p:nvPicPr>
          <p:cNvPr id="45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2505075" y="1943100"/>
            <a:ext cx="133350" cy="133350"/>
          </a:xfrm>
          <a:prstGeom prst="rect">
            <a:avLst/>
          </a:prstGeom>
          <a:ln/>
        </p:spPr>
      </p:pic>
      <p:sp>
        <p:nvSpPr>
          <p:cNvPr id="459" name=""/>
          <p:cNvSpPr/>
          <p:nvPr/>
        </p:nvSpPr>
        <p:spPr>
          <a:xfrm rot="0" flipH="0" flipV="0">
            <a:off x="2676525" y="1828800"/>
            <a:ext cx="714375" cy="361950"/>
          </a:xfrm>
          <a:prstGeom prst="roundRect">
            <a:avLst>
              <a:gd name="adj" fmla="val 26316"/>
            </a:avLst>
          </a:prstGeom>
          <a:solidFill>
            <a:srgbClr val="E0F7FA"/>
          </a:solidFill>
          <a:ln/>
        </p:spPr>
        <p:txBody>
          <a:bodyPr/>
          <a:p/>
        </p:txBody>
      </p:sp>
      <p:sp>
        <p:nvSpPr>
          <p:cNvPr id="460" name="" descr="{&quot;isTemplate&quot;:true,&quot;type&quot;:&quot;text&quot;}"/>
          <p:cNvSpPr txBox="1"/>
          <p:nvPr/>
        </p:nvSpPr>
        <p:spPr>
          <a:xfrm rot="0" flipH="0" flipV="0">
            <a:off x="2800350" y="1924050"/>
            <a:ext cx="466725" cy="342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891B2"/>
                </a:solidFill>
                <a:latin typeface="PingFang SC"/>
                <a:ea typeface="PingFang SC"/>
              </a:rPr>
              <a:t>3</a:t>
            </a:r>
            <a:r>
              <a:rPr lang="en-US" sz="1125" b="1">
                <a:solidFill>
                  <a:srgbClr val="0891B2"/>
                </a:solidFill>
                <a:latin typeface="PingFang SC"/>
                <a:ea typeface="PingFang SC"/>
              </a:rPr>
              <a:t>. </a:t>
            </a:r>
            <a:r>
              <a:rPr lang="zh-CN" sz="1125" b="1">
                <a:solidFill>
                  <a:srgbClr val="0891B2"/>
                </a:solidFill>
                <a:latin typeface="PingFang SC"/>
                <a:ea typeface="PingFang SC"/>
              </a:rPr>
              <a:t>向量化</a:t>
            </a:r>
            <a:endParaRPr/>
          </a:p>
        </p:txBody>
      </p:sp>
      <p:pic>
        <p:nvPicPr>
          <p:cNvPr id="46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448050" y="1943100"/>
            <a:ext cx="133350" cy="133350"/>
          </a:xfrm>
          <a:prstGeom prst="rect">
            <a:avLst/>
          </a:prstGeom>
          <a:ln/>
        </p:spPr>
      </p:pic>
      <p:sp>
        <p:nvSpPr>
          <p:cNvPr id="462" name=""/>
          <p:cNvSpPr/>
          <p:nvPr/>
        </p:nvSpPr>
        <p:spPr>
          <a:xfrm rot="0" flipH="0" flipV="0">
            <a:off x="3619500" y="1828800"/>
            <a:ext cx="619125" cy="361950"/>
          </a:xfrm>
          <a:prstGeom prst="roundRect">
            <a:avLst>
              <a:gd name="adj" fmla="val 26316"/>
            </a:avLst>
          </a:prstGeom>
          <a:solidFill>
            <a:srgbClr val="E0F7FA"/>
          </a:solidFill>
          <a:ln/>
        </p:spPr>
        <p:txBody>
          <a:bodyPr/>
          <a:p/>
        </p:txBody>
      </p:sp>
      <p:sp>
        <p:nvSpPr>
          <p:cNvPr id="463" name="" descr="{&quot;isTemplate&quot;:true,&quot;type&quot;:&quot;text&quot;}"/>
          <p:cNvSpPr txBox="1"/>
          <p:nvPr/>
        </p:nvSpPr>
        <p:spPr>
          <a:xfrm rot="0" flipH="0" flipV="0">
            <a:off x="3743325" y="1924050"/>
            <a:ext cx="371475" cy="342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891B2"/>
                </a:solidFill>
                <a:latin typeface="PingFang SC"/>
                <a:ea typeface="PingFang SC"/>
              </a:rPr>
              <a:t>4</a:t>
            </a:r>
            <a:r>
              <a:rPr lang="en-US" sz="1125" b="1">
                <a:solidFill>
                  <a:srgbClr val="0891B2"/>
                </a:solidFill>
                <a:latin typeface="PingFang SC"/>
                <a:ea typeface="PingFang SC"/>
              </a:rPr>
              <a:t>. </a:t>
            </a:r>
            <a:r>
              <a:rPr lang="zh-CN" sz="1125" b="1">
                <a:solidFill>
                  <a:srgbClr val="0891B2"/>
                </a:solidFill>
                <a:latin typeface="PingFang SC"/>
                <a:ea typeface="PingFang SC"/>
              </a:rPr>
              <a:t>接</a:t>
            </a:r>
            <a:r>
              <a:rPr lang="en-US" sz="1125" b="1">
                <a:solidFill>
                  <a:srgbClr val="0891B2"/>
                </a:solidFill>
                <a:latin typeface="PingFang SC"/>
                <a:ea typeface="PingFang SC"/>
              </a:rPr>
              <a:t> AI</a:t>
            </a:r>
            <a:endParaRPr/>
          </a:p>
        </p:txBody>
      </p:sp>
      <p:pic>
        <p:nvPicPr>
          <p:cNvPr id="46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295775" y="1943100"/>
            <a:ext cx="133350" cy="133350"/>
          </a:xfrm>
          <a:prstGeom prst="rect">
            <a:avLst/>
          </a:prstGeom>
          <a:ln/>
        </p:spPr>
      </p:pic>
      <p:sp>
        <p:nvSpPr>
          <p:cNvPr id="465" name=""/>
          <p:cNvSpPr/>
          <p:nvPr/>
        </p:nvSpPr>
        <p:spPr>
          <a:xfrm rot="0" flipH="0" flipV="0">
            <a:off x="4467225" y="1828800"/>
            <a:ext cx="714375" cy="361950"/>
          </a:xfrm>
          <a:prstGeom prst="roundRect">
            <a:avLst>
              <a:gd name="adj" fmla="val 26316"/>
            </a:avLst>
          </a:prstGeom>
          <a:solidFill>
            <a:srgbClr val="E0F7FA"/>
          </a:solidFill>
          <a:ln/>
        </p:spPr>
        <p:txBody>
          <a:bodyPr/>
          <a:p/>
        </p:txBody>
      </p:sp>
      <p:sp>
        <p:nvSpPr>
          <p:cNvPr id="466" name="" descr="{&quot;isTemplate&quot;:true,&quot;type&quot;:&quot;text&quot;}"/>
          <p:cNvSpPr txBox="1"/>
          <p:nvPr/>
        </p:nvSpPr>
        <p:spPr>
          <a:xfrm rot="0" flipH="0" flipV="0">
            <a:off x="4591050" y="1924050"/>
            <a:ext cx="466725" cy="342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891B2"/>
                </a:solidFill>
                <a:latin typeface="PingFang SC"/>
                <a:ea typeface="PingFang SC"/>
              </a:rPr>
              <a:t>5</a:t>
            </a:r>
            <a:r>
              <a:rPr lang="en-US" sz="1125" b="1">
                <a:solidFill>
                  <a:srgbClr val="0891B2"/>
                </a:solidFill>
                <a:latin typeface="PingFang SC"/>
                <a:ea typeface="PingFang SC"/>
              </a:rPr>
              <a:t>. </a:t>
            </a:r>
            <a:r>
              <a:rPr lang="zh-CN" sz="1125" b="1">
                <a:solidFill>
                  <a:srgbClr val="0891B2"/>
                </a:solidFill>
                <a:latin typeface="PingFang SC"/>
                <a:ea typeface="PingFang SC"/>
              </a:rPr>
              <a:t>设引用</a:t>
            </a:r>
            <a:endParaRPr/>
          </a:p>
        </p:txBody>
      </p:sp>
      <p:pic>
        <p:nvPicPr>
          <p:cNvPr id="46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238750" y="1943100"/>
            <a:ext cx="133350" cy="133350"/>
          </a:xfrm>
          <a:prstGeom prst="rect">
            <a:avLst/>
          </a:prstGeom>
          <a:ln/>
        </p:spPr>
      </p:pic>
      <p:sp>
        <p:nvSpPr>
          <p:cNvPr id="468" name=""/>
          <p:cNvSpPr/>
          <p:nvPr/>
        </p:nvSpPr>
        <p:spPr>
          <a:xfrm rot="0" flipH="0" flipV="0">
            <a:off x="5410200" y="1743075"/>
            <a:ext cx="847725" cy="533400"/>
          </a:xfrm>
          <a:prstGeom prst="roundRect">
            <a:avLst>
              <a:gd name="adj" fmla="val 17857"/>
            </a:avLst>
          </a:prstGeom>
          <a:solidFill>
            <a:srgbClr val="1E3A8A"/>
          </a:solidFill>
          <a:ln/>
        </p:spPr>
        <p:txBody>
          <a:bodyPr/>
          <a:p/>
        </p:txBody>
      </p:sp>
      <p:sp>
        <p:nvSpPr>
          <p:cNvPr id="469" name="" descr="{&quot;isTemplate&quot;:true,&quot;type&quot;:&quot;text&quot;}"/>
          <p:cNvSpPr txBox="1"/>
          <p:nvPr/>
        </p:nvSpPr>
        <p:spPr>
          <a:xfrm rot="0" flipH="0" flipV="0">
            <a:off x="5534025" y="1838325"/>
            <a:ext cx="600075" cy="342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PingFang SC"/>
                <a:ea typeface="PingFang SC"/>
              </a:rPr>
              <a:t>6</a:t>
            </a:r>
            <a:r>
              <a:rPr lang="en-US" sz="1125" b="1">
                <a:solidFill>
                  <a:srgbClr val="FFFFFF"/>
                </a:solidFill>
                <a:latin typeface="PingFang SC"/>
                <a:ea typeface="PingFang SC"/>
              </a:rPr>
              <a:t>. </a:t>
            </a:r>
            <a:r>
              <a:rPr lang="zh-CN" sz="1125" b="1">
                <a:solidFill>
                  <a:srgbClr val="FFFFFF"/>
                </a:solidFill>
                <a:latin typeface="PingFang SC"/>
                <a:ea typeface="PingFang SC"/>
              </a:rPr>
              <a:t>复核发布</a:t>
            </a:r>
            <a:endParaRPr/>
          </a:p>
        </p:txBody>
      </p:sp>
      <p:sp>
        <p:nvSpPr>
          <p:cNvPr id="470" name=""/>
          <p:cNvSpPr/>
          <p:nvPr/>
        </p:nvSpPr>
        <p:spPr>
          <a:xfrm rot="0" flipH="0" flipV="0">
            <a:off x="933450" y="2362200"/>
            <a:ext cx="5324475" cy="3209925"/>
          </a:xfrm>
          <a:prstGeom prst="roundRect">
            <a:avLst>
              <a:gd name="adj" fmla="val 4154"/>
            </a:avLst>
          </a:prstGeom>
          <a:solidFill>
            <a:srgbClr val="1E3A8A"/>
          </a:solidFill>
          <a:ln/>
        </p:spPr>
        <p:txBody>
          <a:bodyPr/>
          <a:p/>
        </p:txBody>
      </p:sp>
      <p:pic>
        <p:nvPicPr>
          <p:cNvPr id="471" name=""/>
          <p:cNvPicPr>
            <a:picLocks noChangeAspect="1"/>
          </p:cNvPicPr>
          <p:nvPr/>
        </p:nvPicPr>
        <p:blipFill>
          <a:blip r:embed="rId2"/>
          <a:srcRect l="0" t="19856" r="0" b="19856"/>
          <a:stretch>
            <a:fillRect/>
          </a:stretch>
        </p:blipFill>
        <p:spPr>
          <a:xfrm rot="0" flipH="0" flipV="0">
            <a:off x="933450" y="2362200"/>
            <a:ext cx="5324475" cy="3209925"/>
          </a:xfrm>
          <a:custGeom>
            <a:pathLst>
              <a:path w="559" h="337">
                <a:moveTo>
                  <a:pt x="545" y="0"/>
                </a:moveTo>
                <a:cubicBezTo>
                  <a:pt x="553" y="0"/>
                  <a:pt x="559" y="6"/>
                  <a:pt x="559" y="14"/>
                </a:cubicBezTo>
                <a:lnTo>
                  <a:pt x="559" y="323"/>
                </a:lnTo>
                <a:cubicBezTo>
                  <a:pt x="559" y="331"/>
                  <a:pt x="553" y="337"/>
                  <a:pt x="545" y="337"/>
                </a:cubicBezTo>
                <a:lnTo>
                  <a:pt x="14" y="337"/>
                </a:lnTo>
                <a:cubicBezTo>
                  <a:pt x="6" y="337"/>
                  <a:pt x="0" y="331"/>
                  <a:pt x="0" y="323"/>
                </a:cubicBezTo>
                <a:lnTo>
                  <a:pt x="0" y="14"/>
                </a:lnTo>
                <a:cubicBezTo>
                  <a:pt x="0" y="6"/>
                  <a:pt x="6" y="0"/>
                  <a:pt x="14" y="0"/>
                </a:cubicBezTo>
                <a:lnTo>
                  <a:pt x="545" y="0"/>
                </a:lnTo>
                <a:close/>
              </a:path>
            </a:pathLst>
          </a:custGeom>
          <a:ln/>
        </p:spPr>
      </p:pic>
      <p:sp>
        <p:nvSpPr>
          <p:cNvPr id="472" name="" descr="{&quot;isTemplate&quot;:true,&quot;type&quot;:&quot;text&quot;}"/>
          <p:cNvSpPr txBox="1"/>
          <p:nvPr/>
        </p:nvSpPr>
        <p:spPr>
          <a:xfrm rot="0" flipH="0" flipV="0">
            <a:off x="933450" y="5686425"/>
            <a:ext cx="5324475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验收口径：问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10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个作业问题，≥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8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个答对且给得出出处，才算「可用」。</a:t>
            </a:r>
            <a:endParaRPr/>
          </a:p>
        </p:txBody>
      </p:sp>
      <p:sp>
        <p:nvSpPr>
          <p:cNvPr id="473" name=""/>
          <p:cNvSpPr/>
          <p:nvPr/>
        </p:nvSpPr>
        <p:spPr>
          <a:xfrm rot="0" flipH="0" flipV="0">
            <a:off x="6753225" y="1276350"/>
            <a:ext cx="4752975" cy="2419350"/>
          </a:xfrm>
          <a:prstGeom prst="roundRect">
            <a:avLst>
              <a:gd name="adj" fmla="val 6299"/>
            </a:avLst>
          </a:prstGeom>
          <a:solidFill>
            <a:srgbClr val="1E3A8A"/>
          </a:solidFill>
          <a:ln/>
          <a:effectLst>
            <a:outerShdw blurRad="266700" dist="76200" dir="5400000">
              <a:srgbClr val="1E3A8A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74" name="" descr="{&quot;isTemplate&quot;:true,&quot;type&quot;:&quot;text&quot;}"/>
          <p:cNvSpPr txBox="1"/>
          <p:nvPr/>
        </p:nvSpPr>
        <p:spPr>
          <a:xfrm rot="0" flipH="0" flipV="0">
            <a:off x="7000875" y="1485900"/>
            <a:ext cx="42576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PingFang SC"/>
                <a:ea typeface="PingFang SC"/>
              </a:rPr>
              <a:t>行业智能体最小形态</a:t>
            </a:r>
            <a:endParaRPr/>
          </a:p>
        </p:txBody>
      </p:sp>
      <p:sp>
        <p:nvSpPr>
          <p:cNvPr id="475" name=""/>
          <p:cNvSpPr/>
          <p:nvPr/>
        </p:nvSpPr>
        <p:spPr>
          <a:xfrm rot="0" flipH="0" flipV="0">
            <a:off x="7000875" y="1828800"/>
            <a:ext cx="4257675" cy="342900"/>
          </a:xfrm>
          <a:prstGeom prst="roundRect">
            <a:avLst>
              <a:gd name="adj" fmla="val 27778"/>
            </a:avLst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45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47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7134225" y="1905000"/>
            <a:ext cx="190500" cy="190500"/>
          </a:xfrm>
          <a:prstGeom prst="rect">
            <a:avLst/>
          </a:prstGeom>
          <a:ln/>
        </p:spPr>
      </p:pic>
      <p:sp>
        <p:nvSpPr>
          <p:cNvPr id="477" name="" descr="{&quot;isTemplate&quot;:true,&quot;type&quot;:&quot;text&quot;}"/>
          <p:cNvSpPr txBox="1"/>
          <p:nvPr/>
        </p:nvSpPr>
        <p:spPr>
          <a:xfrm rot="0" flipH="0" flipV="0">
            <a:off x="7439025" y="1905000"/>
            <a:ext cx="495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PingFang SC"/>
                <a:ea typeface="PingFang SC"/>
              </a:rPr>
              <a:t>感知</a:t>
            </a:r>
            <a:endParaRPr/>
          </a:p>
        </p:txBody>
      </p:sp>
      <p:sp>
        <p:nvSpPr>
          <p:cNvPr id="478" name="" descr="{&quot;isTemplate&quot;:true,&quot;type&quot;:&quot;text&quot;}"/>
          <p:cNvSpPr txBox="1"/>
          <p:nvPr/>
        </p:nvSpPr>
        <p:spPr>
          <a:xfrm rot="0" flipH="0" flipV="0">
            <a:off x="8048625" y="1924050"/>
            <a:ext cx="3076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DCE9FB"/>
                </a:solidFill>
                <a:latin typeface="PingFang SC"/>
                <a:ea typeface="PingFang SC"/>
              </a:rPr>
              <a:t>读传感器</a:t>
            </a:r>
            <a:r>
              <a:rPr lang="en-US" sz="1050">
                <a:solidFill>
                  <a:srgbClr val="DCE9FB"/>
                </a:solidFill>
                <a:latin typeface="PingFang SC"/>
                <a:ea typeface="PingFang SC"/>
              </a:rPr>
              <a:t> / </a:t>
            </a:r>
            <a:r>
              <a:rPr lang="zh-CN" sz="1050">
                <a:solidFill>
                  <a:srgbClr val="DCE9FB"/>
                </a:solidFill>
                <a:latin typeface="PingFang SC"/>
                <a:ea typeface="PingFang SC"/>
              </a:rPr>
              <a:t>处理单</a:t>
            </a:r>
            <a:r>
              <a:rPr lang="en-US" sz="1050">
                <a:solidFill>
                  <a:srgbClr val="DCE9FB"/>
                </a:solidFill>
                <a:latin typeface="PingFang SC"/>
                <a:ea typeface="PingFang SC"/>
              </a:rPr>
              <a:t> / </a:t>
            </a:r>
            <a:r>
              <a:rPr lang="zh-CN" sz="1050">
                <a:solidFill>
                  <a:srgbClr val="DCE9FB"/>
                </a:solidFill>
                <a:latin typeface="PingFang SC"/>
                <a:ea typeface="PingFang SC"/>
              </a:rPr>
              <a:t>图片</a:t>
            </a:r>
            <a:endParaRPr/>
          </a:p>
        </p:txBody>
      </p:sp>
      <p:sp>
        <p:nvSpPr>
          <p:cNvPr id="479" name=""/>
          <p:cNvSpPr/>
          <p:nvPr/>
        </p:nvSpPr>
        <p:spPr>
          <a:xfrm rot="0" flipH="0" flipV="0">
            <a:off x="7000875" y="2266950"/>
            <a:ext cx="4257675" cy="342900"/>
          </a:xfrm>
          <a:prstGeom prst="roundRect">
            <a:avLst>
              <a:gd name="adj" fmla="val 27778"/>
            </a:avLst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45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48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7134225" y="2343150"/>
            <a:ext cx="190500" cy="190500"/>
          </a:xfrm>
          <a:prstGeom prst="rect">
            <a:avLst/>
          </a:prstGeom>
          <a:ln/>
        </p:spPr>
      </p:pic>
      <p:sp>
        <p:nvSpPr>
          <p:cNvPr id="481" name="" descr="{&quot;isTemplate&quot;:true,&quot;type&quot;:&quot;text&quot;}"/>
          <p:cNvSpPr txBox="1"/>
          <p:nvPr/>
        </p:nvSpPr>
        <p:spPr>
          <a:xfrm rot="0" flipH="0" flipV="0">
            <a:off x="7439025" y="2343150"/>
            <a:ext cx="495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PingFang SC"/>
                <a:ea typeface="PingFang SC"/>
              </a:rPr>
              <a:t>规划</a:t>
            </a:r>
            <a:endParaRPr/>
          </a:p>
        </p:txBody>
      </p:sp>
      <p:sp>
        <p:nvSpPr>
          <p:cNvPr id="482" name="" descr="{&quot;isTemplate&quot;:true,&quot;type&quot;:&quot;text&quot;}"/>
          <p:cNvSpPr txBox="1"/>
          <p:nvPr/>
        </p:nvSpPr>
        <p:spPr>
          <a:xfrm rot="0" flipH="0" flipV="0">
            <a:off x="8048625" y="2362200"/>
            <a:ext cx="3076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DCE9FB"/>
                </a:solidFill>
                <a:latin typeface="PingFang SC"/>
                <a:ea typeface="PingFang SC"/>
              </a:rPr>
              <a:t>决定下一步做什么</a:t>
            </a:r>
            <a:endParaRPr/>
          </a:p>
        </p:txBody>
      </p:sp>
      <p:sp>
        <p:nvSpPr>
          <p:cNvPr id="483" name=""/>
          <p:cNvSpPr/>
          <p:nvPr/>
        </p:nvSpPr>
        <p:spPr>
          <a:xfrm rot="0" flipH="0" flipV="0">
            <a:off x="7000875" y="2705100"/>
            <a:ext cx="4257675" cy="342900"/>
          </a:xfrm>
          <a:prstGeom prst="roundRect">
            <a:avLst>
              <a:gd name="adj" fmla="val 27778"/>
            </a:avLst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45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48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7134225" y="2781300"/>
            <a:ext cx="190500" cy="190500"/>
          </a:xfrm>
          <a:prstGeom prst="rect">
            <a:avLst/>
          </a:prstGeom>
          <a:ln/>
        </p:spPr>
      </p:pic>
      <p:sp>
        <p:nvSpPr>
          <p:cNvPr id="485" name="" descr="{&quot;isTemplate&quot;:true,&quot;type&quot;:&quot;text&quot;}"/>
          <p:cNvSpPr txBox="1"/>
          <p:nvPr/>
        </p:nvSpPr>
        <p:spPr>
          <a:xfrm rot="0" flipH="0" flipV="0">
            <a:off x="7439025" y="2781300"/>
            <a:ext cx="495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PingFang SC"/>
                <a:ea typeface="PingFang SC"/>
              </a:rPr>
              <a:t>行动</a:t>
            </a:r>
            <a:endParaRPr/>
          </a:p>
        </p:txBody>
      </p:sp>
      <p:sp>
        <p:nvSpPr>
          <p:cNvPr id="486" name="" descr="{&quot;isTemplate&quot;:true,&quot;type&quot;:&quot;text&quot;}"/>
          <p:cNvSpPr txBox="1"/>
          <p:nvPr/>
        </p:nvSpPr>
        <p:spPr>
          <a:xfrm rot="0" flipH="0" flipV="0">
            <a:off x="8048625" y="2800350"/>
            <a:ext cx="3076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DCE9FB"/>
                </a:solidFill>
                <a:latin typeface="PingFang SC"/>
                <a:ea typeface="PingFang SC"/>
              </a:rPr>
              <a:t>调工具</a:t>
            </a:r>
            <a:r>
              <a:rPr lang="en-US" sz="1050">
                <a:solidFill>
                  <a:srgbClr val="DCE9FB"/>
                </a:solidFill>
                <a:latin typeface="PingFang SC"/>
                <a:ea typeface="PingFang SC"/>
              </a:rPr>
              <a:t> / </a:t>
            </a:r>
            <a:r>
              <a:rPr lang="zh-CN" sz="1050">
                <a:solidFill>
                  <a:srgbClr val="DCE9FB"/>
                </a:solidFill>
                <a:latin typeface="PingFang SC"/>
                <a:ea typeface="PingFang SC"/>
              </a:rPr>
              <a:t>写记录</a:t>
            </a:r>
            <a:r>
              <a:rPr lang="en-US" sz="1050">
                <a:solidFill>
                  <a:srgbClr val="DCE9FB"/>
                </a:solidFill>
                <a:latin typeface="PingFang SC"/>
                <a:ea typeface="PingFang SC"/>
              </a:rPr>
              <a:t> / </a:t>
            </a:r>
            <a:r>
              <a:rPr lang="zh-CN" sz="1050">
                <a:solidFill>
                  <a:srgbClr val="DCE9FB"/>
                </a:solidFill>
                <a:latin typeface="PingFang SC"/>
                <a:ea typeface="PingFang SC"/>
              </a:rPr>
              <a:t>报警</a:t>
            </a:r>
            <a:endParaRPr/>
          </a:p>
        </p:txBody>
      </p:sp>
      <p:sp>
        <p:nvSpPr>
          <p:cNvPr id="487" name=""/>
          <p:cNvSpPr/>
          <p:nvPr/>
        </p:nvSpPr>
        <p:spPr>
          <a:xfrm rot="0" flipH="0" flipV="0">
            <a:off x="7000875" y="3143250"/>
            <a:ext cx="4257675" cy="342900"/>
          </a:xfrm>
          <a:prstGeom prst="roundRect">
            <a:avLst>
              <a:gd name="adj" fmla="val 27778"/>
            </a:avLst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45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48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 rot="0" flipH="0" flipV="0">
            <a:off x="7134225" y="3219450"/>
            <a:ext cx="190500" cy="190500"/>
          </a:xfrm>
          <a:prstGeom prst="rect">
            <a:avLst/>
          </a:prstGeom>
          <a:ln/>
        </p:spPr>
      </p:pic>
      <p:sp>
        <p:nvSpPr>
          <p:cNvPr id="489" name="" descr="{&quot;isTemplate&quot;:true,&quot;type&quot;:&quot;text&quot;}"/>
          <p:cNvSpPr txBox="1"/>
          <p:nvPr/>
        </p:nvSpPr>
        <p:spPr>
          <a:xfrm rot="0" flipH="0" flipV="0">
            <a:off x="7439025" y="3219450"/>
            <a:ext cx="495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PingFang SC"/>
                <a:ea typeface="PingFang SC"/>
              </a:rPr>
              <a:t>观察</a:t>
            </a:r>
            <a:endParaRPr/>
          </a:p>
        </p:txBody>
      </p:sp>
      <p:sp>
        <p:nvSpPr>
          <p:cNvPr id="490" name="" descr="{&quot;isTemplate&quot;:true,&quot;type&quot;:&quot;text&quot;}"/>
          <p:cNvSpPr txBox="1"/>
          <p:nvPr/>
        </p:nvSpPr>
        <p:spPr>
          <a:xfrm rot="0" flipH="0" flipV="0">
            <a:off x="8048625" y="3238500"/>
            <a:ext cx="3076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DCE9FB"/>
                </a:solidFill>
                <a:latin typeface="PingFang SC"/>
                <a:ea typeface="PingFang SC"/>
              </a:rPr>
              <a:t>看结果对不对，再循环</a:t>
            </a:r>
            <a:endParaRPr/>
          </a:p>
        </p:txBody>
      </p:sp>
      <p:sp>
        <p:nvSpPr>
          <p:cNvPr id="491" name=""/>
          <p:cNvSpPr/>
          <p:nvPr/>
        </p:nvSpPr>
        <p:spPr>
          <a:xfrm rot="0" flipH="0" flipV="0">
            <a:off x="6753225" y="3848100"/>
            <a:ext cx="4752975" cy="2305050"/>
          </a:xfrm>
          <a:prstGeom prst="roundRect">
            <a:avLst>
              <a:gd name="adj" fmla="val 5785"/>
            </a:avLst>
          </a:prstGeom>
          <a:solidFill>
            <a:srgbClr val="FEEFE0"/>
          </a:solidFill>
          <a:ln w="12700">
            <a:solidFill>
              <a:srgbClr val="FDE7C8"/>
            </a:solidFill>
            <a:prstDash val="solid"/>
          </a:ln>
        </p:spPr>
        <p:txBody>
          <a:bodyPr/>
          <a:p/>
        </p:txBody>
      </p:sp>
      <p:sp>
        <p:nvSpPr>
          <p:cNvPr id="492" name="" descr="{&quot;isTemplate&quot;:true,&quot;type&quot;:&quot;text&quot;}"/>
          <p:cNvSpPr txBox="1"/>
          <p:nvPr/>
        </p:nvSpPr>
        <p:spPr>
          <a:xfrm rot="0" flipH="0" flipV="0">
            <a:off x="6962775" y="4000500"/>
            <a:ext cx="4333875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 b="1">
                <a:solidFill>
                  <a:srgbClr val="B45309"/>
                </a:solidFill>
                <a:latin typeface="PingFang SC"/>
                <a:ea typeface="PingFang SC"/>
              </a:rPr>
              <a:t>智能体不是魔法，是「闭环」：</a:t>
            </a:r>
            <a:endParaRPr/>
          </a:p>
          <a:p>
            <a:pPr>
              <a:lnSpc>
                <a:spcPct val="170000"/>
              </a:lnSpc>
            </a:pPr>
            <a:r>
              <a:rPr lang="zh-CN" sz="1200" b="1">
                <a:solidFill>
                  <a:srgbClr val="B45309"/>
                </a:solidFill>
                <a:latin typeface="PingFang SC"/>
                <a:ea typeface="PingFang SC"/>
              </a:rPr>
              <a:t>把「问答助手」升级成能调工具、能执行、能看结果的「干活助手」——</a:t>
            </a:r>
            <a:r>
              <a:rPr lang="en-US" sz="1200" b="1">
                <a:solidFill>
                  <a:srgbClr val="B45309"/>
                </a:solidFill>
                <a:latin typeface="PingFang SC"/>
                <a:ea typeface="PingFang SC"/>
              </a:rPr>
              <a:t> </a:t>
            </a:r>
            <a:r>
              <a:rPr lang="zh-CN" sz="1200" b="1">
                <a:solidFill>
                  <a:srgbClr val="B45309"/>
                </a:solidFill>
                <a:latin typeface="PingFang SC"/>
                <a:ea typeface="PingFang SC"/>
              </a:rPr>
              <a:t>先干好一件事，再谈更多。</a:t>
            </a:r>
            <a:endParaRPr/>
          </a:p>
        </p:txBody>
      </p:sp>
      <p:sp>
        <p:nvSpPr>
          <p:cNvPr id="493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1123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AI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场景落地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中级</a:t>
            </a:r>
            <a:endParaRPr/>
          </a:p>
        </p:txBody>
      </p:sp>
      <p:sp>
        <p:nvSpPr>
          <p:cNvPr id="494" name="" descr="{&quot;isTemplate&quot;:true,&quot;type&quot;:&quot;text&quot;}"/>
          <p:cNvSpPr txBox="1"/>
          <p:nvPr/>
        </p:nvSpPr>
        <p:spPr>
          <a:xfrm rot="0" flipH="0" flipV="0">
            <a:off x="11029950" y="63627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23 / 34</a:t>
            </a:r>
            <a:endParaRPr/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95" name="" descr="&lt;Slide style={{ width: '1280px', height: '720px', position: 'relative', background: '#1E3A8A', overflow: 'hidden', fontFamily: 'PingFang SC, Source Han Sans SC, sans-serif' }}&gt;&#10;    &lt;Box style={{ position: 'absolute', top: 0, right: 0, width: 500, height: '720px' }}&gt;&#10;        &lt;Image src=&quot;assets/hero_cover.png&quot; style={{ width: '500px', height: '720px', objectFit: 'cover', opacity: 0.5 }} /&gt;&#10;        &lt;Box style={{ position: 'absolute', top: 0, left: 0, width: '500px', height: '720px', background: 'linear-gradient(90deg, rgba(30,58,138,1) 0%, rgba(30,58,138,0.15) 100%)' }} /&gt;&#10;    &lt;/Box&gt;&#10;    &lt;Box style={{ position: 'relative', zIndex: 1, height: '720px', padding: '0 84px', justifyContent: 'center' }}&gt;&#10;        &lt;Text style={{ fontSize: 130, fontWeight: 'bold', color: 'rgba(6,182,212,0.5)', lineHeight: 1, fontFamily: 'Space Grotesk, Inter' }}&gt;06&lt;/Text&gt;&#10;        &lt;Text style={{ fontSize: 18, color: '#7FD9F0', letterSpacing: 5, marginTop: 6 }}&gt;M6 · 3 课时&lt;/Text&gt;&#10;        &lt;Text style={{ fontSize: 54, fontWeight: 'bold', color: '#FFFFFF', marginTop: 20, lineHeight: 1.18 }}&gt;落地与申报&lt;br /&gt;让项目活下来、让资源跟上来&lt;/Text&gt;&#10;        &lt;Box style={{ width: 84, height: 4, background: '#06B6D4', marginTop: 30 }} /&gt;&#10;        &lt;Text style={{ fontSize: 19, color: '#A9C4E8', marginTop: 22, lineHeight: 1.6 }}&gt;生命周期六阶 · 数据就绪门槛 · ROI 算账 · 补贴四通道&lt;br /&gt;这门课的作业，攒起来就是一份试点申报书。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p/>
        </p:txBody>
      </p:sp>
      <p:pic>
        <p:nvPicPr>
          <p:cNvPr id="497" name=""/>
          <p:cNvPicPr>
            <a:picLocks noChangeAspect="1"/>
          </p:cNvPicPr>
          <p:nvPr/>
        </p:nvPicPr>
        <p:blipFill>
          <a:blip r:embed="rId1">
            <a:alphaModFix amt="50000"/>
          </a:blip>
          <a:srcRect l="26242" t="0" r="26242" b="0"/>
          <a:stretch>
            <a:fillRect/>
          </a:stretch>
        </p:blipFill>
        <p:spPr>
          <a:xfrm rot="0" flipH="0" flipV="0">
            <a:off x="7429500" y="0"/>
            <a:ext cx="4762500" cy="6858000"/>
          </a:xfrm>
          <a:prstGeom prst="rect">
            <a:avLst/>
          </a:prstGeom>
          <a:ln/>
        </p:spPr>
      </p:pic>
      <p:sp>
        <p:nvSpPr>
          <p:cNvPr id="498" name=""/>
          <p:cNvSpPr/>
          <p:nvPr/>
        </p:nvSpPr>
        <p:spPr>
          <a:xfrm rot="0" flipH="0" flipV="0">
            <a:off x="7429500" y="0"/>
            <a:ext cx="4762500" cy="6858000"/>
          </a:xfrm>
          <a:prstGeom prst="rect">
            <a:avLst/>
          </a:prstGeom>
          <a:gradFill>
            <a:gsLst>
              <a:gs pos="0">
                <a:srgbClr val="1E3A8A">
                  <a:alpha val="100000"/>
                </a:srgbClr>
              </a:gs>
              <a:gs pos="100000">
                <a:srgbClr val="1E3A8A">
                  <a:alpha val="1500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499" name="" descr="{&quot;isTemplate&quot;:true,&quot;type&quot;:&quot;text&quot;}"/>
          <p:cNvSpPr txBox="1"/>
          <p:nvPr/>
        </p:nvSpPr>
        <p:spPr>
          <a:xfrm rot="0" flipH="0" flipV="0">
            <a:off x="800100" y="1114425"/>
            <a:ext cx="10591800" cy="1485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0" b="1">
                <a:solidFill>
                  <a:srgbClr val="06B6D4">
                    <a:alpha val="50000"/>
                  </a:srgbClr>
                </a:solidFill>
                <a:latin typeface="Space Grotesk"/>
                <a:ea typeface="Space Grotesk"/>
              </a:rPr>
              <a:t>06</a:t>
            </a:r>
            <a:endParaRPr/>
          </a:p>
        </p:txBody>
      </p:sp>
      <p:sp>
        <p:nvSpPr>
          <p:cNvPr id="500" name="" descr="{&quot;isTemplate&quot;:true,&quot;type&quot;:&quot;text&quot;}"/>
          <p:cNvSpPr txBox="1"/>
          <p:nvPr/>
        </p:nvSpPr>
        <p:spPr>
          <a:xfrm rot="0" flipH="0" flipV="0">
            <a:off x="800100" y="2657475"/>
            <a:ext cx="10591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spc="375">
                <a:solidFill>
                  <a:srgbClr val="7FD9F0"/>
                </a:solidFill>
                <a:latin typeface="PingFang SC"/>
                <a:ea typeface="PingFang SC"/>
              </a:rPr>
              <a:t>M6 · 3 </a:t>
            </a:r>
            <a:r>
              <a:rPr lang="zh-CN" sz="1350" spc="375">
                <a:solidFill>
                  <a:srgbClr val="7FD9F0"/>
                </a:solidFill>
                <a:latin typeface="PingFang SC"/>
                <a:ea typeface="PingFang SC"/>
              </a:rPr>
              <a:t>课时</a:t>
            </a:r>
            <a:endParaRPr/>
          </a:p>
        </p:txBody>
      </p:sp>
      <p:sp>
        <p:nvSpPr>
          <p:cNvPr id="501" name="" descr="{&quot;isTemplate&quot;:true,&quot;type&quot;:&quot;text&quot;}"/>
          <p:cNvSpPr txBox="1"/>
          <p:nvPr/>
        </p:nvSpPr>
        <p:spPr>
          <a:xfrm rot="0" flipH="0" flipV="0">
            <a:off x="800100" y="3057525"/>
            <a:ext cx="10591800" cy="1457325"/>
          </a:xfrm>
          <a:prstGeom prst="rect"/>
        </p:spPr>
        <p:txBody>
          <a:bodyPr wrap="none" lIns="0" tIns="0" rIns="0" bIns="0"/>
          <a:p>
            <a:pPr>
              <a:lnSpc>
                <a:spcPct val="118000"/>
              </a:lnSpc>
            </a:pPr>
            <a:r>
              <a:rPr lang="zh-CN" sz="4050" b="1">
                <a:solidFill>
                  <a:srgbClr val="FFFFFF"/>
                </a:solidFill>
                <a:latin typeface="PingFang SC"/>
                <a:ea typeface="PingFang SC"/>
              </a:rPr>
              <a:t>落地与申报</a:t>
            </a:r>
            <a:endParaRPr/>
          </a:p>
          <a:p>
            <a:pPr>
              <a:lnSpc>
                <a:spcPct val="118000"/>
              </a:lnSpc>
            </a:pPr>
            <a:r>
              <a:rPr lang="zh-CN" sz="4050" b="1">
                <a:solidFill>
                  <a:srgbClr val="FFFFFF"/>
                </a:solidFill>
                <a:latin typeface="PingFang SC"/>
                <a:ea typeface="PingFang SC"/>
              </a:rPr>
              <a:t>让项目活下来、让资源跟上来</a:t>
            </a:r>
            <a:endParaRPr/>
          </a:p>
        </p:txBody>
      </p:sp>
      <p:sp>
        <p:nvSpPr>
          <p:cNvPr id="502" name=""/>
          <p:cNvSpPr/>
          <p:nvPr/>
        </p:nvSpPr>
        <p:spPr>
          <a:xfrm rot="0" flipH="0" flipV="0">
            <a:off x="800100" y="4800600"/>
            <a:ext cx="800100" cy="381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503" name="" descr="{&quot;isTemplate&quot;:true,&quot;type&quot;:&quot;text&quot;}"/>
          <p:cNvSpPr txBox="1"/>
          <p:nvPr/>
        </p:nvSpPr>
        <p:spPr>
          <a:xfrm rot="0" flipH="0" flipV="0">
            <a:off x="800100" y="5048250"/>
            <a:ext cx="10591800" cy="695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A9C4E8"/>
                </a:solidFill>
                <a:latin typeface="PingFang SC"/>
                <a:ea typeface="PingFang SC"/>
              </a:rPr>
              <a:t>生命周期六阶</a:t>
            </a:r>
            <a:r>
              <a:rPr lang="en-US" sz="1425">
                <a:solidFill>
                  <a:srgbClr val="A9C4E8"/>
                </a:solidFill>
                <a:latin typeface="PingFang SC"/>
                <a:ea typeface="PingFang SC"/>
              </a:rPr>
              <a:t> · </a:t>
            </a:r>
            <a:r>
              <a:rPr lang="zh-CN" sz="1425">
                <a:solidFill>
                  <a:srgbClr val="A9C4E8"/>
                </a:solidFill>
                <a:latin typeface="PingFang SC"/>
                <a:ea typeface="PingFang SC"/>
              </a:rPr>
              <a:t>数据就绪门槛</a:t>
            </a:r>
            <a:r>
              <a:rPr lang="en-US" sz="1425">
                <a:solidFill>
                  <a:srgbClr val="A9C4E8"/>
                </a:solidFill>
                <a:latin typeface="PingFang SC"/>
                <a:ea typeface="PingFang SC"/>
              </a:rPr>
              <a:t> · ROI </a:t>
            </a:r>
            <a:r>
              <a:rPr lang="zh-CN" sz="1425">
                <a:solidFill>
                  <a:srgbClr val="A9C4E8"/>
                </a:solidFill>
                <a:latin typeface="PingFang SC"/>
                <a:ea typeface="PingFang SC"/>
              </a:rPr>
              <a:t>算账</a:t>
            </a:r>
            <a:r>
              <a:rPr lang="en-US" sz="1425">
                <a:solidFill>
                  <a:srgbClr val="A9C4E8"/>
                </a:solidFill>
                <a:latin typeface="PingFang SC"/>
                <a:ea typeface="PingFang SC"/>
              </a:rPr>
              <a:t> · </a:t>
            </a:r>
            <a:r>
              <a:rPr lang="zh-CN" sz="1425">
                <a:solidFill>
                  <a:srgbClr val="A9C4E8"/>
                </a:solidFill>
                <a:latin typeface="PingFang SC"/>
                <a:ea typeface="PingFang SC"/>
              </a:rPr>
              <a:t>补贴四通道</a:t>
            </a:r>
            <a:endParaRPr/>
          </a:p>
          <a:p>
            <a:pPr>
              <a:lnSpc>
                <a:spcPct val="160000"/>
              </a:lnSpc>
            </a:pPr>
            <a:r>
              <a:rPr lang="zh-CN" sz="1425">
                <a:solidFill>
                  <a:srgbClr val="A9C4E8"/>
                </a:solidFill>
                <a:latin typeface="PingFang SC"/>
                <a:ea typeface="PingFang SC"/>
              </a:rPr>
              <a:t>这门课的作业，攒起来就是一份试点申报书。</a:t>
            </a:r>
            <a:endParaRPr/>
          </a:p>
        </p:txBody>
      </p:sp>
    </p:spTree>
  </p:cSld>
</p:sld>
</file>

<file path=ppt/slides/slide25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504" name="" descr="const stages = ['选题', '试点', '验证', '推广', '运维', '复盘'];&#10;const yes = ['数据可导出、能拿到', '采集频率满足分析需求', '有人对数据质量负责'];&#10;const no = ['经验在老师傅脑子里', '数据散落各系统导不出', '出了错没人敢签字'];&#10;&lt;Slide style={{ width: '1280px', height: '720px', background: '#F5F8FC', padding: '24px 72px', boxSizing: 'border-box', flexDirection: 'column', fontFamily: 'PingFang SC, Source Han Sans SC, sans-serif' }}&gt;&#10;    &lt;Box style={{ height: 96, flexDirection: 'row', alignItems: 'center', gap: 16 }}&gt;&#10;        &lt;Box style={{ width: 5, height: 46, background: '#06B6D4', borderRadius: 3 }} /&gt;&#10;        &lt;Box&gt;&#10;            &lt;Text style={{ fontSize: 34, fontWeight: 'bold', color: '#1E3A8A', lineHeight: 1.2 }}&gt;生命周期六阶 + 数据就绪门槛&lt;/Text&gt;&#10;            &lt;Text style={{ fontSize: 17, color: '#64748B', marginTop: 4 }}&gt;试点前先自检：数据不到位，别开跑&lt;/Text&gt;&#10;        &lt;/Box&gt;&#10;    &lt;/Box&gt;&#10;    &lt;Box style={{ flexDirection: 'row', alignItems: 'center', gap: 10, marginTop: 18 }}&gt;&#10;        {stages.map((s, i) =&gt; (&#10;            &lt;Box key={i} style={{ flexDirection: 'row', alignItems: 'center', gap: 10 }}&gt;&#10;                &lt;Box style={{ padding: '14px 26px', background: i === 1 ? '#1E3A8A' : '#FFFFFF', borderRadius: 12, border: '1px solid ' + (i === 1 ? '#1E3A8A' : '#E2E8F0'), boxShadow: i === 1 ? '0 6px 20px rgba(30,58,138,0.22)' : '0 2px 10px rgba(30,58,138,0.05)' }}&gt;&#10;                    &lt;Text style={{ fontSize: 19, fontWeight: 'bold', color: i === 1 ? '#FFFFFF' : '#1E3A8A' }}&gt;{i + 1} {s}&lt;/Text&gt;&#10;                &lt;/Box&gt;&#10;                {i &lt; stages.length - 1 &amp;&amp; &lt;FAIcon name=&quot;arrow-right&quot; style={{ fill: '#06B6D4', width: 16, height: 16 }} /&gt;}&#10;            &lt;/Box&gt;&#10;        ))}&#10;        &lt;Text style={{ fontSize: 14, color: '#64748B', marginLeft: 12 }}&gt;试点只花小钱，验证要拿硬数据&lt;/Text&gt;&#10;    &lt;/Box&gt;&#10;    &lt;Box style={{ flex: 1, flexDirection: 'row', gap: 24, marginTop: 20 }}&gt;&#10;        &lt;Box style={{ flex: 1, background: '#FFFFFF', borderRadius: 16, padding: '22px 26px', border: '1px solid #A7F3D0', flexDirection: 'column' }}&gt;&#10;            &lt;Box style={{ flexDirection: 'row', alignItems: 'center', gap: 10, marginBottom: 14 }}&gt;&#10;                &lt;FAIcon name=&quot;check-circle&quot; style={{ fill: '#059669', width: 24, height: 24 }} /&gt;&#10;                &lt;Text style={{ fontSize: 20, fontWeight: 'bold', color: '#059669' }}&gt;就绪 ✅ 可以开试点&lt;/Text&gt;&#10;            &lt;/Box&gt;&#10;            {yes.map((y, i) =&gt; (&#10;                &lt;Box key={i} style={{ flexDirection: 'row', alignItems: 'center', gap: 10, marginBottom: 10 }}&gt;&#10;                    &lt;FAIcon name=&quot;check&quot; style={{ fill: '#059669', width: 16, height: 16 }} /&gt;&#10;                    &lt;Text style={{ fontSize: 17, color: '#43566b' }}&gt;{y}&lt;/Text&gt;&#10;                &lt;/Box&gt;&#10;            ))}&#10;        &lt;/Box&gt;&#10;        &lt;Box style={{ flex: 1, background: '#FFFFFF', borderRadius: 16, padding: '22px 26px', border: '1px solid #FECACA', flexDirection: 'column' }}&gt;&#10;            &lt;Box style={{ flexDirection: 'row', alignItems: 'center', gap: 10, marginBottom: 14 }}&gt;&#10;                &lt;FAIcon name=&quot;times-circle&quot; style={{ fill: '#DC2626', width: 24, height: 24 }} /&gt;&#10;                &lt;Text style={{ fontSize: 20, fontWeight: 'bold', color: '#DC2626' }}&gt;未就绪 ⛔ 先补数据&lt;/Text&gt;&#10;            &lt;/Box&gt;&#10;            {no.map((n, i) =&gt; (&#10;                &lt;Box key={i} style={{ flexDirection: 'row', alignItems: 'center', gap: 10, marginBottom: 10 }}&gt;&#10;                    &lt;FAIcon name=&quot;times&quot; style={{ fill: '#DC2626', width: 16, height: 16 }} /&gt;&#10;                    &lt;Text style={{ fontSize: 17, color: '#43566b' }}&gt;{n}&lt;/Text&gt;&#10;                &lt;/Box&gt;&#10;            ))}&#10;        &lt;/Box&gt;&#10;    &lt;/Box&gt;&#10;    &lt;Box style={{ marginTop: 16, padding: '12px 24px', background: '#1E3A8A', borderRadius: 12 }}&gt;&#10;        &lt;Text style={{ fontSize: 18, fontWeight: 'bold', color: '#FFFFFF' }}&gt;没有数据，就没有试点 —— 先把「拿数据」本身当成第一个小项目干完。&lt;/Text&gt;&#10;    &lt;/Box&gt;&#10;    &lt;Box style={{ height: 40, flexDirection: 'row', justifyContent: 'space-between', alignItems: 'center', marginTop: 10 }}&gt;&#10;        &lt;Text style={{ fontSize: 14, color: '#64748B' }}&gt;AI 场景落地 · 中级&lt;/Text&gt;&#10;        &lt;Text style={{ fontSize: 14, color: '#64748B' }}&gt;25 / 34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/>
        </p:spPr>
        <p:txBody>
          <a:bodyPr/>
          <a:p/>
        </p:txBody>
      </p:sp>
      <p:sp>
        <p:nvSpPr>
          <p:cNvPr id="506" name=""/>
          <p:cNvSpPr/>
          <p:nvPr/>
        </p:nvSpPr>
        <p:spPr>
          <a:xfrm rot="0" flipH="0" flipV="0">
            <a:off x="685800" y="466725"/>
            <a:ext cx="47625" cy="438150"/>
          </a:xfrm>
          <a:prstGeom prst="roundRect">
            <a:avLst>
              <a:gd name="adj" fmla="val 60000"/>
            </a:avLst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507" name="" descr="{&quot;isTemplate&quot;:true,&quot;type&quot;:&quot;text&quot;}"/>
          <p:cNvSpPr txBox="1"/>
          <p:nvPr/>
        </p:nvSpPr>
        <p:spPr>
          <a:xfrm rot="0" flipH="0" flipV="0">
            <a:off x="885825" y="333375"/>
            <a:ext cx="43053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>生命周期六阶</a:t>
            </a:r>
            <a:r>
              <a:rPr lang="en-US" sz="2550" b="1">
                <a:solidFill>
                  <a:srgbClr val="1E3A8A"/>
                </a:solidFill>
                <a:latin typeface="PingFang SC"/>
                <a:ea typeface="PingFang SC"/>
              </a:rPr>
              <a:t> + </a:t>
            </a: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>数据就绪门槛</a:t>
            </a:r>
            <a:endParaRPr/>
          </a:p>
        </p:txBody>
      </p:sp>
      <p:sp>
        <p:nvSpPr>
          <p:cNvPr id="508" name="" descr="{&quot;isTemplate&quot;:true,&quot;type&quot;:&quot;text&quot;}"/>
          <p:cNvSpPr txBox="1"/>
          <p:nvPr/>
        </p:nvSpPr>
        <p:spPr>
          <a:xfrm rot="0" flipH="0" flipV="0">
            <a:off x="885825" y="838200"/>
            <a:ext cx="4305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试点前先自检：数据不到位，别开跑</a:t>
            </a:r>
            <a:endParaRPr/>
          </a:p>
        </p:txBody>
      </p:sp>
      <p:sp>
        <p:nvSpPr>
          <p:cNvPr id="509" name=""/>
          <p:cNvSpPr/>
          <p:nvPr/>
        </p:nvSpPr>
        <p:spPr>
          <a:xfrm rot="0" flipH="0" flipV="0">
            <a:off x="685800" y="1314450"/>
            <a:ext cx="1000125" cy="485775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510" name="" descr="{&quot;isTemplate&quot;:true,&quot;type&quot;:&quot;text&quot;}"/>
          <p:cNvSpPr txBox="1"/>
          <p:nvPr/>
        </p:nvSpPr>
        <p:spPr>
          <a:xfrm rot="0" flipH="0" flipV="0">
            <a:off x="933450" y="1447800"/>
            <a:ext cx="5048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E3A8A"/>
                </a:solidFill>
                <a:latin typeface="PingFang SC"/>
                <a:ea typeface="PingFang SC"/>
              </a:rPr>
              <a:t>1</a:t>
            </a:r>
            <a:r>
              <a:rPr lang="en-US" sz="1425" b="1">
                <a:solidFill>
                  <a:srgbClr val="1E3A8A"/>
                </a:solidFill>
                <a:latin typeface="PingFang SC"/>
                <a:ea typeface="PingFang SC"/>
              </a:rPr>
              <a:t> </a:t>
            </a:r>
            <a:r>
              <a:rPr lang="zh-CN" sz="1425" b="1">
                <a:solidFill>
                  <a:srgbClr val="1E3A8A"/>
                </a:solidFill>
                <a:latin typeface="PingFang SC"/>
                <a:ea typeface="PingFang SC"/>
              </a:rPr>
              <a:t>选题</a:t>
            </a:r>
            <a:endParaRPr/>
          </a:p>
        </p:txBody>
      </p:sp>
      <p:pic>
        <p:nvPicPr>
          <p:cNvPr id="51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781175" y="1485900"/>
            <a:ext cx="152400" cy="152400"/>
          </a:xfrm>
          <a:prstGeom prst="rect">
            <a:avLst/>
          </a:prstGeom>
          <a:ln/>
        </p:spPr>
      </p:pic>
      <p:sp>
        <p:nvSpPr>
          <p:cNvPr id="512" name=""/>
          <p:cNvSpPr/>
          <p:nvPr/>
        </p:nvSpPr>
        <p:spPr>
          <a:xfrm rot="0" flipH="0" flipV="0">
            <a:off x="2028825" y="1314450"/>
            <a:ext cx="1028700" cy="485775"/>
          </a:xfrm>
          <a:prstGeom prst="roundRect">
            <a:avLst>
              <a:gd name="adj" fmla="val 23529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  <a:effectLst>
            <a:outerShdw blurRad="190500" dist="57150" dir="5400000">
              <a:srgbClr val="1E3A8A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513" name="" descr="{&quot;isTemplate&quot;:true,&quot;type&quot;:&quot;text&quot;}"/>
          <p:cNvSpPr txBox="1"/>
          <p:nvPr/>
        </p:nvSpPr>
        <p:spPr>
          <a:xfrm rot="0" flipH="0" flipV="0">
            <a:off x="2276475" y="1447800"/>
            <a:ext cx="5334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PingFang SC"/>
                <a:ea typeface="PingFang SC"/>
              </a:rPr>
              <a:t>2</a:t>
            </a:r>
            <a:r>
              <a:rPr lang="en-US" sz="1425" b="1">
                <a:solidFill>
                  <a:srgbClr val="FFFFFF"/>
                </a:solidFill>
                <a:latin typeface="PingFang SC"/>
                <a:ea typeface="PingFang SC"/>
              </a:rPr>
              <a:t> </a:t>
            </a:r>
            <a:r>
              <a:rPr lang="zh-CN" sz="1425" b="1">
                <a:solidFill>
                  <a:srgbClr val="FFFFFF"/>
                </a:solidFill>
                <a:latin typeface="PingFang SC"/>
                <a:ea typeface="PingFang SC"/>
              </a:rPr>
              <a:t>试点</a:t>
            </a:r>
            <a:endParaRPr/>
          </a:p>
        </p:txBody>
      </p:sp>
      <p:pic>
        <p:nvPicPr>
          <p:cNvPr id="51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152775" y="1485900"/>
            <a:ext cx="152400" cy="152400"/>
          </a:xfrm>
          <a:prstGeom prst="rect">
            <a:avLst/>
          </a:prstGeom>
          <a:ln/>
        </p:spPr>
      </p:pic>
      <p:sp>
        <p:nvSpPr>
          <p:cNvPr id="515" name=""/>
          <p:cNvSpPr/>
          <p:nvPr/>
        </p:nvSpPr>
        <p:spPr>
          <a:xfrm rot="0" flipH="0" flipV="0">
            <a:off x="3400425" y="1314450"/>
            <a:ext cx="1028700" cy="485775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516" name="" descr="{&quot;isTemplate&quot;:true,&quot;type&quot;:&quot;text&quot;}"/>
          <p:cNvSpPr txBox="1"/>
          <p:nvPr/>
        </p:nvSpPr>
        <p:spPr>
          <a:xfrm rot="0" flipH="0" flipV="0">
            <a:off x="3648075" y="1447800"/>
            <a:ext cx="5334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E3A8A"/>
                </a:solidFill>
                <a:latin typeface="PingFang SC"/>
                <a:ea typeface="PingFang SC"/>
              </a:rPr>
              <a:t>3</a:t>
            </a:r>
            <a:r>
              <a:rPr lang="en-US" sz="1425" b="1">
                <a:solidFill>
                  <a:srgbClr val="1E3A8A"/>
                </a:solidFill>
                <a:latin typeface="PingFang SC"/>
                <a:ea typeface="PingFang SC"/>
              </a:rPr>
              <a:t> </a:t>
            </a:r>
            <a:r>
              <a:rPr lang="zh-CN" sz="1425" b="1">
                <a:solidFill>
                  <a:srgbClr val="1E3A8A"/>
                </a:solidFill>
                <a:latin typeface="PingFang SC"/>
                <a:ea typeface="PingFang SC"/>
              </a:rPr>
              <a:t>验证</a:t>
            </a:r>
            <a:endParaRPr/>
          </a:p>
        </p:txBody>
      </p:sp>
      <p:pic>
        <p:nvPicPr>
          <p:cNvPr id="51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524375" y="1485900"/>
            <a:ext cx="152400" cy="152400"/>
          </a:xfrm>
          <a:prstGeom prst="rect">
            <a:avLst/>
          </a:prstGeom>
          <a:ln/>
        </p:spPr>
      </p:pic>
      <p:sp>
        <p:nvSpPr>
          <p:cNvPr id="518" name=""/>
          <p:cNvSpPr/>
          <p:nvPr/>
        </p:nvSpPr>
        <p:spPr>
          <a:xfrm rot="0" flipH="0" flipV="0">
            <a:off x="4772025" y="1314450"/>
            <a:ext cx="1028700" cy="485775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519" name="" descr="{&quot;isTemplate&quot;:true,&quot;type&quot;:&quot;text&quot;}"/>
          <p:cNvSpPr txBox="1"/>
          <p:nvPr/>
        </p:nvSpPr>
        <p:spPr>
          <a:xfrm rot="0" flipH="0" flipV="0">
            <a:off x="5019675" y="1447800"/>
            <a:ext cx="5334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E3A8A"/>
                </a:solidFill>
                <a:latin typeface="PingFang SC"/>
                <a:ea typeface="PingFang SC"/>
              </a:rPr>
              <a:t>4</a:t>
            </a:r>
            <a:r>
              <a:rPr lang="en-US" sz="1425" b="1">
                <a:solidFill>
                  <a:srgbClr val="1E3A8A"/>
                </a:solidFill>
                <a:latin typeface="PingFang SC"/>
                <a:ea typeface="PingFang SC"/>
              </a:rPr>
              <a:t> </a:t>
            </a:r>
            <a:r>
              <a:rPr lang="zh-CN" sz="1425" b="1">
                <a:solidFill>
                  <a:srgbClr val="1E3A8A"/>
                </a:solidFill>
                <a:latin typeface="PingFang SC"/>
                <a:ea typeface="PingFang SC"/>
              </a:rPr>
              <a:t>推广</a:t>
            </a:r>
            <a:endParaRPr/>
          </a:p>
        </p:txBody>
      </p:sp>
      <p:pic>
        <p:nvPicPr>
          <p:cNvPr id="52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895975" y="1485900"/>
            <a:ext cx="152400" cy="152400"/>
          </a:xfrm>
          <a:prstGeom prst="rect">
            <a:avLst/>
          </a:prstGeom>
          <a:ln/>
        </p:spPr>
      </p:pic>
      <p:sp>
        <p:nvSpPr>
          <p:cNvPr id="521" name=""/>
          <p:cNvSpPr/>
          <p:nvPr/>
        </p:nvSpPr>
        <p:spPr>
          <a:xfrm rot="0" flipH="0" flipV="0">
            <a:off x="6143625" y="1314450"/>
            <a:ext cx="1028700" cy="485775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522" name="" descr="{&quot;isTemplate&quot;:true,&quot;type&quot;:&quot;text&quot;}"/>
          <p:cNvSpPr txBox="1"/>
          <p:nvPr/>
        </p:nvSpPr>
        <p:spPr>
          <a:xfrm rot="0" flipH="0" flipV="0">
            <a:off x="6391275" y="1447800"/>
            <a:ext cx="5334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E3A8A"/>
                </a:solidFill>
                <a:latin typeface="PingFang SC"/>
                <a:ea typeface="PingFang SC"/>
              </a:rPr>
              <a:t>5</a:t>
            </a:r>
            <a:r>
              <a:rPr lang="en-US" sz="1425" b="1">
                <a:solidFill>
                  <a:srgbClr val="1E3A8A"/>
                </a:solidFill>
                <a:latin typeface="PingFang SC"/>
                <a:ea typeface="PingFang SC"/>
              </a:rPr>
              <a:t> </a:t>
            </a:r>
            <a:r>
              <a:rPr lang="zh-CN" sz="1425" b="1">
                <a:solidFill>
                  <a:srgbClr val="1E3A8A"/>
                </a:solidFill>
                <a:latin typeface="PingFang SC"/>
                <a:ea typeface="PingFang SC"/>
              </a:rPr>
              <a:t>运维</a:t>
            </a:r>
            <a:endParaRPr/>
          </a:p>
        </p:txBody>
      </p:sp>
      <p:pic>
        <p:nvPicPr>
          <p:cNvPr id="52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267575" y="1485900"/>
            <a:ext cx="152400" cy="152400"/>
          </a:xfrm>
          <a:prstGeom prst="rect">
            <a:avLst/>
          </a:prstGeom>
          <a:ln/>
        </p:spPr>
      </p:pic>
      <p:sp>
        <p:nvSpPr>
          <p:cNvPr id="524" name=""/>
          <p:cNvSpPr/>
          <p:nvPr/>
        </p:nvSpPr>
        <p:spPr>
          <a:xfrm rot="0" flipH="0" flipV="0">
            <a:off x="7515225" y="1314450"/>
            <a:ext cx="1028700" cy="485775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525" name="" descr="{&quot;isTemplate&quot;:true,&quot;type&quot;:&quot;text&quot;}"/>
          <p:cNvSpPr txBox="1"/>
          <p:nvPr/>
        </p:nvSpPr>
        <p:spPr>
          <a:xfrm rot="0" flipH="0" flipV="0">
            <a:off x="7762875" y="1447800"/>
            <a:ext cx="5334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E3A8A"/>
                </a:solidFill>
                <a:latin typeface="PingFang SC"/>
                <a:ea typeface="PingFang SC"/>
              </a:rPr>
              <a:t>6</a:t>
            </a:r>
            <a:r>
              <a:rPr lang="en-US" sz="1425" b="1">
                <a:solidFill>
                  <a:srgbClr val="1E3A8A"/>
                </a:solidFill>
                <a:latin typeface="PingFang SC"/>
                <a:ea typeface="PingFang SC"/>
              </a:rPr>
              <a:t> </a:t>
            </a:r>
            <a:r>
              <a:rPr lang="zh-CN" sz="1425" b="1">
                <a:solidFill>
                  <a:srgbClr val="1E3A8A"/>
                </a:solidFill>
                <a:latin typeface="PingFang SC"/>
                <a:ea typeface="PingFang SC"/>
              </a:rPr>
              <a:t>复盘</a:t>
            </a:r>
            <a:endParaRPr/>
          </a:p>
        </p:txBody>
      </p:sp>
      <p:sp>
        <p:nvSpPr>
          <p:cNvPr id="526" name="" descr="{&quot;isTemplate&quot;:true,&quot;type&quot;:&quot;text&quot;}"/>
          <p:cNvSpPr txBox="1"/>
          <p:nvPr/>
        </p:nvSpPr>
        <p:spPr>
          <a:xfrm rot="0" flipH="0" flipV="0">
            <a:off x="8753475" y="1476375"/>
            <a:ext cx="1866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试点只花小钱，验证要拿硬数据</a:t>
            </a:r>
            <a:endParaRPr/>
          </a:p>
        </p:txBody>
      </p:sp>
      <p:sp>
        <p:nvSpPr>
          <p:cNvPr id="527" name=""/>
          <p:cNvSpPr/>
          <p:nvPr/>
        </p:nvSpPr>
        <p:spPr>
          <a:xfrm rot="0" flipH="0" flipV="0">
            <a:off x="685800" y="1990725"/>
            <a:ext cx="5295900" cy="3571875"/>
          </a:xfrm>
          <a:prstGeom prst="roundRect">
            <a:avLst>
              <a:gd name="adj" fmla="val 4267"/>
            </a:avLst>
          </a:prstGeom>
          <a:solidFill>
            <a:srgbClr val="FFFFFF"/>
          </a:solidFill>
          <a:ln w="12700">
            <a:solidFill>
              <a:srgbClr val="A7F3D0"/>
            </a:solidFill>
            <a:prstDash val="solid"/>
          </a:ln>
        </p:spPr>
        <p:txBody>
          <a:bodyPr/>
          <a:p/>
        </p:txBody>
      </p:sp>
      <p:pic>
        <p:nvPicPr>
          <p:cNvPr id="52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933450" y="2200275"/>
            <a:ext cx="228600" cy="228600"/>
          </a:xfrm>
          <a:prstGeom prst="rect">
            <a:avLst/>
          </a:prstGeom>
          <a:ln/>
        </p:spPr>
      </p:pic>
      <p:sp>
        <p:nvSpPr>
          <p:cNvPr id="529" name="" descr="{&quot;isTemplate&quot;:true,&quot;type&quot;:&quot;text&quot;}"/>
          <p:cNvSpPr txBox="1"/>
          <p:nvPr/>
        </p:nvSpPr>
        <p:spPr>
          <a:xfrm rot="0" flipH="0" flipV="0">
            <a:off x="1257300" y="2200275"/>
            <a:ext cx="16573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59669"/>
                </a:solidFill>
                <a:latin typeface="PingFang SC"/>
                <a:ea typeface="PingFang SC"/>
              </a:rPr>
              <a:t>就绪</a:t>
            </a:r>
            <a:r>
              <a:rPr lang="en-US" sz="1500" b="1">
                <a:solidFill>
                  <a:srgbClr val="059669"/>
                </a:solidFill>
                <a:latin typeface="PingFang SC"/>
                <a:ea typeface="PingFang SC"/>
              </a:rPr>
              <a:t> ✅ </a:t>
            </a:r>
            <a:r>
              <a:rPr lang="zh-CN" sz="1500" b="1">
                <a:solidFill>
                  <a:srgbClr val="059669"/>
                </a:solidFill>
                <a:latin typeface="PingFang SC"/>
                <a:ea typeface="PingFang SC"/>
              </a:rPr>
              <a:t>可以开试点</a:t>
            </a:r>
            <a:endParaRPr/>
          </a:p>
        </p:txBody>
      </p:sp>
      <p:pic>
        <p:nvPicPr>
          <p:cNvPr id="53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933450" y="2590800"/>
            <a:ext cx="152400" cy="152400"/>
          </a:xfrm>
          <a:prstGeom prst="rect">
            <a:avLst/>
          </a:prstGeom>
          <a:ln/>
        </p:spPr>
      </p:pic>
      <p:sp>
        <p:nvSpPr>
          <p:cNvPr id="531" name="" descr="{&quot;isTemplate&quot;:true,&quot;type&quot;:&quot;text&quot;}"/>
          <p:cNvSpPr txBox="1"/>
          <p:nvPr/>
        </p:nvSpPr>
        <p:spPr>
          <a:xfrm rot="0" flipH="0" flipV="0">
            <a:off x="1181100" y="2562225"/>
            <a:ext cx="14573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43566B"/>
                </a:solidFill>
                <a:latin typeface="PingFang SC"/>
                <a:ea typeface="PingFang SC"/>
              </a:rPr>
              <a:t>数据可导出、能拿到</a:t>
            </a:r>
            <a:endParaRPr/>
          </a:p>
        </p:txBody>
      </p:sp>
      <p:pic>
        <p:nvPicPr>
          <p:cNvPr id="53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933450" y="2886075"/>
            <a:ext cx="152400" cy="152400"/>
          </a:xfrm>
          <a:prstGeom prst="rect">
            <a:avLst/>
          </a:prstGeom>
          <a:ln/>
        </p:spPr>
      </p:pic>
      <p:sp>
        <p:nvSpPr>
          <p:cNvPr id="533" name="" descr="{&quot;isTemplate&quot;:true,&quot;type&quot;:&quot;text&quot;}"/>
          <p:cNvSpPr txBox="1"/>
          <p:nvPr/>
        </p:nvSpPr>
        <p:spPr>
          <a:xfrm rot="0" flipH="0" flipV="0">
            <a:off x="1181100" y="2857500"/>
            <a:ext cx="1619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43566B"/>
                </a:solidFill>
                <a:latin typeface="PingFang SC"/>
                <a:ea typeface="PingFang SC"/>
              </a:rPr>
              <a:t>采集频率满足分析需求</a:t>
            </a:r>
            <a:endParaRPr/>
          </a:p>
        </p:txBody>
      </p:sp>
      <p:pic>
        <p:nvPicPr>
          <p:cNvPr id="53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933450" y="3181350"/>
            <a:ext cx="152400" cy="152400"/>
          </a:xfrm>
          <a:prstGeom prst="rect">
            <a:avLst/>
          </a:prstGeom>
          <a:ln/>
        </p:spPr>
      </p:pic>
      <p:sp>
        <p:nvSpPr>
          <p:cNvPr id="535" name="" descr="{&quot;isTemplate&quot;:true,&quot;type&quot;:&quot;text&quot;}"/>
          <p:cNvSpPr txBox="1"/>
          <p:nvPr/>
        </p:nvSpPr>
        <p:spPr>
          <a:xfrm rot="0" flipH="0" flipV="0">
            <a:off x="1181100" y="3152775"/>
            <a:ext cx="14573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43566B"/>
                </a:solidFill>
                <a:latin typeface="PingFang SC"/>
                <a:ea typeface="PingFang SC"/>
              </a:rPr>
              <a:t>有人对数据质量负责</a:t>
            </a:r>
            <a:endParaRPr/>
          </a:p>
        </p:txBody>
      </p:sp>
      <p:sp>
        <p:nvSpPr>
          <p:cNvPr id="536" name=""/>
          <p:cNvSpPr/>
          <p:nvPr/>
        </p:nvSpPr>
        <p:spPr>
          <a:xfrm rot="0" flipH="0" flipV="0">
            <a:off x="6210300" y="1990725"/>
            <a:ext cx="5295900" cy="3571875"/>
          </a:xfrm>
          <a:prstGeom prst="roundRect">
            <a:avLst>
              <a:gd name="adj" fmla="val 4267"/>
            </a:avLst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</p:spPr>
        <p:txBody>
          <a:bodyPr/>
          <a:p/>
        </p:txBody>
      </p:sp>
      <p:pic>
        <p:nvPicPr>
          <p:cNvPr id="53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6457950" y="2200275"/>
            <a:ext cx="228600" cy="228600"/>
          </a:xfrm>
          <a:prstGeom prst="rect">
            <a:avLst/>
          </a:prstGeom>
          <a:ln/>
        </p:spPr>
      </p:pic>
      <p:sp>
        <p:nvSpPr>
          <p:cNvPr id="538" name="" descr="{&quot;isTemplate&quot;:true,&quot;type&quot;:&quot;text&quot;}"/>
          <p:cNvSpPr txBox="1"/>
          <p:nvPr/>
        </p:nvSpPr>
        <p:spPr>
          <a:xfrm rot="0" flipH="0" flipV="0">
            <a:off x="6781800" y="2200275"/>
            <a:ext cx="16573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DC2626"/>
                </a:solidFill>
                <a:latin typeface="PingFang SC"/>
                <a:ea typeface="PingFang SC"/>
              </a:rPr>
              <a:t>未就绪</a:t>
            </a:r>
            <a:r>
              <a:rPr lang="en-US" sz="1500" b="1">
                <a:solidFill>
                  <a:srgbClr val="DC2626"/>
                </a:solidFill>
                <a:latin typeface="PingFang SC"/>
                <a:ea typeface="PingFang SC"/>
              </a:rPr>
              <a:t> ⛔ </a:t>
            </a:r>
            <a:r>
              <a:rPr lang="zh-CN" sz="1500" b="1">
                <a:solidFill>
                  <a:srgbClr val="DC2626"/>
                </a:solidFill>
                <a:latin typeface="PingFang SC"/>
                <a:ea typeface="PingFang SC"/>
              </a:rPr>
              <a:t>先补数据</a:t>
            </a:r>
            <a:endParaRPr/>
          </a:p>
        </p:txBody>
      </p:sp>
      <p:pic>
        <p:nvPicPr>
          <p:cNvPr id="53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6457950" y="2590800"/>
            <a:ext cx="152400" cy="152400"/>
          </a:xfrm>
          <a:prstGeom prst="rect">
            <a:avLst/>
          </a:prstGeom>
          <a:ln/>
        </p:spPr>
      </p:pic>
      <p:sp>
        <p:nvSpPr>
          <p:cNvPr id="540" name="" descr="{&quot;isTemplate&quot;:true,&quot;type&quot;:&quot;text&quot;}"/>
          <p:cNvSpPr txBox="1"/>
          <p:nvPr/>
        </p:nvSpPr>
        <p:spPr>
          <a:xfrm rot="0" flipH="0" flipV="0">
            <a:off x="6705600" y="2562225"/>
            <a:ext cx="14573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43566B"/>
                </a:solidFill>
                <a:latin typeface="PingFang SC"/>
                <a:ea typeface="PingFang SC"/>
              </a:rPr>
              <a:t>经验在老师傅脑子里</a:t>
            </a:r>
            <a:endParaRPr/>
          </a:p>
        </p:txBody>
      </p:sp>
      <p:pic>
        <p:nvPicPr>
          <p:cNvPr id="54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6457950" y="2886075"/>
            <a:ext cx="152400" cy="152400"/>
          </a:xfrm>
          <a:prstGeom prst="rect">
            <a:avLst/>
          </a:prstGeom>
          <a:ln/>
        </p:spPr>
      </p:pic>
      <p:sp>
        <p:nvSpPr>
          <p:cNvPr id="542" name="" descr="{&quot;isTemplate&quot;:true,&quot;type&quot;:&quot;text&quot;}"/>
          <p:cNvSpPr txBox="1"/>
          <p:nvPr/>
        </p:nvSpPr>
        <p:spPr>
          <a:xfrm rot="0" flipH="0" flipV="0">
            <a:off x="6705600" y="2857500"/>
            <a:ext cx="1619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43566B"/>
                </a:solidFill>
                <a:latin typeface="PingFang SC"/>
                <a:ea typeface="PingFang SC"/>
              </a:rPr>
              <a:t>数据散落各系统导不出</a:t>
            </a:r>
            <a:endParaRPr/>
          </a:p>
        </p:txBody>
      </p:sp>
      <p:pic>
        <p:nvPicPr>
          <p:cNvPr id="54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6457950" y="3181350"/>
            <a:ext cx="152400" cy="152400"/>
          </a:xfrm>
          <a:prstGeom prst="rect">
            <a:avLst/>
          </a:prstGeom>
          <a:ln/>
        </p:spPr>
      </p:pic>
      <p:sp>
        <p:nvSpPr>
          <p:cNvPr id="544" name="" descr="{&quot;isTemplate&quot;:true,&quot;type&quot;:&quot;text&quot;}"/>
          <p:cNvSpPr txBox="1"/>
          <p:nvPr/>
        </p:nvSpPr>
        <p:spPr>
          <a:xfrm rot="0" flipH="0" flipV="0">
            <a:off x="6705600" y="3152775"/>
            <a:ext cx="1295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43566B"/>
                </a:solidFill>
                <a:latin typeface="PingFang SC"/>
                <a:ea typeface="PingFang SC"/>
              </a:rPr>
              <a:t>出了错没人敢签字</a:t>
            </a:r>
            <a:endParaRPr/>
          </a:p>
        </p:txBody>
      </p:sp>
      <p:sp>
        <p:nvSpPr>
          <p:cNvPr id="545" name=""/>
          <p:cNvSpPr/>
          <p:nvPr/>
        </p:nvSpPr>
        <p:spPr>
          <a:xfrm rot="0" flipH="0" flipV="0">
            <a:off x="685800" y="5715000"/>
            <a:ext cx="10820400" cy="438150"/>
          </a:xfrm>
          <a:prstGeom prst="roundRect">
            <a:avLst>
              <a:gd name="adj" fmla="val 26087"/>
            </a:avLst>
          </a:prstGeom>
          <a:solidFill>
            <a:srgbClr val="1E3A8A"/>
          </a:solidFill>
          <a:ln/>
        </p:spPr>
        <p:txBody>
          <a:bodyPr/>
          <a:p/>
        </p:txBody>
      </p:sp>
      <p:sp>
        <p:nvSpPr>
          <p:cNvPr id="546" name="" descr="{&quot;isTemplate&quot;:true,&quot;type&quot;:&quot;text&quot;}"/>
          <p:cNvSpPr txBox="1"/>
          <p:nvPr/>
        </p:nvSpPr>
        <p:spPr>
          <a:xfrm rot="0" flipH="0" flipV="0">
            <a:off x="914400" y="5829300"/>
            <a:ext cx="10363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PingFang SC"/>
                <a:ea typeface="PingFang SC"/>
              </a:rPr>
              <a:t>没有数据，就没有试点</a:t>
            </a:r>
            <a:r>
              <a:rPr lang="en-US" sz="1350" b="1">
                <a:solidFill>
                  <a:srgbClr val="FFFFFF"/>
                </a:solidFill>
                <a:latin typeface="PingFang SC"/>
                <a:ea typeface="PingFang SC"/>
              </a:rPr>
              <a:t> —— </a:t>
            </a:r>
            <a:r>
              <a:rPr lang="zh-CN" sz="1350" b="1">
                <a:solidFill>
                  <a:srgbClr val="FFFFFF"/>
                </a:solidFill>
                <a:latin typeface="PingFang SC"/>
                <a:ea typeface="PingFang SC"/>
              </a:rPr>
              <a:t>先把「拿数据」本身当成第一个小项目干完。</a:t>
            </a:r>
            <a:endParaRPr/>
          </a:p>
        </p:txBody>
      </p:sp>
      <p:sp>
        <p:nvSpPr>
          <p:cNvPr id="547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1123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AI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场景落地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中级</a:t>
            </a:r>
            <a:endParaRPr/>
          </a:p>
        </p:txBody>
      </p:sp>
      <p:sp>
        <p:nvSpPr>
          <p:cNvPr id="548" name="" descr="{&quot;isTemplate&quot;:true,&quot;type&quot;:&quot;text&quot;}"/>
          <p:cNvSpPr txBox="1"/>
          <p:nvPr/>
        </p:nvSpPr>
        <p:spPr>
          <a:xfrm rot="0" flipH="0" flipV="0">
            <a:off x="11029950" y="63627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25 / 34</a:t>
            </a:r>
            <a:endParaRPr/>
          </a:p>
        </p:txBody>
      </p:sp>
    </p:spTree>
  </p:cSld>
</p:sld>
</file>

<file path=ppt/slides/slide26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549" name="" descr="const pillars = [&#10;    { icon: 'bullseye', t: '场景' },&#10;    { icon: 'database', t: '数据' },&#10;    { icon: 'microchip', t: '算法' },&#10;    { icon: 'server', t: '算力' },&#10;    { icon: 'users', t: '组织' },&#10;    { icon: 'shield-alt', t: '安全' },&#10;];&#10;&lt;Slide style={{ width: '1280px', height: '720px', background: '#F5F8FC', padding: '24px 72px', boxSizing: 'border-box', flexDirection: 'column', fontFamily: 'PingFang SC, Source Han Sans SC, sans-serif' }}&gt;&#10;    &lt;Box style={{ height: 96, flexDirection: 'row', alignItems: 'center', gap: 16 }}&gt;&#10;        &lt;Box style={{ width: 5, height: 46, background: '#06B6D4', borderRadius: 3 }} /&gt;&#10;        &lt;Box&gt;&#10;            &lt;Text style={{ fontSize: 34, fontWeight: 'bold', color: '#1E3A8A', lineHeight: 1.2 }}&gt;ROI 怎么算 + 落地的六大构件&lt;/Text&gt;&#10;            &lt;Text style={{ fontSize: 17, color: '#64748B', marginTop: 4 }}&gt;立项时把账算在前面，推广时才有底气&lt;/Text&gt;&#10;        &lt;/Box&gt;&#10;    &lt;/Box&gt;&#10;    &lt;Box style={{ flex: 1, flexDirection: 'row', gap: 24, marginTop: 14 }}&gt;&#10;        &lt;Box style={{ flex: 55, background: '#1E3A8A', borderRadius: 18, padding: '28px 32px', flexDirection: 'column', justifyContent: 'center', boxShadow: '0 8px 28px rgba(30,58,138,0.25)' }}&gt;&#10;            &lt;Text style={{ fontSize: 16, color: '#7FD9F0', letterSpacing: 2 }}&gt;预测维护试点 · 示例账&lt;/Text&gt;&#10;            &lt;Text style={{ fontSize: 30, fontWeight: 'bold', color: '#FFFFFF', fontFamily: 'Space Grotesk, Inter', marginTop: 16, textAlign: 'center' }}&gt;ROI = (120,000 − 80,000) ÷ 80,000&lt;/Text&gt;&#10;            &lt;Text style={{ fontSize: 72, fontWeight: 'bold', color: '#F8C471', fontFamily: 'Space Grotesk, Inter', textAlign: 'center', marginTop: 8 }}&gt;50%&lt;/Text&gt;&#10;            &lt;Text style={{ fontSize: 16, color: '#DCE9FB', textAlign: 'center', lineHeight: 1.8, marginTop: 12 }}&gt;年收益 12 万（停机损失减少 + 备件优化）&lt;br /&gt;一次性投入 8 万（传感器 + 平台 + 服务）&lt;/Text&gt;&#10;            &lt;Box style={{ marginTop: 18, padding: '10px 18px', background: 'rgba(6,182,212,0.18)', borderRadius: 10, border: '1px solid rgba(6,182,212,0.6)', alignSelf: 'center' }}&gt;&#10;                &lt;Text style={{ fontSize: 16, fontWeight: 'bold', color: '#7FD9F0' }}&gt;回收期约 16 个月 —— 这个数字写进申报书&lt;/Text&gt;&#10;            &lt;/Box&gt;&#10;        &lt;/Box&gt;&#10;        &lt;Box style={{ flex: 45, flexDirection: 'column' }}&gt;&#10;            &lt;Text style={{ fontSize: 18, fontWeight: 'bold', color: '#1E3A8A', marginBottom: 12 }}&gt;PwC 六大构件：缺一不算完整落地&lt;/Text&gt;&#10;            &lt;Box style={{ flex: 1, flexDirection: 'column', gap: 12 }}&gt;&#10;                {pillars.map((p, i) =&gt; (&#10;                    &lt;Box key={i} style={{ flex: 1, background: '#FFFFFF', borderRadius: 12, border: '1px solid #E2E8F0', flexDirection: 'row', alignItems: 'center', gap: 14, padding: '0 20px', boxShadow: '0 2px 10px rgba(30,58,138,0.04)' }}&gt;&#10;                        &lt;Box style={{ width: 40, height: 40, borderRadius: 10, background: i === 4 || i === 5 ? '#FEEFE0' : '#E0F7FA', justifyContent: 'center', alignItems: 'center' }}&gt;&#10;                            &lt;FAIcon name={p.icon} style={{ fill: i === 4 || i === 5 ? '#F59E0B' : '#0891B2', width: 20, height: 20 }} /&gt;&#10;                        &lt;/Box&gt;&#10;                        &lt;Text style={{ fontSize: 18, fontWeight: 'bold', color: '#1E3A8A', width: 70 }}&gt;{p.t}&lt;/Text&gt;&#10;                        &lt;Text style={{ flex: 1, fontSize: 14, color: '#43566b' }}&gt;{['选对场景，别贪大', '质量与频率过关', '先简后繁，够用即可', '私有化 / 边缘 / 云 按需', 'DRI + 培训 + 激励', '分类分级 + 权限红线'].map((d) =&gt; d)}&lt;/Text&gt;&#10;                    &lt;/Box&gt;&#10;                ))}&#10;            &lt;/Box&gt;&#10;        &lt;/Box&gt;&#10;    &lt;/Box&gt;&#10;    &lt;Box style={{ height: 40, flexDirection: 'row', justifyContent: 'space-between', alignItems: 'center', marginTop: 10 }}&gt;&#10;        &lt;Text style={{ fontSize: 14, color: '#64748B' }}&gt;AI 场景落地 · 中级&lt;/Text&gt;&#10;        &lt;Text style={{ fontSize: 14, color: '#64748B' }}&gt;26 / 34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/>
        </p:spPr>
        <p:txBody>
          <a:bodyPr/>
          <a:p/>
        </p:txBody>
      </p:sp>
      <p:sp>
        <p:nvSpPr>
          <p:cNvPr id="551" name=""/>
          <p:cNvSpPr/>
          <p:nvPr/>
        </p:nvSpPr>
        <p:spPr>
          <a:xfrm rot="0" flipH="0" flipV="0">
            <a:off x="685800" y="466725"/>
            <a:ext cx="47625" cy="438150"/>
          </a:xfrm>
          <a:prstGeom prst="roundRect">
            <a:avLst>
              <a:gd name="adj" fmla="val 60000"/>
            </a:avLst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552" name="" descr="{&quot;isTemplate&quot;:true,&quot;type&quot;:&quot;text&quot;}"/>
          <p:cNvSpPr txBox="1"/>
          <p:nvPr/>
        </p:nvSpPr>
        <p:spPr>
          <a:xfrm rot="0" flipH="0" flipV="0">
            <a:off x="885825" y="333375"/>
            <a:ext cx="432435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2550" b="1">
                <a:solidFill>
                  <a:srgbClr val="1E3A8A"/>
                </a:solidFill>
                <a:latin typeface="PingFang SC"/>
                <a:ea typeface="PingFang SC"/>
              </a:rPr>
              <a:t>ROI </a:t>
            </a: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>怎么算</a:t>
            </a:r>
            <a:r>
              <a:rPr lang="en-US" sz="2550" b="1">
                <a:solidFill>
                  <a:srgbClr val="1E3A8A"/>
                </a:solidFill>
                <a:latin typeface="PingFang SC"/>
                <a:ea typeface="PingFang SC"/>
              </a:rPr>
              <a:t> + </a:t>
            </a: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>落地的六大构件</a:t>
            </a:r>
            <a:endParaRPr/>
          </a:p>
        </p:txBody>
      </p:sp>
      <p:sp>
        <p:nvSpPr>
          <p:cNvPr id="553" name="" descr="{&quot;isTemplate&quot;:true,&quot;type&quot;:&quot;text&quot;}"/>
          <p:cNvSpPr txBox="1"/>
          <p:nvPr/>
        </p:nvSpPr>
        <p:spPr>
          <a:xfrm rot="0" flipH="0" flipV="0">
            <a:off x="885825" y="838200"/>
            <a:ext cx="43243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立项时把账算在前面，推广时才有底气</a:t>
            </a:r>
            <a:endParaRPr/>
          </a:p>
        </p:txBody>
      </p:sp>
      <p:sp>
        <p:nvSpPr>
          <p:cNvPr id="554" name=""/>
          <p:cNvSpPr/>
          <p:nvPr/>
        </p:nvSpPr>
        <p:spPr>
          <a:xfrm rot="0" flipH="0" flipV="0">
            <a:off x="685800" y="1276350"/>
            <a:ext cx="5829300" cy="4876800"/>
          </a:xfrm>
          <a:prstGeom prst="roundRect">
            <a:avLst>
              <a:gd name="adj" fmla="val 3516"/>
            </a:avLst>
          </a:prstGeom>
          <a:solidFill>
            <a:srgbClr val="1E3A8A"/>
          </a:solidFill>
          <a:ln/>
          <a:effectLst>
            <a:outerShdw blurRad="266700" dist="76200" dir="5400000">
              <a:srgbClr val="1E3A8A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55" name="" descr="{&quot;isTemplate&quot;:true,&quot;type&quot;:&quot;text&quot;}"/>
          <p:cNvSpPr txBox="1"/>
          <p:nvPr/>
        </p:nvSpPr>
        <p:spPr>
          <a:xfrm rot="0" flipH="0" flipV="0">
            <a:off x="990600" y="2257425"/>
            <a:ext cx="5219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150">
                <a:solidFill>
                  <a:srgbClr val="7FD9F0"/>
                </a:solidFill>
                <a:latin typeface="PingFang SC"/>
                <a:ea typeface="PingFang SC"/>
              </a:rPr>
              <a:t>预测预警试点</a:t>
            </a:r>
            <a:r>
              <a:rPr lang="en-US" sz="1200" spc="150">
                <a:solidFill>
                  <a:srgbClr val="7FD9F0"/>
                </a:solidFill>
                <a:latin typeface="PingFang SC"/>
                <a:ea typeface="PingFang SC"/>
              </a:rPr>
              <a:t> · </a:t>
            </a:r>
            <a:r>
              <a:rPr lang="zh-CN" sz="1200" spc="150">
                <a:solidFill>
                  <a:srgbClr val="7FD9F0"/>
                </a:solidFill>
                <a:latin typeface="PingFang SC"/>
                <a:ea typeface="PingFang SC"/>
              </a:rPr>
              <a:t>示例账</a:t>
            </a:r>
            <a:endParaRPr/>
          </a:p>
        </p:txBody>
      </p:sp>
      <p:sp>
        <p:nvSpPr>
          <p:cNvPr id="556" name="" descr="{&quot;isTemplate&quot;:true,&quot;type&quot;:&quot;text&quot;}"/>
          <p:cNvSpPr txBox="1"/>
          <p:nvPr/>
        </p:nvSpPr>
        <p:spPr>
          <a:xfrm rot="0" flipH="0" flipV="0">
            <a:off x="990600" y="2600325"/>
            <a:ext cx="5219700" cy="3429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2250" b="1">
                <a:solidFill>
                  <a:srgbClr val="FFFFFF"/>
                </a:solidFill>
                <a:latin typeface="Space Grotesk"/>
                <a:ea typeface="Space Grotesk"/>
              </a:rPr>
              <a:t>ROI = (120,000 − 80,000) ÷ 80,000</a:t>
            </a:r>
            <a:endParaRPr/>
          </a:p>
        </p:txBody>
      </p:sp>
      <p:sp>
        <p:nvSpPr>
          <p:cNvPr id="557" name="" descr="{&quot;isTemplate&quot;:true,&quot;type&quot;:&quot;text&quot;}"/>
          <p:cNvSpPr txBox="1"/>
          <p:nvPr/>
        </p:nvSpPr>
        <p:spPr>
          <a:xfrm rot="0" flipH="0" flipV="0">
            <a:off x="990600" y="3019425"/>
            <a:ext cx="5219700" cy="8286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5400" b="1">
                <a:solidFill>
                  <a:srgbClr val="F8C471"/>
                </a:solidFill>
                <a:latin typeface="Space Grotesk"/>
                <a:ea typeface="Space Grotesk"/>
              </a:rPr>
              <a:t>50%</a:t>
            </a:r>
            <a:endParaRPr/>
          </a:p>
        </p:txBody>
      </p:sp>
      <p:sp>
        <p:nvSpPr>
          <p:cNvPr id="558" name="" descr="{&quot;isTemplate&quot;:true,&quot;type&quot;:&quot;text&quot;}"/>
          <p:cNvSpPr txBox="1"/>
          <p:nvPr/>
        </p:nvSpPr>
        <p:spPr>
          <a:xfrm rot="0" flipH="0" flipV="0">
            <a:off x="990600" y="3962400"/>
            <a:ext cx="5219700" cy="666750"/>
          </a:xfrm>
          <a:prstGeom prst="rect"/>
        </p:spPr>
        <p:txBody>
          <a:bodyPr wrap="none" lIns="0" tIns="0" rIns="0" bIns="0"/>
          <a:p>
            <a:pPr algn="ctr">
              <a:lnSpc>
                <a:spcPct val="180000"/>
              </a:lnSpc>
            </a:pPr>
            <a:r>
              <a:rPr lang="zh-CN" sz="1200">
                <a:solidFill>
                  <a:srgbClr val="DCE9FB"/>
                </a:solidFill>
                <a:latin typeface="PingFang SC"/>
                <a:ea typeface="PingFang SC"/>
              </a:rPr>
              <a:t>年收益</a:t>
            </a:r>
            <a:r>
              <a:rPr lang="en-US" sz="1200">
                <a:solidFill>
                  <a:srgbClr val="DCE9FB"/>
                </a:solidFill>
                <a:latin typeface="PingFang SC"/>
                <a:ea typeface="PingFang SC"/>
              </a:rPr>
              <a:t> 12 </a:t>
            </a:r>
            <a:r>
              <a:rPr lang="zh-CN" sz="1200">
                <a:solidFill>
                  <a:srgbClr val="DCE9FB"/>
                </a:solidFill>
                <a:latin typeface="PingFang SC"/>
                <a:ea typeface="PingFang SC"/>
              </a:rPr>
              <a:t>万（中断损失减少</a:t>
            </a:r>
            <a:r>
              <a:rPr lang="en-US" sz="1200">
                <a:solidFill>
                  <a:srgbClr val="DCE9FB"/>
                </a:solidFill>
                <a:latin typeface="PingFang SC"/>
                <a:ea typeface="PingFang SC"/>
              </a:rPr>
              <a:t> + </a:t>
            </a:r>
            <a:r>
              <a:rPr lang="zh-CN" sz="1200">
                <a:solidFill>
                  <a:srgbClr val="DCE9FB"/>
                </a:solidFill>
                <a:latin typeface="PingFang SC"/>
                <a:ea typeface="PingFang SC"/>
              </a:rPr>
              <a:t>备件优化）</a:t>
            </a:r>
            <a:endParaRPr/>
          </a:p>
          <a:p>
            <a:pPr algn="ctr">
              <a:lnSpc>
                <a:spcPct val="180000"/>
              </a:lnSpc>
            </a:pPr>
            <a:r>
              <a:rPr lang="zh-CN" sz="1200">
                <a:solidFill>
                  <a:srgbClr val="DCE9FB"/>
                </a:solidFill>
                <a:latin typeface="PingFang SC"/>
                <a:ea typeface="PingFang SC"/>
              </a:rPr>
              <a:t>一次性投入</a:t>
            </a:r>
            <a:r>
              <a:rPr lang="en-US" sz="1200">
                <a:solidFill>
                  <a:srgbClr val="DCE9FB"/>
                </a:solidFill>
                <a:latin typeface="PingFang SC"/>
                <a:ea typeface="PingFang SC"/>
              </a:rPr>
              <a:t> 8 </a:t>
            </a:r>
            <a:r>
              <a:rPr lang="zh-CN" sz="1200">
                <a:solidFill>
                  <a:srgbClr val="DCE9FB"/>
                </a:solidFill>
                <a:latin typeface="PingFang SC"/>
                <a:ea typeface="PingFang SC"/>
              </a:rPr>
              <a:t>万（传感器</a:t>
            </a:r>
            <a:r>
              <a:rPr lang="en-US" sz="1200">
                <a:solidFill>
                  <a:srgbClr val="DCE9FB"/>
                </a:solidFill>
                <a:latin typeface="PingFang SC"/>
                <a:ea typeface="PingFang SC"/>
              </a:rPr>
              <a:t> + </a:t>
            </a:r>
            <a:r>
              <a:rPr lang="zh-CN" sz="1200">
                <a:solidFill>
                  <a:srgbClr val="DCE9FB"/>
                </a:solidFill>
                <a:latin typeface="PingFang SC"/>
                <a:ea typeface="PingFang SC"/>
              </a:rPr>
              <a:t>平台</a:t>
            </a:r>
            <a:r>
              <a:rPr lang="en-US" sz="1200">
                <a:solidFill>
                  <a:srgbClr val="DCE9FB"/>
                </a:solidFill>
                <a:latin typeface="PingFang SC"/>
                <a:ea typeface="PingFang SC"/>
              </a:rPr>
              <a:t> + </a:t>
            </a:r>
            <a:r>
              <a:rPr lang="zh-CN" sz="1200">
                <a:solidFill>
                  <a:srgbClr val="DCE9FB"/>
                </a:solidFill>
                <a:latin typeface="PingFang SC"/>
                <a:ea typeface="PingFang SC"/>
              </a:rPr>
              <a:t>服务）</a:t>
            </a:r>
            <a:endParaRPr/>
          </a:p>
        </p:txBody>
      </p:sp>
      <p:sp>
        <p:nvSpPr>
          <p:cNvPr id="559" name=""/>
          <p:cNvSpPr/>
          <p:nvPr/>
        </p:nvSpPr>
        <p:spPr>
          <a:xfrm rot="0" flipH="0" flipV="0">
            <a:off x="1952625" y="4800600"/>
            <a:ext cx="3295650" cy="381000"/>
          </a:xfrm>
          <a:prstGeom prst="roundRect">
            <a:avLst>
              <a:gd name="adj" fmla="val 25000"/>
            </a:avLst>
          </a:prstGeom>
          <a:solidFill>
            <a:srgbClr val="06B6D4">
              <a:alpha val="18000"/>
            </a:srgbClr>
          </a:solidFill>
          <a:ln w="12700">
            <a:solidFill>
              <a:srgbClr val="06B6D4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60" name="" descr="{&quot;isTemplate&quot;:true,&quot;type&quot;:&quot;text&quot;}"/>
          <p:cNvSpPr txBox="1"/>
          <p:nvPr/>
        </p:nvSpPr>
        <p:spPr>
          <a:xfrm rot="0" flipH="0" flipV="0">
            <a:off x="2124075" y="4895850"/>
            <a:ext cx="2952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7FD9F0"/>
                </a:solidFill>
                <a:latin typeface="PingFang SC"/>
                <a:ea typeface="PingFang SC"/>
              </a:rPr>
              <a:t>回收期约</a:t>
            </a:r>
            <a:r>
              <a:rPr lang="en-US" sz="1200" b="1">
                <a:solidFill>
                  <a:srgbClr val="7FD9F0"/>
                </a:solidFill>
                <a:latin typeface="PingFang SC"/>
                <a:ea typeface="PingFang SC"/>
              </a:rPr>
              <a:t> 16 </a:t>
            </a:r>
            <a:r>
              <a:rPr lang="zh-CN" sz="1200" b="1">
                <a:solidFill>
                  <a:srgbClr val="7FD9F0"/>
                </a:solidFill>
                <a:latin typeface="PingFang SC"/>
                <a:ea typeface="PingFang SC"/>
              </a:rPr>
              <a:t>个月</a:t>
            </a:r>
            <a:r>
              <a:rPr lang="en-US" sz="1200" b="1">
                <a:solidFill>
                  <a:srgbClr val="7FD9F0"/>
                </a:solidFill>
                <a:latin typeface="PingFang SC"/>
                <a:ea typeface="PingFang SC"/>
              </a:rPr>
              <a:t> —— </a:t>
            </a:r>
            <a:r>
              <a:rPr lang="zh-CN" sz="1200" b="1">
                <a:solidFill>
                  <a:srgbClr val="7FD9F0"/>
                </a:solidFill>
                <a:latin typeface="PingFang SC"/>
                <a:ea typeface="PingFang SC"/>
              </a:rPr>
              <a:t>这个数字写进申报书</a:t>
            </a:r>
            <a:endParaRPr/>
          </a:p>
        </p:txBody>
      </p:sp>
      <p:sp>
        <p:nvSpPr>
          <p:cNvPr id="561" name="" descr="{&quot;isTemplate&quot;:true,&quot;type&quot;:&quot;text&quot;}"/>
          <p:cNvSpPr txBox="1"/>
          <p:nvPr/>
        </p:nvSpPr>
        <p:spPr>
          <a:xfrm rot="0" flipH="0" flipV="0">
            <a:off x="6743700" y="1276350"/>
            <a:ext cx="4762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E3A8A"/>
                </a:solidFill>
                <a:latin typeface="PingFang SC"/>
                <a:ea typeface="PingFang SC"/>
              </a:rPr>
              <a:t>PwC </a:t>
            </a:r>
            <a:r>
              <a:rPr lang="zh-CN" sz="1350" b="1">
                <a:solidFill>
                  <a:srgbClr val="1E3A8A"/>
                </a:solidFill>
                <a:latin typeface="PingFang SC"/>
                <a:ea typeface="PingFang SC"/>
              </a:rPr>
              <a:t>六大构件：缺一不算完整落地</a:t>
            </a:r>
            <a:endParaRPr/>
          </a:p>
        </p:txBody>
      </p:sp>
      <p:sp>
        <p:nvSpPr>
          <p:cNvPr id="562" name=""/>
          <p:cNvSpPr/>
          <p:nvPr/>
        </p:nvSpPr>
        <p:spPr>
          <a:xfrm rot="0" flipH="0" flipV="0">
            <a:off x="6743700" y="1600200"/>
            <a:ext cx="476250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95250" dist="19050" dir="5400000">
              <a:srgbClr val="1E3A8A">
                <a:alpha val="4000"/>
              </a:srgbClr>
            </a:outerShdw>
          </a:effectLst>
        </p:spPr>
        <p:txBody>
          <a:bodyPr/>
          <a:p/>
        </p:txBody>
      </p:sp>
      <p:sp>
        <p:nvSpPr>
          <p:cNvPr id="563" name=""/>
          <p:cNvSpPr/>
          <p:nvPr/>
        </p:nvSpPr>
        <p:spPr>
          <a:xfrm rot="0" flipH="0" flipV="0">
            <a:off x="6934200" y="1743075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E0F7FA"/>
          </a:solidFill>
          <a:ln/>
        </p:spPr>
        <p:txBody>
          <a:bodyPr/>
          <a:p/>
        </p:txBody>
      </p:sp>
      <p:pic>
        <p:nvPicPr>
          <p:cNvPr id="56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029450" y="1838325"/>
            <a:ext cx="190500" cy="190500"/>
          </a:xfrm>
          <a:prstGeom prst="rect">
            <a:avLst/>
          </a:prstGeom>
          <a:ln/>
        </p:spPr>
      </p:pic>
      <p:sp>
        <p:nvSpPr>
          <p:cNvPr id="565" name="" descr="{&quot;isTemplate&quot;:true,&quot;type&quot;:&quot;text&quot;}"/>
          <p:cNvSpPr txBox="1"/>
          <p:nvPr/>
        </p:nvSpPr>
        <p:spPr>
          <a:xfrm rot="0" flipH="0" flipV="0">
            <a:off x="7448550" y="1828800"/>
            <a:ext cx="666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3A8A"/>
                </a:solidFill>
                <a:latin typeface="PingFang SC"/>
                <a:ea typeface="PingFang SC"/>
              </a:rPr>
              <a:t>场景</a:t>
            </a:r>
            <a:endParaRPr/>
          </a:p>
        </p:txBody>
      </p:sp>
      <p:sp>
        <p:nvSpPr>
          <p:cNvPr id="566" name="" descr="{&quot;isTemplate&quot;:true,&quot;type&quot;:&quot;text&quot;}"/>
          <p:cNvSpPr txBox="1"/>
          <p:nvPr/>
        </p:nvSpPr>
        <p:spPr>
          <a:xfrm rot="0" flipH="0" flipV="0">
            <a:off x="8248650" y="1695450"/>
            <a:ext cx="306705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选对场景，别贪大</a:t>
            </a: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质量与频率过关</a:t>
            </a: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先简后繁，够用即可</a:t>
            </a: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私有化</a:t>
            </a:r>
            <a:r>
              <a:rPr lang="en-US" sz="1050">
                <a:solidFill>
                  <a:srgbClr val="43566B"/>
                </a:solidFill>
                <a:latin typeface="PingFang SC"/>
                <a:ea typeface="PingFang SC"/>
              </a:rPr>
              <a:t> / </a:t>
            </a: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边缘</a:t>
            </a:r>
            <a:r>
              <a:rPr lang="en-US" sz="1050">
                <a:solidFill>
                  <a:srgbClr val="43566B"/>
                </a:solidFill>
                <a:latin typeface="PingFang SC"/>
                <a:ea typeface="PingFang SC"/>
              </a:rPr>
              <a:t> / </a:t>
            </a: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云</a:t>
            </a:r>
            <a:r>
              <a:rPr lang="en-US" sz="1050">
                <a:solidFill>
                  <a:srgbClr val="43566B"/>
                </a:solidFill>
                <a:latin typeface="PingFang SC"/>
                <a:ea typeface="PingFang SC"/>
              </a:rPr>
              <a:t> </a:t>
            </a: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按需</a:t>
            </a:r>
            <a:r>
              <a:rPr lang="en-US" sz="1050">
                <a:solidFill>
                  <a:srgbClr val="43566B"/>
                </a:solidFill>
                <a:latin typeface="PingFang SC"/>
                <a:ea typeface="PingFang SC"/>
              </a:rPr>
              <a:t>DRI + </a:t>
            </a: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培训</a:t>
            </a:r>
            <a:r>
              <a:rPr lang="en-US" sz="1050">
                <a:solidFill>
                  <a:srgbClr val="43566B"/>
                </a:solidFill>
                <a:latin typeface="PingFang SC"/>
                <a:ea typeface="PingFang SC"/>
              </a:rPr>
              <a:t> + </a:t>
            </a: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激励</a:t>
            </a: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分类分级</a:t>
            </a:r>
            <a:r>
              <a:rPr lang="en-US" sz="1050">
                <a:solidFill>
                  <a:srgbClr val="43566B"/>
                </a:solidFill>
                <a:latin typeface="PingFang SC"/>
                <a:ea typeface="PingFang SC"/>
              </a:rPr>
              <a:t> + </a:t>
            </a: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权限红线</a:t>
            </a:r>
            <a:endParaRPr/>
          </a:p>
        </p:txBody>
      </p:sp>
      <p:sp>
        <p:nvSpPr>
          <p:cNvPr id="567" name=""/>
          <p:cNvSpPr/>
          <p:nvPr/>
        </p:nvSpPr>
        <p:spPr>
          <a:xfrm rot="0" flipH="0" flipV="0">
            <a:off x="6743700" y="2381250"/>
            <a:ext cx="4762500" cy="657225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95250" dist="19050" dir="5400000">
              <a:srgbClr val="1E3A8A">
                <a:alpha val="4000"/>
              </a:srgbClr>
            </a:outerShdw>
          </a:effectLst>
        </p:spPr>
        <p:txBody>
          <a:bodyPr/>
          <a:p/>
        </p:txBody>
      </p:sp>
      <p:sp>
        <p:nvSpPr>
          <p:cNvPr id="568" name=""/>
          <p:cNvSpPr/>
          <p:nvPr/>
        </p:nvSpPr>
        <p:spPr>
          <a:xfrm rot="0" flipH="0" flipV="0">
            <a:off x="6934200" y="2524125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E0F7FA"/>
          </a:solidFill>
          <a:ln/>
        </p:spPr>
        <p:txBody>
          <a:bodyPr/>
          <a:p/>
        </p:txBody>
      </p:sp>
      <p:pic>
        <p:nvPicPr>
          <p:cNvPr id="56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029450" y="2619375"/>
            <a:ext cx="190500" cy="190500"/>
          </a:xfrm>
          <a:prstGeom prst="rect">
            <a:avLst/>
          </a:prstGeom>
          <a:ln/>
        </p:spPr>
      </p:pic>
      <p:sp>
        <p:nvSpPr>
          <p:cNvPr id="570" name="" descr="{&quot;isTemplate&quot;:true,&quot;type&quot;:&quot;text&quot;}"/>
          <p:cNvSpPr txBox="1"/>
          <p:nvPr/>
        </p:nvSpPr>
        <p:spPr>
          <a:xfrm rot="0" flipH="0" flipV="0">
            <a:off x="7448550" y="2609850"/>
            <a:ext cx="666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3A8A"/>
                </a:solidFill>
                <a:latin typeface="PingFang SC"/>
                <a:ea typeface="PingFang SC"/>
              </a:rPr>
              <a:t>数据</a:t>
            </a:r>
            <a:endParaRPr/>
          </a:p>
        </p:txBody>
      </p:sp>
      <p:sp>
        <p:nvSpPr>
          <p:cNvPr id="571" name="" descr="{&quot;isTemplate&quot;:true,&quot;type&quot;:&quot;text&quot;}"/>
          <p:cNvSpPr txBox="1"/>
          <p:nvPr/>
        </p:nvSpPr>
        <p:spPr>
          <a:xfrm rot="0" flipH="0" flipV="0">
            <a:off x="8248650" y="2466975"/>
            <a:ext cx="306705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选对场景，别贪大</a:t>
            </a: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质量与频率过关</a:t>
            </a: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先简后繁，够用即可</a:t>
            </a: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私有化</a:t>
            </a:r>
            <a:r>
              <a:rPr lang="en-US" sz="1050">
                <a:solidFill>
                  <a:srgbClr val="43566B"/>
                </a:solidFill>
                <a:latin typeface="PingFang SC"/>
                <a:ea typeface="PingFang SC"/>
              </a:rPr>
              <a:t> / </a:t>
            </a: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边缘</a:t>
            </a:r>
            <a:r>
              <a:rPr lang="en-US" sz="1050">
                <a:solidFill>
                  <a:srgbClr val="43566B"/>
                </a:solidFill>
                <a:latin typeface="PingFang SC"/>
                <a:ea typeface="PingFang SC"/>
              </a:rPr>
              <a:t> / </a:t>
            </a: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云</a:t>
            </a:r>
            <a:r>
              <a:rPr lang="en-US" sz="1050">
                <a:solidFill>
                  <a:srgbClr val="43566B"/>
                </a:solidFill>
                <a:latin typeface="PingFang SC"/>
                <a:ea typeface="PingFang SC"/>
              </a:rPr>
              <a:t> </a:t>
            </a: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按需</a:t>
            </a:r>
            <a:r>
              <a:rPr lang="en-US" sz="1050">
                <a:solidFill>
                  <a:srgbClr val="43566B"/>
                </a:solidFill>
                <a:latin typeface="PingFang SC"/>
                <a:ea typeface="PingFang SC"/>
              </a:rPr>
              <a:t>DRI + </a:t>
            </a: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培训</a:t>
            </a:r>
            <a:r>
              <a:rPr lang="en-US" sz="1050">
                <a:solidFill>
                  <a:srgbClr val="43566B"/>
                </a:solidFill>
                <a:latin typeface="PingFang SC"/>
                <a:ea typeface="PingFang SC"/>
              </a:rPr>
              <a:t> + </a:t>
            </a: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激励</a:t>
            </a: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分类分级</a:t>
            </a:r>
            <a:r>
              <a:rPr lang="en-US" sz="1050">
                <a:solidFill>
                  <a:srgbClr val="43566B"/>
                </a:solidFill>
                <a:latin typeface="PingFang SC"/>
                <a:ea typeface="PingFang SC"/>
              </a:rPr>
              <a:t> + </a:t>
            </a: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权限红线</a:t>
            </a:r>
            <a:endParaRPr/>
          </a:p>
        </p:txBody>
      </p:sp>
      <p:sp>
        <p:nvSpPr>
          <p:cNvPr id="572" name=""/>
          <p:cNvSpPr/>
          <p:nvPr/>
        </p:nvSpPr>
        <p:spPr>
          <a:xfrm rot="0" flipH="0" flipV="0">
            <a:off x="6743700" y="3152775"/>
            <a:ext cx="476250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95250" dist="19050" dir="5400000">
              <a:srgbClr val="1E3A8A">
                <a:alpha val="4000"/>
              </a:srgbClr>
            </a:outerShdw>
          </a:effectLst>
        </p:spPr>
        <p:txBody>
          <a:bodyPr/>
          <a:p/>
        </p:txBody>
      </p:sp>
      <p:sp>
        <p:nvSpPr>
          <p:cNvPr id="573" name=""/>
          <p:cNvSpPr/>
          <p:nvPr/>
        </p:nvSpPr>
        <p:spPr>
          <a:xfrm rot="0" flipH="0" flipV="0">
            <a:off x="6934200" y="3295650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E0F7FA"/>
          </a:solidFill>
          <a:ln/>
        </p:spPr>
        <p:txBody>
          <a:bodyPr/>
          <a:p/>
        </p:txBody>
      </p:sp>
      <p:pic>
        <p:nvPicPr>
          <p:cNvPr id="57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7029450" y="3390900"/>
            <a:ext cx="190500" cy="190500"/>
          </a:xfrm>
          <a:prstGeom prst="rect">
            <a:avLst/>
          </a:prstGeom>
          <a:ln/>
        </p:spPr>
      </p:pic>
      <p:sp>
        <p:nvSpPr>
          <p:cNvPr id="575" name="" descr="{&quot;isTemplate&quot;:true,&quot;type&quot;:&quot;text&quot;}"/>
          <p:cNvSpPr txBox="1"/>
          <p:nvPr/>
        </p:nvSpPr>
        <p:spPr>
          <a:xfrm rot="0" flipH="0" flipV="0">
            <a:off x="7448550" y="3381375"/>
            <a:ext cx="666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3A8A"/>
                </a:solidFill>
                <a:latin typeface="PingFang SC"/>
                <a:ea typeface="PingFang SC"/>
              </a:rPr>
              <a:t>算法</a:t>
            </a:r>
            <a:endParaRPr/>
          </a:p>
        </p:txBody>
      </p:sp>
      <p:sp>
        <p:nvSpPr>
          <p:cNvPr id="576" name="" descr="{&quot;isTemplate&quot;:true,&quot;type&quot;:&quot;text&quot;}"/>
          <p:cNvSpPr txBox="1"/>
          <p:nvPr/>
        </p:nvSpPr>
        <p:spPr>
          <a:xfrm rot="0" flipH="0" flipV="0">
            <a:off x="8248650" y="3248025"/>
            <a:ext cx="306705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选对场景，别贪大</a:t>
            </a: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质量与频率过关</a:t>
            </a: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先简后繁，够用即可</a:t>
            </a: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私有化</a:t>
            </a:r>
            <a:r>
              <a:rPr lang="en-US" sz="1050">
                <a:solidFill>
                  <a:srgbClr val="43566B"/>
                </a:solidFill>
                <a:latin typeface="PingFang SC"/>
                <a:ea typeface="PingFang SC"/>
              </a:rPr>
              <a:t> / </a:t>
            </a: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边缘</a:t>
            </a:r>
            <a:r>
              <a:rPr lang="en-US" sz="1050">
                <a:solidFill>
                  <a:srgbClr val="43566B"/>
                </a:solidFill>
                <a:latin typeface="PingFang SC"/>
                <a:ea typeface="PingFang SC"/>
              </a:rPr>
              <a:t> / </a:t>
            </a: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云</a:t>
            </a:r>
            <a:r>
              <a:rPr lang="en-US" sz="1050">
                <a:solidFill>
                  <a:srgbClr val="43566B"/>
                </a:solidFill>
                <a:latin typeface="PingFang SC"/>
                <a:ea typeface="PingFang SC"/>
              </a:rPr>
              <a:t> </a:t>
            </a: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按需</a:t>
            </a:r>
            <a:r>
              <a:rPr lang="en-US" sz="1050">
                <a:solidFill>
                  <a:srgbClr val="43566B"/>
                </a:solidFill>
                <a:latin typeface="PingFang SC"/>
                <a:ea typeface="PingFang SC"/>
              </a:rPr>
              <a:t>DRI + </a:t>
            </a: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培训</a:t>
            </a:r>
            <a:r>
              <a:rPr lang="en-US" sz="1050">
                <a:solidFill>
                  <a:srgbClr val="43566B"/>
                </a:solidFill>
                <a:latin typeface="PingFang SC"/>
                <a:ea typeface="PingFang SC"/>
              </a:rPr>
              <a:t> + </a:t>
            </a: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激励</a:t>
            </a: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分类分级</a:t>
            </a:r>
            <a:r>
              <a:rPr lang="en-US" sz="1050">
                <a:solidFill>
                  <a:srgbClr val="43566B"/>
                </a:solidFill>
                <a:latin typeface="PingFang SC"/>
                <a:ea typeface="PingFang SC"/>
              </a:rPr>
              <a:t> + </a:t>
            </a: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权限红线</a:t>
            </a:r>
            <a:endParaRPr/>
          </a:p>
        </p:txBody>
      </p:sp>
      <p:sp>
        <p:nvSpPr>
          <p:cNvPr id="577" name=""/>
          <p:cNvSpPr/>
          <p:nvPr/>
        </p:nvSpPr>
        <p:spPr>
          <a:xfrm rot="0" flipH="0" flipV="0">
            <a:off x="6743700" y="3933825"/>
            <a:ext cx="476250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95250" dist="19050" dir="5400000">
              <a:srgbClr val="1E3A8A">
                <a:alpha val="4000"/>
              </a:srgbClr>
            </a:outerShdw>
          </a:effectLst>
        </p:spPr>
        <p:txBody>
          <a:bodyPr/>
          <a:p/>
        </p:txBody>
      </p:sp>
      <p:sp>
        <p:nvSpPr>
          <p:cNvPr id="578" name=""/>
          <p:cNvSpPr/>
          <p:nvPr/>
        </p:nvSpPr>
        <p:spPr>
          <a:xfrm rot="0" flipH="0" flipV="0">
            <a:off x="6934200" y="4076700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E0F7FA"/>
          </a:solidFill>
          <a:ln/>
        </p:spPr>
        <p:txBody>
          <a:bodyPr/>
          <a:p/>
        </p:txBody>
      </p:sp>
      <p:pic>
        <p:nvPicPr>
          <p:cNvPr id="57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7029450" y="4171950"/>
            <a:ext cx="190500" cy="190500"/>
          </a:xfrm>
          <a:prstGeom prst="rect">
            <a:avLst/>
          </a:prstGeom>
          <a:ln/>
        </p:spPr>
      </p:pic>
      <p:sp>
        <p:nvSpPr>
          <p:cNvPr id="580" name="" descr="{&quot;isTemplate&quot;:true,&quot;type&quot;:&quot;text&quot;}"/>
          <p:cNvSpPr txBox="1"/>
          <p:nvPr/>
        </p:nvSpPr>
        <p:spPr>
          <a:xfrm rot="0" flipH="0" flipV="0">
            <a:off x="7448550" y="4162425"/>
            <a:ext cx="666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3A8A"/>
                </a:solidFill>
                <a:latin typeface="PingFang SC"/>
                <a:ea typeface="PingFang SC"/>
              </a:rPr>
              <a:t>算力</a:t>
            </a:r>
            <a:endParaRPr/>
          </a:p>
        </p:txBody>
      </p:sp>
      <p:sp>
        <p:nvSpPr>
          <p:cNvPr id="581" name="" descr="{&quot;isTemplate&quot;:true,&quot;type&quot;:&quot;text&quot;}"/>
          <p:cNvSpPr txBox="1"/>
          <p:nvPr/>
        </p:nvSpPr>
        <p:spPr>
          <a:xfrm rot="0" flipH="0" flipV="0">
            <a:off x="8248650" y="4029075"/>
            <a:ext cx="306705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选对场景，别贪大</a:t>
            </a: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质量与频率过关</a:t>
            </a: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先简后繁，够用即可</a:t>
            </a: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私有化</a:t>
            </a:r>
            <a:r>
              <a:rPr lang="en-US" sz="1050">
                <a:solidFill>
                  <a:srgbClr val="43566B"/>
                </a:solidFill>
                <a:latin typeface="PingFang SC"/>
                <a:ea typeface="PingFang SC"/>
              </a:rPr>
              <a:t> / </a:t>
            </a: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边缘</a:t>
            </a:r>
            <a:r>
              <a:rPr lang="en-US" sz="1050">
                <a:solidFill>
                  <a:srgbClr val="43566B"/>
                </a:solidFill>
                <a:latin typeface="PingFang SC"/>
                <a:ea typeface="PingFang SC"/>
              </a:rPr>
              <a:t> / </a:t>
            </a: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云</a:t>
            </a:r>
            <a:r>
              <a:rPr lang="en-US" sz="1050">
                <a:solidFill>
                  <a:srgbClr val="43566B"/>
                </a:solidFill>
                <a:latin typeface="PingFang SC"/>
                <a:ea typeface="PingFang SC"/>
              </a:rPr>
              <a:t> </a:t>
            </a: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按需</a:t>
            </a:r>
            <a:r>
              <a:rPr lang="en-US" sz="1050">
                <a:solidFill>
                  <a:srgbClr val="43566B"/>
                </a:solidFill>
                <a:latin typeface="PingFang SC"/>
                <a:ea typeface="PingFang SC"/>
              </a:rPr>
              <a:t>DRI + </a:t>
            </a: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培训</a:t>
            </a:r>
            <a:r>
              <a:rPr lang="en-US" sz="1050">
                <a:solidFill>
                  <a:srgbClr val="43566B"/>
                </a:solidFill>
                <a:latin typeface="PingFang SC"/>
                <a:ea typeface="PingFang SC"/>
              </a:rPr>
              <a:t> + </a:t>
            </a: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激励</a:t>
            </a: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分类分级</a:t>
            </a:r>
            <a:r>
              <a:rPr lang="en-US" sz="1050">
                <a:solidFill>
                  <a:srgbClr val="43566B"/>
                </a:solidFill>
                <a:latin typeface="PingFang SC"/>
                <a:ea typeface="PingFang SC"/>
              </a:rPr>
              <a:t> + </a:t>
            </a: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权限红线</a:t>
            </a:r>
            <a:endParaRPr/>
          </a:p>
        </p:txBody>
      </p:sp>
      <p:sp>
        <p:nvSpPr>
          <p:cNvPr id="582" name=""/>
          <p:cNvSpPr/>
          <p:nvPr/>
        </p:nvSpPr>
        <p:spPr>
          <a:xfrm rot="0" flipH="0" flipV="0">
            <a:off x="6743700" y="4714875"/>
            <a:ext cx="4762500" cy="657225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95250" dist="19050" dir="5400000">
              <a:srgbClr val="1E3A8A">
                <a:alpha val="4000"/>
              </a:srgbClr>
            </a:outerShdw>
          </a:effectLst>
        </p:spPr>
        <p:txBody>
          <a:bodyPr/>
          <a:p/>
        </p:txBody>
      </p:sp>
      <p:sp>
        <p:nvSpPr>
          <p:cNvPr id="583" name=""/>
          <p:cNvSpPr/>
          <p:nvPr/>
        </p:nvSpPr>
        <p:spPr>
          <a:xfrm rot="0" flipH="0" flipV="0">
            <a:off x="6934200" y="4857750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FEEFE0"/>
          </a:solidFill>
          <a:ln/>
        </p:spPr>
        <p:txBody>
          <a:bodyPr/>
          <a:p/>
        </p:txBody>
      </p:sp>
      <p:pic>
        <p:nvPicPr>
          <p:cNvPr id="58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7029450" y="4953000"/>
            <a:ext cx="190500" cy="190500"/>
          </a:xfrm>
          <a:prstGeom prst="rect">
            <a:avLst/>
          </a:prstGeom>
          <a:ln/>
        </p:spPr>
      </p:pic>
      <p:sp>
        <p:nvSpPr>
          <p:cNvPr id="585" name="" descr="{&quot;isTemplate&quot;:true,&quot;type&quot;:&quot;text&quot;}"/>
          <p:cNvSpPr txBox="1"/>
          <p:nvPr/>
        </p:nvSpPr>
        <p:spPr>
          <a:xfrm rot="0" flipH="0" flipV="0">
            <a:off x="7448550" y="4943475"/>
            <a:ext cx="666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3A8A"/>
                </a:solidFill>
                <a:latin typeface="PingFang SC"/>
                <a:ea typeface="PingFang SC"/>
              </a:rPr>
              <a:t>组织</a:t>
            </a:r>
            <a:endParaRPr/>
          </a:p>
        </p:txBody>
      </p:sp>
      <p:sp>
        <p:nvSpPr>
          <p:cNvPr id="586" name="" descr="{&quot;isTemplate&quot;:true,&quot;type&quot;:&quot;text&quot;}"/>
          <p:cNvSpPr txBox="1"/>
          <p:nvPr/>
        </p:nvSpPr>
        <p:spPr>
          <a:xfrm rot="0" flipH="0" flipV="0">
            <a:off x="8248650" y="4800600"/>
            <a:ext cx="306705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选对场景，别贪大</a:t>
            </a: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质量与频率过关</a:t>
            </a: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先简后繁，够用即可</a:t>
            </a: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私有化</a:t>
            </a:r>
            <a:r>
              <a:rPr lang="en-US" sz="1050">
                <a:solidFill>
                  <a:srgbClr val="43566B"/>
                </a:solidFill>
                <a:latin typeface="PingFang SC"/>
                <a:ea typeface="PingFang SC"/>
              </a:rPr>
              <a:t> / </a:t>
            </a: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边缘</a:t>
            </a:r>
            <a:r>
              <a:rPr lang="en-US" sz="1050">
                <a:solidFill>
                  <a:srgbClr val="43566B"/>
                </a:solidFill>
                <a:latin typeface="PingFang SC"/>
                <a:ea typeface="PingFang SC"/>
              </a:rPr>
              <a:t> / </a:t>
            </a: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云</a:t>
            </a:r>
            <a:r>
              <a:rPr lang="en-US" sz="1050">
                <a:solidFill>
                  <a:srgbClr val="43566B"/>
                </a:solidFill>
                <a:latin typeface="PingFang SC"/>
                <a:ea typeface="PingFang SC"/>
              </a:rPr>
              <a:t> </a:t>
            </a: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按需</a:t>
            </a:r>
            <a:r>
              <a:rPr lang="en-US" sz="1050">
                <a:solidFill>
                  <a:srgbClr val="43566B"/>
                </a:solidFill>
                <a:latin typeface="PingFang SC"/>
                <a:ea typeface="PingFang SC"/>
              </a:rPr>
              <a:t>DRI + </a:t>
            </a: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培训</a:t>
            </a:r>
            <a:r>
              <a:rPr lang="en-US" sz="1050">
                <a:solidFill>
                  <a:srgbClr val="43566B"/>
                </a:solidFill>
                <a:latin typeface="PingFang SC"/>
                <a:ea typeface="PingFang SC"/>
              </a:rPr>
              <a:t> + </a:t>
            </a: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激励</a:t>
            </a: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分类分级</a:t>
            </a:r>
            <a:r>
              <a:rPr lang="en-US" sz="1050">
                <a:solidFill>
                  <a:srgbClr val="43566B"/>
                </a:solidFill>
                <a:latin typeface="PingFang SC"/>
                <a:ea typeface="PingFang SC"/>
              </a:rPr>
              <a:t> + </a:t>
            </a: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权限红线</a:t>
            </a:r>
            <a:endParaRPr/>
          </a:p>
        </p:txBody>
      </p:sp>
      <p:sp>
        <p:nvSpPr>
          <p:cNvPr id="587" name=""/>
          <p:cNvSpPr/>
          <p:nvPr/>
        </p:nvSpPr>
        <p:spPr>
          <a:xfrm rot="0" flipH="0" flipV="0">
            <a:off x="6743700" y="5486400"/>
            <a:ext cx="476250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95250" dist="19050" dir="5400000">
              <a:srgbClr val="1E3A8A">
                <a:alpha val="4000"/>
              </a:srgbClr>
            </a:outerShdw>
          </a:effectLst>
        </p:spPr>
        <p:txBody>
          <a:bodyPr/>
          <a:p/>
        </p:txBody>
      </p:sp>
      <p:sp>
        <p:nvSpPr>
          <p:cNvPr id="588" name=""/>
          <p:cNvSpPr/>
          <p:nvPr/>
        </p:nvSpPr>
        <p:spPr>
          <a:xfrm rot="0" flipH="0" flipV="0">
            <a:off x="6934200" y="5629275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FEEFE0"/>
          </a:solidFill>
          <a:ln/>
        </p:spPr>
        <p:txBody>
          <a:bodyPr/>
          <a:p/>
        </p:txBody>
      </p:sp>
      <p:pic>
        <p:nvPicPr>
          <p:cNvPr id="58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 rot="0" flipH="0" flipV="0">
            <a:off x="7029450" y="5724525"/>
            <a:ext cx="190500" cy="190500"/>
          </a:xfrm>
          <a:prstGeom prst="rect">
            <a:avLst/>
          </a:prstGeom>
          <a:ln/>
        </p:spPr>
      </p:pic>
      <p:sp>
        <p:nvSpPr>
          <p:cNvPr id="590" name="" descr="{&quot;isTemplate&quot;:true,&quot;type&quot;:&quot;text&quot;}"/>
          <p:cNvSpPr txBox="1"/>
          <p:nvPr/>
        </p:nvSpPr>
        <p:spPr>
          <a:xfrm rot="0" flipH="0" flipV="0">
            <a:off x="7448550" y="5715000"/>
            <a:ext cx="666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3A8A"/>
                </a:solidFill>
                <a:latin typeface="PingFang SC"/>
                <a:ea typeface="PingFang SC"/>
              </a:rPr>
              <a:t>安全</a:t>
            </a:r>
            <a:endParaRPr/>
          </a:p>
        </p:txBody>
      </p:sp>
      <p:sp>
        <p:nvSpPr>
          <p:cNvPr id="591" name="" descr="{&quot;isTemplate&quot;:true,&quot;type&quot;:&quot;text&quot;}"/>
          <p:cNvSpPr txBox="1"/>
          <p:nvPr/>
        </p:nvSpPr>
        <p:spPr>
          <a:xfrm rot="0" flipH="0" flipV="0">
            <a:off x="8248650" y="5581650"/>
            <a:ext cx="306705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选对场景，别贪大</a:t>
            </a: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质量与频率过关</a:t>
            </a: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先简后繁，够用即可</a:t>
            </a: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私有化</a:t>
            </a:r>
            <a:r>
              <a:rPr lang="en-US" sz="1050">
                <a:solidFill>
                  <a:srgbClr val="43566B"/>
                </a:solidFill>
                <a:latin typeface="PingFang SC"/>
                <a:ea typeface="PingFang SC"/>
              </a:rPr>
              <a:t> / </a:t>
            </a: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边缘</a:t>
            </a:r>
            <a:r>
              <a:rPr lang="en-US" sz="1050">
                <a:solidFill>
                  <a:srgbClr val="43566B"/>
                </a:solidFill>
                <a:latin typeface="PingFang SC"/>
                <a:ea typeface="PingFang SC"/>
              </a:rPr>
              <a:t> / </a:t>
            </a: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云</a:t>
            </a:r>
            <a:r>
              <a:rPr lang="en-US" sz="1050">
                <a:solidFill>
                  <a:srgbClr val="43566B"/>
                </a:solidFill>
                <a:latin typeface="PingFang SC"/>
                <a:ea typeface="PingFang SC"/>
              </a:rPr>
              <a:t> </a:t>
            </a: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按需</a:t>
            </a:r>
            <a:r>
              <a:rPr lang="en-US" sz="1050">
                <a:solidFill>
                  <a:srgbClr val="43566B"/>
                </a:solidFill>
                <a:latin typeface="PingFang SC"/>
                <a:ea typeface="PingFang SC"/>
              </a:rPr>
              <a:t>DRI + </a:t>
            </a: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培训</a:t>
            </a:r>
            <a:r>
              <a:rPr lang="en-US" sz="1050">
                <a:solidFill>
                  <a:srgbClr val="43566B"/>
                </a:solidFill>
                <a:latin typeface="PingFang SC"/>
                <a:ea typeface="PingFang SC"/>
              </a:rPr>
              <a:t> + </a:t>
            </a: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激励</a:t>
            </a: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分类分级</a:t>
            </a:r>
            <a:r>
              <a:rPr lang="en-US" sz="1050">
                <a:solidFill>
                  <a:srgbClr val="43566B"/>
                </a:solidFill>
                <a:latin typeface="PingFang SC"/>
                <a:ea typeface="PingFang SC"/>
              </a:rPr>
              <a:t> + </a:t>
            </a: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权限红线</a:t>
            </a:r>
            <a:endParaRPr/>
          </a:p>
        </p:txBody>
      </p:sp>
      <p:sp>
        <p:nvSpPr>
          <p:cNvPr id="592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1123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AI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场景落地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中级</a:t>
            </a:r>
            <a:endParaRPr/>
          </a:p>
        </p:txBody>
      </p:sp>
      <p:sp>
        <p:nvSpPr>
          <p:cNvPr id="593" name="" descr="{&quot;isTemplate&quot;:true,&quot;type&quot;:&quot;text&quot;}"/>
          <p:cNvSpPr txBox="1"/>
          <p:nvPr/>
        </p:nvSpPr>
        <p:spPr>
          <a:xfrm rot="0" flipH="0" flipV="0">
            <a:off x="11029950" y="63627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26 / 34</a:t>
            </a:r>
            <a:endParaRPr/>
          </a:p>
        </p:txBody>
      </p:sp>
    </p:spTree>
  </p:cSld>
</p:sld>
</file>

<file path=ppt/slides/slide27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594" name="" descr="const channels = [&#10;    { icon: 'landmark', t: '中央部委', d: '工信部智能制造试点示范等' },&#10;    { icon: 'map-marked-alt', t: '省级', d: '数字化转型 / 智改数转专项' },&#10;    { icon: 'city', t: '市、区县', d: '技改奖补、专精特新配套' },&#10;    { icon: 'award', t: '标准与荣誉', d: 'CMMM 成熟度贯标等资质' },&#10;];&#10;const pairs = [&#10;    ['机会画布', '选题论证'],&#10;    ['试点数据', '可行性说明'],&#10;    ['ROI 测算', '效益测算表'],&#10;    ['风险清单', '安全可信方案'],&#10;    ['团队分工', '组织保障'],&#10;    ['复盘报告', '可复制推广计划'],&#10;];&#10;&lt;Slide style={{ width: '1280px', height: '720px', background: '#F5F8FC', padding: '24px 72px', boxSizing: 'border-box', flexDirection: 'column', fontFamily: 'PingFang SC, Source Han Sans SC, sans-serif' }}&gt;&#10;    &lt;Box style={{ height: 96, flexDirection: 'row', alignItems: 'center', gap: 16 }}&gt;&#10;        &lt;Box style={{ width: 5, height: 46, background: '#06B6D4', borderRadius: 3 }} /&gt;&#10;        &lt;Box&gt;&#10;            &lt;Text style={{ fontSize: 34, fontWeight: 'bold', color: '#1E3A8A', lineHeight: 1.2 }}&gt;补贴四通道 + 课程产出 ↔ 申报材料&lt;/Text&gt;&#10;            &lt;Text style={{ fontSize: 17, color: '#64748B', marginTop: 4 }}&gt;资源不是「求」来的，是「攒」出来的&lt;/Text&gt;&#10;        &lt;/Box&gt;&#10;    &lt;/Box&gt;&#10;    &lt;Box style={{ flexDirection: 'row', gap: 16, marginTop: 16 }}&gt;&#10;        {channels.map((c, i) =&gt; (&#10;            &lt;Box key={i} style={{ flex: 1, background: '#FFFFFF', borderRadius: 14, padding: '16px 18px', border: '1px solid #E2E8F0', boxShadow: '0 3px 12px rgba(30,58,138,0.05)', flexDirection: 'row', alignItems: 'center', gap: 12 }}&gt;&#10;                &lt;Box style={{ width: 46, height: 46, borderRadius: 12, background: '#FEEFE0', justifyContent: 'center', alignItems: 'center' }}&gt;&#10;                    &lt;FAIcon name={c.icon} style={{ fill: '#F59E0B', width: 22, height: 22 }} /&gt;&#10;                &lt;/Box&gt;&#10;                &lt;Box&gt;&#10;                    &lt;Text style={{ fontSize: 17, fontWeight: 'bold', color: '#1E3A8A' }}&gt;{c.t}&lt;/Text&gt;&#10;                    &lt;Text style={{ fontSize: 13, color: '#64748B', marginTop: 2 }}&gt;{c.d}&lt;/Text&gt;&#10;                &lt;/Box&gt;&#10;            &lt;/Box&gt;&#10;        ))}&#10;    &lt;/Box&gt;&#10;    &lt;Box style={{ flex: 1, background: '#FFFFFF', borderRadius: 16, padding: '20px 26px', marginTop: 18, border: '1px solid #E2E8F0', flexDirection: 'row' }}&gt;&#10;        &lt;Box style={{ flex: 1, flexDirection: 'column', gap: 10 }}&gt;&#10;            {pairs.map((p, i) =&gt; (&#10;                &lt;Box key={i} style={{ flexDirection: 'row', alignItems: 'center', gap: 12 }}&gt;&#10;                    &lt;Box style={{ width: 220, padding: '7px 14px', background: '#E0F7FA', borderRadius: 8 }}&gt;&#10;                        &lt;Text style={{ fontSize: 15, fontWeight: 'bold', color: '#0891B2' }}&gt;课程产出：{p[0]}&lt;/Text&gt;&#10;                    &lt;/Box&gt;&#10;                    &lt;FAIcon name=&quot;arrow-right&quot; style={{ fill: '#F59E0B', width: 16, height: 16 }} /&gt;&#10;                    &lt;Box style={{ width: 220, padding: '7px 14px', background: '#EDF3FB', borderRadius: 8 }}&gt;&#10;                        &lt;Text style={{ fontSize: 15, fontWeight: 'bold', color: '#1E3A8A' }}&gt;申报材料：{p[1]}&lt;/Text&gt;&#10;                    &lt;/Box&gt;&#10;                &lt;/Box&gt;&#10;            ))}&#10;        &lt;/Box&gt;&#10;        &lt;Box style={{ width: 330, background: '#1E3A8A', borderRadius: 14, padding: '24px 28px', marginLeft: 30, flexDirection: 'column', justifyContent: 'center', boxShadow: '0 8px 24px rgba(30,58,138,0.22)' }}&gt;&#10;            &lt;FAIcon name=&quot;lightbulb&quot; style={{ fill: '#F59E0B', width: 28, height: 28 }} /&gt;&#10;            &lt;Text style={{ fontSize: 21, fontWeight: 'bold', color: '#FFFFFF', lineHeight: 1.6, marginTop: 14 }}&gt;这门课的作业，攒起来就是一份试点申报书。&lt;/Text&gt;&#10;            &lt;Text style={{ fontSize: 14, color: '#A9C4E8', marginTop: 10, lineHeight: 1.6 }}&gt;学完 = 手里有材料，而不是脑子里有想法。&lt;/Text&gt;&#10;        &lt;/Box&gt;&#10;    &lt;/Box&gt;&#10;    &lt;Box style={{ height: 40, flexDirection: 'row', justifyContent: 'space-between', alignItems: 'center', marginTop: 10 }}&gt;&#10;        &lt;Text style={{ fontSize: 14, color: '#64748B' }}&gt;AI 场景落地 · 中级&lt;/Text&gt;&#10;        &lt;Text style={{ fontSize: 14, color: '#64748B' }}&gt;27 / 34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/>
        </p:spPr>
        <p:txBody>
          <a:bodyPr/>
          <a:p/>
        </p:txBody>
      </p:sp>
      <p:sp>
        <p:nvSpPr>
          <p:cNvPr id="596" name=""/>
          <p:cNvSpPr/>
          <p:nvPr/>
        </p:nvSpPr>
        <p:spPr>
          <a:xfrm rot="0" flipH="0" flipV="0">
            <a:off x="685800" y="466725"/>
            <a:ext cx="47625" cy="438150"/>
          </a:xfrm>
          <a:prstGeom prst="roundRect">
            <a:avLst>
              <a:gd name="adj" fmla="val 60000"/>
            </a:avLst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597" name="" descr="{&quot;isTemplate&quot;:true,&quot;type&quot;:&quot;text&quot;}"/>
          <p:cNvSpPr txBox="1"/>
          <p:nvPr/>
        </p:nvSpPr>
        <p:spPr>
          <a:xfrm rot="0" flipH="0" flipV="0">
            <a:off x="885825" y="333375"/>
            <a:ext cx="5153025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>补贴四通道</a:t>
            </a:r>
            <a:r>
              <a:rPr lang="en-US" sz="2550" b="1">
                <a:solidFill>
                  <a:srgbClr val="1E3A8A"/>
                </a:solidFill>
                <a:latin typeface="PingFang SC"/>
                <a:ea typeface="PingFang SC"/>
              </a:rPr>
              <a:t> + </a:t>
            </a: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>课程产出</a:t>
            </a:r>
            <a:r>
              <a:rPr lang="en-US" sz="2550" b="1">
                <a:solidFill>
                  <a:srgbClr val="1E3A8A"/>
                </a:solidFill>
                <a:latin typeface="PingFang SC"/>
                <a:ea typeface="PingFang SC"/>
              </a:rPr>
              <a:t> ↔ </a:t>
            </a: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>申报材料</a:t>
            </a:r>
            <a:endParaRPr/>
          </a:p>
        </p:txBody>
      </p:sp>
      <p:sp>
        <p:nvSpPr>
          <p:cNvPr id="598" name="" descr="{&quot;isTemplate&quot;:true,&quot;type&quot;:&quot;text&quot;}"/>
          <p:cNvSpPr txBox="1"/>
          <p:nvPr/>
        </p:nvSpPr>
        <p:spPr>
          <a:xfrm rot="0" flipH="0" flipV="0">
            <a:off x="885825" y="838200"/>
            <a:ext cx="51530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资源不是「求」来的，是「攒」出来的</a:t>
            </a:r>
            <a:endParaRPr/>
          </a:p>
        </p:txBody>
      </p:sp>
      <p:sp>
        <p:nvSpPr>
          <p:cNvPr id="599" name=""/>
          <p:cNvSpPr/>
          <p:nvPr/>
        </p:nvSpPr>
        <p:spPr>
          <a:xfrm rot="0" flipH="0" flipV="0">
            <a:off x="685800" y="1295400"/>
            <a:ext cx="2590800" cy="742950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28575" dir="5400000">
              <a:srgbClr val="1E3A8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600" name=""/>
          <p:cNvSpPr/>
          <p:nvPr/>
        </p:nvSpPr>
        <p:spPr>
          <a:xfrm rot="0" flipH="0" flipV="0">
            <a:off x="857250" y="1447800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FEEFE0"/>
          </a:solidFill>
          <a:ln/>
        </p:spPr>
        <p:txBody>
          <a:bodyPr/>
          <a:p/>
        </p:txBody>
      </p:sp>
      <p:pic>
        <p:nvPicPr>
          <p:cNvPr id="60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71550" y="1562100"/>
            <a:ext cx="209550" cy="209550"/>
          </a:xfrm>
          <a:prstGeom prst="rect">
            <a:avLst/>
          </a:prstGeom>
          <a:ln/>
        </p:spPr>
      </p:pic>
      <p:sp>
        <p:nvSpPr>
          <p:cNvPr id="602" name="" descr="{&quot;isTemplate&quot;:true,&quot;type&quot;:&quot;text&quot;}"/>
          <p:cNvSpPr txBox="1"/>
          <p:nvPr/>
        </p:nvSpPr>
        <p:spPr>
          <a:xfrm rot="0" flipH="0" flipV="0">
            <a:off x="1409700" y="1485900"/>
            <a:ext cx="1485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3A8A"/>
                </a:solidFill>
                <a:latin typeface="PingFang SC"/>
                <a:ea typeface="PingFang SC"/>
              </a:rPr>
              <a:t>中央部委</a:t>
            </a:r>
            <a:endParaRPr/>
          </a:p>
        </p:txBody>
      </p:sp>
      <p:sp>
        <p:nvSpPr>
          <p:cNvPr id="603" name="" descr="{&quot;isTemplate&quot;:true,&quot;type&quot;:&quot;text&quot;}"/>
          <p:cNvSpPr txBox="1"/>
          <p:nvPr/>
        </p:nvSpPr>
        <p:spPr>
          <a:xfrm rot="0" flipH="0" flipV="0">
            <a:off x="1409700" y="1704975"/>
            <a:ext cx="1485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PingFang SC"/>
                <a:ea typeface="PingFang SC"/>
              </a:rPr>
              <a:t>工信部智能制造试点示范等</a:t>
            </a:r>
            <a:endParaRPr/>
          </a:p>
        </p:txBody>
      </p:sp>
      <p:sp>
        <p:nvSpPr>
          <p:cNvPr id="604" name=""/>
          <p:cNvSpPr/>
          <p:nvPr/>
        </p:nvSpPr>
        <p:spPr>
          <a:xfrm rot="0" flipH="0" flipV="0">
            <a:off x="3429000" y="1295400"/>
            <a:ext cx="2590800" cy="742950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28575" dir="5400000">
              <a:srgbClr val="1E3A8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605" name=""/>
          <p:cNvSpPr/>
          <p:nvPr/>
        </p:nvSpPr>
        <p:spPr>
          <a:xfrm rot="0" flipH="0" flipV="0">
            <a:off x="3600450" y="1447800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FEEFE0"/>
          </a:solidFill>
          <a:ln/>
        </p:spPr>
        <p:txBody>
          <a:bodyPr/>
          <a:p/>
        </p:txBody>
      </p:sp>
      <p:pic>
        <p:nvPicPr>
          <p:cNvPr id="60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3714750" y="1562100"/>
            <a:ext cx="209550" cy="209550"/>
          </a:xfrm>
          <a:prstGeom prst="rect">
            <a:avLst/>
          </a:prstGeom>
          <a:ln/>
        </p:spPr>
      </p:pic>
      <p:sp>
        <p:nvSpPr>
          <p:cNvPr id="607" name="" descr="{&quot;isTemplate&quot;:true,&quot;type&quot;:&quot;text&quot;}"/>
          <p:cNvSpPr txBox="1"/>
          <p:nvPr/>
        </p:nvSpPr>
        <p:spPr>
          <a:xfrm rot="0" flipH="0" flipV="0">
            <a:off x="4152900" y="1485900"/>
            <a:ext cx="15144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3A8A"/>
                </a:solidFill>
                <a:latin typeface="PingFang SC"/>
                <a:ea typeface="PingFang SC"/>
              </a:rPr>
              <a:t>省级</a:t>
            </a:r>
            <a:endParaRPr/>
          </a:p>
        </p:txBody>
      </p:sp>
      <p:sp>
        <p:nvSpPr>
          <p:cNvPr id="608" name="" descr="{&quot;isTemplate&quot;:true,&quot;type&quot;:&quot;text&quot;}"/>
          <p:cNvSpPr txBox="1"/>
          <p:nvPr/>
        </p:nvSpPr>
        <p:spPr>
          <a:xfrm rot="0" flipH="0" flipV="0">
            <a:off x="4152900" y="1704975"/>
            <a:ext cx="1514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PingFang SC"/>
                <a:ea typeface="PingFang SC"/>
              </a:rPr>
              <a:t>数字化转型</a:t>
            </a:r>
            <a:r>
              <a:rPr lang="en-US" sz="975">
                <a:solidFill>
                  <a:srgbClr val="64748B"/>
                </a:solidFill>
                <a:latin typeface="PingFang SC"/>
                <a:ea typeface="PingFang SC"/>
              </a:rPr>
              <a:t> / </a:t>
            </a:r>
            <a:r>
              <a:rPr lang="zh-CN" sz="975">
                <a:solidFill>
                  <a:srgbClr val="64748B"/>
                </a:solidFill>
                <a:latin typeface="PingFang SC"/>
                <a:ea typeface="PingFang SC"/>
              </a:rPr>
              <a:t>智改数转专项</a:t>
            </a:r>
            <a:endParaRPr/>
          </a:p>
        </p:txBody>
      </p:sp>
      <p:sp>
        <p:nvSpPr>
          <p:cNvPr id="609" name=""/>
          <p:cNvSpPr/>
          <p:nvPr/>
        </p:nvSpPr>
        <p:spPr>
          <a:xfrm rot="0" flipH="0" flipV="0">
            <a:off x="6172200" y="1295400"/>
            <a:ext cx="2590800" cy="742950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28575" dir="5400000">
              <a:srgbClr val="1E3A8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610" name=""/>
          <p:cNvSpPr/>
          <p:nvPr/>
        </p:nvSpPr>
        <p:spPr>
          <a:xfrm rot="0" flipH="0" flipV="0">
            <a:off x="6343650" y="1447800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FEEFE0"/>
          </a:solidFill>
          <a:ln/>
        </p:spPr>
        <p:txBody>
          <a:bodyPr/>
          <a:p/>
        </p:txBody>
      </p:sp>
      <p:pic>
        <p:nvPicPr>
          <p:cNvPr id="61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6457950" y="1562100"/>
            <a:ext cx="209550" cy="209550"/>
          </a:xfrm>
          <a:prstGeom prst="rect">
            <a:avLst/>
          </a:prstGeom>
          <a:ln/>
        </p:spPr>
      </p:pic>
      <p:sp>
        <p:nvSpPr>
          <p:cNvPr id="612" name="" descr="{&quot;isTemplate&quot;:true,&quot;type&quot;:&quot;text&quot;}"/>
          <p:cNvSpPr txBox="1"/>
          <p:nvPr/>
        </p:nvSpPr>
        <p:spPr>
          <a:xfrm rot="0" flipH="0" flipV="0">
            <a:off x="6896100" y="1485900"/>
            <a:ext cx="13620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3A8A"/>
                </a:solidFill>
                <a:latin typeface="PingFang SC"/>
                <a:ea typeface="PingFang SC"/>
              </a:rPr>
              <a:t>市、区县</a:t>
            </a:r>
            <a:endParaRPr/>
          </a:p>
        </p:txBody>
      </p:sp>
      <p:sp>
        <p:nvSpPr>
          <p:cNvPr id="613" name="" descr="{&quot;isTemplate&quot;:true,&quot;type&quot;:&quot;text&quot;}"/>
          <p:cNvSpPr txBox="1"/>
          <p:nvPr/>
        </p:nvSpPr>
        <p:spPr>
          <a:xfrm rot="0" flipH="0" flipV="0">
            <a:off x="6896100" y="1704975"/>
            <a:ext cx="13620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PingFang SC"/>
                <a:ea typeface="PingFang SC"/>
              </a:rPr>
              <a:t>技改奖补、专精特新配套</a:t>
            </a:r>
            <a:endParaRPr/>
          </a:p>
        </p:txBody>
      </p:sp>
      <p:sp>
        <p:nvSpPr>
          <p:cNvPr id="614" name=""/>
          <p:cNvSpPr/>
          <p:nvPr/>
        </p:nvSpPr>
        <p:spPr>
          <a:xfrm rot="0" flipH="0" flipV="0">
            <a:off x="8915400" y="1295400"/>
            <a:ext cx="2590800" cy="742950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28575" dir="5400000">
              <a:srgbClr val="1E3A8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615" name=""/>
          <p:cNvSpPr/>
          <p:nvPr/>
        </p:nvSpPr>
        <p:spPr>
          <a:xfrm rot="0" flipH="0" flipV="0">
            <a:off x="9086850" y="1447800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FEEFE0"/>
          </a:solidFill>
          <a:ln/>
        </p:spPr>
        <p:txBody>
          <a:bodyPr/>
          <a:p/>
        </p:txBody>
      </p:sp>
      <p:pic>
        <p:nvPicPr>
          <p:cNvPr id="61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9201150" y="1562100"/>
            <a:ext cx="209550" cy="209550"/>
          </a:xfrm>
          <a:prstGeom prst="rect">
            <a:avLst/>
          </a:prstGeom>
          <a:ln/>
        </p:spPr>
      </p:pic>
      <p:sp>
        <p:nvSpPr>
          <p:cNvPr id="617" name="" descr="{&quot;isTemplate&quot;:true,&quot;type&quot;:&quot;text&quot;}"/>
          <p:cNvSpPr txBox="1"/>
          <p:nvPr/>
        </p:nvSpPr>
        <p:spPr>
          <a:xfrm rot="0" flipH="0" flipV="0">
            <a:off x="9639300" y="1485900"/>
            <a:ext cx="14573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3A8A"/>
                </a:solidFill>
                <a:latin typeface="PingFang SC"/>
                <a:ea typeface="PingFang SC"/>
              </a:rPr>
              <a:t>标准与荣誉</a:t>
            </a:r>
            <a:endParaRPr/>
          </a:p>
        </p:txBody>
      </p:sp>
      <p:sp>
        <p:nvSpPr>
          <p:cNvPr id="618" name="" descr="{&quot;isTemplate&quot;:true,&quot;type&quot;:&quot;text&quot;}"/>
          <p:cNvSpPr txBox="1"/>
          <p:nvPr/>
        </p:nvSpPr>
        <p:spPr>
          <a:xfrm rot="0" flipH="0" flipV="0">
            <a:off x="9639300" y="1704975"/>
            <a:ext cx="14573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PingFang SC"/>
                <a:ea typeface="PingFang SC"/>
              </a:rPr>
              <a:t>CMMM </a:t>
            </a:r>
            <a:r>
              <a:rPr lang="zh-CN" sz="975">
                <a:solidFill>
                  <a:srgbClr val="64748B"/>
                </a:solidFill>
                <a:latin typeface="PingFang SC"/>
                <a:ea typeface="PingFang SC"/>
              </a:rPr>
              <a:t>成熟度贯标等资质</a:t>
            </a:r>
            <a:endParaRPr/>
          </a:p>
        </p:txBody>
      </p:sp>
      <p:sp>
        <p:nvSpPr>
          <p:cNvPr id="619" name=""/>
          <p:cNvSpPr/>
          <p:nvPr/>
        </p:nvSpPr>
        <p:spPr>
          <a:xfrm rot="0" flipH="0" flipV="0">
            <a:off x="685800" y="2209800"/>
            <a:ext cx="10820400" cy="3943350"/>
          </a:xfrm>
          <a:prstGeom prst="roundRect">
            <a:avLst>
              <a:gd name="adj" fmla="val 38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20" name=""/>
          <p:cNvSpPr/>
          <p:nvPr/>
        </p:nvSpPr>
        <p:spPr>
          <a:xfrm rot="0" flipH="0" flipV="0">
            <a:off x="933450" y="2400300"/>
            <a:ext cx="2095500" cy="304800"/>
          </a:xfrm>
          <a:prstGeom prst="roundRect">
            <a:avLst>
              <a:gd name="adj" fmla="val 25000"/>
            </a:avLst>
          </a:prstGeom>
          <a:solidFill>
            <a:srgbClr val="E0F7FA"/>
          </a:solidFill>
          <a:ln/>
        </p:spPr>
        <p:txBody>
          <a:bodyPr/>
          <a:p/>
        </p:txBody>
      </p:sp>
      <p:sp>
        <p:nvSpPr>
          <p:cNvPr id="621" name="" descr="{&quot;isTemplate&quot;:true,&quot;type&quot;:&quot;text&quot;}"/>
          <p:cNvSpPr txBox="1"/>
          <p:nvPr/>
        </p:nvSpPr>
        <p:spPr>
          <a:xfrm rot="0" flipH="0" flipV="0">
            <a:off x="1066800" y="2466975"/>
            <a:ext cx="1828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891B2"/>
                </a:solidFill>
                <a:latin typeface="PingFang SC"/>
                <a:ea typeface="PingFang SC"/>
              </a:rPr>
              <a:t>课程产出：</a:t>
            </a:r>
            <a:r>
              <a:rPr lang="zh-CN" sz="1125" b="1">
                <a:solidFill>
                  <a:srgbClr val="0891B2"/>
                </a:solidFill>
                <a:latin typeface="PingFang SC"/>
                <a:ea typeface="PingFang SC"/>
              </a:rPr>
              <a:t>机会画布</a:t>
            </a:r>
            <a:endParaRPr/>
          </a:p>
        </p:txBody>
      </p:sp>
      <p:pic>
        <p:nvPicPr>
          <p:cNvPr id="62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3143250" y="2476500"/>
            <a:ext cx="152400" cy="152400"/>
          </a:xfrm>
          <a:prstGeom prst="rect">
            <a:avLst/>
          </a:prstGeom>
          <a:ln/>
        </p:spPr>
      </p:pic>
      <p:sp>
        <p:nvSpPr>
          <p:cNvPr id="623" name=""/>
          <p:cNvSpPr/>
          <p:nvPr/>
        </p:nvSpPr>
        <p:spPr>
          <a:xfrm rot="0" flipH="0" flipV="0">
            <a:off x="3409950" y="2400300"/>
            <a:ext cx="2095500" cy="304800"/>
          </a:xfrm>
          <a:prstGeom prst="roundRect">
            <a:avLst>
              <a:gd name="adj" fmla="val 25000"/>
            </a:avLst>
          </a:prstGeom>
          <a:solidFill>
            <a:srgbClr val="EDF3FB"/>
          </a:solidFill>
          <a:ln/>
        </p:spPr>
        <p:txBody>
          <a:bodyPr/>
          <a:p/>
        </p:txBody>
      </p:sp>
      <p:sp>
        <p:nvSpPr>
          <p:cNvPr id="624" name="" descr="{&quot;isTemplate&quot;:true,&quot;type&quot;:&quot;text&quot;}"/>
          <p:cNvSpPr txBox="1"/>
          <p:nvPr/>
        </p:nvSpPr>
        <p:spPr>
          <a:xfrm rot="0" flipH="0" flipV="0">
            <a:off x="3543300" y="2466975"/>
            <a:ext cx="1828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E3A8A"/>
                </a:solidFill>
                <a:latin typeface="PingFang SC"/>
                <a:ea typeface="PingFang SC"/>
              </a:rPr>
              <a:t>申报材料：</a:t>
            </a:r>
            <a:r>
              <a:rPr lang="zh-CN" sz="1125" b="1">
                <a:solidFill>
                  <a:srgbClr val="1E3A8A"/>
                </a:solidFill>
                <a:latin typeface="PingFang SC"/>
                <a:ea typeface="PingFang SC"/>
              </a:rPr>
              <a:t>选题论证</a:t>
            </a:r>
            <a:endParaRPr/>
          </a:p>
        </p:txBody>
      </p:sp>
      <p:sp>
        <p:nvSpPr>
          <p:cNvPr id="625" name=""/>
          <p:cNvSpPr/>
          <p:nvPr/>
        </p:nvSpPr>
        <p:spPr>
          <a:xfrm rot="0" flipH="0" flipV="0">
            <a:off x="933450" y="2800350"/>
            <a:ext cx="2095500" cy="304800"/>
          </a:xfrm>
          <a:prstGeom prst="roundRect">
            <a:avLst>
              <a:gd name="adj" fmla="val 25000"/>
            </a:avLst>
          </a:prstGeom>
          <a:solidFill>
            <a:srgbClr val="E0F7FA"/>
          </a:solidFill>
          <a:ln/>
        </p:spPr>
        <p:txBody>
          <a:bodyPr/>
          <a:p/>
        </p:txBody>
      </p:sp>
      <p:sp>
        <p:nvSpPr>
          <p:cNvPr id="626" name="" descr="{&quot;isTemplate&quot;:true,&quot;type&quot;:&quot;text&quot;}"/>
          <p:cNvSpPr txBox="1"/>
          <p:nvPr/>
        </p:nvSpPr>
        <p:spPr>
          <a:xfrm rot="0" flipH="0" flipV="0">
            <a:off x="1066800" y="2867025"/>
            <a:ext cx="1828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891B2"/>
                </a:solidFill>
                <a:latin typeface="PingFang SC"/>
                <a:ea typeface="PingFang SC"/>
              </a:rPr>
              <a:t>课程产出：</a:t>
            </a:r>
            <a:r>
              <a:rPr lang="zh-CN" sz="1125" b="1">
                <a:solidFill>
                  <a:srgbClr val="0891B2"/>
                </a:solidFill>
                <a:latin typeface="PingFang SC"/>
                <a:ea typeface="PingFang SC"/>
              </a:rPr>
              <a:t>试点数据</a:t>
            </a:r>
            <a:endParaRPr/>
          </a:p>
        </p:txBody>
      </p:sp>
      <p:pic>
        <p:nvPicPr>
          <p:cNvPr id="62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3143250" y="2876550"/>
            <a:ext cx="152400" cy="152400"/>
          </a:xfrm>
          <a:prstGeom prst="rect">
            <a:avLst/>
          </a:prstGeom>
          <a:ln/>
        </p:spPr>
      </p:pic>
      <p:sp>
        <p:nvSpPr>
          <p:cNvPr id="628" name=""/>
          <p:cNvSpPr/>
          <p:nvPr/>
        </p:nvSpPr>
        <p:spPr>
          <a:xfrm rot="0" flipH="0" flipV="0">
            <a:off x="3409950" y="2800350"/>
            <a:ext cx="2095500" cy="304800"/>
          </a:xfrm>
          <a:prstGeom prst="roundRect">
            <a:avLst>
              <a:gd name="adj" fmla="val 25000"/>
            </a:avLst>
          </a:prstGeom>
          <a:solidFill>
            <a:srgbClr val="EDF3FB"/>
          </a:solidFill>
          <a:ln/>
        </p:spPr>
        <p:txBody>
          <a:bodyPr/>
          <a:p/>
        </p:txBody>
      </p:sp>
      <p:sp>
        <p:nvSpPr>
          <p:cNvPr id="629" name="" descr="{&quot;isTemplate&quot;:true,&quot;type&quot;:&quot;text&quot;}"/>
          <p:cNvSpPr txBox="1"/>
          <p:nvPr/>
        </p:nvSpPr>
        <p:spPr>
          <a:xfrm rot="0" flipH="0" flipV="0">
            <a:off x="3543300" y="2867025"/>
            <a:ext cx="1828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E3A8A"/>
                </a:solidFill>
                <a:latin typeface="PingFang SC"/>
                <a:ea typeface="PingFang SC"/>
              </a:rPr>
              <a:t>申报材料：</a:t>
            </a:r>
            <a:r>
              <a:rPr lang="zh-CN" sz="1125" b="1">
                <a:solidFill>
                  <a:srgbClr val="1E3A8A"/>
                </a:solidFill>
                <a:latin typeface="PingFang SC"/>
                <a:ea typeface="PingFang SC"/>
              </a:rPr>
              <a:t>可行性说明</a:t>
            </a:r>
            <a:endParaRPr/>
          </a:p>
        </p:txBody>
      </p:sp>
      <p:sp>
        <p:nvSpPr>
          <p:cNvPr id="630" name=""/>
          <p:cNvSpPr/>
          <p:nvPr/>
        </p:nvSpPr>
        <p:spPr>
          <a:xfrm rot="0" flipH="0" flipV="0">
            <a:off x="933450" y="3200400"/>
            <a:ext cx="2095500" cy="304800"/>
          </a:xfrm>
          <a:prstGeom prst="roundRect">
            <a:avLst>
              <a:gd name="adj" fmla="val 25000"/>
            </a:avLst>
          </a:prstGeom>
          <a:solidFill>
            <a:srgbClr val="E0F7FA"/>
          </a:solidFill>
          <a:ln/>
        </p:spPr>
        <p:txBody>
          <a:bodyPr/>
          <a:p/>
        </p:txBody>
      </p:sp>
      <p:sp>
        <p:nvSpPr>
          <p:cNvPr id="631" name="" descr="{&quot;isTemplate&quot;:true,&quot;type&quot;:&quot;text&quot;}"/>
          <p:cNvSpPr txBox="1"/>
          <p:nvPr/>
        </p:nvSpPr>
        <p:spPr>
          <a:xfrm rot="0" flipH="0" flipV="0">
            <a:off x="1066800" y="3267075"/>
            <a:ext cx="1828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891B2"/>
                </a:solidFill>
                <a:latin typeface="PingFang SC"/>
                <a:ea typeface="PingFang SC"/>
              </a:rPr>
              <a:t>课程产出：</a:t>
            </a:r>
            <a:r>
              <a:rPr lang="en-US" sz="1125" b="1">
                <a:solidFill>
                  <a:srgbClr val="0891B2"/>
                </a:solidFill>
                <a:latin typeface="PingFang SC"/>
                <a:ea typeface="PingFang SC"/>
              </a:rPr>
              <a:t>ROI </a:t>
            </a:r>
            <a:r>
              <a:rPr lang="zh-CN" sz="1125" b="1">
                <a:solidFill>
                  <a:srgbClr val="0891B2"/>
                </a:solidFill>
                <a:latin typeface="PingFang SC"/>
                <a:ea typeface="PingFang SC"/>
              </a:rPr>
              <a:t>测算</a:t>
            </a:r>
            <a:endParaRPr/>
          </a:p>
        </p:txBody>
      </p:sp>
      <p:pic>
        <p:nvPicPr>
          <p:cNvPr id="63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3143250" y="3276600"/>
            <a:ext cx="152400" cy="152400"/>
          </a:xfrm>
          <a:prstGeom prst="rect">
            <a:avLst/>
          </a:prstGeom>
          <a:ln/>
        </p:spPr>
      </p:pic>
      <p:sp>
        <p:nvSpPr>
          <p:cNvPr id="633" name=""/>
          <p:cNvSpPr/>
          <p:nvPr/>
        </p:nvSpPr>
        <p:spPr>
          <a:xfrm rot="0" flipH="0" flipV="0">
            <a:off x="3409950" y="3200400"/>
            <a:ext cx="2095500" cy="304800"/>
          </a:xfrm>
          <a:prstGeom prst="roundRect">
            <a:avLst>
              <a:gd name="adj" fmla="val 25000"/>
            </a:avLst>
          </a:prstGeom>
          <a:solidFill>
            <a:srgbClr val="EDF3FB"/>
          </a:solidFill>
          <a:ln/>
        </p:spPr>
        <p:txBody>
          <a:bodyPr/>
          <a:p/>
        </p:txBody>
      </p:sp>
      <p:sp>
        <p:nvSpPr>
          <p:cNvPr id="634" name="" descr="{&quot;isTemplate&quot;:true,&quot;type&quot;:&quot;text&quot;}"/>
          <p:cNvSpPr txBox="1"/>
          <p:nvPr/>
        </p:nvSpPr>
        <p:spPr>
          <a:xfrm rot="0" flipH="0" flipV="0">
            <a:off x="3543300" y="3267075"/>
            <a:ext cx="1828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E3A8A"/>
                </a:solidFill>
                <a:latin typeface="PingFang SC"/>
                <a:ea typeface="PingFang SC"/>
              </a:rPr>
              <a:t>申报材料：</a:t>
            </a:r>
            <a:r>
              <a:rPr lang="zh-CN" sz="1125" b="1">
                <a:solidFill>
                  <a:srgbClr val="1E3A8A"/>
                </a:solidFill>
                <a:latin typeface="PingFang SC"/>
                <a:ea typeface="PingFang SC"/>
              </a:rPr>
              <a:t>效益测算表</a:t>
            </a:r>
            <a:endParaRPr/>
          </a:p>
        </p:txBody>
      </p:sp>
      <p:sp>
        <p:nvSpPr>
          <p:cNvPr id="635" name=""/>
          <p:cNvSpPr/>
          <p:nvPr/>
        </p:nvSpPr>
        <p:spPr>
          <a:xfrm rot="0" flipH="0" flipV="0">
            <a:off x="933450" y="3600450"/>
            <a:ext cx="2095500" cy="304800"/>
          </a:xfrm>
          <a:prstGeom prst="roundRect">
            <a:avLst>
              <a:gd name="adj" fmla="val 25000"/>
            </a:avLst>
          </a:prstGeom>
          <a:solidFill>
            <a:srgbClr val="E0F7FA"/>
          </a:solidFill>
          <a:ln/>
        </p:spPr>
        <p:txBody>
          <a:bodyPr/>
          <a:p/>
        </p:txBody>
      </p:sp>
      <p:sp>
        <p:nvSpPr>
          <p:cNvPr id="636" name="" descr="{&quot;isTemplate&quot;:true,&quot;type&quot;:&quot;text&quot;}"/>
          <p:cNvSpPr txBox="1"/>
          <p:nvPr/>
        </p:nvSpPr>
        <p:spPr>
          <a:xfrm rot="0" flipH="0" flipV="0">
            <a:off x="1066800" y="3667125"/>
            <a:ext cx="1828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891B2"/>
                </a:solidFill>
                <a:latin typeface="PingFang SC"/>
                <a:ea typeface="PingFang SC"/>
              </a:rPr>
              <a:t>课程产出：</a:t>
            </a:r>
            <a:r>
              <a:rPr lang="zh-CN" sz="1125" b="1">
                <a:solidFill>
                  <a:srgbClr val="0891B2"/>
                </a:solidFill>
                <a:latin typeface="PingFang SC"/>
                <a:ea typeface="PingFang SC"/>
              </a:rPr>
              <a:t>风险清单</a:t>
            </a:r>
            <a:endParaRPr/>
          </a:p>
        </p:txBody>
      </p:sp>
      <p:pic>
        <p:nvPicPr>
          <p:cNvPr id="63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3143250" y="3676650"/>
            <a:ext cx="152400" cy="152400"/>
          </a:xfrm>
          <a:prstGeom prst="rect">
            <a:avLst/>
          </a:prstGeom>
          <a:ln/>
        </p:spPr>
      </p:pic>
      <p:sp>
        <p:nvSpPr>
          <p:cNvPr id="638" name=""/>
          <p:cNvSpPr/>
          <p:nvPr/>
        </p:nvSpPr>
        <p:spPr>
          <a:xfrm rot="0" flipH="0" flipV="0">
            <a:off x="3409950" y="3600450"/>
            <a:ext cx="2095500" cy="304800"/>
          </a:xfrm>
          <a:prstGeom prst="roundRect">
            <a:avLst>
              <a:gd name="adj" fmla="val 25000"/>
            </a:avLst>
          </a:prstGeom>
          <a:solidFill>
            <a:srgbClr val="EDF3FB"/>
          </a:solidFill>
          <a:ln/>
        </p:spPr>
        <p:txBody>
          <a:bodyPr/>
          <a:p/>
        </p:txBody>
      </p:sp>
      <p:sp>
        <p:nvSpPr>
          <p:cNvPr id="639" name="" descr="{&quot;isTemplate&quot;:true,&quot;type&quot;:&quot;text&quot;}"/>
          <p:cNvSpPr txBox="1"/>
          <p:nvPr/>
        </p:nvSpPr>
        <p:spPr>
          <a:xfrm rot="0" flipH="0" flipV="0">
            <a:off x="3543300" y="3667125"/>
            <a:ext cx="1828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E3A8A"/>
                </a:solidFill>
                <a:latin typeface="PingFang SC"/>
                <a:ea typeface="PingFang SC"/>
              </a:rPr>
              <a:t>申报材料：</a:t>
            </a:r>
            <a:r>
              <a:rPr lang="zh-CN" sz="1125" b="1">
                <a:solidFill>
                  <a:srgbClr val="1E3A8A"/>
                </a:solidFill>
                <a:latin typeface="PingFang SC"/>
                <a:ea typeface="PingFang SC"/>
              </a:rPr>
              <a:t>安全可信方案</a:t>
            </a:r>
            <a:endParaRPr/>
          </a:p>
        </p:txBody>
      </p:sp>
      <p:sp>
        <p:nvSpPr>
          <p:cNvPr id="640" name=""/>
          <p:cNvSpPr/>
          <p:nvPr/>
        </p:nvSpPr>
        <p:spPr>
          <a:xfrm rot="0" flipH="0" flipV="0">
            <a:off x="933450" y="4000500"/>
            <a:ext cx="2095500" cy="304800"/>
          </a:xfrm>
          <a:prstGeom prst="roundRect">
            <a:avLst>
              <a:gd name="adj" fmla="val 25000"/>
            </a:avLst>
          </a:prstGeom>
          <a:solidFill>
            <a:srgbClr val="E0F7FA"/>
          </a:solidFill>
          <a:ln/>
        </p:spPr>
        <p:txBody>
          <a:bodyPr/>
          <a:p/>
        </p:txBody>
      </p:sp>
      <p:sp>
        <p:nvSpPr>
          <p:cNvPr id="641" name="" descr="{&quot;isTemplate&quot;:true,&quot;type&quot;:&quot;text&quot;}"/>
          <p:cNvSpPr txBox="1"/>
          <p:nvPr/>
        </p:nvSpPr>
        <p:spPr>
          <a:xfrm rot="0" flipH="0" flipV="0">
            <a:off x="1066800" y="4067175"/>
            <a:ext cx="1828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891B2"/>
                </a:solidFill>
                <a:latin typeface="PingFang SC"/>
                <a:ea typeface="PingFang SC"/>
              </a:rPr>
              <a:t>课程产出：</a:t>
            </a:r>
            <a:r>
              <a:rPr lang="zh-CN" sz="1125" b="1">
                <a:solidFill>
                  <a:srgbClr val="0891B2"/>
                </a:solidFill>
                <a:latin typeface="PingFang SC"/>
                <a:ea typeface="PingFang SC"/>
              </a:rPr>
              <a:t>团队分工</a:t>
            </a:r>
            <a:endParaRPr/>
          </a:p>
        </p:txBody>
      </p:sp>
      <p:pic>
        <p:nvPicPr>
          <p:cNvPr id="64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3143250" y="4076700"/>
            <a:ext cx="152400" cy="152400"/>
          </a:xfrm>
          <a:prstGeom prst="rect">
            <a:avLst/>
          </a:prstGeom>
          <a:ln/>
        </p:spPr>
      </p:pic>
      <p:sp>
        <p:nvSpPr>
          <p:cNvPr id="643" name=""/>
          <p:cNvSpPr/>
          <p:nvPr/>
        </p:nvSpPr>
        <p:spPr>
          <a:xfrm rot="0" flipH="0" flipV="0">
            <a:off x="3409950" y="4000500"/>
            <a:ext cx="2095500" cy="304800"/>
          </a:xfrm>
          <a:prstGeom prst="roundRect">
            <a:avLst>
              <a:gd name="adj" fmla="val 25000"/>
            </a:avLst>
          </a:prstGeom>
          <a:solidFill>
            <a:srgbClr val="EDF3FB"/>
          </a:solidFill>
          <a:ln/>
        </p:spPr>
        <p:txBody>
          <a:bodyPr/>
          <a:p/>
        </p:txBody>
      </p:sp>
      <p:sp>
        <p:nvSpPr>
          <p:cNvPr id="644" name="" descr="{&quot;isTemplate&quot;:true,&quot;type&quot;:&quot;text&quot;}"/>
          <p:cNvSpPr txBox="1"/>
          <p:nvPr/>
        </p:nvSpPr>
        <p:spPr>
          <a:xfrm rot="0" flipH="0" flipV="0">
            <a:off x="3543300" y="4067175"/>
            <a:ext cx="1828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E3A8A"/>
                </a:solidFill>
                <a:latin typeface="PingFang SC"/>
                <a:ea typeface="PingFang SC"/>
              </a:rPr>
              <a:t>申报材料：</a:t>
            </a:r>
            <a:r>
              <a:rPr lang="zh-CN" sz="1125" b="1">
                <a:solidFill>
                  <a:srgbClr val="1E3A8A"/>
                </a:solidFill>
                <a:latin typeface="PingFang SC"/>
                <a:ea typeface="PingFang SC"/>
              </a:rPr>
              <a:t>组织保障</a:t>
            </a:r>
            <a:endParaRPr/>
          </a:p>
        </p:txBody>
      </p:sp>
      <p:sp>
        <p:nvSpPr>
          <p:cNvPr id="645" name=""/>
          <p:cNvSpPr/>
          <p:nvPr/>
        </p:nvSpPr>
        <p:spPr>
          <a:xfrm rot="0" flipH="0" flipV="0">
            <a:off x="933450" y="4400550"/>
            <a:ext cx="2095500" cy="304800"/>
          </a:xfrm>
          <a:prstGeom prst="roundRect">
            <a:avLst>
              <a:gd name="adj" fmla="val 25000"/>
            </a:avLst>
          </a:prstGeom>
          <a:solidFill>
            <a:srgbClr val="E0F7FA"/>
          </a:solidFill>
          <a:ln/>
        </p:spPr>
        <p:txBody>
          <a:bodyPr/>
          <a:p/>
        </p:txBody>
      </p:sp>
      <p:sp>
        <p:nvSpPr>
          <p:cNvPr id="646" name="" descr="{&quot;isTemplate&quot;:true,&quot;type&quot;:&quot;text&quot;}"/>
          <p:cNvSpPr txBox="1"/>
          <p:nvPr/>
        </p:nvSpPr>
        <p:spPr>
          <a:xfrm rot="0" flipH="0" flipV="0">
            <a:off x="1066800" y="4467225"/>
            <a:ext cx="1828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891B2"/>
                </a:solidFill>
                <a:latin typeface="PingFang SC"/>
                <a:ea typeface="PingFang SC"/>
              </a:rPr>
              <a:t>课程产出：</a:t>
            </a:r>
            <a:r>
              <a:rPr lang="zh-CN" sz="1125" b="1">
                <a:solidFill>
                  <a:srgbClr val="0891B2"/>
                </a:solidFill>
                <a:latin typeface="PingFang SC"/>
                <a:ea typeface="PingFang SC"/>
              </a:rPr>
              <a:t>复盘报告</a:t>
            </a:r>
            <a:endParaRPr/>
          </a:p>
        </p:txBody>
      </p:sp>
      <p:pic>
        <p:nvPicPr>
          <p:cNvPr id="64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3143250" y="4476750"/>
            <a:ext cx="152400" cy="152400"/>
          </a:xfrm>
          <a:prstGeom prst="rect">
            <a:avLst/>
          </a:prstGeom>
          <a:ln/>
        </p:spPr>
      </p:pic>
      <p:sp>
        <p:nvSpPr>
          <p:cNvPr id="648" name=""/>
          <p:cNvSpPr/>
          <p:nvPr/>
        </p:nvSpPr>
        <p:spPr>
          <a:xfrm rot="0" flipH="0" flipV="0">
            <a:off x="3409950" y="4400550"/>
            <a:ext cx="2095500" cy="304800"/>
          </a:xfrm>
          <a:prstGeom prst="roundRect">
            <a:avLst>
              <a:gd name="adj" fmla="val 25000"/>
            </a:avLst>
          </a:prstGeom>
          <a:solidFill>
            <a:srgbClr val="EDF3FB"/>
          </a:solidFill>
          <a:ln/>
        </p:spPr>
        <p:txBody>
          <a:bodyPr/>
          <a:p/>
        </p:txBody>
      </p:sp>
      <p:sp>
        <p:nvSpPr>
          <p:cNvPr id="649" name="" descr="{&quot;isTemplate&quot;:true,&quot;type&quot;:&quot;text&quot;}"/>
          <p:cNvSpPr txBox="1"/>
          <p:nvPr/>
        </p:nvSpPr>
        <p:spPr>
          <a:xfrm rot="0" flipH="0" flipV="0">
            <a:off x="3543300" y="4467225"/>
            <a:ext cx="1828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E3A8A"/>
                </a:solidFill>
                <a:latin typeface="PingFang SC"/>
                <a:ea typeface="PingFang SC"/>
              </a:rPr>
              <a:t>申报材料：</a:t>
            </a:r>
            <a:r>
              <a:rPr lang="zh-CN" sz="1125" b="1">
                <a:solidFill>
                  <a:srgbClr val="1E3A8A"/>
                </a:solidFill>
                <a:latin typeface="PingFang SC"/>
                <a:ea typeface="PingFang SC"/>
              </a:rPr>
              <a:t>可复制推广计划</a:t>
            </a:r>
            <a:endParaRPr/>
          </a:p>
        </p:txBody>
      </p:sp>
      <p:sp>
        <p:nvSpPr>
          <p:cNvPr id="650" name=""/>
          <p:cNvSpPr/>
          <p:nvPr/>
        </p:nvSpPr>
        <p:spPr>
          <a:xfrm rot="0" flipH="0" flipV="0">
            <a:off x="8115300" y="2400300"/>
            <a:ext cx="3143250" cy="3562350"/>
          </a:xfrm>
          <a:prstGeom prst="roundRect">
            <a:avLst>
              <a:gd name="adj" fmla="val 4242"/>
            </a:avLst>
          </a:prstGeom>
          <a:solidFill>
            <a:srgbClr val="1E3A8A"/>
          </a:solidFill>
          <a:ln/>
          <a:effectLst>
            <a:outerShdw blurRad="228600" dist="76200" dir="5400000">
              <a:srgbClr val="1E3A8A">
                <a:alpha val="22000"/>
              </a:srgbClr>
            </a:outerShdw>
          </a:effectLst>
        </p:spPr>
        <p:txBody>
          <a:bodyPr/>
          <a:p/>
        </p:txBody>
      </p:sp>
      <p:pic>
        <p:nvPicPr>
          <p:cNvPr id="65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 rot="0" flipH="0" flipV="0">
            <a:off x="8382000" y="3419475"/>
            <a:ext cx="266700" cy="266700"/>
          </a:xfrm>
          <a:prstGeom prst="rect">
            <a:avLst/>
          </a:prstGeom>
          <a:ln/>
        </p:spPr>
      </p:pic>
      <p:sp>
        <p:nvSpPr>
          <p:cNvPr id="652" name="" descr="{&quot;isTemplate&quot;:true,&quot;type&quot;:&quot;text&quot;}"/>
          <p:cNvSpPr txBox="1"/>
          <p:nvPr/>
        </p:nvSpPr>
        <p:spPr>
          <a:xfrm rot="0" flipH="0" flipV="0">
            <a:off x="8382000" y="3819525"/>
            <a:ext cx="2609850" cy="771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575" b="1">
                <a:solidFill>
                  <a:srgbClr val="FFFFFF"/>
                </a:solidFill>
                <a:latin typeface="PingFang SC"/>
                <a:ea typeface="PingFang SC"/>
              </a:rPr>
              <a:t>这门课的作业，攒起来就是一份试点申报书。</a:t>
            </a:r>
            <a:endParaRPr/>
          </a:p>
        </p:txBody>
      </p:sp>
      <p:sp>
        <p:nvSpPr>
          <p:cNvPr id="653" name="" descr="{&quot;isTemplate&quot;:true,&quot;type&quot;:&quot;text&quot;}"/>
          <p:cNvSpPr txBox="1"/>
          <p:nvPr/>
        </p:nvSpPr>
        <p:spPr>
          <a:xfrm rot="0" flipH="0" flipV="0">
            <a:off x="8382000" y="4686300"/>
            <a:ext cx="260985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A9C4E8"/>
                </a:solidFill>
                <a:latin typeface="PingFang SC"/>
                <a:ea typeface="PingFang SC"/>
              </a:rPr>
              <a:t>学完</a:t>
            </a:r>
            <a:r>
              <a:rPr lang="en-US" sz="1050">
                <a:solidFill>
                  <a:srgbClr val="A9C4E8"/>
                </a:solidFill>
                <a:latin typeface="PingFang SC"/>
                <a:ea typeface="PingFang SC"/>
              </a:rPr>
              <a:t> = </a:t>
            </a:r>
            <a:r>
              <a:rPr lang="zh-CN" sz="1050">
                <a:solidFill>
                  <a:srgbClr val="A9C4E8"/>
                </a:solidFill>
                <a:latin typeface="PingFang SC"/>
                <a:ea typeface="PingFang SC"/>
              </a:rPr>
              <a:t>手里有材料，而不是脑子里有想法。</a:t>
            </a:r>
            <a:endParaRPr/>
          </a:p>
        </p:txBody>
      </p:sp>
      <p:sp>
        <p:nvSpPr>
          <p:cNvPr id="654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1123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AI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场景落地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中级</a:t>
            </a:r>
            <a:endParaRPr/>
          </a:p>
        </p:txBody>
      </p:sp>
      <p:sp>
        <p:nvSpPr>
          <p:cNvPr id="655" name="" descr="{&quot;isTemplate&quot;:true,&quot;type&quot;:&quot;text&quot;}"/>
          <p:cNvSpPr txBox="1"/>
          <p:nvPr/>
        </p:nvSpPr>
        <p:spPr>
          <a:xfrm rot="0" flipH="0" flipV="0">
            <a:off x="11029950" y="63627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27 / 34</a:t>
            </a:r>
            <a:endParaRPr/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56" name="" descr="&lt;Slide style={{ width: '1280px', height: '720px', position: 'relative', background: '#1E3A8A', overflow: 'hidden', fontFamily: 'PingFang SC, Source Han Sans SC, sans-serif' }}&gt;&#10;    &lt;Box style={{ position: 'absolute', top: 0, right: 0, width: 500, height: '720px' }}&gt;&#10;        &lt;Image src=&quot;assets/hero_cover.png&quot; style={{ width: '500px', height: '720px', objectFit: 'cover', opacity: 0.5 }} /&gt;&#10;        &lt;Box style={{ position: 'absolute', top: 0, left: 0, width: '500px', height: '720px', background: 'linear-gradient(90deg, rgba(30,58,138,1) 0%, rgba(30,58,138,0.15) 100%)' }} /&gt;&#10;    &lt;/Box&gt;&#10;    &lt;Box style={{ position: 'relative', zIndex: 1, height: '720px', padding: '0 84px', justifyContent: 'center' }}&gt;&#10;        &lt;Text style={{ fontSize: 130, fontWeight: 'bold', color: 'rgba(6,182,212,0.5)', lineHeight: 1, fontFamily: 'Space Grotesk, Inter' }}&gt;07&lt;/Text&gt;&#10;        &lt;Text style={{ fontSize: 18, color: '#7FD9F0', letterSpacing: 5, marginTop: 6 }}&gt;M7 · 3 课时&lt;/Text&gt;&#10;        &lt;Text style={{ fontSize: 54, fontWeight: 'bold', color: '#FFFFFF', marginTop: 20, lineHeight: 1.18 }}&gt;负责任 AI&lt;br /&gt;守得住底线，才走得远&lt;/Text&gt;&#10;        &lt;Box style={{ width: 84, height: 4, background: '#06B6D4', marginTop: 30 }} /&gt;&#10;        &lt;Text style={{ fontSize: 19, color: '#A9C4E8', marginTop: 22, lineHeight: 1.6 }}&gt;NIST 四步 · 六大失效模式 · 人在回路设计 · 停止条件&lt;br /&gt;车间数据不出厂 —— 这是红线，不是选项。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p/>
        </p:txBody>
      </p:sp>
      <p:pic>
        <p:nvPicPr>
          <p:cNvPr id="658" name=""/>
          <p:cNvPicPr>
            <a:picLocks noChangeAspect="1"/>
          </p:cNvPicPr>
          <p:nvPr/>
        </p:nvPicPr>
        <p:blipFill>
          <a:blip r:embed="rId1">
            <a:alphaModFix amt="50000"/>
          </a:blip>
          <a:srcRect l="26242" t="0" r="26242" b="0"/>
          <a:stretch>
            <a:fillRect/>
          </a:stretch>
        </p:blipFill>
        <p:spPr>
          <a:xfrm rot="0" flipH="0" flipV="0">
            <a:off x="7429500" y="0"/>
            <a:ext cx="4762500" cy="6858000"/>
          </a:xfrm>
          <a:prstGeom prst="rect">
            <a:avLst/>
          </a:prstGeom>
          <a:ln/>
        </p:spPr>
      </p:pic>
      <p:sp>
        <p:nvSpPr>
          <p:cNvPr id="659" name=""/>
          <p:cNvSpPr/>
          <p:nvPr/>
        </p:nvSpPr>
        <p:spPr>
          <a:xfrm rot="0" flipH="0" flipV="0">
            <a:off x="7429500" y="0"/>
            <a:ext cx="4762500" cy="6858000"/>
          </a:xfrm>
          <a:prstGeom prst="rect">
            <a:avLst/>
          </a:prstGeom>
          <a:gradFill>
            <a:gsLst>
              <a:gs pos="0">
                <a:srgbClr val="1E3A8A">
                  <a:alpha val="100000"/>
                </a:srgbClr>
              </a:gs>
              <a:gs pos="100000">
                <a:srgbClr val="1E3A8A">
                  <a:alpha val="1500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660" name="" descr="{&quot;isTemplate&quot;:true,&quot;type&quot;:&quot;text&quot;}"/>
          <p:cNvSpPr txBox="1"/>
          <p:nvPr/>
        </p:nvSpPr>
        <p:spPr>
          <a:xfrm rot="0" flipH="0" flipV="0">
            <a:off x="800100" y="1114425"/>
            <a:ext cx="10591800" cy="1485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0" b="1">
                <a:solidFill>
                  <a:srgbClr val="06B6D4">
                    <a:alpha val="50000"/>
                  </a:srgbClr>
                </a:solidFill>
                <a:latin typeface="Space Grotesk"/>
                <a:ea typeface="Space Grotesk"/>
              </a:rPr>
              <a:t>07</a:t>
            </a:r>
            <a:endParaRPr/>
          </a:p>
        </p:txBody>
      </p:sp>
      <p:sp>
        <p:nvSpPr>
          <p:cNvPr id="661" name="" descr="{&quot;isTemplate&quot;:true,&quot;type&quot;:&quot;text&quot;}"/>
          <p:cNvSpPr txBox="1"/>
          <p:nvPr/>
        </p:nvSpPr>
        <p:spPr>
          <a:xfrm rot="0" flipH="0" flipV="0">
            <a:off x="800100" y="2657475"/>
            <a:ext cx="10591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spc="375">
                <a:solidFill>
                  <a:srgbClr val="7FD9F0"/>
                </a:solidFill>
                <a:latin typeface="PingFang SC"/>
                <a:ea typeface="PingFang SC"/>
              </a:rPr>
              <a:t>M7 · 3 </a:t>
            </a:r>
            <a:r>
              <a:rPr lang="zh-CN" sz="1350" spc="375">
                <a:solidFill>
                  <a:srgbClr val="7FD9F0"/>
                </a:solidFill>
                <a:latin typeface="PingFang SC"/>
                <a:ea typeface="PingFang SC"/>
              </a:rPr>
              <a:t>课时</a:t>
            </a:r>
            <a:endParaRPr/>
          </a:p>
        </p:txBody>
      </p:sp>
      <p:sp>
        <p:nvSpPr>
          <p:cNvPr id="662" name="" descr="{&quot;isTemplate&quot;:true,&quot;type&quot;:&quot;text&quot;}"/>
          <p:cNvSpPr txBox="1"/>
          <p:nvPr/>
        </p:nvSpPr>
        <p:spPr>
          <a:xfrm rot="0" flipH="0" flipV="0">
            <a:off x="800100" y="3057525"/>
            <a:ext cx="10591800" cy="1457325"/>
          </a:xfrm>
          <a:prstGeom prst="rect"/>
        </p:spPr>
        <p:txBody>
          <a:bodyPr wrap="none" lIns="0" tIns="0" rIns="0" bIns="0"/>
          <a:p>
            <a:pPr>
              <a:lnSpc>
                <a:spcPct val="118000"/>
              </a:lnSpc>
            </a:pPr>
            <a:r>
              <a:rPr lang="zh-CN" sz="4050" b="1">
                <a:solidFill>
                  <a:srgbClr val="FFFFFF"/>
                </a:solidFill>
                <a:latin typeface="PingFang SC"/>
                <a:ea typeface="PingFang SC"/>
              </a:rPr>
              <a:t>负责任</a:t>
            </a:r>
            <a:r>
              <a:rPr lang="en-US" sz="4050" b="1">
                <a:solidFill>
                  <a:srgbClr val="FFFFFF"/>
                </a:solidFill>
                <a:latin typeface="PingFang SC"/>
                <a:ea typeface="PingFang SC"/>
              </a:rPr>
              <a:t> AI</a:t>
            </a:r>
            <a:endParaRPr/>
          </a:p>
          <a:p>
            <a:pPr>
              <a:lnSpc>
                <a:spcPct val="118000"/>
              </a:lnSpc>
            </a:pPr>
            <a:r>
              <a:rPr lang="zh-CN" sz="4050" b="1">
                <a:solidFill>
                  <a:srgbClr val="FFFFFF"/>
                </a:solidFill>
                <a:latin typeface="PingFang SC"/>
                <a:ea typeface="PingFang SC"/>
              </a:rPr>
              <a:t>守得住底线，才走得远</a:t>
            </a:r>
            <a:endParaRPr/>
          </a:p>
        </p:txBody>
      </p:sp>
      <p:sp>
        <p:nvSpPr>
          <p:cNvPr id="663" name=""/>
          <p:cNvSpPr/>
          <p:nvPr/>
        </p:nvSpPr>
        <p:spPr>
          <a:xfrm rot="0" flipH="0" flipV="0">
            <a:off x="800100" y="4800600"/>
            <a:ext cx="800100" cy="381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664" name="" descr="{&quot;isTemplate&quot;:true,&quot;type&quot;:&quot;text&quot;}"/>
          <p:cNvSpPr txBox="1"/>
          <p:nvPr/>
        </p:nvSpPr>
        <p:spPr>
          <a:xfrm rot="0" flipH="0" flipV="0">
            <a:off x="800100" y="5048250"/>
            <a:ext cx="10591800" cy="695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425">
                <a:solidFill>
                  <a:srgbClr val="A9C4E8"/>
                </a:solidFill>
                <a:latin typeface="PingFang SC"/>
                <a:ea typeface="PingFang SC"/>
              </a:rPr>
              <a:t>NIST </a:t>
            </a:r>
            <a:r>
              <a:rPr lang="zh-CN" sz="1425">
                <a:solidFill>
                  <a:srgbClr val="A9C4E8"/>
                </a:solidFill>
                <a:latin typeface="PingFang SC"/>
                <a:ea typeface="PingFang SC"/>
              </a:rPr>
              <a:t>四步</a:t>
            </a:r>
            <a:r>
              <a:rPr lang="en-US" sz="1425">
                <a:solidFill>
                  <a:srgbClr val="A9C4E8"/>
                </a:solidFill>
                <a:latin typeface="PingFang SC"/>
                <a:ea typeface="PingFang SC"/>
              </a:rPr>
              <a:t> · </a:t>
            </a:r>
            <a:r>
              <a:rPr lang="zh-CN" sz="1425">
                <a:solidFill>
                  <a:srgbClr val="A9C4E8"/>
                </a:solidFill>
                <a:latin typeface="PingFang SC"/>
                <a:ea typeface="PingFang SC"/>
              </a:rPr>
              <a:t>六大失效模式</a:t>
            </a:r>
            <a:r>
              <a:rPr lang="en-US" sz="1425">
                <a:solidFill>
                  <a:srgbClr val="A9C4E8"/>
                </a:solidFill>
                <a:latin typeface="PingFang SC"/>
                <a:ea typeface="PingFang SC"/>
              </a:rPr>
              <a:t> · </a:t>
            </a:r>
            <a:r>
              <a:rPr lang="zh-CN" sz="1425">
                <a:solidFill>
                  <a:srgbClr val="A9C4E8"/>
                </a:solidFill>
                <a:latin typeface="PingFang SC"/>
                <a:ea typeface="PingFang SC"/>
              </a:rPr>
              <a:t>人在回路设计</a:t>
            </a:r>
            <a:r>
              <a:rPr lang="en-US" sz="1425">
                <a:solidFill>
                  <a:srgbClr val="A9C4E8"/>
                </a:solidFill>
                <a:latin typeface="PingFang SC"/>
                <a:ea typeface="PingFang SC"/>
              </a:rPr>
              <a:t> · </a:t>
            </a:r>
            <a:r>
              <a:rPr lang="zh-CN" sz="1425">
                <a:solidFill>
                  <a:srgbClr val="A9C4E8"/>
                </a:solidFill>
                <a:latin typeface="PingFang SC"/>
                <a:ea typeface="PingFang SC"/>
              </a:rPr>
              <a:t>停止条件</a:t>
            </a:r>
            <a:endParaRPr/>
          </a:p>
          <a:p>
            <a:pPr>
              <a:lnSpc>
                <a:spcPct val="160000"/>
              </a:lnSpc>
            </a:pPr>
            <a:r>
              <a:rPr lang="zh-CN" sz="1425">
                <a:solidFill>
                  <a:srgbClr val="A9C4E8"/>
                </a:solidFill>
                <a:latin typeface="PingFang SC"/>
                <a:ea typeface="PingFang SC"/>
              </a:rPr>
              <a:t>现场数据不出厂</a:t>
            </a:r>
            <a:r>
              <a:rPr lang="en-US" sz="1425">
                <a:solidFill>
                  <a:srgbClr val="A9C4E8"/>
                </a:solidFill>
                <a:latin typeface="PingFang SC"/>
                <a:ea typeface="PingFang SC"/>
              </a:rPr>
              <a:t> —— </a:t>
            </a:r>
            <a:r>
              <a:rPr lang="zh-CN" sz="1425">
                <a:solidFill>
                  <a:srgbClr val="A9C4E8"/>
                </a:solidFill>
                <a:latin typeface="PingFang SC"/>
                <a:ea typeface="PingFang SC"/>
              </a:rPr>
              <a:t>这是红线，不是选项。</a:t>
            </a:r>
            <a:endParaRPr/>
          </a:p>
        </p:txBody>
      </p:sp>
    </p:spTree>
  </p:cSld>
</p:sld>
</file>

<file path=ppt/slides/slide29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665" name="" descr="const nist = [&#10;    { icon: 'cogs', t: 'Govern 治理', d: '立制度、明责任：谁管 AI、怎么管' },&#10;    { icon: 'map', t: 'Map 识别', d: '给场景建风险档案：错了多严重' },&#10;    { icon: 'chart-bar', t: 'Measure 度量', d: '设指标持续监控：准确率、漂移' },&#10;    { icon: 'life-ring', t: 'Manage 处置', d: '出事故有预案：停、查、改、报' },&#10;];&#10;const fails = ['数据漂移', '自动化偏见', '幻觉', '反馈回路', '安全操纵', '厂商静默更新'];&#10;&lt;Slide style={{ width: '1280px', height: '720px', background: '#F5F8FC', padding: '24px 72px', boxSizing: 'border-box', flexDirection: 'column', fontFamily: 'PingFang SC, Source Han Sans SC, sans-serif' }}&gt;&#10;    &lt;Box style={{ height: 92, flexDirection: 'row', alignItems: 'center', gap: 16 }}&gt;&#10;        &lt;Box style={{ width: 5, height: 44, background: '#06B6D4', borderRadius: 3 }} /&gt;&#10;        &lt;Box&gt;&#10;            &lt;Text style={{ fontSize: 32, fontWeight: 'bold', color: '#1E3A8A', lineHeight: 1.2 }}&gt;NIST 四步 + 六大失效模式&lt;/Text&gt;&#10;            &lt;Text style={{ fontSize: 16, color: '#64748B', marginTop: 4 }}&gt;风险管理不是文档工程，是「出了事有人接得住」&lt;/Text&gt;&#10;        &lt;/Box&gt;&#10;    &lt;/Box&gt;&#10;    &lt;Box style={{ flexDirection: 'row', gap: 16, marginTop: 12 }}&gt;&#10;        {nist.map((n, i) =&gt; (&#10;            &lt;Box key={i} style={{ flex: 1, background: '#FFFFFF', borderRadius: 14, padding: '14px 16px', border: '1px solid #E2E8F0', boxShadow: '0 3px 12px rgba(30,58,138,0.05)', flexDirection: 'row', alignItems: 'center', gap: 12 }}&gt;&#10;                &lt;Box style={{ width: 44, height: 44, borderRadius: 11, background: i % 2 === 0 ? '#E0F7FA' : '#FEEFE0', justifyContent: 'center', alignItems: 'center' }}&gt;&#10;                    &lt;FAIcon name={n.icon} style={{ fill: i % 2 === 0 ? '#0891B2' : '#F59E0B', width: 22, height: 22 }} /&gt;&#10;                &lt;/Box&gt;&#10;                &lt;Box&gt;&#10;                    &lt;Text style={{ fontSize: 17, fontWeight: 'bold', color: '#1E3A8A' }}&gt;{n.t}&lt;/Text&gt;&#10;                    &lt;Text style={{ fontSize: 13, color: '#43566b', lineHeight: 1.45, marginTop: 3 }}&gt;{n.d}&lt;/Text&gt;&#10;                &lt;/Box&gt;&#10;            &lt;/Box&gt;&#10;        ))}&#10;    &lt;/Box&gt;&#10;    &lt;Box style={{ flex: 1, background: '#FFFFFF', borderRadius: 16, padding: '16px 24px', marginTop: 16, border: '1px solid #E2E8F0', flexDirection: 'column' }}&gt;&#10;        &lt;Text style={{ fontSize: 16, fontWeight: 'bold', color: '#1E3A8A' }}&gt;六大失效模式：AI 出事，通常不是「太笨」，是「错得太自信」&lt;/Text&gt;&#10;        &lt;Box style={{ flex: 1, flexDirection: 'column', gap: 8, marginTop: 10 }}&gt;&#10;            {fails.map((f, i) =&gt; (&#10;                &lt;Box key={i} style={{ flex: 1, flexDirection: 'row', alignItems: 'center', gap: 14, padding: '0 16px', background: '#F5F8FC', borderRadius: 10, border: '1px solid #E2E8F0' }}&gt;&#10;                    &lt;Text style={{ fontSize: 16, fontWeight: 'bold', color: '#F59E0B', fontFamily: 'Space Grotesk, Inter', width: 28 }}&gt;{'0' + (i + 1)}&lt;/Text&gt;&#10;                    &lt;Text style={{ fontSize: 15, fontWeight: 'bold', color: '#1E3A8A', width: 150 }}&gt;{f}&lt;/Text&gt;&#10;                    &lt;Text style={{ flex: 1, fontSize: 13, color: '#43566b' }}&gt;{['换季/换料后数据分布变了，模型悄悄变差', '人太信 AI，连它瞎说都不查', '编造不存在的参数与标准号', 'AI 建议 → 人照抄 → 数据更偏，越滚越歪', '提示词注入：一句「忽略以上规则」就能骗它', '云端模型偷偷升级，行为变了没人知道'].map((d) =&gt; d)}&lt;/Text&gt;&#10;                &lt;/Box&gt;&#10;            ))}&#10;        &lt;/Box&gt;&#10;    &lt;/Box&gt;&#10;    &lt;Box style={{ height: 40, flexDirection: 'row', justifyContent: 'space-between', alignItems: 'center', marginTop: 8 }}&gt;&#10;        &lt;Text style={{ fontSize: 14, color: '#64748B' }}&gt;AI 场景落地 · 中级&lt;/Text&gt;&#10;        &lt;Text style={{ fontSize: 14, color: '#64748B' }}&gt;29 / 34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/>
        </p:spPr>
        <p:txBody>
          <a:bodyPr/>
          <a:p/>
        </p:txBody>
      </p:sp>
      <p:sp>
        <p:nvSpPr>
          <p:cNvPr id="667" name=""/>
          <p:cNvSpPr/>
          <p:nvPr/>
        </p:nvSpPr>
        <p:spPr>
          <a:xfrm rot="0" flipH="0" flipV="0">
            <a:off x="685800" y="457200"/>
            <a:ext cx="47625" cy="419100"/>
          </a:xfrm>
          <a:prstGeom prst="roundRect">
            <a:avLst>
              <a:gd name="adj" fmla="val 60000"/>
            </a:avLst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668" name="" descr="{&quot;isTemplate&quot;:true,&quot;type&quot;:&quot;text&quot;}"/>
          <p:cNvSpPr txBox="1"/>
          <p:nvPr/>
        </p:nvSpPr>
        <p:spPr>
          <a:xfrm rot="0" flipH="0" flipV="0">
            <a:off x="885825" y="333375"/>
            <a:ext cx="3619500" cy="44767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2400" b="1">
                <a:solidFill>
                  <a:srgbClr val="1E3A8A"/>
                </a:solidFill>
                <a:latin typeface="PingFang SC"/>
                <a:ea typeface="PingFang SC"/>
              </a:rPr>
              <a:t>NIST </a:t>
            </a:r>
            <a:r>
              <a:rPr lang="zh-CN" sz="2400" b="1">
                <a:solidFill>
                  <a:srgbClr val="1E3A8A"/>
                </a:solidFill>
                <a:latin typeface="PingFang SC"/>
                <a:ea typeface="PingFang SC"/>
              </a:rPr>
              <a:t>四步</a:t>
            </a:r>
            <a:r>
              <a:rPr lang="en-US" sz="2400" b="1">
                <a:solidFill>
                  <a:srgbClr val="1E3A8A"/>
                </a:solidFill>
                <a:latin typeface="PingFang SC"/>
                <a:ea typeface="PingFang SC"/>
              </a:rPr>
              <a:t> + </a:t>
            </a:r>
            <a:r>
              <a:rPr lang="zh-CN" sz="2400" b="1">
                <a:solidFill>
                  <a:srgbClr val="1E3A8A"/>
                </a:solidFill>
                <a:latin typeface="PingFang SC"/>
                <a:ea typeface="PingFang SC"/>
              </a:rPr>
              <a:t>六大失效模式</a:t>
            </a:r>
            <a:endParaRPr/>
          </a:p>
        </p:txBody>
      </p:sp>
      <p:sp>
        <p:nvSpPr>
          <p:cNvPr id="669" name="" descr="{&quot;isTemplate&quot;:true,&quot;type&quot;:&quot;text&quot;}"/>
          <p:cNvSpPr txBox="1"/>
          <p:nvPr/>
        </p:nvSpPr>
        <p:spPr>
          <a:xfrm rot="0" flipH="0" flipV="0">
            <a:off x="885825" y="819150"/>
            <a:ext cx="3619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PingFang SC"/>
                <a:ea typeface="PingFang SC"/>
              </a:rPr>
              <a:t>风险管理不是文档工程，是「出了事有人接得住」</a:t>
            </a:r>
            <a:endParaRPr/>
          </a:p>
        </p:txBody>
      </p:sp>
      <p:sp>
        <p:nvSpPr>
          <p:cNvPr id="670" name=""/>
          <p:cNvSpPr/>
          <p:nvPr/>
        </p:nvSpPr>
        <p:spPr>
          <a:xfrm rot="0" flipH="0" flipV="0">
            <a:off x="685800" y="1219200"/>
            <a:ext cx="2590800" cy="714375"/>
          </a:xfrm>
          <a:prstGeom prst="roundRect">
            <a:avLst>
              <a:gd name="adj" fmla="val 18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28575" dir="5400000">
              <a:srgbClr val="1E3A8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671" name=""/>
          <p:cNvSpPr/>
          <p:nvPr/>
        </p:nvSpPr>
        <p:spPr>
          <a:xfrm rot="0" flipH="0" flipV="0">
            <a:off x="838200" y="1371600"/>
            <a:ext cx="419100" cy="419100"/>
          </a:xfrm>
          <a:prstGeom prst="roundRect">
            <a:avLst>
              <a:gd name="adj" fmla="val 25000"/>
            </a:avLst>
          </a:prstGeom>
          <a:solidFill>
            <a:srgbClr val="E0F7FA"/>
          </a:solidFill>
          <a:ln/>
        </p:spPr>
        <p:txBody>
          <a:bodyPr/>
          <a:p/>
        </p:txBody>
      </p:sp>
      <p:pic>
        <p:nvPicPr>
          <p:cNvPr id="67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42975" y="1476375"/>
            <a:ext cx="209550" cy="209550"/>
          </a:xfrm>
          <a:prstGeom prst="rect">
            <a:avLst/>
          </a:prstGeom>
          <a:ln/>
        </p:spPr>
      </p:pic>
      <p:sp>
        <p:nvSpPr>
          <p:cNvPr id="673" name="" descr="{&quot;isTemplate&quot;:true,&quot;type&quot;:&quot;text&quot;}"/>
          <p:cNvSpPr txBox="1"/>
          <p:nvPr/>
        </p:nvSpPr>
        <p:spPr>
          <a:xfrm rot="0" flipH="0" flipV="0">
            <a:off x="1343025" y="1352550"/>
            <a:ext cx="17811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E3A8A"/>
                </a:solidFill>
                <a:latin typeface="PingFang SC"/>
                <a:ea typeface="PingFang SC"/>
              </a:rPr>
              <a:t>Govern </a:t>
            </a:r>
            <a:r>
              <a:rPr lang="zh-CN" sz="1275" b="1">
                <a:solidFill>
                  <a:srgbClr val="1E3A8A"/>
                </a:solidFill>
                <a:latin typeface="PingFang SC"/>
                <a:ea typeface="PingFang SC"/>
              </a:rPr>
              <a:t>治理</a:t>
            </a:r>
            <a:endParaRPr/>
          </a:p>
        </p:txBody>
      </p:sp>
      <p:sp>
        <p:nvSpPr>
          <p:cNvPr id="674" name="" descr="{&quot;isTemplate&quot;:true,&quot;type&quot;:&quot;text&quot;}"/>
          <p:cNvSpPr txBox="1"/>
          <p:nvPr/>
        </p:nvSpPr>
        <p:spPr>
          <a:xfrm rot="0" flipH="0" flipV="0">
            <a:off x="1343025" y="1581150"/>
            <a:ext cx="1781175" cy="438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75">
                <a:solidFill>
                  <a:srgbClr val="43566B"/>
                </a:solidFill>
                <a:latin typeface="PingFang SC"/>
                <a:ea typeface="PingFang SC"/>
              </a:rPr>
              <a:t>立制度、明责任：谁管</a:t>
            </a:r>
            <a:r>
              <a:rPr lang="en-US" sz="975">
                <a:solidFill>
                  <a:srgbClr val="43566B"/>
                </a:solidFill>
                <a:latin typeface="PingFang SC"/>
                <a:ea typeface="PingFang SC"/>
              </a:rPr>
              <a:t> AI</a:t>
            </a:r>
            <a:r>
              <a:rPr lang="zh-CN" sz="975">
                <a:solidFill>
                  <a:srgbClr val="43566B"/>
                </a:solidFill>
                <a:latin typeface="PingFang SC"/>
                <a:ea typeface="PingFang SC"/>
              </a:rPr>
              <a:t>、怎么管</a:t>
            </a:r>
            <a:endParaRPr/>
          </a:p>
        </p:txBody>
      </p:sp>
      <p:sp>
        <p:nvSpPr>
          <p:cNvPr id="675" name=""/>
          <p:cNvSpPr/>
          <p:nvPr/>
        </p:nvSpPr>
        <p:spPr>
          <a:xfrm rot="0" flipH="0" flipV="0">
            <a:off x="3429000" y="1219200"/>
            <a:ext cx="2590800" cy="714375"/>
          </a:xfrm>
          <a:prstGeom prst="roundRect">
            <a:avLst>
              <a:gd name="adj" fmla="val 18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28575" dir="5400000">
              <a:srgbClr val="1E3A8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676" name=""/>
          <p:cNvSpPr/>
          <p:nvPr/>
        </p:nvSpPr>
        <p:spPr>
          <a:xfrm rot="0" flipH="0" flipV="0">
            <a:off x="3581400" y="1371600"/>
            <a:ext cx="419100" cy="419100"/>
          </a:xfrm>
          <a:prstGeom prst="roundRect">
            <a:avLst>
              <a:gd name="adj" fmla="val 25000"/>
            </a:avLst>
          </a:prstGeom>
          <a:solidFill>
            <a:srgbClr val="FEEFE0"/>
          </a:solidFill>
          <a:ln/>
        </p:spPr>
        <p:txBody>
          <a:bodyPr/>
          <a:p/>
        </p:txBody>
      </p:sp>
      <p:pic>
        <p:nvPicPr>
          <p:cNvPr id="67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3686175" y="1476375"/>
            <a:ext cx="209550" cy="209550"/>
          </a:xfrm>
          <a:prstGeom prst="rect">
            <a:avLst/>
          </a:prstGeom>
          <a:ln/>
        </p:spPr>
      </p:pic>
      <p:sp>
        <p:nvSpPr>
          <p:cNvPr id="678" name="" descr="{&quot;isTemplate&quot;:true,&quot;type&quot;:&quot;text&quot;}"/>
          <p:cNvSpPr txBox="1"/>
          <p:nvPr/>
        </p:nvSpPr>
        <p:spPr>
          <a:xfrm rot="0" flipH="0" flipV="0">
            <a:off x="4114800" y="1352550"/>
            <a:ext cx="1733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E3A8A"/>
                </a:solidFill>
                <a:latin typeface="PingFang SC"/>
                <a:ea typeface="PingFang SC"/>
              </a:rPr>
              <a:t>Map </a:t>
            </a:r>
            <a:r>
              <a:rPr lang="zh-CN" sz="1275" b="1">
                <a:solidFill>
                  <a:srgbClr val="1E3A8A"/>
                </a:solidFill>
                <a:latin typeface="PingFang SC"/>
                <a:ea typeface="PingFang SC"/>
              </a:rPr>
              <a:t>识别</a:t>
            </a:r>
            <a:endParaRPr/>
          </a:p>
        </p:txBody>
      </p:sp>
      <p:sp>
        <p:nvSpPr>
          <p:cNvPr id="679" name="" descr="{&quot;isTemplate&quot;:true,&quot;type&quot;:&quot;text&quot;}"/>
          <p:cNvSpPr txBox="1"/>
          <p:nvPr/>
        </p:nvSpPr>
        <p:spPr>
          <a:xfrm rot="0" flipH="0" flipV="0">
            <a:off x="4114800" y="1581150"/>
            <a:ext cx="17335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43566B"/>
                </a:solidFill>
                <a:latin typeface="PingFang SC"/>
                <a:ea typeface="PingFang SC"/>
              </a:rPr>
              <a:t>给场景建风险档案：错了多严重</a:t>
            </a:r>
            <a:endParaRPr/>
          </a:p>
        </p:txBody>
      </p:sp>
      <p:sp>
        <p:nvSpPr>
          <p:cNvPr id="680" name=""/>
          <p:cNvSpPr/>
          <p:nvPr/>
        </p:nvSpPr>
        <p:spPr>
          <a:xfrm rot="0" flipH="0" flipV="0">
            <a:off x="6172200" y="1219200"/>
            <a:ext cx="2590800" cy="714375"/>
          </a:xfrm>
          <a:prstGeom prst="roundRect">
            <a:avLst>
              <a:gd name="adj" fmla="val 18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28575" dir="5400000">
              <a:srgbClr val="1E3A8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681" name=""/>
          <p:cNvSpPr/>
          <p:nvPr/>
        </p:nvSpPr>
        <p:spPr>
          <a:xfrm rot="0" flipH="0" flipV="0">
            <a:off x="6324600" y="1371600"/>
            <a:ext cx="419100" cy="419100"/>
          </a:xfrm>
          <a:prstGeom prst="roundRect">
            <a:avLst>
              <a:gd name="adj" fmla="val 25000"/>
            </a:avLst>
          </a:prstGeom>
          <a:solidFill>
            <a:srgbClr val="E0F7FA"/>
          </a:solidFill>
          <a:ln/>
        </p:spPr>
        <p:txBody>
          <a:bodyPr/>
          <a:p/>
        </p:txBody>
      </p:sp>
      <p:pic>
        <p:nvPicPr>
          <p:cNvPr id="68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6429375" y="1476375"/>
            <a:ext cx="209550" cy="209550"/>
          </a:xfrm>
          <a:prstGeom prst="rect">
            <a:avLst/>
          </a:prstGeom>
          <a:ln/>
        </p:spPr>
      </p:pic>
      <p:sp>
        <p:nvSpPr>
          <p:cNvPr id="683" name="" descr="{&quot;isTemplate&quot;:true,&quot;type&quot;:&quot;text&quot;}"/>
          <p:cNvSpPr txBox="1"/>
          <p:nvPr/>
        </p:nvSpPr>
        <p:spPr>
          <a:xfrm rot="0" flipH="0" flipV="0">
            <a:off x="6858000" y="1352550"/>
            <a:ext cx="1733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E3A8A"/>
                </a:solidFill>
                <a:latin typeface="PingFang SC"/>
                <a:ea typeface="PingFang SC"/>
              </a:rPr>
              <a:t>Measure </a:t>
            </a:r>
            <a:r>
              <a:rPr lang="zh-CN" sz="1275" b="1">
                <a:solidFill>
                  <a:srgbClr val="1E3A8A"/>
                </a:solidFill>
                <a:latin typeface="PingFang SC"/>
                <a:ea typeface="PingFang SC"/>
              </a:rPr>
              <a:t>度量</a:t>
            </a:r>
            <a:endParaRPr/>
          </a:p>
        </p:txBody>
      </p:sp>
      <p:sp>
        <p:nvSpPr>
          <p:cNvPr id="684" name="" descr="{&quot;isTemplate&quot;:true,&quot;type&quot;:&quot;text&quot;}"/>
          <p:cNvSpPr txBox="1"/>
          <p:nvPr/>
        </p:nvSpPr>
        <p:spPr>
          <a:xfrm rot="0" flipH="0" flipV="0">
            <a:off x="6858000" y="1581150"/>
            <a:ext cx="17335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43566B"/>
                </a:solidFill>
                <a:latin typeface="PingFang SC"/>
                <a:ea typeface="PingFang SC"/>
              </a:rPr>
              <a:t>设指标持续监控：准确率、漂移</a:t>
            </a:r>
            <a:endParaRPr/>
          </a:p>
        </p:txBody>
      </p:sp>
      <p:sp>
        <p:nvSpPr>
          <p:cNvPr id="685" name=""/>
          <p:cNvSpPr/>
          <p:nvPr/>
        </p:nvSpPr>
        <p:spPr>
          <a:xfrm rot="0" flipH="0" flipV="0">
            <a:off x="8915400" y="1219200"/>
            <a:ext cx="2590800" cy="714375"/>
          </a:xfrm>
          <a:prstGeom prst="roundRect">
            <a:avLst>
              <a:gd name="adj" fmla="val 18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28575" dir="5400000">
              <a:srgbClr val="1E3A8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686" name=""/>
          <p:cNvSpPr/>
          <p:nvPr/>
        </p:nvSpPr>
        <p:spPr>
          <a:xfrm rot="0" flipH="0" flipV="0">
            <a:off x="9067800" y="1371600"/>
            <a:ext cx="419100" cy="419100"/>
          </a:xfrm>
          <a:prstGeom prst="roundRect">
            <a:avLst>
              <a:gd name="adj" fmla="val 25000"/>
            </a:avLst>
          </a:prstGeom>
          <a:solidFill>
            <a:srgbClr val="FEEFE0"/>
          </a:solidFill>
          <a:ln/>
        </p:spPr>
        <p:txBody>
          <a:bodyPr/>
          <a:p/>
        </p:txBody>
      </p:sp>
      <p:pic>
        <p:nvPicPr>
          <p:cNvPr id="68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9172575" y="1476375"/>
            <a:ext cx="209550" cy="209550"/>
          </a:xfrm>
          <a:prstGeom prst="rect">
            <a:avLst/>
          </a:prstGeom>
          <a:ln/>
        </p:spPr>
      </p:pic>
      <p:sp>
        <p:nvSpPr>
          <p:cNvPr id="688" name="" descr="{&quot;isTemplate&quot;:true,&quot;type&quot;:&quot;text&quot;}"/>
          <p:cNvSpPr txBox="1"/>
          <p:nvPr/>
        </p:nvSpPr>
        <p:spPr>
          <a:xfrm rot="0" flipH="0" flipV="0">
            <a:off x="9601200" y="1352550"/>
            <a:ext cx="1733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E3A8A"/>
                </a:solidFill>
                <a:latin typeface="PingFang SC"/>
                <a:ea typeface="PingFang SC"/>
              </a:rPr>
              <a:t>Manage </a:t>
            </a:r>
            <a:r>
              <a:rPr lang="zh-CN" sz="1275" b="1">
                <a:solidFill>
                  <a:srgbClr val="1E3A8A"/>
                </a:solidFill>
                <a:latin typeface="PingFang SC"/>
                <a:ea typeface="PingFang SC"/>
              </a:rPr>
              <a:t>处置</a:t>
            </a:r>
            <a:endParaRPr/>
          </a:p>
        </p:txBody>
      </p:sp>
      <p:sp>
        <p:nvSpPr>
          <p:cNvPr id="689" name="" descr="{&quot;isTemplate&quot;:true,&quot;type&quot;:&quot;text&quot;}"/>
          <p:cNvSpPr txBox="1"/>
          <p:nvPr/>
        </p:nvSpPr>
        <p:spPr>
          <a:xfrm rot="0" flipH="0" flipV="0">
            <a:off x="9601200" y="1581150"/>
            <a:ext cx="17335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43566B"/>
                </a:solidFill>
                <a:latin typeface="PingFang SC"/>
                <a:ea typeface="PingFang SC"/>
              </a:rPr>
              <a:t>出事故有预案：停、查、改、报</a:t>
            </a:r>
            <a:endParaRPr/>
          </a:p>
        </p:txBody>
      </p:sp>
      <p:sp>
        <p:nvSpPr>
          <p:cNvPr id="690" name=""/>
          <p:cNvSpPr/>
          <p:nvPr/>
        </p:nvSpPr>
        <p:spPr>
          <a:xfrm rot="0" flipH="0" flipV="0">
            <a:off x="685800" y="2085975"/>
            <a:ext cx="10820400" cy="4086225"/>
          </a:xfrm>
          <a:prstGeom prst="roundRect">
            <a:avLst>
              <a:gd name="adj" fmla="val 373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91" name="" descr="{&quot;isTemplate&quot;:true,&quot;type&quot;:&quot;text&quot;}"/>
          <p:cNvSpPr txBox="1"/>
          <p:nvPr/>
        </p:nvSpPr>
        <p:spPr>
          <a:xfrm rot="0" flipH="0" flipV="0">
            <a:off x="914400" y="2238375"/>
            <a:ext cx="10363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E3A8A"/>
                </a:solidFill>
                <a:latin typeface="PingFang SC"/>
                <a:ea typeface="PingFang SC"/>
              </a:rPr>
              <a:t>六大失效模式：</a:t>
            </a:r>
            <a:r>
              <a:rPr lang="en-US" sz="1200" b="1">
                <a:solidFill>
                  <a:srgbClr val="1E3A8A"/>
                </a:solidFill>
                <a:latin typeface="PingFang SC"/>
                <a:ea typeface="PingFang SC"/>
              </a:rPr>
              <a:t>AI </a:t>
            </a:r>
            <a:r>
              <a:rPr lang="zh-CN" sz="1200" b="1">
                <a:solidFill>
                  <a:srgbClr val="1E3A8A"/>
                </a:solidFill>
                <a:latin typeface="PingFang SC"/>
                <a:ea typeface="PingFang SC"/>
              </a:rPr>
              <a:t>出事，通常不是「太笨」，是「错得太自信」</a:t>
            </a:r>
            <a:endParaRPr/>
          </a:p>
        </p:txBody>
      </p:sp>
      <p:sp>
        <p:nvSpPr>
          <p:cNvPr id="692" name=""/>
          <p:cNvSpPr/>
          <p:nvPr/>
        </p:nvSpPr>
        <p:spPr>
          <a:xfrm rot="0" flipH="0" flipV="0">
            <a:off x="914400" y="2524125"/>
            <a:ext cx="10363200" cy="523875"/>
          </a:xfrm>
          <a:prstGeom prst="roundRect">
            <a:avLst>
              <a:gd name="adj" fmla="val 18182"/>
            </a:avLst>
          </a:prstGeom>
          <a:solidFill>
            <a:srgbClr val="F5F8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93" name="" descr="{&quot;isTemplate&quot;:true,&quot;type&quot;:&quot;text&quot;}"/>
          <p:cNvSpPr txBox="1"/>
          <p:nvPr/>
        </p:nvSpPr>
        <p:spPr>
          <a:xfrm rot="0" flipH="0" flipV="0">
            <a:off x="1066800" y="2695575"/>
            <a:ext cx="266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59E0B"/>
                </a:solidFill>
                <a:latin typeface="Space Grotesk"/>
                <a:ea typeface="Space Grotesk"/>
              </a:rPr>
              <a:t>01</a:t>
            </a:r>
            <a:endParaRPr/>
          </a:p>
        </p:txBody>
      </p:sp>
      <p:sp>
        <p:nvSpPr>
          <p:cNvPr id="694" name="" descr="{&quot;isTemplate&quot;:true,&quot;type&quot;:&quot;text&quot;}"/>
          <p:cNvSpPr txBox="1"/>
          <p:nvPr/>
        </p:nvSpPr>
        <p:spPr>
          <a:xfrm rot="0" flipH="0" flipV="0">
            <a:off x="1466850" y="2705100"/>
            <a:ext cx="1428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E3A8A"/>
                </a:solidFill>
                <a:latin typeface="PingFang SC"/>
                <a:ea typeface="PingFang SC"/>
              </a:rPr>
              <a:t>数据漂移</a:t>
            </a:r>
            <a:endParaRPr/>
          </a:p>
        </p:txBody>
      </p:sp>
      <p:sp>
        <p:nvSpPr>
          <p:cNvPr id="695" name="" descr="{&quot;isTemplate&quot;:true,&quot;type&quot;:&quot;text&quot;}"/>
          <p:cNvSpPr txBox="1"/>
          <p:nvPr/>
        </p:nvSpPr>
        <p:spPr>
          <a:xfrm rot="0" flipH="0" flipV="0">
            <a:off x="3028950" y="2638425"/>
            <a:ext cx="8096250" cy="304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975">
                <a:solidFill>
                  <a:srgbClr val="43566B"/>
                </a:solidFill>
                <a:latin typeface="PingFang SC"/>
                <a:ea typeface="PingFang SC"/>
              </a:rPr>
              <a:t>换季</a:t>
            </a:r>
            <a:r>
              <a:rPr lang="en-US" sz="975">
                <a:solidFill>
                  <a:srgbClr val="43566B"/>
                </a:solidFill>
                <a:latin typeface="PingFang SC"/>
                <a:ea typeface="PingFang SC"/>
              </a:rPr>
              <a:t>/</a:t>
            </a:r>
            <a:r>
              <a:rPr lang="zh-CN" sz="975">
                <a:solidFill>
                  <a:srgbClr val="43566B"/>
                </a:solidFill>
                <a:latin typeface="PingFang SC"/>
                <a:ea typeface="PingFang SC"/>
              </a:rPr>
              <a:t>换料后数据分布变了，模型悄悄变差</a:t>
            </a:r>
            <a:r>
              <a:rPr lang="zh-CN" sz="975">
                <a:solidFill>
                  <a:srgbClr val="43566B"/>
                </a:solidFill>
                <a:latin typeface="PingFang SC"/>
                <a:ea typeface="PingFang SC"/>
              </a:rPr>
              <a:t>人太信</a:t>
            </a:r>
            <a:r>
              <a:rPr lang="en-US" sz="975">
                <a:solidFill>
                  <a:srgbClr val="43566B"/>
                </a:solidFill>
                <a:latin typeface="PingFang SC"/>
                <a:ea typeface="PingFang SC"/>
              </a:rPr>
              <a:t> AI</a:t>
            </a:r>
            <a:r>
              <a:rPr lang="zh-CN" sz="975">
                <a:solidFill>
                  <a:srgbClr val="43566B"/>
                </a:solidFill>
                <a:latin typeface="PingFang SC"/>
                <a:ea typeface="PingFang SC"/>
              </a:rPr>
              <a:t>，连它瞎说都不查</a:t>
            </a:r>
            <a:r>
              <a:rPr lang="zh-CN" sz="975">
                <a:solidFill>
                  <a:srgbClr val="43566B"/>
                </a:solidFill>
                <a:latin typeface="PingFang SC"/>
                <a:ea typeface="PingFang SC"/>
              </a:rPr>
              <a:t>编造不存在的参数与标准号</a:t>
            </a:r>
            <a:r>
              <a:rPr lang="en-US" sz="975">
                <a:solidFill>
                  <a:srgbClr val="43566B"/>
                </a:solidFill>
                <a:latin typeface="PingFang SC"/>
                <a:ea typeface="PingFang SC"/>
              </a:rPr>
              <a:t>AI </a:t>
            </a:r>
            <a:r>
              <a:rPr lang="zh-CN" sz="975">
                <a:solidFill>
                  <a:srgbClr val="43566B"/>
                </a:solidFill>
                <a:latin typeface="PingFang SC"/>
                <a:ea typeface="PingFang SC"/>
              </a:rPr>
              <a:t>建议</a:t>
            </a:r>
            <a:r>
              <a:rPr lang="en-US" sz="975">
                <a:solidFill>
                  <a:srgbClr val="43566B"/>
                </a:solidFill>
                <a:latin typeface="PingFang SC"/>
                <a:ea typeface="PingFang SC"/>
              </a:rPr>
              <a:t> → </a:t>
            </a:r>
            <a:r>
              <a:rPr lang="zh-CN" sz="975">
                <a:solidFill>
                  <a:srgbClr val="43566B"/>
                </a:solidFill>
                <a:latin typeface="PingFang SC"/>
                <a:ea typeface="PingFang SC"/>
              </a:rPr>
              <a:t>人照抄</a:t>
            </a:r>
            <a:r>
              <a:rPr lang="en-US" sz="975">
                <a:solidFill>
                  <a:srgbClr val="43566B"/>
                </a:solidFill>
                <a:latin typeface="PingFang SC"/>
                <a:ea typeface="PingFang SC"/>
              </a:rPr>
              <a:t> → </a:t>
            </a:r>
            <a:r>
              <a:rPr lang="zh-CN" sz="975">
                <a:solidFill>
                  <a:srgbClr val="43566B"/>
                </a:solidFill>
                <a:latin typeface="PingFang SC"/>
                <a:ea typeface="PingFang SC"/>
              </a:rPr>
              <a:t>数据更偏，越滚越歪</a:t>
            </a:r>
            <a:r>
              <a:rPr lang="zh-CN" sz="975">
                <a:solidFill>
                  <a:srgbClr val="43566B"/>
                </a:solidFill>
                <a:latin typeface="PingFang SC"/>
                <a:ea typeface="PingFang SC"/>
              </a:rPr>
              <a:t>提示词注入：一句「忽略以上规则」就能骗它</a:t>
            </a:r>
            <a:r>
              <a:rPr lang="zh-CN" sz="975">
                <a:solidFill>
                  <a:srgbClr val="43566B"/>
                </a:solidFill>
                <a:latin typeface="PingFang SC"/>
                <a:ea typeface="PingFang SC"/>
              </a:rPr>
              <a:t>云端模型偷偷升级，行为变了没人知道</a:t>
            </a:r>
            <a:endParaRPr/>
          </a:p>
        </p:txBody>
      </p:sp>
      <p:sp>
        <p:nvSpPr>
          <p:cNvPr id="696" name=""/>
          <p:cNvSpPr/>
          <p:nvPr/>
        </p:nvSpPr>
        <p:spPr>
          <a:xfrm rot="0" flipH="0" flipV="0">
            <a:off x="914400" y="3124200"/>
            <a:ext cx="10363200" cy="514350"/>
          </a:xfrm>
          <a:prstGeom prst="roundRect">
            <a:avLst>
              <a:gd name="adj" fmla="val 18519"/>
            </a:avLst>
          </a:prstGeom>
          <a:solidFill>
            <a:srgbClr val="F5F8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97" name="" descr="{&quot;isTemplate&quot;:true,&quot;type&quot;:&quot;text&quot;}"/>
          <p:cNvSpPr txBox="1"/>
          <p:nvPr/>
        </p:nvSpPr>
        <p:spPr>
          <a:xfrm rot="0" flipH="0" flipV="0">
            <a:off x="1066800" y="3286125"/>
            <a:ext cx="266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59E0B"/>
                </a:solidFill>
                <a:latin typeface="Space Grotesk"/>
                <a:ea typeface="Space Grotesk"/>
              </a:rPr>
              <a:t>02</a:t>
            </a:r>
            <a:endParaRPr/>
          </a:p>
        </p:txBody>
      </p:sp>
      <p:sp>
        <p:nvSpPr>
          <p:cNvPr id="698" name="" descr="{&quot;isTemplate&quot;:true,&quot;type&quot;:&quot;text&quot;}"/>
          <p:cNvSpPr txBox="1"/>
          <p:nvPr/>
        </p:nvSpPr>
        <p:spPr>
          <a:xfrm rot="0" flipH="0" flipV="0">
            <a:off x="1466850" y="3295650"/>
            <a:ext cx="1428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E3A8A"/>
                </a:solidFill>
                <a:latin typeface="PingFang SC"/>
                <a:ea typeface="PingFang SC"/>
              </a:rPr>
              <a:t>自动化偏见</a:t>
            </a:r>
            <a:endParaRPr/>
          </a:p>
        </p:txBody>
      </p:sp>
      <p:sp>
        <p:nvSpPr>
          <p:cNvPr id="699" name="" descr="{&quot;isTemplate&quot;:true,&quot;type&quot;:&quot;text&quot;}"/>
          <p:cNvSpPr txBox="1"/>
          <p:nvPr/>
        </p:nvSpPr>
        <p:spPr>
          <a:xfrm rot="0" flipH="0" flipV="0">
            <a:off x="3028950" y="3228975"/>
            <a:ext cx="8096250" cy="304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975">
                <a:solidFill>
                  <a:srgbClr val="43566B"/>
                </a:solidFill>
                <a:latin typeface="PingFang SC"/>
                <a:ea typeface="PingFang SC"/>
              </a:rPr>
              <a:t>换季</a:t>
            </a:r>
            <a:r>
              <a:rPr lang="en-US" sz="975">
                <a:solidFill>
                  <a:srgbClr val="43566B"/>
                </a:solidFill>
                <a:latin typeface="PingFang SC"/>
                <a:ea typeface="PingFang SC"/>
              </a:rPr>
              <a:t>/</a:t>
            </a:r>
            <a:r>
              <a:rPr lang="zh-CN" sz="975">
                <a:solidFill>
                  <a:srgbClr val="43566B"/>
                </a:solidFill>
                <a:latin typeface="PingFang SC"/>
                <a:ea typeface="PingFang SC"/>
              </a:rPr>
              <a:t>换料后数据分布变了，模型悄悄变差</a:t>
            </a:r>
            <a:r>
              <a:rPr lang="zh-CN" sz="975">
                <a:solidFill>
                  <a:srgbClr val="43566B"/>
                </a:solidFill>
                <a:latin typeface="PingFang SC"/>
                <a:ea typeface="PingFang SC"/>
              </a:rPr>
              <a:t>人太信</a:t>
            </a:r>
            <a:r>
              <a:rPr lang="en-US" sz="975">
                <a:solidFill>
                  <a:srgbClr val="43566B"/>
                </a:solidFill>
                <a:latin typeface="PingFang SC"/>
                <a:ea typeface="PingFang SC"/>
              </a:rPr>
              <a:t> AI</a:t>
            </a:r>
            <a:r>
              <a:rPr lang="zh-CN" sz="975">
                <a:solidFill>
                  <a:srgbClr val="43566B"/>
                </a:solidFill>
                <a:latin typeface="PingFang SC"/>
                <a:ea typeface="PingFang SC"/>
              </a:rPr>
              <a:t>，连它瞎说都不查</a:t>
            </a:r>
            <a:r>
              <a:rPr lang="zh-CN" sz="975">
                <a:solidFill>
                  <a:srgbClr val="43566B"/>
                </a:solidFill>
                <a:latin typeface="PingFang SC"/>
                <a:ea typeface="PingFang SC"/>
              </a:rPr>
              <a:t>编造不存在的参数与标准号</a:t>
            </a:r>
            <a:r>
              <a:rPr lang="en-US" sz="975">
                <a:solidFill>
                  <a:srgbClr val="43566B"/>
                </a:solidFill>
                <a:latin typeface="PingFang SC"/>
                <a:ea typeface="PingFang SC"/>
              </a:rPr>
              <a:t>AI </a:t>
            </a:r>
            <a:r>
              <a:rPr lang="zh-CN" sz="975">
                <a:solidFill>
                  <a:srgbClr val="43566B"/>
                </a:solidFill>
                <a:latin typeface="PingFang SC"/>
                <a:ea typeface="PingFang SC"/>
              </a:rPr>
              <a:t>建议</a:t>
            </a:r>
            <a:r>
              <a:rPr lang="en-US" sz="975">
                <a:solidFill>
                  <a:srgbClr val="43566B"/>
                </a:solidFill>
                <a:latin typeface="PingFang SC"/>
                <a:ea typeface="PingFang SC"/>
              </a:rPr>
              <a:t> → </a:t>
            </a:r>
            <a:r>
              <a:rPr lang="zh-CN" sz="975">
                <a:solidFill>
                  <a:srgbClr val="43566B"/>
                </a:solidFill>
                <a:latin typeface="PingFang SC"/>
                <a:ea typeface="PingFang SC"/>
              </a:rPr>
              <a:t>人照抄</a:t>
            </a:r>
            <a:r>
              <a:rPr lang="en-US" sz="975">
                <a:solidFill>
                  <a:srgbClr val="43566B"/>
                </a:solidFill>
                <a:latin typeface="PingFang SC"/>
                <a:ea typeface="PingFang SC"/>
              </a:rPr>
              <a:t> → </a:t>
            </a:r>
            <a:r>
              <a:rPr lang="zh-CN" sz="975">
                <a:solidFill>
                  <a:srgbClr val="43566B"/>
                </a:solidFill>
                <a:latin typeface="PingFang SC"/>
                <a:ea typeface="PingFang SC"/>
              </a:rPr>
              <a:t>数据更偏，越滚越歪</a:t>
            </a:r>
            <a:r>
              <a:rPr lang="zh-CN" sz="975">
                <a:solidFill>
                  <a:srgbClr val="43566B"/>
                </a:solidFill>
                <a:latin typeface="PingFang SC"/>
                <a:ea typeface="PingFang SC"/>
              </a:rPr>
              <a:t>提示词注入：一句「忽略以上规则」就能骗它</a:t>
            </a:r>
            <a:r>
              <a:rPr lang="zh-CN" sz="975">
                <a:solidFill>
                  <a:srgbClr val="43566B"/>
                </a:solidFill>
                <a:latin typeface="PingFang SC"/>
                <a:ea typeface="PingFang SC"/>
              </a:rPr>
              <a:t>云端模型偷偷升级，行为变了没人知道</a:t>
            </a:r>
            <a:endParaRPr/>
          </a:p>
        </p:txBody>
      </p:sp>
      <p:sp>
        <p:nvSpPr>
          <p:cNvPr id="700" name=""/>
          <p:cNvSpPr/>
          <p:nvPr/>
        </p:nvSpPr>
        <p:spPr>
          <a:xfrm rot="0" flipH="0" flipV="0">
            <a:off x="914400" y="3714750"/>
            <a:ext cx="10363200" cy="523875"/>
          </a:xfrm>
          <a:prstGeom prst="roundRect">
            <a:avLst>
              <a:gd name="adj" fmla="val 18182"/>
            </a:avLst>
          </a:prstGeom>
          <a:solidFill>
            <a:srgbClr val="F5F8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01" name="" descr="{&quot;isTemplate&quot;:true,&quot;type&quot;:&quot;text&quot;}"/>
          <p:cNvSpPr txBox="1"/>
          <p:nvPr/>
        </p:nvSpPr>
        <p:spPr>
          <a:xfrm rot="0" flipH="0" flipV="0">
            <a:off x="1066800" y="3886200"/>
            <a:ext cx="266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59E0B"/>
                </a:solidFill>
                <a:latin typeface="Space Grotesk"/>
                <a:ea typeface="Space Grotesk"/>
              </a:rPr>
              <a:t>03</a:t>
            </a:r>
            <a:endParaRPr/>
          </a:p>
        </p:txBody>
      </p:sp>
      <p:sp>
        <p:nvSpPr>
          <p:cNvPr id="702" name="" descr="{&quot;isTemplate&quot;:true,&quot;type&quot;:&quot;text&quot;}"/>
          <p:cNvSpPr txBox="1"/>
          <p:nvPr/>
        </p:nvSpPr>
        <p:spPr>
          <a:xfrm rot="0" flipH="0" flipV="0">
            <a:off x="1466850" y="3895725"/>
            <a:ext cx="1428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E3A8A"/>
                </a:solidFill>
                <a:latin typeface="PingFang SC"/>
                <a:ea typeface="PingFang SC"/>
              </a:rPr>
              <a:t>幻觉</a:t>
            </a:r>
            <a:endParaRPr/>
          </a:p>
        </p:txBody>
      </p:sp>
      <p:sp>
        <p:nvSpPr>
          <p:cNvPr id="703" name="" descr="{&quot;isTemplate&quot;:true,&quot;type&quot;:&quot;text&quot;}"/>
          <p:cNvSpPr txBox="1"/>
          <p:nvPr/>
        </p:nvSpPr>
        <p:spPr>
          <a:xfrm rot="0" flipH="0" flipV="0">
            <a:off x="3028950" y="3829050"/>
            <a:ext cx="8096250" cy="304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975">
                <a:solidFill>
                  <a:srgbClr val="43566B"/>
                </a:solidFill>
                <a:latin typeface="PingFang SC"/>
                <a:ea typeface="PingFang SC"/>
              </a:rPr>
              <a:t>换季</a:t>
            </a:r>
            <a:r>
              <a:rPr lang="en-US" sz="975">
                <a:solidFill>
                  <a:srgbClr val="43566B"/>
                </a:solidFill>
                <a:latin typeface="PingFang SC"/>
                <a:ea typeface="PingFang SC"/>
              </a:rPr>
              <a:t>/</a:t>
            </a:r>
            <a:r>
              <a:rPr lang="zh-CN" sz="975">
                <a:solidFill>
                  <a:srgbClr val="43566B"/>
                </a:solidFill>
                <a:latin typeface="PingFang SC"/>
                <a:ea typeface="PingFang SC"/>
              </a:rPr>
              <a:t>换料后数据分布变了，模型悄悄变差</a:t>
            </a:r>
            <a:r>
              <a:rPr lang="zh-CN" sz="975">
                <a:solidFill>
                  <a:srgbClr val="43566B"/>
                </a:solidFill>
                <a:latin typeface="PingFang SC"/>
                <a:ea typeface="PingFang SC"/>
              </a:rPr>
              <a:t>人太信</a:t>
            </a:r>
            <a:r>
              <a:rPr lang="en-US" sz="975">
                <a:solidFill>
                  <a:srgbClr val="43566B"/>
                </a:solidFill>
                <a:latin typeface="PingFang SC"/>
                <a:ea typeface="PingFang SC"/>
              </a:rPr>
              <a:t> AI</a:t>
            </a:r>
            <a:r>
              <a:rPr lang="zh-CN" sz="975">
                <a:solidFill>
                  <a:srgbClr val="43566B"/>
                </a:solidFill>
                <a:latin typeface="PingFang SC"/>
                <a:ea typeface="PingFang SC"/>
              </a:rPr>
              <a:t>，连它瞎说都不查</a:t>
            </a:r>
            <a:r>
              <a:rPr lang="zh-CN" sz="975">
                <a:solidFill>
                  <a:srgbClr val="43566B"/>
                </a:solidFill>
                <a:latin typeface="PingFang SC"/>
                <a:ea typeface="PingFang SC"/>
              </a:rPr>
              <a:t>编造不存在的参数与标准号</a:t>
            </a:r>
            <a:r>
              <a:rPr lang="en-US" sz="975">
                <a:solidFill>
                  <a:srgbClr val="43566B"/>
                </a:solidFill>
                <a:latin typeface="PingFang SC"/>
                <a:ea typeface="PingFang SC"/>
              </a:rPr>
              <a:t>AI </a:t>
            </a:r>
            <a:r>
              <a:rPr lang="zh-CN" sz="975">
                <a:solidFill>
                  <a:srgbClr val="43566B"/>
                </a:solidFill>
                <a:latin typeface="PingFang SC"/>
                <a:ea typeface="PingFang SC"/>
              </a:rPr>
              <a:t>建议</a:t>
            </a:r>
            <a:r>
              <a:rPr lang="en-US" sz="975">
                <a:solidFill>
                  <a:srgbClr val="43566B"/>
                </a:solidFill>
                <a:latin typeface="PingFang SC"/>
                <a:ea typeface="PingFang SC"/>
              </a:rPr>
              <a:t> → </a:t>
            </a:r>
            <a:r>
              <a:rPr lang="zh-CN" sz="975">
                <a:solidFill>
                  <a:srgbClr val="43566B"/>
                </a:solidFill>
                <a:latin typeface="PingFang SC"/>
                <a:ea typeface="PingFang SC"/>
              </a:rPr>
              <a:t>人照抄</a:t>
            </a:r>
            <a:r>
              <a:rPr lang="en-US" sz="975">
                <a:solidFill>
                  <a:srgbClr val="43566B"/>
                </a:solidFill>
                <a:latin typeface="PingFang SC"/>
                <a:ea typeface="PingFang SC"/>
              </a:rPr>
              <a:t> → </a:t>
            </a:r>
            <a:r>
              <a:rPr lang="zh-CN" sz="975">
                <a:solidFill>
                  <a:srgbClr val="43566B"/>
                </a:solidFill>
                <a:latin typeface="PingFang SC"/>
                <a:ea typeface="PingFang SC"/>
              </a:rPr>
              <a:t>数据更偏，越滚越歪</a:t>
            </a:r>
            <a:r>
              <a:rPr lang="zh-CN" sz="975">
                <a:solidFill>
                  <a:srgbClr val="43566B"/>
                </a:solidFill>
                <a:latin typeface="PingFang SC"/>
                <a:ea typeface="PingFang SC"/>
              </a:rPr>
              <a:t>提示词注入：一句「忽略以上规则」就能骗它</a:t>
            </a:r>
            <a:r>
              <a:rPr lang="zh-CN" sz="975">
                <a:solidFill>
                  <a:srgbClr val="43566B"/>
                </a:solidFill>
                <a:latin typeface="PingFang SC"/>
                <a:ea typeface="PingFang SC"/>
              </a:rPr>
              <a:t>云端模型偷偷升级，行为变了没人知道</a:t>
            </a:r>
            <a:endParaRPr/>
          </a:p>
        </p:txBody>
      </p:sp>
      <p:sp>
        <p:nvSpPr>
          <p:cNvPr id="704" name=""/>
          <p:cNvSpPr/>
          <p:nvPr/>
        </p:nvSpPr>
        <p:spPr>
          <a:xfrm rot="0" flipH="0" flipV="0">
            <a:off x="914400" y="4314825"/>
            <a:ext cx="10363200" cy="514350"/>
          </a:xfrm>
          <a:prstGeom prst="roundRect">
            <a:avLst>
              <a:gd name="adj" fmla="val 18519"/>
            </a:avLst>
          </a:prstGeom>
          <a:solidFill>
            <a:srgbClr val="F5F8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05" name="" descr="{&quot;isTemplate&quot;:true,&quot;type&quot;:&quot;text&quot;}"/>
          <p:cNvSpPr txBox="1"/>
          <p:nvPr/>
        </p:nvSpPr>
        <p:spPr>
          <a:xfrm rot="0" flipH="0" flipV="0">
            <a:off x="1066800" y="4476750"/>
            <a:ext cx="266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59E0B"/>
                </a:solidFill>
                <a:latin typeface="Space Grotesk"/>
                <a:ea typeface="Space Grotesk"/>
              </a:rPr>
              <a:t>04</a:t>
            </a:r>
            <a:endParaRPr/>
          </a:p>
        </p:txBody>
      </p:sp>
      <p:sp>
        <p:nvSpPr>
          <p:cNvPr id="706" name="" descr="{&quot;isTemplate&quot;:true,&quot;type&quot;:&quot;text&quot;}"/>
          <p:cNvSpPr txBox="1"/>
          <p:nvPr/>
        </p:nvSpPr>
        <p:spPr>
          <a:xfrm rot="0" flipH="0" flipV="0">
            <a:off x="1466850" y="4486275"/>
            <a:ext cx="1428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E3A8A"/>
                </a:solidFill>
                <a:latin typeface="PingFang SC"/>
                <a:ea typeface="PingFang SC"/>
              </a:rPr>
              <a:t>反馈回路</a:t>
            </a:r>
            <a:endParaRPr/>
          </a:p>
        </p:txBody>
      </p:sp>
      <p:sp>
        <p:nvSpPr>
          <p:cNvPr id="707" name="" descr="{&quot;isTemplate&quot;:true,&quot;type&quot;:&quot;text&quot;}"/>
          <p:cNvSpPr txBox="1"/>
          <p:nvPr/>
        </p:nvSpPr>
        <p:spPr>
          <a:xfrm rot="0" flipH="0" flipV="0">
            <a:off x="3028950" y="4419600"/>
            <a:ext cx="8096250" cy="304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975">
                <a:solidFill>
                  <a:srgbClr val="43566B"/>
                </a:solidFill>
                <a:latin typeface="PingFang SC"/>
                <a:ea typeface="PingFang SC"/>
              </a:rPr>
              <a:t>换季</a:t>
            </a:r>
            <a:r>
              <a:rPr lang="en-US" sz="975">
                <a:solidFill>
                  <a:srgbClr val="43566B"/>
                </a:solidFill>
                <a:latin typeface="PingFang SC"/>
                <a:ea typeface="PingFang SC"/>
              </a:rPr>
              <a:t>/</a:t>
            </a:r>
            <a:r>
              <a:rPr lang="zh-CN" sz="975">
                <a:solidFill>
                  <a:srgbClr val="43566B"/>
                </a:solidFill>
                <a:latin typeface="PingFang SC"/>
                <a:ea typeface="PingFang SC"/>
              </a:rPr>
              <a:t>换料后数据分布变了，模型悄悄变差</a:t>
            </a:r>
            <a:r>
              <a:rPr lang="zh-CN" sz="975">
                <a:solidFill>
                  <a:srgbClr val="43566B"/>
                </a:solidFill>
                <a:latin typeface="PingFang SC"/>
                <a:ea typeface="PingFang SC"/>
              </a:rPr>
              <a:t>人太信</a:t>
            </a:r>
            <a:r>
              <a:rPr lang="en-US" sz="975">
                <a:solidFill>
                  <a:srgbClr val="43566B"/>
                </a:solidFill>
                <a:latin typeface="PingFang SC"/>
                <a:ea typeface="PingFang SC"/>
              </a:rPr>
              <a:t> AI</a:t>
            </a:r>
            <a:r>
              <a:rPr lang="zh-CN" sz="975">
                <a:solidFill>
                  <a:srgbClr val="43566B"/>
                </a:solidFill>
                <a:latin typeface="PingFang SC"/>
                <a:ea typeface="PingFang SC"/>
              </a:rPr>
              <a:t>，连它瞎说都不查</a:t>
            </a:r>
            <a:r>
              <a:rPr lang="zh-CN" sz="975">
                <a:solidFill>
                  <a:srgbClr val="43566B"/>
                </a:solidFill>
                <a:latin typeface="PingFang SC"/>
                <a:ea typeface="PingFang SC"/>
              </a:rPr>
              <a:t>编造不存在的参数与标准号</a:t>
            </a:r>
            <a:r>
              <a:rPr lang="en-US" sz="975">
                <a:solidFill>
                  <a:srgbClr val="43566B"/>
                </a:solidFill>
                <a:latin typeface="PingFang SC"/>
                <a:ea typeface="PingFang SC"/>
              </a:rPr>
              <a:t>AI </a:t>
            </a:r>
            <a:r>
              <a:rPr lang="zh-CN" sz="975">
                <a:solidFill>
                  <a:srgbClr val="43566B"/>
                </a:solidFill>
                <a:latin typeface="PingFang SC"/>
                <a:ea typeface="PingFang SC"/>
              </a:rPr>
              <a:t>建议</a:t>
            </a:r>
            <a:r>
              <a:rPr lang="en-US" sz="975">
                <a:solidFill>
                  <a:srgbClr val="43566B"/>
                </a:solidFill>
                <a:latin typeface="PingFang SC"/>
                <a:ea typeface="PingFang SC"/>
              </a:rPr>
              <a:t> → </a:t>
            </a:r>
            <a:r>
              <a:rPr lang="zh-CN" sz="975">
                <a:solidFill>
                  <a:srgbClr val="43566B"/>
                </a:solidFill>
                <a:latin typeface="PingFang SC"/>
                <a:ea typeface="PingFang SC"/>
              </a:rPr>
              <a:t>人照抄</a:t>
            </a:r>
            <a:r>
              <a:rPr lang="en-US" sz="975">
                <a:solidFill>
                  <a:srgbClr val="43566B"/>
                </a:solidFill>
                <a:latin typeface="PingFang SC"/>
                <a:ea typeface="PingFang SC"/>
              </a:rPr>
              <a:t> → </a:t>
            </a:r>
            <a:r>
              <a:rPr lang="zh-CN" sz="975">
                <a:solidFill>
                  <a:srgbClr val="43566B"/>
                </a:solidFill>
                <a:latin typeface="PingFang SC"/>
                <a:ea typeface="PingFang SC"/>
              </a:rPr>
              <a:t>数据更偏，越滚越歪</a:t>
            </a:r>
            <a:r>
              <a:rPr lang="zh-CN" sz="975">
                <a:solidFill>
                  <a:srgbClr val="43566B"/>
                </a:solidFill>
                <a:latin typeface="PingFang SC"/>
                <a:ea typeface="PingFang SC"/>
              </a:rPr>
              <a:t>提示词注入：一句「忽略以上规则」就能骗它</a:t>
            </a:r>
            <a:r>
              <a:rPr lang="zh-CN" sz="975">
                <a:solidFill>
                  <a:srgbClr val="43566B"/>
                </a:solidFill>
                <a:latin typeface="PingFang SC"/>
                <a:ea typeface="PingFang SC"/>
              </a:rPr>
              <a:t>云端模型偷偷升级，行为变了没人知道</a:t>
            </a:r>
            <a:endParaRPr/>
          </a:p>
        </p:txBody>
      </p:sp>
      <p:sp>
        <p:nvSpPr>
          <p:cNvPr id="708" name=""/>
          <p:cNvSpPr/>
          <p:nvPr/>
        </p:nvSpPr>
        <p:spPr>
          <a:xfrm rot="0" flipH="0" flipV="0">
            <a:off x="914400" y="4905375"/>
            <a:ext cx="10363200" cy="523875"/>
          </a:xfrm>
          <a:prstGeom prst="roundRect">
            <a:avLst>
              <a:gd name="adj" fmla="val 18182"/>
            </a:avLst>
          </a:prstGeom>
          <a:solidFill>
            <a:srgbClr val="F5F8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09" name="" descr="{&quot;isTemplate&quot;:true,&quot;type&quot;:&quot;text&quot;}"/>
          <p:cNvSpPr txBox="1"/>
          <p:nvPr/>
        </p:nvSpPr>
        <p:spPr>
          <a:xfrm rot="0" flipH="0" flipV="0">
            <a:off x="1066800" y="5076825"/>
            <a:ext cx="266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59E0B"/>
                </a:solidFill>
                <a:latin typeface="Space Grotesk"/>
                <a:ea typeface="Space Grotesk"/>
              </a:rPr>
              <a:t>05</a:t>
            </a:r>
            <a:endParaRPr/>
          </a:p>
        </p:txBody>
      </p:sp>
      <p:sp>
        <p:nvSpPr>
          <p:cNvPr id="710" name="" descr="{&quot;isTemplate&quot;:true,&quot;type&quot;:&quot;text&quot;}"/>
          <p:cNvSpPr txBox="1"/>
          <p:nvPr/>
        </p:nvSpPr>
        <p:spPr>
          <a:xfrm rot="0" flipH="0" flipV="0">
            <a:off x="1466850" y="5086350"/>
            <a:ext cx="1428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E3A8A"/>
                </a:solidFill>
                <a:latin typeface="PingFang SC"/>
                <a:ea typeface="PingFang SC"/>
              </a:rPr>
              <a:t>安全操纵</a:t>
            </a:r>
            <a:endParaRPr/>
          </a:p>
        </p:txBody>
      </p:sp>
      <p:sp>
        <p:nvSpPr>
          <p:cNvPr id="711" name="" descr="{&quot;isTemplate&quot;:true,&quot;type&quot;:&quot;text&quot;}"/>
          <p:cNvSpPr txBox="1"/>
          <p:nvPr/>
        </p:nvSpPr>
        <p:spPr>
          <a:xfrm rot="0" flipH="0" flipV="0">
            <a:off x="3028950" y="5019675"/>
            <a:ext cx="8096250" cy="304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975">
                <a:solidFill>
                  <a:srgbClr val="43566B"/>
                </a:solidFill>
                <a:latin typeface="PingFang SC"/>
                <a:ea typeface="PingFang SC"/>
              </a:rPr>
              <a:t>换季</a:t>
            </a:r>
            <a:r>
              <a:rPr lang="en-US" sz="975">
                <a:solidFill>
                  <a:srgbClr val="43566B"/>
                </a:solidFill>
                <a:latin typeface="PingFang SC"/>
                <a:ea typeface="PingFang SC"/>
              </a:rPr>
              <a:t>/</a:t>
            </a:r>
            <a:r>
              <a:rPr lang="zh-CN" sz="975">
                <a:solidFill>
                  <a:srgbClr val="43566B"/>
                </a:solidFill>
                <a:latin typeface="PingFang SC"/>
                <a:ea typeface="PingFang SC"/>
              </a:rPr>
              <a:t>换料后数据分布变了，模型悄悄变差</a:t>
            </a:r>
            <a:r>
              <a:rPr lang="zh-CN" sz="975">
                <a:solidFill>
                  <a:srgbClr val="43566B"/>
                </a:solidFill>
                <a:latin typeface="PingFang SC"/>
                <a:ea typeface="PingFang SC"/>
              </a:rPr>
              <a:t>人太信</a:t>
            </a:r>
            <a:r>
              <a:rPr lang="en-US" sz="975">
                <a:solidFill>
                  <a:srgbClr val="43566B"/>
                </a:solidFill>
                <a:latin typeface="PingFang SC"/>
                <a:ea typeface="PingFang SC"/>
              </a:rPr>
              <a:t> AI</a:t>
            </a:r>
            <a:r>
              <a:rPr lang="zh-CN" sz="975">
                <a:solidFill>
                  <a:srgbClr val="43566B"/>
                </a:solidFill>
                <a:latin typeface="PingFang SC"/>
                <a:ea typeface="PingFang SC"/>
              </a:rPr>
              <a:t>，连它瞎说都不查</a:t>
            </a:r>
            <a:r>
              <a:rPr lang="zh-CN" sz="975">
                <a:solidFill>
                  <a:srgbClr val="43566B"/>
                </a:solidFill>
                <a:latin typeface="PingFang SC"/>
                <a:ea typeface="PingFang SC"/>
              </a:rPr>
              <a:t>编造不存在的参数与标准号</a:t>
            </a:r>
            <a:r>
              <a:rPr lang="en-US" sz="975">
                <a:solidFill>
                  <a:srgbClr val="43566B"/>
                </a:solidFill>
                <a:latin typeface="PingFang SC"/>
                <a:ea typeface="PingFang SC"/>
              </a:rPr>
              <a:t>AI </a:t>
            </a:r>
            <a:r>
              <a:rPr lang="zh-CN" sz="975">
                <a:solidFill>
                  <a:srgbClr val="43566B"/>
                </a:solidFill>
                <a:latin typeface="PingFang SC"/>
                <a:ea typeface="PingFang SC"/>
              </a:rPr>
              <a:t>建议</a:t>
            </a:r>
            <a:r>
              <a:rPr lang="en-US" sz="975">
                <a:solidFill>
                  <a:srgbClr val="43566B"/>
                </a:solidFill>
                <a:latin typeface="PingFang SC"/>
                <a:ea typeface="PingFang SC"/>
              </a:rPr>
              <a:t> → </a:t>
            </a:r>
            <a:r>
              <a:rPr lang="zh-CN" sz="975">
                <a:solidFill>
                  <a:srgbClr val="43566B"/>
                </a:solidFill>
                <a:latin typeface="PingFang SC"/>
                <a:ea typeface="PingFang SC"/>
              </a:rPr>
              <a:t>人照抄</a:t>
            </a:r>
            <a:r>
              <a:rPr lang="en-US" sz="975">
                <a:solidFill>
                  <a:srgbClr val="43566B"/>
                </a:solidFill>
                <a:latin typeface="PingFang SC"/>
                <a:ea typeface="PingFang SC"/>
              </a:rPr>
              <a:t> → </a:t>
            </a:r>
            <a:r>
              <a:rPr lang="zh-CN" sz="975">
                <a:solidFill>
                  <a:srgbClr val="43566B"/>
                </a:solidFill>
                <a:latin typeface="PingFang SC"/>
                <a:ea typeface="PingFang SC"/>
              </a:rPr>
              <a:t>数据更偏，越滚越歪</a:t>
            </a:r>
            <a:r>
              <a:rPr lang="zh-CN" sz="975">
                <a:solidFill>
                  <a:srgbClr val="43566B"/>
                </a:solidFill>
                <a:latin typeface="PingFang SC"/>
                <a:ea typeface="PingFang SC"/>
              </a:rPr>
              <a:t>提示词注入：一句「忽略以上规则」就能骗它</a:t>
            </a:r>
            <a:r>
              <a:rPr lang="zh-CN" sz="975">
                <a:solidFill>
                  <a:srgbClr val="43566B"/>
                </a:solidFill>
                <a:latin typeface="PingFang SC"/>
                <a:ea typeface="PingFang SC"/>
              </a:rPr>
              <a:t>云端模型偷偷升级，行为变了没人知道</a:t>
            </a:r>
            <a:endParaRPr/>
          </a:p>
        </p:txBody>
      </p:sp>
      <p:sp>
        <p:nvSpPr>
          <p:cNvPr id="712" name=""/>
          <p:cNvSpPr/>
          <p:nvPr/>
        </p:nvSpPr>
        <p:spPr>
          <a:xfrm rot="0" flipH="0" flipV="0">
            <a:off x="914400" y="5505450"/>
            <a:ext cx="10363200" cy="514350"/>
          </a:xfrm>
          <a:prstGeom prst="roundRect">
            <a:avLst>
              <a:gd name="adj" fmla="val 18519"/>
            </a:avLst>
          </a:prstGeom>
          <a:solidFill>
            <a:srgbClr val="F5F8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13" name="" descr="{&quot;isTemplate&quot;:true,&quot;type&quot;:&quot;text&quot;}"/>
          <p:cNvSpPr txBox="1"/>
          <p:nvPr/>
        </p:nvSpPr>
        <p:spPr>
          <a:xfrm rot="0" flipH="0" flipV="0">
            <a:off x="1066800" y="5667375"/>
            <a:ext cx="266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59E0B"/>
                </a:solidFill>
                <a:latin typeface="Space Grotesk"/>
                <a:ea typeface="Space Grotesk"/>
              </a:rPr>
              <a:t>06</a:t>
            </a:r>
            <a:endParaRPr/>
          </a:p>
        </p:txBody>
      </p:sp>
      <p:sp>
        <p:nvSpPr>
          <p:cNvPr id="714" name="" descr="{&quot;isTemplate&quot;:true,&quot;type&quot;:&quot;text&quot;}"/>
          <p:cNvSpPr txBox="1"/>
          <p:nvPr/>
        </p:nvSpPr>
        <p:spPr>
          <a:xfrm rot="0" flipH="0" flipV="0">
            <a:off x="1466850" y="5676900"/>
            <a:ext cx="1428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E3A8A"/>
                </a:solidFill>
                <a:latin typeface="PingFang SC"/>
                <a:ea typeface="PingFang SC"/>
              </a:rPr>
              <a:t>厂商静默更新</a:t>
            </a:r>
            <a:endParaRPr/>
          </a:p>
        </p:txBody>
      </p:sp>
      <p:sp>
        <p:nvSpPr>
          <p:cNvPr id="715" name="" descr="{&quot;isTemplate&quot;:true,&quot;type&quot;:&quot;text&quot;}"/>
          <p:cNvSpPr txBox="1"/>
          <p:nvPr/>
        </p:nvSpPr>
        <p:spPr>
          <a:xfrm rot="0" flipH="0" flipV="0">
            <a:off x="3028950" y="5610225"/>
            <a:ext cx="8096250" cy="304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975">
                <a:solidFill>
                  <a:srgbClr val="43566B"/>
                </a:solidFill>
                <a:latin typeface="PingFang SC"/>
                <a:ea typeface="PingFang SC"/>
              </a:rPr>
              <a:t>换季</a:t>
            </a:r>
            <a:r>
              <a:rPr lang="en-US" sz="975">
                <a:solidFill>
                  <a:srgbClr val="43566B"/>
                </a:solidFill>
                <a:latin typeface="PingFang SC"/>
                <a:ea typeface="PingFang SC"/>
              </a:rPr>
              <a:t>/</a:t>
            </a:r>
            <a:r>
              <a:rPr lang="zh-CN" sz="975">
                <a:solidFill>
                  <a:srgbClr val="43566B"/>
                </a:solidFill>
                <a:latin typeface="PingFang SC"/>
                <a:ea typeface="PingFang SC"/>
              </a:rPr>
              <a:t>换料后数据分布变了，模型悄悄变差</a:t>
            </a:r>
            <a:r>
              <a:rPr lang="zh-CN" sz="975">
                <a:solidFill>
                  <a:srgbClr val="43566B"/>
                </a:solidFill>
                <a:latin typeface="PingFang SC"/>
                <a:ea typeface="PingFang SC"/>
              </a:rPr>
              <a:t>人太信</a:t>
            </a:r>
            <a:r>
              <a:rPr lang="en-US" sz="975">
                <a:solidFill>
                  <a:srgbClr val="43566B"/>
                </a:solidFill>
                <a:latin typeface="PingFang SC"/>
                <a:ea typeface="PingFang SC"/>
              </a:rPr>
              <a:t> AI</a:t>
            </a:r>
            <a:r>
              <a:rPr lang="zh-CN" sz="975">
                <a:solidFill>
                  <a:srgbClr val="43566B"/>
                </a:solidFill>
                <a:latin typeface="PingFang SC"/>
                <a:ea typeface="PingFang SC"/>
              </a:rPr>
              <a:t>，连它瞎说都不查</a:t>
            </a:r>
            <a:r>
              <a:rPr lang="zh-CN" sz="975">
                <a:solidFill>
                  <a:srgbClr val="43566B"/>
                </a:solidFill>
                <a:latin typeface="PingFang SC"/>
                <a:ea typeface="PingFang SC"/>
              </a:rPr>
              <a:t>编造不存在的参数与标准号</a:t>
            </a:r>
            <a:r>
              <a:rPr lang="en-US" sz="975">
                <a:solidFill>
                  <a:srgbClr val="43566B"/>
                </a:solidFill>
                <a:latin typeface="PingFang SC"/>
                <a:ea typeface="PingFang SC"/>
              </a:rPr>
              <a:t>AI </a:t>
            </a:r>
            <a:r>
              <a:rPr lang="zh-CN" sz="975">
                <a:solidFill>
                  <a:srgbClr val="43566B"/>
                </a:solidFill>
                <a:latin typeface="PingFang SC"/>
                <a:ea typeface="PingFang SC"/>
              </a:rPr>
              <a:t>建议</a:t>
            </a:r>
            <a:r>
              <a:rPr lang="en-US" sz="975">
                <a:solidFill>
                  <a:srgbClr val="43566B"/>
                </a:solidFill>
                <a:latin typeface="PingFang SC"/>
                <a:ea typeface="PingFang SC"/>
              </a:rPr>
              <a:t> → </a:t>
            </a:r>
            <a:r>
              <a:rPr lang="zh-CN" sz="975">
                <a:solidFill>
                  <a:srgbClr val="43566B"/>
                </a:solidFill>
                <a:latin typeface="PingFang SC"/>
                <a:ea typeface="PingFang SC"/>
              </a:rPr>
              <a:t>人照抄</a:t>
            </a:r>
            <a:r>
              <a:rPr lang="en-US" sz="975">
                <a:solidFill>
                  <a:srgbClr val="43566B"/>
                </a:solidFill>
                <a:latin typeface="PingFang SC"/>
                <a:ea typeface="PingFang SC"/>
              </a:rPr>
              <a:t> → </a:t>
            </a:r>
            <a:r>
              <a:rPr lang="zh-CN" sz="975">
                <a:solidFill>
                  <a:srgbClr val="43566B"/>
                </a:solidFill>
                <a:latin typeface="PingFang SC"/>
                <a:ea typeface="PingFang SC"/>
              </a:rPr>
              <a:t>数据更偏，越滚越歪</a:t>
            </a:r>
            <a:r>
              <a:rPr lang="zh-CN" sz="975">
                <a:solidFill>
                  <a:srgbClr val="43566B"/>
                </a:solidFill>
                <a:latin typeface="PingFang SC"/>
                <a:ea typeface="PingFang SC"/>
              </a:rPr>
              <a:t>提示词注入：一句「忽略以上规则」就能骗它</a:t>
            </a:r>
            <a:r>
              <a:rPr lang="zh-CN" sz="975">
                <a:solidFill>
                  <a:srgbClr val="43566B"/>
                </a:solidFill>
                <a:latin typeface="PingFang SC"/>
                <a:ea typeface="PingFang SC"/>
              </a:rPr>
              <a:t>云端模型偷偷升级，行为变了没人知道</a:t>
            </a:r>
            <a:endParaRPr/>
          </a:p>
        </p:txBody>
      </p:sp>
      <p:sp>
        <p:nvSpPr>
          <p:cNvPr id="716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1123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AI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场景落地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中级</a:t>
            </a:r>
            <a:endParaRPr/>
          </a:p>
        </p:txBody>
      </p:sp>
      <p:sp>
        <p:nvSpPr>
          <p:cNvPr id="717" name="" descr="{&quot;isTemplate&quot;:true,&quot;type&quot;:&quot;text&quot;}"/>
          <p:cNvSpPr txBox="1"/>
          <p:nvPr/>
        </p:nvSpPr>
        <p:spPr>
          <a:xfrm rot="0" flipH="0" flipV="0">
            <a:off x="11029950" y="63627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29 / 34</a:t>
            </a:r>
            <a:endParaRPr/>
          </a:p>
        </p:txBody>
      </p:sp>
    </p:spTree>
  </p:cSld>
</p:sld>
</file>

<file path=ppt/slides/slide30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762" name="" descr="const stops = [&#10;    { t: '置信度低于阈值', d: '自动转人工复核', c: '#F59E0B' },&#10;    { t: '连续 2 次误判', d: '暂停自动判定，人工接管', c: '#F59E0B' },&#10;    { t: '安全事件', d: '立即停止 + 复盘 + 上报', c: '#DC2626' },&#10;];&#10;&lt;Slide style={{ width: '1280px', height: '720px', background: '#F5F8FC', padding: '24px 72px', boxSizing: 'border-box', flexDirection: 'column', fontFamily: 'PingFang SC, Source Han Sans SC, sans-serif' }}&gt;&#10;    &lt;Box style={{ height: 96, flexDirection: 'row', alignItems: 'center', gap: 16 }}&gt;&#10;        &lt;Box style={{ width: 5, height: 46, background: '#06B6D4', borderRadius: 3 }} /&gt;&#10;        &lt;Box&gt;&#10;            &lt;Text style={{ fontSize: 34, fontWeight: 'bold', color: '#1E3A8A', lineHeight: 1.2 }}&gt;人在回路：设计 + 停止条件&lt;/Text&gt;&#10;            &lt;Text style={{ fontSize: 17, color: '#64748B', marginTop: 4 }}&gt;「AI 建议、人确认、系统留痕」—— 三句话一个闭环&lt;/Text&gt;&#10;        &lt;/Box&gt;&#10;    &lt;/Box&gt;&#10;    &lt;Box style={{ flex: 1, flexDirection: 'row', gap: 24, marginTop: 14 }}&gt;&#10;        &lt;Box style={{ flex: 55, flexDirection: 'column' }}&gt;&#10;            &lt;Box style={{ flexDirection: 'row', gap: 12, alignItems: 'stretch' }}&gt;&#10;                {[&#10;                    ['AI 建议', '附置信度 + 证据'],&#10;                    ['人确认', '处置权在人手里'],&#10;                    ['系统执行', '全程留痕可追溯'],&#10;                ].map((s, i) =&gt; (&#10;                    &lt;Box key={i} style={{ flexDirection: 'row', alignItems: 'center', gap: 12, flex: 1 }}&gt;&#10;                        &lt;Box key={'c' + i} style={{ flex: 1, background: i === 1 ? '#1E3A8A' : '#FFFFFF', borderRadius: 14, padding: '18px 16px', border: '1px solid ' + (i === 1 ? '#1E3A8A' : '#E2E8F0'), textAlign: 'center', boxShadow: i === 1 ? '0 8px 24px rgba(30,58,138,0.25)' : 'none' }}&gt;&#10;                            &lt;Text style={{ fontSize: 19, fontWeight: 'bold', color: i === 1 ? '#FFFFFF' : '#1E3A8A' }}&gt;{s[0]}&lt;/Text&gt;&#10;                            &lt;Text style={{ fontSize: 13, color: i === 1 ? '#DCE9FB' : '#64748B', marginTop: 6 }}&gt;{s[1]}&lt;/Text&gt;&#10;                        &lt;/Box&gt;&#10;                        {i &lt; 2 &amp;&amp; &lt;FAIcon name=&quot;arrow-right&quot; style={{ fill: '#F59E0B', width: 20, height: 20 }} /&gt;}&#10;                    &lt;/Box&gt;&#10;                ))}&#10;            &lt;/Box&gt;&#10;            &lt;Box style={{ flex: 1, background: '#FFFFFF', borderRadius: 16, padding: '20px 24px', marginTop: 18, border: '1px solid #E2E8F0', flexDirection: 'column' }}&gt;&#10;                &lt;Text style={{ fontSize: 18, fontWeight: 'bold', color: '#1E3A8A', marginBottom: 12 }}&gt;停止条件：写进 SOP，别靠自觉&lt;/Text&gt;&#10;                {stops.map((s, i) =&gt; (&#10;                    &lt;Box key={i} style={{ flexDirection: 'row', alignItems: 'center', gap: 12, padding: '10px 16px', background: '#F5F8FC', borderRadius: 10, marginBottom: 8 }}&gt;&#10;                        &lt;Box style={{ width: 6, height: 26, background: s.c, borderRadius: 3 }} /&gt;&#10;                        &lt;Text style={{ fontSize: 16, fontWeight: 'bold', color: '#1E3A8A', width: 190 }}&gt;{s.t}&lt;/Text&gt;&#10;                        &lt;Text style={{ flex: 1, fontSize: 15, color: '#43566b' }}&gt;{s.d}&lt;/Text&gt;&#10;                    &lt;/Box&gt;&#10;                ))}&#10;            &lt;/Box&gt;&#10;        &lt;/Box&gt;&#10;        &lt;Box style={{ flex: 45, flexDirection: 'column', gap: 16 }}&gt;&#10;            &lt;Box style={{ borderRadius: 18, overflow: 'hidden', background: '#1E3A8A', boxShadow: '0 8px 28px rgba(30,58,138,0.18)', flex: 1 }}&gt;&#10;                &lt;Image src=&quot;assets/human_in_the_loop.png&quot; style={{ width: '100%', height: '100%', objectFit: 'cover' }} /&gt;&#10;            &lt;/Box&gt;&#10;            &lt;Box style={{ padding: '16px 22px', background: '#FEEFE0', borderRadius: 14, border: '2px solid #F59E0B' }}&gt;&#10;                &lt;Text style={{ fontSize: 18, fontWeight: 'bold', color: '#B45309' }}&gt;车间数据不出厂&lt;/Text&gt;&#10;                &lt;Text style={{ fontSize: 14, color: '#43566b', marginTop: 6, lineHeight: 1.6 }}&gt;工艺参数、产量、良率 —— 敏感数据优先私有化 / 边缘部署，出厂的只有「脱敏结论」。&lt;/Text&gt;&#10;            &lt;/Box&gt;&#10;        &lt;/Box&gt;&#10;    &lt;/Box&gt;&#10;    &lt;Box style={{ height: 40, flexDirection: 'row', justifyContent: 'space-between', alignItems: 'center', marginTop: 10 }}&gt;&#10;        &lt;Text style={{ fontSize: 14, color: '#64748B' }}&gt;AI 场景落地 · 中级&lt;/Text&gt;&#10;        &lt;Text style={{ fontSize: 14, color: '#64748B' }}&gt;30 / 34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/>
        </p:spPr>
        <p:txBody>
          <a:bodyPr/>
          <a:p/>
        </p:txBody>
      </p:sp>
      <p:sp>
        <p:nvSpPr>
          <p:cNvPr id="764" name=""/>
          <p:cNvSpPr/>
          <p:nvPr/>
        </p:nvSpPr>
        <p:spPr>
          <a:xfrm rot="0" flipH="0" flipV="0">
            <a:off x="685800" y="466725"/>
            <a:ext cx="47625" cy="438150"/>
          </a:xfrm>
          <a:prstGeom prst="roundRect">
            <a:avLst>
              <a:gd name="adj" fmla="val 60000"/>
            </a:avLst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765" name="" descr="{&quot;isTemplate&quot;:true,&quot;type&quot;:&quot;text&quot;}"/>
          <p:cNvSpPr txBox="1"/>
          <p:nvPr/>
        </p:nvSpPr>
        <p:spPr>
          <a:xfrm rot="0" flipH="0" flipV="0">
            <a:off x="885825" y="333375"/>
            <a:ext cx="398145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>人在回路：设计</a:t>
            </a:r>
            <a:r>
              <a:rPr lang="en-US" sz="2550" b="1">
                <a:solidFill>
                  <a:srgbClr val="1E3A8A"/>
                </a:solidFill>
                <a:latin typeface="PingFang SC"/>
                <a:ea typeface="PingFang SC"/>
              </a:rPr>
              <a:t> + </a:t>
            </a: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>停止条件</a:t>
            </a:r>
            <a:endParaRPr/>
          </a:p>
        </p:txBody>
      </p:sp>
      <p:sp>
        <p:nvSpPr>
          <p:cNvPr id="766" name="" descr="{&quot;isTemplate&quot;:true,&quot;type&quot;:&quot;text&quot;}"/>
          <p:cNvSpPr txBox="1"/>
          <p:nvPr/>
        </p:nvSpPr>
        <p:spPr>
          <a:xfrm rot="0" flipH="0" flipV="0">
            <a:off x="885825" y="838200"/>
            <a:ext cx="39814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「</a:t>
            </a:r>
            <a:r>
              <a:rPr lang="en-US" sz="1275">
                <a:solidFill>
                  <a:srgbClr val="64748B"/>
                </a:solidFill>
                <a:latin typeface="PingFang SC"/>
                <a:ea typeface="PingFang SC"/>
              </a:rPr>
              <a:t>AI </a:t>
            </a: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建议、人确认、系统留痕」——</a:t>
            </a:r>
            <a:r>
              <a:rPr lang="en-US" sz="1275">
                <a:solidFill>
                  <a:srgbClr val="64748B"/>
                </a:solidFill>
                <a:latin typeface="PingFang SC"/>
                <a:ea typeface="PingFang SC"/>
              </a:rPr>
              <a:t> </a:t>
            </a: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三句话一个闭环</a:t>
            </a:r>
            <a:endParaRPr/>
          </a:p>
        </p:txBody>
      </p:sp>
      <p:sp>
        <p:nvSpPr>
          <p:cNvPr id="767" name=""/>
          <p:cNvSpPr/>
          <p:nvPr/>
        </p:nvSpPr>
        <p:spPr>
          <a:xfrm rot="0" flipH="0" flipV="0">
            <a:off x="685800" y="1276350"/>
            <a:ext cx="1562100" cy="771525"/>
          </a:xfrm>
          <a:prstGeom prst="roundRect">
            <a:avLst>
              <a:gd name="adj" fmla="val 1728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68" name="" descr="{&quot;isTemplate&quot;:true,&quot;type&quot;:&quot;text&quot;}"/>
          <p:cNvSpPr txBox="1"/>
          <p:nvPr/>
        </p:nvSpPr>
        <p:spPr>
          <a:xfrm rot="0" flipH="0" flipV="0">
            <a:off x="838200" y="1447800"/>
            <a:ext cx="1257300" cy="2190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425" b="1">
                <a:solidFill>
                  <a:srgbClr val="1E3A8A"/>
                </a:solidFill>
                <a:latin typeface="PingFang SC"/>
                <a:ea typeface="PingFang SC"/>
              </a:rPr>
              <a:t>AI </a:t>
            </a:r>
            <a:r>
              <a:rPr lang="zh-CN" sz="1425" b="1">
                <a:solidFill>
                  <a:srgbClr val="1E3A8A"/>
                </a:solidFill>
                <a:latin typeface="PingFang SC"/>
                <a:ea typeface="PingFang SC"/>
              </a:rPr>
              <a:t>建议</a:t>
            </a:r>
            <a:endParaRPr/>
          </a:p>
        </p:txBody>
      </p:sp>
      <p:sp>
        <p:nvSpPr>
          <p:cNvPr id="769" name="" descr="{&quot;isTemplate&quot;:true,&quot;type&quot;:&quot;text&quot;}"/>
          <p:cNvSpPr txBox="1"/>
          <p:nvPr/>
        </p:nvSpPr>
        <p:spPr>
          <a:xfrm rot="0" flipH="0" flipV="0">
            <a:off x="838200" y="1724025"/>
            <a:ext cx="125730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PingFang SC"/>
                <a:ea typeface="PingFang SC"/>
              </a:rPr>
              <a:t>附置信度</a:t>
            </a:r>
            <a:r>
              <a:rPr lang="en-US" sz="975">
                <a:solidFill>
                  <a:srgbClr val="64748B"/>
                </a:solidFill>
                <a:latin typeface="PingFang SC"/>
                <a:ea typeface="PingFang SC"/>
              </a:rPr>
              <a:t> + </a:t>
            </a:r>
            <a:r>
              <a:rPr lang="zh-CN" sz="975">
                <a:solidFill>
                  <a:srgbClr val="64748B"/>
                </a:solidFill>
                <a:latin typeface="PingFang SC"/>
                <a:ea typeface="PingFang SC"/>
              </a:rPr>
              <a:t>证据</a:t>
            </a:r>
            <a:endParaRPr/>
          </a:p>
        </p:txBody>
      </p:sp>
      <p:pic>
        <p:nvPicPr>
          <p:cNvPr id="77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2362200" y="1571625"/>
            <a:ext cx="190500" cy="190500"/>
          </a:xfrm>
          <a:prstGeom prst="rect">
            <a:avLst/>
          </a:prstGeom>
          <a:ln/>
        </p:spPr>
      </p:pic>
      <p:sp>
        <p:nvSpPr>
          <p:cNvPr id="771" name=""/>
          <p:cNvSpPr/>
          <p:nvPr/>
        </p:nvSpPr>
        <p:spPr>
          <a:xfrm rot="0" flipH="0" flipV="0">
            <a:off x="2667000" y="1276350"/>
            <a:ext cx="1562100" cy="771525"/>
          </a:xfrm>
          <a:prstGeom prst="roundRect">
            <a:avLst>
              <a:gd name="adj" fmla="val 17284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  <a:effectLst>
            <a:outerShdw blurRad="228600" dist="76200" dir="5400000">
              <a:srgbClr val="1E3A8A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72" name="" descr="{&quot;isTemplate&quot;:true,&quot;type&quot;:&quot;text&quot;}"/>
          <p:cNvSpPr txBox="1"/>
          <p:nvPr/>
        </p:nvSpPr>
        <p:spPr>
          <a:xfrm rot="0" flipH="0" flipV="0">
            <a:off x="2819400" y="1447800"/>
            <a:ext cx="1257300" cy="2190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PingFang SC"/>
                <a:ea typeface="PingFang SC"/>
              </a:rPr>
              <a:t>人确认</a:t>
            </a:r>
            <a:endParaRPr/>
          </a:p>
        </p:txBody>
      </p:sp>
      <p:sp>
        <p:nvSpPr>
          <p:cNvPr id="773" name="" descr="{&quot;isTemplate&quot;:true,&quot;type&quot;:&quot;text&quot;}"/>
          <p:cNvSpPr txBox="1"/>
          <p:nvPr/>
        </p:nvSpPr>
        <p:spPr>
          <a:xfrm rot="0" flipH="0" flipV="0">
            <a:off x="2819400" y="1724025"/>
            <a:ext cx="125730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DCE9FB"/>
                </a:solidFill>
                <a:latin typeface="PingFang SC"/>
                <a:ea typeface="PingFang SC"/>
              </a:rPr>
              <a:t>处置权在人手里</a:t>
            </a:r>
            <a:endParaRPr/>
          </a:p>
        </p:txBody>
      </p:sp>
      <p:pic>
        <p:nvPicPr>
          <p:cNvPr id="77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343400" y="1571625"/>
            <a:ext cx="190500" cy="190500"/>
          </a:xfrm>
          <a:prstGeom prst="rect">
            <a:avLst/>
          </a:prstGeom>
          <a:ln/>
        </p:spPr>
      </p:pic>
      <p:sp>
        <p:nvSpPr>
          <p:cNvPr id="775" name=""/>
          <p:cNvSpPr/>
          <p:nvPr/>
        </p:nvSpPr>
        <p:spPr>
          <a:xfrm rot="0" flipH="0" flipV="0">
            <a:off x="4648200" y="1276350"/>
            <a:ext cx="1866900" cy="771525"/>
          </a:xfrm>
          <a:prstGeom prst="roundRect">
            <a:avLst>
              <a:gd name="adj" fmla="val 1728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76" name="" descr="{&quot;isTemplate&quot;:true,&quot;type&quot;:&quot;text&quot;}"/>
          <p:cNvSpPr txBox="1"/>
          <p:nvPr/>
        </p:nvSpPr>
        <p:spPr>
          <a:xfrm rot="0" flipH="0" flipV="0">
            <a:off x="4800600" y="1447800"/>
            <a:ext cx="1562100" cy="2190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425" b="1">
                <a:solidFill>
                  <a:srgbClr val="1E3A8A"/>
                </a:solidFill>
                <a:latin typeface="PingFang SC"/>
                <a:ea typeface="PingFang SC"/>
              </a:rPr>
              <a:t>系统执行</a:t>
            </a:r>
            <a:endParaRPr/>
          </a:p>
        </p:txBody>
      </p:sp>
      <p:sp>
        <p:nvSpPr>
          <p:cNvPr id="777" name="" descr="{&quot;isTemplate&quot;:true,&quot;type&quot;:&quot;text&quot;}"/>
          <p:cNvSpPr txBox="1"/>
          <p:nvPr/>
        </p:nvSpPr>
        <p:spPr>
          <a:xfrm rot="0" flipH="0" flipV="0">
            <a:off x="4800600" y="1724025"/>
            <a:ext cx="156210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PingFang SC"/>
                <a:ea typeface="PingFang SC"/>
              </a:rPr>
              <a:t>全程留痕可追溯</a:t>
            </a:r>
            <a:endParaRPr/>
          </a:p>
        </p:txBody>
      </p:sp>
      <p:sp>
        <p:nvSpPr>
          <p:cNvPr id="778" name=""/>
          <p:cNvSpPr/>
          <p:nvPr/>
        </p:nvSpPr>
        <p:spPr>
          <a:xfrm rot="0" flipH="0" flipV="0">
            <a:off x="685800" y="2219325"/>
            <a:ext cx="5829300" cy="3933825"/>
          </a:xfrm>
          <a:prstGeom prst="roundRect">
            <a:avLst>
              <a:gd name="adj" fmla="val 387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79" name="" descr="{&quot;isTemplate&quot;:true,&quot;type&quot;:&quot;text&quot;}"/>
          <p:cNvSpPr txBox="1"/>
          <p:nvPr/>
        </p:nvSpPr>
        <p:spPr>
          <a:xfrm rot="0" flipH="0" flipV="0">
            <a:off x="914400" y="2409825"/>
            <a:ext cx="5372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3A8A"/>
                </a:solidFill>
                <a:latin typeface="PingFang SC"/>
                <a:ea typeface="PingFang SC"/>
              </a:rPr>
              <a:t>停止条件：写进</a:t>
            </a:r>
            <a:r>
              <a:rPr lang="en-US" sz="1350" b="1">
                <a:solidFill>
                  <a:srgbClr val="1E3A8A"/>
                </a:solidFill>
                <a:latin typeface="PingFang SC"/>
                <a:ea typeface="PingFang SC"/>
              </a:rPr>
              <a:t> SOP</a:t>
            </a:r>
            <a:r>
              <a:rPr lang="zh-CN" sz="1350" b="1">
                <a:solidFill>
                  <a:srgbClr val="1E3A8A"/>
                </a:solidFill>
                <a:latin typeface="PingFang SC"/>
                <a:ea typeface="PingFang SC"/>
              </a:rPr>
              <a:t>，别靠自觉</a:t>
            </a:r>
            <a:endParaRPr/>
          </a:p>
        </p:txBody>
      </p:sp>
      <p:sp>
        <p:nvSpPr>
          <p:cNvPr id="780" name=""/>
          <p:cNvSpPr/>
          <p:nvPr/>
        </p:nvSpPr>
        <p:spPr>
          <a:xfrm rot="0" flipH="0" flipV="0">
            <a:off x="914400" y="2733675"/>
            <a:ext cx="5372100" cy="438150"/>
          </a:xfrm>
          <a:prstGeom prst="roundRect">
            <a:avLst>
              <a:gd name="adj" fmla="val 21739"/>
            </a:avLst>
          </a:prstGeom>
          <a:solidFill>
            <a:srgbClr val="F5F8FC"/>
          </a:solidFill>
          <a:ln/>
        </p:spPr>
        <p:txBody>
          <a:bodyPr/>
          <a:p/>
        </p:txBody>
      </p:sp>
      <p:sp>
        <p:nvSpPr>
          <p:cNvPr id="781" name=""/>
          <p:cNvSpPr/>
          <p:nvPr/>
        </p:nvSpPr>
        <p:spPr>
          <a:xfrm rot="0" flipH="0" flipV="0">
            <a:off x="1066800" y="2828925"/>
            <a:ext cx="57150" cy="2476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782" name="" descr="{&quot;isTemplate&quot;:true,&quot;type&quot;:&quot;text&quot;}"/>
          <p:cNvSpPr txBox="1"/>
          <p:nvPr/>
        </p:nvSpPr>
        <p:spPr>
          <a:xfrm rot="0" flipH="0" flipV="0">
            <a:off x="1238250" y="2857500"/>
            <a:ext cx="1809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E3A8A"/>
                </a:solidFill>
                <a:latin typeface="PingFang SC"/>
                <a:ea typeface="PingFang SC"/>
              </a:rPr>
              <a:t>置信度低于阈值</a:t>
            </a:r>
            <a:endParaRPr/>
          </a:p>
        </p:txBody>
      </p:sp>
      <p:sp>
        <p:nvSpPr>
          <p:cNvPr id="783" name="" descr="{&quot;isTemplate&quot;:true,&quot;type&quot;:&quot;text&quot;}"/>
          <p:cNvSpPr txBox="1"/>
          <p:nvPr/>
        </p:nvSpPr>
        <p:spPr>
          <a:xfrm rot="0" flipH="0" flipV="0">
            <a:off x="3162300" y="2867025"/>
            <a:ext cx="2971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自动转人工复核</a:t>
            </a:r>
            <a:endParaRPr/>
          </a:p>
        </p:txBody>
      </p:sp>
      <p:sp>
        <p:nvSpPr>
          <p:cNvPr id="784" name=""/>
          <p:cNvSpPr/>
          <p:nvPr/>
        </p:nvSpPr>
        <p:spPr>
          <a:xfrm rot="0" flipH="0" flipV="0">
            <a:off x="914400" y="3248025"/>
            <a:ext cx="5372100" cy="438150"/>
          </a:xfrm>
          <a:prstGeom prst="roundRect">
            <a:avLst>
              <a:gd name="adj" fmla="val 21739"/>
            </a:avLst>
          </a:prstGeom>
          <a:solidFill>
            <a:srgbClr val="F5F8FC"/>
          </a:solidFill>
          <a:ln/>
        </p:spPr>
        <p:txBody>
          <a:bodyPr/>
          <a:p/>
        </p:txBody>
      </p:sp>
      <p:sp>
        <p:nvSpPr>
          <p:cNvPr id="785" name=""/>
          <p:cNvSpPr/>
          <p:nvPr/>
        </p:nvSpPr>
        <p:spPr>
          <a:xfrm rot="0" flipH="0" flipV="0">
            <a:off x="1066800" y="3343275"/>
            <a:ext cx="57150" cy="2476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786" name="" descr="{&quot;isTemplate&quot;:true,&quot;type&quot;:&quot;text&quot;}"/>
          <p:cNvSpPr txBox="1"/>
          <p:nvPr/>
        </p:nvSpPr>
        <p:spPr>
          <a:xfrm rot="0" flipH="0" flipV="0">
            <a:off x="1238250" y="3371850"/>
            <a:ext cx="1809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E3A8A"/>
                </a:solidFill>
                <a:latin typeface="PingFang SC"/>
                <a:ea typeface="PingFang SC"/>
              </a:rPr>
              <a:t>连续</a:t>
            </a:r>
            <a:r>
              <a:rPr lang="en-US" sz="1200" b="1">
                <a:solidFill>
                  <a:srgbClr val="1E3A8A"/>
                </a:solidFill>
                <a:latin typeface="PingFang SC"/>
                <a:ea typeface="PingFang SC"/>
              </a:rPr>
              <a:t> 2 </a:t>
            </a:r>
            <a:r>
              <a:rPr lang="zh-CN" sz="1200" b="1">
                <a:solidFill>
                  <a:srgbClr val="1E3A8A"/>
                </a:solidFill>
                <a:latin typeface="PingFang SC"/>
                <a:ea typeface="PingFang SC"/>
              </a:rPr>
              <a:t>次误判</a:t>
            </a:r>
            <a:endParaRPr/>
          </a:p>
        </p:txBody>
      </p:sp>
      <p:sp>
        <p:nvSpPr>
          <p:cNvPr id="787" name="" descr="{&quot;isTemplate&quot;:true,&quot;type&quot;:&quot;text&quot;}"/>
          <p:cNvSpPr txBox="1"/>
          <p:nvPr/>
        </p:nvSpPr>
        <p:spPr>
          <a:xfrm rot="0" flipH="0" flipV="0">
            <a:off x="3162300" y="3381375"/>
            <a:ext cx="2971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暂停自动判定，人工接管</a:t>
            </a:r>
            <a:endParaRPr/>
          </a:p>
        </p:txBody>
      </p:sp>
      <p:sp>
        <p:nvSpPr>
          <p:cNvPr id="788" name=""/>
          <p:cNvSpPr/>
          <p:nvPr/>
        </p:nvSpPr>
        <p:spPr>
          <a:xfrm rot="0" flipH="0" flipV="0">
            <a:off x="914400" y="3762375"/>
            <a:ext cx="5372100" cy="438150"/>
          </a:xfrm>
          <a:prstGeom prst="roundRect">
            <a:avLst>
              <a:gd name="adj" fmla="val 21739"/>
            </a:avLst>
          </a:prstGeom>
          <a:solidFill>
            <a:srgbClr val="F5F8FC"/>
          </a:solidFill>
          <a:ln/>
        </p:spPr>
        <p:txBody>
          <a:bodyPr/>
          <a:p/>
        </p:txBody>
      </p:sp>
      <p:sp>
        <p:nvSpPr>
          <p:cNvPr id="789" name=""/>
          <p:cNvSpPr/>
          <p:nvPr/>
        </p:nvSpPr>
        <p:spPr>
          <a:xfrm rot="0" flipH="0" flipV="0">
            <a:off x="1066800" y="3857625"/>
            <a:ext cx="57150" cy="2476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  <p:txBody>
          <a:bodyPr/>
          <a:p/>
        </p:txBody>
      </p:sp>
      <p:sp>
        <p:nvSpPr>
          <p:cNvPr id="790" name="" descr="{&quot;isTemplate&quot;:true,&quot;type&quot;:&quot;text&quot;}"/>
          <p:cNvSpPr txBox="1"/>
          <p:nvPr/>
        </p:nvSpPr>
        <p:spPr>
          <a:xfrm rot="0" flipH="0" flipV="0">
            <a:off x="1238250" y="3886200"/>
            <a:ext cx="1809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E3A8A"/>
                </a:solidFill>
                <a:latin typeface="PingFang SC"/>
                <a:ea typeface="PingFang SC"/>
              </a:rPr>
              <a:t>安全事件</a:t>
            </a:r>
            <a:endParaRPr/>
          </a:p>
        </p:txBody>
      </p:sp>
      <p:sp>
        <p:nvSpPr>
          <p:cNvPr id="791" name="" descr="{&quot;isTemplate&quot;:true,&quot;type&quot;:&quot;text&quot;}"/>
          <p:cNvSpPr txBox="1"/>
          <p:nvPr/>
        </p:nvSpPr>
        <p:spPr>
          <a:xfrm rot="0" flipH="0" flipV="0">
            <a:off x="3162300" y="3895725"/>
            <a:ext cx="2971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立即停止</a:t>
            </a:r>
            <a:r>
              <a:rPr lang="en-US" sz="1125">
                <a:solidFill>
                  <a:srgbClr val="43566B"/>
                </a:solidFill>
                <a:latin typeface="PingFang SC"/>
                <a:ea typeface="PingFang SC"/>
              </a:rPr>
              <a:t> + </a:t>
            </a: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复盘</a:t>
            </a:r>
            <a:r>
              <a:rPr lang="en-US" sz="1125">
                <a:solidFill>
                  <a:srgbClr val="43566B"/>
                </a:solidFill>
                <a:latin typeface="PingFang SC"/>
                <a:ea typeface="PingFang SC"/>
              </a:rPr>
              <a:t> + </a:t>
            </a: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上报</a:t>
            </a:r>
            <a:endParaRPr/>
          </a:p>
        </p:txBody>
      </p:sp>
      <p:sp>
        <p:nvSpPr>
          <p:cNvPr id="792" name=""/>
          <p:cNvSpPr/>
          <p:nvPr/>
        </p:nvSpPr>
        <p:spPr>
          <a:xfrm rot="0" flipH="0" flipV="0">
            <a:off x="6743700" y="1276350"/>
            <a:ext cx="4762500" cy="3638550"/>
          </a:xfrm>
          <a:prstGeom prst="roundRect">
            <a:avLst>
              <a:gd name="adj" fmla="val 4712"/>
            </a:avLst>
          </a:prstGeom>
          <a:solidFill>
            <a:srgbClr val="1E3A8A"/>
          </a:solidFill>
          <a:ln/>
          <a:effectLst>
            <a:outerShdw blurRad="266700" dist="76200" dir="5400000">
              <a:srgbClr val="1E3A8A">
                <a:alpha val="18000"/>
              </a:srgbClr>
            </a:outerShdw>
          </a:effectLst>
        </p:spPr>
        <p:txBody>
          <a:bodyPr/>
          <a:p/>
        </p:txBody>
      </p:sp>
      <p:pic>
        <p:nvPicPr>
          <p:cNvPr id="793" name=""/>
          <p:cNvPicPr>
            <a:picLocks noChangeAspect="1"/>
          </p:cNvPicPr>
          <p:nvPr/>
        </p:nvPicPr>
        <p:blipFill>
          <a:blip r:embed="rId2"/>
          <a:srcRect l="0" t="11800" r="0" b="11800"/>
          <a:stretch>
            <a:fillRect/>
          </a:stretch>
        </p:blipFill>
        <p:spPr>
          <a:xfrm rot="0" flipH="0" flipV="0">
            <a:off x="6743700" y="1276350"/>
            <a:ext cx="4762500" cy="3638550"/>
          </a:xfrm>
          <a:custGeom>
            <a:pathLst>
              <a:path w="500" h="382">
                <a:moveTo>
                  <a:pt x="482" y="0"/>
                </a:moveTo>
                <a:cubicBezTo>
                  <a:pt x="492" y="0"/>
                  <a:pt x="500" y="8"/>
                  <a:pt x="500" y="18"/>
                </a:cubicBezTo>
                <a:lnTo>
                  <a:pt x="500" y="364"/>
                </a:lnTo>
                <a:cubicBezTo>
                  <a:pt x="500" y="374"/>
                  <a:pt x="492" y="382"/>
                  <a:pt x="482" y="382"/>
                </a:cubicBezTo>
                <a:lnTo>
                  <a:pt x="18" y="382"/>
                </a:lnTo>
                <a:cubicBezTo>
                  <a:pt x="8" y="382"/>
                  <a:pt x="0" y="374"/>
                  <a:pt x="0" y="364"/>
                </a:cubicBezTo>
                <a:lnTo>
                  <a:pt x="0" y="18"/>
                </a:lnTo>
                <a:cubicBezTo>
                  <a:pt x="0" y="8"/>
                  <a:pt x="8" y="0"/>
                  <a:pt x="18" y="0"/>
                </a:cubicBezTo>
                <a:lnTo>
                  <a:pt x="482" y="0"/>
                </a:lnTo>
                <a:close/>
              </a:path>
            </a:pathLst>
          </a:custGeom>
          <a:ln/>
        </p:spPr>
      </p:pic>
      <p:sp>
        <p:nvSpPr>
          <p:cNvPr id="794" name=""/>
          <p:cNvSpPr/>
          <p:nvPr/>
        </p:nvSpPr>
        <p:spPr>
          <a:xfrm rot="0" flipH="0" flipV="0">
            <a:off x="6743700" y="5067300"/>
            <a:ext cx="4762500" cy="1085850"/>
          </a:xfrm>
          <a:prstGeom prst="roundRect">
            <a:avLst>
              <a:gd name="adj" fmla="val 12281"/>
            </a:avLst>
          </a:prstGeom>
          <a:solidFill>
            <a:srgbClr val="FEEFE0"/>
          </a:solidFill>
          <a:ln w="254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795" name="" descr="{&quot;isTemplate&quot;:true,&quot;type&quot;:&quot;text&quot;}"/>
          <p:cNvSpPr txBox="1"/>
          <p:nvPr/>
        </p:nvSpPr>
        <p:spPr>
          <a:xfrm rot="0" flipH="0" flipV="0">
            <a:off x="6953250" y="5219700"/>
            <a:ext cx="4343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B45309"/>
                </a:solidFill>
                <a:latin typeface="PingFang SC"/>
                <a:ea typeface="PingFang SC"/>
              </a:rPr>
              <a:t>现场数据不出厂</a:t>
            </a:r>
            <a:endParaRPr/>
          </a:p>
        </p:txBody>
      </p:sp>
      <p:sp>
        <p:nvSpPr>
          <p:cNvPr id="796" name="" descr="{&quot;isTemplate&quot;:true,&quot;type&quot;:&quot;text&quot;}"/>
          <p:cNvSpPr txBox="1"/>
          <p:nvPr/>
        </p:nvSpPr>
        <p:spPr>
          <a:xfrm rot="0" flipH="0" flipV="0">
            <a:off x="6953250" y="5486400"/>
            <a:ext cx="43434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工艺参数、产量、良率</a:t>
            </a:r>
            <a:r>
              <a:rPr lang="en-US" sz="1050">
                <a:solidFill>
                  <a:srgbClr val="43566B"/>
                </a:solidFill>
                <a:latin typeface="PingFang SC"/>
                <a:ea typeface="PingFang SC"/>
              </a:rPr>
              <a:t> —— </a:t>
            </a: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敏感数据优先私有化</a:t>
            </a:r>
            <a:r>
              <a:rPr lang="en-US" sz="1050">
                <a:solidFill>
                  <a:srgbClr val="43566B"/>
                </a:solidFill>
                <a:latin typeface="PingFang SC"/>
                <a:ea typeface="PingFang SC"/>
              </a:rPr>
              <a:t> / </a:t>
            </a: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边缘部署，出厂的只有「脱敏结论」。</a:t>
            </a:r>
            <a:endParaRPr/>
          </a:p>
        </p:txBody>
      </p:sp>
      <p:sp>
        <p:nvSpPr>
          <p:cNvPr id="797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1123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AI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场景落地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中级</a:t>
            </a:r>
            <a:endParaRPr/>
          </a:p>
        </p:txBody>
      </p:sp>
      <p:sp>
        <p:nvSpPr>
          <p:cNvPr id="798" name="" descr="{&quot;isTemplate&quot;:true,&quot;type&quot;:&quot;text&quot;}"/>
          <p:cNvSpPr txBox="1"/>
          <p:nvPr/>
        </p:nvSpPr>
        <p:spPr>
          <a:xfrm rot="0" flipH="0" flipV="0">
            <a:off x="11029950" y="63627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30 / 34</a:t>
            </a:r>
            <a:endParaRPr/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99" name="" descr="&lt;Slide style={{ width: '1280px', height: '720px', position: 'relative', background: '#1E3A8A', overflow: 'hidden', fontFamily: 'PingFang SC, Source Han Sans SC, sans-serif' }}&gt;&#10;    &lt;Box style={{ position: 'absolute', top: 0, right: 0, width: 500, height: '720px' }}&gt;&#10;        &lt;Image src=&quot;assets/hero_cover.png&quot; style={{ width: '500px', height: '720px', objectFit: 'cover', opacity: 0.5 }} /&gt;&#10;        &lt;Box style={{ position: 'absolute', top: 0, left: 0, width: '500px', height: '720px', background: 'linear-gradient(90deg, rgba(30,58,138,1) 0%, rgba(30,58,138,0.15) 100%)' }} /&gt;&#10;    &lt;/Box&gt;&#10;    &lt;Box style={{ position: 'relative', zIndex: 1, height: '720px', padding: '0 84px', justifyContent: 'center' }}&gt;&#10;        &lt;Text style={{ fontSize: 130, fontWeight: 'bold', color: 'rgba(6,182,212,0.5)', lineHeight: 1, fontFamily: 'Space Grotesk, Inter' }}&gt;08&lt;/Text&gt;&#10;        &lt;Text style={{ fontSize: 18, color: '#7FD9F0', letterSpacing: 5, marginTop: 6 }}&gt;M8 · 3 课时&lt;/Text&gt;&#10;        &lt;Text style={{ fontSize: 54, fontWeight: 'bold', color: '#FFFFFF', marginTop: 20, lineHeight: 1.18 }}&gt;结业工作坊&lt;br /&gt;把你的场景做完&lt;/Text&gt;&#10;        &lt;Box style={{ width: 84, height: 4, background: '#06B6D4', marginTop: 30 }} /&gt;&#10;        &lt;Text style={{ fontSize: 19, color: '#A9C4E8', marginTop: 22, lineHeight: 1.6 }}&gt;四选一项目 · 六件套交付 · 8 分钟讲 + 5 分钟质询&lt;br /&gt;带着自己厂里的场景来，带着能立项的方案走。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p/>
        </p:txBody>
      </p:sp>
      <p:pic>
        <p:nvPicPr>
          <p:cNvPr id="801" name=""/>
          <p:cNvPicPr>
            <a:picLocks noChangeAspect="1"/>
          </p:cNvPicPr>
          <p:nvPr/>
        </p:nvPicPr>
        <p:blipFill>
          <a:blip r:embed="rId1">
            <a:alphaModFix amt="50000"/>
          </a:blip>
          <a:srcRect l="26242" t="0" r="26242" b="0"/>
          <a:stretch>
            <a:fillRect/>
          </a:stretch>
        </p:blipFill>
        <p:spPr>
          <a:xfrm rot="0" flipH="0" flipV="0">
            <a:off x="7429500" y="0"/>
            <a:ext cx="4762500" cy="6858000"/>
          </a:xfrm>
          <a:prstGeom prst="rect">
            <a:avLst/>
          </a:prstGeom>
          <a:ln/>
        </p:spPr>
      </p:pic>
      <p:sp>
        <p:nvSpPr>
          <p:cNvPr id="802" name=""/>
          <p:cNvSpPr/>
          <p:nvPr/>
        </p:nvSpPr>
        <p:spPr>
          <a:xfrm rot="0" flipH="0" flipV="0">
            <a:off x="7429500" y="0"/>
            <a:ext cx="4762500" cy="6858000"/>
          </a:xfrm>
          <a:prstGeom prst="rect">
            <a:avLst/>
          </a:prstGeom>
          <a:gradFill>
            <a:gsLst>
              <a:gs pos="0">
                <a:srgbClr val="1E3A8A">
                  <a:alpha val="100000"/>
                </a:srgbClr>
              </a:gs>
              <a:gs pos="100000">
                <a:srgbClr val="1E3A8A">
                  <a:alpha val="1500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803" name="" descr="{&quot;isTemplate&quot;:true,&quot;type&quot;:&quot;text&quot;}"/>
          <p:cNvSpPr txBox="1"/>
          <p:nvPr/>
        </p:nvSpPr>
        <p:spPr>
          <a:xfrm rot="0" flipH="0" flipV="0">
            <a:off x="800100" y="1114425"/>
            <a:ext cx="10591800" cy="1485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0" b="1">
                <a:solidFill>
                  <a:srgbClr val="06B6D4">
                    <a:alpha val="50000"/>
                  </a:srgbClr>
                </a:solidFill>
                <a:latin typeface="Space Grotesk"/>
                <a:ea typeface="Space Grotesk"/>
              </a:rPr>
              <a:t>08</a:t>
            </a:r>
            <a:endParaRPr/>
          </a:p>
        </p:txBody>
      </p:sp>
      <p:sp>
        <p:nvSpPr>
          <p:cNvPr id="804" name="" descr="{&quot;isTemplate&quot;:true,&quot;type&quot;:&quot;text&quot;}"/>
          <p:cNvSpPr txBox="1"/>
          <p:nvPr/>
        </p:nvSpPr>
        <p:spPr>
          <a:xfrm rot="0" flipH="0" flipV="0">
            <a:off x="800100" y="2657475"/>
            <a:ext cx="10591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spc="375">
                <a:solidFill>
                  <a:srgbClr val="7FD9F0"/>
                </a:solidFill>
                <a:latin typeface="PingFang SC"/>
                <a:ea typeface="PingFang SC"/>
              </a:rPr>
              <a:t>M8 · 3 </a:t>
            </a:r>
            <a:r>
              <a:rPr lang="zh-CN" sz="1350" spc="375">
                <a:solidFill>
                  <a:srgbClr val="7FD9F0"/>
                </a:solidFill>
                <a:latin typeface="PingFang SC"/>
                <a:ea typeface="PingFang SC"/>
              </a:rPr>
              <a:t>课时</a:t>
            </a:r>
            <a:endParaRPr/>
          </a:p>
        </p:txBody>
      </p:sp>
      <p:sp>
        <p:nvSpPr>
          <p:cNvPr id="805" name="" descr="{&quot;isTemplate&quot;:true,&quot;type&quot;:&quot;text&quot;}"/>
          <p:cNvSpPr txBox="1"/>
          <p:nvPr/>
        </p:nvSpPr>
        <p:spPr>
          <a:xfrm rot="0" flipH="0" flipV="0">
            <a:off x="800100" y="3057525"/>
            <a:ext cx="10591800" cy="1457325"/>
          </a:xfrm>
          <a:prstGeom prst="rect"/>
        </p:spPr>
        <p:txBody>
          <a:bodyPr wrap="none" lIns="0" tIns="0" rIns="0" bIns="0"/>
          <a:p>
            <a:pPr>
              <a:lnSpc>
                <a:spcPct val="118000"/>
              </a:lnSpc>
            </a:pPr>
            <a:r>
              <a:rPr lang="zh-CN" sz="4050" b="1">
                <a:solidFill>
                  <a:srgbClr val="FFFFFF"/>
                </a:solidFill>
                <a:latin typeface="PingFang SC"/>
                <a:ea typeface="PingFang SC"/>
              </a:rPr>
              <a:t>结业工作坊</a:t>
            </a:r>
            <a:endParaRPr/>
          </a:p>
          <a:p>
            <a:pPr>
              <a:lnSpc>
                <a:spcPct val="118000"/>
              </a:lnSpc>
            </a:pPr>
            <a:r>
              <a:rPr lang="zh-CN" sz="4050" b="1">
                <a:solidFill>
                  <a:srgbClr val="FFFFFF"/>
                </a:solidFill>
                <a:latin typeface="PingFang SC"/>
                <a:ea typeface="PingFang SC"/>
              </a:rPr>
              <a:t>把你的场景做完</a:t>
            </a:r>
            <a:endParaRPr/>
          </a:p>
        </p:txBody>
      </p:sp>
      <p:sp>
        <p:nvSpPr>
          <p:cNvPr id="806" name=""/>
          <p:cNvSpPr/>
          <p:nvPr/>
        </p:nvSpPr>
        <p:spPr>
          <a:xfrm rot="0" flipH="0" flipV="0">
            <a:off x="800100" y="4800600"/>
            <a:ext cx="800100" cy="381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807" name="" descr="{&quot;isTemplate&quot;:true,&quot;type&quot;:&quot;text&quot;}"/>
          <p:cNvSpPr txBox="1"/>
          <p:nvPr/>
        </p:nvSpPr>
        <p:spPr>
          <a:xfrm rot="0" flipH="0" flipV="0">
            <a:off x="800100" y="5048250"/>
            <a:ext cx="10591800" cy="695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A9C4E8"/>
                </a:solidFill>
                <a:latin typeface="PingFang SC"/>
                <a:ea typeface="PingFang SC"/>
              </a:rPr>
              <a:t>四选一项目</a:t>
            </a:r>
            <a:r>
              <a:rPr lang="en-US" sz="1425">
                <a:solidFill>
                  <a:srgbClr val="A9C4E8"/>
                </a:solidFill>
                <a:latin typeface="PingFang SC"/>
                <a:ea typeface="PingFang SC"/>
              </a:rPr>
              <a:t> · </a:t>
            </a:r>
            <a:r>
              <a:rPr lang="zh-CN" sz="1425">
                <a:solidFill>
                  <a:srgbClr val="A9C4E8"/>
                </a:solidFill>
                <a:latin typeface="PingFang SC"/>
                <a:ea typeface="PingFang SC"/>
              </a:rPr>
              <a:t>六件套交付</a:t>
            </a:r>
            <a:r>
              <a:rPr lang="en-US" sz="1425">
                <a:solidFill>
                  <a:srgbClr val="A9C4E8"/>
                </a:solidFill>
                <a:latin typeface="PingFang SC"/>
                <a:ea typeface="PingFang SC"/>
              </a:rPr>
              <a:t> · 8 </a:t>
            </a:r>
            <a:r>
              <a:rPr lang="zh-CN" sz="1425">
                <a:solidFill>
                  <a:srgbClr val="A9C4E8"/>
                </a:solidFill>
                <a:latin typeface="PingFang SC"/>
                <a:ea typeface="PingFang SC"/>
              </a:rPr>
              <a:t>分钟讲</a:t>
            </a:r>
            <a:r>
              <a:rPr lang="en-US" sz="1425">
                <a:solidFill>
                  <a:srgbClr val="A9C4E8"/>
                </a:solidFill>
                <a:latin typeface="PingFang SC"/>
                <a:ea typeface="PingFang SC"/>
              </a:rPr>
              <a:t> + 5 </a:t>
            </a:r>
            <a:r>
              <a:rPr lang="zh-CN" sz="1425">
                <a:solidFill>
                  <a:srgbClr val="A9C4E8"/>
                </a:solidFill>
                <a:latin typeface="PingFang SC"/>
                <a:ea typeface="PingFang SC"/>
              </a:rPr>
              <a:t>分钟质询</a:t>
            </a:r>
            <a:endParaRPr/>
          </a:p>
          <a:p>
            <a:pPr>
              <a:lnSpc>
                <a:spcPct val="160000"/>
              </a:lnSpc>
            </a:pPr>
            <a:r>
              <a:rPr lang="zh-CN" sz="1425">
                <a:solidFill>
                  <a:srgbClr val="A9C4E8"/>
                </a:solidFill>
                <a:latin typeface="PingFang SC"/>
                <a:ea typeface="PingFang SC"/>
              </a:rPr>
              <a:t>带着自己厂里的场景来，带着能立项的方案走。</a:t>
            </a:r>
            <a:endParaRPr/>
          </a:p>
        </p:txBody>
      </p:sp>
    </p:spTree>
  </p:cSld>
</p:sld>
</file>

<file path=ppt/slides/slide32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808" name="" descr="const picks = [&#10;    { icon: 'heartbeat', t: '预测维护看板', d: '选一台关键设备，做预警闭环' },&#10;    { icon: 'search', t: 'AI 质检试点', d: '选一道检工序，配四控制上线' },&#10;    { icon: 'boxes', t: '智能供应链', d: '算 EBQ / 看板，盯三个异常源' },&#10;    { icon: 'robot', t: '制造助手', d: '修一个受控的 SOP 问答助手' },&#10;];&#10;const kit = ['场景卡', '数据清单', '模型/工具', '试点方案', '效益测算', '风险清单'];&#10;&lt;Slide style={{ width: '1280px', height: '720px', background: '#F5F8FC', padding: '24px 72px', boxSizing: 'border-box', flexDirection: 'column', fontFamily: 'PingFang SC, Source Han Sans SC, sans-serif' }}&gt;&#10;    &lt;Box style={{ height: 96, flexDirection: 'row', alignItems: 'center', gap: 16 }}&gt;&#10;        &lt;Box style={{ width: 5, height: 46, background: '#06B6D4', borderRadius: 3 }} /&gt;&#10;        &lt;Box&gt;&#10;            &lt;Text style={{ fontSize: 34, fontWeight: 'bold', color: '#1E3A8A', lineHeight: 1.2 }}&gt;四选一 + 六件套 + 三把刀&lt;/Text&gt;&#10;            &lt;Text style={{ fontSize: 17, color: '#64748B', marginTop: 4 }}&gt;项目必须来自你自己的车间，不接受「别人的案例」&lt;/Text&gt;&#10;        &lt;/Box&gt;&#10;    &lt;/Box&gt;&#10;    &lt;Box style={{ flexDirection: 'row', gap: 16, marginTop: 14 }}&gt;&#10;        {picks.map((p, i) =&gt; (&#10;            &lt;Box key={i} style={{ flex: 1, background: '#FFFFFF', borderRadius: 14, padding: '18px 16px', border: '1px solid #E2E8F0', boxShadow: '0 3px 12px rgba(30,58,138,0.05)', flexDirection: 'row', alignItems: 'center', gap: 12 }}&gt;&#10;                &lt;Box style={{ width: 48, height: 48, borderRadius: 12, background: i === 0 ? '#FEEFE0' : '#E0F7FA', justifyContent: 'center', alignItems: 'center' }}&gt;&#10;                    &lt;FAIcon name={p.icon} style={{ fill: i === 0 ? '#F59E0B' : '#0891B2', width: 24, height: 24 }} /&gt;&#10;                &lt;/Box&gt;&#10;                &lt;Box&gt;&#10;                    &lt;Text style={{ fontSize: 17, fontWeight: 'bold', color: '#1E3A8A' }}&gt;{p.t}&lt;/Text&gt;&#10;                    &lt;Text style={{ fontSize: 13, color: '#64748B', marginTop: 3, lineHeight: 1.5 }}&gt;{p.d}&lt;/Text&gt;&#10;                &lt;/Box&gt;&#10;            &lt;/Box&gt;&#10;        ))}&#10;    &lt;/Box&gt;&#10;    &lt;Box style={{ flex: 1, flexDirection: 'row', gap: 24, marginTop: 18 }}&gt;&#10;        &lt;Box style={{ flex: 1, background: '#FFFFFF', borderRadius: 16, padding: '20px 24px', border: '1px solid #E2E8F0', flexDirection: 'column' }}&gt;&#10;            &lt;Text style={{ fontSize: 18, fontWeight: 'bold', color: '#1E3A8A', marginBottom: 12 }}&gt;六件套：交不出就不算做完&lt;/Text&gt;&#10;            &lt;Box style={{ flexDirection: 'column', gap: 10, flex: 1, justifyContent: 'space-between' }}&gt;&#10;                {kit.map((k, i) =&gt; (&#10;                    &lt;Box key={i} style={{ flexDirection: 'row', alignItems: 'center', gap: 12, padding: '10px 16px', background: '#F5F8FC', borderRadius: 10, border: '1px solid #E2E8F0' }}&gt;&#10;                        &lt;Text style={{ fontSize: 17, fontWeight: 'bold', color: '#0891B2', fontFamily: 'Space Grotesk, Inter' }}&gt;{'0' + (i + 1)}&lt;/Text&gt;&#10;                        &lt;Text style={{ fontSize: 17, fontWeight: 'bold', color: '#1E3A8A' }}&gt;{k}&lt;/Text&gt;&#10;                    &lt;/Box&gt;&#10;                ))}&#10;            &lt;/Box&gt;&#10;        &lt;/Box&gt;&#10;        &lt;Box style={{ flex: 1, background: '#1E3A8A', borderRadius: 16, padding: '22px 26px', flexDirection: 'column', boxShadow: '0 8px 28px rgba(30,58,138,0.25)' }}&gt;&#10;            &lt;Text style={{ fontSize: 18, fontWeight: 'bold', color: '#FFFFFF', marginBottom: 14 }}&gt;质询三把刀（评委专用）&lt;/Text&gt;&#10;            {['数据从哪来？', '错了谁担责？', '省的钱怎么验证？'].map((q, i) =&gt; (&#10;                &lt;Box key={i} style={{ flexDirection: 'row', alignItems: 'center', gap: 12, padding: '12px 18px', background: 'rgba(6,182,212,0.15)', borderRadius: 10, border: '1px solid rgba(6,182,212,0.45)', marginBottom: 10 }}&gt;&#10;                    &lt;FAIcon name=&quot;comment-dots&quot; style={{ fill: '#7FD9F0', width: 20, height: 20 }} /&gt;&#10;                    &lt;Text style={{ fontSize: 19, fontWeight: 'bold', color: '#FFFFFF' }}&gt;{q}&lt;/Text&gt;&#10;                &lt;/Box&gt;&#10;            ))}&#10;            &lt;Text style={{ fontSize: 15, color: '#A9C4E8', marginTop: 'auto', lineHeight: 1.7 }}&gt;每组 8 分钟讲 + 5 分钟质询 —— 三把刀都答得上，项目才算立得住。&lt;/Text&gt;&#10;        &lt;/Box&gt;&#10;    &lt;/Box&gt;&#10;    &lt;Box style={{ height: 40, flexDirection: 'row', justifyContent: 'space-between', alignItems: 'center', marginTop: 10 }}&gt;&#10;        &lt;Text style={{ fontSize: 14, color: '#64748B' }}&gt;AI 场景落地 · 中级&lt;/Text&gt;&#10;        &lt;Text style={{ fontSize: 14, color: '#64748B' }}&gt;32 / 34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/>
        </p:spPr>
        <p:txBody>
          <a:bodyPr/>
          <a:p/>
        </p:txBody>
      </p:sp>
      <p:sp>
        <p:nvSpPr>
          <p:cNvPr id="810" name=""/>
          <p:cNvSpPr/>
          <p:nvPr/>
        </p:nvSpPr>
        <p:spPr>
          <a:xfrm rot="0" flipH="0" flipV="0">
            <a:off x="685800" y="466725"/>
            <a:ext cx="47625" cy="438150"/>
          </a:xfrm>
          <a:prstGeom prst="roundRect">
            <a:avLst>
              <a:gd name="adj" fmla="val 60000"/>
            </a:avLst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811" name="" descr="{&quot;isTemplate&quot;:true,&quot;type&quot;:&quot;text&quot;}"/>
          <p:cNvSpPr txBox="1"/>
          <p:nvPr/>
        </p:nvSpPr>
        <p:spPr>
          <a:xfrm rot="0" flipH="0" flipV="0">
            <a:off x="885825" y="333375"/>
            <a:ext cx="3743325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>四选一</a:t>
            </a:r>
            <a:r>
              <a:rPr lang="en-US" sz="2550" b="1">
                <a:solidFill>
                  <a:srgbClr val="1E3A8A"/>
                </a:solidFill>
                <a:latin typeface="PingFang SC"/>
                <a:ea typeface="PingFang SC"/>
              </a:rPr>
              <a:t> + </a:t>
            </a: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>六件套</a:t>
            </a:r>
            <a:r>
              <a:rPr lang="en-US" sz="2550" b="1">
                <a:solidFill>
                  <a:srgbClr val="1E3A8A"/>
                </a:solidFill>
                <a:latin typeface="PingFang SC"/>
                <a:ea typeface="PingFang SC"/>
              </a:rPr>
              <a:t> + </a:t>
            </a: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>三把刀</a:t>
            </a:r>
            <a:endParaRPr/>
          </a:p>
        </p:txBody>
      </p:sp>
      <p:sp>
        <p:nvSpPr>
          <p:cNvPr id="812" name="" descr="{&quot;isTemplate&quot;:true,&quot;type&quot;:&quot;text&quot;}"/>
          <p:cNvSpPr txBox="1"/>
          <p:nvPr/>
        </p:nvSpPr>
        <p:spPr>
          <a:xfrm rot="0" flipH="0" flipV="0">
            <a:off x="885825" y="838200"/>
            <a:ext cx="37433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项目必须来自你自己的现场，不接受「别人的案例」</a:t>
            </a:r>
            <a:endParaRPr/>
          </a:p>
        </p:txBody>
      </p:sp>
      <p:sp>
        <p:nvSpPr>
          <p:cNvPr id="813" name=""/>
          <p:cNvSpPr/>
          <p:nvPr/>
        </p:nvSpPr>
        <p:spPr>
          <a:xfrm rot="0" flipH="0" flipV="0">
            <a:off x="685800" y="1276350"/>
            <a:ext cx="2590800" cy="8001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28575" dir="5400000">
              <a:srgbClr val="1E3A8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814" name=""/>
          <p:cNvSpPr/>
          <p:nvPr/>
        </p:nvSpPr>
        <p:spPr>
          <a:xfrm rot="0" flipH="0" flipV="0">
            <a:off x="838200" y="144780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FEEFE0"/>
          </a:solidFill>
          <a:ln/>
        </p:spPr>
        <p:txBody>
          <a:bodyPr/>
          <a:p/>
        </p:txBody>
      </p:sp>
      <p:pic>
        <p:nvPicPr>
          <p:cNvPr id="81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52500" y="1562100"/>
            <a:ext cx="228600" cy="228600"/>
          </a:xfrm>
          <a:prstGeom prst="rect">
            <a:avLst/>
          </a:prstGeom>
          <a:ln/>
        </p:spPr>
      </p:pic>
      <p:sp>
        <p:nvSpPr>
          <p:cNvPr id="816" name="" descr="{&quot;isTemplate&quot;:true,&quot;type&quot;:&quot;text&quot;}"/>
          <p:cNvSpPr txBox="1"/>
          <p:nvPr/>
        </p:nvSpPr>
        <p:spPr>
          <a:xfrm rot="0" flipH="0" flipV="0">
            <a:off x="1409700" y="1447800"/>
            <a:ext cx="16097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3A8A"/>
                </a:solidFill>
                <a:latin typeface="PingFang SC"/>
                <a:ea typeface="PingFang SC"/>
              </a:rPr>
              <a:t>预测预警看板</a:t>
            </a:r>
            <a:endParaRPr/>
          </a:p>
        </p:txBody>
      </p:sp>
      <p:sp>
        <p:nvSpPr>
          <p:cNvPr id="817" name="" descr="{&quot;isTemplate&quot;:true,&quot;type&quot;:&quot;text&quot;}"/>
          <p:cNvSpPr txBox="1"/>
          <p:nvPr/>
        </p:nvSpPr>
        <p:spPr>
          <a:xfrm rot="0" flipH="0" flipV="0">
            <a:off x="1409700" y="1676400"/>
            <a:ext cx="1609725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64748B"/>
                </a:solidFill>
                <a:latin typeface="PingFang SC"/>
                <a:ea typeface="PingFang SC"/>
              </a:rPr>
              <a:t>选一台关键系统，做预警闭环</a:t>
            </a:r>
            <a:endParaRPr/>
          </a:p>
        </p:txBody>
      </p:sp>
      <p:sp>
        <p:nvSpPr>
          <p:cNvPr id="818" name=""/>
          <p:cNvSpPr/>
          <p:nvPr/>
        </p:nvSpPr>
        <p:spPr>
          <a:xfrm rot="0" flipH="0" flipV="0">
            <a:off x="3429000" y="1276350"/>
            <a:ext cx="2590800" cy="8001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28575" dir="5400000">
              <a:srgbClr val="1E3A8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819" name=""/>
          <p:cNvSpPr/>
          <p:nvPr/>
        </p:nvSpPr>
        <p:spPr>
          <a:xfrm rot="0" flipH="0" flipV="0">
            <a:off x="3581400" y="144780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E0F7FA"/>
          </a:solidFill>
          <a:ln/>
        </p:spPr>
        <p:txBody>
          <a:bodyPr/>
          <a:p/>
        </p:txBody>
      </p:sp>
      <p:pic>
        <p:nvPicPr>
          <p:cNvPr id="82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3695700" y="1562100"/>
            <a:ext cx="228600" cy="228600"/>
          </a:xfrm>
          <a:prstGeom prst="rect">
            <a:avLst/>
          </a:prstGeom>
          <a:ln/>
        </p:spPr>
      </p:pic>
      <p:sp>
        <p:nvSpPr>
          <p:cNvPr id="821" name="" descr="{&quot;isTemplate&quot;:true,&quot;type&quot;:&quot;text&quot;}"/>
          <p:cNvSpPr txBox="1"/>
          <p:nvPr/>
        </p:nvSpPr>
        <p:spPr>
          <a:xfrm rot="0" flipH="0" flipV="0">
            <a:off x="4152900" y="1447800"/>
            <a:ext cx="16097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E3A8A"/>
                </a:solidFill>
                <a:latin typeface="PingFang SC"/>
                <a:ea typeface="PingFang SC"/>
              </a:rPr>
              <a:t>AI 审核试点</a:t>
            </a:r>
            <a:r>
              <a:rPr lang="zh-CN" sz="1275" b="1">
                <a:solidFill>
                  <a:srgbClr val="1E3A8A"/>
                </a:solidFill>
                <a:latin typeface="PingFang SC"/>
                <a:ea typeface="PingFang SC"/>
              </a:rPr>
              <a:t/>
            </a:r>
            <a:endParaRPr/>
          </a:p>
        </p:txBody>
      </p:sp>
      <p:sp>
        <p:nvSpPr>
          <p:cNvPr id="822" name="" descr="{&quot;isTemplate&quot;:true,&quot;type&quot;:&quot;text&quot;}"/>
          <p:cNvSpPr txBox="1"/>
          <p:nvPr/>
        </p:nvSpPr>
        <p:spPr>
          <a:xfrm rot="0" flipH="0" flipV="0">
            <a:off x="4152900" y="1676400"/>
            <a:ext cx="1609725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64748B"/>
                </a:solidFill>
                <a:latin typeface="PingFang SC"/>
                <a:ea typeface="PingFang SC"/>
              </a:rPr>
              <a:t>选一道检工序，配四控制上线</a:t>
            </a:r>
            <a:endParaRPr/>
          </a:p>
        </p:txBody>
      </p:sp>
      <p:sp>
        <p:nvSpPr>
          <p:cNvPr id="823" name=""/>
          <p:cNvSpPr/>
          <p:nvPr/>
        </p:nvSpPr>
        <p:spPr>
          <a:xfrm rot="0" flipH="0" flipV="0">
            <a:off x="6172200" y="1276350"/>
            <a:ext cx="2590800" cy="8001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28575" dir="5400000">
              <a:srgbClr val="1E3A8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824" name=""/>
          <p:cNvSpPr/>
          <p:nvPr/>
        </p:nvSpPr>
        <p:spPr>
          <a:xfrm rot="0" flipH="0" flipV="0">
            <a:off x="6324600" y="144780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E0F7FA"/>
          </a:solidFill>
          <a:ln/>
        </p:spPr>
        <p:txBody>
          <a:bodyPr/>
          <a:p/>
        </p:txBody>
      </p:sp>
      <p:pic>
        <p:nvPicPr>
          <p:cNvPr id="82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6438900" y="1562100"/>
            <a:ext cx="228600" cy="228600"/>
          </a:xfrm>
          <a:prstGeom prst="rect">
            <a:avLst/>
          </a:prstGeom>
          <a:ln/>
        </p:spPr>
      </p:pic>
      <p:sp>
        <p:nvSpPr>
          <p:cNvPr id="826" name="" descr="{&quot;isTemplate&quot;:true,&quot;type&quot;:&quot;text&quot;}"/>
          <p:cNvSpPr txBox="1"/>
          <p:nvPr/>
        </p:nvSpPr>
        <p:spPr>
          <a:xfrm rot="0" flipH="0" flipV="0">
            <a:off x="6896100" y="1447800"/>
            <a:ext cx="16859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3A8A"/>
                </a:solidFill>
                <a:latin typeface="PingFang SC"/>
                <a:ea typeface="PingFang SC"/>
              </a:rPr>
              <a:t>流程资源优化</a:t>
            </a:r>
            <a:endParaRPr/>
          </a:p>
        </p:txBody>
      </p:sp>
      <p:sp>
        <p:nvSpPr>
          <p:cNvPr id="827" name="" descr="{&quot;isTemplate&quot;:true,&quot;type&quot;:&quot;text&quot;}"/>
          <p:cNvSpPr txBox="1"/>
          <p:nvPr/>
        </p:nvSpPr>
        <p:spPr>
          <a:xfrm rot="0" flipH="0" flipV="0">
            <a:off x="6896100" y="1676400"/>
            <a:ext cx="1685925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64748B"/>
                </a:solidFill>
                <a:latin typeface="PingFang SC"/>
                <a:ea typeface="PingFang SC"/>
              </a:rPr>
              <a:t>算</a:t>
            </a:r>
            <a:r>
              <a:rPr lang="en-US" sz="975">
                <a:solidFill>
                  <a:srgbClr val="64748B"/>
                </a:solidFill>
                <a:latin typeface="PingFang SC"/>
                <a:ea typeface="PingFang SC"/>
              </a:rPr>
              <a:t> EBQ / </a:t>
            </a:r>
            <a:r>
              <a:rPr lang="zh-CN" sz="975">
                <a:solidFill>
                  <a:srgbClr val="64748B"/>
                </a:solidFill>
                <a:latin typeface="PingFang SC"/>
                <a:ea typeface="PingFang SC"/>
              </a:rPr>
              <a:t>看板，盯三个异常源</a:t>
            </a:r>
            <a:endParaRPr/>
          </a:p>
        </p:txBody>
      </p:sp>
      <p:sp>
        <p:nvSpPr>
          <p:cNvPr id="828" name=""/>
          <p:cNvSpPr/>
          <p:nvPr/>
        </p:nvSpPr>
        <p:spPr>
          <a:xfrm rot="0" flipH="0" flipV="0">
            <a:off x="8915400" y="1276350"/>
            <a:ext cx="2590800" cy="8001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28575" dir="5400000">
              <a:srgbClr val="1E3A8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829" name=""/>
          <p:cNvSpPr/>
          <p:nvPr/>
        </p:nvSpPr>
        <p:spPr>
          <a:xfrm rot="0" flipH="0" flipV="0">
            <a:off x="9067800" y="144780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E0F7FA"/>
          </a:solidFill>
          <a:ln/>
        </p:spPr>
        <p:txBody>
          <a:bodyPr/>
          <a:p/>
        </p:txBody>
      </p:sp>
      <p:pic>
        <p:nvPicPr>
          <p:cNvPr id="83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9182100" y="1562100"/>
            <a:ext cx="228600" cy="228600"/>
          </a:xfrm>
          <a:prstGeom prst="rect">
            <a:avLst/>
          </a:prstGeom>
          <a:ln/>
        </p:spPr>
      </p:pic>
      <p:sp>
        <p:nvSpPr>
          <p:cNvPr id="831" name="" descr="{&quot;isTemplate&quot;:true,&quot;type&quot;:&quot;text&quot;}"/>
          <p:cNvSpPr txBox="1"/>
          <p:nvPr/>
        </p:nvSpPr>
        <p:spPr>
          <a:xfrm rot="0" flipH="0" flipV="0">
            <a:off x="9639300" y="1447800"/>
            <a:ext cx="15811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3A8A"/>
                </a:solidFill>
                <a:latin typeface="PingFang SC"/>
                <a:ea typeface="PingFang SC"/>
              </a:rPr>
              <a:t>制造助手</a:t>
            </a:r>
            <a:endParaRPr/>
          </a:p>
        </p:txBody>
      </p:sp>
      <p:sp>
        <p:nvSpPr>
          <p:cNvPr id="832" name="" descr="{&quot;isTemplate&quot;:true,&quot;type&quot;:&quot;text&quot;}"/>
          <p:cNvSpPr txBox="1"/>
          <p:nvPr/>
        </p:nvSpPr>
        <p:spPr>
          <a:xfrm rot="0" flipH="0" flipV="0">
            <a:off x="9639300" y="1676400"/>
            <a:ext cx="158115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64748B"/>
                </a:solidFill>
                <a:latin typeface="PingFang SC"/>
                <a:ea typeface="PingFang SC"/>
              </a:rPr>
              <a:t>修一个受控的</a:t>
            </a:r>
            <a:r>
              <a:rPr lang="en-US" sz="975">
                <a:solidFill>
                  <a:srgbClr val="64748B"/>
                </a:solidFill>
                <a:latin typeface="PingFang SC"/>
                <a:ea typeface="PingFang SC"/>
              </a:rPr>
              <a:t> SOP </a:t>
            </a:r>
            <a:r>
              <a:rPr lang="zh-CN" sz="975">
                <a:solidFill>
                  <a:srgbClr val="64748B"/>
                </a:solidFill>
                <a:latin typeface="PingFang SC"/>
                <a:ea typeface="PingFang SC"/>
              </a:rPr>
              <a:t>问答助手</a:t>
            </a:r>
            <a:endParaRPr/>
          </a:p>
        </p:txBody>
      </p:sp>
      <p:sp>
        <p:nvSpPr>
          <p:cNvPr id="833" name=""/>
          <p:cNvSpPr/>
          <p:nvPr/>
        </p:nvSpPr>
        <p:spPr>
          <a:xfrm rot="0" flipH="0" flipV="0">
            <a:off x="685800" y="2247900"/>
            <a:ext cx="5295900" cy="390525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34" name="" descr="{&quot;isTemplate&quot;:true,&quot;type&quot;:&quot;text&quot;}"/>
          <p:cNvSpPr txBox="1"/>
          <p:nvPr/>
        </p:nvSpPr>
        <p:spPr>
          <a:xfrm rot="0" flipH="0" flipV="0">
            <a:off x="914400" y="2438400"/>
            <a:ext cx="4838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3A8A"/>
                </a:solidFill>
                <a:latin typeface="PingFang SC"/>
                <a:ea typeface="PingFang SC"/>
              </a:rPr>
              <a:t>六件套：交不出就不算做完</a:t>
            </a:r>
            <a:endParaRPr/>
          </a:p>
        </p:txBody>
      </p:sp>
      <p:sp>
        <p:nvSpPr>
          <p:cNvPr id="835" name=""/>
          <p:cNvSpPr/>
          <p:nvPr/>
        </p:nvSpPr>
        <p:spPr>
          <a:xfrm rot="0" flipH="0" flipV="0">
            <a:off x="914400" y="2762250"/>
            <a:ext cx="4838700" cy="390525"/>
          </a:xfrm>
          <a:prstGeom prst="roundRect">
            <a:avLst>
              <a:gd name="adj" fmla="val 24390"/>
            </a:avLst>
          </a:prstGeom>
          <a:solidFill>
            <a:srgbClr val="F5F8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36" name="" descr="{&quot;isTemplate&quot;:true,&quot;type&quot;:&quot;text&quot;}"/>
          <p:cNvSpPr txBox="1"/>
          <p:nvPr/>
        </p:nvSpPr>
        <p:spPr>
          <a:xfrm rot="0" flipH="0" flipV="0">
            <a:off x="1066800" y="2857500"/>
            <a:ext cx="1809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891B2"/>
                </a:solidFill>
                <a:latin typeface="Space Grotesk"/>
                <a:ea typeface="Space Grotesk"/>
              </a:rPr>
              <a:t>01</a:t>
            </a:r>
            <a:endParaRPr/>
          </a:p>
        </p:txBody>
      </p:sp>
      <p:sp>
        <p:nvSpPr>
          <p:cNvPr id="837" name="" descr="{&quot;isTemplate&quot;:true,&quot;type&quot;:&quot;text&quot;}"/>
          <p:cNvSpPr txBox="1"/>
          <p:nvPr/>
        </p:nvSpPr>
        <p:spPr>
          <a:xfrm rot="0" flipH="0" flipV="0">
            <a:off x="1362075" y="2857500"/>
            <a:ext cx="485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3A8A"/>
                </a:solidFill>
                <a:latin typeface="PingFang SC"/>
                <a:ea typeface="PingFang SC"/>
              </a:rPr>
              <a:t>场景卡</a:t>
            </a:r>
            <a:endParaRPr/>
          </a:p>
        </p:txBody>
      </p:sp>
      <p:sp>
        <p:nvSpPr>
          <p:cNvPr id="838" name=""/>
          <p:cNvSpPr/>
          <p:nvPr/>
        </p:nvSpPr>
        <p:spPr>
          <a:xfrm rot="0" flipH="0" flipV="0">
            <a:off x="914400" y="3324225"/>
            <a:ext cx="4838700" cy="390525"/>
          </a:xfrm>
          <a:prstGeom prst="roundRect">
            <a:avLst>
              <a:gd name="adj" fmla="val 24390"/>
            </a:avLst>
          </a:prstGeom>
          <a:solidFill>
            <a:srgbClr val="F5F8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39" name="" descr="{&quot;isTemplate&quot;:true,&quot;type&quot;:&quot;text&quot;}"/>
          <p:cNvSpPr txBox="1"/>
          <p:nvPr/>
        </p:nvSpPr>
        <p:spPr>
          <a:xfrm rot="0" flipH="0" flipV="0">
            <a:off x="1066800" y="3419475"/>
            <a:ext cx="1809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891B2"/>
                </a:solidFill>
                <a:latin typeface="Space Grotesk"/>
                <a:ea typeface="Space Grotesk"/>
              </a:rPr>
              <a:t>02</a:t>
            </a:r>
            <a:endParaRPr/>
          </a:p>
        </p:txBody>
      </p:sp>
      <p:sp>
        <p:nvSpPr>
          <p:cNvPr id="840" name="" descr="{&quot;isTemplate&quot;:true,&quot;type&quot;:&quot;text&quot;}"/>
          <p:cNvSpPr txBox="1"/>
          <p:nvPr/>
        </p:nvSpPr>
        <p:spPr>
          <a:xfrm rot="0" flipH="0" flipV="0">
            <a:off x="1362075" y="3419475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3A8A"/>
                </a:solidFill>
                <a:latin typeface="PingFang SC"/>
                <a:ea typeface="PingFang SC"/>
              </a:rPr>
              <a:t>数据清单</a:t>
            </a:r>
            <a:endParaRPr/>
          </a:p>
        </p:txBody>
      </p:sp>
      <p:sp>
        <p:nvSpPr>
          <p:cNvPr id="841" name=""/>
          <p:cNvSpPr/>
          <p:nvPr/>
        </p:nvSpPr>
        <p:spPr>
          <a:xfrm rot="0" flipH="0" flipV="0">
            <a:off x="914400" y="3886200"/>
            <a:ext cx="4838700" cy="390525"/>
          </a:xfrm>
          <a:prstGeom prst="roundRect">
            <a:avLst>
              <a:gd name="adj" fmla="val 24390"/>
            </a:avLst>
          </a:prstGeom>
          <a:solidFill>
            <a:srgbClr val="F5F8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42" name="" descr="{&quot;isTemplate&quot;:true,&quot;type&quot;:&quot;text&quot;}"/>
          <p:cNvSpPr txBox="1"/>
          <p:nvPr/>
        </p:nvSpPr>
        <p:spPr>
          <a:xfrm rot="0" flipH="0" flipV="0">
            <a:off x="1066800" y="3981450"/>
            <a:ext cx="1809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891B2"/>
                </a:solidFill>
                <a:latin typeface="Space Grotesk"/>
                <a:ea typeface="Space Grotesk"/>
              </a:rPr>
              <a:t>03</a:t>
            </a:r>
            <a:endParaRPr/>
          </a:p>
        </p:txBody>
      </p:sp>
      <p:sp>
        <p:nvSpPr>
          <p:cNvPr id="843" name="" descr="{&quot;isTemplate&quot;:true,&quot;type&quot;:&quot;text&quot;}"/>
          <p:cNvSpPr txBox="1"/>
          <p:nvPr/>
        </p:nvSpPr>
        <p:spPr>
          <a:xfrm rot="0" flipH="0" flipV="0">
            <a:off x="1362075" y="3981450"/>
            <a:ext cx="7334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3A8A"/>
                </a:solidFill>
                <a:latin typeface="PingFang SC"/>
                <a:ea typeface="PingFang SC"/>
              </a:rPr>
              <a:t>模型</a:t>
            </a:r>
            <a:r>
              <a:rPr lang="en-US" sz="1275" b="1">
                <a:solidFill>
                  <a:srgbClr val="1E3A8A"/>
                </a:solidFill>
                <a:latin typeface="PingFang SC"/>
                <a:ea typeface="PingFang SC"/>
              </a:rPr>
              <a:t>/</a:t>
            </a:r>
            <a:r>
              <a:rPr lang="zh-CN" sz="1275" b="1">
                <a:solidFill>
                  <a:srgbClr val="1E3A8A"/>
                </a:solidFill>
                <a:latin typeface="PingFang SC"/>
                <a:ea typeface="PingFang SC"/>
              </a:rPr>
              <a:t>工具</a:t>
            </a:r>
            <a:endParaRPr/>
          </a:p>
        </p:txBody>
      </p:sp>
      <p:sp>
        <p:nvSpPr>
          <p:cNvPr id="844" name=""/>
          <p:cNvSpPr/>
          <p:nvPr/>
        </p:nvSpPr>
        <p:spPr>
          <a:xfrm rot="0" flipH="0" flipV="0">
            <a:off x="914400" y="4448175"/>
            <a:ext cx="4838700" cy="390525"/>
          </a:xfrm>
          <a:prstGeom prst="roundRect">
            <a:avLst>
              <a:gd name="adj" fmla="val 24390"/>
            </a:avLst>
          </a:prstGeom>
          <a:solidFill>
            <a:srgbClr val="F5F8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45" name="" descr="{&quot;isTemplate&quot;:true,&quot;type&quot;:&quot;text&quot;}"/>
          <p:cNvSpPr txBox="1"/>
          <p:nvPr/>
        </p:nvSpPr>
        <p:spPr>
          <a:xfrm rot="0" flipH="0" flipV="0">
            <a:off x="1066800" y="4543425"/>
            <a:ext cx="1809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891B2"/>
                </a:solidFill>
                <a:latin typeface="Space Grotesk"/>
                <a:ea typeface="Space Grotesk"/>
              </a:rPr>
              <a:t>04</a:t>
            </a:r>
            <a:endParaRPr/>
          </a:p>
        </p:txBody>
      </p:sp>
      <p:sp>
        <p:nvSpPr>
          <p:cNvPr id="846" name="" descr="{&quot;isTemplate&quot;:true,&quot;type&quot;:&quot;text&quot;}"/>
          <p:cNvSpPr txBox="1"/>
          <p:nvPr/>
        </p:nvSpPr>
        <p:spPr>
          <a:xfrm rot="0" flipH="0" flipV="0">
            <a:off x="1362075" y="4543425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3A8A"/>
                </a:solidFill>
                <a:latin typeface="PingFang SC"/>
                <a:ea typeface="PingFang SC"/>
              </a:rPr>
              <a:t>试点方案</a:t>
            </a:r>
            <a:endParaRPr/>
          </a:p>
        </p:txBody>
      </p:sp>
      <p:sp>
        <p:nvSpPr>
          <p:cNvPr id="847" name=""/>
          <p:cNvSpPr/>
          <p:nvPr/>
        </p:nvSpPr>
        <p:spPr>
          <a:xfrm rot="0" flipH="0" flipV="0">
            <a:off x="914400" y="5010150"/>
            <a:ext cx="4838700" cy="390525"/>
          </a:xfrm>
          <a:prstGeom prst="roundRect">
            <a:avLst>
              <a:gd name="adj" fmla="val 24390"/>
            </a:avLst>
          </a:prstGeom>
          <a:solidFill>
            <a:srgbClr val="F5F8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48" name="" descr="{&quot;isTemplate&quot;:true,&quot;type&quot;:&quot;text&quot;}"/>
          <p:cNvSpPr txBox="1"/>
          <p:nvPr/>
        </p:nvSpPr>
        <p:spPr>
          <a:xfrm rot="0" flipH="0" flipV="0">
            <a:off x="1066800" y="5105400"/>
            <a:ext cx="1809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891B2"/>
                </a:solidFill>
                <a:latin typeface="Space Grotesk"/>
                <a:ea typeface="Space Grotesk"/>
              </a:rPr>
              <a:t>05</a:t>
            </a:r>
            <a:endParaRPr/>
          </a:p>
        </p:txBody>
      </p:sp>
      <p:sp>
        <p:nvSpPr>
          <p:cNvPr id="849" name="" descr="{&quot;isTemplate&quot;:true,&quot;type&quot;:&quot;text&quot;}"/>
          <p:cNvSpPr txBox="1"/>
          <p:nvPr/>
        </p:nvSpPr>
        <p:spPr>
          <a:xfrm rot="0" flipH="0" flipV="0">
            <a:off x="1362075" y="5105400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3A8A"/>
                </a:solidFill>
                <a:latin typeface="PingFang SC"/>
                <a:ea typeface="PingFang SC"/>
              </a:rPr>
              <a:t>效益测算</a:t>
            </a:r>
            <a:endParaRPr/>
          </a:p>
        </p:txBody>
      </p:sp>
      <p:sp>
        <p:nvSpPr>
          <p:cNvPr id="850" name=""/>
          <p:cNvSpPr/>
          <p:nvPr/>
        </p:nvSpPr>
        <p:spPr>
          <a:xfrm rot="0" flipH="0" flipV="0">
            <a:off x="914400" y="5572125"/>
            <a:ext cx="4838700" cy="390525"/>
          </a:xfrm>
          <a:prstGeom prst="roundRect">
            <a:avLst>
              <a:gd name="adj" fmla="val 24390"/>
            </a:avLst>
          </a:prstGeom>
          <a:solidFill>
            <a:srgbClr val="F5F8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51" name="" descr="{&quot;isTemplate&quot;:true,&quot;type&quot;:&quot;text&quot;}"/>
          <p:cNvSpPr txBox="1"/>
          <p:nvPr/>
        </p:nvSpPr>
        <p:spPr>
          <a:xfrm rot="0" flipH="0" flipV="0">
            <a:off x="1066800" y="5667375"/>
            <a:ext cx="1809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891B2"/>
                </a:solidFill>
                <a:latin typeface="Space Grotesk"/>
                <a:ea typeface="Space Grotesk"/>
              </a:rPr>
              <a:t>06</a:t>
            </a:r>
            <a:endParaRPr/>
          </a:p>
        </p:txBody>
      </p:sp>
      <p:sp>
        <p:nvSpPr>
          <p:cNvPr id="852" name="" descr="{&quot;isTemplate&quot;:true,&quot;type&quot;:&quot;text&quot;}"/>
          <p:cNvSpPr txBox="1"/>
          <p:nvPr/>
        </p:nvSpPr>
        <p:spPr>
          <a:xfrm rot="0" flipH="0" flipV="0">
            <a:off x="1362075" y="5667375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3A8A"/>
                </a:solidFill>
                <a:latin typeface="PingFang SC"/>
                <a:ea typeface="PingFang SC"/>
              </a:rPr>
              <a:t>风险清单</a:t>
            </a:r>
            <a:endParaRPr/>
          </a:p>
        </p:txBody>
      </p:sp>
      <p:sp>
        <p:nvSpPr>
          <p:cNvPr id="853" name=""/>
          <p:cNvSpPr/>
          <p:nvPr/>
        </p:nvSpPr>
        <p:spPr>
          <a:xfrm rot="0" flipH="0" flipV="0">
            <a:off x="6210300" y="2247900"/>
            <a:ext cx="5295900" cy="3905250"/>
          </a:xfrm>
          <a:prstGeom prst="roundRect">
            <a:avLst>
              <a:gd name="adj" fmla="val 3902"/>
            </a:avLst>
          </a:prstGeom>
          <a:solidFill>
            <a:srgbClr val="1E3A8A"/>
          </a:solidFill>
          <a:ln/>
          <a:effectLst>
            <a:outerShdw blurRad="266700" dist="76200" dir="5400000">
              <a:srgbClr val="1E3A8A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54" name="" descr="{&quot;isTemplate&quot;:true,&quot;type&quot;:&quot;text&quot;}"/>
          <p:cNvSpPr txBox="1"/>
          <p:nvPr/>
        </p:nvSpPr>
        <p:spPr>
          <a:xfrm rot="0" flipH="0" flipV="0">
            <a:off x="6457950" y="2457450"/>
            <a:ext cx="4800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PingFang SC"/>
                <a:ea typeface="PingFang SC"/>
              </a:rPr>
              <a:t>质询三把刀（评委专用）</a:t>
            </a:r>
            <a:endParaRPr/>
          </a:p>
        </p:txBody>
      </p:sp>
      <p:sp>
        <p:nvSpPr>
          <p:cNvPr id="855" name=""/>
          <p:cNvSpPr/>
          <p:nvPr/>
        </p:nvSpPr>
        <p:spPr>
          <a:xfrm rot="0" flipH="0" flipV="0">
            <a:off x="6457950" y="2800350"/>
            <a:ext cx="4800600" cy="447675"/>
          </a:xfrm>
          <a:prstGeom prst="roundRect">
            <a:avLst>
              <a:gd name="adj" fmla="val 21277"/>
            </a:avLst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45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85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6629400" y="2933700"/>
            <a:ext cx="190500" cy="190500"/>
          </a:xfrm>
          <a:prstGeom prst="rect">
            <a:avLst/>
          </a:prstGeom>
          <a:ln/>
        </p:spPr>
      </p:pic>
      <p:sp>
        <p:nvSpPr>
          <p:cNvPr id="857" name="" descr="{&quot;isTemplate&quot;:true,&quot;type&quot;:&quot;text&quot;}"/>
          <p:cNvSpPr txBox="1"/>
          <p:nvPr/>
        </p:nvSpPr>
        <p:spPr>
          <a:xfrm rot="0" flipH="0" flipV="0">
            <a:off x="6934200" y="2914650"/>
            <a:ext cx="10858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PingFang SC"/>
                <a:ea typeface="PingFang SC"/>
              </a:rPr>
              <a:t>数据从哪来？</a:t>
            </a:r>
            <a:endParaRPr/>
          </a:p>
        </p:txBody>
      </p:sp>
      <p:sp>
        <p:nvSpPr>
          <p:cNvPr id="858" name=""/>
          <p:cNvSpPr/>
          <p:nvPr/>
        </p:nvSpPr>
        <p:spPr>
          <a:xfrm rot="0" flipH="0" flipV="0">
            <a:off x="6457950" y="3343275"/>
            <a:ext cx="4800600" cy="447675"/>
          </a:xfrm>
          <a:prstGeom prst="roundRect">
            <a:avLst>
              <a:gd name="adj" fmla="val 21277"/>
            </a:avLst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45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85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6629400" y="3476625"/>
            <a:ext cx="190500" cy="190500"/>
          </a:xfrm>
          <a:prstGeom prst="rect">
            <a:avLst/>
          </a:prstGeom>
          <a:ln/>
        </p:spPr>
      </p:pic>
      <p:sp>
        <p:nvSpPr>
          <p:cNvPr id="860" name="" descr="{&quot;isTemplate&quot;:true,&quot;type&quot;:&quot;text&quot;}"/>
          <p:cNvSpPr txBox="1"/>
          <p:nvPr/>
        </p:nvSpPr>
        <p:spPr>
          <a:xfrm rot="0" flipH="0" flipV="0">
            <a:off x="6934200" y="3457575"/>
            <a:ext cx="10858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PingFang SC"/>
                <a:ea typeface="PingFang SC"/>
              </a:rPr>
              <a:t>错了谁担责？</a:t>
            </a:r>
            <a:endParaRPr/>
          </a:p>
        </p:txBody>
      </p:sp>
      <p:sp>
        <p:nvSpPr>
          <p:cNvPr id="861" name=""/>
          <p:cNvSpPr/>
          <p:nvPr/>
        </p:nvSpPr>
        <p:spPr>
          <a:xfrm rot="0" flipH="0" flipV="0">
            <a:off x="6457950" y="3886200"/>
            <a:ext cx="4800600" cy="447675"/>
          </a:xfrm>
          <a:prstGeom prst="roundRect">
            <a:avLst>
              <a:gd name="adj" fmla="val 21277"/>
            </a:avLst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45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86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6629400" y="4019550"/>
            <a:ext cx="190500" cy="190500"/>
          </a:xfrm>
          <a:prstGeom prst="rect">
            <a:avLst/>
          </a:prstGeom>
          <a:ln/>
        </p:spPr>
      </p:pic>
      <p:sp>
        <p:nvSpPr>
          <p:cNvPr id="863" name="" descr="{&quot;isTemplate&quot;:true,&quot;type&quot;:&quot;text&quot;}"/>
          <p:cNvSpPr txBox="1"/>
          <p:nvPr/>
        </p:nvSpPr>
        <p:spPr>
          <a:xfrm rot="0" flipH="0" flipV="0">
            <a:off x="6934200" y="4000500"/>
            <a:ext cx="14478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PingFang SC"/>
                <a:ea typeface="PingFang SC"/>
              </a:rPr>
              <a:t>省的钱怎么验证？</a:t>
            </a:r>
            <a:endParaRPr/>
          </a:p>
        </p:txBody>
      </p:sp>
      <p:sp>
        <p:nvSpPr>
          <p:cNvPr id="864" name="" descr="{&quot;isTemplate&quot;:true,&quot;type&quot;:&quot;text&quot;}"/>
          <p:cNvSpPr txBox="1"/>
          <p:nvPr/>
        </p:nvSpPr>
        <p:spPr>
          <a:xfrm rot="0" flipH="0" flipV="0">
            <a:off x="6457950" y="5648325"/>
            <a:ext cx="4800600" cy="2952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A9C4E8"/>
                </a:solidFill>
                <a:latin typeface="PingFang SC"/>
                <a:ea typeface="PingFang SC"/>
              </a:rPr>
              <a:t>每组</a:t>
            </a:r>
            <a:r>
              <a:rPr lang="en-US" sz="1125">
                <a:solidFill>
                  <a:srgbClr val="A9C4E8"/>
                </a:solidFill>
                <a:latin typeface="PingFang SC"/>
                <a:ea typeface="PingFang SC"/>
              </a:rPr>
              <a:t> 8 </a:t>
            </a:r>
            <a:r>
              <a:rPr lang="zh-CN" sz="1125">
                <a:solidFill>
                  <a:srgbClr val="A9C4E8"/>
                </a:solidFill>
                <a:latin typeface="PingFang SC"/>
                <a:ea typeface="PingFang SC"/>
              </a:rPr>
              <a:t>分钟讲</a:t>
            </a:r>
            <a:r>
              <a:rPr lang="en-US" sz="1125">
                <a:solidFill>
                  <a:srgbClr val="A9C4E8"/>
                </a:solidFill>
                <a:latin typeface="PingFang SC"/>
                <a:ea typeface="PingFang SC"/>
              </a:rPr>
              <a:t> + 5 </a:t>
            </a:r>
            <a:r>
              <a:rPr lang="zh-CN" sz="1125">
                <a:solidFill>
                  <a:srgbClr val="A9C4E8"/>
                </a:solidFill>
                <a:latin typeface="PingFang SC"/>
                <a:ea typeface="PingFang SC"/>
              </a:rPr>
              <a:t>分钟质询</a:t>
            </a:r>
            <a:r>
              <a:rPr lang="en-US" sz="1125">
                <a:solidFill>
                  <a:srgbClr val="A9C4E8"/>
                </a:solidFill>
                <a:latin typeface="PingFang SC"/>
                <a:ea typeface="PingFang SC"/>
              </a:rPr>
              <a:t> —— </a:t>
            </a:r>
            <a:r>
              <a:rPr lang="zh-CN" sz="1125">
                <a:solidFill>
                  <a:srgbClr val="A9C4E8"/>
                </a:solidFill>
                <a:latin typeface="PingFang SC"/>
                <a:ea typeface="PingFang SC"/>
              </a:rPr>
              <a:t>三把刀都答得上，项目才算立得住。</a:t>
            </a:r>
            <a:endParaRPr/>
          </a:p>
        </p:txBody>
      </p:sp>
      <p:sp>
        <p:nvSpPr>
          <p:cNvPr id="865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1123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AI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场景落地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中级</a:t>
            </a:r>
            <a:endParaRPr/>
          </a:p>
        </p:txBody>
      </p:sp>
      <p:sp>
        <p:nvSpPr>
          <p:cNvPr id="866" name="" descr="{&quot;isTemplate&quot;:true,&quot;type&quot;:&quot;text&quot;}"/>
          <p:cNvSpPr txBox="1"/>
          <p:nvPr/>
        </p:nvSpPr>
        <p:spPr>
          <a:xfrm rot="0" flipH="0" flipV="0">
            <a:off x="11029950" y="63627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32 / 34</a:t>
            </a:r>
            <a:endParaRPr/>
          </a:p>
        </p:txBody>
      </p:sp>
    </p:spTree>
  </p:cSld>
</p:sld>
</file>

<file path=ppt/slides/slide33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867" name="" descr="const weights = [&#10;    { icon: 'pencil-alt', t: '小测', n: '15', d: '政策要求 + 方法论 + 权限红线' },&#10;    { icon: 'laptop-code', t: '实操', n: '35', d: '机会画布打分 + SOP 助手六步' },&#10;    { icon: 'search', t: '案例分析', n: '20', d: '96% 铁案：为什么停、怎么救' },&#10;    { icon: 'trophy', t: '迷你项目', n: '30', d: '工作坊六件套 + 三把刀答辩' },&#10;];&#10;&lt;Slide style={{ width: '1280px', height: '720px', background: '#F5F8FC', padding: '24px 72px', boxSizing: 'border-box', flexDirection: 'column', fontFamily: 'PingFang SC, Source Han Sans SC, sans-serif' }}&gt;&#10;    &lt;Box style={{ height: 96, flexDirection: 'row', alignItems: 'center', gap: 16 }}&gt;&#10;        &lt;Box style={{ width: 5, height: 46, background: '#06B6D4', borderRadius: 3 }} /&gt;&#10;        &lt;Box&gt;&#10;            &lt;Text style={{ fontSize: 34, fontWeight: 'bold', color: '#1E3A8A', lineHeight: 1.2 }}&gt;考核与认证&lt;/Text&gt;&#10;            &lt;Text style={{ fontSize: 17, color: '#64748B', marginTop: 4 }}&gt;15 + 35 + 20 + 30 —— 项目占大头，会说的不算，做出来的才算&lt;/Text&gt;&#10;        &lt;/Box&gt;&#10;    &lt;/Box&gt;&#10;    &lt;Box style={{ flexDirection: 'row', gap: 18, marginTop: 16 }}&gt;&#10;        {weights.map((w, i) =&gt; (&#10;            &lt;Box key={i} style={{ flex: 1, background: '#FFFFFF', borderRadius: 16, padding: '22px 20px', border: '1px solid #E2E8F0', boxShadow: '0 4px 16px rgba(30,58,138,0.06)', flexDirection: 'column', alignItems: 'center' }}&gt;&#10;                &lt;Box style={{ width: 56, height: 56, borderRadius: 14, background: i === 3 ? '#FEEFE0' : '#E0F7FA', justifyContent: 'center', alignItems: 'center', marginBottom: 14 }}&gt;&#10;                    &lt;FAIcon name={w.icon} style={{ fill: i === 3 ? '#F59E0B' : '#0891B2', width: 28, height: 28 }} /&gt;&#10;                &lt;/Box&gt;&#10;                &lt;Text style={{ fontSize: 19, fontWeight: 'bold', color: '#1E3A8A' }}&gt;{w.t}&lt;/Text&gt;&#10;                &lt;Text style={{ fontSize: 40, fontWeight: 'bold', color: i === 3 ? '#B45309' : '#0891B2', fontFamily: 'Space Grotesk, Inter', marginTop: 6 }}&gt;{w.n}&lt;/Text&gt;&#10;                &lt;Text style={{ fontSize: 14, color: '#64748B', marginTop: 10, textAlign: 'center', lineHeight: 1.55 }}&gt;{w.d}&lt;/Text&gt;&#10;            &lt;/Box&gt;&#10;        ))}&#10;    &lt;/Box&gt;&#10;    &lt;Box style={{ flex: 1, flexDirection: 'row', gap: 24, marginTop: 20 }}&gt;&#10;        &lt;Box style={{ flex: 1, background: '#1E3A8A', borderRadius: 16, padding: '24px 30px', flexDirection: 'column', justifyContent: 'center', boxShadow: '0 8px 28px rgba(30,58,138,0.25)' }}&gt;&#10;            &lt;Box style={{ flexDirection: 'row', alignItems: 'center', gap: 12 }}&gt;&#10;                &lt;FAIcon name=&quot;award&quot; style={{ fill: '#F59E0B', width: 28, height: 28 }} /&gt;&#10;                &lt;Text style={{ fontSize: 24, fontWeight: 'bold', color: '#FFFFFF' }}&gt;《中级 AI 场景师》&lt;/Text&gt;&#10;            &lt;/Box&gt;&#10;            &lt;Text style={{ fontSize: 17, color: '#DCE9FB', marginTop: 14, lineHeight: 1.8 }}&gt;总分 ≥ 70 通过认证，结业可上岗带试点。&lt;br /&gt;认证有效期 2 年，续期需提交一个落地案例。&lt;/Text&gt;&#10;        &lt;/Box&gt;&#10;        &lt;Box style={{ flex: 1, padding: '24px 30px', background: '#FEEFE0', borderRadius: 16, border: '2px solid #F59E0B', flexDirection: 'column', justifyContent: 'center' }}&gt;&#10;            &lt;Text style={{ fontSize: 20, fontWeight: 'bold', color: '#B45309' }}&gt;优秀通道&lt;/Text&gt;&#10;            &lt;Text style={{ fontSize: 16, color: '#43566b', lineHeight: 1.8, marginTop: 10 }}&gt;总分 ≥ 85 且项目 ≥ 85 → 授予「优秀场景设计」，进入企业 AI 倡导者储备池 —— 优先获得高级班与内部项目种子资金。&lt;/Text&gt;&#10;        &lt;/Box&gt;&#10;    &lt;/Box&gt;&#10;    &lt;Box style={{ height: 40, flexDirection: 'row', justifyContent: 'space-between', alignItems: 'center', marginTop: 12 }}&gt;&#10;        &lt;Text style={{ fontSize: 14, color: '#64748B' }}&gt;AI 场景落地 · 中级&lt;/Text&gt;&#10;        &lt;Text style={{ fontSize: 14, color: '#64748B' }}&gt;33 / 34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/>
        </p:spPr>
        <p:txBody>
          <a:bodyPr/>
          <a:p/>
        </p:txBody>
      </p:sp>
      <p:sp>
        <p:nvSpPr>
          <p:cNvPr id="869" name=""/>
          <p:cNvSpPr/>
          <p:nvPr/>
        </p:nvSpPr>
        <p:spPr>
          <a:xfrm rot="0" flipH="0" flipV="0">
            <a:off x="685800" y="466725"/>
            <a:ext cx="47625" cy="438150"/>
          </a:xfrm>
          <a:prstGeom prst="roundRect">
            <a:avLst>
              <a:gd name="adj" fmla="val 60000"/>
            </a:avLst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870" name="" descr="{&quot;isTemplate&quot;:true,&quot;type&quot;:&quot;text&quot;}"/>
          <p:cNvSpPr txBox="1"/>
          <p:nvPr/>
        </p:nvSpPr>
        <p:spPr>
          <a:xfrm rot="0" flipH="0" flipV="0">
            <a:off x="885825" y="333375"/>
            <a:ext cx="4714875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>考核与认证</a:t>
            </a:r>
            <a:endParaRPr/>
          </a:p>
        </p:txBody>
      </p:sp>
      <p:sp>
        <p:nvSpPr>
          <p:cNvPr id="871" name="" descr="{&quot;isTemplate&quot;:true,&quot;type&quot;:&quot;text&quot;}"/>
          <p:cNvSpPr txBox="1"/>
          <p:nvPr/>
        </p:nvSpPr>
        <p:spPr>
          <a:xfrm rot="0" flipH="0" flipV="0">
            <a:off x="885825" y="838200"/>
            <a:ext cx="47148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64748B"/>
                </a:solidFill>
                <a:latin typeface="PingFang SC"/>
                <a:ea typeface="PingFang SC"/>
              </a:rPr>
              <a:t>15 + 35 + 20 + 30 —— </a:t>
            </a: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项目占大头，会说的不算，做出来的才算</a:t>
            </a:r>
            <a:endParaRPr/>
          </a:p>
        </p:txBody>
      </p:sp>
      <p:sp>
        <p:nvSpPr>
          <p:cNvPr id="872" name=""/>
          <p:cNvSpPr/>
          <p:nvPr/>
        </p:nvSpPr>
        <p:spPr>
          <a:xfrm rot="0" flipH="0" flipV="0">
            <a:off x="685800" y="1295400"/>
            <a:ext cx="2581275" cy="2171700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>
              <a:srgbClr val="1E3A8A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873" name=""/>
          <p:cNvSpPr/>
          <p:nvPr/>
        </p:nvSpPr>
        <p:spPr>
          <a:xfrm rot="0" flipH="0" flipV="0">
            <a:off x="1714500" y="1504950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E0F7FA"/>
          </a:solidFill>
          <a:ln/>
        </p:spPr>
        <p:txBody>
          <a:bodyPr/>
          <a:p/>
        </p:txBody>
      </p:sp>
      <p:pic>
        <p:nvPicPr>
          <p:cNvPr id="87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847850" y="1638300"/>
            <a:ext cx="266700" cy="266700"/>
          </a:xfrm>
          <a:prstGeom prst="rect">
            <a:avLst/>
          </a:prstGeom>
          <a:ln/>
        </p:spPr>
      </p:pic>
      <p:sp>
        <p:nvSpPr>
          <p:cNvPr id="875" name="" descr="{&quot;isTemplate&quot;:true,&quot;type&quot;:&quot;text&quot;}"/>
          <p:cNvSpPr txBox="1"/>
          <p:nvPr/>
        </p:nvSpPr>
        <p:spPr>
          <a:xfrm rot="0" flipH="0" flipV="0">
            <a:off x="1800225" y="2171700"/>
            <a:ext cx="3619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E3A8A"/>
                </a:solidFill>
                <a:latin typeface="PingFang SC"/>
                <a:ea typeface="PingFang SC"/>
              </a:rPr>
              <a:t>小测</a:t>
            </a:r>
            <a:endParaRPr/>
          </a:p>
        </p:txBody>
      </p:sp>
      <p:sp>
        <p:nvSpPr>
          <p:cNvPr id="876" name="" descr="{&quot;isTemplate&quot;:true,&quot;type&quot;:&quot;text&quot;}"/>
          <p:cNvSpPr txBox="1"/>
          <p:nvPr/>
        </p:nvSpPr>
        <p:spPr>
          <a:xfrm rot="0" flipH="0" flipV="0">
            <a:off x="1762125" y="2447925"/>
            <a:ext cx="42862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0891B2"/>
                </a:solidFill>
                <a:latin typeface="Space Grotesk"/>
                <a:ea typeface="Space Grotesk"/>
              </a:rPr>
              <a:t>15</a:t>
            </a:r>
            <a:endParaRPr/>
          </a:p>
        </p:txBody>
      </p:sp>
      <p:sp>
        <p:nvSpPr>
          <p:cNvPr id="877" name="" descr="{&quot;isTemplate&quot;:true,&quot;type&quot;:&quot;text&quot;}"/>
          <p:cNvSpPr txBox="1"/>
          <p:nvPr/>
        </p:nvSpPr>
        <p:spPr>
          <a:xfrm rot="0" flipH="0" flipV="0">
            <a:off x="1076325" y="3000375"/>
            <a:ext cx="1809750" cy="257175"/>
          </a:xfrm>
          <a:prstGeom prst="rect"/>
        </p:spPr>
        <p:txBody>
          <a:bodyPr wrap="none" lIns="0" tIns="0" rIns="0" bIns="0"/>
          <a:p>
            <a:pPr algn="ctr">
              <a:lnSpc>
                <a:spcPct val="155000"/>
              </a:lnSpc>
            </a:pP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政策要求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+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方法论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+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权限红线</a:t>
            </a:r>
            <a:endParaRPr/>
          </a:p>
        </p:txBody>
      </p:sp>
      <p:sp>
        <p:nvSpPr>
          <p:cNvPr id="878" name=""/>
          <p:cNvSpPr/>
          <p:nvPr/>
        </p:nvSpPr>
        <p:spPr>
          <a:xfrm rot="0" flipH="0" flipV="0">
            <a:off x="3438525" y="1295400"/>
            <a:ext cx="2571750" cy="2171700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>
              <a:srgbClr val="1E3A8A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879" name=""/>
          <p:cNvSpPr/>
          <p:nvPr/>
        </p:nvSpPr>
        <p:spPr>
          <a:xfrm rot="0" flipH="0" flipV="0">
            <a:off x="4457700" y="1504950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E0F7FA"/>
          </a:solidFill>
          <a:ln/>
        </p:spPr>
        <p:txBody>
          <a:bodyPr/>
          <a:p/>
        </p:txBody>
      </p:sp>
      <p:pic>
        <p:nvPicPr>
          <p:cNvPr id="88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591050" y="1638300"/>
            <a:ext cx="266700" cy="266700"/>
          </a:xfrm>
          <a:prstGeom prst="rect">
            <a:avLst/>
          </a:prstGeom>
          <a:ln/>
        </p:spPr>
      </p:pic>
      <p:sp>
        <p:nvSpPr>
          <p:cNvPr id="881" name="" descr="{&quot;isTemplate&quot;:true,&quot;type&quot;:&quot;text&quot;}"/>
          <p:cNvSpPr txBox="1"/>
          <p:nvPr/>
        </p:nvSpPr>
        <p:spPr>
          <a:xfrm rot="0" flipH="0" flipV="0">
            <a:off x="4543425" y="2171700"/>
            <a:ext cx="3619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E3A8A"/>
                </a:solidFill>
                <a:latin typeface="PingFang SC"/>
                <a:ea typeface="PingFang SC"/>
              </a:rPr>
              <a:t>实操</a:t>
            </a:r>
            <a:endParaRPr/>
          </a:p>
        </p:txBody>
      </p:sp>
      <p:sp>
        <p:nvSpPr>
          <p:cNvPr id="882" name="" descr="{&quot;isTemplate&quot;:true,&quot;type&quot;:&quot;text&quot;}"/>
          <p:cNvSpPr txBox="1"/>
          <p:nvPr/>
        </p:nvSpPr>
        <p:spPr>
          <a:xfrm rot="0" flipH="0" flipV="0">
            <a:off x="4514850" y="2447925"/>
            <a:ext cx="42862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0891B2"/>
                </a:solidFill>
                <a:latin typeface="Space Grotesk"/>
                <a:ea typeface="Space Grotesk"/>
              </a:rPr>
              <a:t>35</a:t>
            </a:r>
            <a:endParaRPr/>
          </a:p>
        </p:txBody>
      </p:sp>
      <p:sp>
        <p:nvSpPr>
          <p:cNvPr id="883" name="" descr="{&quot;isTemplate&quot;:true,&quot;type&quot;:&quot;text&quot;}"/>
          <p:cNvSpPr txBox="1"/>
          <p:nvPr/>
        </p:nvSpPr>
        <p:spPr>
          <a:xfrm rot="0" flipH="0" flipV="0">
            <a:off x="3810000" y="3000375"/>
            <a:ext cx="1828800" cy="257175"/>
          </a:xfrm>
          <a:prstGeom prst="rect"/>
        </p:spPr>
        <p:txBody>
          <a:bodyPr wrap="none" lIns="0" tIns="0" rIns="0" bIns="0"/>
          <a:p>
            <a:pPr algn="ctr">
              <a:lnSpc>
                <a:spcPct val="155000"/>
              </a:lnSpc>
            </a:pP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机会画布打分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+ SOP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助手六步</a:t>
            </a:r>
            <a:endParaRPr/>
          </a:p>
        </p:txBody>
      </p:sp>
      <p:sp>
        <p:nvSpPr>
          <p:cNvPr id="884" name=""/>
          <p:cNvSpPr/>
          <p:nvPr/>
        </p:nvSpPr>
        <p:spPr>
          <a:xfrm rot="0" flipH="0" flipV="0">
            <a:off x="6181725" y="1295400"/>
            <a:ext cx="2581275" cy="2171700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>
              <a:srgbClr val="1E3A8A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885" name=""/>
          <p:cNvSpPr/>
          <p:nvPr/>
        </p:nvSpPr>
        <p:spPr>
          <a:xfrm rot="0" flipH="0" flipV="0">
            <a:off x="7210425" y="1504950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E0F7FA"/>
          </a:solidFill>
          <a:ln/>
        </p:spPr>
        <p:txBody>
          <a:bodyPr/>
          <a:p/>
        </p:txBody>
      </p:sp>
      <p:pic>
        <p:nvPicPr>
          <p:cNvPr id="88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7343775" y="1638300"/>
            <a:ext cx="266700" cy="266700"/>
          </a:xfrm>
          <a:prstGeom prst="rect">
            <a:avLst/>
          </a:prstGeom>
          <a:ln/>
        </p:spPr>
      </p:pic>
      <p:sp>
        <p:nvSpPr>
          <p:cNvPr id="887" name="" descr="{&quot;isTemplate&quot;:true,&quot;type&quot;:&quot;text&quot;}"/>
          <p:cNvSpPr txBox="1"/>
          <p:nvPr/>
        </p:nvSpPr>
        <p:spPr>
          <a:xfrm rot="0" flipH="0" flipV="0">
            <a:off x="7115175" y="2171700"/>
            <a:ext cx="723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E3A8A"/>
                </a:solidFill>
                <a:latin typeface="PingFang SC"/>
                <a:ea typeface="PingFang SC"/>
              </a:rPr>
              <a:t>案例分析</a:t>
            </a:r>
            <a:endParaRPr/>
          </a:p>
        </p:txBody>
      </p:sp>
      <p:sp>
        <p:nvSpPr>
          <p:cNvPr id="888" name="" descr="{&quot;isTemplate&quot;:true,&quot;type&quot;:&quot;text&quot;}"/>
          <p:cNvSpPr txBox="1"/>
          <p:nvPr/>
        </p:nvSpPr>
        <p:spPr>
          <a:xfrm rot="0" flipH="0" flipV="0">
            <a:off x="7258050" y="2447925"/>
            <a:ext cx="42862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0891B2"/>
                </a:solidFill>
                <a:latin typeface="Space Grotesk"/>
                <a:ea typeface="Space Grotesk"/>
              </a:rPr>
              <a:t>20</a:t>
            </a:r>
            <a:endParaRPr/>
          </a:p>
        </p:txBody>
      </p:sp>
      <p:sp>
        <p:nvSpPr>
          <p:cNvPr id="889" name="" descr="{&quot;isTemplate&quot;:true,&quot;type&quot;:&quot;text&quot;}"/>
          <p:cNvSpPr txBox="1"/>
          <p:nvPr/>
        </p:nvSpPr>
        <p:spPr>
          <a:xfrm rot="0" flipH="0" flipV="0">
            <a:off x="6572250" y="3000375"/>
            <a:ext cx="1809750" cy="257175"/>
          </a:xfrm>
          <a:prstGeom prst="rect"/>
        </p:spPr>
        <p:txBody>
          <a:bodyPr wrap="none" lIns="0" tIns="0" rIns="0" bIns="0"/>
          <a:p>
            <a:pPr algn="ctr">
              <a:lnSpc>
                <a:spcPct val="155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96%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铁案：为什么停、怎么救</a:t>
            </a:r>
            <a:endParaRPr/>
          </a:p>
        </p:txBody>
      </p:sp>
      <p:sp>
        <p:nvSpPr>
          <p:cNvPr id="890" name=""/>
          <p:cNvSpPr/>
          <p:nvPr/>
        </p:nvSpPr>
        <p:spPr>
          <a:xfrm rot="0" flipH="0" flipV="0">
            <a:off x="8934450" y="1295400"/>
            <a:ext cx="2571750" cy="2171700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>
              <a:srgbClr val="1E3A8A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891" name=""/>
          <p:cNvSpPr/>
          <p:nvPr/>
        </p:nvSpPr>
        <p:spPr>
          <a:xfrm rot="0" flipH="0" flipV="0">
            <a:off x="9953625" y="1504950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FEEFE0"/>
          </a:solidFill>
          <a:ln/>
        </p:spPr>
        <p:txBody>
          <a:bodyPr/>
          <a:p/>
        </p:txBody>
      </p:sp>
      <p:pic>
        <p:nvPicPr>
          <p:cNvPr id="89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10086975" y="1638300"/>
            <a:ext cx="266700" cy="266700"/>
          </a:xfrm>
          <a:prstGeom prst="rect">
            <a:avLst/>
          </a:prstGeom>
          <a:ln/>
        </p:spPr>
      </p:pic>
      <p:sp>
        <p:nvSpPr>
          <p:cNvPr id="893" name="" descr="{&quot;isTemplate&quot;:true,&quot;type&quot;:&quot;text&quot;}"/>
          <p:cNvSpPr txBox="1"/>
          <p:nvPr/>
        </p:nvSpPr>
        <p:spPr>
          <a:xfrm rot="0" flipH="0" flipV="0">
            <a:off x="9858375" y="2171700"/>
            <a:ext cx="723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E3A8A"/>
                </a:solidFill>
                <a:latin typeface="PingFang SC"/>
                <a:ea typeface="PingFang SC"/>
              </a:rPr>
              <a:t>迷你项目</a:t>
            </a:r>
            <a:endParaRPr/>
          </a:p>
        </p:txBody>
      </p:sp>
      <p:sp>
        <p:nvSpPr>
          <p:cNvPr id="894" name="" descr="{&quot;isTemplate&quot;:true,&quot;type&quot;:&quot;text&quot;}"/>
          <p:cNvSpPr txBox="1"/>
          <p:nvPr/>
        </p:nvSpPr>
        <p:spPr>
          <a:xfrm rot="0" flipH="0" flipV="0">
            <a:off x="10010775" y="2447925"/>
            <a:ext cx="42862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B45309"/>
                </a:solidFill>
                <a:latin typeface="Space Grotesk"/>
                <a:ea typeface="Space Grotesk"/>
              </a:rPr>
              <a:t>30</a:t>
            </a:r>
            <a:endParaRPr/>
          </a:p>
        </p:txBody>
      </p:sp>
      <p:sp>
        <p:nvSpPr>
          <p:cNvPr id="895" name="" descr="{&quot;isTemplate&quot;:true,&quot;type&quot;:&quot;text&quot;}"/>
          <p:cNvSpPr txBox="1"/>
          <p:nvPr/>
        </p:nvSpPr>
        <p:spPr>
          <a:xfrm rot="0" flipH="0" flipV="0">
            <a:off x="9401175" y="3000375"/>
            <a:ext cx="1638300" cy="257175"/>
          </a:xfrm>
          <a:prstGeom prst="rect"/>
        </p:spPr>
        <p:txBody>
          <a:bodyPr wrap="none" lIns="0" tIns="0" rIns="0" bIns="0"/>
          <a:p>
            <a:pPr algn="ctr">
              <a:lnSpc>
                <a:spcPct val="155000"/>
              </a:lnSpc>
            </a:pP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工作坊六件套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+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三把刀答辩</a:t>
            </a:r>
            <a:endParaRPr/>
          </a:p>
        </p:txBody>
      </p:sp>
      <p:sp>
        <p:nvSpPr>
          <p:cNvPr id="896" name=""/>
          <p:cNvSpPr/>
          <p:nvPr/>
        </p:nvSpPr>
        <p:spPr>
          <a:xfrm rot="0" flipH="0" flipV="0">
            <a:off x="685800" y="3657600"/>
            <a:ext cx="5295900" cy="2476500"/>
          </a:xfrm>
          <a:prstGeom prst="roundRect">
            <a:avLst>
              <a:gd name="adj" fmla="val 6154"/>
            </a:avLst>
          </a:prstGeom>
          <a:solidFill>
            <a:srgbClr val="1E3A8A"/>
          </a:solidFill>
          <a:ln/>
          <a:effectLst>
            <a:outerShdw blurRad="266700" dist="76200" dir="5400000">
              <a:srgbClr val="1E3A8A">
                <a:alpha val="25000"/>
              </a:srgbClr>
            </a:outerShdw>
          </a:effectLst>
        </p:spPr>
        <p:txBody>
          <a:bodyPr/>
          <a:p/>
        </p:txBody>
      </p:sp>
      <p:pic>
        <p:nvPicPr>
          <p:cNvPr id="89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971550" y="4352925"/>
            <a:ext cx="266700" cy="266700"/>
          </a:xfrm>
          <a:prstGeom prst="rect">
            <a:avLst/>
          </a:prstGeom>
          <a:ln/>
        </p:spPr>
      </p:pic>
      <p:sp>
        <p:nvSpPr>
          <p:cNvPr id="898" name="" descr="{&quot;isTemplate&quot;:true,&quot;type&quot;:&quot;text&quot;}"/>
          <p:cNvSpPr txBox="1"/>
          <p:nvPr/>
        </p:nvSpPr>
        <p:spPr>
          <a:xfrm rot="0" flipH="0" flipV="0">
            <a:off x="1352550" y="4343400"/>
            <a:ext cx="19716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FFFFF"/>
                </a:solidFill>
                <a:latin typeface="PingFang SC"/>
                <a:ea typeface="PingFang SC"/>
              </a:rPr>
              <a:t>《中级</a:t>
            </a:r>
            <a:r>
              <a:rPr lang="en-US" sz="1800" b="1">
                <a:solidFill>
                  <a:srgbClr val="FFFFFF"/>
                </a:solidFill>
                <a:latin typeface="PingFang SC"/>
                <a:ea typeface="PingFang SC"/>
              </a:rPr>
              <a:t> AI </a:t>
            </a:r>
            <a:r>
              <a:rPr lang="zh-CN" sz="1800" b="1">
                <a:solidFill>
                  <a:srgbClr val="FFFFFF"/>
                </a:solidFill>
                <a:latin typeface="PingFang SC"/>
                <a:ea typeface="PingFang SC"/>
              </a:rPr>
              <a:t>场景师》</a:t>
            </a:r>
            <a:endParaRPr/>
          </a:p>
        </p:txBody>
      </p:sp>
      <p:sp>
        <p:nvSpPr>
          <p:cNvPr id="899" name="" descr="{&quot;isTemplate&quot;:true,&quot;type&quot;:&quot;text&quot;}"/>
          <p:cNvSpPr txBox="1"/>
          <p:nvPr/>
        </p:nvSpPr>
        <p:spPr>
          <a:xfrm rot="0" flipH="0" flipV="0">
            <a:off x="971550" y="4752975"/>
            <a:ext cx="4724400" cy="704850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275">
                <a:solidFill>
                  <a:srgbClr val="DCE9FB"/>
                </a:solidFill>
                <a:latin typeface="PingFang SC"/>
                <a:ea typeface="PingFang SC"/>
              </a:rPr>
              <a:t>总分</a:t>
            </a:r>
            <a:r>
              <a:rPr lang="en-US" sz="1275">
                <a:solidFill>
                  <a:srgbClr val="DCE9FB"/>
                </a:solidFill>
                <a:latin typeface="PingFang SC"/>
                <a:ea typeface="PingFang SC"/>
              </a:rPr>
              <a:t> ≥ 70 </a:t>
            </a:r>
            <a:r>
              <a:rPr lang="zh-CN" sz="1275">
                <a:solidFill>
                  <a:srgbClr val="DCE9FB"/>
                </a:solidFill>
                <a:latin typeface="PingFang SC"/>
                <a:ea typeface="PingFang SC"/>
              </a:rPr>
              <a:t>通过认证，结业可上岗带试点。</a:t>
            </a:r>
            <a:endParaRPr/>
          </a:p>
          <a:p>
            <a:pPr>
              <a:lnSpc>
                <a:spcPct val="180000"/>
              </a:lnSpc>
            </a:pPr>
            <a:r>
              <a:rPr lang="zh-CN" sz="1275">
                <a:solidFill>
                  <a:srgbClr val="DCE9FB"/>
                </a:solidFill>
                <a:latin typeface="PingFang SC"/>
                <a:ea typeface="PingFang SC"/>
              </a:rPr>
              <a:t>认证有效期</a:t>
            </a:r>
            <a:r>
              <a:rPr lang="en-US" sz="1275">
                <a:solidFill>
                  <a:srgbClr val="DCE9FB"/>
                </a:solidFill>
                <a:latin typeface="PingFang SC"/>
                <a:ea typeface="PingFang SC"/>
              </a:rPr>
              <a:t> 2 </a:t>
            </a:r>
            <a:r>
              <a:rPr lang="zh-CN" sz="1275">
                <a:solidFill>
                  <a:srgbClr val="DCE9FB"/>
                </a:solidFill>
                <a:latin typeface="PingFang SC"/>
                <a:ea typeface="PingFang SC"/>
              </a:rPr>
              <a:t>年，续期需提交一个落地案例。</a:t>
            </a:r>
            <a:endParaRPr/>
          </a:p>
        </p:txBody>
      </p:sp>
      <p:sp>
        <p:nvSpPr>
          <p:cNvPr id="900" name=""/>
          <p:cNvSpPr/>
          <p:nvPr/>
        </p:nvSpPr>
        <p:spPr>
          <a:xfrm rot="0" flipH="0" flipV="0">
            <a:off x="6210300" y="3657600"/>
            <a:ext cx="5295900" cy="2476500"/>
          </a:xfrm>
          <a:prstGeom prst="roundRect">
            <a:avLst>
              <a:gd name="adj" fmla="val 6154"/>
            </a:avLst>
          </a:prstGeom>
          <a:solidFill>
            <a:srgbClr val="FEEFE0"/>
          </a:solidFill>
          <a:ln w="254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901" name="" descr="{&quot;isTemplate&quot;:true,&quot;type&quot;:&quot;text&quot;}"/>
          <p:cNvSpPr txBox="1"/>
          <p:nvPr/>
        </p:nvSpPr>
        <p:spPr>
          <a:xfrm rot="0" flipH="0" flipV="0">
            <a:off x="6496050" y="4400550"/>
            <a:ext cx="4724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B45309"/>
                </a:solidFill>
                <a:latin typeface="PingFang SC"/>
                <a:ea typeface="PingFang SC"/>
              </a:rPr>
              <a:t>优秀通道</a:t>
            </a:r>
            <a:endParaRPr/>
          </a:p>
        </p:txBody>
      </p:sp>
      <p:sp>
        <p:nvSpPr>
          <p:cNvPr id="902" name="" descr="{&quot;isTemplate&quot;:true,&quot;type&quot;:&quot;text&quot;}"/>
          <p:cNvSpPr txBox="1"/>
          <p:nvPr/>
        </p:nvSpPr>
        <p:spPr>
          <a:xfrm rot="0" flipH="0" flipV="0">
            <a:off x="6496050" y="4724400"/>
            <a:ext cx="47244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200">
                <a:solidFill>
                  <a:srgbClr val="43566B"/>
                </a:solidFill>
                <a:latin typeface="PingFang SC"/>
                <a:ea typeface="PingFang SC"/>
              </a:rPr>
              <a:t>总分</a:t>
            </a:r>
            <a:r>
              <a:rPr lang="en-US" sz="1200">
                <a:solidFill>
                  <a:srgbClr val="43566B"/>
                </a:solidFill>
                <a:latin typeface="PingFang SC"/>
                <a:ea typeface="PingFang SC"/>
              </a:rPr>
              <a:t> ≥ 85 </a:t>
            </a:r>
            <a:r>
              <a:rPr lang="zh-CN" sz="1200">
                <a:solidFill>
                  <a:srgbClr val="43566B"/>
                </a:solidFill>
                <a:latin typeface="PingFang SC"/>
                <a:ea typeface="PingFang SC"/>
              </a:rPr>
              <a:t>且项目</a:t>
            </a:r>
            <a:r>
              <a:rPr lang="en-US" sz="1200">
                <a:solidFill>
                  <a:srgbClr val="43566B"/>
                </a:solidFill>
                <a:latin typeface="PingFang SC"/>
                <a:ea typeface="PingFang SC"/>
              </a:rPr>
              <a:t> ≥ 85 → </a:t>
            </a:r>
            <a:r>
              <a:rPr lang="zh-CN" sz="1200">
                <a:solidFill>
                  <a:srgbClr val="43566B"/>
                </a:solidFill>
                <a:latin typeface="PingFang SC"/>
                <a:ea typeface="PingFang SC"/>
              </a:rPr>
              <a:t>授予「优秀场景设计」，进入企业</a:t>
            </a:r>
            <a:r>
              <a:rPr lang="en-US" sz="1200">
                <a:solidFill>
                  <a:srgbClr val="43566B"/>
                </a:solidFill>
                <a:latin typeface="PingFang SC"/>
                <a:ea typeface="PingFang SC"/>
              </a:rPr>
              <a:t> AI </a:t>
            </a:r>
            <a:r>
              <a:rPr lang="zh-CN" sz="1200">
                <a:solidFill>
                  <a:srgbClr val="43566B"/>
                </a:solidFill>
                <a:latin typeface="PingFang SC"/>
                <a:ea typeface="PingFang SC"/>
              </a:rPr>
              <a:t>倡导者储备池</a:t>
            </a:r>
            <a:r>
              <a:rPr lang="en-US" sz="1200">
                <a:solidFill>
                  <a:srgbClr val="43566B"/>
                </a:solidFill>
                <a:latin typeface="PingFang SC"/>
                <a:ea typeface="PingFang SC"/>
              </a:rPr>
              <a:t> —— </a:t>
            </a:r>
            <a:r>
              <a:rPr lang="zh-CN" sz="1200">
                <a:solidFill>
                  <a:srgbClr val="43566B"/>
                </a:solidFill>
                <a:latin typeface="PingFang SC"/>
                <a:ea typeface="PingFang SC"/>
              </a:rPr>
              <a:t>优先获得高级班与内部项目种子资金。</a:t>
            </a:r>
            <a:endParaRPr/>
          </a:p>
        </p:txBody>
      </p:sp>
      <p:sp>
        <p:nvSpPr>
          <p:cNvPr id="903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1123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AI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场景落地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中级</a:t>
            </a:r>
            <a:endParaRPr/>
          </a:p>
        </p:txBody>
      </p:sp>
      <p:sp>
        <p:nvSpPr>
          <p:cNvPr id="904" name="" descr="{&quot;isTemplate&quot;:true,&quot;type&quot;:&quot;text&quot;}"/>
          <p:cNvSpPr txBox="1"/>
          <p:nvPr/>
        </p:nvSpPr>
        <p:spPr>
          <a:xfrm rot="0" flipH="0" flipV="0">
            <a:off x="11029950" y="63627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33 / 34</a:t>
            </a:r>
            <a:endParaRPr/>
          </a:p>
        </p:txBody>
      </p:sp>
    </p:spTree>
  </p:cSld>
</p:sld>
</file>

<file path=ppt/slides/slide34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905" name="" descr="&lt;Slide style={{ width: '1280px', height: '720px', position: 'relative', background: '#1E3A8A', overflow: 'hidden', fontFamily: 'PingFang SC, Source Han Sans SC, sans-serif' }}&gt;&#10;    &lt;Image src=&quot;assets/hero_cover.png&quot; style={{ position: 'absolute', top: 0, left: 0, width: '1280px', height: '720px', objectFit: 'cover', opacity: 0.4 }} /&gt;&#10;    &lt;Box style={{ position: 'absolute', top: 0, left: 0, width: '1280px', height: '720px', background: 'linear-gradient(180deg, rgba(15,23,42,0.7) 0%, rgba(30,58,138,0.85) 100%)' }} /&gt;&#10;    &lt;Box style={{ position: 'relative', zIndex: 1, height: '720px', padding: '0 84px', justifyContent: 'center', alignItems: 'center', textAlign: 'center' }}&gt;&#10;        &lt;Text style={{ fontSize: 52, fontWeight: 'bold', color: '#FFFFFF', lineHeight: 1.3, textShadow: '0 4px 24px rgba(0,0,0,0.35)' }}&gt;这门课的作业，&lt;br /&gt;攒起来就是一份试点申报书。&lt;/Text&gt;&#10;        &lt;Box style={{ width: 90, height: 4, background: '#F59E0B', marginTop: 34 }} /&gt;&#10;        &lt;Text style={{ fontSize: 22, color: '#DCE9FB', marginTop: 28, fontWeight: '600' }}&gt;AI 场景落地 · 中级 · 完&lt;/Text&gt;&#10;        &lt;Box style={{ flexDirection: 'row', alignItems: 'center', gap: 12, marginTop: 26, padding: '12px 24px', background: 'rgba(6,182,212,0.18)', border: '1px solid rgba(6,182,212,0.6)', borderRadius: 999 }}&gt;&#10;            &lt;FAIcon name=&quot;arrow-right&quot; style={{ fill: '#7FD9F0', width: 20, height: 20 }} /&gt;&#10;            &lt;Text style={{ fontSize: 18, color: '#7FD9F0', fontWeight: 'bold' }}&gt;下一步：高级 · 规划治理层 —— 算得清账、搭得起架构、推得动组织、守得住底线&lt;/Text&gt;&#10;        &lt;/Box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p/>
        </p:txBody>
      </p:sp>
      <p:pic>
        <p:nvPicPr>
          <p:cNvPr id="907" name=""/>
          <p:cNvPicPr>
            <a:picLocks noChangeAspect="1"/>
          </p:cNvPicPr>
          <p:nvPr/>
        </p:nvPicPr>
        <p:blipFill>
          <a:blip r:embed="rId1">
            <a:alphaModFix amt="40000"/>
          </a:blip>
          <a:srcRect l="0" t="8894" r="0" b="8894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90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72A">
                  <a:alpha val="70000"/>
                </a:srgbClr>
              </a:gs>
              <a:gs pos="100000">
                <a:srgbClr val="1E3A8A">
                  <a:alpha val="85000"/>
                </a:srgbClr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909" name="" descr="{&quot;isTemplate&quot;:true,&quot;type&quot;:&quot;text&quot;}"/>
          <p:cNvSpPr txBox="1"/>
          <p:nvPr/>
        </p:nvSpPr>
        <p:spPr>
          <a:xfrm rot="0" flipH="0" flipV="0">
            <a:off x="2876550" y="1866900"/>
            <a:ext cx="6438900" cy="1552575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3900" b="1">
                <a:solidFill>
                  <a:srgbClr val="FFFFFF"/>
                </a:solidFill>
                <a:effectLst>
                  <a:outerShdw blurRad="228600" dist="38100" dir="5400000">
                    <a:srgbClr val="000000">
                      <a:alpha val="35000"/>
                    </a:srgbClr>
                  </a:outerShdw>
                </a:effectLst>
                <a:latin typeface="PingFang SC"/>
                <a:ea typeface="PingFang SC"/>
              </a:rPr>
              <a:t>这门课的作业，</a:t>
            </a:r>
            <a:endParaRPr/>
          </a:p>
          <a:p>
            <a:pPr algn="ctr">
              <a:lnSpc>
                <a:spcPct val="130000"/>
              </a:lnSpc>
            </a:pPr>
            <a:r>
              <a:rPr lang="zh-CN" sz="3900" b="1">
                <a:solidFill>
                  <a:srgbClr val="FFFFFF"/>
                </a:solidFill>
                <a:effectLst>
                  <a:outerShdw blurRad="228600" dist="38100" dir="5400000">
                    <a:srgbClr val="000000">
                      <a:alpha val="35000"/>
                    </a:srgbClr>
                  </a:outerShdw>
                </a:effectLst>
                <a:latin typeface="PingFang SC"/>
                <a:ea typeface="PingFang SC"/>
              </a:rPr>
              <a:t>攒起来就是一份试点申报书。</a:t>
            </a:r>
            <a:endParaRPr/>
          </a:p>
        </p:txBody>
      </p:sp>
      <p:sp>
        <p:nvSpPr>
          <p:cNvPr id="910" name=""/>
          <p:cNvSpPr/>
          <p:nvPr/>
        </p:nvSpPr>
        <p:spPr>
          <a:xfrm rot="0" flipH="0" flipV="0">
            <a:off x="5667375" y="3743325"/>
            <a:ext cx="857250" cy="381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911" name="" descr="{&quot;isTemplate&quot;:true,&quot;type&quot;:&quot;text&quot;}"/>
          <p:cNvSpPr txBox="1"/>
          <p:nvPr/>
        </p:nvSpPr>
        <p:spPr>
          <a:xfrm rot="0" flipH="0" flipV="0">
            <a:off x="4981575" y="4048125"/>
            <a:ext cx="2228850" cy="2571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650" b="1">
                <a:solidFill>
                  <a:srgbClr val="DCE9FB"/>
                </a:solidFill>
                <a:latin typeface="PingFang SC"/>
                <a:ea typeface="PingFang SC"/>
              </a:rPr>
              <a:t>AI </a:t>
            </a:r>
            <a:r>
              <a:rPr lang="zh-CN" sz="1650" b="1">
                <a:solidFill>
                  <a:srgbClr val="DCE9FB"/>
                </a:solidFill>
                <a:latin typeface="PingFang SC"/>
                <a:ea typeface="PingFang SC"/>
              </a:rPr>
              <a:t>场景落地</a:t>
            </a:r>
            <a:r>
              <a:rPr lang="en-US" sz="1650" b="1">
                <a:solidFill>
                  <a:srgbClr val="DCE9FB"/>
                </a:solidFill>
                <a:latin typeface="PingFang SC"/>
                <a:ea typeface="PingFang SC"/>
              </a:rPr>
              <a:t> · </a:t>
            </a:r>
            <a:r>
              <a:rPr lang="zh-CN" sz="1650" b="1">
                <a:solidFill>
                  <a:srgbClr val="DCE9FB"/>
                </a:solidFill>
                <a:latin typeface="PingFang SC"/>
                <a:ea typeface="PingFang SC"/>
              </a:rPr>
              <a:t>中级</a:t>
            </a:r>
            <a:r>
              <a:rPr lang="en-US" sz="1650" b="1">
                <a:solidFill>
                  <a:srgbClr val="DCE9FB"/>
                </a:solidFill>
                <a:latin typeface="PingFang SC"/>
                <a:ea typeface="PingFang SC"/>
              </a:rPr>
              <a:t> · </a:t>
            </a:r>
            <a:r>
              <a:rPr lang="zh-CN" sz="1650" b="1">
                <a:solidFill>
                  <a:srgbClr val="DCE9FB"/>
                </a:solidFill>
                <a:latin typeface="PingFang SC"/>
                <a:ea typeface="PingFang SC"/>
              </a:rPr>
              <a:t>完</a:t>
            </a:r>
            <a:endParaRPr/>
          </a:p>
        </p:txBody>
      </p:sp>
      <p:sp>
        <p:nvSpPr>
          <p:cNvPr id="912" name=""/>
          <p:cNvSpPr/>
          <p:nvPr/>
        </p:nvSpPr>
        <p:spPr>
          <a:xfrm rot="0" flipH="0" flipV="0">
            <a:off x="2562225" y="4552950"/>
            <a:ext cx="7077075" cy="438150"/>
          </a:xfrm>
          <a:prstGeom prst="roundRect">
            <a:avLst>
              <a:gd name="adj" fmla="val 2171739"/>
            </a:avLst>
          </a:prstGeom>
          <a:solidFill>
            <a:srgbClr val="06B6D4">
              <a:alpha val="18000"/>
            </a:srgbClr>
          </a:solidFill>
          <a:ln w="12700">
            <a:solidFill>
              <a:srgbClr val="06B6D4">
                <a:alpha val="6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91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2790825" y="4676775"/>
            <a:ext cx="190500" cy="190500"/>
          </a:xfrm>
          <a:prstGeom prst="rect">
            <a:avLst/>
          </a:prstGeom>
          <a:ln/>
        </p:spPr>
      </p:pic>
      <p:sp>
        <p:nvSpPr>
          <p:cNvPr id="914" name="" descr="{&quot;isTemplate&quot;:true,&quot;type&quot;:&quot;text&quot;}"/>
          <p:cNvSpPr txBox="1"/>
          <p:nvPr/>
        </p:nvSpPr>
        <p:spPr>
          <a:xfrm rot="0" flipH="0" flipV="0">
            <a:off x="3095625" y="4667250"/>
            <a:ext cx="6315075" cy="2095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350" b="1">
                <a:solidFill>
                  <a:srgbClr val="7FD9F0"/>
                </a:solidFill>
                <a:latin typeface="PingFang SC"/>
                <a:ea typeface="PingFang SC"/>
              </a:rPr>
              <a:t>下一步：高级</a:t>
            </a:r>
            <a:r>
              <a:rPr lang="en-US" sz="1350" b="1">
                <a:solidFill>
                  <a:srgbClr val="7FD9F0"/>
                </a:solidFill>
                <a:latin typeface="PingFang SC"/>
                <a:ea typeface="PingFang SC"/>
              </a:rPr>
              <a:t> · </a:t>
            </a:r>
            <a:r>
              <a:rPr lang="zh-CN" sz="1350" b="1">
                <a:solidFill>
                  <a:srgbClr val="7FD9F0"/>
                </a:solidFill>
                <a:latin typeface="PingFang SC"/>
                <a:ea typeface="PingFang SC"/>
              </a:rPr>
              <a:t>规划治理层</a:t>
            </a:r>
            <a:r>
              <a:rPr lang="en-US" sz="1350" b="1">
                <a:solidFill>
                  <a:srgbClr val="7FD9F0"/>
                </a:solidFill>
                <a:latin typeface="PingFang SC"/>
                <a:ea typeface="PingFang SC"/>
              </a:rPr>
              <a:t> —— </a:t>
            </a:r>
            <a:r>
              <a:rPr lang="zh-CN" sz="1350" b="1">
                <a:solidFill>
                  <a:srgbClr val="7FD9F0"/>
                </a:solidFill>
                <a:latin typeface="PingFang SC"/>
                <a:ea typeface="PingFang SC"/>
              </a:rPr>
              <a:t>算得清账、搭得起架构、推得动组织、守得住底线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dc="http://purl.org/dc/elements/1.1/" xmlns:cp="http://schemas.openxmlformats.org/package/2006/metadata/core-properties">
  <dcterms:created xsi:type="dcterms:W3CDTF">2026-08-24T15:58:36Z</dcterms:created>
  <dcterms:modified xsi:type="dcterms:W3CDTF">2026-08-24T15:58:36Z</dcterms:modified>
</cp:coreProperties>
</file>