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300" r:id="rId51"/>
    <p:sldId id="257" r:id="rId8"/>
    <p:sldId id="258" r:id="rId9"/>
    <p:sldId id="259" r:id="rId10"/>
    <p:sldId id="260" r:id="rId11"/>
    <p:sldId id="289" r:id="rId40"/>
    <p:sldId id="290" r:id="rId41"/>
    <p:sldId id="291" r:id="rId42"/>
    <p:sldId id="261" r:id="rId12"/>
    <p:sldId id="262" r:id="rId13"/>
    <p:sldId id="263" r:id="rId14"/>
    <p:sldId id="264" r:id="rId15"/>
    <p:sldId id="265" r:id="rId16"/>
    <p:sldId id="266" r:id="rId17"/>
    <p:sldId id="294" r:id="rId45"/>
    <p:sldId id="295" r:id="rId46"/>
    <p:sldId id="267" r:id="rId18"/>
    <p:sldId id="268" r:id="rId19"/>
    <p:sldId id="269" r:id="rId20"/>
    <p:sldId id="270" r:id="rId21"/>
    <p:sldId id="271" r:id="rId22"/>
    <p:sldId id="296" r:id="rId47"/>
    <p:sldId id="305" r:id="rId56"/>
    <p:sldId id="272" r:id="rId23"/>
    <p:sldId id="273" r:id="rId24"/>
    <p:sldId id="274" r:id="rId25"/>
    <p:sldId id="297" r:id="rId48"/>
    <p:sldId id="298" r:id="rId49"/>
    <p:sldId id="303" r:id="rId54"/>
    <p:sldId id="275" r:id="rId26"/>
    <p:sldId id="276" r:id="rId27"/>
    <p:sldId id="277" r:id="rId28"/>
    <p:sldId id="278" r:id="rId29"/>
    <p:sldId id="279" r:id="rId30"/>
    <p:sldId id="280" r:id="rId31"/>
    <p:sldId id="281" r:id="rId32"/>
    <p:sldId id="282" r:id="rId33"/>
    <p:sldId id="283" r:id="rId34"/>
    <p:sldId id="284" r:id="rId35"/>
    <p:sldId id="285" r:id="rId36"/>
    <p:sldId id="302" r:id="rId53"/>
    <p:sldId id="304" r:id="rId55"/>
    <p:sldId id="306" r:id="rId57"/>
    <p:sldId id="286" r:id="rId37"/>
    <p:sldId id="292" r:id="rId43"/>
    <p:sldId id="293" r:id="rId44"/>
    <p:sldId id="301" r:id="rId52"/>
    <p:sldId id="299" r:id="rId50"/>
    <p:sldId id="287" r:id="rId38"/>
    <p:sldId id="288" r:id="rId39"/>
  </p:sldIdLst>
  <p:sldSz cx="12192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3.xml"/><Relationship Id="rId9" Type="http://schemas.openxmlformats.org/officeDocument/2006/relationships/slide" Target="slides/slide4.xml"/><Relationship Id="rId10" Type="http://schemas.openxmlformats.org/officeDocument/2006/relationships/slide" Target="slides/slide5.xml"/><Relationship Id="rId11" Type="http://schemas.openxmlformats.org/officeDocument/2006/relationships/slide" Target="slides/slide6.xml"/><Relationship Id="rId12" Type="http://schemas.openxmlformats.org/officeDocument/2006/relationships/slide" Target="slides/slide10.xml"/><Relationship Id="rId13" Type="http://schemas.openxmlformats.org/officeDocument/2006/relationships/slide" Target="slides/slide11.xml"/><Relationship Id="rId14" Type="http://schemas.openxmlformats.org/officeDocument/2006/relationships/slide" Target="slides/slide12.xml"/><Relationship Id="rId15" Type="http://schemas.openxmlformats.org/officeDocument/2006/relationships/slide" Target="slides/slide13.xml"/><Relationship Id="rId16" Type="http://schemas.openxmlformats.org/officeDocument/2006/relationships/slide" Target="slides/slide14.xml"/><Relationship Id="rId17" Type="http://schemas.openxmlformats.org/officeDocument/2006/relationships/slide" Target="slides/slide15.xml"/><Relationship Id="rId18" Type="http://schemas.openxmlformats.org/officeDocument/2006/relationships/slide" Target="slides/slide18.xml"/><Relationship Id="rId19" Type="http://schemas.openxmlformats.org/officeDocument/2006/relationships/slide" Target="slides/slide19.xml"/><Relationship Id="rId20" Type="http://schemas.openxmlformats.org/officeDocument/2006/relationships/slide" Target="slides/slide20.xml"/><Relationship Id="rId21" Type="http://schemas.openxmlformats.org/officeDocument/2006/relationships/slide" Target="slides/slide21.xml"/><Relationship Id="rId22" Type="http://schemas.openxmlformats.org/officeDocument/2006/relationships/slide" Target="slides/slide22.xml"/><Relationship Id="rId23" Type="http://schemas.openxmlformats.org/officeDocument/2006/relationships/slide" Target="slides/slide25.xml"/><Relationship Id="rId24" Type="http://schemas.openxmlformats.org/officeDocument/2006/relationships/slide" Target="slides/slide26.xml"/><Relationship Id="rId25" Type="http://schemas.openxmlformats.org/officeDocument/2006/relationships/slide" Target="slides/slide27.xml"/><Relationship Id="rId26" Type="http://schemas.openxmlformats.org/officeDocument/2006/relationships/slide" Target="slides/slide31.xml"/><Relationship Id="rId27" Type="http://schemas.openxmlformats.org/officeDocument/2006/relationships/slide" Target="slides/slide32.xml"/><Relationship Id="rId28" Type="http://schemas.openxmlformats.org/officeDocument/2006/relationships/slide" Target="slides/slide33.xml"/><Relationship Id="rId29" Type="http://schemas.openxmlformats.org/officeDocument/2006/relationships/slide" Target="slides/slide34.xml"/><Relationship Id="rId30" Type="http://schemas.openxmlformats.org/officeDocument/2006/relationships/slide" Target="slides/slide35.xml"/><Relationship Id="rId31" Type="http://schemas.openxmlformats.org/officeDocument/2006/relationships/slide" Target="slides/slide36.xml"/><Relationship Id="rId32" Type="http://schemas.openxmlformats.org/officeDocument/2006/relationships/slide" Target="slides/slide37.xml"/><Relationship Id="rId33" Type="http://schemas.openxmlformats.org/officeDocument/2006/relationships/slide" Target="slides/slide38.xml"/><Relationship Id="rId34" Type="http://schemas.openxmlformats.org/officeDocument/2006/relationships/slide" Target="slides/slide39.xml"/><Relationship Id="rId35" Type="http://schemas.openxmlformats.org/officeDocument/2006/relationships/slide" Target="slides/slide40.xml"/><Relationship Id="rId36" Type="http://schemas.openxmlformats.org/officeDocument/2006/relationships/slide" Target="slides/slide41.xml"/><Relationship Id="rId37" Type="http://schemas.openxmlformats.org/officeDocument/2006/relationships/slide" Target="slides/slide45.xml"/><Relationship Id="rId38" Type="http://schemas.openxmlformats.org/officeDocument/2006/relationships/slide" Target="slides/slide50.xml"/><Relationship Id="rId39" Type="http://schemas.openxmlformats.org/officeDocument/2006/relationships/slide" Target="slides/slide51.xml"/><Relationship Id="rId40" Type="http://schemas.openxmlformats.org/officeDocument/2006/relationships/slide" Target="slides/slide7.xml"/><Relationship Id="rId41" Type="http://schemas.openxmlformats.org/officeDocument/2006/relationships/slide" Target="slides/slide8.xml"/><Relationship Id="rId42" Type="http://schemas.openxmlformats.org/officeDocument/2006/relationships/slide" Target="slides/slide9.xml"/><Relationship Id="rId43" Type="http://schemas.openxmlformats.org/officeDocument/2006/relationships/slide" Target="slides/slide46.xml"/><Relationship Id="rId44" Type="http://schemas.openxmlformats.org/officeDocument/2006/relationships/slide" Target="slides/slide47.xml"/><Relationship Id="rId45" Type="http://schemas.openxmlformats.org/officeDocument/2006/relationships/slide" Target="slides/slide16.xml"/><Relationship Id="rId46" Type="http://schemas.openxmlformats.org/officeDocument/2006/relationships/slide" Target="slides/slide17.xml"/><Relationship Id="rId47" Type="http://schemas.openxmlformats.org/officeDocument/2006/relationships/slide" Target="slides/slide23.xml"/><Relationship Id="rId48" Type="http://schemas.openxmlformats.org/officeDocument/2006/relationships/slide" Target="slides/slide28.xml"/><Relationship Id="rId49" Type="http://schemas.openxmlformats.org/officeDocument/2006/relationships/slide" Target="slides/slide29.xml"/><Relationship Id="rId50" Type="http://schemas.openxmlformats.org/officeDocument/2006/relationships/slide" Target="slides/slide49.xml"/><Relationship Id="rId51" Type="http://schemas.openxmlformats.org/officeDocument/2006/relationships/slide" Target="slides/slide2.xml"/><Relationship Id="rId52" Type="http://schemas.openxmlformats.org/officeDocument/2006/relationships/slide" Target="slides/slide48.xml"/><Relationship Id="rId53" Type="http://schemas.openxmlformats.org/officeDocument/2006/relationships/slide" Target="slides/slide42.xml"/><Relationship Id="rId54" Type="http://schemas.openxmlformats.org/officeDocument/2006/relationships/slide" Target="slides/slide30.xml"/><Relationship Id="rId55" Type="http://schemas.openxmlformats.org/officeDocument/2006/relationships/slide" Target="slides/slide43.xml"/><Relationship Id="rId56" Type="http://schemas.openxmlformats.org/officeDocument/2006/relationships/slide" Target="slides/slide24.xml"/><Relationship Id="rId57" Type="http://schemas.openxmlformats.org/officeDocument/2006/relationships/slide" Target="slides/slide44.xml"/></Relationships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slide" Target="../slides/slide3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slide" Target="../slides/slide4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slide" Target="../slides/slide5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slide" Target="../slides/slide6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slide" Target="../slides/slide10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slide" Target="../slides/slide11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slide" Target="../slides/slide12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slide" Target="../slides/slide13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slide" Target="../slides/slide14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slide" Target="../slides/slide15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slide" Target="../slides/slide18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slide" Target="../slides/slide19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slide" Target="../slides/slide20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slide" Target="../slides/slide21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slide" Target="../slides/slide22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slide" Target="../slides/slide25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slide" Target="../slides/slide26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slide" Target="../slides/slide27.xml"/></Relationships>
</file>

<file path=ppt/notesSlides/_rels/notesSlide20.xml.rels><?xml version='1.0' encoding='UTF-8' standalone='yes'?>
<Relationships xmlns="http://schemas.openxmlformats.org/package/2006/relationships"><Relationship Id="rId1" Type="http://schemas.openxmlformats.org/officeDocument/2006/relationships/slide" Target="../slides/slide31.xml"/></Relationships>
</file>

<file path=ppt/notesSlides/_rels/notesSlide21.xml.rels><?xml version='1.0' encoding='UTF-8' standalone='yes'?>
<Relationships xmlns="http://schemas.openxmlformats.org/package/2006/relationships"><Relationship Id="rId1" Type="http://schemas.openxmlformats.org/officeDocument/2006/relationships/slide" Target="../slides/slide32.xml"/></Relationships>
</file>

<file path=ppt/notesSlides/_rels/notesSlide22.xml.rels><?xml version='1.0' encoding='UTF-8' standalone='yes'?>
<Relationships xmlns="http://schemas.openxmlformats.org/package/2006/relationships"><Relationship Id="rId1" Type="http://schemas.openxmlformats.org/officeDocument/2006/relationships/slide" Target="../slides/slide33.xml"/></Relationships>
</file>

<file path=ppt/notesSlides/_rels/notesSlide23.xml.rels><?xml version='1.0' encoding='UTF-8' standalone='yes'?>
<Relationships xmlns="http://schemas.openxmlformats.org/package/2006/relationships"><Relationship Id="rId1" Type="http://schemas.openxmlformats.org/officeDocument/2006/relationships/slide" Target="../slides/slide34.xml"/></Relationships>
</file>

<file path=ppt/notesSlides/_rels/notesSlide24.xml.rels><?xml version='1.0' encoding='UTF-8' standalone='yes'?>
<Relationships xmlns="http://schemas.openxmlformats.org/package/2006/relationships"><Relationship Id="rId1" Type="http://schemas.openxmlformats.org/officeDocument/2006/relationships/slide" Target="../slides/slide35.xml"/></Relationships>
</file>

<file path=ppt/notesSlides/_rels/notesSlide25.xml.rels><?xml version='1.0' encoding='UTF-8' standalone='yes'?>
<Relationships xmlns="http://schemas.openxmlformats.org/package/2006/relationships"><Relationship Id="rId1" Type="http://schemas.openxmlformats.org/officeDocument/2006/relationships/slide" Target="../slides/slide36.xml"/></Relationships>
</file>

<file path=ppt/notesSlides/_rels/notesSlide26.xml.rels><?xml version='1.0' encoding='UTF-8' standalone='yes'?>
<Relationships xmlns="http://schemas.openxmlformats.org/package/2006/relationships"><Relationship Id="rId1" Type="http://schemas.openxmlformats.org/officeDocument/2006/relationships/slide" Target="../slides/slide37.xml"/></Relationships>
</file>

<file path=ppt/notesSlides/_rels/notesSlide27.xml.rels><?xml version='1.0' encoding='UTF-8' standalone='yes'?>
<Relationships xmlns="http://schemas.openxmlformats.org/package/2006/relationships"><Relationship Id="rId1" Type="http://schemas.openxmlformats.org/officeDocument/2006/relationships/slide" Target="../slides/slide38.xml"/></Relationships>
</file>

<file path=ppt/notesSlides/_rels/notesSlide28.xml.rels><?xml version='1.0' encoding='UTF-8' standalone='yes'?>
<Relationships xmlns="http://schemas.openxmlformats.org/package/2006/relationships"><Relationship Id="rId1" Type="http://schemas.openxmlformats.org/officeDocument/2006/relationships/slide" Target="../slides/slide39.xml"/></Relationships>
</file>

<file path=ppt/notesSlides/_rels/notesSlide29.xml.rels><?xml version='1.0' encoding='UTF-8' standalone='yes'?>
<Relationships xmlns="http://schemas.openxmlformats.org/package/2006/relationships"><Relationship Id="rId1" Type="http://schemas.openxmlformats.org/officeDocument/2006/relationships/slide" Target="../slides/slide40.xml"/></Relationships>
</file>

<file path=ppt/notesSlides/_rels/notesSlide30.xml.rels><?xml version='1.0' encoding='UTF-8' standalone='yes'?>
<Relationships xmlns="http://schemas.openxmlformats.org/package/2006/relationships"><Relationship Id="rId1" Type="http://schemas.openxmlformats.org/officeDocument/2006/relationships/slide" Target="../slides/slide41.xml"/></Relationships>
</file>

<file path=ppt/notesSlides/_rels/notesSlide31.xml.rels><?xml version='1.0' encoding='UTF-8' standalone='yes'?>
<Relationships xmlns="http://schemas.openxmlformats.org/package/2006/relationships"><Relationship Id="rId1" Type="http://schemas.openxmlformats.org/officeDocument/2006/relationships/slide" Target="../slides/slide45.xml"/></Relationships>
</file>

<file path=ppt/notesSlides/_rels/notesSlide32.xml.rels><?xml version='1.0' encoding='UTF-8' standalone='yes'?>
<Relationships xmlns="http://schemas.openxmlformats.org/package/2006/relationships"><Relationship Id="rId1" Type="http://schemas.openxmlformats.org/officeDocument/2006/relationships/slide" Target="../slides/slide50.xml"/></Relationships>
</file>

<file path=ppt/notesSlides/_rels/notesSlide33.xml.rels><?xml version='1.0' encoding='UTF-8' standalone='yes'?>
<Relationships xmlns="http://schemas.openxmlformats.org/package/2006/relationships"><Relationship Id="rId1" Type="http://schemas.openxmlformats.org/officeDocument/2006/relationships/slide" Target="../slides/slide5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zh-CN" dirty="0"/>
              <a:t>各位同学好，欢迎来到《通用 AI 基础》。先说三个定心丸：零代码、零公式、全程岗位即落地。今天 120 分钟，我们的目标只有一个——从「我不懂」走到「我会用」。不用记住多少名词，只要最后你能真的把 AI 用在自己的活儿上，这节课就没白上。</a:t>
            </a:r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zh-CN" dirty="0"/>
              <a:t>七个章节，一条主线：先破误会（第 1 章），再搞懂 AI 是什么、怎么工作（第 2、3 章），然后学最实用的提示词（第 4 章），动手看工具、做演示（第 5 章），了解新一代 AI（第 6 章），最后守住安全底线、真正用起来（第 7 章）。右下角那句是全册心法：基础是大头，认知是入口，技术是手段——我们这节课不教你写代码，我们解决的是「认知」。</a:t>
            </a:r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zh-CN" dirty="0"/>
              <a:t>进入第一章。这一章只做两件事：拆掉你心里的三道坎，再让你发现——AI 其实早就在你身边了。</a:t>
            </a:r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zh-CN" dirty="0"/>
              <a:t>先做一个小互动：这三个误会，你现在心里还留着哪几个？举手示意就行，不用报名字。（停顿 15 秒）</a:t>
            </a:r>
          </a:p>
          <a:p>
            <a:endParaRPr lang="zh-CN" dirty="0"/>
          </a:p>
          <a:p>
            <a:r>
              <a:rPr lang="zh-CN" dirty="0"/>
              <a:t>误区一，「AI 会取代我」。真相是它放大你、不替代你——重复繁琐的活它先干，判断和拍板还在你手里。记住这句话：会用 AI 的人，才不会被会用 AI 的人取代。</a:t>
            </a:r>
          </a:p>
          <a:p>
            <a:endParaRPr lang="zh-CN" dirty="0"/>
          </a:p>
          <a:p>
            <a:r>
              <a:rPr lang="zh-CN" dirty="0"/>
              <a:t>误区二，「要会写代码」。写代码是造 AI 的人的活。会打字、会聊天，就能把 AI 用在工作里，就像你会用导航，不需要会造地图。</a:t>
            </a:r>
          </a:p>
          <a:p>
            <a:endParaRPr lang="zh-CN" dirty="0"/>
          </a:p>
          <a:p>
            <a:r>
              <a:rPr lang="zh-CN" dirty="0"/>
              <a:t>误区三，「太难学不会」。会微信就会用 AI。今天这节课走完，你就能在岗位上真正用起来。</a:t>
            </a:r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zh-CN" dirty="0"/>
              <a:t>进入第二章。很多名词——AI、机器学习、深度学习、大模型——大家经常混着说。这一章用一张家族树把它们一次讲清，听完你就知道它们到底是啥关系。</a:t>
            </a:r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zh-CN" dirty="0"/>
              <a:t>看这张图：最上面是人工智能，最大的圈，是让机器像人一样思考这个大目标；往里是机器学习，让机器从数据里自己找规律；再往里是深度学习，用神经网络学得更深；再往里是大模型，喂了海量文本的巨型网络；最底下、最小的这一支，是生成式 AI——能「写出」内容的那一支。</a:t>
            </a:r>
          </a:p>
          <a:p>
            <a:endParaRPr lang="zh-CN" dirty="0"/>
          </a:p>
          <a:p>
            <a:r>
              <a:rPr lang="zh-CN" dirty="0"/>
              <a:t>强调一句：这是一个家族，层层包含，不是五个并列的东西。而你平时说的「大模型」「ChatGPT 这类」，都站在最下面这一层。你学的是最下面这层，它最小，也最贴近你。</a:t>
            </a:r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zh-CN" dirty="0"/>
              <a:t>左边，擅长帮你「起草」：写东西、整理、翻译、想点子、答疑——都是它的强项。右边，别让它「拍板」：算精确的账容易错、记死准的事实会记串、重大决定它不能替你做、你单位的特殊规矩它也不知道。</a:t>
            </a:r>
          </a:p>
          <a:p>
            <a:endParaRPr lang="zh-CN" dirty="0"/>
          </a:p>
          <a:p>
            <a:r>
              <a:rPr lang="zh-CN" dirty="0"/>
              <a:t>口诀送给大家：能帮你起草，不能替你负责。以后凡是涉及钱的、涉及合规的，AI 出初稿，人来终审。</a:t>
            </a:r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zh-CN" dirty="0"/>
              <a:t>进入第三章。这一章回答两个问题：它为什么这么聪明？又为什么会一本正经地说错话？听完你会发现，所谓「幻觉」不是故障，是它工作原理的副产品。</a:t>
            </a:r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zh-CN" dirty="0"/>
              <a:t>大模型本质上是个「接话高手」。你问一句话，它把话拆成一个个小词块，然后一个词一个词往下接——预测下一个最可能的词，接出整段话。它读过海量文本，所以接得特别像那么回事。</a:t>
            </a:r>
          </a:p>
          <a:p>
            <a:endParaRPr lang="zh-CN" dirty="0"/>
          </a:p>
          <a:p>
            <a:r>
              <a:rPr lang="zh-CN" dirty="0"/>
              <a:t>这里有个细节：它不是「查答案」，没有标准答案本，它是「现场接着往下说」。这个特点，直接决定了它下一课的两个特点。</a:t>
            </a:r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zh-CN" dirty="0"/>
              <a:t>所以 AI 和搜索引擎是两码事。搜索引擎是「找」：把包含答案的网页链接列给你，答案在网页里，它只是导航员。大模型是「答」：把训练时读过的内容接成一段话直接给你，答案在它的「记忆」里——所以偶尔会一本正经地编。</a:t>
            </a:r>
          </a:p>
          <a:p>
            <a:endParaRPr lang="zh-CN" dirty="0"/>
          </a:p>
          <a:p>
            <a:r>
              <a:rPr lang="zh-CN" dirty="0"/>
              <a:t>用法建议：查事实用搜索，写东西用 AI，关键事实再回搜索核实。两个都好用，但别混用。</a:t>
            </a:r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zh-CN" dirty="0"/>
              <a:t>第一个短板：上下文窗口。它一次只能「记得」几万到几百万字的内容，超了就忘了前面的话——就像同时盯太多窗口会丢东西。所以长文档要分段喂，关键信息放前面。</a:t>
            </a:r>
          </a:p>
          <a:p>
            <a:endParaRPr lang="zh-CN" dirty="0"/>
          </a:p>
          <a:p>
            <a:r>
              <a:rPr lang="zh-CN" dirty="0"/>
              <a:t>第二个短板：幻觉。它会一本正经地编造听起来很对、其实是错的信息，而且说得特别自信。注意：越权威、越具体的「假答案」，越要核实。铁律就一句：关键信息，必须自己核实。</a:t>
            </a:r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zh-CN" dirty="0"/>
              <a:t>会聊天只是起点。现在的 AI 还会看图——拍黑板图表、产品照片给它，能看懂能分析；会听声音——会议录音转成文字，再让它总结、出纪要、找待办；会读表格——Excel 直接传，找异常、算公式、出结论；会读长文档——100 页 PDF 丢给它直接问。</a:t>
            </a:r>
          </a:p>
          <a:p>
            <a:endParaRPr lang="zh-CN" dirty="0"/>
          </a:p>
          <a:p>
            <a:r>
              <a:rPr lang="zh-CN" dirty="0"/>
              <a:t>记住：会发微信，就会用多模态 AI——图、音、文件，都是它的输入。</a:t>
            </a:r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zh-CN" dirty="0"/>
              <a:t>进入第四章，全课最实用的一章。同一个 AI，问法不同，答案天差地别——差的往往不是 AI，是你怎么问。这一章给你一套可以直接套的公式。</a:t>
            </a:r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zh-CN" dirty="0"/>
              <a:t>跟 AI 说话，把这五样讲清楚：角色——你是谁；背景——背景是啥；任务——要我干啥；约束——有什么限制；格式——给我什么格式。</a:t>
            </a:r>
          </a:p>
          <a:p>
            <a:endParaRPr lang="zh-CN" dirty="0"/>
          </a:p>
          <a:p>
            <a:r>
              <a:rPr lang="zh-CN" dirty="0"/>
              <a:t>看例子：「你是资深行政助理（角色）。下周例会有 3 项议程，我手上有纪要草稿（背景）。帮我写一条会议通知（任务）。100 字内、语气正式（约束）。用邮件体，末尾列 2 条待办（格式）」——每一格都是照着填的。口诀背下来：你是谁、背景是啥、要我干啥、有什么限制、给我什么格式。</a:t>
            </a:r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zh-CN" dirty="0"/>
              <a:t>对比一下。「帮我写个会议通知」——缺背景、缺约束，AI 只能瞎猜，出来的东西泛泛而谈，还要返工。</a:t>
            </a:r>
          </a:p>
          <a:p>
            <a:endParaRPr lang="zh-CN" dirty="0"/>
          </a:p>
          <a:p>
            <a:r>
              <a:rPr lang="zh-CN" dirty="0"/>
              <a:t>按五要素问呢？看下面这条完整的提示词，一次到位，直接能用。大家注意：这条提示词不需要多高级的词汇，就是把五格填满。今天回去就可以照着改你自己的版本。</a:t>
            </a:r>
          </a:p>
        </p:txBody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zh-CN" dirty="0"/>
              <a:t>重点来了：别指望一次成型。V1 初稿，方向对了但不够贴；V2 指出问题让它改——「第二段太空，加上具体数据和例子」；V3 微调定稿，改格式、换语气、补细节。一般到第三版就能用。口诀：一版像，三版好。</a:t>
            </a:r>
          </a:p>
          <a:p>
            <a:endParaRPr lang="zh-CN" dirty="0"/>
          </a:p>
          <a:p>
            <a:r>
              <a:rPr lang="zh-CN" dirty="0"/>
              <a:t>两个进阶技巧：给例子——「按上个月的格式写」，一个样例比一百句描述准；让它一步步想——复杂问题加一句「请分步分析」，正确率明显更高。</a:t>
            </a:r>
          </a:p>
          <a:p>
            <a:endParaRPr lang="zh-CN" dirty="0"/>
          </a:p>
          <a:p>
            <a:r>
              <a:rPr lang="zh-CN" dirty="0"/>
              <a:t>三个常见坑也提醒一下：问题太大（「写个方案」= 得到正确的废话）、不给背景（它只能猜）、一次塞太多（拆成 3 问）。</a:t>
            </a:r>
          </a:p>
          <a:p>
            <a:endParaRPr lang="zh-CN" dirty="0"/>
          </a:p>
          <a:p>
            <a:r>
              <a:rPr lang="zh-CN" dirty="0"/>
              <a:t>小互动：现在大家想一想，你手头最近的一份「难写的东西」是什么？试着用五要素在心里默写一遍提示词，等下可以举手分享。（10 秒）</a:t>
            </a:r>
          </a:p>
        </p:txBody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zh-CN" dirty="0"/>
              <a:t>进入第五章。光会提问还不够，得知道去哪儿用。这一章给大家一张工具地图，然后现场演示——WorkBuddy，当场就会。</a:t>
            </a:r>
          </a:p>
        </p:txBody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zh-CN" dirty="0"/>
              <a:t>六类工具，记住定位就行：聊天大模型是你的「AI 助手」，豆包、DeepSeek、Kimi 这类，注册就能问；办公 AI 嵌在你天天用的软件里，WPS AI、讯飞听见，上手最简单；Agent 平台让你自己搭「数字员工」，扣子、Manus、WorkBuddy；知识库工具把公司资料喂给 AI，问它答它、答案带出处；生成式媒体出图、出视频、出声音，即梦、可灵；编程类给程序员用的，知道有就行。</a:t>
            </a:r>
          </a:p>
          <a:p>
            <a:endParaRPr lang="zh-CN" dirty="0"/>
          </a:p>
          <a:p>
            <a:r>
              <a:rPr lang="zh-CN" dirty="0"/>
              <a:t>强调：地图不是清单。每类挑 1 个入门，别的知道在哪找就行，不用全装全试。</a:t>
            </a:r>
          </a:p>
        </p:txBody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zh-CN" dirty="0"/>
              <a:t>国内常见的五款，各有性格：DeepSeek 推理逻辑强、免费额度够用；Kimi 超长文档是强项，一次能读 200 页 PDF；豆包全能、语音最自然、门槛最低；文心一言公文和正式表达稳；通义、讯飞各有生态，按你用的平台选。</a:t>
            </a:r>
          </a:p>
          <a:p>
            <a:endParaRPr lang="zh-CN" dirty="0"/>
          </a:p>
          <a:p>
            <a:r>
              <a:rPr lang="zh-CN" dirty="0"/>
              <a:t>选模型一句话：别追最强、别追最新——先定 1-2 个主力用出手感，熟了再换。选型不玄学：场景合适 + 你顺手 + 团队都能用，就是好模型。另外提醒：榜单每月在变，这张表我们每季度核对一次，大家看个思路就行。</a:t>
            </a:r>
          </a:p>
        </p:txBody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zh-CN" dirty="0"/>
              <a:t>零代码，会打字就能用。三步：装/注册（用工作号或公司账号）、第一次对话（「帮我写份周报，我是…」）、改结果（不满意？补条件再问）。</a:t>
            </a:r>
          </a:p>
          <a:p>
            <a:endParaRPr lang="zh-CN" dirty="0"/>
          </a:p>
          <a:p>
            <a:r>
              <a:rPr lang="zh-CN" dirty="0"/>
              <a:t>五个岗位场景对号入座：高校老师——五要素让 AI 出教案与课件初稿，人工核对重点，定稿；学校行政——粘贴成绩表找异常、出结论，再起草家长会通知；企业员工——五要素出周报、贴销售表找异常给结论；通用的两个：长文档问答、材料整理。每个都是「AI 初稿 + 人核」的结构，回去照着做。</a:t>
            </a:r>
          </a:p>
        </p:txBody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zh-CN" dirty="0"/>
              <a:t>WorkBuddy 是 AI 工作助理：你说目标，它自动拆解、执行、交付。六个能力：一句话办任务（「把这 10 份资料整理成 1 份 PPT」）；做文档与 PPT（页数、风格、结构都能指定，产出可编辑文件）；整理与分析数据（注意：数字必须自己核对原表）；读长文档、问答（答案带出处）；定时与重复任务（到点自动跑）；三步上手（注册登录→上传资料→发第一句话）。</a:t>
            </a:r>
          </a:p>
          <a:p>
            <a:endParaRPr lang="zh-CN" dirty="0"/>
          </a:p>
          <a:p>
            <a:r>
              <a:rPr lang="zh-CN" dirty="0"/>
              <a:t>这一章的核心转变：从「你用的工具」到「替你干活的数字同事」。关键不是会用几个功能，而是敢不敢派一个完整任务。</a:t>
            </a:r>
          </a:p>
        </p:txBody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zh-CN" dirty="0"/>
              <a:t>接下来 10 分钟是现场演示，大家看三件事：</a:t>
            </a:r>
          </a:p>
          <a:p>
            <a:endParaRPr lang="zh-CN" dirty="0"/>
          </a:p>
          <a:p>
            <a:r>
              <a:rPr lang="zh-CN" dirty="0"/>
              <a:t>第一步，一句话派活——「把这些资料整理成 10 页 PPT，再给我 1 页要点总结」，当场发出。（操作：发送任务，屏幕共享）</a:t>
            </a:r>
          </a:p>
          <a:p>
            <a:endParaRPr lang="zh-CN" dirty="0"/>
          </a:p>
          <a:p>
            <a:r>
              <a:rPr lang="zh-CN" dirty="0"/>
              <a:t>第二步，看它干三处：① 它怎么拆解任务——大家注意它把大任务拆成了哪几步；② 它怎么调工具——读文件、建文档，这些都是「调工具」，人不用动手；③ 交付物是什么——注意它是给你文件（PPT + 总结页），不只是一段文字回答。</a:t>
            </a:r>
          </a:p>
          <a:p>
            <a:endParaRPr lang="zh-CN" dirty="0"/>
          </a:p>
          <a:p>
            <a:r>
              <a:rPr lang="zh-CN" dirty="0"/>
              <a:t>第三步，三步上手——注册登录、把资料传进资料库、发出第一句话。今天看完演示，回去就能照着做。</a:t>
            </a:r>
          </a:p>
          <a:p>
            <a:endParaRPr lang="zh-CN" dirty="0"/>
          </a:p>
          <a:p>
            <a:r>
              <a:rPr lang="zh-CN" dirty="0"/>
              <a:t>（演示纪律提醒：全程用脱敏/虚构数据，不输入学生、公司的敏感信息；重要产出，人终审。大家平时自己演示也要遵守这条。）</a:t>
            </a:r>
          </a:p>
        </p:txBody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zh-CN" dirty="0"/>
              <a:t>演示完了，趁热讲红线。三条记牢：</a:t>
            </a:r>
          </a:p>
          <a:p>
            <a:endParaRPr lang="zh-CN" dirty="0"/>
          </a:p>
          <a:p>
            <a:r>
              <a:rPr lang="zh-CN" dirty="0"/>
              <a:t>红线一，敏感数据不进公网 AI——商业机密、客户隐私、财务信息、证件照片，一律不进未经批准的外部工具，这就是防「影子 AI」。</a:t>
            </a:r>
          </a:p>
          <a:p>
            <a:endParaRPr lang="zh-CN" dirty="0"/>
          </a:p>
          <a:p>
            <a:r>
              <a:rPr lang="zh-CN" dirty="0"/>
              <a:t>红线二，先查数据政策再用——用之前问三个问题：数据会被拿去训练吗？有没有企业版/私有化？谁能看到我的输入？先查规矩，再上手。</a:t>
            </a:r>
          </a:p>
          <a:p>
            <a:endParaRPr lang="zh-CN" dirty="0"/>
          </a:p>
          <a:p>
            <a:r>
              <a:rPr lang="zh-CN" dirty="0"/>
              <a:t>红线三，关键结果人终审——凡涉及钱、合规、对外发布，最后一步一定是人：核对、拍板、负责。</a:t>
            </a:r>
          </a:p>
          <a:p>
            <a:endParaRPr lang="zh-CN" dirty="0"/>
          </a:p>
          <a:p>
            <a:r>
              <a:rPr lang="zh-CN" dirty="0"/>
              <a:t>现在做个课堂小练习（约 5 分钟）：给你 6 个工具——公网聊天 AI、公司批准的 WorkBuddy、个人用的翻译软件、一个来路不明的「AI 写公文」小站、公司知识库、朋友推荐的出图工具。哪些敢用在工作里？哪些不敢？为什么？分两组讨论，然后各请一位同学说结论。</a:t>
            </a:r>
          </a:p>
        </p:txBody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zh-CN" dirty="0"/>
              <a:t>除了干活，AI 还能「创造」：出图——课件插图、班级海报，描述清楚「主体+风格+用途」，2 分钟出图，即梦、可灵都有免费额度；出视频——一句描述加一张图，生成 5-15 秒短片，模板化为主，别指望大片效果；出声音——粘贴朗读稿选音色，直接出音频，微课、通知配音，省下录音棚。</a:t>
            </a:r>
          </a:p>
          <a:p>
            <a:endParaRPr lang="zh-CN" dirty="0"/>
          </a:p>
          <a:p>
            <a:r>
              <a:rPr lang="zh-CN" dirty="0"/>
              <a:t>红线再强调一次：真人肖像、声音，未经同意不能用。这是法律底线，不是技术建议。</a:t>
            </a:r>
          </a:p>
        </p:txBody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zh-CN" dirty="0"/>
              <a:t>进入第六章。你会问：前面讲的「聊天 AI」都挺强了，还差什么？差的是「从能聊到能干活」。这一章讲两个新东西：Agent，和知识库。</a:t>
            </a:r>
          </a:p>
        </p:txBody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zh-CN" dirty="0"/>
              <a:t>传统聊天 AI 是你问一句、它答一句。Agent 不一样：你给它目标，它自己「感知→计划→行动→观察」，一轮轮逼近完成——自己拆解、自己调工具执行、干完看结果、发现不行再调整。</a:t>
            </a:r>
          </a:p>
          <a:p>
            <a:endParaRPr lang="zh-CN" dirty="0"/>
          </a:p>
          <a:p>
            <a:r>
              <a:rPr lang="zh-CN" dirty="0"/>
              <a:t>它就像一个勤快的实习生：自己跑腿，还会自己检查。WorkBuddy 独立完成一个整理任务，就是典型的 Agent 行为。你前面已经用过它了，只是当时没意识到。</a:t>
            </a:r>
          </a:p>
        </p:txBody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zh-CN" dirty="0"/>
              <a:t>但「自己干活」的 AI，安全等级不一样。两种干活方式：Copilot 副驾驶——你开，它给建议，方向盘始终在你手里，每一步你确认你来按，安全可控，你平时用的 AI 助手多数属于这类；Agent 自动驾驶——它开，你在副驾看着，它自己规划自己执行，你负责监督把关、随时喊停。</a:t>
            </a:r>
          </a:p>
          <a:p>
            <a:endParaRPr lang="zh-CN" dirty="0"/>
          </a:p>
          <a:p>
            <a:r>
              <a:rPr lang="zh-CN" dirty="0"/>
              <a:t>结论：自主性越高，越需要人盯着。给它派活之前，先想好：它跑偏了我怎么停、结果错了谁来负责。</a:t>
            </a:r>
          </a:p>
        </p:txBody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zh-CN" dirty="0"/>
              <a:t>再看知识库。大模型有两个短板：知识有截止日期，而且不懂你单位的内部资料。知识库就是补这两块——五步走：资料上传、「读书」学习、按问题找相关段落、照着答、答案带出处可回溯。</a:t>
            </a:r>
          </a:p>
          <a:p>
            <a:endParaRPr lang="zh-CN" dirty="0"/>
          </a:p>
          <a:p>
            <a:r>
              <a:rPr lang="zh-CN" dirty="0"/>
              <a:t>一句话：从「闭卷瞎猜」到「开卷有据」。这也是为什么「公司批准的 AI + 内部知识库」比你自己拿公网 AI 野猜靠谱得多——答案有出处，能回溯核对。</a:t>
            </a:r>
          </a:p>
        </p:txBody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zh-CN" dirty="0"/>
              <a:t>进入最后一章。风险不是让你别用，是告诉你怎么用得安全。讲完风险，我们把整门课收个尾——从 1 个小任务，真正用起来。</a:t>
            </a:r>
          </a:p>
        </p:txBody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zh-CN" dirty="0"/>
              <a:t>四个坑，认得出来你就比大多数人安全：幻觉——一本正经地编错信息，对策就是核实；偏见——把数据里的偏见原样带出来，用在评价、分班这类场景要格外小心；影子 AI——乱用未经批准的工具，数据从你的「方便」里漏出去；数据泄露——把公司机密、个人信息喂给外部 AI。</a:t>
            </a:r>
          </a:p>
          <a:p>
            <a:endParaRPr lang="zh-CN" dirty="0"/>
          </a:p>
          <a:p>
            <a:r>
              <a:rPr lang="zh-CN" dirty="0"/>
              <a:t>记住：会防守，才敢放手用。</a:t>
            </a:r>
          </a:p>
        </p:txBody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zh-CN" dirty="0"/>
              <a:t>四条记牢：可以喂——公开资料、脱敏后的数据、一般性工作知识；绝对不能喂——公司机密、客户隐私、未公开财务、证件照片；只走批准的工具——不用公司没评估过的 AI，防止影子 AI；人做最后把关——AI 出初稿，重要判断和发布由你拍板。</a:t>
            </a:r>
          </a:p>
          <a:p>
            <a:endParaRPr lang="zh-CN" dirty="0"/>
          </a:p>
          <a:p>
            <a:r>
              <a:rPr lang="zh-CN" dirty="0"/>
              <a:t>底下这条是责任四原则：人监督、可解释、合规、公平。记住这条线，怎么用都不会翻车。</a:t>
            </a:r>
          </a:p>
        </p:txBody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zh-CN" dirty="0"/>
              <a:t>结课前，对着屏幕自检九条：能画 AI 家族树、能写五要素提示词、知道会「幻觉」会核实、能讲清知识库原理、会用至少 2 个工具并完成 1 个任务、能给 AI 工作助理派活并验收、数据红线守得住、能落地 1 个「AI 初稿+人终审」的小场景、敢追问会追问。</a:t>
            </a:r>
          </a:p>
          <a:p>
            <a:endParaRPr lang="zh-CN" dirty="0"/>
          </a:p>
          <a:p>
            <a:r>
              <a:rPr lang="zh-CN" dirty="0"/>
              <a:t>互动：现在数一数，你心里能打几个勾？（停顿）不管几个勾，记住最后一件事——回去先落地 1 个小场景。不用多，一个就行：让 AI 出初稿，你来终审。</a:t>
            </a:r>
          </a:p>
        </p:txBody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zh-CN" dirty="0"/>
              <a:t>送大家一句话：AI 不是来取代你的，是来成全你的。</a:t>
            </a:r>
          </a:p>
          <a:p>
            <a:endParaRPr lang="zh-CN" dirty="0"/>
          </a:p>
          <a:p>
            <a:r>
              <a:rPr lang="zh-CN" dirty="0"/>
              <a:t>它放大你的判断、接管你的重复劳动、补上你不熟的技能——但方向盘始终在你手里。下一步：把今天学到的，落到你的岗位，从 1 个小任务开始。工具清单、提示词模板都在课后资料里，有问题随时来问。谢谢大家！</a:t>
            </a:r>
          </a:p>
        </p:txBody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_fff2829b0551893a.png"/><Relationship Id="rId3" Type="http://schemas.openxmlformats.org/officeDocument/2006/relationships/notesSlide" Target="../notesSlides/notesSlide12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_a9c729d8a98275a1.png"/><Relationship Id="rId3" Type="http://schemas.openxmlformats.org/officeDocument/2006/relationships/notesSlide" Target="../notesSlides/notesSlide20.xm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.xml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3.xml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_570a43c7ae42d4bf.png"/><Relationship Id="rId3" Type="http://schemas.openxmlformats.org/officeDocument/2006/relationships/notesSlide" Target="../notesSlides/notesSlide24.xml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5.xml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6.xml"/></Relationships>
</file>

<file path=ppt/slides/_rels/slide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7.xml"/></Relationships>
</file>

<file path=ppt/slides/_rels/slide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8.xml"/></Relationships>
</file>

<file path=ppt/slides/_rels/slide4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9.xml"/></Relationships>
</file>

<file path=ppt/slides/_rels/slide4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0.xml"/></Relationships>
</file>

<file path=ppt/slides/_rels/slide4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4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4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4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1.xml"/></Relationships>
</file>

<file path=ppt/slides/_rels/slide4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4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_a9c729d8a98275a1.png"/></Relationships>
</file>

<file path=ppt/slides/_rels/slide4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4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_a9c729d8a98275a1.png"/></Relationships>
</file>

<file path=ppt/slides/_rels/slide5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2.xml"/></Relationships>
</file>

<file path=ppt/slides/_rels/slide5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1" name="Group 11"/>
          <p:cNvGrpSpPr/>
          <p:nvPr/>
        </p:nvGrpSpPr>
        <p:grpSpPr>
          <a:xfrm>
            <a:off x="-666750" y="-1333500"/>
            <a:ext cx="14763750" cy="10096500"/>
            <a:chOff x="-666750" y="-1333500"/>
            <a:chExt cx="14763750" cy="10096500"/>
          </a:xfrm>
        </p:grpSpPr>
        <p:sp>
          <p:nvSpPr>
            <p:cNvPr id="2" name="Rectangle 2"/>
            <p:cNvSpPr/>
            <p:nvPr/>
          </p:nvSpPr>
          <p:spPr>
            <a:xfrm>
              <a:off x="0" y="0"/>
              <a:ext cx="12192000" cy="6858000"/>
            </a:xfrm>
            <a:prstGeom prst="rect">
              <a:avLst/>
            </a:prstGeom>
            <a:gradFill>
              <a:gsLst>
                <a:gs pos="0">
                  <a:srgbClr val="0B4EA2"/>
                </a:gs>
                <a:gs pos="55000">
                  <a:srgbClr val="1565D8"/>
                </a:gs>
                <a:gs pos="100000">
                  <a:srgbClr val="35A3E8"/>
                </a:gs>
              </a:gsLst>
              <a:lin ang="2700000" scaled="1"/>
            </a:gradFill>
            <a:ln>
              <a:noFill/>
            </a:ln>
          </p:spPr>
          <p:txBody>
            <a:bodyPr/>
            <a:p/>
          </p:txBody>
        </p:sp>
        <p:sp>
          <p:nvSpPr>
            <p:cNvPr id="3" name="Ellipse 3"/>
            <p:cNvSpPr/>
            <p:nvPr/>
          </p:nvSpPr>
          <p:spPr>
            <a:xfrm>
              <a:off x="8382000" y="3048000"/>
              <a:ext cx="5715000" cy="5715000"/>
            </a:xfrm>
            <a:prstGeom prst="ellipse">
              <a:avLst/>
            </a:prstGeom>
            <a:noFill/>
            <a:ln w="14288">
              <a:solidFill>
                <a:srgbClr val="FFFFFF">
                  <a:alpha val="10000"/>
                </a:srgbClr>
              </a:solidFill>
            </a:ln>
          </p:spPr>
          <p:txBody>
            <a:bodyPr/>
            <a:p/>
          </p:txBody>
        </p:sp>
        <p:sp>
          <p:nvSpPr>
            <p:cNvPr id="4" name="Ellipse 4"/>
            <p:cNvSpPr/>
            <p:nvPr/>
          </p:nvSpPr>
          <p:spPr>
            <a:xfrm>
              <a:off x="9048750" y="3714750"/>
              <a:ext cx="4381500" cy="4381500"/>
            </a:xfrm>
            <a:prstGeom prst="ellipse">
              <a:avLst/>
            </a:prstGeom>
            <a:noFill/>
            <a:ln w="14288">
              <a:solidFill>
                <a:srgbClr val="FFFFFF">
                  <a:alpha val="14000"/>
                </a:srgbClr>
              </a:solidFill>
              <a:custDash>
                <a:ds d="266666" sp="533333"/>
              </a:custDash>
            </a:ln>
          </p:spPr>
          <p:txBody>
            <a:bodyPr/>
            <a:p/>
          </p:txBody>
        </p:sp>
        <p:sp>
          <p:nvSpPr>
            <p:cNvPr id="5" name="Ellipse 5"/>
            <p:cNvSpPr/>
            <p:nvPr/>
          </p:nvSpPr>
          <p:spPr>
            <a:xfrm>
              <a:off x="9715500" y="4381500"/>
              <a:ext cx="3048000" cy="3048000"/>
            </a:xfrm>
            <a:prstGeom prst="ellipse">
              <a:avLst/>
            </a:prstGeom>
            <a:noFill/>
            <a:ln w="14288">
              <a:solidFill>
                <a:srgbClr val="FFFFFF">
                  <a:alpha val="10000"/>
                </a:srgbClr>
              </a:solidFill>
            </a:ln>
          </p:spPr>
          <p:txBody>
            <a:bodyPr/>
            <a:p/>
          </p:txBody>
        </p:sp>
        <p:sp>
          <p:nvSpPr>
            <p:cNvPr id="6" name="Ellipse 6"/>
            <p:cNvSpPr/>
            <p:nvPr/>
          </p:nvSpPr>
          <p:spPr>
            <a:xfrm>
              <a:off x="-666750" y="-1333500"/>
              <a:ext cx="4191000" cy="4191000"/>
            </a:xfrm>
            <a:prstGeom prst="ellipse">
              <a:avLst/>
            </a:prstGeom>
            <a:noFill/>
            <a:ln w="14288">
              <a:solidFill>
                <a:srgbClr val="FFFFFF">
                  <a:alpha val="8000"/>
                </a:srgbClr>
              </a:solidFill>
            </a:ln>
          </p:spPr>
          <p:txBody>
            <a:bodyPr/>
            <a:p/>
          </p:txBody>
        </p:sp>
        <p:sp>
          <p:nvSpPr>
            <p:cNvPr id="7" name="Ellipse 7"/>
            <p:cNvSpPr/>
            <p:nvPr/>
          </p:nvSpPr>
          <p:spPr>
            <a:xfrm>
              <a:off x="0" y="-666750"/>
              <a:ext cx="2857500" cy="2857500"/>
            </a:xfrm>
            <a:prstGeom prst="ellipse">
              <a:avLst/>
            </a:prstGeom>
            <a:noFill/>
            <a:ln w="14288">
              <a:solidFill>
                <a:srgbClr val="FFFFFF">
                  <a:alpha val="12000"/>
                </a:srgbClr>
              </a:solidFill>
              <a:custDash>
                <a:ds d="200000" sp="600000"/>
              </a:custDash>
            </a:ln>
          </p:spPr>
          <p:txBody>
            <a:bodyPr/>
            <a:p/>
          </p:txBody>
        </p:sp>
        <p:sp>
          <p:nvSpPr>
            <p:cNvPr id="8" name="Ellipse 8"/>
            <p:cNvSpPr/>
            <p:nvPr/>
          </p:nvSpPr>
          <p:spPr>
            <a:xfrm>
              <a:off x="9944100" y="990600"/>
              <a:ext cx="114300" cy="114300"/>
            </a:xfrm>
            <a:prstGeom prst="ellipse">
              <a:avLst/>
            </a:prstGeom>
            <a:solidFill>
              <a:srgbClr val="FFFFFF">
                <a:alpha val="18000"/>
              </a:srgbClr>
            </a:solidFill>
            <a:ln>
              <a:noFill/>
            </a:ln>
          </p:spPr>
          <p:txBody>
            <a:bodyPr/>
            <a:p/>
          </p:txBody>
        </p:sp>
        <p:sp>
          <p:nvSpPr>
            <p:cNvPr id="9" name="Ellipse 9"/>
            <p:cNvSpPr/>
            <p:nvPr/>
          </p:nvSpPr>
          <p:spPr>
            <a:xfrm>
              <a:off x="10629900" y="1676400"/>
              <a:ext cx="76200" cy="76200"/>
            </a:xfrm>
            <a:prstGeom prst="ellipse">
              <a:avLst/>
            </a:prstGeom>
            <a:solidFill>
              <a:srgbClr val="FFFFFF">
                <a:alpha val="22000"/>
              </a:srgbClr>
            </a:solidFill>
            <a:ln>
              <a:noFill/>
            </a:ln>
          </p:spPr>
          <p:txBody>
            <a:bodyPr/>
            <a:p/>
          </p:txBody>
        </p:sp>
        <p:sp>
          <p:nvSpPr>
            <p:cNvPr id="10" name="Ellipse 10"/>
            <p:cNvSpPr/>
            <p:nvPr/>
          </p:nvSpPr>
          <p:spPr>
            <a:xfrm>
              <a:off x="9286875" y="619125"/>
              <a:ext cx="95250" cy="95250"/>
            </a:xfrm>
            <a:prstGeom prst="ellipse">
              <a:avLst/>
            </a:prstGeom>
            <a:solidFill>
              <a:srgbClr val="FFFFFF">
                <a:alpha val="15000"/>
              </a:srgbClr>
            </a:solidFill>
            <a:ln>
              <a:noFill/>
            </a:ln>
          </p:spPr>
          <p:txBody>
            <a:bodyPr/>
            <a:p/>
          </p:txBody>
        </p:sp>
      </p:grpSp>
      <p:sp>
        <p:nvSpPr>
          <p:cNvPr id="12" name="TextBox 12"/>
          <p:cNvSpPr txBox="1"/>
          <p:nvPr/>
        </p:nvSpPr>
        <p:spPr>
          <a:xfrm>
            <a:off x="560070" y="474345"/>
            <a:ext cx="634937" cy="18288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900" dirty="0">
                <a:solidFill>
                  <a:srgbClr val="FFFFFF">
                    <a:alphaMod val="50000"/>
                  </a:srgbClr>
                </a:solidFill>
                <a:latin typeface="Arial"/>
                <a:ea typeface="Microsoft YaHei"/>
                <a:cs typeface="Arial"/>
              </a:rPr>
              <a:t>LOGO HERE</a:t>
            </a:r>
          </a:p>
        </p:txBody>
      </p:sp>
      <p:grpSp>
        <p:nvGrpSpPr>
          <p:cNvPr id="15" name="Group 15"/>
          <p:cNvGrpSpPr/>
          <p:nvPr/>
        </p:nvGrpSpPr>
        <p:grpSpPr>
          <a:xfrm>
            <a:off x="556260" y="1428750"/>
            <a:ext cx="2158746" cy="495300"/>
            <a:chOff x="556260" y="1428750"/>
            <a:chExt cx="2158746" cy="495300"/>
          </a:xfrm>
        </p:grpSpPr>
        <p:sp>
          <p:nvSpPr>
            <p:cNvPr id="13" name="Rectangle 13"/>
            <p:cNvSpPr/>
            <p:nvPr/>
          </p:nvSpPr>
          <p:spPr>
            <a:xfrm>
              <a:off x="571500" y="1428750"/>
              <a:ext cx="419100" cy="38100"/>
            </a:xfrm>
            <a:prstGeom prst="roundRect">
              <a:avLst>
                <a:gd name="adj" fmla="val 50000"/>
              </a:avLst>
            </a:prstGeom>
            <a:solidFill>
              <a:srgbClr val="FFFFFF">
                <a:alpha val="85000"/>
              </a:srgbClr>
            </a:solidFill>
            <a:ln>
              <a:noFill/>
            </a:ln>
          </p:spPr>
          <p:txBody>
            <a:bodyPr/>
            <a:p/>
          </p:txBody>
        </p:sp>
        <p:sp>
          <p:nvSpPr>
            <p:cNvPr id="14" name="TextBox 14"/>
            <p:cNvSpPr txBox="1"/>
            <p:nvPr/>
          </p:nvSpPr>
          <p:spPr>
            <a:xfrm>
              <a:off x="556260" y="1680210"/>
              <a:ext cx="2158746" cy="24384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00" dirty="0">
                  <a:solidFill>
                    <a:srgbClr val="FFFFFF">
                      <a:alphaMod val="75000"/>
                    </a:srgbClr>
                  </a:solidFill>
                  <a:latin typeface="Arial"/>
                  <a:ea typeface="Microsoft YaHei"/>
                  <a:cs typeface="Arial"/>
                </a:rPr>
                <a:t>大模型通识与实战 · 企业版</a:t>
              </a:r>
            </a:p>
          </p:txBody>
        </p:sp>
      </p:grpSp>
      <p:grpSp>
        <p:nvGrpSpPr>
          <p:cNvPr id="19" name="Group 19"/>
          <p:cNvGrpSpPr/>
          <p:nvPr/>
        </p:nvGrpSpPr>
        <p:grpSpPr>
          <a:xfrm>
            <a:off x="506730" y="2306955"/>
            <a:ext cx="5960459" cy="1774507"/>
            <a:chOff x="506730" y="2306955"/>
            <a:chExt cx="5960459" cy="1774507"/>
          </a:xfrm>
        </p:grpSpPr>
        <p:sp>
          <p:nvSpPr>
            <p:cNvPr id="16" name="TextBox 16"/>
            <p:cNvSpPr txBox="1"/>
            <p:nvPr/>
          </p:nvSpPr>
          <p:spPr>
            <a:xfrm>
              <a:off x="506730" y="2306955"/>
              <a:ext cx="4021326" cy="103632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5100" b="1" dirty="0">
                  <a:solidFill>
                    <a:srgbClr val="FFFFFF"/>
                  </a:solidFill>
                  <a:latin typeface="Arial"/>
                  <a:ea typeface="Microsoft YaHei"/>
                  <a:cs typeface="Arial"/>
                </a:rPr>
                <a:t>人人都能用的大模型</a:t>
              </a:r>
            </a:p>
          </p:txBody>
        </p:sp>
        <p:sp>
          <p:nvSpPr>
            <p:cNvPr id="17" name="TextBox 17"/>
            <p:cNvSpPr txBox="1"/>
            <p:nvPr/>
          </p:nvSpPr>
          <p:spPr>
            <a:xfrm>
              <a:off x="548640" y="3253740"/>
              <a:ext cx="2554034" cy="36576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800" dirty="0">
                  <a:solidFill>
                    <a:srgbClr val="FFFFFF">
                      <a:alphaMod val="92000"/>
                    </a:srgbClr>
                  </a:solidFill>
                  <a:latin typeface="Arial"/>
                  <a:ea typeface="Microsoft YaHei"/>
                  <a:cs typeface="Arial"/>
                </a:rPr>
                <a:t>企业 AI 素养第一课</a:t>
              </a:r>
            </a:p>
          </p:txBody>
        </p:sp>
        <p:sp>
          <p:nvSpPr>
            <p:cNvPr id="18" name="TextBox 18"/>
            <p:cNvSpPr txBox="1"/>
            <p:nvPr/>
          </p:nvSpPr>
          <p:spPr>
            <a:xfrm>
              <a:off x="550545" y="3746182"/>
              <a:ext cx="5916644" cy="33528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650" dirty="0">
                  <a:solidFill>
                    <a:srgbClr val="FFFFFF">
                      <a:alphaMod val="80000"/>
                    </a:srgbClr>
                  </a:solidFill>
                  <a:latin typeface="Arial"/>
                  <a:ea typeface="Microsoft YaHei"/>
                  <a:cs typeface="Arial"/>
                </a:rPr>
                <a:t>从「我不懂」到「我会用」—— 零代码 · 零公式 · 岗位即落地</a:t>
              </a:r>
            </a:p>
          </p:txBody>
        </p:sp>
      </p:grpSp>
      <p:grpSp>
        <p:nvGrpSpPr>
          <p:cNvPr id="26" name="Group 26"/>
          <p:cNvGrpSpPr/>
          <p:nvPr/>
        </p:nvGrpSpPr>
        <p:grpSpPr>
          <a:xfrm>
            <a:off x="571500" y="4476750"/>
            <a:ext cx="4152900" cy="419100"/>
            <a:chOff x="571500" y="4476750"/>
            <a:chExt cx="4152900" cy="419100"/>
          </a:xfrm>
        </p:grpSpPr>
        <p:sp>
          <p:nvSpPr>
            <p:cNvPr id="20" name="Rectangle 20"/>
            <p:cNvSpPr/>
            <p:nvPr/>
          </p:nvSpPr>
          <p:spPr>
            <a:xfrm>
              <a:off x="571500" y="4476750"/>
              <a:ext cx="1333500" cy="419100"/>
            </a:xfrm>
            <a:prstGeom prst="roundRect">
              <a:avLst>
                <a:gd name="adj" fmla="val 50000"/>
              </a:avLst>
            </a:prstGeom>
            <a:solidFill>
              <a:srgbClr val="FFFFFF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1" name="TextBox 21"/>
            <p:cNvSpPr txBox="1"/>
            <p:nvPr/>
          </p:nvSpPr>
          <p:spPr>
            <a:xfrm>
              <a:off x="857235" y="4597718"/>
              <a:ext cx="762031" cy="27432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350" b="1" dirty="0">
                  <a:solidFill>
                    <a:srgbClr val="1565D8"/>
                  </a:solidFill>
                  <a:latin typeface="Arial"/>
                  <a:ea typeface="Microsoft YaHei"/>
                  <a:cs typeface="Arial"/>
                </a:rPr>
                <a:t>7 大章节</a:t>
              </a:r>
            </a:p>
          </p:txBody>
        </p:sp>
        <p:sp>
          <p:nvSpPr>
            <p:cNvPr id="22" name="Rectangle 22"/>
            <p:cNvSpPr/>
            <p:nvPr/>
          </p:nvSpPr>
          <p:spPr>
            <a:xfrm>
              <a:off x="2076450" y="4476750"/>
              <a:ext cx="1047750" cy="419100"/>
            </a:xfrm>
            <a:prstGeom prst="roundRect">
              <a:avLst>
                <a:gd name="adj" fmla="val 50000"/>
              </a:avLst>
            </a:prstGeom>
            <a:solidFill>
              <a:srgbClr val="FFFFFF">
                <a:alpha val="94000"/>
              </a:srgbClr>
            </a:solidFill>
            <a:ln>
              <a:noFill/>
            </a:ln>
          </p:spPr>
          <p:txBody>
            <a:bodyPr/>
            <a:p/>
          </p:txBody>
        </p:sp>
        <p:sp>
          <p:nvSpPr>
            <p:cNvPr id="23" name="TextBox 23"/>
            <p:cNvSpPr txBox="1"/>
            <p:nvPr/>
          </p:nvSpPr>
          <p:spPr>
            <a:xfrm>
              <a:off x="2356352" y="4597718"/>
              <a:ext cx="487947" cy="27432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350" b="1" dirty="0">
                  <a:solidFill>
                    <a:srgbClr val="1565D8"/>
                  </a:solidFill>
                  <a:latin typeface="Arial"/>
                  <a:ea typeface="Microsoft YaHei"/>
                  <a:cs typeface="Arial"/>
                </a:rPr>
                <a:t>44 页</a:t>
              </a:r>
            </a:p>
          </p:txBody>
        </p:sp>
        <p:sp>
          <p:nvSpPr>
            <p:cNvPr id="24" name="Rectangle 24"/>
            <p:cNvSpPr/>
            <p:nvPr/>
          </p:nvSpPr>
          <p:spPr>
            <a:xfrm>
              <a:off x="3295650" y="4476750"/>
              <a:ext cx="1428750" cy="419100"/>
            </a:xfrm>
            <a:prstGeom prst="roundRect">
              <a:avLst>
                <a:gd name="adj" fmla="val 50000"/>
              </a:avLst>
            </a:prstGeom>
            <a:noFill/>
            <a:ln w="14288">
              <a:solidFill>
                <a:srgbClr val="FFFFFF">
                  <a:alpha val="70000"/>
                </a:srgbClr>
              </a:solidFill>
            </a:ln>
          </p:spPr>
          <p:txBody>
            <a:bodyPr/>
            <a:p/>
          </p:txBody>
        </p:sp>
        <p:sp>
          <p:nvSpPr>
            <p:cNvPr id="25" name="TextBox 25"/>
            <p:cNvSpPr txBox="1"/>
            <p:nvPr/>
          </p:nvSpPr>
          <p:spPr>
            <a:xfrm>
              <a:off x="3520321" y="4597718"/>
              <a:ext cx="979408" cy="27432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350" b="1" dirty="0">
                  <a:solidFill>
                    <a:srgbClr val="FFFFFF"/>
                  </a:solidFill>
                  <a:latin typeface="Arial"/>
                  <a:ea typeface="Microsoft YaHei"/>
                  <a:cs typeface="Arial"/>
                </a:rPr>
                <a:t>全程零代码</a:t>
              </a:r>
            </a:p>
          </p:txBody>
        </p:sp>
      </p:grpSp>
      <p:grpSp>
        <p:nvGrpSpPr>
          <p:cNvPr id="29" name="Group 29"/>
          <p:cNvGrpSpPr/>
          <p:nvPr/>
        </p:nvGrpSpPr>
        <p:grpSpPr>
          <a:xfrm>
            <a:off x="595312" y="6013450"/>
            <a:ext cx="3355658" cy="220662"/>
            <a:chOff x="595312" y="6013450"/>
            <a:chExt cx="3355658" cy="220662"/>
          </a:xfrm>
        </p:grpSpPr>
        <p:sp>
          <p:nvSpPr>
            <p:cNvPr id="27" name="Freeform 27"/>
            <p:cNvSpPr/>
            <p:nvPr/>
          </p:nvSpPr>
          <p:spPr>
            <a:xfrm>
              <a:off x="595312" y="6013450"/>
              <a:ext cx="134938" cy="127000"/>
            </a:xfrm>
            <a:custGeom>
              <a:avLst/>
              <a:gdLst/>
              <a:ahLst/>
              <a:cxnLst/>
              <a:rect l="l" t="t" r="r" b="b"/>
              <a:pathLst>
                <a:path w="134938" h="127000">
                  <a:moveTo>
                    <a:pt x="103187" y="111125"/>
                  </a:moveTo>
                  <a:cubicBezTo>
                    <a:pt x="111955" y="111125"/>
                    <a:pt x="119062" y="118232"/>
                    <a:pt x="119062" y="127000"/>
                  </a:cubicBezTo>
                  <a:cubicBezTo>
                    <a:pt x="119062" y="118232"/>
                    <a:pt x="126170" y="111125"/>
                    <a:pt x="134938" y="111125"/>
                  </a:cubicBezTo>
                  <a:cubicBezTo>
                    <a:pt x="126170" y="111125"/>
                    <a:pt x="119062" y="104018"/>
                    <a:pt x="119062" y="95250"/>
                  </a:cubicBezTo>
                  <a:cubicBezTo>
                    <a:pt x="119062" y="104018"/>
                    <a:pt x="111955" y="111125"/>
                    <a:pt x="103187" y="111125"/>
                  </a:cubicBezTo>
                  <a:moveTo>
                    <a:pt x="103187" y="15875"/>
                  </a:moveTo>
                  <a:cubicBezTo>
                    <a:pt x="111955" y="15875"/>
                    <a:pt x="119062" y="22982"/>
                    <a:pt x="119062" y="31750"/>
                  </a:cubicBezTo>
                  <a:cubicBezTo>
                    <a:pt x="119062" y="22982"/>
                    <a:pt x="126170" y="15875"/>
                    <a:pt x="134938" y="15875"/>
                  </a:cubicBezTo>
                  <a:cubicBezTo>
                    <a:pt x="126170" y="15875"/>
                    <a:pt x="119062" y="8768"/>
                    <a:pt x="119062" y="0"/>
                  </a:cubicBezTo>
                  <a:cubicBezTo>
                    <a:pt x="119062" y="8768"/>
                    <a:pt x="111955" y="15875"/>
                    <a:pt x="103187" y="15875"/>
                  </a:cubicBezTo>
                  <a:moveTo>
                    <a:pt x="47625" y="111125"/>
                  </a:moveTo>
                  <a:cubicBezTo>
                    <a:pt x="47625" y="84822"/>
                    <a:pt x="68947" y="63500"/>
                    <a:pt x="95250" y="63500"/>
                  </a:cubicBezTo>
                  <a:cubicBezTo>
                    <a:pt x="68947" y="63500"/>
                    <a:pt x="47625" y="42178"/>
                    <a:pt x="47625" y="15875"/>
                  </a:cubicBezTo>
                  <a:cubicBezTo>
                    <a:pt x="47625" y="42178"/>
                    <a:pt x="26303" y="63500"/>
                    <a:pt x="0" y="63500"/>
                  </a:cubicBezTo>
                  <a:cubicBezTo>
                    <a:pt x="26303" y="63500"/>
                    <a:pt x="47625" y="84822"/>
                    <a:pt x="47625" y="111125"/>
                  </a:cubicBezTo>
                </a:path>
              </a:pathLst>
            </a:custGeom>
            <a:noFill/>
            <a:ln w="19050">
              <a:solidFill>
                <a:srgbClr val="FFFFFF"/>
              </a:solidFill>
            </a:ln>
          </p:spPr>
          <p:txBody>
            <a:bodyPr/>
            <a:p/>
          </p:txBody>
        </p:sp>
        <p:sp>
          <p:nvSpPr>
            <p:cNvPr id="28" name="TextBox 28"/>
            <p:cNvSpPr txBox="1"/>
            <p:nvPr/>
          </p:nvSpPr>
          <p:spPr>
            <a:xfrm>
              <a:off x="843915" y="6020752"/>
              <a:ext cx="3107055" cy="21336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050" dirty="0">
                  <a:solidFill>
                    <a:srgbClr val="FFFFFF">
                      <a:alphaMod val="70000"/>
                    </a:srgbClr>
                  </a:solidFill>
                  <a:latin typeface="Arial"/>
                  <a:ea typeface="Microsoft YaHei"/>
                  <a:cs typeface="Arial"/>
                </a:rPr>
                <a:t>大模型通识与实战 · 企业版 —— 从「我不懂」到「我会用」</a:t>
              </a:r>
            </a:p>
          </p:txBody>
        </p:sp>
      </p:grpSp>
    </p:spTree>
  </p:cSld>
  <p:clrMapOvr>
    <a:masterClrMapping/>
  </p:clrMapOvr>
  <p:transition xmlns:p14="http://schemas.microsoft.com/office/powerpoint/2010/main" p14:dur="400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900"/>
                            </p:stCondLst>
                            <p:childTnLst>
                              <p:par>
                                <p:cTn id="9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" dur="4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2" fill="hold">
                            <p:stCondLst>
                              <p:cond delay="1800"/>
                            </p:stCondLst>
                            <p:childTnLst>
                              <p:par>
                                <p:cTn id="13" presetID="2" presetClass="entr" presetSubtype="4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slide(fromBottom)">
                                      <p:cBhvr>
                                        <p:cTn id="15" dur="4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6" fill="hold">
                            <p:stCondLst>
                              <p:cond delay="2700"/>
                            </p:stCondLst>
                            <p:childTnLst>
                              <p:par>
                                <p:cTn id="17" presetID="23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image">
                                      <p:cBhvr>
                                        <p:cTn id="19" dur="4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/>
      <p:bldP spid="19" grpId="0"/>
      <p:bldP spid="26" grpId="0"/>
      <p:bldP spid="29" grpId="0"/>
    </p:bldLst>
  </p:timing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grpSp>
        <p:nvGrpSpPr>
          <p:cNvPr id="6" name="Group 6"/>
          <p:cNvGrpSpPr/>
          <p:nvPr/>
        </p:nvGrpSpPr>
        <p:grpSpPr>
          <a:xfrm>
            <a:off x="-1524000" y="0"/>
            <a:ext cx="13716000" cy="8477250"/>
            <a:chOff x="-1524000" y="0"/>
            <a:chExt cx="13716000" cy="8477250"/>
          </a:xfrm>
        </p:grpSpPr>
        <p:sp>
          <p:nvSpPr>
            <p:cNvPr id="2" name="Rectangle 2"/>
            <p:cNvSpPr/>
            <p:nvPr/>
          </p:nvSpPr>
          <p:spPr>
            <a:xfrm>
              <a:off x="0" y="0"/>
              <a:ext cx="12192000" cy="6858000"/>
            </a:xfrm>
            <a:prstGeom prst="rect">
              <a:avLst/>
            </a:prstGeom>
            <a:solidFill>
              <a:srgbClr val="F5F7FA"/>
            </a:solidFill>
            <a:ln>
              <a:noFill/>
            </a:ln>
          </p:spPr>
          <p:txBody>
            <a:bodyPr/>
            <a:p/>
          </p:txBody>
        </p:sp>
        <p:sp>
          <p:nvSpPr>
            <p:cNvPr id="3" name="Rectangle 3"/>
            <p:cNvSpPr/>
            <p:nvPr/>
          </p:nvSpPr>
          <p:spPr>
            <a:xfrm>
              <a:off x="0" y="0"/>
              <a:ext cx="12192000" cy="6858000"/>
            </a:xfrm>
            <a:prstGeom prst="rect">
              <a:avLst/>
            </a:prstGeom>
            <a:gradFill>
              <a:gsLst>
                <a:gs pos="0">
                  <a:srgbClr val="1565D8">
                    <a:alpha val="6000"/>
                  </a:srgbClr>
                </a:gs>
                <a:gs pos="100000">
                  <a:srgbClr val="1565D8">
                    <a:alpha val="0"/>
                  </a:srgbClr>
                </a:gs>
              </a:gsLst>
              <a:path path="circle">
                <a:fillToRect l="50000" t="50000" r="50000" b="50000"/>
              </a:path>
            </a:gradFill>
            <a:ln>
              <a:noFill/>
            </a:ln>
          </p:spPr>
          <p:txBody>
            <a:bodyPr/>
            <a:p/>
          </p:txBody>
        </p:sp>
        <p:sp>
          <p:nvSpPr>
            <p:cNvPr id="4" name="Ellipse 4"/>
            <p:cNvSpPr/>
            <p:nvPr/>
          </p:nvSpPr>
          <p:spPr>
            <a:xfrm>
              <a:off x="-1524000" y="4667250"/>
              <a:ext cx="3810000" cy="3810000"/>
            </a:xfrm>
            <a:prstGeom prst="ellipse">
              <a:avLst/>
            </a:prstGeom>
            <a:noFill/>
            <a:ln w="14288">
              <a:solidFill>
                <a:srgbClr val="D6E6F9">
                  <a:alpha val="80000"/>
                </a:srgbClr>
              </a:solidFill>
            </a:ln>
          </p:spPr>
          <p:txBody>
            <a:bodyPr/>
            <a:p/>
          </p:txBody>
        </p:sp>
        <p:sp>
          <p:nvSpPr>
            <p:cNvPr id="5" name="Ellipse 5"/>
            <p:cNvSpPr/>
            <p:nvPr/>
          </p:nvSpPr>
          <p:spPr>
            <a:xfrm>
              <a:off x="-952500" y="5238750"/>
              <a:ext cx="2667000" cy="2667000"/>
            </a:xfrm>
            <a:prstGeom prst="ellipse">
              <a:avLst/>
            </a:prstGeom>
            <a:noFill/>
            <a:ln w="14288">
              <a:solidFill>
                <a:srgbClr val="D6E6F9">
                  <a:alpha val="60000"/>
                </a:srgbClr>
              </a:solidFill>
              <a:custDash>
                <a:ds d="200000" sp="533333"/>
              </a:custDash>
            </a:ln>
          </p:spPr>
          <p:txBody>
            <a:bodyPr/>
            <a:p/>
          </p:txBody>
        </p:sp>
      </p:grpSp>
      <p:grpSp>
        <p:nvGrpSpPr>
          <p:cNvPr id="10" name="Group 10"/>
          <p:cNvGrpSpPr/>
          <p:nvPr/>
        </p:nvGrpSpPr>
        <p:grpSpPr>
          <a:xfrm>
            <a:off x="571500" y="685800"/>
            <a:ext cx="3666173" cy="700088"/>
            <a:chOff x="571500" y="685800"/>
            <a:chExt cx="3666173" cy="700088"/>
          </a:xfrm>
        </p:grpSpPr>
        <p:sp>
          <p:nvSpPr>
            <p:cNvPr id="7" name="Rectangle 7"/>
            <p:cNvSpPr/>
            <p:nvPr/>
          </p:nvSpPr>
          <p:spPr>
            <a:xfrm>
              <a:off x="571500" y="685800"/>
              <a:ext cx="76200" cy="323850"/>
            </a:xfrm>
            <a:prstGeom prst="roundRect">
              <a:avLst>
                <a:gd name="adj" fmla="val 50000"/>
              </a:avLst>
            </a:prstGeom>
            <a:solidFill>
              <a:srgbClr val="1565D8"/>
            </a:solidFill>
            <a:ln>
              <a:noFill/>
            </a:ln>
          </p:spPr>
          <p:txBody>
            <a:bodyPr/>
            <a:p/>
          </p:txBody>
        </p:sp>
        <p:sp>
          <p:nvSpPr>
            <p:cNvPr id="8" name="TextBox 8"/>
            <p:cNvSpPr txBox="1"/>
            <p:nvPr/>
          </p:nvSpPr>
          <p:spPr>
            <a:xfrm>
              <a:off x="771525" y="700088"/>
              <a:ext cx="2577465" cy="45720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2250" b="1" dirty="0">
                  <a:solidFill>
                    <a:srgbClr val="2B3648"/>
                  </a:solidFill>
                  <a:latin typeface="Arial"/>
                  <a:ea typeface="Microsoft YaHei"/>
                  <a:cs typeface="Arial"/>
                </a:rPr>
                <a:t>主流名词速览：12 个词，一次听懂</a:t>
              </a:r>
            </a:p>
          </p:txBody>
        </p:sp>
        <p:sp>
          <p:nvSpPr>
            <p:cNvPr id="9" name="TextBox 9"/>
            <p:cNvSpPr txBox="1"/>
            <p:nvPr/>
          </p:nvSpPr>
          <p:spPr>
            <a:xfrm>
              <a:off x="782955" y="1111568"/>
              <a:ext cx="3454718" cy="27432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5B6B82"/>
                  </a:solidFill>
                  <a:latin typeface="Arial"/>
                  <a:ea typeface="Microsoft YaHei"/>
                  <a:cs typeface="Arial"/>
                </a:rPr>
                <a:t>今天课里出现的名词都在这张表 —— 先扫一眼，后面不卡壳</a:t>
              </a:r>
            </a:p>
          </p:txBody>
        </p:sp>
      </p:grpSp>
      <p:grpSp>
        <p:nvGrpSpPr>
          <p:cNvPr id="65" name="Group 65"/>
          <p:cNvGrpSpPr/>
          <p:nvPr/>
        </p:nvGrpSpPr>
        <p:grpSpPr>
          <a:xfrm>
            <a:off x="560070" y="6341745"/>
            <a:ext cx="11071860" cy="182880"/>
            <a:chOff x="560070" y="6341745"/>
            <a:chExt cx="11071860" cy="182880"/>
          </a:xfrm>
        </p:grpSpPr>
        <p:sp>
          <p:nvSpPr>
            <p:cNvPr id="63" name="TextBox 63"/>
            <p:cNvSpPr txBox="1"/>
            <p:nvPr/>
          </p:nvSpPr>
          <p:spPr>
            <a:xfrm>
              <a:off x="560070" y="6341745"/>
              <a:ext cx="1054989" cy="18288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00" dirty="0">
                  <a:solidFill>
                    <a:srgbClr val="8B99AE"/>
                  </a:solidFill>
                  <a:latin typeface="Arial"/>
                  <a:ea typeface="Microsoft YaHei"/>
                  <a:cs typeface="Arial"/>
                </a:rPr>
                <a:t/>
              </a:r>
            </a:p>
          </p:txBody>
        </p:sp>
        <p:sp>
          <p:nvSpPr>
            <p:cNvPr id="64" name="TextBox 64"/>
            <p:cNvSpPr txBox="1"/>
            <p:nvPr/>
          </p:nvSpPr>
          <p:spPr>
            <a:xfrm>
              <a:off x="11273028" y="6341745"/>
              <a:ext cx="358902" cy="18288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r"/>
              <a:r>
                <a:rPr lang="zh-CN" sz="900" dirty="0">
                  <a:solidFill>
                    <a:srgbClr val="8B99AE"/>
                  </a:solidFill>
                  <a:latin typeface="Arial"/>
                  <a:ea typeface="Microsoft YaHei"/>
                  <a:cs typeface="Arial"/>
                </a:rPr>
                <a:t>2 / 51</a:t>
              </a:r>
            </a:p>
          </p:txBody>
        </p:sp>
      </p:grpSp>
      <p:sp>
        <p:nvSpPr>
          <p:cNvPr id="11" name="Rectangle 11"/>
          <p:cNvSpPr/>
          <p:nvPr/>
        </p:nvSpPr>
        <p:spPr>
          <a:xfrm>
            <a:off x="566928" y="1645920"/>
            <a:ext cx="2665476" cy="1207008"/>
          </a:xfrm>
          <a:prstGeom prst="roundRect">
            <a:avLst>
              <a:gd name="adj" fmla="val 4324"/>
            </a:avLst>
          </a:prstGeom>
          <a:solidFill>
            <a:srgbClr val="FFFFFF"/>
          </a:solidFill>
          <a:ln w="9525">
            <a:solidFill>
              <a:srgbClr val="D8E1EC"/>
            </a:solidFill>
          </a:ln>
        </p:spPr>
        <p:txBody>
          <a:bodyPr/>
          <a:p/>
        </p:txBody>
      </p:sp>
      <p:sp>
        <p:nvSpPr>
          <p:cNvPr id="66" name="TextBox 65"/>
          <p:cNvSpPr txBox="1"/>
          <p:nvPr/>
        </p:nvSpPr>
        <p:spPr>
          <a:xfrm>
            <a:off x="731520" y="1764792"/>
            <a:ext cx="384048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</a:pPr>
            <a:r>
              <a:rPr sz="1400" b="1">
                <a:solidFill>
                  <a:srgbClr val="0B4EA2"/>
                </a:solidFill>
              </a:rPr>
              <a:t>01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1115568" y="1783080"/>
            <a:ext cx="1979676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</a:pPr>
            <a:r>
              <a:rPr sz="1300" b="1">
                <a:solidFill>
                  <a:srgbClr val="2B3648"/>
                </a:solidFill>
              </a:rPr>
              <a:t>大模型 / LLM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731520" y="2148840"/>
            <a:ext cx="2336292" cy="58521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</a:pPr>
            <a:r>
              <a:rPr sz="950" b="0">
                <a:solidFill>
                  <a:srgbClr val="5B6B82"/>
                </a:solidFill>
              </a:rPr>
              <a:t>海量文本训练的「超级接话员」——会写、会答、会生成</a:t>
            </a:r>
          </a:p>
        </p:txBody>
      </p:sp>
      <p:sp>
        <p:nvSpPr>
          <p:cNvPr id="11" name="Rectangle 11"/>
          <p:cNvSpPr/>
          <p:nvPr/>
        </p:nvSpPr>
        <p:spPr>
          <a:xfrm>
            <a:off x="3369564" y="1645920"/>
            <a:ext cx="2665476" cy="1207008"/>
          </a:xfrm>
          <a:prstGeom prst="roundRect">
            <a:avLst>
              <a:gd name="adj" fmla="val 4324"/>
            </a:avLst>
          </a:prstGeom>
          <a:solidFill>
            <a:srgbClr val="FFFFFF"/>
          </a:solidFill>
          <a:ln w="9525">
            <a:solidFill>
              <a:srgbClr val="D8E1EC"/>
            </a:solidFill>
          </a:ln>
        </p:spPr>
        <p:txBody>
          <a:bodyPr/>
          <a:p/>
        </p:txBody>
      </p:sp>
      <p:sp>
        <p:nvSpPr>
          <p:cNvPr id="69" name="TextBox 68"/>
          <p:cNvSpPr txBox="1"/>
          <p:nvPr/>
        </p:nvSpPr>
        <p:spPr>
          <a:xfrm>
            <a:off x="3534156" y="1764792"/>
            <a:ext cx="384048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</a:pPr>
            <a:r>
              <a:rPr sz="1400" b="1">
                <a:solidFill>
                  <a:srgbClr val="0B4EA2"/>
                </a:solidFill>
              </a:rPr>
              <a:t>02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3918204" y="1783080"/>
            <a:ext cx="1979676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</a:pPr>
            <a:r>
              <a:rPr sz="1300" b="1">
                <a:solidFill>
                  <a:srgbClr val="2B3648"/>
                </a:solidFill>
              </a:rPr>
              <a:t>幻觉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3534156" y="2148840"/>
            <a:ext cx="2336292" cy="58521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</a:pPr>
            <a:r>
              <a:rPr sz="950" b="0">
                <a:solidFill>
                  <a:srgbClr val="5B6B82"/>
                </a:solidFill>
              </a:rPr>
              <a:t>一本正经编造事实/数字/引用——关键信息必须核实</a:t>
            </a:r>
          </a:p>
        </p:txBody>
      </p:sp>
      <p:sp>
        <p:nvSpPr>
          <p:cNvPr id="11" name="Rectangle 11"/>
          <p:cNvSpPr/>
          <p:nvPr/>
        </p:nvSpPr>
        <p:spPr>
          <a:xfrm>
            <a:off x="6172200" y="1645920"/>
            <a:ext cx="2665476" cy="1207008"/>
          </a:xfrm>
          <a:prstGeom prst="roundRect">
            <a:avLst>
              <a:gd name="adj" fmla="val 4324"/>
            </a:avLst>
          </a:prstGeom>
          <a:solidFill>
            <a:srgbClr val="FFFFFF"/>
          </a:solidFill>
          <a:ln w="9525">
            <a:solidFill>
              <a:srgbClr val="D8E1EC"/>
            </a:solidFill>
          </a:ln>
        </p:spPr>
        <p:txBody>
          <a:bodyPr/>
          <a:p/>
        </p:txBody>
      </p:sp>
      <p:sp>
        <p:nvSpPr>
          <p:cNvPr id="72" name="TextBox 71"/>
          <p:cNvSpPr txBox="1"/>
          <p:nvPr/>
        </p:nvSpPr>
        <p:spPr>
          <a:xfrm>
            <a:off x="6336792" y="1764792"/>
            <a:ext cx="384048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</a:pPr>
            <a:r>
              <a:rPr sz="1400" b="1">
                <a:solidFill>
                  <a:srgbClr val="0B4EA2"/>
                </a:solidFill>
              </a:rPr>
              <a:t>03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6720840" y="1783080"/>
            <a:ext cx="1979676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</a:pPr>
            <a:r>
              <a:rPr sz="1300" b="1">
                <a:solidFill>
                  <a:srgbClr val="2B3648"/>
                </a:solidFill>
              </a:rPr>
              <a:t>提示词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6336792" y="2148840"/>
            <a:ext cx="2336292" cy="58521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</a:pPr>
            <a:r>
              <a:rPr sz="950" b="0">
                <a:solidFill>
                  <a:srgbClr val="5B6B82"/>
                </a:solidFill>
              </a:rPr>
              <a:t>你发给 AI 的话——要求写清楚，它才答得准</a:t>
            </a:r>
          </a:p>
        </p:txBody>
      </p:sp>
      <p:sp>
        <p:nvSpPr>
          <p:cNvPr id="11" name="Rectangle 11"/>
          <p:cNvSpPr/>
          <p:nvPr/>
        </p:nvSpPr>
        <p:spPr>
          <a:xfrm>
            <a:off x="8974836" y="1645920"/>
            <a:ext cx="2665476" cy="1207008"/>
          </a:xfrm>
          <a:prstGeom prst="roundRect">
            <a:avLst>
              <a:gd name="adj" fmla="val 4324"/>
            </a:avLst>
          </a:prstGeom>
          <a:solidFill>
            <a:srgbClr val="FFFFFF"/>
          </a:solidFill>
          <a:ln w="9525">
            <a:solidFill>
              <a:srgbClr val="D8E1EC"/>
            </a:solidFill>
          </a:ln>
        </p:spPr>
        <p:txBody>
          <a:bodyPr/>
          <a:p/>
        </p:txBody>
      </p:sp>
      <p:sp>
        <p:nvSpPr>
          <p:cNvPr id="75" name="TextBox 74"/>
          <p:cNvSpPr txBox="1"/>
          <p:nvPr/>
        </p:nvSpPr>
        <p:spPr>
          <a:xfrm>
            <a:off x="9139428" y="1764792"/>
            <a:ext cx="384048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</a:pPr>
            <a:r>
              <a:rPr sz="1400" b="1">
                <a:solidFill>
                  <a:srgbClr val="0B4EA2"/>
                </a:solidFill>
              </a:rPr>
              <a:t>04</a:t>
            </a:r>
          </a:p>
        </p:txBody>
      </p:sp>
      <p:sp>
        <p:nvSpPr>
          <p:cNvPr id="76" name="TextBox 75"/>
          <p:cNvSpPr txBox="1"/>
          <p:nvPr/>
        </p:nvSpPr>
        <p:spPr>
          <a:xfrm>
            <a:off x="9523476" y="1783080"/>
            <a:ext cx="1979676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</a:pPr>
            <a:r>
              <a:rPr sz="1300" b="1">
                <a:solidFill>
                  <a:srgbClr val="2B3648"/>
                </a:solidFill>
              </a:rPr>
              <a:t>上下文窗口</a:t>
            </a:r>
          </a:p>
        </p:txBody>
      </p:sp>
      <p:sp>
        <p:nvSpPr>
          <p:cNvPr id="77" name="TextBox 76"/>
          <p:cNvSpPr txBox="1"/>
          <p:nvPr/>
        </p:nvSpPr>
        <p:spPr>
          <a:xfrm>
            <a:off x="9139428" y="2148840"/>
            <a:ext cx="2336292" cy="58521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</a:pPr>
            <a:r>
              <a:rPr sz="950" b="0">
                <a:solidFill>
                  <a:srgbClr val="5B6B82"/>
                </a:solidFill>
              </a:rPr>
              <a:t>AI 一次能「记住」的长度——主流模型已到百万字</a:t>
            </a:r>
          </a:p>
        </p:txBody>
      </p:sp>
      <p:sp>
        <p:nvSpPr>
          <p:cNvPr id="11" name="Rectangle 11"/>
          <p:cNvSpPr/>
          <p:nvPr/>
        </p:nvSpPr>
        <p:spPr>
          <a:xfrm>
            <a:off x="566928" y="2962656"/>
            <a:ext cx="2665476" cy="1207008"/>
          </a:xfrm>
          <a:prstGeom prst="roundRect">
            <a:avLst>
              <a:gd name="adj" fmla="val 4324"/>
            </a:avLst>
          </a:prstGeom>
          <a:solidFill>
            <a:srgbClr val="FFFFFF"/>
          </a:solidFill>
          <a:ln w="9525">
            <a:solidFill>
              <a:srgbClr val="D8E1EC"/>
            </a:solidFill>
          </a:ln>
        </p:spPr>
        <p:txBody>
          <a:bodyPr/>
          <a:p/>
        </p:txBody>
      </p:sp>
      <p:sp>
        <p:nvSpPr>
          <p:cNvPr id="78" name="TextBox 77"/>
          <p:cNvSpPr txBox="1"/>
          <p:nvPr/>
        </p:nvSpPr>
        <p:spPr>
          <a:xfrm>
            <a:off x="731520" y="3081528"/>
            <a:ext cx="384048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</a:pPr>
            <a:r>
              <a:rPr sz="1400" b="1">
                <a:solidFill>
                  <a:srgbClr val="0B4EA2"/>
                </a:solidFill>
              </a:rPr>
              <a:t>05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1115568" y="3099816"/>
            <a:ext cx="1979676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</a:pPr>
            <a:r>
              <a:rPr sz="1300" b="1">
                <a:solidFill>
                  <a:srgbClr val="2B3648"/>
                </a:solidFill>
              </a:rPr>
              <a:t>参数 7B / 70B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731520" y="3465576"/>
            <a:ext cx="2336292" cy="58521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</a:pPr>
            <a:r>
              <a:rPr sz="950" b="0">
                <a:solidFill>
                  <a:srgbClr val="5B6B82"/>
                </a:solidFill>
              </a:rPr>
              <a:t>模型的「大脑」大小——B=十亿，70B≈一张高端显卡</a:t>
            </a:r>
          </a:p>
        </p:txBody>
      </p:sp>
      <p:sp>
        <p:nvSpPr>
          <p:cNvPr id="11" name="Rectangle 11"/>
          <p:cNvSpPr/>
          <p:nvPr/>
        </p:nvSpPr>
        <p:spPr>
          <a:xfrm>
            <a:off x="3369564" y="2962656"/>
            <a:ext cx="2665476" cy="1207008"/>
          </a:xfrm>
          <a:prstGeom prst="roundRect">
            <a:avLst>
              <a:gd name="adj" fmla="val 4324"/>
            </a:avLst>
          </a:prstGeom>
          <a:solidFill>
            <a:srgbClr val="FFFFFF"/>
          </a:solidFill>
          <a:ln w="9525">
            <a:solidFill>
              <a:srgbClr val="D8E1EC"/>
            </a:solidFill>
          </a:ln>
        </p:spPr>
        <p:txBody>
          <a:bodyPr/>
          <a:p/>
        </p:txBody>
      </p:sp>
      <p:sp>
        <p:nvSpPr>
          <p:cNvPr id="81" name="TextBox 80"/>
          <p:cNvSpPr txBox="1"/>
          <p:nvPr/>
        </p:nvSpPr>
        <p:spPr>
          <a:xfrm>
            <a:off x="3534156" y="3081528"/>
            <a:ext cx="384048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</a:pPr>
            <a:r>
              <a:rPr sz="1400" b="1">
                <a:solidFill>
                  <a:srgbClr val="0B4EA2"/>
                </a:solidFill>
              </a:rPr>
              <a:t>06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3918204" y="3099816"/>
            <a:ext cx="1979676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</a:pPr>
            <a:r>
              <a:rPr sz="1300" b="1">
                <a:solidFill>
                  <a:srgbClr val="2B3648"/>
                </a:solidFill>
              </a:rPr>
              <a:t>RAG 知识库</a:t>
            </a:r>
          </a:p>
        </p:txBody>
      </p:sp>
      <p:sp>
        <p:nvSpPr>
          <p:cNvPr id="83" name="TextBox 82"/>
          <p:cNvSpPr txBox="1"/>
          <p:nvPr/>
        </p:nvSpPr>
        <p:spPr>
          <a:xfrm>
            <a:off x="3534156" y="3465576"/>
            <a:ext cx="2336292" cy="58521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</a:pPr>
            <a:r>
              <a:rPr sz="950" b="0">
                <a:solidFill>
                  <a:srgbClr val="5B6B82"/>
                </a:solidFill>
              </a:rPr>
              <a:t>把单位资料喂给它——照着答、带出处，少编少错</a:t>
            </a:r>
          </a:p>
        </p:txBody>
      </p:sp>
      <p:sp>
        <p:nvSpPr>
          <p:cNvPr id="11" name="Rectangle 11"/>
          <p:cNvSpPr/>
          <p:nvPr/>
        </p:nvSpPr>
        <p:spPr>
          <a:xfrm>
            <a:off x="6172200" y="2962656"/>
            <a:ext cx="2665476" cy="1207008"/>
          </a:xfrm>
          <a:prstGeom prst="roundRect">
            <a:avLst>
              <a:gd name="adj" fmla="val 4324"/>
            </a:avLst>
          </a:prstGeom>
          <a:solidFill>
            <a:srgbClr val="FFFFFF"/>
          </a:solidFill>
          <a:ln w="9525">
            <a:solidFill>
              <a:srgbClr val="D8E1EC"/>
            </a:solidFill>
          </a:ln>
        </p:spPr>
        <p:txBody>
          <a:bodyPr/>
          <a:p/>
        </p:txBody>
      </p:sp>
      <p:sp>
        <p:nvSpPr>
          <p:cNvPr id="84" name="TextBox 83"/>
          <p:cNvSpPr txBox="1"/>
          <p:nvPr/>
        </p:nvSpPr>
        <p:spPr>
          <a:xfrm>
            <a:off x="6336792" y="3081528"/>
            <a:ext cx="384048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</a:pPr>
            <a:r>
              <a:rPr sz="1400" b="1">
                <a:solidFill>
                  <a:srgbClr val="0B4EA2"/>
                </a:solidFill>
              </a:rPr>
              <a:t>07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6720840" y="3099816"/>
            <a:ext cx="1979676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</a:pPr>
            <a:r>
              <a:rPr sz="1300" b="1">
                <a:solidFill>
                  <a:srgbClr val="2B3648"/>
                </a:solidFill>
              </a:rPr>
              <a:t>Agent 智能体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6336792" y="3465576"/>
            <a:ext cx="2336292" cy="58521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</a:pPr>
            <a:r>
              <a:rPr sz="950" b="0">
                <a:solidFill>
                  <a:srgbClr val="5B6B82"/>
                </a:solidFill>
              </a:rPr>
              <a:t>自己拆任务、调工具、干完自查——不只是聊天</a:t>
            </a:r>
          </a:p>
        </p:txBody>
      </p:sp>
      <p:sp>
        <p:nvSpPr>
          <p:cNvPr id="11" name="Rectangle 11"/>
          <p:cNvSpPr/>
          <p:nvPr/>
        </p:nvSpPr>
        <p:spPr>
          <a:xfrm>
            <a:off x="8974836" y="2962656"/>
            <a:ext cx="2665476" cy="1207008"/>
          </a:xfrm>
          <a:prstGeom prst="roundRect">
            <a:avLst>
              <a:gd name="adj" fmla="val 4324"/>
            </a:avLst>
          </a:prstGeom>
          <a:solidFill>
            <a:srgbClr val="FFFFFF"/>
          </a:solidFill>
          <a:ln w="9525">
            <a:solidFill>
              <a:srgbClr val="D8E1EC"/>
            </a:solidFill>
          </a:ln>
        </p:spPr>
        <p:txBody>
          <a:bodyPr/>
          <a:p/>
        </p:txBody>
      </p:sp>
      <p:sp>
        <p:nvSpPr>
          <p:cNvPr id="87" name="TextBox 86"/>
          <p:cNvSpPr txBox="1"/>
          <p:nvPr/>
        </p:nvSpPr>
        <p:spPr>
          <a:xfrm>
            <a:off x="9139428" y="3081528"/>
            <a:ext cx="384048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</a:pPr>
            <a:r>
              <a:rPr sz="1400" b="1">
                <a:solidFill>
                  <a:srgbClr val="0B4EA2"/>
                </a:solidFill>
              </a:rPr>
              <a:t>08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523476" y="3099816"/>
            <a:ext cx="1979676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</a:pPr>
            <a:r>
              <a:rPr sz="1300" b="1">
                <a:solidFill>
                  <a:srgbClr val="2B3648"/>
                </a:solidFill>
              </a:rPr>
              <a:t>Copilot 副驾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9139428" y="3465576"/>
            <a:ext cx="2336292" cy="58521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</a:pPr>
            <a:r>
              <a:rPr sz="950" b="0">
                <a:solidFill>
                  <a:srgbClr val="5B6B82"/>
                </a:solidFill>
              </a:rPr>
              <a:t>AI 起草、人拍板——协作方式，安全等级最稳</a:t>
            </a:r>
          </a:p>
        </p:txBody>
      </p:sp>
      <p:sp>
        <p:nvSpPr>
          <p:cNvPr id="11" name="Rectangle 11"/>
          <p:cNvSpPr/>
          <p:nvPr/>
        </p:nvSpPr>
        <p:spPr>
          <a:xfrm>
            <a:off x="566928" y="4279392"/>
            <a:ext cx="2665476" cy="1207008"/>
          </a:xfrm>
          <a:prstGeom prst="roundRect">
            <a:avLst>
              <a:gd name="adj" fmla="val 4324"/>
            </a:avLst>
          </a:prstGeom>
          <a:solidFill>
            <a:srgbClr val="FFFFFF"/>
          </a:solidFill>
          <a:ln w="9525">
            <a:solidFill>
              <a:srgbClr val="D8E1EC"/>
            </a:solidFill>
          </a:ln>
        </p:spPr>
        <p:txBody>
          <a:bodyPr/>
          <a:p/>
        </p:txBody>
      </p:sp>
      <p:sp>
        <p:nvSpPr>
          <p:cNvPr id="90" name="TextBox 89"/>
          <p:cNvSpPr txBox="1"/>
          <p:nvPr/>
        </p:nvSpPr>
        <p:spPr>
          <a:xfrm>
            <a:off x="731520" y="4398264"/>
            <a:ext cx="384048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</a:pPr>
            <a:r>
              <a:rPr sz="1400" b="1">
                <a:solidFill>
                  <a:srgbClr val="0B4EA2"/>
                </a:solidFill>
              </a:rPr>
              <a:t>09</a:t>
            </a:r>
          </a:p>
        </p:txBody>
      </p:sp>
      <p:sp>
        <p:nvSpPr>
          <p:cNvPr id="91" name="TextBox 90"/>
          <p:cNvSpPr txBox="1"/>
          <p:nvPr/>
        </p:nvSpPr>
        <p:spPr>
          <a:xfrm>
            <a:off x="1115568" y="4416552"/>
            <a:ext cx="1979676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</a:pPr>
            <a:r>
              <a:rPr sz="1300" b="1">
                <a:solidFill>
                  <a:srgbClr val="2B3648"/>
                </a:solidFill>
              </a:rPr>
              <a:t>token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31520" y="4782312"/>
            <a:ext cx="2336292" cy="58521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</a:pPr>
            <a:r>
              <a:rPr sz="950" b="0">
                <a:solidFill>
                  <a:srgbClr val="5B6B82"/>
                </a:solidFill>
              </a:rPr>
              <a:t>AI 计费的最小单位——100 万 token≈70 万字</a:t>
            </a:r>
          </a:p>
        </p:txBody>
      </p:sp>
      <p:sp>
        <p:nvSpPr>
          <p:cNvPr id="11" name="Rectangle 11"/>
          <p:cNvSpPr/>
          <p:nvPr/>
        </p:nvSpPr>
        <p:spPr>
          <a:xfrm>
            <a:off x="3369564" y="4279392"/>
            <a:ext cx="2665476" cy="1207008"/>
          </a:xfrm>
          <a:prstGeom prst="roundRect">
            <a:avLst>
              <a:gd name="adj" fmla="val 4324"/>
            </a:avLst>
          </a:prstGeom>
          <a:solidFill>
            <a:srgbClr val="FFFFFF"/>
          </a:solidFill>
          <a:ln w="9525">
            <a:solidFill>
              <a:srgbClr val="D8E1EC"/>
            </a:solidFill>
          </a:ln>
        </p:spPr>
        <p:txBody>
          <a:bodyPr/>
          <a:p/>
        </p:txBody>
      </p:sp>
      <p:sp>
        <p:nvSpPr>
          <p:cNvPr id="93" name="TextBox 92"/>
          <p:cNvSpPr txBox="1"/>
          <p:nvPr/>
        </p:nvSpPr>
        <p:spPr>
          <a:xfrm>
            <a:off x="3534156" y="4398264"/>
            <a:ext cx="384048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</a:pPr>
            <a:r>
              <a:rPr sz="1400" b="1">
                <a:solidFill>
                  <a:srgbClr val="0B4EA2"/>
                </a:solidFill>
              </a:rPr>
              <a:t>10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3918204" y="4416552"/>
            <a:ext cx="1979676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</a:pPr>
            <a:r>
              <a:rPr sz="1300" b="1">
                <a:solidFill>
                  <a:srgbClr val="2B3648"/>
                </a:solidFill>
              </a:rPr>
              <a:t>影子 AI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3534156" y="4782312"/>
            <a:ext cx="2336292" cy="58521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</a:pPr>
            <a:r>
              <a:rPr sz="950" b="0">
                <a:solidFill>
                  <a:srgbClr val="5B6B82"/>
                </a:solidFill>
              </a:rPr>
              <a:t>偷偷用没批准的工具——数据泄露的头号隐患</a:t>
            </a:r>
          </a:p>
        </p:txBody>
      </p:sp>
      <p:sp>
        <p:nvSpPr>
          <p:cNvPr id="11" name="Rectangle 11"/>
          <p:cNvSpPr/>
          <p:nvPr/>
        </p:nvSpPr>
        <p:spPr>
          <a:xfrm>
            <a:off x="6172200" y="4279392"/>
            <a:ext cx="2665476" cy="1207008"/>
          </a:xfrm>
          <a:prstGeom prst="roundRect">
            <a:avLst>
              <a:gd name="adj" fmla="val 4324"/>
            </a:avLst>
          </a:prstGeom>
          <a:solidFill>
            <a:srgbClr val="FFFFFF"/>
          </a:solidFill>
          <a:ln w="9525">
            <a:solidFill>
              <a:srgbClr val="D8E1EC"/>
            </a:solidFill>
          </a:ln>
        </p:spPr>
        <p:txBody>
          <a:bodyPr/>
          <a:p/>
        </p:txBody>
      </p:sp>
      <p:sp>
        <p:nvSpPr>
          <p:cNvPr id="96" name="TextBox 95"/>
          <p:cNvSpPr txBox="1"/>
          <p:nvPr/>
        </p:nvSpPr>
        <p:spPr>
          <a:xfrm>
            <a:off x="6336792" y="4398264"/>
            <a:ext cx="384048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</a:pPr>
            <a:r>
              <a:rPr sz="1400" b="1">
                <a:solidFill>
                  <a:srgbClr val="0B4EA2"/>
                </a:solidFill>
              </a:rPr>
              <a:t>11</a:t>
            </a:r>
          </a:p>
        </p:txBody>
      </p:sp>
      <p:sp>
        <p:nvSpPr>
          <p:cNvPr id="97" name="TextBox 96"/>
          <p:cNvSpPr txBox="1"/>
          <p:nvPr/>
        </p:nvSpPr>
        <p:spPr>
          <a:xfrm>
            <a:off x="6720840" y="4416552"/>
            <a:ext cx="1979676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</a:pPr>
            <a:r>
              <a:rPr sz="1300" b="1">
                <a:solidFill>
                  <a:srgbClr val="2B3648"/>
                </a:solidFill>
              </a:rPr>
              <a:t>AI 素养</a:t>
            </a:r>
          </a:p>
        </p:txBody>
      </p:sp>
      <p:sp>
        <p:nvSpPr>
          <p:cNvPr id="98" name="TextBox 97"/>
          <p:cNvSpPr txBox="1"/>
          <p:nvPr/>
        </p:nvSpPr>
        <p:spPr>
          <a:xfrm>
            <a:off x="6336792" y="4782312"/>
            <a:ext cx="2336292" cy="58521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</a:pPr>
            <a:r>
              <a:rPr sz="950" b="0">
                <a:solidFill>
                  <a:srgbClr val="5B6B82"/>
                </a:solidFill>
              </a:rPr>
              <a:t>会用 + 会判断 + 知红线——三样缺一不可</a:t>
            </a:r>
          </a:p>
        </p:txBody>
      </p:sp>
      <p:sp>
        <p:nvSpPr>
          <p:cNvPr id="11" name="Rectangle 11"/>
          <p:cNvSpPr/>
          <p:nvPr/>
        </p:nvSpPr>
        <p:spPr>
          <a:xfrm>
            <a:off x="8974836" y="4279392"/>
            <a:ext cx="2665476" cy="1207008"/>
          </a:xfrm>
          <a:prstGeom prst="roundRect">
            <a:avLst>
              <a:gd name="adj" fmla="val 4324"/>
            </a:avLst>
          </a:prstGeom>
          <a:solidFill>
            <a:srgbClr val="FFFFFF"/>
          </a:solidFill>
          <a:ln w="9525">
            <a:solidFill>
              <a:srgbClr val="D8E1EC"/>
            </a:solidFill>
          </a:ln>
        </p:spPr>
        <p:txBody>
          <a:bodyPr/>
          <a:p/>
        </p:txBody>
      </p:sp>
      <p:sp>
        <p:nvSpPr>
          <p:cNvPr id="99" name="TextBox 98"/>
          <p:cNvSpPr txBox="1"/>
          <p:nvPr/>
        </p:nvSpPr>
        <p:spPr>
          <a:xfrm>
            <a:off x="9139428" y="4398264"/>
            <a:ext cx="384048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</a:pPr>
            <a:r>
              <a:rPr sz="1400" b="1">
                <a:solidFill>
                  <a:srgbClr val="0B4EA2"/>
                </a:solidFill>
              </a:rPr>
              <a:t>12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9523476" y="4416552"/>
            <a:ext cx="1979676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</a:pPr>
            <a:r>
              <a:rPr sz="1300" b="1">
                <a:solidFill>
                  <a:srgbClr val="2B3648"/>
                </a:solidFill>
              </a:rPr>
              <a:t>数据分级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9139428" y="4782312"/>
            <a:ext cx="2336292" cy="58521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</a:pPr>
            <a:r>
              <a:rPr sz="950" b="0">
                <a:solidFill>
                  <a:srgbClr val="5B6B82"/>
                </a:solidFill>
              </a:rPr>
              <a:t>绿/黄/红——公开直接用、内部脱敏用、核心绝不喂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6" name="Group 6"/>
          <p:cNvGrpSpPr/>
          <p:nvPr/>
        </p:nvGrpSpPr>
        <p:grpSpPr>
          <a:xfrm>
            <a:off x="0" y="0"/>
            <a:ext cx="14382750" cy="9144000"/>
            <a:chOff x="0" y="0"/>
            <a:chExt cx="14382750" cy="9144000"/>
          </a:xfrm>
        </p:grpSpPr>
        <p:sp>
          <p:nvSpPr>
            <p:cNvPr id="2" name="Rectangle 2"/>
            <p:cNvSpPr/>
            <p:nvPr/>
          </p:nvSpPr>
          <p:spPr>
            <a:xfrm>
              <a:off x="0" y="0"/>
              <a:ext cx="12192000" cy="6858000"/>
            </a:xfrm>
            <a:prstGeom prst="rect">
              <a:avLst/>
            </a:prstGeom>
            <a:solidFill>
              <a:srgbClr val="F5F7FA"/>
            </a:solidFill>
            <a:ln>
              <a:noFill/>
            </a:ln>
          </p:spPr>
          <p:txBody>
            <a:bodyPr/>
            <a:p/>
          </p:txBody>
        </p:sp>
        <p:sp>
          <p:nvSpPr>
            <p:cNvPr id="3" name="Rectangle 3"/>
            <p:cNvSpPr/>
            <p:nvPr/>
          </p:nvSpPr>
          <p:spPr>
            <a:xfrm>
              <a:off x="0" y="0"/>
              <a:ext cx="12192000" cy="6858000"/>
            </a:xfrm>
            <a:prstGeom prst="rect">
              <a:avLst/>
            </a:prstGeom>
            <a:gradFill>
              <a:gsLst>
                <a:gs pos="0">
                  <a:srgbClr val="1565D8">
                    <a:alpha val="6000"/>
                  </a:srgbClr>
                </a:gs>
                <a:gs pos="100000">
                  <a:srgbClr val="1565D8">
                    <a:alpha val="0"/>
                  </a:srgbClr>
                </a:gs>
              </a:gsLst>
              <a:path path="circle">
                <a:fillToRect l="50000" t="50000" r="50000" b="50000"/>
              </a:path>
            </a:gradFill>
            <a:ln>
              <a:noFill/>
            </a:ln>
          </p:spPr>
          <p:txBody>
            <a:bodyPr/>
            <a:p/>
          </p:txBody>
        </p:sp>
        <p:sp>
          <p:nvSpPr>
            <p:cNvPr id="4" name="Ellipse 4"/>
            <p:cNvSpPr/>
            <p:nvPr/>
          </p:nvSpPr>
          <p:spPr>
            <a:xfrm>
              <a:off x="9429750" y="4191000"/>
              <a:ext cx="4953000" cy="4953000"/>
            </a:xfrm>
            <a:prstGeom prst="ellipse">
              <a:avLst/>
            </a:prstGeom>
            <a:noFill/>
            <a:ln w="14288">
              <a:solidFill>
                <a:srgbClr val="D6E6F9">
                  <a:alpha val="90000"/>
                </a:srgbClr>
              </a:solidFill>
            </a:ln>
          </p:spPr>
          <p:txBody>
            <a:bodyPr/>
            <a:p/>
          </p:txBody>
        </p:sp>
        <p:sp>
          <p:nvSpPr>
            <p:cNvPr id="5" name="Ellipse 5"/>
            <p:cNvSpPr/>
            <p:nvPr/>
          </p:nvSpPr>
          <p:spPr>
            <a:xfrm>
              <a:off x="10096500" y="4857750"/>
              <a:ext cx="3619500" cy="3619500"/>
            </a:xfrm>
            <a:prstGeom prst="ellipse">
              <a:avLst/>
            </a:prstGeom>
            <a:noFill/>
            <a:ln w="14288">
              <a:solidFill>
                <a:srgbClr val="D6E6F9">
                  <a:alpha val="70000"/>
                </a:srgbClr>
              </a:solidFill>
              <a:custDash>
                <a:ds d="200000" sp="533333"/>
              </a:custDash>
            </a:ln>
          </p:spPr>
          <p:txBody>
            <a:bodyPr/>
            <a:p/>
          </p:txBody>
        </p:sp>
      </p:grpSp>
      <p:grpSp>
        <p:nvGrpSpPr>
          <p:cNvPr id="9" name="Group 9"/>
          <p:cNvGrpSpPr/>
          <p:nvPr/>
        </p:nvGrpSpPr>
        <p:grpSpPr>
          <a:xfrm>
            <a:off x="4368641" y="520065"/>
            <a:ext cx="3454718" cy="865823"/>
            <a:chOff x="4368641" y="520065"/>
            <a:chExt cx="3454718" cy="865823"/>
          </a:xfrm>
        </p:grpSpPr>
        <p:sp>
          <p:nvSpPr>
            <p:cNvPr id="7" name="TextBox 7"/>
            <p:cNvSpPr txBox="1"/>
            <p:nvPr/>
          </p:nvSpPr>
          <p:spPr>
            <a:xfrm>
              <a:off x="5129974" y="520065"/>
              <a:ext cx="1932051" cy="67056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3300" b="1" dirty="0">
                  <a:solidFill>
                    <a:srgbClr val="2B3648"/>
                  </a:solidFill>
                  <a:latin typeface="Arial"/>
                  <a:ea typeface="Microsoft YaHei"/>
                  <a:cs typeface="Arial"/>
                </a:rPr>
                <a:t>课程目录</a:t>
              </a:r>
            </a:p>
          </p:txBody>
        </p:sp>
        <p:sp>
          <p:nvSpPr>
            <p:cNvPr id="8" name="TextBox 8"/>
            <p:cNvSpPr txBox="1"/>
            <p:nvPr/>
          </p:nvSpPr>
          <p:spPr>
            <a:xfrm>
              <a:off x="4368641" y="1111568"/>
              <a:ext cx="3454718" cy="27432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350" dirty="0">
                  <a:solidFill>
                    <a:srgbClr val="5B6B82"/>
                  </a:solidFill>
                  <a:latin typeface="Arial"/>
                  <a:ea typeface="Microsoft YaHei"/>
                  <a:cs typeface="Arial"/>
                </a:rPr>
                <a:t>七个章节，一路从「我不懂」走到「会用」</a:t>
              </a:r>
            </a:p>
          </p:txBody>
        </p:sp>
      </p:grpSp>
      <p:grpSp>
        <p:nvGrpSpPr>
          <p:cNvPr id="65" name="Group 65"/>
          <p:cNvGrpSpPr/>
          <p:nvPr/>
        </p:nvGrpSpPr>
        <p:grpSpPr>
          <a:xfrm>
            <a:off x="571500" y="1809750"/>
            <a:ext cx="11029950" cy="3790950"/>
            <a:chOff x="571500" y="1809750"/>
            <a:chExt cx="11029950" cy="3790950"/>
          </a:xfrm>
        </p:grpSpPr>
        <p:grpSp>
          <p:nvGrpSpPr>
            <p:cNvPr id="16" name="Group 16"/>
            <p:cNvGrpSpPr/>
            <p:nvPr/>
          </p:nvGrpSpPr>
          <p:grpSpPr>
            <a:xfrm>
              <a:off x="571500" y="1809750"/>
              <a:ext cx="2600325" cy="1790700"/>
              <a:chOff x="571500" y="1809750"/>
              <a:chExt cx="2600325" cy="1790700"/>
            </a:xfrm>
          </p:grpSpPr>
          <p:sp>
            <p:nvSpPr>
              <p:cNvPr id="10" name="Rectangle 10"/>
              <p:cNvSpPr/>
              <p:nvPr/>
            </p:nvSpPr>
            <p:spPr>
              <a:xfrm>
                <a:off x="571500" y="1809750"/>
                <a:ext cx="2600325" cy="1790700"/>
              </a:xfrm>
              <a:prstGeom prst="roundRect">
                <a:avLst>
                  <a:gd name="adj" fmla="val 8511"/>
                </a:avLst>
              </a:prstGeom>
              <a:solidFill>
                <a:srgbClr val="FFFFFF"/>
              </a:solidFill>
              <a:ln w="9525">
                <a:solidFill>
                  <a:srgbClr val="D8E1EC"/>
                </a:solidFill>
              </a:ln>
            </p:spPr>
            <p:txBody>
              <a:bodyPr/>
              <a:p/>
            </p:txBody>
          </p:sp>
          <p:sp>
            <p:nvSpPr>
              <p:cNvPr id="11" name="Ellipse 11"/>
              <p:cNvSpPr/>
              <p:nvPr/>
            </p:nvSpPr>
            <p:spPr>
              <a:xfrm>
                <a:off x="800100" y="2057400"/>
                <a:ext cx="381000" cy="381000"/>
              </a:xfrm>
              <a:prstGeom prst="ellipse">
                <a:avLst/>
              </a:prstGeom>
              <a:solidFill>
                <a:srgbClr val="1565D8"/>
              </a:solidFill>
              <a:ln>
                <a:noFill/>
              </a:ln>
            </p:spPr>
            <p:txBody>
              <a:bodyPr/>
              <a:p/>
            </p:txBody>
          </p:sp>
          <p:sp>
            <p:nvSpPr>
              <p:cNvPr id="12" name="TextBox 12"/>
              <p:cNvSpPr txBox="1"/>
              <p:nvPr/>
            </p:nvSpPr>
            <p:spPr>
              <a:xfrm>
                <a:off x="869492" y="2168842"/>
                <a:ext cx="242216" cy="27432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ctr"/>
                <a:r>
                  <a:rPr lang="zh-CN" sz="1350" b="1" dirty="0">
                    <a:solidFill>
                      <a:srgbClr val="FFFFFF"/>
                    </a:solidFill>
                    <a:latin typeface="Arial"/>
                    <a:ea typeface="Microsoft YaHei"/>
                    <a:cs typeface="Arial"/>
                  </a:rPr>
                  <a:t>01</a:t>
                </a:r>
              </a:p>
            </p:txBody>
          </p:sp>
          <p:sp>
            <p:nvSpPr>
              <p:cNvPr id="13" name="TextBox 13"/>
              <p:cNvSpPr txBox="1"/>
              <p:nvPr/>
            </p:nvSpPr>
            <p:spPr>
              <a:xfrm>
                <a:off x="1293495" y="2145982"/>
                <a:ext cx="769651" cy="33528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l"/>
                <a:r>
                  <a:rPr lang="zh-CN" sz="1650" b="1" dirty="0">
                    <a:solidFill>
                      <a:srgbClr val="2B3648"/>
                    </a:solidFill>
                    <a:latin typeface="Arial"/>
                    <a:ea typeface="Microsoft YaHei"/>
                    <a:cs typeface="Arial"/>
                  </a:rPr>
                  <a:t>走进 AI</a:t>
                </a:r>
              </a:p>
            </p:txBody>
          </p:sp>
          <p:sp>
            <p:nvSpPr>
              <p:cNvPr id="14" name="TextBox 14"/>
              <p:cNvSpPr txBox="1"/>
              <p:nvPr/>
            </p:nvSpPr>
            <p:spPr>
              <a:xfrm>
                <a:off x="786765" y="2667952"/>
                <a:ext cx="1006792" cy="21336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l"/>
                <a:r>
                  <a:rPr lang="zh-CN" sz="1050" dirty="0">
                    <a:solidFill>
                      <a:srgbClr val="5B6B82"/>
                    </a:solidFill>
                    <a:latin typeface="Arial"/>
                    <a:ea typeface="Microsoft YaHei"/>
                    <a:cs typeface="Arial"/>
                  </a:rPr>
                  <a:t>破除三大误会，</a:t>
                </a:r>
              </a:p>
            </p:txBody>
          </p:sp>
          <p:sp>
            <p:nvSpPr>
              <p:cNvPr id="15" name="TextBox 15"/>
              <p:cNvSpPr txBox="1"/>
              <p:nvPr/>
            </p:nvSpPr>
            <p:spPr>
              <a:xfrm>
                <a:off x="786765" y="2877502"/>
                <a:ext cx="1027795" cy="21336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l"/>
                <a:r>
                  <a:rPr lang="zh-CN" sz="1050" dirty="0">
                    <a:solidFill>
                      <a:srgbClr val="5B6B82"/>
                    </a:solidFill>
                    <a:latin typeface="Arial"/>
                    <a:ea typeface="Microsoft YaHei"/>
                    <a:cs typeface="Arial"/>
                  </a:rPr>
                  <a:t>看见日常里的 AI</a:t>
                </a:r>
              </a:p>
            </p:txBody>
          </p:sp>
        </p:grpSp>
        <p:grpSp>
          <p:nvGrpSpPr>
            <p:cNvPr id="23" name="Group 23"/>
            <p:cNvGrpSpPr/>
            <p:nvPr/>
          </p:nvGrpSpPr>
          <p:grpSpPr>
            <a:xfrm>
              <a:off x="3381375" y="1809750"/>
              <a:ext cx="2600325" cy="1790700"/>
              <a:chOff x="3381375" y="1809750"/>
              <a:chExt cx="2600325" cy="1790700"/>
            </a:xfrm>
          </p:grpSpPr>
          <p:sp>
            <p:nvSpPr>
              <p:cNvPr id="17" name="Rectangle 17"/>
              <p:cNvSpPr/>
              <p:nvPr/>
            </p:nvSpPr>
            <p:spPr>
              <a:xfrm>
                <a:off x="3381375" y="1809750"/>
                <a:ext cx="2600325" cy="1790700"/>
              </a:xfrm>
              <a:prstGeom prst="roundRect">
                <a:avLst>
                  <a:gd name="adj" fmla="val 8511"/>
                </a:avLst>
              </a:prstGeom>
              <a:solidFill>
                <a:srgbClr val="FFFFFF"/>
              </a:solidFill>
              <a:ln w="9525">
                <a:solidFill>
                  <a:srgbClr val="D8E1EC"/>
                </a:solidFill>
              </a:ln>
            </p:spPr>
            <p:txBody>
              <a:bodyPr/>
              <a:p/>
            </p:txBody>
          </p:sp>
          <p:sp>
            <p:nvSpPr>
              <p:cNvPr id="18" name="Ellipse 18"/>
              <p:cNvSpPr/>
              <p:nvPr/>
            </p:nvSpPr>
            <p:spPr>
              <a:xfrm>
                <a:off x="3609975" y="2057400"/>
                <a:ext cx="381000" cy="381000"/>
              </a:xfrm>
              <a:prstGeom prst="ellipse">
                <a:avLst/>
              </a:prstGeom>
              <a:solidFill>
                <a:srgbClr val="1565D8"/>
              </a:solidFill>
              <a:ln>
                <a:noFill/>
              </a:ln>
            </p:spPr>
            <p:txBody>
              <a:bodyPr/>
              <a:p/>
            </p:txBody>
          </p:sp>
          <p:sp>
            <p:nvSpPr>
              <p:cNvPr id="19" name="TextBox 19"/>
              <p:cNvSpPr txBox="1"/>
              <p:nvPr/>
            </p:nvSpPr>
            <p:spPr>
              <a:xfrm>
                <a:off x="3679367" y="2168842"/>
                <a:ext cx="242216" cy="27432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ctr"/>
                <a:r>
                  <a:rPr lang="zh-CN" sz="1350" b="1" dirty="0">
                    <a:solidFill>
                      <a:srgbClr val="FFFFFF"/>
                    </a:solidFill>
                    <a:latin typeface="Arial"/>
                    <a:ea typeface="Microsoft YaHei"/>
                    <a:cs typeface="Arial"/>
                  </a:rPr>
                  <a:t>02</a:t>
                </a:r>
              </a:p>
            </p:txBody>
          </p:sp>
          <p:sp>
            <p:nvSpPr>
              <p:cNvPr id="20" name="TextBox 20"/>
              <p:cNvSpPr txBox="1"/>
              <p:nvPr/>
            </p:nvSpPr>
            <p:spPr>
              <a:xfrm>
                <a:off x="4103370" y="2145982"/>
                <a:ext cx="1000680" cy="33528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l"/>
                <a:r>
                  <a:rPr lang="zh-CN" sz="1650" b="1" dirty="0">
                    <a:solidFill>
                      <a:srgbClr val="2B3648"/>
                    </a:solidFill>
                    <a:latin typeface="Arial"/>
                    <a:ea typeface="Microsoft YaHei"/>
                    <a:cs typeface="Arial"/>
                  </a:rPr>
                  <a:t>AI 是什么</a:t>
                </a:r>
              </a:p>
            </p:txBody>
          </p:sp>
          <p:sp>
            <p:nvSpPr>
              <p:cNvPr id="21" name="TextBox 21"/>
              <p:cNvSpPr txBox="1"/>
              <p:nvPr/>
            </p:nvSpPr>
            <p:spPr>
              <a:xfrm>
                <a:off x="3596640" y="2667952"/>
                <a:ext cx="1286828" cy="21336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l"/>
                <a:r>
                  <a:rPr lang="zh-CN" sz="1050" dirty="0">
                    <a:solidFill>
                      <a:srgbClr val="5B6B82"/>
                    </a:solidFill>
                    <a:latin typeface="Arial"/>
                    <a:ea typeface="Microsoft YaHei"/>
                    <a:cs typeface="Arial"/>
                  </a:rPr>
                  <a:t>一张家族树看懂 AI /</a:t>
                </a:r>
              </a:p>
            </p:txBody>
          </p:sp>
          <p:sp>
            <p:nvSpPr>
              <p:cNvPr id="22" name="TextBox 22"/>
              <p:cNvSpPr txBox="1"/>
              <p:nvPr/>
            </p:nvSpPr>
            <p:spPr>
              <a:xfrm>
                <a:off x="3596640" y="2877502"/>
                <a:ext cx="1167813" cy="21336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l"/>
                <a:r>
                  <a:rPr lang="zh-CN" sz="1050" dirty="0">
                    <a:solidFill>
                      <a:srgbClr val="5B6B82"/>
                    </a:solidFill>
                    <a:latin typeface="Arial"/>
                    <a:ea typeface="Microsoft YaHei"/>
                    <a:cs typeface="Arial"/>
                  </a:rPr>
                  <a:t>机器学习 / 大模型</a:t>
                </a:r>
              </a:p>
            </p:txBody>
          </p:sp>
        </p:grpSp>
        <p:grpSp>
          <p:nvGrpSpPr>
            <p:cNvPr id="30" name="Group 30"/>
            <p:cNvGrpSpPr/>
            <p:nvPr/>
          </p:nvGrpSpPr>
          <p:grpSpPr>
            <a:xfrm>
              <a:off x="6191250" y="1809750"/>
              <a:ext cx="2600325" cy="1790700"/>
              <a:chOff x="6191250" y="1809750"/>
              <a:chExt cx="2600325" cy="1790700"/>
            </a:xfrm>
          </p:grpSpPr>
          <p:sp>
            <p:nvSpPr>
              <p:cNvPr id="24" name="Rectangle 24"/>
              <p:cNvSpPr/>
              <p:nvPr/>
            </p:nvSpPr>
            <p:spPr>
              <a:xfrm>
                <a:off x="6191250" y="1809750"/>
                <a:ext cx="2600325" cy="1790700"/>
              </a:xfrm>
              <a:prstGeom prst="roundRect">
                <a:avLst>
                  <a:gd name="adj" fmla="val 8511"/>
                </a:avLst>
              </a:prstGeom>
              <a:solidFill>
                <a:srgbClr val="FFFFFF"/>
              </a:solidFill>
              <a:ln w="9525">
                <a:solidFill>
                  <a:srgbClr val="D8E1EC"/>
                </a:solidFill>
              </a:ln>
            </p:spPr>
            <p:txBody>
              <a:bodyPr/>
              <a:p/>
            </p:txBody>
          </p:sp>
          <p:sp>
            <p:nvSpPr>
              <p:cNvPr id="25" name="Ellipse 25"/>
              <p:cNvSpPr/>
              <p:nvPr/>
            </p:nvSpPr>
            <p:spPr>
              <a:xfrm>
                <a:off x="6419850" y="2057400"/>
                <a:ext cx="381000" cy="381000"/>
              </a:xfrm>
              <a:prstGeom prst="ellipse">
                <a:avLst/>
              </a:prstGeom>
              <a:solidFill>
                <a:srgbClr val="1565D8"/>
              </a:solidFill>
              <a:ln>
                <a:noFill/>
              </a:ln>
            </p:spPr>
            <p:txBody>
              <a:bodyPr/>
              <a:p/>
            </p:txBody>
          </p:sp>
          <p:sp>
            <p:nvSpPr>
              <p:cNvPr id="26" name="TextBox 26"/>
              <p:cNvSpPr txBox="1"/>
              <p:nvPr/>
            </p:nvSpPr>
            <p:spPr>
              <a:xfrm>
                <a:off x="6489242" y="2168842"/>
                <a:ext cx="242216" cy="27432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ctr"/>
                <a:r>
                  <a:rPr lang="zh-CN" sz="1350" b="1" dirty="0">
                    <a:solidFill>
                      <a:srgbClr val="FFFFFF"/>
                    </a:solidFill>
                    <a:latin typeface="Arial"/>
                    <a:ea typeface="Microsoft YaHei"/>
                    <a:cs typeface="Arial"/>
                  </a:rPr>
                  <a:t>03</a:t>
                </a:r>
              </a:p>
            </p:txBody>
          </p:sp>
          <p:sp>
            <p:nvSpPr>
              <p:cNvPr id="27" name="TextBox 27"/>
              <p:cNvSpPr txBox="1"/>
              <p:nvPr/>
            </p:nvSpPr>
            <p:spPr>
              <a:xfrm>
                <a:off x="6915150" y="2162175"/>
                <a:ext cx="1508284" cy="3048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l"/>
                <a:r>
                  <a:rPr lang="zh-CN" sz="1500" b="1" dirty="0">
                    <a:solidFill>
                      <a:srgbClr val="2B3648"/>
                    </a:solidFill>
                    <a:latin typeface="Arial"/>
                    <a:ea typeface="Microsoft YaHei"/>
                    <a:cs typeface="Arial"/>
                  </a:rPr>
                  <a:t>大模型如何工作</a:t>
                </a:r>
              </a:p>
            </p:txBody>
          </p:sp>
          <p:sp>
            <p:nvSpPr>
              <p:cNvPr id="28" name="TextBox 28"/>
              <p:cNvSpPr txBox="1"/>
              <p:nvPr/>
            </p:nvSpPr>
            <p:spPr>
              <a:xfrm>
                <a:off x="6406515" y="2667952"/>
                <a:ext cx="1566863" cy="21336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l"/>
                <a:r>
                  <a:rPr lang="zh-CN" sz="1050" dirty="0">
                    <a:solidFill>
                      <a:srgbClr val="5B6B82"/>
                    </a:solidFill>
                    <a:latin typeface="Arial"/>
                    <a:ea typeface="Microsoft YaHei"/>
                    <a:cs typeface="Arial"/>
                  </a:rPr>
                  <a:t>接话高手、参数与 MoE</a:t>
                </a:r>
              </a:p>
            </p:txBody>
          </p:sp>
          <p:sp>
            <p:nvSpPr>
              <p:cNvPr id="29" name="TextBox 29"/>
              <p:cNvSpPr txBox="1"/>
              <p:nvPr/>
            </p:nvSpPr>
            <p:spPr>
              <a:xfrm>
                <a:off x="6406515" y="2877502"/>
                <a:ext cx="726758" cy="21336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l"/>
                <a:r>
                  <a:rPr lang="zh-CN" sz="1050" dirty="0">
                    <a:solidFill>
                      <a:srgbClr val="5B6B82"/>
                    </a:solidFill>
                    <a:latin typeface="Arial"/>
                    <a:ea typeface="Microsoft YaHei"/>
                    <a:cs typeface="Arial"/>
                  </a:rPr>
                  <a:t>还会幻觉</a:t>
                </a:r>
              </a:p>
            </p:txBody>
          </p:sp>
        </p:grpSp>
        <p:grpSp>
          <p:nvGrpSpPr>
            <p:cNvPr id="37" name="Group 37"/>
            <p:cNvGrpSpPr/>
            <p:nvPr/>
          </p:nvGrpSpPr>
          <p:grpSpPr>
            <a:xfrm>
              <a:off x="9001125" y="1809750"/>
              <a:ext cx="2600325" cy="1790700"/>
              <a:chOff x="9001125" y="1809750"/>
              <a:chExt cx="2600325" cy="1790700"/>
            </a:xfrm>
          </p:grpSpPr>
          <p:sp>
            <p:nvSpPr>
              <p:cNvPr id="31" name="Rectangle 31"/>
              <p:cNvSpPr/>
              <p:nvPr/>
            </p:nvSpPr>
            <p:spPr>
              <a:xfrm>
                <a:off x="9001125" y="1809750"/>
                <a:ext cx="2600325" cy="1790700"/>
              </a:xfrm>
              <a:prstGeom prst="roundRect">
                <a:avLst>
                  <a:gd name="adj" fmla="val 8511"/>
                </a:avLst>
              </a:prstGeom>
              <a:solidFill>
                <a:srgbClr val="FFFFFF"/>
              </a:solidFill>
              <a:ln w="9525">
                <a:solidFill>
                  <a:srgbClr val="D8E1EC"/>
                </a:solidFill>
              </a:ln>
            </p:spPr>
            <p:txBody>
              <a:bodyPr/>
              <a:p/>
            </p:txBody>
          </p:sp>
          <p:sp>
            <p:nvSpPr>
              <p:cNvPr id="32" name="Ellipse 32"/>
              <p:cNvSpPr/>
              <p:nvPr/>
            </p:nvSpPr>
            <p:spPr>
              <a:xfrm>
                <a:off x="9229725" y="2057400"/>
                <a:ext cx="381000" cy="381000"/>
              </a:xfrm>
              <a:prstGeom prst="ellipse">
                <a:avLst/>
              </a:prstGeom>
              <a:solidFill>
                <a:srgbClr val="1565D8"/>
              </a:solidFill>
              <a:ln>
                <a:noFill/>
              </a:ln>
            </p:spPr>
            <p:txBody>
              <a:bodyPr/>
              <a:p/>
            </p:txBody>
          </p:sp>
          <p:sp>
            <p:nvSpPr>
              <p:cNvPr id="33" name="TextBox 33"/>
              <p:cNvSpPr txBox="1"/>
              <p:nvPr/>
            </p:nvSpPr>
            <p:spPr>
              <a:xfrm>
                <a:off x="9299117" y="2168842"/>
                <a:ext cx="242216" cy="27432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ctr"/>
                <a:r>
                  <a:rPr lang="zh-CN" sz="1350" b="1" dirty="0">
                    <a:solidFill>
                      <a:srgbClr val="FFFFFF"/>
                    </a:solidFill>
                    <a:latin typeface="Arial"/>
                    <a:ea typeface="Microsoft YaHei"/>
                    <a:cs typeface="Arial"/>
                  </a:rPr>
                  <a:t>04</a:t>
                </a:r>
              </a:p>
            </p:txBody>
          </p:sp>
          <p:sp>
            <p:nvSpPr>
              <p:cNvPr id="34" name="TextBox 34"/>
              <p:cNvSpPr txBox="1"/>
              <p:nvPr/>
            </p:nvSpPr>
            <p:spPr>
              <a:xfrm>
                <a:off x="9723120" y="2145982"/>
                <a:ext cx="1197054" cy="33528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l"/>
                <a:r>
                  <a:rPr lang="zh-CN" sz="1650" b="1" dirty="0">
                    <a:solidFill>
                      <a:srgbClr val="2B3648"/>
                    </a:solidFill>
                    <a:latin typeface="Arial"/>
                    <a:ea typeface="Microsoft YaHei"/>
                    <a:cs typeface="Arial"/>
                  </a:rPr>
                  <a:t>写好提示词</a:t>
                </a:r>
              </a:p>
            </p:txBody>
          </p:sp>
          <p:sp>
            <p:nvSpPr>
              <p:cNvPr id="35" name="TextBox 35"/>
              <p:cNvSpPr txBox="1"/>
              <p:nvPr/>
            </p:nvSpPr>
            <p:spPr>
              <a:xfrm>
                <a:off x="9216390" y="2667952"/>
                <a:ext cx="1734884" cy="21336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l"/>
                <a:r>
                  <a:rPr lang="zh-CN" sz="1050" dirty="0">
                    <a:solidFill>
                      <a:srgbClr val="5B6B82"/>
                    </a:solidFill>
                    <a:latin typeface="Arial"/>
                    <a:ea typeface="Microsoft YaHei"/>
                    <a:cs typeface="Arial"/>
                  </a:rPr>
                  <a:t>角色·背景·任务·约束·格式</a:t>
                </a:r>
              </a:p>
            </p:txBody>
          </p:sp>
          <p:sp>
            <p:nvSpPr>
              <p:cNvPr id="36" name="TextBox 36"/>
              <p:cNvSpPr txBox="1"/>
              <p:nvPr/>
            </p:nvSpPr>
            <p:spPr>
              <a:xfrm>
                <a:off x="9216390" y="2877502"/>
                <a:ext cx="446722" cy="21336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l"/>
                <a:r>
                  <a:rPr lang="zh-CN" sz="1050" dirty="0">
                    <a:solidFill>
                      <a:srgbClr val="5B6B82"/>
                    </a:solidFill>
                    <a:latin typeface="Arial"/>
                    <a:ea typeface="Microsoft YaHei"/>
                    <a:cs typeface="Arial"/>
                  </a:rPr>
                  <a:t>五要素</a:t>
                </a:r>
              </a:p>
            </p:txBody>
          </p:sp>
        </p:grpSp>
        <p:grpSp>
          <p:nvGrpSpPr>
            <p:cNvPr id="44" name="Group 44"/>
            <p:cNvGrpSpPr/>
            <p:nvPr/>
          </p:nvGrpSpPr>
          <p:grpSpPr>
            <a:xfrm>
              <a:off x="571500" y="3810000"/>
              <a:ext cx="2600325" cy="1790700"/>
              <a:chOff x="571500" y="3810000"/>
              <a:chExt cx="2600325" cy="1790700"/>
            </a:xfrm>
          </p:grpSpPr>
          <p:sp>
            <p:nvSpPr>
              <p:cNvPr id="38" name="Rectangle 38"/>
              <p:cNvSpPr/>
              <p:nvPr/>
            </p:nvSpPr>
            <p:spPr>
              <a:xfrm>
                <a:off x="571500" y="3810000"/>
                <a:ext cx="2600325" cy="1790700"/>
              </a:xfrm>
              <a:prstGeom prst="roundRect">
                <a:avLst>
                  <a:gd name="adj" fmla="val 8511"/>
                </a:avLst>
              </a:prstGeom>
              <a:solidFill>
                <a:srgbClr val="FFFFFF"/>
              </a:solidFill>
              <a:ln w="9525">
                <a:solidFill>
                  <a:srgbClr val="D8E1EC"/>
                </a:solidFill>
              </a:ln>
            </p:spPr>
            <p:txBody>
              <a:bodyPr/>
              <a:p/>
            </p:txBody>
          </p:sp>
          <p:sp>
            <p:nvSpPr>
              <p:cNvPr id="39" name="Ellipse 39"/>
              <p:cNvSpPr/>
              <p:nvPr/>
            </p:nvSpPr>
            <p:spPr>
              <a:xfrm>
                <a:off x="800100" y="4057650"/>
                <a:ext cx="381000" cy="381000"/>
              </a:xfrm>
              <a:prstGeom prst="ellipse">
                <a:avLst/>
              </a:prstGeom>
              <a:solidFill>
                <a:srgbClr val="1565D8"/>
              </a:solidFill>
              <a:ln>
                <a:noFill/>
              </a:ln>
            </p:spPr>
            <p:txBody>
              <a:bodyPr/>
              <a:p/>
            </p:txBody>
          </p:sp>
          <p:sp>
            <p:nvSpPr>
              <p:cNvPr id="40" name="TextBox 40"/>
              <p:cNvSpPr txBox="1"/>
              <p:nvPr/>
            </p:nvSpPr>
            <p:spPr>
              <a:xfrm>
                <a:off x="869492" y="4169092"/>
                <a:ext cx="242216" cy="27432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ctr"/>
                <a:r>
                  <a:rPr lang="zh-CN" sz="1350" b="1" dirty="0">
                    <a:solidFill>
                      <a:srgbClr val="FFFFFF"/>
                    </a:solidFill>
                    <a:latin typeface="Arial"/>
                    <a:ea typeface="Microsoft YaHei"/>
                    <a:cs typeface="Arial"/>
                  </a:rPr>
                  <a:t>05</a:t>
                </a:r>
              </a:p>
            </p:txBody>
          </p:sp>
          <p:sp>
            <p:nvSpPr>
              <p:cNvPr id="41" name="TextBox 41"/>
              <p:cNvSpPr txBox="1"/>
              <p:nvPr/>
            </p:nvSpPr>
            <p:spPr>
              <a:xfrm>
                <a:off x="1295400" y="4162425"/>
                <a:ext cx="1508284" cy="3048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l"/>
                <a:r>
                  <a:rPr lang="zh-CN" sz="1500" b="1" dirty="0">
                    <a:solidFill>
                      <a:srgbClr val="2B3648"/>
                    </a:solidFill>
                    <a:latin typeface="Arial"/>
                    <a:ea typeface="Microsoft YaHei"/>
                    <a:cs typeface="Arial"/>
                  </a:rPr>
                  <a:t>工具生态与实操</a:t>
                </a:r>
              </a:p>
            </p:txBody>
          </p:sp>
          <p:sp>
            <p:nvSpPr>
              <p:cNvPr id="42" name="TextBox 42"/>
              <p:cNvSpPr txBox="1"/>
              <p:nvPr/>
            </p:nvSpPr>
            <p:spPr>
              <a:xfrm>
                <a:off x="786765" y="4668202"/>
                <a:ext cx="2049923" cy="21336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l"/>
                <a:r>
                  <a:rPr lang="zh-CN" sz="1050" dirty="0">
                    <a:solidFill>
                      <a:srgbClr val="5B6B82"/>
                    </a:solidFill>
                    <a:latin typeface="Arial"/>
                    <a:ea typeface="Microsoft YaHei"/>
                    <a:cs typeface="Arial"/>
                  </a:rPr>
                  <a:t>2026 模型地图、选型与成本，</a:t>
                </a:r>
              </a:p>
            </p:txBody>
          </p:sp>
          <p:sp>
            <p:nvSpPr>
              <p:cNvPr id="43" name="TextBox 43"/>
              <p:cNvSpPr txBox="1"/>
              <p:nvPr/>
            </p:nvSpPr>
            <p:spPr>
              <a:xfrm>
                <a:off x="786765" y="4877752"/>
                <a:ext cx="1146810" cy="21336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l"/>
                <a:r>
                  <a:rPr lang="zh-CN" sz="1050" dirty="0">
                    <a:solidFill>
                      <a:srgbClr val="5B6B82"/>
                    </a:solidFill>
                    <a:latin typeface="Arial"/>
                    <a:ea typeface="Microsoft YaHei"/>
                    <a:cs typeface="Arial"/>
                  </a:rPr>
                  <a:t>现场演示当场就会</a:t>
                </a:r>
              </a:p>
            </p:txBody>
          </p:sp>
        </p:grpSp>
        <p:grpSp>
          <p:nvGrpSpPr>
            <p:cNvPr id="51" name="Group 51"/>
            <p:cNvGrpSpPr/>
            <p:nvPr/>
          </p:nvGrpSpPr>
          <p:grpSpPr>
            <a:xfrm>
              <a:off x="3381375" y="3810000"/>
              <a:ext cx="2600325" cy="1790700"/>
              <a:chOff x="3381375" y="3810000"/>
              <a:chExt cx="2600325" cy="1790700"/>
            </a:xfrm>
          </p:grpSpPr>
          <p:sp>
            <p:nvSpPr>
              <p:cNvPr id="45" name="Rectangle 45"/>
              <p:cNvSpPr/>
              <p:nvPr/>
            </p:nvSpPr>
            <p:spPr>
              <a:xfrm>
                <a:off x="3381375" y="3810000"/>
                <a:ext cx="2600325" cy="1790700"/>
              </a:xfrm>
              <a:prstGeom prst="roundRect">
                <a:avLst>
                  <a:gd name="adj" fmla="val 8511"/>
                </a:avLst>
              </a:prstGeom>
              <a:solidFill>
                <a:srgbClr val="FFFFFF"/>
              </a:solidFill>
              <a:ln w="9525">
                <a:solidFill>
                  <a:srgbClr val="D8E1EC"/>
                </a:solidFill>
              </a:ln>
            </p:spPr>
            <p:txBody>
              <a:bodyPr/>
              <a:p/>
            </p:txBody>
          </p:sp>
          <p:sp>
            <p:nvSpPr>
              <p:cNvPr id="46" name="Ellipse 46"/>
              <p:cNvSpPr/>
              <p:nvPr/>
            </p:nvSpPr>
            <p:spPr>
              <a:xfrm>
                <a:off x="3609975" y="4057650"/>
                <a:ext cx="381000" cy="381000"/>
              </a:xfrm>
              <a:prstGeom prst="ellipse">
                <a:avLst/>
              </a:prstGeom>
              <a:solidFill>
                <a:srgbClr val="1565D8"/>
              </a:solidFill>
              <a:ln>
                <a:noFill/>
              </a:ln>
            </p:spPr>
            <p:txBody>
              <a:bodyPr/>
              <a:p/>
            </p:txBody>
          </p:sp>
          <p:sp>
            <p:nvSpPr>
              <p:cNvPr id="47" name="TextBox 47"/>
              <p:cNvSpPr txBox="1"/>
              <p:nvPr/>
            </p:nvSpPr>
            <p:spPr>
              <a:xfrm>
                <a:off x="3679367" y="4169092"/>
                <a:ext cx="242216" cy="27432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ctr"/>
                <a:r>
                  <a:rPr lang="zh-CN" sz="1350" b="1" dirty="0">
                    <a:solidFill>
                      <a:srgbClr val="FFFFFF"/>
                    </a:solidFill>
                    <a:latin typeface="Arial"/>
                    <a:ea typeface="Microsoft YaHei"/>
                    <a:cs typeface="Arial"/>
                  </a:rPr>
                  <a:t>06</a:t>
                </a:r>
              </a:p>
            </p:txBody>
          </p:sp>
          <p:sp>
            <p:nvSpPr>
              <p:cNvPr id="48" name="TextBox 48"/>
              <p:cNvSpPr txBox="1"/>
              <p:nvPr/>
            </p:nvSpPr>
            <p:spPr>
              <a:xfrm>
                <a:off x="4103370" y="4146232"/>
                <a:ext cx="1000680" cy="33528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l"/>
                <a:r>
                  <a:rPr lang="zh-CN" sz="1650" b="1" dirty="0">
                    <a:solidFill>
                      <a:srgbClr val="2B3648"/>
                    </a:solidFill>
                    <a:latin typeface="Arial"/>
                    <a:ea typeface="Microsoft YaHei"/>
                    <a:cs typeface="Arial"/>
                  </a:rPr>
                  <a:t>新一代 AI</a:t>
                </a:r>
              </a:p>
            </p:txBody>
          </p:sp>
          <p:sp>
            <p:nvSpPr>
              <p:cNvPr id="49" name="TextBox 49"/>
              <p:cNvSpPr txBox="1"/>
              <p:nvPr/>
            </p:nvSpPr>
            <p:spPr>
              <a:xfrm>
                <a:off x="3596640" y="4668202"/>
                <a:ext cx="1146810" cy="21336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l"/>
                <a:r>
                  <a:rPr lang="zh-CN" sz="1050" dirty="0">
                    <a:solidFill>
                      <a:srgbClr val="5B6B82"/>
                    </a:solidFill>
                    <a:latin typeface="Arial"/>
                    <a:ea typeface="Microsoft YaHei"/>
                    <a:cs typeface="Arial"/>
                  </a:rPr>
                  <a:t>从能聊到能干活，</a:t>
                </a:r>
              </a:p>
            </p:txBody>
          </p:sp>
          <p:sp>
            <p:nvSpPr>
              <p:cNvPr id="50" name="TextBox 50"/>
              <p:cNvSpPr txBox="1"/>
              <p:nvPr/>
            </p:nvSpPr>
            <p:spPr>
              <a:xfrm>
                <a:off x="3596640" y="4877752"/>
                <a:ext cx="1209818" cy="21336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l"/>
                <a:r>
                  <a:rPr lang="zh-CN" sz="1050" dirty="0">
                    <a:solidFill>
                      <a:srgbClr val="5B6B82"/>
                    </a:solidFill>
                    <a:latin typeface="Arial"/>
                    <a:ea typeface="Microsoft YaHei"/>
                    <a:cs typeface="Arial"/>
                  </a:rPr>
                  <a:t>给 AI 接上你的资料</a:t>
                </a:r>
              </a:p>
            </p:txBody>
          </p:sp>
        </p:grpSp>
        <p:grpSp>
          <p:nvGrpSpPr>
            <p:cNvPr id="58" name="Group 58"/>
            <p:cNvGrpSpPr/>
            <p:nvPr/>
          </p:nvGrpSpPr>
          <p:grpSpPr>
            <a:xfrm>
              <a:off x="6191250" y="3810000"/>
              <a:ext cx="2600325" cy="1790700"/>
              <a:chOff x="6191250" y="3810000"/>
              <a:chExt cx="2600325" cy="1790700"/>
            </a:xfrm>
          </p:grpSpPr>
          <p:sp>
            <p:nvSpPr>
              <p:cNvPr id="52" name="Rectangle 52"/>
              <p:cNvSpPr/>
              <p:nvPr/>
            </p:nvSpPr>
            <p:spPr>
              <a:xfrm>
                <a:off x="6191250" y="3810000"/>
                <a:ext cx="2600325" cy="1790700"/>
              </a:xfrm>
              <a:prstGeom prst="roundRect">
                <a:avLst>
                  <a:gd name="adj" fmla="val 8511"/>
                </a:avLst>
              </a:prstGeom>
              <a:solidFill>
                <a:srgbClr val="FFFFFF"/>
              </a:solidFill>
              <a:ln w="9525">
                <a:solidFill>
                  <a:srgbClr val="D8E1EC"/>
                </a:solidFill>
              </a:ln>
            </p:spPr>
            <p:txBody>
              <a:bodyPr/>
              <a:p/>
            </p:txBody>
          </p:sp>
          <p:sp>
            <p:nvSpPr>
              <p:cNvPr id="53" name="Ellipse 53"/>
              <p:cNvSpPr/>
              <p:nvPr/>
            </p:nvSpPr>
            <p:spPr>
              <a:xfrm>
                <a:off x="6419850" y="4057650"/>
                <a:ext cx="381000" cy="381000"/>
              </a:xfrm>
              <a:prstGeom prst="ellipse">
                <a:avLst/>
              </a:prstGeom>
              <a:solidFill>
                <a:srgbClr val="1565D8"/>
              </a:solidFill>
              <a:ln>
                <a:noFill/>
              </a:ln>
            </p:spPr>
            <p:txBody>
              <a:bodyPr/>
              <a:p/>
            </p:txBody>
          </p:sp>
          <p:sp>
            <p:nvSpPr>
              <p:cNvPr id="54" name="TextBox 54"/>
              <p:cNvSpPr txBox="1"/>
              <p:nvPr/>
            </p:nvSpPr>
            <p:spPr>
              <a:xfrm>
                <a:off x="6489242" y="4169092"/>
                <a:ext cx="242216" cy="27432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ctr"/>
                <a:r>
                  <a:rPr lang="zh-CN" sz="1350" b="1" dirty="0">
                    <a:solidFill>
                      <a:srgbClr val="FFFFFF"/>
                    </a:solidFill>
                    <a:latin typeface="Arial"/>
                    <a:ea typeface="Microsoft YaHei"/>
                    <a:cs typeface="Arial"/>
                  </a:rPr>
                  <a:t>07</a:t>
                </a:r>
              </a:p>
            </p:txBody>
          </p:sp>
          <p:sp>
            <p:nvSpPr>
              <p:cNvPr id="55" name="TextBox 55"/>
              <p:cNvSpPr txBox="1"/>
              <p:nvPr/>
            </p:nvSpPr>
            <p:spPr>
              <a:xfrm>
                <a:off x="6913245" y="4146232"/>
                <a:ext cx="1659112" cy="33528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l"/>
                <a:r>
                  <a:rPr lang="zh-CN" sz="1650" b="1" dirty="0">
                    <a:solidFill>
                      <a:srgbClr val="2B3648"/>
                    </a:solidFill>
                    <a:latin typeface="Arial"/>
                    <a:ea typeface="Microsoft YaHei"/>
                    <a:cs typeface="Arial"/>
                  </a:rPr>
                  <a:t>安全用、用起来</a:t>
                </a:r>
              </a:p>
            </p:txBody>
          </p:sp>
          <p:sp>
            <p:nvSpPr>
              <p:cNvPr id="56" name="TextBox 56"/>
              <p:cNvSpPr txBox="1"/>
              <p:nvPr/>
            </p:nvSpPr>
            <p:spPr>
              <a:xfrm>
                <a:off x="6406515" y="4668202"/>
                <a:ext cx="1426845" cy="21336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l"/>
                <a:r>
                  <a:rPr lang="zh-CN" sz="1050" dirty="0">
                    <a:solidFill>
                      <a:srgbClr val="5B6B82"/>
                    </a:solidFill>
                    <a:latin typeface="Arial"/>
                    <a:ea typeface="Microsoft YaHei"/>
                    <a:cs typeface="Arial"/>
                  </a:rPr>
                  <a:t>四大风险、数据红线，</a:t>
                </a:r>
              </a:p>
            </p:txBody>
          </p:sp>
          <p:sp>
            <p:nvSpPr>
              <p:cNvPr id="57" name="TextBox 57"/>
              <p:cNvSpPr txBox="1"/>
              <p:nvPr/>
            </p:nvSpPr>
            <p:spPr>
              <a:xfrm>
                <a:off x="6406515" y="4877752"/>
                <a:ext cx="1167813" cy="21336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l"/>
                <a:r>
                  <a:rPr lang="zh-CN" sz="1050" dirty="0">
                    <a:solidFill>
                      <a:srgbClr val="5B6B82"/>
                    </a:solidFill>
                    <a:latin typeface="Arial"/>
                    <a:ea typeface="Microsoft YaHei"/>
                    <a:cs typeface="Arial"/>
                  </a:rPr>
                  <a:t>从 1 个小任务开始</a:t>
                </a:r>
              </a:p>
            </p:txBody>
          </p:sp>
        </p:grpSp>
        <p:grpSp>
          <p:nvGrpSpPr>
            <p:cNvPr id="64" name="Group 64"/>
            <p:cNvGrpSpPr/>
            <p:nvPr/>
          </p:nvGrpSpPr>
          <p:grpSpPr>
            <a:xfrm>
              <a:off x="9001125" y="3810000"/>
              <a:ext cx="2600325" cy="1790700"/>
              <a:chOff x="9001125" y="3810000"/>
              <a:chExt cx="2600325" cy="1790700"/>
            </a:xfrm>
          </p:grpSpPr>
          <p:sp>
            <p:nvSpPr>
              <p:cNvPr id="59" name="Rectangle 59"/>
              <p:cNvSpPr/>
              <p:nvPr/>
            </p:nvSpPr>
            <p:spPr>
              <a:xfrm>
                <a:off x="9001125" y="3810000"/>
                <a:ext cx="2600325" cy="1790700"/>
              </a:xfrm>
              <a:prstGeom prst="roundRect">
                <a:avLst>
                  <a:gd name="adj" fmla="val 8511"/>
                </a:avLst>
              </a:prstGeom>
              <a:solidFill>
                <a:srgbClr val="1565D8"/>
              </a:solidFill>
              <a:ln>
                <a:noFill/>
              </a:ln>
            </p:spPr>
            <p:txBody>
              <a:bodyPr/>
              <a:p/>
            </p:txBody>
          </p:sp>
          <p:sp>
            <p:nvSpPr>
              <p:cNvPr id="60" name="TextBox 60"/>
              <p:cNvSpPr txBox="1"/>
              <p:nvPr/>
            </p:nvSpPr>
            <p:spPr>
              <a:xfrm>
                <a:off x="9216390" y="4191952"/>
                <a:ext cx="586740" cy="21336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l"/>
                <a:r>
                  <a:rPr lang="zh-CN" sz="1050" dirty="0">
                    <a:solidFill>
                      <a:srgbClr val="FFFFFF">
                        <a:alphaMod val="75000"/>
                      </a:srgbClr>
                    </a:solidFill>
                    <a:latin typeface="Arial"/>
                    <a:ea typeface="Microsoft YaHei"/>
                    <a:cs typeface="Arial"/>
                  </a:rPr>
                  <a:t>全册心法</a:t>
                </a:r>
              </a:p>
            </p:txBody>
          </p:sp>
          <p:sp>
            <p:nvSpPr>
              <p:cNvPr id="61" name="TextBox 61"/>
              <p:cNvSpPr txBox="1"/>
              <p:nvPr/>
            </p:nvSpPr>
            <p:spPr>
              <a:xfrm>
                <a:off x="9212580" y="4578668"/>
                <a:ext cx="1168432" cy="27432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l"/>
                <a:r>
                  <a:rPr lang="zh-CN" sz="1350" b="1" dirty="0">
                    <a:solidFill>
                      <a:srgbClr val="FFFFFF"/>
                    </a:solidFill>
                    <a:latin typeface="Arial"/>
                    <a:ea typeface="Microsoft YaHei"/>
                    <a:cs typeface="Arial"/>
                  </a:rPr>
                  <a:t>基础是大头，</a:t>
                </a:r>
              </a:p>
            </p:txBody>
          </p:sp>
          <p:sp>
            <p:nvSpPr>
              <p:cNvPr id="62" name="TextBox 62"/>
              <p:cNvSpPr txBox="1"/>
              <p:nvPr/>
            </p:nvSpPr>
            <p:spPr>
              <a:xfrm>
                <a:off x="9212580" y="4826318"/>
                <a:ext cx="1168432" cy="27432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l"/>
                <a:r>
                  <a:rPr lang="zh-CN" sz="1350" b="1" dirty="0">
                    <a:solidFill>
                      <a:srgbClr val="FFFFFF"/>
                    </a:solidFill>
                    <a:latin typeface="Arial"/>
                    <a:ea typeface="Microsoft YaHei"/>
                    <a:cs typeface="Arial"/>
                  </a:rPr>
                  <a:t>认知是入口，</a:t>
                </a:r>
              </a:p>
            </p:txBody>
          </p:sp>
          <p:sp>
            <p:nvSpPr>
              <p:cNvPr id="63" name="TextBox 63"/>
              <p:cNvSpPr txBox="1"/>
              <p:nvPr/>
            </p:nvSpPr>
            <p:spPr>
              <a:xfrm>
                <a:off x="9212580" y="5073968"/>
                <a:ext cx="1168432" cy="27432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l"/>
                <a:r>
                  <a:rPr lang="zh-CN" sz="1350" b="1" dirty="0">
                    <a:solidFill>
                      <a:srgbClr val="FFFFFF"/>
                    </a:solidFill>
                    <a:latin typeface="Arial"/>
                    <a:ea typeface="Microsoft YaHei"/>
                    <a:cs typeface="Arial"/>
                  </a:rPr>
                  <a:t>技术是手段。</a:t>
                </a:r>
              </a:p>
            </p:txBody>
          </p:sp>
        </p:grpSp>
      </p:grpSp>
      <p:grpSp>
        <p:nvGrpSpPr>
          <p:cNvPr id="68" name="Group 68"/>
          <p:cNvGrpSpPr/>
          <p:nvPr/>
        </p:nvGrpSpPr>
        <p:grpSpPr>
          <a:xfrm>
            <a:off x="560070" y="6341745"/>
            <a:ext cx="11071860" cy="182880"/>
            <a:chOff x="560070" y="6341745"/>
            <a:chExt cx="11071860" cy="182880"/>
          </a:xfrm>
        </p:grpSpPr>
        <p:sp>
          <p:nvSpPr>
            <p:cNvPr id="66" name="TextBox 66"/>
            <p:cNvSpPr txBox="1"/>
            <p:nvPr/>
          </p:nvSpPr>
          <p:spPr>
            <a:xfrm>
              <a:off x="560070" y="6341745"/>
              <a:ext cx="1054989" cy="18288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00" dirty="0">
                  <a:solidFill>
                    <a:srgbClr val="8B99AE"/>
                  </a:solidFill>
                  <a:latin typeface="Arial"/>
                  <a:ea typeface="Microsoft YaHei"/>
                  <a:cs typeface="Arial"/>
                </a:rPr>
                <a:t>大模型通识 · 企业版</a:t>
              </a:r>
            </a:p>
          </p:txBody>
        </p:sp>
        <p:sp>
          <p:nvSpPr>
            <p:cNvPr id="67" name="TextBox 67"/>
            <p:cNvSpPr txBox="1"/>
            <p:nvPr/>
          </p:nvSpPr>
          <p:spPr>
            <a:xfrm>
              <a:off x="11273028" y="6341745"/>
              <a:ext cx="358902" cy="18288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r"/>
              <a:r>
                <a:rPr lang="zh-CN" sz="900" dirty="0">
                  <a:solidFill>
                    <a:srgbClr val="8B99AE"/>
                  </a:solidFill>
                  <a:latin typeface="Arial"/>
                  <a:ea typeface="Microsoft YaHei"/>
                  <a:cs typeface="Arial"/>
                </a:rPr>
                <a:t>3 / 51</a:t>
              </a:r>
            </a:p>
          </p:txBody>
        </p:sp>
      </p:grpSp>
    </p:spTree>
  </p:cSld>
  <p:clrMapOvr>
    <a:masterClrMapping/>
  </p:clrMapOvr>
  <p:transition xmlns:p14="http://schemas.microsoft.com/office/powerpoint/2010/main" p14:dur="400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00"/>
                                        <p:tgtEl>
                                          <p:spTgt spid="6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65" grpId="0"/>
    </p:bld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9" name="Group 9"/>
          <p:cNvGrpSpPr/>
          <p:nvPr/>
        </p:nvGrpSpPr>
        <p:grpSpPr>
          <a:xfrm>
            <a:off x="-666750" y="-1238250"/>
            <a:ext cx="15144750" cy="10382250"/>
            <a:chOff x="-666750" y="-1238250"/>
            <a:chExt cx="15144750" cy="10382250"/>
          </a:xfrm>
        </p:grpSpPr>
        <p:sp>
          <p:nvSpPr>
            <p:cNvPr id="2" name="Rectangle 2"/>
            <p:cNvSpPr/>
            <p:nvPr/>
          </p:nvSpPr>
          <p:spPr>
            <a:xfrm>
              <a:off x="0" y="0"/>
              <a:ext cx="12192000" cy="6858000"/>
            </a:xfrm>
            <a:prstGeom prst="rect">
              <a:avLst/>
            </a:prstGeom>
            <a:gradFill>
              <a:gsLst>
                <a:gs pos="0">
                  <a:srgbClr val="0B4EA2"/>
                </a:gs>
                <a:gs pos="55000">
                  <a:srgbClr val="1565D8"/>
                </a:gs>
                <a:gs pos="100000">
                  <a:srgbClr val="35A3E8"/>
                </a:gs>
              </a:gsLst>
              <a:lin ang="2700000" scaled="1"/>
            </a:gradFill>
            <a:ln>
              <a:noFill/>
            </a:ln>
          </p:spPr>
          <p:txBody>
            <a:bodyPr/>
            <a:p/>
          </p:txBody>
        </p:sp>
        <p:sp>
          <p:nvSpPr>
            <p:cNvPr id="3" name="Ellipse 3"/>
            <p:cNvSpPr/>
            <p:nvPr/>
          </p:nvSpPr>
          <p:spPr>
            <a:xfrm>
              <a:off x="8382000" y="3048000"/>
              <a:ext cx="6096000" cy="6096000"/>
            </a:xfrm>
            <a:prstGeom prst="ellipse">
              <a:avLst/>
            </a:prstGeom>
            <a:noFill/>
            <a:ln w="14288">
              <a:solidFill>
                <a:srgbClr val="FFFFFF">
                  <a:alpha val="10000"/>
                </a:srgbClr>
              </a:solidFill>
            </a:ln>
          </p:spPr>
          <p:txBody>
            <a:bodyPr/>
            <a:p/>
          </p:txBody>
        </p:sp>
        <p:sp>
          <p:nvSpPr>
            <p:cNvPr id="4" name="Ellipse 4"/>
            <p:cNvSpPr/>
            <p:nvPr/>
          </p:nvSpPr>
          <p:spPr>
            <a:xfrm>
              <a:off x="9048750" y="3714750"/>
              <a:ext cx="4762500" cy="4762500"/>
            </a:xfrm>
            <a:prstGeom prst="ellipse">
              <a:avLst/>
            </a:prstGeom>
            <a:noFill/>
            <a:ln w="14288">
              <a:solidFill>
                <a:srgbClr val="FFFFFF">
                  <a:alpha val="14000"/>
                </a:srgbClr>
              </a:solidFill>
              <a:custDash>
                <a:ds d="266666" sp="533333"/>
              </a:custDash>
            </a:ln>
          </p:spPr>
          <p:txBody>
            <a:bodyPr/>
            <a:p/>
          </p:txBody>
        </p:sp>
        <p:sp>
          <p:nvSpPr>
            <p:cNvPr id="5" name="Ellipse 5"/>
            <p:cNvSpPr/>
            <p:nvPr/>
          </p:nvSpPr>
          <p:spPr>
            <a:xfrm>
              <a:off x="9715500" y="4381500"/>
              <a:ext cx="3429000" cy="3429000"/>
            </a:xfrm>
            <a:prstGeom prst="ellipse">
              <a:avLst/>
            </a:prstGeom>
            <a:noFill/>
            <a:ln w="14288">
              <a:solidFill>
                <a:srgbClr val="FFFFFF">
                  <a:alpha val="10000"/>
                </a:srgbClr>
              </a:solidFill>
            </a:ln>
          </p:spPr>
          <p:txBody>
            <a:bodyPr/>
            <a:p/>
          </p:txBody>
        </p:sp>
        <p:sp>
          <p:nvSpPr>
            <p:cNvPr id="6" name="Ellipse 6"/>
            <p:cNvSpPr/>
            <p:nvPr/>
          </p:nvSpPr>
          <p:spPr>
            <a:xfrm>
              <a:off x="-666750" y="-1238250"/>
              <a:ext cx="3619500" cy="3619500"/>
            </a:xfrm>
            <a:prstGeom prst="ellipse">
              <a:avLst/>
            </a:prstGeom>
            <a:noFill/>
            <a:ln w="14288">
              <a:solidFill>
                <a:srgbClr val="FFFFFF">
                  <a:alpha val="8000"/>
                </a:srgbClr>
              </a:solidFill>
            </a:ln>
          </p:spPr>
          <p:txBody>
            <a:bodyPr/>
            <a:p/>
          </p:txBody>
        </p:sp>
        <p:sp>
          <p:nvSpPr>
            <p:cNvPr id="7" name="Ellipse 7"/>
            <p:cNvSpPr/>
            <p:nvPr/>
          </p:nvSpPr>
          <p:spPr>
            <a:xfrm>
              <a:off x="11382375" y="1095375"/>
              <a:ext cx="95250" cy="95250"/>
            </a:xfrm>
            <a:prstGeom prst="ellipse">
              <a:avLst/>
            </a:prstGeom>
            <a:solidFill>
              <a:srgbClr val="FFFFFF">
                <a:alpha val="20000"/>
              </a:srgbClr>
            </a:solidFill>
            <a:ln>
              <a:noFill/>
            </a:ln>
          </p:spPr>
          <p:txBody>
            <a:bodyPr/>
            <a:p/>
          </p:txBody>
        </p:sp>
        <p:sp>
          <p:nvSpPr>
            <p:cNvPr id="8" name="Ellipse 8"/>
            <p:cNvSpPr/>
            <p:nvPr/>
          </p:nvSpPr>
          <p:spPr>
            <a:xfrm>
              <a:off x="10629900" y="723900"/>
              <a:ext cx="76200" cy="76200"/>
            </a:xfrm>
            <a:prstGeom prst="ellipse">
              <a:avLst/>
            </a:prstGeom>
            <a:solidFill>
              <a:srgbClr val="FFFFFF">
                <a:alpha val="16000"/>
              </a:srgbClr>
            </a:solidFill>
            <a:ln>
              <a:noFill/>
            </a:ln>
          </p:spPr>
          <p:txBody>
            <a:bodyPr/>
            <a:p/>
          </p:txBody>
        </p:sp>
      </p:grpSp>
      <p:sp>
        <p:nvSpPr>
          <p:cNvPr id="10" name="TextBox 10"/>
          <p:cNvSpPr txBox="1"/>
          <p:nvPr/>
        </p:nvSpPr>
        <p:spPr>
          <a:xfrm>
            <a:off x="9619869" y="4038600"/>
            <a:ext cx="2153031" cy="24384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r"/>
            <a:r>
              <a:rPr lang="zh-CN" sz="12000" b="1" dirty="0">
                <a:solidFill>
                  <a:srgbClr val="FFFFFF">
                    <a:alphaMod val="14000"/>
                  </a:srgbClr>
                </a:solidFill>
                <a:latin typeface="Arial"/>
                <a:ea typeface="Microsoft YaHei"/>
                <a:cs typeface="Arial"/>
              </a:rPr>
              <a:t>01</a:t>
            </a:r>
          </a:p>
        </p:txBody>
      </p:sp>
      <p:sp>
        <p:nvSpPr>
          <p:cNvPr id="11" name="TextBox 11"/>
          <p:cNvSpPr txBox="1"/>
          <p:nvPr/>
        </p:nvSpPr>
        <p:spPr>
          <a:xfrm>
            <a:off x="560070" y="474345"/>
            <a:ext cx="634937" cy="18288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900" dirty="0">
                <a:solidFill>
                  <a:srgbClr val="FFFFFF">
                    <a:alphaMod val="50000"/>
                  </a:srgbClr>
                </a:solidFill>
                <a:latin typeface="Arial"/>
                <a:ea typeface="Microsoft YaHei"/>
                <a:cs typeface="Arial"/>
              </a:rPr>
              <a:t>LOGO HERE</a:t>
            </a:r>
          </a:p>
        </p:txBody>
      </p:sp>
      <p:grpSp>
        <p:nvGrpSpPr>
          <p:cNvPr id="18" name="Group 18"/>
          <p:cNvGrpSpPr/>
          <p:nvPr/>
        </p:nvGrpSpPr>
        <p:grpSpPr>
          <a:xfrm>
            <a:off x="529590" y="2423160"/>
            <a:ext cx="3893534" cy="2258378"/>
            <a:chOff x="529590" y="2423160"/>
            <a:chExt cx="3893534" cy="2258378"/>
          </a:xfrm>
        </p:grpSpPr>
        <p:sp>
          <p:nvSpPr>
            <p:cNvPr id="12" name="TextBox 12"/>
            <p:cNvSpPr txBox="1"/>
            <p:nvPr/>
          </p:nvSpPr>
          <p:spPr>
            <a:xfrm>
              <a:off x="556260" y="2423160"/>
              <a:ext cx="990600" cy="24384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00" dirty="0">
                  <a:solidFill>
                    <a:srgbClr val="FFFFFF">
                      <a:alphaMod val="70000"/>
                    </a:srgbClr>
                  </a:solidFill>
                  <a:latin typeface="Arial"/>
                  <a:ea typeface="Microsoft YaHei"/>
                  <a:cs typeface="Arial"/>
                </a:rPr>
                <a:t>CHAPTER ONE</a:t>
              </a:r>
            </a:p>
          </p:txBody>
        </p:sp>
        <p:sp>
          <p:nvSpPr>
            <p:cNvPr id="13" name="Rectangle 13"/>
            <p:cNvSpPr/>
            <p:nvPr/>
          </p:nvSpPr>
          <p:spPr>
            <a:xfrm>
              <a:off x="571500" y="2781300"/>
              <a:ext cx="533400" cy="38100"/>
            </a:xfrm>
            <a:prstGeom prst="roundRect">
              <a:avLst>
                <a:gd name="adj" fmla="val 50000"/>
              </a:avLst>
            </a:prstGeom>
            <a:solidFill>
              <a:srgbClr val="FFFFFF">
                <a:alpha val="85000"/>
              </a:srgbClr>
            </a:solidFill>
            <a:ln>
              <a:noFill/>
            </a:ln>
          </p:spPr>
          <p:txBody>
            <a:bodyPr/>
            <a:p/>
          </p:txBody>
        </p:sp>
        <p:sp>
          <p:nvSpPr>
            <p:cNvPr id="14" name="TextBox 14"/>
            <p:cNvSpPr txBox="1"/>
            <p:nvPr/>
          </p:nvSpPr>
          <p:spPr>
            <a:xfrm>
              <a:off x="529590" y="2996565"/>
              <a:ext cx="1539302" cy="67056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3300" b="1" dirty="0">
                  <a:solidFill>
                    <a:srgbClr val="FFFFFF"/>
                  </a:solidFill>
                  <a:latin typeface="Arial"/>
                  <a:ea typeface="Microsoft YaHei"/>
                  <a:cs typeface="Arial"/>
                </a:rPr>
                <a:t>走进 AI</a:t>
              </a:r>
            </a:p>
          </p:txBody>
        </p:sp>
        <p:sp>
          <p:nvSpPr>
            <p:cNvPr id="15" name="TextBox 15"/>
            <p:cNvSpPr txBox="1"/>
            <p:nvPr/>
          </p:nvSpPr>
          <p:spPr>
            <a:xfrm>
              <a:off x="550545" y="3593782"/>
              <a:ext cx="2121170" cy="33528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650" dirty="0">
                  <a:solidFill>
                    <a:srgbClr val="FFFFFF">
                      <a:alphaMod val="85000"/>
                    </a:srgbClr>
                  </a:solidFill>
                  <a:latin typeface="Arial"/>
                  <a:ea typeface="Microsoft YaHei"/>
                  <a:cs typeface="Arial"/>
                </a:rPr>
                <a:t>你其实早就在用 AI 了</a:t>
              </a:r>
            </a:p>
          </p:txBody>
        </p:sp>
        <p:sp>
          <p:nvSpPr>
            <p:cNvPr id="16" name="TextBox 16"/>
            <p:cNvSpPr txBox="1"/>
            <p:nvPr/>
          </p:nvSpPr>
          <p:spPr>
            <a:xfrm>
              <a:off x="554355" y="4121468"/>
              <a:ext cx="3868769" cy="27432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FFFFFF">
                      <a:alphaMod val="75000"/>
                    </a:srgbClr>
                  </a:solidFill>
                  <a:latin typeface="Arial"/>
                  <a:ea typeface="Microsoft YaHei"/>
                  <a:cs typeface="Arial"/>
                </a:rPr>
                <a:t>先破除「取代我 / 要会代码 / 太难」三大误会，</a:t>
              </a:r>
            </a:p>
          </p:txBody>
        </p:sp>
        <p:sp>
          <p:nvSpPr>
            <p:cNvPr id="17" name="TextBox 17"/>
            <p:cNvSpPr txBox="1"/>
            <p:nvPr/>
          </p:nvSpPr>
          <p:spPr>
            <a:xfrm>
              <a:off x="554355" y="4407218"/>
              <a:ext cx="2401586" cy="27432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FFFFFF">
                      <a:alphaMod val="75000"/>
                    </a:srgbClr>
                  </a:solidFill>
                  <a:latin typeface="Arial"/>
                  <a:ea typeface="Microsoft YaHei"/>
                  <a:cs typeface="Arial"/>
                </a:rPr>
                <a:t>再带你看见藏在日常里的 AI。</a:t>
              </a:r>
            </a:p>
          </p:txBody>
        </p:sp>
      </p:grpSp>
    </p:spTree>
  </p:cSld>
  <p:clrMapOvr>
    <a:masterClrMapping/>
  </p:clrMapOvr>
  <p:transition xmlns:p14="http://schemas.microsoft.com/office/powerpoint/2010/main" p14:dur="400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8" grpId="0"/>
    </p:bld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6" name="Group 6"/>
          <p:cNvGrpSpPr/>
          <p:nvPr/>
        </p:nvGrpSpPr>
        <p:grpSpPr>
          <a:xfrm>
            <a:off x="-1524000" y="0"/>
            <a:ext cx="13716000" cy="8477250"/>
            <a:chOff x="-1524000" y="0"/>
            <a:chExt cx="13716000" cy="8477250"/>
          </a:xfrm>
        </p:grpSpPr>
        <p:sp>
          <p:nvSpPr>
            <p:cNvPr id="2" name="Rectangle 2"/>
            <p:cNvSpPr/>
            <p:nvPr/>
          </p:nvSpPr>
          <p:spPr>
            <a:xfrm>
              <a:off x="0" y="0"/>
              <a:ext cx="12192000" cy="6858000"/>
            </a:xfrm>
            <a:prstGeom prst="rect">
              <a:avLst/>
            </a:prstGeom>
            <a:solidFill>
              <a:srgbClr val="F5F7FA"/>
            </a:solidFill>
            <a:ln>
              <a:noFill/>
            </a:ln>
          </p:spPr>
          <p:txBody>
            <a:bodyPr/>
            <a:p/>
          </p:txBody>
        </p:sp>
        <p:sp>
          <p:nvSpPr>
            <p:cNvPr id="3" name="Rectangle 3"/>
            <p:cNvSpPr/>
            <p:nvPr/>
          </p:nvSpPr>
          <p:spPr>
            <a:xfrm>
              <a:off x="0" y="0"/>
              <a:ext cx="12192000" cy="6858000"/>
            </a:xfrm>
            <a:prstGeom prst="rect">
              <a:avLst/>
            </a:prstGeom>
            <a:gradFill>
              <a:gsLst>
                <a:gs pos="0">
                  <a:srgbClr val="1565D8">
                    <a:alpha val="6000"/>
                  </a:srgbClr>
                </a:gs>
                <a:gs pos="100000">
                  <a:srgbClr val="1565D8">
                    <a:alpha val="0"/>
                  </a:srgbClr>
                </a:gs>
              </a:gsLst>
              <a:path path="circle">
                <a:fillToRect l="50000" t="50000" r="50000" b="50000"/>
              </a:path>
            </a:gradFill>
            <a:ln>
              <a:noFill/>
            </a:ln>
          </p:spPr>
          <p:txBody>
            <a:bodyPr/>
            <a:p/>
          </p:txBody>
        </p:sp>
        <p:sp>
          <p:nvSpPr>
            <p:cNvPr id="4" name="Ellipse 4"/>
            <p:cNvSpPr/>
            <p:nvPr/>
          </p:nvSpPr>
          <p:spPr>
            <a:xfrm>
              <a:off x="-1524000" y="4667250"/>
              <a:ext cx="3810000" cy="3810000"/>
            </a:xfrm>
            <a:prstGeom prst="ellipse">
              <a:avLst/>
            </a:prstGeom>
            <a:noFill/>
            <a:ln w="14288">
              <a:solidFill>
                <a:srgbClr val="D6E6F9">
                  <a:alpha val="80000"/>
                </a:srgbClr>
              </a:solidFill>
            </a:ln>
          </p:spPr>
          <p:txBody>
            <a:bodyPr/>
            <a:p/>
          </p:txBody>
        </p:sp>
        <p:sp>
          <p:nvSpPr>
            <p:cNvPr id="5" name="Ellipse 5"/>
            <p:cNvSpPr/>
            <p:nvPr/>
          </p:nvSpPr>
          <p:spPr>
            <a:xfrm>
              <a:off x="-952500" y="5238750"/>
              <a:ext cx="2667000" cy="2667000"/>
            </a:xfrm>
            <a:prstGeom prst="ellipse">
              <a:avLst/>
            </a:prstGeom>
            <a:noFill/>
            <a:ln w="14288">
              <a:solidFill>
                <a:srgbClr val="D6E6F9">
                  <a:alpha val="60000"/>
                </a:srgbClr>
              </a:solidFill>
              <a:custDash>
                <a:ds d="200000" sp="533333"/>
              </a:custDash>
            </a:ln>
          </p:spPr>
          <p:txBody>
            <a:bodyPr/>
            <a:p/>
          </p:txBody>
        </p:sp>
      </p:grpSp>
      <p:grpSp>
        <p:nvGrpSpPr>
          <p:cNvPr id="10" name="Group 10"/>
          <p:cNvGrpSpPr/>
          <p:nvPr/>
        </p:nvGrpSpPr>
        <p:grpSpPr>
          <a:xfrm>
            <a:off x="571500" y="685800"/>
            <a:ext cx="3666173" cy="700088"/>
            <a:chOff x="571500" y="685800"/>
            <a:chExt cx="3666173" cy="700088"/>
          </a:xfrm>
        </p:grpSpPr>
        <p:sp>
          <p:nvSpPr>
            <p:cNvPr id="7" name="Rectangle 7"/>
            <p:cNvSpPr/>
            <p:nvPr/>
          </p:nvSpPr>
          <p:spPr>
            <a:xfrm>
              <a:off x="571500" y="685800"/>
              <a:ext cx="76200" cy="323850"/>
            </a:xfrm>
            <a:prstGeom prst="roundRect">
              <a:avLst>
                <a:gd name="adj" fmla="val 50000"/>
              </a:avLst>
            </a:prstGeom>
            <a:solidFill>
              <a:srgbClr val="1565D8"/>
            </a:solidFill>
            <a:ln>
              <a:noFill/>
            </a:ln>
          </p:spPr>
          <p:txBody>
            <a:bodyPr/>
            <a:p/>
          </p:txBody>
        </p:sp>
        <p:sp>
          <p:nvSpPr>
            <p:cNvPr id="8" name="TextBox 8"/>
            <p:cNvSpPr txBox="1"/>
            <p:nvPr/>
          </p:nvSpPr>
          <p:spPr>
            <a:xfrm>
              <a:off x="771525" y="700088"/>
              <a:ext cx="2577465" cy="45720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2250" b="1" dirty="0">
                  <a:solidFill>
                    <a:srgbClr val="2B3648"/>
                  </a:solidFill>
                  <a:latin typeface="Arial"/>
                  <a:ea typeface="Microsoft YaHei"/>
                  <a:cs typeface="Arial"/>
                </a:rPr>
                <a:t>三个最常见的误会</a:t>
              </a:r>
            </a:p>
          </p:txBody>
        </p:sp>
        <p:sp>
          <p:nvSpPr>
            <p:cNvPr id="9" name="TextBox 9"/>
            <p:cNvSpPr txBox="1"/>
            <p:nvPr/>
          </p:nvSpPr>
          <p:spPr>
            <a:xfrm>
              <a:off x="782955" y="1111568"/>
              <a:ext cx="3454718" cy="27432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5B6B82"/>
                  </a:solidFill>
                  <a:latin typeface="Arial"/>
                  <a:ea typeface="Microsoft YaHei"/>
                  <a:cs typeface="Arial"/>
                </a:rPr>
                <a:t>先把心里的三道坎迈过去，学起来才不费劲</a:t>
              </a:r>
            </a:p>
          </p:txBody>
        </p:sp>
      </p:grpSp>
      <p:grpSp>
        <p:nvGrpSpPr>
          <p:cNvPr id="62" name="Group 62"/>
          <p:cNvGrpSpPr/>
          <p:nvPr/>
        </p:nvGrpSpPr>
        <p:grpSpPr>
          <a:xfrm>
            <a:off x="571500" y="1619250"/>
            <a:ext cx="10991850" cy="3810000"/>
            <a:chOff x="571500" y="1619250"/>
            <a:chExt cx="10991850" cy="3810000"/>
          </a:xfrm>
        </p:grpSpPr>
        <p:grpSp>
          <p:nvGrpSpPr>
            <p:cNvPr id="27" name="Group 27"/>
            <p:cNvGrpSpPr/>
            <p:nvPr/>
          </p:nvGrpSpPr>
          <p:grpSpPr>
            <a:xfrm>
              <a:off x="571500" y="1619250"/>
              <a:ext cx="3524250" cy="3810000"/>
              <a:chOff x="571500" y="1619250"/>
              <a:chExt cx="3524250" cy="3810000"/>
            </a:xfrm>
          </p:grpSpPr>
          <p:sp>
            <p:nvSpPr>
              <p:cNvPr id="11" name="Rectangle 11"/>
              <p:cNvSpPr/>
              <p:nvPr/>
            </p:nvSpPr>
            <p:spPr>
              <a:xfrm>
                <a:off x="571500" y="1619250"/>
                <a:ext cx="3524250" cy="3810000"/>
              </a:xfrm>
              <a:prstGeom prst="roundRect">
                <a:avLst>
                  <a:gd name="adj" fmla="val 4324"/>
                </a:avLst>
              </a:prstGeom>
              <a:solidFill>
                <a:srgbClr val="FFFFFF"/>
              </a:solidFill>
              <a:ln w="9525">
                <a:solidFill>
                  <a:srgbClr val="D8E1EC"/>
                </a:solidFill>
              </a:ln>
            </p:spPr>
            <p:txBody>
              <a:bodyPr/>
              <a:p/>
            </p:txBody>
          </p:sp>
          <p:sp>
            <p:nvSpPr>
              <p:cNvPr id="12" name="Rectangle 12"/>
              <p:cNvSpPr/>
              <p:nvPr/>
            </p:nvSpPr>
            <p:spPr>
              <a:xfrm>
                <a:off x="800100" y="1885950"/>
                <a:ext cx="914400" cy="323850"/>
              </a:xfrm>
              <a:prstGeom prst="roundRect">
                <a:avLst>
                  <a:gd name="adj" fmla="val 50000"/>
                </a:avLst>
              </a:prstGeom>
              <a:solidFill>
                <a:srgbClr val="D6E6F9"/>
              </a:solidFill>
              <a:ln>
                <a:noFill/>
              </a:ln>
            </p:spPr>
            <p:txBody>
              <a:bodyPr/>
              <a:p/>
            </p:txBody>
          </p:sp>
          <p:sp>
            <p:nvSpPr>
              <p:cNvPr id="13" name="TextBox 13"/>
              <p:cNvSpPr txBox="1"/>
              <p:nvPr/>
            </p:nvSpPr>
            <p:spPr>
              <a:xfrm>
                <a:off x="1006733" y="1983581"/>
                <a:ext cx="501134" cy="2286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ctr"/>
                <a:r>
                  <a:rPr lang="zh-CN" sz="1125" b="1" dirty="0">
                    <a:solidFill>
                      <a:srgbClr val="0B4EA2"/>
                    </a:solidFill>
                    <a:latin typeface="Arial"/>
                    <a:ea typeface="Microsoft YaHei"/>
                    <a:cs typeface="Arial"/>
                  </a:rPr>
                  <a:t>误区一</a:t>
                </a:r>
              </a:p>
            </p:txBody>
          </p:sp>
          <p:sp>
            <p:nvSpPr>
              <p:cNvPr id="14" name="Ellipse 14"/>
              <p:cNvSpPr/>
              <p:nvPr/>
            </p:nvSpPr>
            <p:spPr>
              <a:xfrm>
                <a:off x="3657600" y="1838325"/>
                <a:ext cx="419100" cy="419100"/>
              </a:xfrm>
              <a:prstGeom prst="ellipse">
                <a:avLst/>
              </a:prstGeom>
              <a:solidFill>
                <a:srgbClr val="D6E6F9"/>
              </a:solidFill>
              <a:ln>
                <a:noFill/>
              </a:ln>
            </p:spPr>
            <p:txBody>
              <a:bodyPr/>
              <a:p/>
            </p:txBody>
          </p:sp>
          <p:grpSp>
            <p:nvGrpSpPr>
              <p:cNvPr id="18" name="Group 18"/>
              <p:cNvGrpSpPr/>
              <p:nvPr/>
            </p:nvGrpSpPr>
            <p:grpSpPr>
              <a:xfrm>
                <a:off x="3781425" y="1990725"/>
                <a:ext cx="171450" cy="123825"/>
                <a:chOff x="3781425" y="1990725"/>
                <a:chExt cx="171450" cy="123825"/>
              </a:xfrm>
            </p:grpSpPr>
            <p:sp>
              <p:nvSpPr>
                <p:cNvPr id="15" name="Freeform 15"/>
                <p:cNvSpPr/>
                <p:nvPr/>
              </p:nvSpPr>
              <p:spPr>
                <a:xfrm>
                  <a:off x="3800475" y="2076450"/>
                  <a:ext cx="38100" cy="38100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38100" h="38100">
                      <a:moveTo>
                        <a:pt x="0" y="19050"/>
                      </a:moveTo>
                      <a:cubicBezTo>
                        <a:pt x="0" y="29571"/>
                        <a:pt x="8529" y="38100"/>
                        <a:pt x="19050" y="38100"/>
                      </a:cubicBezTo>
                      <a:cubicBezTo>
                        <a:pt x="29571" y="38100"/>
                        <a:pt x="38100" y="29571"/>
                        <a:pt x="38100" y="19050"/>
                      </a:cubicBezTo>
                      <a:cubicBezTo>
                        <a:pt x="38100" y="8529"/>
                        <a:pt x="29571" y="0"/>
                        <a:pt x="19050" y="0"/>
                      </a:cubicBezTo>
                      <a:cubicBezTo>
                        <a:pt x="8529" y="0"/>
                        <a:pt x="0" y="8529"/>
                        <a:pt x="0" y="19050"/>
                      </a:cubicBezTo>
                    </a:path>
                  </a:pathLst>
                </a:custGeom>
                <a:noFill/>
                <a:ln w="19050">
                  <a:solidFill>
                    <a:srgbClr val="1565D8"/>
                  </a:solidFill>
                </a:ln>
              </p:spPr>
              <p:txBody>
                <a:bodyPr/>
                <a:p/>
              </p:txBody>
            </p:sp>
            <p:sp>
              <p:nvSpPr>
                <p:cNvPr id="16" name="Freeform 16"/>
                <p:cNvSpPr/>
                <p:nvPr/>
              </p:nvSpPr>
              <p:spPr>
                <a:xfrm>
                  <a:off x="3895725" y="2076450"/>
                  <a:ext cx="38100" cy="38100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38100" h="38100">
                      <a:moveTo>
                        <a:pt x="0" y="19050"/>
                      </a:moveTo>
                      <a:cubicBezTo>
                        <a:pt x="0" y="29571"/>
                        <a:pt x="8529" y="38100"/>
                        <a:pt x="19050" y="38100"/>
                      </a:cubicBezTo>
                      <a:cubicBezTo>
                        <a:pt x="29571" y="38100"/>
                        <a:pt x="38100" y="29571"/>
                        <a:pt x="38100" y="19050"/>
                      </a:cubicBezTo>
                      <a:cubicBezTo>
                        <a:pt x="38100" y="8529"/>
                        <a:pt x="29571" y="0"/>
                        <a:pt x="19050" y="0"/>
                      </a:cubicBezTo>
                      <a:cubicBezTo>
                        <a:pt x="8529" y="0"/>
                        <a:pt x="0" y="8529"/>
                        <a:pt x="0" y="19050"/>
                      </a:cubicBezTo>
                    </a:path>
                  </a:pathLst>
                </a:custGeom>
                <a:noFill/>
                <a:ln w="19050">
                  <a:solidFill>
                    <a:srgbClr val="1565D8"/>
                  </a:solidFill>
                </a:ln>
              </p:spPr>
              <p:txBody>
                <a:bodyPr/>
                <a:p/>
              </p:txBody>
            </p:sp>
            <p:sp>
              <p:nvSpPr>
                <p:cNvPr id="17" name="Freeform 17"/>
                <p:cNvSpPr/>
                <p:nvPr/>
              </p:nvSpPr>
              <p:spPr>
                <a:xfrm>
                  <a:off x="3781425" y="1990725"/>
                  <a:ext cx="171450" cy="104775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171450" h="104775">
                      <a:moveTo>
                        <a:pt x="19050" y="104775"/>
                      </a:moveTo>
                      <a:lnTo>
                        <a:pt x="0" y="104775"/>
                      </a:lnTo>
                      <a:lnTo>
                        <a:pt x="0" y="47625"/>
                      </a:lnTo>
                      <a:lnTo>
                        <a:pt x="19050" y="0"/>
                      </a:lnTo>
                      <a:lnTo>
                        <a:pt x="104775" y="0"/>
                      </a:lnTo>
                      <a:lnTo>
                        <a:pt x="142875" y="47625"/>
                      </a:lnTo>
                      <a:lnTo>
                        <a:pt x="152400" y="47625"/>
                      </a:lnTo>
                      <a:cubicBezTo>
                        <a:pt x="162921" y="47625"/>
                        <a:pt x="171450" y="56154"/>
                        <a:pt x="171450" y="66675"/>
                      </a:cubicBezTo>
                      <a:lnTo>
                        <a:pt x="171450" y="104775"/>
                      </a:lnTo>
                      <a:lnTo>
                        <a:pt x="152400" y="104775"/>
                      </a:lnTo>
                      <a:moveTo>
                        <a:pt x="114300" y="104775"/>
                      </a:moveTo>
                      <a:lnTo>
                        <a:pt x="57150" y="104775"/>
                      </a:lnTo>
                      <a:moveTo>
                        <a:pt x="0" y="47625"/>
                      </a:moveTo>
                      <a:lnTo>
                        <a:pt x="142875" y="47625"/>
                      </a:lnTo>
                      <a:moveTo>
                        <a:pt x="85725" y="47625"/>
                      </a:moveTo>
                      <a:lnTo>
                        <a:pt x="85725" y="0"/>
                      </a:lnTo>
                    </a:path>
                  </a:pathLst>
                </a:custGeom>
                <a:noFill/>
                <a:ln w="19050">
                  <a:solidFill>
                    <a:srgbClr val="1565D8"/>
                  </a:solidFill>
                </a:ln>
              </p:spPr>
              <p:txBody>
                <a:bodyPr/>
                <a:p/>
              </p:txBody>
            </p:sp>
          </p:grpSp>
          <p:sp>
            <p:nvSpPr>
              <p:cNvPr id="19" name="TextBox 19"/>
              <p:cNvSpPr txBox="1"/>
              <p:nvPr/>
            </p:nvSpPr>
            <p:spPr>
              <a:xfrm>
                <a:off x="779145" y="2565082"/>
                <a:ext cx="1693766" cy="33528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l"/>
                <a:r>
                  <a:rPr lang="zh-CN" sz="1650" b="1" dirty="0">
                    <a:solidFill>
                      <a:srgbClr val="2B3648"/>
                    </a:solidFill>
                    <a:latin typeface="Arial"/>
                    <a:ea typeface="Microsoft YaHei"/>
                    <a:cs typeface="Arial"/>
                  </a:rPr>
                  <a:t>「AI 会取代我」</a:t>
                </a:r>
              </a:p>
            </p:txBody>
          </p:sp>
          <p:sp>
            <p:nvSpPr>
              <p:cNvPr id="20" name="Rectangle 20"/>
              <p:cNvSpPr/>
              <p:nvPr/>
            </p:nvSpPr>
            <p:spPr>
              <a:xfrm>
                <a:off x="800100" y="2971800"/>
                <a:ext cx="3067050" cy="419100"/>
              </a:xfrm>
              <a:prstGeom prst="roundRect">
                <a:avLst>
                  <a:gd name="adj" fmla="val 36364"/>
                </a:avLst>
              </a:prstGeom>
              <a:solidFill>
                <a:srgbClr val="D6E6F9"/>
              </a:solidFill>
              <a:ln>
                <a:noFill/>
              </a:ln>
            </p:spPr>
            <p:txBody>
              <a:bodyPr/>
              <a:p/>
            </p:txBody>
          </p:sp>
          <p:sp>
            <p:nvSpPr>
              <p:cNvPr id="21" name="TextBox 21"/>
              <p:cNvSpPr txBox="1"/>
              <p:nvPr/>
            </p:nvSpPr>
            <p:spPr>
              <a:xfrm>
                <a:off x="973455" y="3102292"/>
                <a:ext cx="2302574" cy="27432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l"/>
                <a:r>
                  <a:rPr lang="zh-CN" sz="1350" b="1" dirty="0">
                    <a:solidFill>
                      <a:srgbClr val="0B4EA2"/>
                    </a:solidFill>
                    <a:latin typeface="Arial"/>
                    <a:ea typeface="Microsoft YaHei"/>
                    <a:cs typeface="Arial"/>
                  </a:rPr>
                  <a:t>真相：它放大你，不替代你</a:t>
                </a:r>
              </a:p>
            </p:txBody>
          </p:sp>
          <p:sp>
            <p:nvSpPr>
              <p:cNvPr id="22" name="TextBox 22"/>
              <p:cNvSpPr txBox="1"/>
              <p:nvPr/>
            </p:nvSpPr>
            <p:spPr>
              <a:xfrm>
                <a:off x="786765" y="3658552"/>
                <a:ext cx="2007918" cy="21336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l"/>
                <a:r>
                  <a:rPr lang="zh-CN" sz="1050" dirty="0">
                    <a:solidFill>
                      <a:srgbClr val="5B6B82"/>
                    </a:solidFill>
                    <a:latin typeface="Arial"/>
                    <a:ea typeface="Microsoft YaHei"/>
                    <a:cs typeface="Arial"/>
                  </a:rPr>
                  <a:t>AI 不是来抢你饭碗的司机，而是</a:t>
                </a:r>
              </a:p>
            </p:txBody>
          </p:sp>
          <p:sp>
            <p:nvSpPr>
              <p:cNvPr id="23" name="TextBox 23"/>
              <p:cNvSpPr txBox="1"/>
              <p:nvPr/>
            </p:nvSpPr>
            <p:spPr>
              <a:xfrm>
                <a:off x="786765" y="3906202"/>
                <a:ext cx="2000917" cy="21336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l"/>
                <a:r>
                  <a:rPr lang="zh-CN" sz="1050" dirty="0">
                    <a:solidFill>
                      <a:srgbClr val="5B6B82"/>
                    </a:solidFill>
                    <a:latin typeface="Arial"/>
                    <a:ea typeface="Microsoft YaHei"/>
                    <a:cs typeface="Arial"/>
                  </a:rPr>
                  <a:t>帮你省力的副驾——重复、繁琐的</a:t>
                </a:r>
              </a:p>
            </p:txBody>
          </p:sp>
          <p:sp>
            <p:nvSpPr>
              <p:cNvPr id="24" name="TextBox 24"/>
              <p:cNvSpPr txBox="1"/>
              <p:nvPr/>
            </p:nvSpPr>
            <p:spPr>
              <a:xfrm>
                <a:off x="786765" y="4153852"/>
                <a:ext cx="2266950" cy="21336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l"/>
                <a:r>
                  <a:rPr lang="zh-CN" sz="1050" dirty="0">
                    <a:solidFill>
                      <a:srgbClr val="5B6B82"/>
                    </a:solidFill>
                    <a:latin typeface="Arial"/>
                    <a:ea typeface="Microsoft YaHei"/>
                    <a:cs typeface="Arial"/>
                  </a:rPr>
                  <a:t>活它先干，判断和拍板还在你手里。</a:t>
                </a:r>
              </a:p>
            </p:txBody>
          </p:sp>
          <p:sp>
            <p:nvSpPr>
              <p:cNvPr id="25" name="TextBox 25"/>
              <p:cNvSpPr txBox="1"/>
              <p:nvPr/>
            </p:nvSpPr>
            <p:spPr>
              <a:xfrm>
                <a:off x="786765" y="4553902"/>
                <a:ext cx="1857049" cy="21336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l"/>
                <a:r>
                  <a:rPr lang="zh-CN" sz="1050" b="1" dirty="0">
                    <a:solidFill>
                      <a:srgbClr val="1565D8"/>
                    </a:solidFill>
                    <a:latin typeface="Arial"/>
                    <a:ea typeface="Microsoft YaHei"/>
                    <a:cs typeface="Arial"/>
                  </a:rPr>
                  <a:t>麦肯锡：75% 员工预计 5 年内</a:t>
                </a:r>
              </a:p>
            </p:txBody>
          </p:sp>
          <p:sp>
            <p:nvSpPr>
              <p:cNvPr id="26" name="TextBox 26"/>
              <p:cNvSpPr txBox="1"/>
              <p:nvPr/>
            </p:nvSpPr>
            <p:spPr>
              <a:xfrm>
                <a:off x="786765" y="4801552"/>
                <a:ext cx="930833" cy="21336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l"/>
                <a:r>
                  <a:rPr lang="zh-CN" sz="1050" b="1" dirty="0">
                    <a:solidFill>
                      <a:srgbClr val="1565D8"/>
                    </a:solidFill>
                    <a:latin typeface="Arial"/>
                    <a:ea typeface="Microsoft YaHei"/>
                    <a:cs typeface="Arial"/>
                  </a:rPr>
                  <a:t>岗位被 AI 改变——会用的人最稳</a:t>
                </a:r>
              </a:p>
            </p:txBody>
          </p:sp>
        </p:grpSp>
        <p:grpSp>
          <p:nvGrpSpPr>
            <p:cNvPr id="48" name="Group 48"/>
            <p:cNvGrpSpPr/>
            <p:nvPr/>
          </p:nvGrpSpPr>
          <p:grpSpPr>
            <a:xfrm>
              <a:off x="4305300" y="1619250"/>
              <a:ext cx="3524250" cy="3810000"/>
              <a:chOff x="4305300" y="1619250"/>
              <a:chExt cx="3524250" cy="3810000"/>
            </a:xfrm>
          </p:grpSpPr>
          <p:sp>
            <p:nvSpPr>
              <p:cNvPr id="28" name="Rectangle 28"/>
              <p:cNvSpPr/>
              <p:nvPr/>
            </p:nvSpPr>
            <p:spPr>
              <a:xfrm>
                <a:off x="4305300" y="1619250"/>
                <a:ext cx="3524250" cy="3810000"/>
              </a:xfrm>
              <a:prstGeom prst="roundRect">
                <a:avLst>
                  <a:gd name="adj" fmla="val 4324"/>
                </a:avLst>
              </a:prstGeom>
              <a:solidFill>
                <a:srgbClr val="FFFFFF"/>
              </a:solidFill>
              <a:ln w="9525">
                <a:solidFill>
                  <a:srgbClr val="D8E1EC"/>
                </a:solidFill>
              </a:ln>
            </p:spPr>
            <p:txBody>
              <a:bodyPr/>
              <a:p/>
            </p:txBody>
          </p:sp>
          <p:sp>
            <p:nvSpPr>
              <p:cNvPr id="29" name="Rectangle 29"/>
              <p:cNvSpPr/>
              <p:nvPr/>
            </p:nvSpPr>
            <p:spPr>
              <a:xfrm>
                <a:off x="4533900" y="1885950"/>
                <a:ext cx="914400" cy="323850"/>
              </a:xfrm>
              <a:prstGeom prst="roundRect">
                <a:avLst>
                  <a:gd name="adj" fmla="val 50000"/>
                </a:avLst>
              </a:prstGeom>
              <a:solidFill>
                <a:srgbClr val="D6E6F9"/>
              </a:solidFill>
              <a:ln>
                <a:noFill/>
              </a:ln>
            </p:spPr>
            <p:txBody>
              <a:bodyPr/>
              <a:p/>
            </p:txBody>
          </p:sp>
          <p:sp>
            <p:nvSpPr>
              <p:cNvPr id="30" name="TextBox 30"/>
              <p:cNvSpPr txBox="1"/>
              <p:nvPr/>
            </p:nvSpPr>
            <p:spPr>
              <a:xfrm>
                <a:off x="4740533" y="1983581"/>
                <a:ext cx="501134" cy="2286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ctr"/>
                <a:r>
                  <a:rPr lang="zh-CN" sz="1125" b="1" dirty="0">
                    <a:solidFill>
                      <a:srgbClr val="0B4EA2"/>
                    </a:solidFill>
                    <a:latin typeface="Arial"/>
                    <a:ea typeface="Microsoft YaHei"/>
                    <a:cs typeface="Arial"/>
                  </a:rPr>
                  <a:t>误区二</a:t>
                </a:r>
              </a:p>
            </p:txBody>
          </p:sp>
          <p:sp>
            <p:nvSpPr>
              <p:cNvPr id="31" name="Ellipse 31"/>
              <p:cNvSpPr/>
              <p:nvPr/>
            </p:nvSpPr>
            <p:spPr>
              <a:xfrm>
                <a:off x="7391400" y="1838325"/>
                <a:ext cx="419100" cy="419100"/>
              </a:xfrm>
              <a:prstGeom prst="ellipse">
                <a:avLst/>
              </a:prstGeom>
              <a:solidFill>
                <a:srgbClr val="D6E6F9"/>
              </a:solidFill>
              <a:ln>
                <a:noFill/>
              </a:ln>
            </p:spPr>
            <p:txBody>
              <a:bodyPr/>
              <a:p/>
            </p:txBody>
          </p:sp>
          <p:grpSp>
            <p:nvGrpSpPr>
              <p:cNvPr id="40" name="Group 40"/>
              <p:cNvGrpSpPr/>
              <p:nvPr/>
            </p:nvGrpSpPr>
            <p:grpSpPr>
              <a:xfrm>
                <a:off x="7505700" y="1990725"/>
                <a:ext cx="190500" cy="114300"/>
                <a:chOff x="7505700" y="1990725"/>
                <a:chExt cx="190500" cy="114300"/>
              </a:xfrm>
            </p:grpSpPr>
            <p:sp>
              <p:nvSpPr>
                <p:cNvPr id="32" name="Freeform 32"/>
                <p:cNvSpPr/>
                <p:nvPr/>
              </p:nvSpPr>
              <p:spPr>
                <a:xfrm>
                  <a:off x="7505700" y="1990725"/>
                  <a:ext cx="190500" cy="114300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190500" h="114300">
                      <a:moveTo>
                        <a:pt x="0" y="19050"/>
                      </a:moveTo>
                      <a:cubicBezTo>
                        <a:pt x="0" y="8529"/>
                        <a:pt x="8529" y="0"/>
                        <a:pt x="19050" y="0"/>
                      </a:cubicBezTo>
                      <a:lnTo>
                        <a:pt x="171450" y="0"/>
                      </a:lnTo>
                      <a:cubicBezTo>
                        <a:pt x="181971" y="0"/>
                        <a:pt x="190500" y="8529"/>
                        <a:pt x="190500" y="19050"/>
                      </a:cubicBezTo>
                      <a:lnTo>
                        <a:pt x="190500" y="95250"/>
                      </a:lnTo>
                      <a:cubicBezTo>
                        <a:pt x="190500" y="105771"/>
                        <a:pt x="181971" y="114300"/>
                        <a:pt x="171450" y="114300"/>
                      </a:cubicBezTo>
                      <a:lnTo>
                        <a:pt x="19050" y="114300"/>
                      </a:lnTo>
                      <a:cubicBezTo>
                        <a:pt x="8529" y="114300"/>
                        <a:pt x="0" y="105771"/>
                        <a:pt x="0" y="95250"/>
                      </a:cubicBezTo>
                      <a:lnTo>
                        <a:pt x="0" y="19050"/>
                      </a:lnTo>
                    </a:path>
                  </a:pathLst>
                </a:custGeom>
                <a:noFill/>
                <a:ln w="19050">
                  <a:solidFill>
                    <a:srgbClr val="1565D8"/>
                  </a:solidFill>
                </a:ln>
              </p:spPr>
              <p:txBody>
                <a:bodyPr/>
                <a:p/>
              </p:txBody>
            </p:sp>
            <p:sp>
              <p:nvSpPr>
                <p:cNvPr id="33" name="Freeform 33"/>
                <p:cNvSpPr/>
                <p:nvPr/>
              </p:nvSpPr>
              <p:spPr>
                <a:xfrm>
                  <a:off x="7543800" y="2028825"/>
                  <a:ext cx="9525" cy="9525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9525" h="9525">
                      <a:moveTo>
                        <a:pt x="0" y="0"/>
                      </a:moveTo>
                      <a:lnTo>
                        <a:pt x="0" y="95"/>
                      </a:lnTo>
                    </a:path>
                  </a:pathLst>
                </a:custGeom>
                <a:noFill/>
                <a:ln w="19050">
                  <a:solidFill>
                    <a:srgbClr val="1565D8"/>
                  </a:solidFill>
                </a:ln>
              </p:spPr>
              <p:txBody>
                <a:bodyPr/>
                <a:p/>
              </p:txBody>
            </p:sp>
            <p:sp>
              <p:nvSpPr>
                <p:cNvPr id="34" name="Freeform 34"/>
                <p:cNvSpPr/>
                <p:nvPr/>
              </p:nvSpPr>
              <p:spPr>
                <a:xfrm>
                  <a:off x="7581900" y="2028825"/>
                  <a:ext cx="9525" cy="9525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9525" h="9525">
                      <a:moveTo>
                        <a:pt x="0" y="0"/>
                      </a:moveTo>
                      <a:lnTo>
                        <a:pt x="0" y="95"/>
                      </a:lnTo>
                    </a:path>
                  </a:pathLst>
                </a:custGeom>
                <a:noFill/>
                <a:ln w="19050">
                  <a:solidFill>
                    <a:srgbClr val="1565D8"/>
                  </a:solidFill>
                </a:ln>
              </p:spPr>
              <p:txBody>
                <a:bodyPr/>
                <a:p/>
              </p:txBody>
            </p:sp>
            <p:sp>
              <p:nvSpPr>
                <p:cNvPr id="35" name="Freeform 35"/>
                <p:cNvSpPr/>
                <p:nvPr/>
              </p:nvSpPr>
              <p:spPr>
                <a:xfrm>
                  <a:off x="7620000" y="2028825"/>
                  <a:ext cx="9525" cy="9525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9525" h="9525">
                      <a:moveTo>
                        <a:pt x="0" y="0"/>
                      </a:moveTo>
                      <a:lnTo>
                        <a:pt x="0" y="95"/>
                      </a:lnTo>
                    </a:path>
                  </a:pathLst>
                </a:custGeom>
                <a:noFill/>
                <a:ln w="19050">
                  <a:solidFill>
                    <a:srgbClr val="1565D8"/>
                  </a:solidFill>
                </a:ln>
              </p:spPr>
              <p:txBody>
                <a:bodyPr/>
                <a:p/>
              </p:txBody>
            </p:sp>
            <p:sp>
              <p:nvSpPr>
                <p:cNvPr id="36" name="Freeform 36"/>
                <p:cNvSpPr/>
                <p:nvPr/>
              </p:nvSpPr>
              <p:spPr>
                <a:xfrm>
                  <a:off x="7658100" y="2028825"/>
                  <a:ext cx="9525" cy="9525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9525" h="9525">
                      <a:moveTo>
                        <a:pt x="0" y="0"/>
                      </a:moveTo>
                      <a:lnTo>
                        <a:pt x="0" y="95"/>
                      </a:lnTo>
                    </a:path>
                  </a:pathLst>
                </a:custGeom>
                <a:noFill/>
                <a:ln w="19050">
                  <a:solidFill>
                    <a:srgbClr val="1565D8"/>
                  </a:solidFill>
                </a:ln>
              </p:spPr>
              <p:txBody>
                <a:bodyPr/>
                <a:p/>
              </p:txBody>
            </p:sp>
            <p:sp>
              <p:nvSpPr>
                <p:cNvPr id="37" name="Freeform 37"/>
                <p:cNvSpPr/>
                <p:nvPr/>
              </p:nvSpPr>
              <p:spPr>
                <a:xfrm>
                  <a:off x="7543800" y="2066925"/>
                  <a:ext cx="9525" cy="9525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9525" h="9525">
                      <a:moveTo>
                        <a:pt x="0" y="0"/>
                      </a:moveTo>
                      <a:lnTo>
                        <a:pt x="0" y="95"/>
                      </a:lnTo>
                    </a:path>
                  </a:pathLst>
                </a:custGeom>
                <a:noFill/>
                <a:ln w="19050">
                  <a:solidFill>
                    <a:srgbClr val="1565D8"/>
                  </a:solidFill>
                </a:ln>
              </p:spPr>
              <p:txBody>
                <a:bodyPr/>
                <a:p/>
              </p:txBody>
            </p:sp>
            <p:sp>
              <p:nvSpPr>
                <p:cNvPr id="38" name="Freeform 38"/>
                <p:cNvSpPr/>
                <p:nvPr/>
              </p:nvSpPr>
              <p:spPr>
                <a:xfrm>
                  <a:off x="7658100" y="2066925"/>
                  <a:ext cx="9525" cy="9525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9525" h="9525">
                      <a:moveTo>
                        <a:pt x="0" y="0"/>
                      </a:moveTo>
                      <a:lnTo>
                        <a:pt x="0" y="95"/>
                      </a:lnTo>
                    </a:path>
                  </a:pathLst>
                </a:custGeom>
                <a:noFill/>
                <a:ln w="19050">
                  <a:solidFill>
                    <a:srgbClr val="1565D8"/>
                  </a:solidFill>
                </a:ln>
              </p:spPr>
              <p:txBody>
                <a:bodyPr/>
                <a:p/>
              </p:txBody>
            </p:sp>
            <p:sp>
              <p:nvSpPr>
                <p:cNvPr id="39" name="Freeform 39"/>
                <p:cNvSpPr/>
                <p:nvPr/>
              </p:nvSpPr>
              <p:spPr>
                <a:xfrm>
                  <a:off x="7581900" y="2066925"/>
                  <a:ext cx="38100" cy="9525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38100" h="9525">
                      <a:moveTo>
                        <a:pt x="0" y="0"/>
                      </a:moveTo>
                      <a:lnTo>
                        <a:pt x="38100" y="95"/>
                      </a:lnTo>
                    </a:path>
                  </a:pathLst>
                </a:custGeom>
                <a:noFill/>
                <a:ln w="19050">
                  <a:solidFill>
                    <a:srgbClr val="1565D8"/>
                  </a:solidFill>
                </a:ln>
              </p:spPr>
              <p:txBody>
                <a:bodyPr/>
                <a:p/>
              </p:txBody>
            </p:sp>
          </p:grpSp>
          <p:sp>
            <p:nvSpPr>
              <p:cNvPr id="41" name="TextBox 41"/>
              <p:cNvSpPr txBox="1"/>
              <p:nvPr/>
            </p:nvSpPr>
            <p:spPr>
              <a:xfrm>
                <a:off x="4512945" y="2565082"/>
                <a:ext cx="1659112" cy="33528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l"/>
                <a:r>
                  <a:rPr lang="zh-CN" sz="1650" b="1" dirty="0">
                    <a:solidFill>
                      <a:srgbClr val="2B3648"/>
                    </a:solidFill>
                    <a:latin typeface="Arial"/>
                    <a:ea typeface="Microsoft YaHei"/>
                    <a:cs typeface="Arial"/>
                  </a:rPr>
                  <a:t>「要会写代码」</a:t>
                </a:r>
              </a:p>
            </p:txBody>
          </p:sp>
          <p:sp>
            <p:nvSpPr>
              <p:cNvPr id="42" name="Rectangle 42"/>
              <p:cNvSpPr/>
              <p:nvPr/>
            </p:nvSpPr>
            <p:spPr>
              <a:xfrm>
                <a:off x="4533900" y="2971800"/>
                <a:ext cx="3067050" cy="419100"/>
              </a:xfrm>
              <a:prstGeom prst="roundRect">
                <a:avLst>
                  <a:gd name="adj" fmla="val 36364"/>
                </a:avLst>
              </a:prstGeom>
              <a:solidFill>
                <a:srgbClr val="D6E6F9"/>
              </a:solidFill>
              <a:ln>
                <a:noFill/>
              </a:ln>
            </p:spPr>
            <p:txBody>
              <a:bodyPr/>
              <a:p/>
            </p:txBody>
          </p:sp>
          <p:sp>
            <p:nvSpPr>
              <p:cNvPr id="43" name="TextBox 43"/>
              <p:cNvSpPr txBox="1"/>
              <p:nvPr/>
            </p:nvSpPr>
            <p:spPr>
              <a:xfrm>
                <a:off x="4707255" y="3102292"/>
                <a:ext cx="1735503" cy="27432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l"/>
                <a:r>
                  <a:rPr lang="zh-CN" sz="1350" b="1" dirty="0">
                    <a:solidFill>
                      <a:srgbClr val="0B4EA2"/>
                    </a:solidFill>
                    <a:latin typeface="Arial"/>
                    <a:ea typeface="Microsoft YaHei"/>
                    <a:cs typeface="Arial"/>
                  </a:rPr>
                  <a:t>真相：零代码就能用</a:t>
                </a:r>
              </a:p>
            </p:txBody>
          </p:sp>
          <p:sp>
            <p:nvSpPr>
              <p:cNvPr id="44" name="TextBox 44"/>
              <p:cNvSpPr txBox="1"/>
              <p:nvPr/>
            </p:nvSpPr>
            <p:spPr>
              <a:xfrm>
                <a:off x="4520565" y="3658552"/>
                <a:ext cx="2112931" cy="21336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l"/>
                <a:r>
                  <a:rPr lang="zh-CN" sz="1050" dirty="0">
                    <a:solidFill>
                      <a:srgbClr val="5B6B82"/>
                    </a:solidFill>
                    <a:latin typeface="Arial"/>
                    <a:ea typeface="Microsoft YaHei"/>
                    <a:cs typeface="Arial"/>
                  </a:rPr>
                  <a:t>写代码是造 AI 的人的活，用 AI 的</a:t>
                </a:r>
              </a:p>
            </p:txBody>
          </p:sp>
          <p:sp>
            <p:nvSpPr>
              <p:cNvPr id="45" name="TextBox 45"/>
              <p:cNvSpPr txBox="1"/>
              <p:nvPr/>
            </p:nvSpPr>
            <p:spPr>
              <a:xfrm>
                <a:off x="4520565" y="3906202"/>
                <a:ext cx="2266950" cy="21336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l"/>
                <a:r>
                  <a:rPr lang="zh-CN" sz="1050" dirty="0">
                    <a:solidFill>
                      <a:srgbClr val="5B6B82"/>
                    </a:solidFill>
                    <a:latin typeface="Arial"/>
                    <a:ea typeface="Microsoft YaHei"/>
                    <a:cs typeface="Arial"/>
                  </a:rPr>
                  <a:t>人一行都不用写。会打字、会聊天，</a:t>
                </a:r>
              </a:p>
            </p:txBody>
          </p:sp>
          <p:sp>
            <p:nvSpPr>
              <p:cNvPr id="46" name="TextBox 46"/>
              <p:cNvSpPr txBox="1"/>
              <p:nvPr/>
            </p:nvSpPr>
            <p:spPr>
              <a:xfrm>
                <a:off x="4520565" y="4153852"/>
                <a:ext cx="2063925" cy="21336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l"/>
                <a:r>
                  <a:rPr lang="zh-CN" sz="1050" dirty="0">
                    <a:solidFill>
                      <a:srgbClr val="5B6B82"/>
                    </a:solidFill>
                    <a:latin typeface="Arial"/>
                    <a:ea typeface="Microsoft YaHei"/>
                    <a:cs typeface="Arial"/>
                  </a:rPr>
                  <a:t>就能把 AI 用在工作里——就像你会</a:t>
                </a:r>
              </a:p>
            </p:txBody>
          </p:sp>
          <p:sp>
            <p:nvSpPr>
              <p:cNvPr id="47" name="TextBox 47"/>
              <p:cNvSpPr txBox="1"/>
              <p:nvPr/>
            </p:nvSpPr>
            <p:spPr>
              <a:xfrm>
                <a:off x="4520565" y="4401502"/>
                <a:ext cx="1706880" cy="21336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l"/>
                <a:r>
                  <a:rPr lang="zh-CN" sz="1050" dirty="0">
                    <a:solidFill>
                      <a:srgbClr val="5B6B82"/>
                    </a:solidFill>
                    <a:latin typeface="Arial"/>
                    <a:ea typeface="Microsoft YaHei"/>
                    <a:cs typeface="Arial"/>
                  </a:rPr>
                  <a:t>用导航，不需要会造地图。</a:t>
                </a:r>
              </a:p>
            </p:txBody>
          </p:sp>
        </p:grpSp>
        <p:grpSp>
          <p:nvGrpSpPr>
            <p:cNvPr id="61" name="Group 61"/>
            <p:cNvGrpSpPr/>
            <p:nvPr/>
          </p:nvGrpSpPr>
          <p:grpSpPr>
            <a:xfrm>
              <a:off x="8039100" y="1619250"/>
              <a:ext cx="3524250" cy="3810000"/>
              <a:chOff x="8039100" y="1619250"/>
              <a:chExt cx="3524250" cy="3810000"/>
            </a:xfrm>
          </p:grpSpPr>
          <p:sp>
            <p:nvSpPr>
              <p:cNvPr id="49" name="Rectangle 49"/>
              <p:cNvSpPr/>
              <p:nvPr/>
            </p:nvSpPr>
            <p:spPr>
              <a:xfrm>
                <a:off x="8039100" y="1619250"/>
                <a:ext cx="3524250" cy="3810000"/>
              </a:xfrm>
              <a:prstGeom prst="roundRect">
                <a:avLst>
                  <a:gd name="adj" fmla="val 4324"/>
                </a:avLst>
              </a:prstGeom>
              <a:solidFill>
                <a:srgbClr val="FFFFFF"/>
              </a:solidFill>
              <a:ln w="9525">
                <a:solidFill>
                  <a:srgbClr val="D8E1EC"/>
                </a:solidFill>
              </a:ln>
            </p:spPr>
            <p:txBody>
              <a:bodyPr/>
              <a:p/>
            </p:txBody>
          </p:sp>
          <p:sp>
            <p:nvSpPr>
              <p:cNvPr id="50" name="Rectangle 50"/>
              <p:cNvSpPr/>
              <p:nvPr/>
            </p:nvSpPr>
            <p:spPr>
              <a:xfrm>
                <a:off x="8267700" y="1885950"/>
                <a:ext cx="914400" cy="323850"/>
              </a:xfrm>
              <a:prstGeom prst="roundRect">
                <a:avLst>
                  <a:gd name="adj" fmla="val 50000"/>
                </a:avLst>
              </a:prstGeom>
              <a:solidFill>
                <a:srgbClr val="D6E6F9"/>
              </a:solidFill>
              <a:ln>
                <a:noFill/>
              </a:ln>
            </p:spPr>
            <p:txBody>
              <a:bodyPr/>
              <a:p/>
            </p:txBody>
          </p:sp>
          <p:sp>
            <p:nvSpPr>
              <p:cNvPr id="51" name="TextBox 51"/>
              <p:cNvSpPr txBox="1"/>
              <p:nvPr/>
            </p:nvSpPr>
            <p:spPr>
              <a:xfrm>
                <a:off x="8474333" y="1983581"/>
                <a:ext cx="501134" cy="2286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ctr"/>
                <a:r>
                  <a:rPr lang="zh-CN" sz="1125" b="1" dirty="0">
                    <a:solidFill>
                      <a:srgbClr val="0B4EA2"/>
                    </a:solidFill>
                    <a:latin typeface="Arial"/>
                    <a:ea typeface="Microsoft YaHei"/>
                    <a:cs typeface="Arial"/>
                  </a:rPr>
                  <a:t>误区三</a:t>
                </a:r>
              </a:p>
            </p:txBody>
          </p:sp>
          <p:sp>
            <p:nvSpPr>
              <p:cNvPr id="52" name="Ellipse 52"/>
              <p:cNvSpPr/>
              <p:nvPr/>
            </p:nvSpPr>
            <p:spPr>
              <a:xfrm>
                <a:off x="11125200" y="1838325"/>
                <a:ext cx="419100" cy="419100"/>
              </a:xfrm>
              <a:prstGeom prst="ellipse">
                <a:avLst/>
              </a:prstGeom>
              <a:solidFill>
                <a:srgbClr val="D6E6F9"/>
              </a:solidFill>
              <a:ln>
                <a:noFill/>
              </a:ln>
            </p:spPr>
            <p:txBody>
              <a:bodyPr/>
              <a:p/>
            </p:txBody>
          </p:sp>
          <p:sp>
            <p:nvSpPr>
              <p:cNvPr id="53" name="Freeform 53"/>
              <p:cNvSpPr/>
              <p:nvPr/>
            </p:nvSpPr>
            <p:spPr>
              <a:xfrm>
                <a:off x="11239271" y="1964293"/>
                <a:ext cx="190157" cy="168564"/>
              </a:xfrm>
              <a:custGeom>
                <a:avLst/>
                <a:gdLst/>
                <a:ahLst/>
                <a:cxnLst/>
                <a:rect l="l" t="t" r="r" b="b"/>
                <a:pathLst>
                  <a:path w="190157" h="168564">
                    <a:moveTo>
                      <a:pt x="9754" y="159782"/>
                    </a:moveTo>
                    <a:lnTo>
                      <a:pt x="22136" y="122634"/>
                    </a:lnTo>
                    <a:cubicBezTo>
                      <a:pt x="0" y="89897"/>
                      <a:pt x="8553" y="47654"/>
                      <a:pt x="42139" y="23822"/>
                    </a:cubicBezTo>
                    <a:cubicBezTo>
                      <a:pt x="75724" y="0"/>
                      <a:pt x="123958" y="1953"/>
                      <a:pt x="154962" y="28394"/>
                    </a:cubicBezTo>
                    <a:cubicBezTo>
                      <a:pt x="185966" y="54845"/>
                      <a:pt x="190157" y="97603"/>
                      <a:pt x="164763" y="128416"/>
                    </a:cubicBezTo>
                    <a:cubicBezTo>
                      <a:pt x="139370" y="159229"/>
                      <a:pt x="92231" y="168564"/>
                      <a:pt x="54521" y="150257"/>
                    </a:cubicBezTo>
                    <a:lnTo>
                      <a:pt x="9754" y="159782"/>
                    </a:lnTo>
                  </a:path>
                </a:pathLst>
              </a:custGeom>
              <a:noFill/>
              <a:ln w="19050">
                <a:solidFill>
                  <a:srgbClr val="1565D8"/>
                </a:solidFill>
              </a:ln>
            </p:spPr>
            <p:txBody>
              <a:bodyPr/>
              <a:p/>
            </p:txBody>
          </p:sp>
          <p:sp>
            <p:nvSpPr>
              <p:cNvPr id="54" name="TextBox 54"/>
              <p:cNvSpPr txBox="1"/>
              <p:nvPr/>
            </p:nvSpPr>
            <p:spPr>
              <a:xfrm>
                <a:off x="8246745" y="2565082"/>
                <a:ext cx="1659112" cy="33528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l"/>
                <a:r>
                  <a:rPr lang="zh-CN" sz="1650" b="1" dirty="0">
                    <a:solidFill>
                      <a:srgbClr val="2B3648"/>
                    </a:solidFill>
                    <a:latin typeface="Arial"/>
                    <a:ea typeface="Microsoft YaHei"/>
                    <a:cs typeface="Arial"/>
                  </a:rPr>
                  <a:t>「太难学不会」</a:t>
                </a:r>
              </a:p>
            </p:txBody>
          </p:sp>
          <p:sp>
            <p:nvSpPr>
              <p:cNvPr id="55" name="Rectangle 55"/>
              <p:cNvSpPr/>
              <p:nvPr/>
            </p:nvSpPr>
            <p:spPr>
              <a:xfrm>
                <a:off x="8267700" y="2971800"/>
                <a:ext cx="3067050" cy="419100"/>
              </a:xfrm>
              <a:prstGeom prst="roundRect">
                <a:avLst>
                  <a:gd name="adj" fmla="val 36364"/>
                </a:avLst>
              </a:prstGeom>
              <a:solidFill>
                <a:srgbClr val="D6E6F9"/>
              </a:solidFill>
              <a:ln>
                <a:noFill/>
              </a:ln>
            </p:spPr>
            <p:txBody>
              <a:bodyPr/>
              <a:p/>
            </p:txBody>
          </p:sp>
          <p:sp>
            <p:nvSpPr>
              <p:cNvPr id="56" name="TextBox 56"/>
              <p:cNvSpPr txBox="1"/>
              <p:nvPr/>
            </p:nvSpPr>
            <p:spPr>
              <a:xfrm>
                <a:off x="8441055" y="3102292"/>
                <a:ext cx="1735503" cy="27432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l"/>
                <a:r>
                  <a:rPr lang="zh-CN" sz="1350" b="1" dirty="0">
                    <a:solidFill>
                      <a:srgbClr val="0B4EA2"/>
                    </a:solidFill>
                    <a:latin typeface="Arial"/>
                    <a:ea typeface="Microsoft YaHei"/>
                    <a:cs typeface="Arial"/>
                  </a:rPr>
                  <a:t>真相：会微信就会用</a:t>
                </a:r>
              </a:p>
            </p:txBody>
          </p:sp>
          <p:sp>
            <p:nvSpPr>
              <p:cNvPr id="57" name="TextBox 57"/>
              <p:cNvSpPr txBox="1"/>
              <p:nvPr/>
            </p:nvSpPr>
            <p:spPr>
              <a:xfrm>
                <a:off x="8254365" y="3658552"/>
                <a:ext cx="2007918" cy="21336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l"/>
                <a:r>
                  <a:rPr lang="zh-CN" sz="1050" dirty="0">
                    <a:solidFill>
                      <a:srgbClr val="5B6B82"/>
                    </a:solidFill>
                    <a:latin typeface="Arial"/>
                    <a:ea typeface="Microsoft YaHei"/>
                    <a:cs typeface="Arial"/>
                  </a:rPr>
                  <a:t>AI 的操作门槛，比你想象的低得</a:t>
                </a:r>
              </a:p>
            </p:txBody>
          </p:sp>
          <p:sp>
            <p:nvSpPr>
              <p:cNvPr id="58" name="TextBox 58"/>
              <p:cNvSpPr txBox="1"/>
              <p:nvPr/>
            </p:nvSpPr>
            <p:spPr>
              <a:xfrm>
                <a:off x="8254365" y="3906202"/>
                <a:ext cx="2126932" cy="21336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l"/>
                <a:r>
                  <a:rPr lang="zh-CN" sz="1050" dirty="0">
                    <a:solidFill>
                      <a:srgbClr val="5B6B82"/>
                    </a:solidFill>
                    <a:latin typeface="Arial"/>
                    <a:ea typeface="Microsoft YaHei"/>
                    <a:cs typeface="Arial"/>
                  </a:rPr>
                  <a:t>多。只要你平时会用微信、会复制</a:t>
                </a:r>
              </a:p>
            </p:txBody>
          </p:sp>
          <p:sp>
            <p:nvSpPr>
              <p:cNvPr id="59" name="TextBox 59"/>
              <p:cNvSpPr txBox="1"/>
              <p:nvPr/>
            </p:nvSpPr>
            <p:spPr>
              <a:xfrm>
                <a:off x="8254365" y="4153852"/>
                <a:ext cx="2126932" cy="21336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l"/>
                <a:r>
                  <a:rPr lang="zh-CN" sz="1050" dirty="0">
                    <a:solidFill>
                      <a:srgbClr val="5B6B82"/>
                    </a:solidFill>
                    <a:latin typeface="Arial"/>
                    <a:ea typeface="Microsoft YaHei"/>
                    <a:cs typeface="Arial"/>
                  </a:rPr>
                  <a:t>粘贴，今天这节课走完，你就能在</a:t>
                </a:r>
              </a:p>
            </p:txBody>
          </p:sp>
          <p:sp>
            <p:nvSpPr>
              <p:cNvPr id="60" name="TextBox 60"/>
              <p:cNvSpPr txBox="1"/>
              <p:nvPr/>
            </p:nvSpPr>
            <p:spPr>
              <a:xfrm>
                <a:off x="8254365" y="4401502"/>
                <a:ext cx="1286828" cy="21336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l"/>
                <a:r>
                  <a:rPr lang="zh-CN" sz="1050" dirty="0">
                    <a:solidFill>
                      <a:srgbClr val="5B6B82"/>
                    </a:solidFill>
                    <a:latin typeface="Arial"/>
                    <a:ea typeface="Microsoft YaHei"/>
                    <a:cs typeface="Arial"/>
                  </a:rPr>
                  <a:t>岗位上真正用起来。</a:t>
                </a:r>
              </a:p>
            </p:txBody>
          </p:sp>
        </p:grpSp>
      </p:grpSp>
      <p:grpSp>
        <p:nvGrpSpPr>
          <p:cNvPr id="65" name="Group 65"/>
          <p:cNvGrpSpPr/>
          <p:nvPr/>
        </p:nvGrpSpPr>
        <p:grpSpPr>
          <a:xfrm>
            <a:off x="560070" y="6341745"/>
            <a:ext cx="11071860" cy="182880"/>
            <a:chOff x="560070" y="6341745"/>
            <a:chExt cx="11071860" cy="182880"/>
          </a:xfrm>
        </p:grpSpPr>
        <p:sp>
          <p:nvSpPr>
            <p:cNvPr id="63" name="TextBox 63"/>
            <p:cNvSpPr txBox="1"/>
            <p:nvPr/>
          </p:nvSpPr>
          <p:spPr>
            <a:xfrm>
              <a:off x="560070" y="6341745"/>
              <a:ext cx="1054989" cy="18288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00" dirty="0">
                  <a:solidFill>
                    <a:srgbClr val="8B99AE"/>
                  </a:solidFill>
                  <a:latin typeface="Arial"/>
                  <a:ea typeface="Microsoft YaHei"/>
                  <a:cs typeface="Arial"/>
                </a:rPr>
                <a:t>大模型通识 · 企业版</a:t>
              </a:r>
            </a:p>
          </p:txBody>
        </p:sp>
        <p:sp>
          <p:nvSpPr>
            <p:cNvPr id="64" name="TextBox 64"/>
            <p:cNvSpPr txBox="1"/>
            <p:nvPr/>
          </p:nvSpPr>
          <p:spPr>
            <a:xfrm>
              <a:off x="11273028" y="6341745"/>
              <a:ext cx="358902" cy="18288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r"/>
              <a:r>
                <a:rPr lang="zh-CN" sz="900" dirty="0">
                  <a:solidFill>
                    <a:srgbClr val="8B99AE"/>
                  </a:solidFill>
                  <a:latin typeface="Arial"/>
                  <a:ea typeface="Microsoft YaHei"/>
                  <a:cs typeface="Arial"/>
                </a:rPr>
                <a:t>5 / 51</a:t>
              </a:r>
            </a:p>
          </p:txBody>
        </p:sp>
      </p:grpSp>
    </p:spTree>
  </p:cSld>
  <p:clrMapOvr>
    <a:masterClrMapping/>
  </p:clrMapOvr>
  <p:transition xmlns:p14="http://schemas.microsoft.com/office/powerpoint/2010/main" p14:dur="400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entr" presetSubtype="4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slide(fromBottom)">
                                      <p:cBhvr>
                                        <p:cTn id="7" dur="400"/>
                                        <p:tgtEl>
                                          <p:spTgt spid="6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62" grpId="0"/>
    </p:bld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9" name="Group 9"/>
          <p:cNvGrpSpPr/>
          <p:nvPr/>
        </p:nvGrpSpPr>
        <p:grpSpPr>
          <a:xfrm>
            <a:off x="-666750" y="-1238250"/>
            <a:ext cx="15144750" cy="10382250"/>
            <a:chOff x="-666750" y="-1238250"/>
            <a:chExt cx="15144750" cy="10382250"/>
          </a:xfrm>
        </p:grpSpPr>
        <p:sp>
          <p:nvSpPr>
            <p:cNvPr id="2" name="Rectangle 2"/>
            <p:cNvSpPr/>
            <p:nvPr/>
          </p:nvSpPr>
          <p:spPr>
            <a:xfrm>
              <a:off x="0" y="0"/>
              <a:ext cx="12192000" cy="6858000"/>
            </a:xfrm>
            <a:prstGeom prst="rect">
              <a:avLst/>
            </a:prstGeom>
            <a:gradFill>
              <a:gsLst>
                <a:gs pos="0">
                  <a:srgbClr val="0B4EA2"/>
                </a:gs>
                <a:gs pos="55000">
                  <a:srgbClr val="1565D8"/>
                </a:gs>
                <a:gs pos="100000">
                  <a:srgbClr val="35A3E8"/>
                </a:gs>
              </a:gsLst>
              <a:lin ang="2700000" scaled="1"/>
            </a:gradFill>
            <a:ln>
              <a:noFill/>
            </a:ln>
          </p:spPr>
          <p:txBody>
            <a:bodyPr/>
            <a:p/>
          </p:txBody>
        </p:sp>
        <p:sp>
          <p:nvSpPr>
            <p:cNvPr id="3" name="Ellipse 3"/>
            <p:cNvSpPr/>
            <p:nvPr/>
          </p:nvSpPr>
          <p:spPr>
            <a:xfrm>
              <a:off x="8382000" y="3048000"/>
              <a:ext cx="6096000" cy="6096000"/>
            </a:xfrm>
            <a:prstGeom prst="ellipse">
              <a:avLst/>
            </a:prstGeom>
            <a:noFill/>
            <a:ln w="14288">
              <a:solidFill>
                <a:srgbClr val="FFFFFF">
                  <a:alpha val="10000"/>
                </a:srgbClr>
              </a:solidFill>
            </a:ln>
          </p:spPr>
          <p:txBody>
            <a:bodyPr/>
            <a:p/>
          </p:txBody>
        </p:sp>
        <p:sp>
          <p:nvSpPr>
            <p:cNvPr id="4" name="Ellipse 4"/>
            <p:cNvSpPr/>
            <p:nvPr/>
          </p:nvSpPr>
          <p:spPr>
            <a:xfrm>
              <a:off x="9048750" y="3714750"/>
              <a:ext cx="4762500" cy="4762500"/>
            </a:xfrm>
            <a:prstGeom prst="ellipse">
              <a:avLst/>
            </a:prstGeom>
            <a:noFill/>
            <a:ln w="14288">
              <a:solidFill>
                <a:srgbClr val="FFFFFF">
                  <a:alpha val="14000"/>
                </a:srgbClr>
              </a:solidFill>
              <a:custDash>
                <a:ds d="266666" sp="533333"/>
              </a:custDash>
            </a:ln>
          </p:spPr>
          <p:txBody>
            <a:bodyPr/>
            <a:p/>
          </p:txBody>
        </p:sp>
        <p:sp>
          <p:nvSpPr>
            <p:cNvPr id="5" name="Ellipse 5"/>
            <p:cNvSpPr/>
            <p:nvPr/>
          </p:nvSpPr>
          <p:spPr>
            <a:xfrm>
              <a:off x="9715500" y="4381500"/>
              <a:ext cx="3429000" cy="3429000"/>
            </a:xfrm>
            <a:prstGeom prst="ellipse">
              <a:avLst/>
            </a:prstGeom>
            <a:noFill/>
            <a:ln w="14288">
              <a:solidFill>
                <a:srgbClr val="FFFFFF">
                  <a:alpha val="10000"/>
                </a:srgbClr>
              </a:solidFill>
            </a:ln>
          </p:spPr>
          <p:txBody>
            <a:bodyPr/>
            <a:p/>
          </p:txBody>
        </p:sp>
        <p:sp>
          <p:nvSpPr>
            <p:cNvPr id="6" name="Ellipse 6"/>
            <p:cNvSpPr/>
            <p:nvPr/>
          </p:nvSpPr>
          <p:spPr>
            <a:xfrm>
              <a:off x="-666750" y="-1238250"/>
              <a:ext cx="3619500" cy="3619500"/>
            </a:xfrm>
            <a:prstGeom prst="ellipse">
              <a:avLst/>
            </a:prstGeom>
            <a:noFill/>
            <a:ln w="14288">
              <a:solidFill>
                <a:srgbClr val="FFFFFF">
                  <a:alpha val="8000"/>
                </a:srgbClr>
              </a:solidFill>
            </a:ln>
          </p:spPr>
          <p:txBody>
            <a:bodyPr/>
            <a:p/>
          </p:txBody>
        </p:sp>
        <p:sp>
          <p:nvSpPr>
            <p:cNvPr id="7" name="Ellipse 7"/>
            <p:cNvSpPr/>
            <p:nvPr/>
          </p:nvSpPr>
          <p:spPr>
            <a:xfrm>
              <a:off x="11382375" y="1095375"/>
              <a:ext cx="95250" cy="95250"/>
            </a:xfrm>
            <a:prstGeom prst="ellipse">
              <a:avLst/>
            </a:prstGeom>
            <a:solidFill>
              <a:srgbClr val="FFFFFF">
                <a:alpha val="20000"/>
              </a:srgbClr>
            </a:solidFill>
            <a:ln>
              <a:noFill/>
            </a:ln>
          </p:spPr>
          <p:txBody>
            <a:bodyPr/>
            <a:p/>
          </p:txBody>
        </p:sp>
        <p:sp>
          <p:nvSpPr>
            <p:cNvPr id="8" name="Ellipse 8"/>
            <p:cNvSpPr/>
            <p:nvPr/>
          </p:nvSpPr>
          <p:spPr>
            <a:xfrm>
              <a:off x="10629900" y="723900"/>
              <a:ext cx="76200" cy="76200"/>
            </a:xfrm>
            <a:prstGeom prst="ellipse">
              <a:avLst/>
            </a:prstGeom>
            <a:solidFill>
              <a:srgbClr val="FFFFFF">
                <a:alpha val="16000"/>
              </a:srgbClr>
            </a:solidFill>
            <a:ln>
              <a:noFill/>
            </a:ln>
          </p:spPr>
          <p:txBody>
            <a:bodyPr/>
            <a:p/>
          </p:txBody>
        </p:sp>
      </p:grpSp>
      <p:sp>
        <p:nvSpPr>
          <p:cNvPr id="10" name="TextBox 10"/>
          <p:cNvSpPr txBox="1"/>
          <p:nvPr/>
        </p:nvSpPr>
        <p:spPr>
          <a:xfrm>
            <a:off x="9619869" y="4038600"/>
            <a:ext cx="2153031" cy="24384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r"/>
            <a:r>
              <a:rPr lang="zh-CN" sz="12000" b="1" dirty="0">
                <a:solidFill>
                  <a:srgbClr val="FFFFFF">
                    <a:alphaMod val="14000"/>
                  </a:srgbClr>
                </a:solidFill>
                <a:latin typeface="Arial"/>
                <a:ea typeface="Microsoft YaHei"/>
                <a:cs typeface="Arial"/>
              </a:rPr>
              <a:t>02</a:t>
            </a:r>
          </a:p>
        </p:txBody>
      </p:sp>
      <p:sp>
        <p:nvSpPr>
          <p:cNvPr id="11" name="TextBox 11"/>
          <p:cNvSpPr txBox="1"/>
          <p:nvPr/>
        </p:nvSpPr>
        <p:spPr>
          <a:xfrm>
            <a:off x="560070" y="474345"/>
            <a:ext cx="634937" cy="18288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900" dirty="0">
                <a:solidFill>
                  <a:srgbClr val="FFFFFF">
                    <a:alphaMod val="50000"/>
                  </a:srgbClr>
                </a:solidFill>
                <a:latin typeface="Arial"/>
                <a:ea typeface="Microsoft YaHei"/>
                <a:cs typeface="Arial"/>
              </a:rPr>
              <a:t>LOGO HERE</a:t>
            </a:r>
          </a:p>
        </p:txBody>
      </p:sp>
      <p:grpSp>
        <p:nvGrpSpPr>
          <p:cNvPr id="18" name="Group 18"/>
          <p:cNvGrpSpPr/>
          <p:nvPr/>
        </p:nvGrpSpPr>
        <p:grpSpPr>
          <a:xfrm>
            <a:off x="529590" y="2423160"/>
            <a:ext cx="2939415" cy="2258378"/>
            <a:chOff x="529590" y="2423160"/>
            <a:chExt cx="2939415" cy="2258378"/>
          </a:xfrm>
        </p:grpSpPr>
        <p:sp>
          <p:nvSpPr>
            <p:cNvPr id="12" name="TextBox 12"/>
            <p:cNvSpPr txBox="1"/>
            <p:nvPr/>
          </p:nvSpPr>
          <p:spPr>
            <a:xfrm>
              <a:off x="556260" y="2423160"/>
              <a:ext cx="1022604" cy="24384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00" dirty="0">
                  <a:solidFill>
                    <a:srgbClr val="FFFFFF">
                      <a:alphaMod val="70000"/>
                    </a:srgbClr>
                  </a:solidFill>
                  <a:latin typeface="Arial"/>
                  <a:ea typeface="Microsoft YaHei"/>
                  <a:cs typeface="Arial"/>
                </a:rPr>
                <a:t>CHAPTER TWO</a:t>
              </a:r>
            </a:p>
          </p:txBody>
        </p:sp>
        <p:sp>
          <p:nvSpPr>
            <p:cNvPr id="13" name="Rectangle 13"/>
            <p:cNvSpPr/>
            <p:nvPr/>
          </p:nvSpPr>
          <p:spPr>
            <a:xfrm>
              <a:off x="571500" y="2781300"/>
              <a:ext cx="533400" cy="38100"/>
            </a:xfrm>
            <a:prstGeom prst="roundRect">
              <a:avLst>
                <a:gd name="adj" fmla="val 50000"/>
              </a:avLst>
            </a:prstGeom>
            <a:solidFill>
              <a:srgbClr val="FFFFFF">
                <a:alpha val="85000"/>
              </a:srgbClr>
            </a:solidFill>
            <a:ln>
              <a:noFill/>
            </a:ln>
          </p:spPr>
          <p:txBody>
            <a:bodyPr/>
            <a:p/>
          </p:txBody>
        </p:sp>
        <p:sp>
          <p:nvSpPr>
            <p:cNvPr id="14" name="TextBox 14"/>
            <p:cNvSpPr txBox="1"/>
            <p:nvPr/>
          </p:nvSpPr>
          <p:spPr>
            <a:xfrm>
              <a:off x="529590" y="2996565"/>
              <a:ext cx="2001360" cy="67056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3300" b="1" dirty="0">
                  <a:solidFill>
                    <a:srgbClr val="FFFFFF"/>
                  </a:solidFill>
                  <a:latin typeface="Arial"/>
                  <a:ea typeface="Microsoft YaHei"/>
                  <a:cs typeface="Arial"/>
                </a:rPr>
                <a:t>AI 是什么</a:t>
              </a:r>
            </a:p>
          </p:txBody>
        </p:sp>
        <p:sp>
          <p:nvSpPr>
            <p:cNvPr id="15" name="TextBox 15"/>
            <p:cNvSpPr txBox="1"/>
            <p:nvPr/>
          </p:nvSpPr>
          <p:spPr>
            <a:xfrm>
              <a:off x="550545" y="3593782"/>
              <a:ext cx="1582103" cy="33528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650" dirty="0">
                  <a:solidFill>
                    <a:srgbClr val="FFFFFF">
                      <a:alphaMod val="85000"/>
                    </a:srgbClr>
                  </a:solidFill>
                  <a:latin typeface="Arial"/>
                  <a:ea typeface="Microsoft YaHei"/>
                  <a:cs typeface="Arial"/>
                </a:rPr>
                <a:t>一张家族树看懂</a:t>
              </a:r>
            </a:p>
          </p:txBody>
        </p:sp>
        <p:sp>
          <p:nvSpPr>
            <p:cNvPr id="16" name="TextBox 16"/>
            <p:cNvSpPr txBox="1"/>
            <p:nvPr/>
          </p:nvSpPr>
          <p:spPr>
            <a:xfrm>
              <a:off x="554355" y="4121468"/>
              <a:ext cx="2905649" cy="27432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FFFFFF">
                      <a:alphaMod val="75000"/>
                    </a:srgbClr>
                  </a:solidFill>
                  <a:latin typeface="Arial"/>
                  <a:ea typeface="Microsoft YaHei"/>
                  <a:cs typeface="Arial"/>
                </a:rPr>
                <a:t>AI、机器学习、深度学习、大模型——</a:t>
              </a:r>
            </a:p>
          </p:txBody>
        </p:sp>
        <p:sp>
          <p:nvSpPr>
            <p:cNvPr id="17" name="TextBox 17"/>
            <p:cNvSpPr txBox="1"/>
            <p:nvPr/>
          </p:nvSpPr>
          <p:spPr>
            <a:xfrm>
              <a:off x="554355" y="4407218"/>
              <a:ext cx="2914650" cy="27432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FFFFFF">
                      <a:alphaMod val="75000"/>
                    </a:srgbClr>
                  </a:solidFill>
                  <a:latin typeface="Arial"/>
                  <a:ea typeface="Microsoft YaHei"/>
                  <a:cs typeface="Arial"/>
                </a:rPr>
                <a:t>到底是啥关系？一次讲清，不再混。</a:t>
              </a:r>
            </a:p>
          </p:txBody>
        </p:sp>
      </p:grpSp>
    </p:spTree>
  </p:cSld>
  <p:clrMapOvr>
    <a:masterClrMapping/>
  </p:clrMapOvr>
  <p:transition xmlns:p14="http://schemas.microsoft.com/office/powerpoint/2010/main" p14:dur="400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8" grpId="0"/>
    </p:bldLst>
  </p:timing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grpSp>
        <p:nvGrpSpPr>
          <p:cNvPr id="5" name="Group 5"/>
          <p:cNvGrpSpPr/>
          <p:nvPr/>
        </p:nvGrpSpPr>
        <p:grpSpPr>
          <a:xfrm>
            <a:off x="-1619250" y="0"/>
            <a:ext cx="13811250" cy="8477250"/>
            <a:chOff x="-1619250" y="0"/>
            <a:chExt cx="13811250" cy="8477250"/>
          </a:xfrm>
        </p:grpSpPr>
        <p:sp>
          <p:nvSpPr>
            <p:cNvPr id="2" name="Rectangle 2"/>
            <p:cNvSpPr/>
            <p:nvPr/>
          </p:nvSpPr>
          <p:spPr>
            <a:xfrm>
              <a:off x="0" y="0"/>
              <a:ext cx="12192000" cy="6858000"/>
            </a:xfrm>
            <a:prstGeom prst="rect">
              <a:avLst/>
            </a:prstGeom>
            <a:solidFill>
              <a:srgbClr val="F5F7FA"/>
            </a:solidFill>
            <a:ln>
              <a:noFill/>
            </a:ln>
          </p:spPr>
          <p:txBody>
            <a:bodyPr/>
            <a:p/>
          </p:txBody>
        </p:sp>
        <p:sp>
          <p:nvSpPr>
            <p:cNvPr id="3" name="Rectangle 3"/>
            <p:cNvSpPr/>
            <p:nvPr/>
          </p:nvSpPr>
          <p:spPr>
            <a:xfrm>
              <a:off x="0" y="0"/>
              <a:ext cx="12192000" cy="6858000"/>
            </a:xfrm>
            <a:prstGeom prst="rect">
              <a:avLst/>
            </a:prstGeom>
            <a:gradFill>
              <a:gsLst>
                <a:gs pos="0">
                  <a:srgbClr val="1565D8">
                    <a:alpha val="6000"/>
                  </a:srgbClr>
                </a:gs>
                <a:gs pos="100000">
                  <a:srgbClr val="1565D8">
                    <a:alpha val="0"/>
                  </a:srgbClr>
                </a:gs>
              </a:gsLst>
              <a:path path="circle">
                <a:fillToRect l="50000" t="50000" r="50000" b="50000"/>
              </a:path>
            </a:gradFill>
            <a:ln>
              <a:noFill/>
            </a:ln>
          </p:spPr>
          <p:txBody>
            <a:bodyPr/>
            <a:p/>
          </p:txBody>
        </p:sp>
        <p:sp>
          <p:nvSpPr>
            <p:cNvPr id="4" name="Ellipse 4"/>
            <p:cNvSpPr/>
            <p:nvPr/>
          </p:nvSpPr>
          <p:spPr>
            <a:xfrm>
              <a:off x="-1619250" y="4667250"/>
              <a:ext cx="3810000" cy="3810000"/>
            </a:xfrm>
            <a:prstGeom prst="ellipse">
              <a:avLst/>
            </a:prstGeom>
            <a:noFill/>
            <a:ln w="14288">
              <a:solidFill>
                <a:srgbClr val="D6E6F9">
                  <a:alpha val="80000"/>
                </a:srgbClr>
              </a:solidFill>
            </a:ln>
          </p:spPr>
          <p:txBody>
            <a:bodyPr/>
            <a:p/>
          </p:txBody>
        </p:sp>
      </p:grpSp>
      <p:grpSp>
        <p:nvGrpSpPr>
          <p:cNvPr id="9" name="Group 9"/>
          <p:cNvGrpSpPr/>
          <p:nvPr/>
        </p:nvGrpSpPr>
        <p:grpSpPr>
          <a:xfrm>
            <a:off x="571500" y="685800"/>
            <a:ext cx="3722608" cy="700088"/>
            <a:chOff x="571500" y="685800"/>
            <a:chExt cx="3722608" cy="700088"/>
          </a:xfrm>
        </p:grpSpPr>
        <p:sp>
          <p:nvSpPr>
            <p:cNvPr id="6" name="Rectangle 6"/>
            <p:cNvSpPr/>
            <p:nvPr/>
          </p:nvSpPr>
          <p:spPr>
            <a:xfrm>
              <a:off x="571500" y="685800"/>
              <a:ext cx="76200" cy="323850"/>
            </a:xfrm>
            <a:prstGeom prst="roundRect">
              <a:avLst>
                <a:gd name="adj" fmla="val 50000"/>
              </a:avLst>
            </a:prstGeom>
            <a:solidFill>
              <a:srgbClr val="1565D8"/>
            </a:solidFill>
            <a:ln>
              <a:noFill/>
            </a:ln>
          </p:spPr>
          <p:txBody>
            <a:bodyPr/>
            <a:p/>
          </p:txBody>
        </p:sp>
        <p:sp>
          <p:nvSpPr>
            <p:cNvPr id="7" name="TextBox 7"/>
            <p:cNvSpPr txBox="1"/>
            <p:nvPr/>
          </p:nvSpPr>
          <p:spPr>
            <a:xfrm>
              <a:off x="771525" y="700088"/>
              <a:ext cx="3522583" cy="45720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2250" b="1" dirty="0">
                  <a:solidFill>
                    <a:srgbClr val="2B3648"/>
                  </a:solidFill>
                  <a:latin typeface="Arial"/>
                  <a:ea typeface="Microsoft YaHei"/>
                  <a:cs typeface="Arial"/>
                </a:rPr>
                <a:t>一句话说清 AI 是什么</a:t>
              </a:r>
            </a:p>
          </p:txBody>
        </p:sp>
        <p:sp>
          <p:nvSpPr>
            <p:cNvPr id="8" name="TextBox 8"/>
            <p:cNvSpPr txBox="1"/>
            <p:nvPr/>
          </p:nvSpPr>
          <p:spPr>
            <a:xfrm>
              <a:off x="782955" y="1111568"/>
              <a:ext cx="2194560" cy="27432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5B6B82"/>
                  </a:solidFill>
                  <a:latin typeface="Arial"/>
                  <a:ea typeface="Microsoft YaHei"/>
                  <a:cs typeface="Arial"/>
                </a:rPr>
                <a:t>概念先搞懂，上手才不慌</a:t>
              </a:r>
            </a:p>
          </p:txBody>
        </p:sp>
      </p:grpSp>
      <p:grpSp>
        <p:nvGrpSpPr>
          <p:cNvPr id="37" name="Group 37"/>
          <p:cNvGrpSpPr/>
          <p:nvPr/>
        </p:nvGrpSpPr>
        <p:grpSpPr>
          <a:xfrm>
            <a:off x="571500" y="1619250"/>
            <a:ext cx="5334000" cy="3810000"/>
            <a:chOff x="571500" y="1619250"/>
            <a:chExt cx="5334000" cy="3810000"/>
          </a:xfrm>
        </p:grpSpPr>
        <p:sp>
          <p:nvSpPr>
            <p:cNvPr id="10" name="Rectangle 10"/>
            <p:cNvSpPr/>
            <p:nvPr/>
          </p:nvSpPr>
          <p:spPr>
            <a:xfrm>
              <a:off x="571500" y="1619250"/>
              <a:ext cx="5334000" cy="3810000"/>
            </a:xfrm>
            <a:prstGeom prst="roundRect">
              <a:avLst>
                <a:gd name="adj" fmla="val 4000"/>
              </a:avLst>
            </a:prstGeom>
            <a:solidFill>
              <a:srgbClr val="FFFFFF"/>
            </a:solidFill>
            <a:ln w="9525">
              <a:solidFill>
                <a:srgbClr val="D8E1EC"/>
              </a:solidFill>
            </a:ln>
          </p:spPr>
          <p:txBody>
            <a:bodyPr/>
            <a:p/>
          </p:txBody>
        </p:sp>
        <p:sp>
          <p:nvSpPr>
            <p:cNvPr id="11" name="Ellipse 11"/>
            <p:cNvSpPr/>
            <p:nvPr/>
          </p:nvSpPr>
          <p:spPr>
            <a:xfrm>
              <a:off x="838200" y="1905000"/>
              <a:ext cx="419100" cy="419100"/>
            </a:xfrm>
            <a:prstGeom prst="ellipse">
              <a:avLst/>
            </a:prstGeom>
            <a:solidFill>
              <a:srgbClr val="D6E6F9"/>
            </a:solidFill>
            <a:ln>
              <a:noFill/>
            </a:ln>
          </p:spPr>
          <p:txBody>
            <a:bodyPr/>
            <a:p/>
          </p:txBody>
        </p:sp>
        <p:grpSp>
          <p:nvGrpSpPr>
            <p:cNvPr id="14" name="Group 14"/>
            <p:cNvGrpSpPr/>
            <p:nvPr/>
          </p:nvGrpSpPr>
          <p:grpSpPr>
            <a:xfrm>
              <a:off x="971550" y="2042116"/>
              <a:ext cx="148634" cy="148634"/>
              <a:chOff x="971550" y="2042116"/>
              <a:chExt cx="148634" cy="148634"/>
            </a:xfrm>
          </p:grpSpPr>
          <p:sp>
            <p:nvSpPr>
              <p:cNvPr id="12" name="Freeform 12"/>
              <p:cNvSpPr/>
              <p:nvPr/>
            </p:nvSpPr>
            <p:spPr>
              <a:xfrm>
                <a:off x="971550" y="2042116"/>
                <a:ext cx="148634" cy="148634"/>
              </a:xfrm>
              <a:custGeom>
                <a:avLst/>
                <a:gdLst/>
                <a:ahLst/>
                <a:cxnLst/>
                <a:rect l="l" t="t" r="r" b="b"/>
                <a:pathLst>
                  <a:path w="148634" h="148634">
                    <a:moveTo>
                      <a:pt x="0" y="148634"/>
                    </a:moveTo>
                    <a:lnTo>
                      <a:pt x="38100" y="148634"/>
                    </a:lnTo>
                    <a:lnTo>
                      <a:pt x="138112" y="48621"/>
                    </a:lnTo>
                    <a:cubicBezTo>
                      <a:pt x="148634" y="38100"/>
                      <a:pt x="148634" y="21042"/>
                      <a:pt x="138112" y="10521"/>
                    </a:cubicBezTo>
                    <a:cubicBezTo>
                      <a:pt x="127591" y="0"/>
                      <a:pt x="110534" y="0"/>
                      <a:pt x="100012" y="10521"/>
                    </a:cubicBezTo>
                    <a:lnTo>
                      <a:pt x="0" y="110534"/>
                    </a:lnTo>
                    <a:lnTo>
                      <a:pt x="0" y="148634"/>
                    </a:lnTo>
                  </a:path>
                </a:pathLst>
              </a:custGeom>
              <a:noFill/>
              <a:ln w="19050">
                <a:solidFill>
                  <a:srgbClr val="1565D8"/>
                </a:solidFill>
              </a:ln>
            </p:spPr>
            <p:txBody>
              <a:bodyPr/>
              <a:p/>
            </p:txBody>
          </p:sp>
          <p:sp>
            <p:nvSpPr>
              <p:cNvPr id="13" name="Freeform 13"/>
              <p:cNvSpPr/>
              <p:nvPr/>
            </p:nvSpPr>
            <p:spPr>
              <a:xfrm>
                <a:off x="1062038" y="2062162"/>
                <a:ext cx="38100" cy="38100"/>
              </a:xfrm>
              <a:custGeom>
                <a:avLst/>
                <a:gdLst/>
                <a:ahLst/>
                <a:cxnLst/>
                <a:rect l="l" t="t" r="r" b="b"/>
                <a:pathLst>
                  <a:path w="38100" h="38100">
                    <a:moveTo>
                      <a:pt x="0" y="0"/>
                    </a:moveTo>
                    <a:lnTo>
                      <a:pt x="38100" y="38100"/>
                    </a:lnTo>
                  </a:path>
                </a:pathLst>
              </a:custGeom>
              <a:noFill/>
              <a:ln w="19050">
                <a:solidFill>
                  <a:srgbClr val="1565D8"/>
                </a:solidFill>
              </a:ln>
            </p:spPr>
            <p:txBody>
              <a:bodyPr/>
              <a:p/>
            </p:txBody>
          </p:sp>
        </p:grpSp>
        <p:sp>
          <p:nvSpPr>
            <p:cNvPr id="15" name="TextBox 15"/>
            <p:cNvSpPr txBox="1"/>
            <p:nvPr/>
          </p:nvSpPr>
          <p:spPr>
            <a:xfrm>
              <a:off x="1369695" y="2012632"/>
              <a:ext cx="2121170" cy="33528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650" b="1" dirty="0">
                  <a:solidFill>
                    <a:srgbClr val="2B3648"/>
                  </a:solidFill>
                  <a:latin typeface="Arial"/>
                  <a:ea typeface="Microsoft YaHei"/>
                  <a:cs typeface="Arial"/>
                </a:rPr>
                <a:t>定义：一句话</a:t>
              </a:r>
            </a:p>
          </p:txBody>
        </p:sp>
        <p:sp>
          <p:nvSpPr>
            <p:cNvPr id="16" name="Line 16"/>
            <p:cNvSpPr/>
            <p:nvPr/>
          </p:nvSpPr>
          <p:spPr>
            <a:xfrm>
              <a:off x="800100" y="2438400"/>
              <a:ext cx="4876800" cy="9525"/>
            </a:xfrm>
            <a:custGeom>
              <a:avLst/>
              <a:gdLst/>
              <a:ahLst/>
              <a:cxnLst/>
              <a:rect l="l" t="t" r="r" b="b"/>
              <a:pathLst>
                <a:path w="4876800" h="9525">
                  <a:moveTo>
                    <a:pt x="0" y="0"/>
                  </a:moveTo>
                  <a:lnTo>
                    <a:pt x="4876800" y="0"/>
                  </a:lnTo>
                </a:path>
              </a:pathLst>
            </a:custGeom>
            <a:noFill/>
            <a:ln w="9525">
              <a:solidFill>
                <a:srgbClr val="D8E1EC"/>
              </a:solidFill>
            </a:ln>
          </p:spPr>
          <p:txBody>
            <a:bodyPr/>
            <a:p/>
          </p:txBody>
        </p:sp>
        <p:grpSp>
          <p:nvGrpSpPr>
            <p:cNvPr id="19" name="Group 19"/>
            <p:cNvGrpSpPr/>
            <p:nvPr/>
          </p:nvGrpSpPr>
          <p:grpSpPr>
            <a:xfrm>
              <a:off x="869156" y="2717006"/>
              <a:ext cx="185738" cy="185738"/>
              <a:chOff x="869156" y="2717006"/>
              <a:chExt cx="185738" cy="185738"/>
            </a:xfrm>
          </p:grpSpPr>
          <p:sp>
            <p:nvSpPr>
              <p:cNvPr id="17" name="Freeform 17"/>
              <p:cNvSpPr/>
              <p:nvPr/>
            </p:nvSpPr>
            <p:spPr>
              <a:xfrm>
                <a:off x="869156" y="2717006"/>
                <a:ext cx="185738" cy="185738"/>
              </a:xfrm>
              <a:custGeom>
                <a:avLst/>
                <a:gdLst/>
                <a:ahLst/>
                <a:cxnLst/>
                <a:rect l="l" t="t" r="r" b="b"/>
                <a:pathLst>
                  <a:path w="185738" h="185738">
                    <a:moveTo>
                      <a:pt x="0" y="92869"/>
                    </a:moveTo>
                    <a:cubicBezTo>
                      <a:pt x="0" y="144159"/>
                      <a:pt x="41579" y="185738"/>
                      <a:pt x="92869" y="185738"/>
                    </a:cubicBezTo>
                    <a:cubicBezTo>
                      <a:pt x="144159" y="185738"/>
                      <a:pt x="185738" y="144159"/>
                      <a:pt x="185738" y="92869"/>
                    </a:cubicBezTo>
                    <a:cubicBezTo>
                      <a:pt x="185738" y="41579"/>
                      <a:pt x="144159" y="0"/>
                      <a:pt x="92869" y="0"/>
                    </a:cubicBezTo>
                    <a:cubicBezTo>
                      <a:pt x="41579" y="0"/>
                      <a:pt x="0" y="41579"/>
                      <a:pt x="0" y="92869"/>
                    </a:cubicBezTo>
                  </a:path>
                </a:pathLst>
              </a:custGeom>
              <a:noFill/>
              <a:ln w="19050">
                <a:solidFill>
                  <a:srgbClr val="2FA36B"/>
                </a:solidFill>
              </a:ln>
            </p:spPr>
            <p:txBody>
              <a:bodyPr/>
              <a:p/>
            </p:txBody>
          </p:sp>
          <p:sp>
            <p:nvSpPr>
              <p:cNvPr id="18" name="Freeform 18"/>
              <p:cNvSpPr/>
              <p:nvPr/>
            </p:nvSpPr>
            <p:spPr>
              <a:xfrm>
                <a:off x="931069" y="2789238"/>
                <a:ext cx="61912" cy="41275"/>
              </a:xfrm>
              <a:custGeom>
                <a:avLst/>
                <a:gdLst/>
                <a:ahLst/>
                <a:cxnLst/>
                <a:rect l="l" t="t" r="r" b="b"/>
                <a:pathLst>
                  <a:path w="61912" h="41275">
                    <a:moveTo>
                      <a:pt x="0" y="20638"/>
                    </a:moveTo>
                    <a:lnTo>
                      <a:pt x="20638" y="41275"/>
                    </a:lnTo>
                    <a:lnTo>
                      <a:pt x="61912" y="0"/>
                    </a:lnTo>
                  </a:path>
                </a:pathLst>
              </a:custGeom>
              <a:noFill/>
              <a:ln w="19050">
                <a:solidFill>
                  <a:srgbClr val="2FA36B"/>
                </a:solidFill>
              </a:ln>
            </p:spPr>
            <p:txBody>
              <a:bodyPr/>
              <a:p/>
            </p:txBody>
          </p:sp>
        </p:grpSp>
        <p:sp>
          <p:nvSpPr>
            <p:cNvPr id="20" name="TextBox 20"/>
            <p:cNvSpPr txBox="1"/>
            <p:nvPr/>
          </p:nvSpPr>
          <p:spPr>
            <a:xfrm>
              <a:off x="1221105" y="2730818"/>
              <a:ext cx="2734628" cy="27432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b="1" dirty="0">
                  <a:solidFill>
                    <a:srgbClr val="2B3648"/>
                  </a:solidFill>
                  <a:latin typeface="Arial"/>
                  <a:ea typeface="Microsoft YaHei"/>
                  <a:cs typeface="Arial"/>
                </a:rPr>
                <a:t>理解：中文、英文、行话、语气</a:t>
              </a:r>
            </a:p>
          </p:txBody>
        </p:sp>
        <p:grpSp>
          <p:nvGrpSpPr>
            <p:cNvPr id="23" name="Group 23"/>
            <p:cNvGrpSpPr/>
            <p:nvPr/>
          </p:nvGrpSpPr>
          <p:grpSpPr>
            <a:xfrm>
              <a:off x="869156" y="3250406"/>
              <a:ext cx="185738" cy="185738"/>
              <a:chOff x="869156" y="3250406"/>
              <a:chExt cx="185738" cy="185738"/>
            </a:xfrm>
          </p:grpSpPr>
          <p:sp>
            <p:nvSpPr>
              <p:cNvPr id="21" name="Freeform 21"/>
              <p:cNvSpPr/>
              <p:nvPr/>
            </p:nvSpPr>
            <p:spPr>
              <a:xfrm>
                <a:off x="869156" y="3250406"/>
                <a:ext cx="185738" cy="185738"/>
              </a:xfrm>
              <a:custGeom>
                <a:avLst/>
                <a:gdLst/>
                <a:ahLst/>
                <a:cxnLst/>
                <a:rect l="l" t="t" r="r" b="b"/>
                <a:pathLst>
                  <a:path w="185738" h="185738">
                    <a:moveTo>
                      <a:pt x="0" y="92869"/>
                    </a:moveTo>
                    <a:cubicBezTo>
                      <a:pt x="0" y="144159"/>
                      <a:pt x="41579" y="185738"/>
                      <a:pt x="92869" y="185738"/>
                    </a:cubicBezTo>
                    <a:cubicBezTo>
                      <a:pt x="144159" y="185738"/>
                      <a:pt x="185738" y="144159"/>
                      <a:pt x="185738" y="92869"/>
                    </a:cubicBezTo>
                    <a:cubicBezTo>
                      <a:pt x="185738" y="41579"/>
                      <a:pt x="144159" y="0"/>
                      <a:pt x="92869" y="0"/>
                    </a:cubicBezTo>
                    <a:cubicBezTo>
                      <a:pt x="41579" y="0"/>
                      <a:pt x="0" y="41579"/>
                      <a:pt x="0" y="92869"/>
                    </a:cubicBezTo>
                  </a:path>
                </a:pathLst>
              </a:custGeom>
              <a:noFill/>
              <a:ln w="19050">
                <a:solidFill>
                  <a:srgbClr val="2FA36B"/>
                </a:solidFill>
              </a:ln>
            </p:spPr>
            <p:txBody>
              <a:bodyPr/>
              <a:p/>
            </p:txBody>
          </p:sp>
          <p:sp>
            <p:nvSpPr>
              <p:cNvPr id="22" name="Freeform 22"/>
              <p:cNvSpPr/>
              <p:nvPr/>
            </p:nvSpPr>
            <p:spPr>
              <a:xfrm>
                <a:off x="931069" y="3322638"/>
                <a:ext cx="61912" cy="41275"/>
              </a:xfrm>
              <a:custGeom>
                <a:avLst/>
                <a:gdLst/>
                <a:ahLst/>
                <a:cxnLst/>
                <a:rect l="l" t="t" r="r" b="b"/>
                <a:pathLst>
                  <a:path w="61912" h="41275">
                    <a:moveTo>
                      <a:pt x="0" y="20638"/>
                    </a:moveTo>
                    <a:lnTo>
                      <a:pt x="20638" y="41275"/>
                    </a:lnTo>
                    <a:lnTo>
                      <a:pt x="61912" y="0"/>
                    </a:lnTo>
                  </a:path>
                </a:pathLst>
              </a:custGeom>
              <a:noFill/>
              <a:ln w="19050">
                <a:solidFill>
                  <a:srgbClr val="2FA36B"/>
                </a:solidFill>
              </a:ln>
            </p:spPr>
            <p:txBody>
              <a:bodyPr/>
              <a:p/>
            </p:txBody>
          </p:sp>
        </p:grpSp>
        <p:sp>
          <p:nvSpPr>
            <p:cNvPr id="24" name="TextBox 24"/>
            <p:cNvSpPr txBox="1"/>
            <p:nvPr/>
          </p:nvSpPr>
          <p:spPr>
            <a:xfrm>
              <a:off x="1221105" y="3264218"/>
              <a:ext cx="2554605" cy="27432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b="1" dirty="0">
                  <a:solidFill>
                    <a:srgbClr val="2B3648"/>
                  </a:solidFill>
                  <a:latin typeface="Arial"/>
                  <a:ea typeface="Microsoft YaHei"/>
                  <a:cs typeface="Arial"/>
                </a:rPr>
                <a:t>生成：写文章、做表格、画图片</a:t>
              </a:r>
            </a:p>
          </p:txBody>
        </p:sp>
        <p:grpSp>
          <p:nvGrpSpPr>
            <p:cNvPr id="27" name="Group 27"/>
            <p:cNvGrpSpPr/>
            <p:nvPr/>
          </p:nvGrpSpPr>
          <p:grpSpPr>
            <a:xfrm>
              <a:off x="869156" y="3783806"/>
              <a:ext cx="185738" cy="185738"/>
              <a:chOff x="869156" y="3783806"/>
              <a:chExt cx="185738" cy="185738"/>
            </a:xfrm>
          </p:grpSpPr>
          <p:sp>
            <p:nvSpPr>
              <p:cNvPr id="25" name="Freeform 25"/>
              <p:cNvSpPr/>
              <p:nvPr/>
            </p:nvSpPr>
            <p:spPr>
              <a:xfrm>
                <a:off x="869156" y="3783806"/>
                <a:ext cx="185738" cy="185738"/>
              </a:xfrm>
              <a:custGeom>
                <a:avLst/>
                <a:gdLst/>
                <a:ahLst/>
                <a:cxnLst/>
                <a:rect l="l" t="t" r="r" b="b"/>
                <a:pathLst>
                  <a:path w="185738" h="185738">
                    <a:moveTo>
                      <a:pt x="0" y="92869"/>
                    </a:moveTo>
                    <a:cubicBezTo>
                      <a:pt x="0" y="144159"/>
                      <a:pt x="41579" y="185738"/>
                      <a:pt x="92869" y="185738"/>
                    </a:cubicBezTo>
                    <a:cubicBezTo>
                      <a:pt x="144159" y="185738"/>
                      <a:pt x="185738" y="144159"/>
                      <a:pt x="185738" y="92869"/>
                    </a:cubicBezTo>
                    <a:cubicBezTo>
                      <a:pt x="185738" y="41579"/>
                      <a:pt x="144159" y="0"/>
                      <a:pt x="92869" y="0"/>
                    </a:cubicBezTo>
                    <a:cubicBezTo>
                      <a:pt x="41579" y="0"/>
                      <a:pt x="0" y="41579"/>
                      <a:pt x="0" y="92869"/>
                    </a:cubicBezTo>
                  </a:path>
                </a:pathLst>
              </a:custGeom>
              <a:noFill/>
              <a:ln w="19050">
                <a:solidFill>
                  <a:srgbClr val="2FA36B"/>
                </a:solidFill>
              </a:ln>
            </p:spPr>
            <p:txBody>
              <a:bodyPr/>
              <a:p/>
            </p:txBody>
          </p:sp>
          <p:sp>
            <p:nvSpPr>
              <p:cNvPr id="26" name="Freeform 26"/>
              <p:cNvSpPr/>
              <p:nvPr/>
            </p:nvSpPr>
            <p:spPr>
              <a:xfrm>
                <a:off x="931069" y="3856038"/>
                <a:ext cx="61912" cy="41275"/>
              </a:xfrm>
              <a:custGeom>
                <a:avLst/>
                <a:gdLst/>
                <a:ahLst/>
                <a:cxnLst/>
                <a:rect l="l" t="t" r="r" b="b"/>
                <a:pathLst>
                  <a:path w="61912" h="41275">
                    <a:moveTo>
                      <a:pt x="0" y="20638"/>
                    </a:moveTo>
                    <a:lnTo>
                      <a:pt x="20638" y="41275"/>
                    </a:lnTo>
                    <a:lnTo>
                      <a:pt x="61912" y="0"/>
                    </a:lnTo>
                  </a:path>
                </a:pathLst>
              </a:custGeom>
              <a:noFill/>
              <a:ln w="19050">
                <a:solidFill>
                  <a:srgbClr val="2FA36B"/>
                </a:solidFill>
              </a:ln>
            </p:spPr>
            <p:txBody>
              <a:bodyPr/>
              <a:p/>
            </p:txBody>
          </p:sp>
        </p:grpSp>
        <p:sp>
          <p:nvSpPr>
            <p:cNvPr id="28" name="TextBox 28"/>
            <p:cNvSpPr txBox="1"/>
            <p:nvPr/>
          </p:nvSpPr>
          <p:spPr>
            <a:xfrm>
              <a:off x="1221105" y="3797618"/>
              <a:ext cx="2914650" cy="27432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b="1" dirty="0">
                  <a:solidFill>
                    <a:srgbClr val="2B3648"/>
                  </a:solidFill>
                  <a:latin typeface="Arial"/>
                  <a:ea typeface="Microsoft YaHei"/>
                  <a:cs typeface="Arial"/>
                </a:rPr>
                <a:t>判断：比方案、找问题、给建议</a:t>
              </a:r>
            </a:p>
          </p:txBody>
        </p:sp>
        <p:grpSp>
          <p:nvGrpSpPr>
            <p:cNvPr id="31" name="Group 31"/>
            <p:cNvGrpSpPr/>
            <p:nvPr/>
          </p:nvGrpSpPr>
          <p:grpSpPr>
            <a:xfrm>
              <a:off x="869156" y="4317206"/>
              <a:ext cx="185738" cy="185738"/>
              <a:chOff x="869156" y="4317206"/>
              <a:chExt cx="185738" cy="185738"/>
            </a:xfrm>
          </p:grpSpPr>
          <p:sp>
            <p:nvSpPr>
              <p:cNvPr id="29" name="Freeform 29"/>
              <p:cNvSpPr/>
              <p:nvPr/>
            </p:nvSpPr>
            <p:spPr>
              <a:xfrm>
                <a:off x="869156" y="4317206"/>
                <a:ext cx="185738" cy="185738"/>
              </a:xfrm>
              <a:custGeom>
                <a:avLst/>
                <a:gdLst/>
                <a:ahLst/>
                <a:cxnLst/>
                <a:rect l="l" t="t" r="r" b="b"/>
                <a:pathLst>
                  <a:path w="185738" h="185738">
                    <a:moveTo>
                      <a:pt x="0" y="92869"/>
                    </a:moveTo>
                    <a:cubicBezTo>
                      <a:pt x="0" y="144159"/>
                      <a:pt x="41579" y="185738"/>
                      <a:pt x="92869" y="185738"/>
                    </a:cubicBezTo>
                    <a:cubicBezTo>
                      <a:pt x="144159" y="185738"/>
                      <a:pt x="185738" y="144159"/>
                      <a:pt x="185738" y="92869"/>
                    </a:cubicBezTo>
                    <a:cubicBezTo>
                      <a:pt x="185738" y="41579"/>
                      <a:pt x="144159" y="0"/>
                      <a:pt x="92869" y="0"/>
                    </a:cubicBezTo>
                    <a:cubicBezTo>
                      <a:pt x="41579" y="0"/>
                      <a:pt x="0" y="41579"/>
                      <a:pt x="0" y="92869"/>
                    </a:cubicBezTo>
                  </a:path>
                </a:pathLst>
              </a:custGeom>
              <a:noFill/>
              <a:ln w="19050">
                <a:solidFill>
                  <a:srgbClr val="2FA36B"/>
                </a:solidFill>
              </a:ln>
            </p:spPr>
            <p:txBody>
              <a:bodyPr/>
              <a:p/>
            </p:txBody>
          </p:sp>
          <p:sp>
            <p:nvSpPr>
              <p:cNvPr id="30" name="Freeform 30"/>
              <p:cNvSpPr/>
              <p:nvPr/>
            </p:nvSpPr>
            <p:spPr>
              <a:xfrm>
                <a:off x="931069" y="4389438"/>
                <a:ext cx="61912" cy="41275"/>
              </a:xfrm>
              <a:custGeom>
                <a:avLst/>
                <a:gdLst/>
                <a:ahLst/>
                <a:cxnLst/>
                <a:rect l="l" t="t" r="r" b="b"/>
                <a:pathLst>
                  <a:path w="61912" h="41275">
                    <a:moveTo>
                      <a:pt x="0" y="20638"/>
                    </a:moveTo>
                    <a:lnTo>
                      <a:pt x="20638" y="41275"/>
                    </a:lnTo>
                    <a:lnTo>
                      <a:pt x="61912" y="0"/>
                    </a:lnTo>
                  </a:path>
                </a:pathLst>
              </a:custGeom>
              <a:noFill/>
              <a:ln w="19050">
                <a:solidFill>
                  <a:srgbClr val="2FA36B"/>
                </a:solidFill>
              </a:ln>
            </p:spPr>
            <p:txBody>
              <a:bodyPr/>
              <a:p/>
            </p:txBody>
          </p:sp>
        </p:grpSp>
        <p:sp>
          <p:nvSpPr>
            <p:cNvPr id="32" name="TextBox 32"/>
            <p:cNvSpPr txBox="1"/>
            <p:nvPr/>
          </p:nvSpPr>
          <p:spPr>
            <a:xfrm>
              <a:off x="1221105" y="4331018"/>
              <a:ext cx="2554605" cy="27432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b="1" dirty="0">
                  <a:solidFill>
                    <a:srgbClr val="2B3648"/>
                  </a:solidFill>
                  <a:latin typeface="Arial"/>
                  <a:ea typeface="Microsoft YaHei"/>
                  <a:cs typeface="Arial"/>
                </a:rPr>
                <a:t>定义：让机器干人脑的活</a:t>
              </a:r>
            </a:p>
          </p:txBody>
        </p:sp>
        <p:grpSp>
          <p:nvGrpSpPr>
            <p:cNvPr id="35" name="Group 35"/>
            <p:cNvGrpSpPr/>
            <p:nvPr/>
          </p:nvGrpSpPr>
          <p:grpSpPr>
            <a:xfrm>
              <a:off x="869156" y="4850606"/>
              <a:ext cx="185738" cy="185738"/>
              <a:chOff x="869156" y="4850606"/>
              <a:chExt cx="185738" cy="185738"/>
            </a:xfrm>
          </p:grpSpPr>
          <p:sp>
            <p:nvSpPr>
              <p:cNvPr id="33" name="Freeform 33"/>
              <p:cNvSpPr/>
              <p:nvPr/>
            </p:nvSpPr>
            <p:spPr>
              <a:xfrm>
                <a:off x="869156" y="4850606"/>
                <a:ext cx="185738" cy="185738"/>
              </a:xfrm>
              <a:custGeom>
                <a:avLst/>
                <a:gdLst/>
                <a:ahLst/>
                <a:cxnLst/>
                <a:rect l="l" t="t" r="r" b="b"/>
                <a:pathLst>
                  <a:path w="185738" h="185738">
                    <a:moveTo>
                      <a:pt x="0" y="92869"/>
                    </a:moveTo>
                    <a:cubicBezTo>
                      <a:pt x="0" y="144159"/>
                      <a:pt x="41579" y="185738"/>
                      <a:pt x="92869" y="185738"/>
                    </a:cubicBezTo>
                    <a:cubicBezTo>
                      <a:pt x="144159" y="185738"/>
                      <a:pt x="185738" y="144159"/>
                      <a:pt x="185738" y="92869"/>
                    </a:cubicBezTo>
                    <a:cubicBezTo>
                      <a:pt x="185738" y="41579"/>
                      <a:pt x="144159" y="0"/>
                      <a:pt x="92869" y="0"/>
                    </a:cubicBezTo>
                    <a:cubicBezTo>
                      <a:pt x="41579" y="0"/>
                      <a:pt x="0" y="41579"/>
                      <a:pt x="0" y="92869"/>
                    </a:cubicBezTo>
                  </a:path>
                </a:pathLst>
              </a:custGeom>
              <a:noFill/>
              <a:ln w="19050">
                <a:solidFill>
                  <a:srgbClr val="2FA36B"/>
                </a:solidFill>
              </a:ln>
            </p:spPr>
            <p:txBody>
              <a:bodyPr/>
              <a:p/>
            </p:txBody>
          </p:sp>
          <p:sp>
            <p:nvSpPr>
              <p:cNvPr id="34" name="Freeform 34"/>
              <p:cNvSpPr/>
              <p:nvPr/>
            </p:nvSpPr>
            <p:spPr>
              <a:xfrm>
                <a:off x="931069" y="4922838"/>
                <a:ext cx="61912" cy="41275"/>
              </a:xfrm>
              <a:custGeom>
                <a:avLst/>
                <a:gdLst/>
                <a:ahLst/>
                <a:cxnLst/>
                <a:rect l="l" t="t" r="r" b="b"/>
                <a:pathLst>
                  <a:path w="61912" h="41275">
                    <a:moveTo>
                      <a:pt x="0" y="20637"/>
                    </a:moveTo>
                    <a:lnTo>
                      <a:pt x="20638" y="41275"/>
                    </a:lnTo>
                    <a:lnTo>
                      <a:pt x="61912" y="0"/>
                    </a:lnTo>
                  </a:path>
                </a:pathLst>
              </a:custGeom>
              <a:noFill/>
              <a:ln w="19050">
                <a:solidFill>
                  <a:srgbClr val="2FA36B"/>
                </a:solidFill>
              </a:ln>
            </p:spPr>
            <p:txBody>
              <a:bodyPr/>
              <a:p/>
            </p:txBody>
          </p:sp>
        </p:grpSp>
        <p:sp>
          <p:nvSpPr>
            <p:cNvPr id="36" name="TextBox 36"/>
            <p:cNvSpPr txBox="1"/>
            <p:nvPr/>
          </p:nvSpPr>
          <p:spPr>
            <a:xfrm>
              <a:off x="1221105" y="4864418"/>
              <a:ext cx="2734628" cy="27432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b="1" dirty="0">
                  <a:solidFill>
                    <a:srgbClr val="2B3648"/>
                  </a:solidFill>
                  <a:latin typeface="Arial"/>
                  <a:ea typeface="Microsoft YaHei"/>
                  <a:cs typeface="Arial"/>
                </a:rPr>
                <a:t>只是不同代，一代比一代强。</a:t>
              </a:r>
            </a:p>
          </p:txBody>
        </p:sp>
      </p:grpSp>
      <p:grpSp>
        <p:nvGrpSpPr>
          <p:cNvPr id="67" name="Group 67"/>
          <p:cNvGrpSpPr/>
          <p:nvPr/>
        </p:nvGrpSpPr>
        <p:grpSpPr>
          <a:xfrm>
            <a:off x="6286500" y="1619250"/>
            <a:ext cx="5334000" cy="3810000"/>
            <a:chOff x="6286500" y="1619250"/>
            <a:chExt cx="5334000" cy="3810000"/>
          </a:xfrm>
        </p:grpSpPr>
        <p:sp>
          <p:nvSpPr>
            <p:cNvPr id="38" name="Rectangle 38"/>
            <p:cNvSpPr/>
            <p:nvPr/>
          </p:nvSpPr>
          <p:spPr>
            <a:xfrm>
              <a:off x="6286500" y="1619250"/>
              <a:ext cx="5334000" cy="3810000"/>
            </a:xfrm>
            <a:prstGeom prst="roundRect">
              <a:avLst>
                <a:gd name="adj" fmla="val 4000"/>
              </a:avLst>
            </a:prstGeom>
            <a:solidFill>
              <a:srgbClr val="FFFFFF"/>
            </a:solidFill>
            <a:ln w="9525">
              <a:solidFill>
                <a:srgbClr val="D8E1EC"/>
              </a:solidFill>
            </a:ln>
          </p:spPr>
          <p:txBody>
            <a:bodyPr/>
            <a:p/>
          </p:txBody>
        </p:sp>
        <p:sp>
          <p:nvSpPr>
            <p:cNvPr id="39" name="Ellipse 39"/>
            <p:cNvSpPr/>
            <p:nvPr/>
          </p:nvSpPr>
          <p:spPr>
            <a:xfrm>
              <a:off x="6553200" y="1905000"/>
              <a:ext cx="419100" cy="419100"/>
            </a:xfrm>
            <a:prstGeom prst="ellipse">
              <a:avLst/>
            </a:prstGeom>
            <a:solidFill>
              <a:srgbClr val="E9EEF5"/>
            </a:solidFill>
            <a:ln>
              <a:noFill/>
            </a:ln>
          </p:spPr>
          <p:txBody>
            <a:bodyPr/>
            <a:p/>
          </p:txBody>
        </p:sp>
        <p:grpSp>
          <p:nvGrpSpPr>
            <p:cNvPr id="48" name="Group 48"/>
            <p:cNvGrpSpPr/>
            <p:nvPr/>
          </p:nvGrpSpPr>
          <p:grpSpPr>
            <a:xfrm>
              <a:off x="6686550" y="2028825"/>
              <a:ext cx="152400" cy="171450"/>
              <a:chOff x="6686550" y="2028825"/>
              <a:chExt cx="152400" cy="171450"/>
            </a:xfrm>
          </p:grpSpPr>
          <p:sp>
            <p:nvSpPr>
              <p:cNvPr id="40" name="Freeform 40"/>
              <p:cNvSpPr/>
              <p:nvPr/>
            </p:nvSpPr>
            <p:spPr>
              <a:xfrm>
                <a:off x="6686550" y="2028825"/>
                <a:ext cx="152400" cy="171450"/>
              </a:xfrm>
              <a:custGeom>
                <a:avLst/>
                <a:gdLst/>
                <a:ahLst/>
                <a:cxnLst/>
                <a:rect l="l" t="t" r="r" b="b"/>
                <a:pathLst>
                  <a:path w="152400" h="171450">
                    <a:moveTo>
                      <a:pt x="0" y="19050"/>
                    </a:moveTo>
                    <a:cubicBezTo>
                      <a:pt x="0" y="8529"/>
                      <a:pt x="8529" y="0"/>
                      <a:pt x="19050" y="0"/>
                    </a:cubicBezTo>
                    <a:lnTo>
                      <a:pt x="133350" y="0"/>
                    </a:lnTo>
                    <a:cubicBezTo>
                      <a:pt x="143871" y="0"/>
                      <a:pt x="152400" y="8529"/>
                      <a:pt x="152400" y="19050"/>
                    </a:cubicBezTo>
                    <a:lnTo>
                      <a:pt x="152400" y="152400"/>
                    </a:lnTo>
                    <a:cubicBezTo>
                      <a:pt x="152400" y="162921"/>
                      <a:pt x="143871" y="171450"/>
                      <a:pt x="133350" y="171450"/>
                    </a:cubicBezTo>
                    <a:lnTo>
                      <a:pt x="19050" y="171450"/>
                    </a:lnTo>
                    <a:cubicBezTo>
                      <a:pt x="8529" y="171450"/>
                      <a:pt x="0" y="162921"/>
                      <a:pt x="0" y="152400"/>
                    </a:cubicBezTo>
                    <a:lnTo>
                      <a:pt x="0" y="19050"/>
                    </a:lnTo>
                  </a:path>
                </a:pathLst>
              </a:custGeom>
              <a:noFill/>
              <a:ln w="19050">
                <a:solidFill>
                  <a:srgbClr val="5B6B82"/>
                </a:solidFill>
              </a:ln>
            </p:spPr>
            <p:txBody>
              <a:bodyPr/>
              <a:p/>
            </p:txBody>
          </p:sp>
          <p:sp>
            <p:nvSpPr>
              <p:cNvPr id="41" name="Freeform 41"/>
              <p:cNvSpPr/>
              <p:nvPr/>
            </p:nvSpPr>
            <p:spPr>
              <a:xfrm>
                <a:off x="6724650" y="2066925"/>
                <a:ext cx="76200" cy="28575"/>
              </a:xfrm>
              <a:custGeom>
                <a:avLst/>
                <a:gdLst/>
                <a:ahLst/>
                <a:cxnLst/>
                <a:rect l="l" t="t" r="r" b="b"/>
                <a:pathLst>
                  <a:path w="76200" h="28575">
                    <a:moveTo>
                      <a:pt x="0" y="9525"/>
                    </a:moveTo>
                    <a:cubicBezTo>
                      <a:pt x="0" y="4264"/>
                      <a:pt x="4264" y="0"/>
                      <a:pt x="9525" y="0"/>
                    </a:cubicBezTo>
                    <a:lnTo>
                      <a:pt x="66675" y="0"/>
                    </a:lnTo>
                    <a:cubicBezTo>
                      <a:pt x="71936" y="0"/>
                      <a:pt x="76200" y="4264"/>
                      <a:pt x="76200" y="9525"/>
                    </a:cubicBezTo>
                    <a:lnTo>
                      <a:pt x="76200" y="19050"/>
                    </a:lnTo>
                    <a:cubicBezTo>
                      <a:pt x="76200" y="24311"/>
                      <a:pt x="71936" y="28575"/>
                      <a:pt x="66675" y="28575"/>
                    </a:cubicBezTo>
                    <a:lnTo>
                      <a:pt x="9525" y="28575"/>
                    </a:lnTo>
                    <a:cubicBezTo>
                      <a:pt x="4264" y="28575"/>
                      <a:pt x="0" y="24311"/>
                      <a:pt x="0" y="19050"/>
                    </a:cubicBezTo>
                    <a:lnTo>
                      <a:pt x="0" y="9525"/>
                    </a:lnTo>
                  </a:path>
                </a:pathLst>
              </a:custGeom>
              <a:noFill/>
              <a:ln w="19050">
                <a:solidFill>
                  <a:srgbClr val="5B6B82"/>
                </a:solidFill>
              </a:ln>
            </p:spPr>
            <p:txBody>
              <a:bodyPr/>
              <a:p/>
            </p:txBody>
          </p:sp>
          <p:sp>
            <p:nvSpPr>
              <p:cNvPr id="42" name="Freeform 42"/>
              <p:cNvSpPr/>
              <p:nvPr/>
            </p:nvSpPr>
            <p:spPr>
              <a:xfrm>
                <a:off x="6724650" y="2133600"/>
                <a:ext cx="9525" cy="9525"/>
              </a:xfrm>
              <a:custGeom>
                <a:avLst/>
                <a:gdLst/>
                <a:ahLst/>
                <a:cxnLst/>
                <a:rect l="l" t="t" r="r" b="b"/>
                <a:pathLst>
                  <a:path w="9525" h="9525">
                    <a:moveTo>
                      <a:pt x="0" y="0"/>
                    </a:moveTo>
                    <a:lnTo>
                      <a:pt x="0" y="95"/>
                    </a:lnTo>
                  </a:path>
                </a:pathLst>
              </a:custGeom>
              <a:noFill/>
              <a:ln w="19050">
                <a:solidFill>
                  <a:srgbClr val="5B6B82"/>
                </a:solidFill>
              </a:ln>
            </p:spPr>
            <p:txBody>
              <a:bodyPr/>
              <a:p/>
            </p:txBody>
          </p:sp>
          <p:sp>
            <p:nvSpPr>
              <p:cNvPr id="43" name="Freeform 43"/>
              <p:cNvSpPr/>
              <p:nvPr/>
            </p:nvSpPr>
            <p:spPr>
              <a:xfrm>
                <a:off x="6762750" y="2133600"/>
                <a:ext cx="9525" cy="9525"/>
              </a:xfrm>
              <a:custGeom>
                <a:avLst/>
                <a:gdLst/>
                <a:ahLst/>
                <a:cxnLst/>
                <a:rect l="l" t="t" r="r" b="b"/>
                <a:pathLst>
                  <a:path w="9525" h="9525">
                    <a:moveTo>
                      <a:pt x="0" y="0"/>
                    </a:moveTo>
                    <a:lnTo>
                      <a:pt x="0" y="95"/>
                    </a:lnTo>
                  </a:path>
                </a:pathLst>
              </a:custGeom>
              <a:noFill/>
              <a:ln w="19050">
                <a:solidFill>
                  <a:srgbClr val="5B6B82"/>
                </a:solidFill>
              </a:ln>
            </p:spPr>
            <p:txBody>
              <a:bodyPr/>
              <a:p/>
            </p:txBody>
          </p:sp>
          <p:sp>
            <p:nvSpPr>
              <p:cNvPr id="44" name="Freeform 44"/>
              <p:cNvSpPr/>
              <p:nvPr/>
            </p:nvSpPr>
            <p:spPr>
              <a:xfrm>
                <a:off x="6800850" y="2133600"/>
                <a:ext cx="9525" cy="9525"/>
              </a:xfrm>
              <a:custGeom>
                <a:avLst/>
                <a:gdLst/>
                <a:ahLst/>
                <a:cxnLst/>
                <a:rect l="l" t="t" r="r" b="b"/>
                <a:pathLst>
                  <a:path w="9525" h="9525">
                    <a:moveTo>
                      <a:pt x="0" y="0"/>
                    </a:moveTo>
                    <a:lnTo>
                      <a:pt x="0" y="95"/>
                    </a:lnTo>
                  </a:path>
                </a:pathLst>
              </a:custGeom>
              <a:noFill/>
              <a:ln w="19050">
                <a:solidFill>
                  <a:srgbClr val="5B6B82"/>
                </a:solidFill>
              </a:ln>
            </p:spPr>
            <p:txBody>
              <a:bodyPr/>
              <a:p/>
            </p:txBody>
          </p:sp>
          <p:sp>
            <p:nvSpPr>
              <p:cNvPr id="45" name="Freeform 45"/>
              <p:cNvSpPr/>
              <p:nvPr/>
            </p:nvSpPr>
            <p:spPr>
              <a:xfrm>
                <a:off x="6724650" y="2162175"/>
                <a:ext cx="9525" cy="9525"/>
              </a:xfrm>
              <a:custGeom>
                <a:avLst/>
                <a:gdLst/>
                <a:ahLst/>
                <a:cxnLst/>
                <a:rect l="l" t="t" r="r" b="b"/>
                <a:pathLst>
                  <a:path w="9525" h="9525">
                    <a:moveTo>
                      <a:pt x="0" y="0"/>
                    </a:moveTo>
                    <a:lnTo>
                      <a:pt x="0" y="95"/>
                    </a:lnTo>
                  </a:path>
                </a:pathLst>
              </a:custGeom>
              <a:noFill/>
              <a:ln w="19050">
                <a:solidFill>
                  <a:srgbClr val="5B6B82"/>
                </a:solidFill>
              </a:ln>
            </p:spPr>
            <p:txBody>
              <a:bodyPr/>
              <a:p/>
            </p:txBody>
          </p:sp>
          <p:sp>
            <p:nvSpPr>
              <p:cNvPr id="46" name="Freeform 46"/>
              <p:cNvSpPr/>
              <p:nvPr/>
            </p:nvSpPr>
            <p:spPr>
              <a:xfrm>
                <a:off x="6762750" y="2162175"/>
                <a:ext cx="9525" cy="9525"/>
              </a:xfrm>
              <a:custGeom>
                <a:avLst/>
                <a:gdLst/>
                <a:ahLst/>
                <a:cxnLst/>
                <a:rect l="l" t="t" r="r" b="b"/>
                <a:pathLst>
                  <a:path w="9525" h="9525">
                    <a:moveTo>
                      <a:pt x="0" y="0"/>
                    </a:moveTo>
                    <a:lnTo>
                      <a:pt x="0" y="95"/>
                    </a:lnTo>
                  </a:path>
                </a:pathLst>
              </a:custGeom>
              <a:noFill/>
              <a:ln w="19050">
                <a:solidFill>
                  <a:srgbClr val="5B6B82"/>
                </a:solidFill>
              </a:ln>
            </p:spPr>
            <p:txBody>
              <a:bodyPr/>
              <a:p/>
            </p:txBody>
          </p:sp>
          <p:sp>
            <p:nvSpPr>
              <p:cNvPr id="47" name="Freeform 47"/>
              <p:cNvSpPr/>
              <p:nvPr/>
            </p:nvSpPr>
            <p:spPr>
              <a:xfrm>
                <a:off x="6800850" y="2162175"/>
                <a:ext cx="9525" cy="9525"/>
              </a:xfrm>
              <a:custGeom>
                <a:avLst/>
                <a:gdLst/>
                <a:ahLst/>
                <a:cxnLst/>
                <a:rect l="l" t="t" r="r" b="b"/>
                <a:pathLst>
                  <a:path w="9525" h="9525">
                    <a:moveTo>
                      <a:pt x="0" y="0"/>
                    </a:moveTo>
                    <a:lnTo>
                      <a:pt x="0" y="95"/>
                    </a:lnTo>
                  </a:path>
                </a:pathLst>
              </a:custGeom>
              <a:noFill/>
              <a:ln w="19050">
                <a:solidFill>
                  <a:srgbClr val="5B6B82"/>
                </a:solidFill>
              </a:ln>
            </p:spPr>
            <p:txBody>
              <a:bodyPr/>
              <a:p/>
            </p:txBody>
          </p:sp>
        </p:grpSp>
        <p:sp>
          <p:nvSpPr>
            <p:cNvPr id="49" name="TextBox 49"/>
            <p:cNvSpPr txBox="1"/>
            <p:nvPr/>
          </p:nvSpPr>
          <p:spPr>
            <a:xfrm>
              <a:off x="7084695" y="2012632"/>
              <a:ext cx="2583228" cy="33528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650" b="1" dirty="0">
                  <a:solidFill>
                    <a:srgbClr val="2B3648"/>
                  </a:solidFill>
                  <a:latin typeface="Arial"/>
                  <a:ea typeface="Microsoft YaHei"/>
                  <a:cs typeface="Arial"/>
                </a:rPr>
                <a:t>比喻：超级实习生</a:t>
              </a:r>
            </a:p>
          </p:txBody>
        </p:sp>
        <p:sp>
          <p:nvSpPr>
            <p:cNvPr id="50" name="Line 50"/>
            <p:cNvSpPr/>
            <p:nvPr/>
          </p:nvSpPr>
          <p:spPr>
            <a:xfrm>
              <a:off x="6515100" y="2438400"/>
              <a:ext cx="4876800" cy="9525"/>
            </a:xfrm>
            <a:custGeom>
              <a:avLst/>
              <a:gdLst/>
              <a:ahLst/>
              <a:cxnLst/>
              <a:rect l="l" t="t" r="r" b="b"/>
              <a:pathLst>
                <a:path w="4876800" h="9525">
                  <a:moveTo>
                    <a:pt x="0" y="0"/>
                  </a:moveTo>
                  <a:lnTo>
                    <a:pt x="4876800" y="0"/>
                  </a:lnTo>
                </a:path>
              </a:pathLst>
            </a:custGeom>
            <a:noFill/>
            <a:ln w="9525">
              <a:solidFill>
                <a:srgbClr val="D8E1EC"/>
              </a:solidFill>
            </a:ln>
          </p:spPr>
          <p:txBody>
            <a:bodyPr/>
            <a:p/>
          </p:txBody>
        </p:sp>
        <p:grpSp>
          <p:nvGrpSpPr>
            <p:cNvPr id="53" name="Group 53"/>
            <p:cNvGrpSpPr/>
            <p:nvPr/>
          </p:nvGrpSpPr>
          <p:grpSpPr>
            <a:xfrm>
              <a:off x="6584156" y="2717006"/>
              <a:ext cx="185738" cy="185738"/>
              <a:chOff x="6584156" y="2717006"/>
              <a:chExt cx="185738" cy="185738"/>
            </a:xfrm>
          </p:grpSpPr>
          <p:sp>
            <p:nvSpPr>
              <p:cNvPr id="51" name="Freeform 51"/>
              <p:cNvSpPr/>
              <p:nvPr/>
            </p:nvSpPr>
            <p:spPr>
              <a:xfrm>
                <a:off x="6584156" y="2717006"/>
                <a:ext cx="185738" cy="185738"/>
              </a:xfrm>
              <a:custGeom>
                <a:avLst/>
                <a:gdLst/>
                <a:ahLst/>
                <a:cxnLst/>
                <a:rect l="l" t="t" r="r" b="b"/>
                <a:pathLst>
                  <a:path w="185738" h="185738">
                    <a:moveTo>
                      <a:pt x="0" y="92869"/>
                    </a:moveTo>
                    <a:cubicBezTo>
                      <a:pt x="0" y="144159"/>
                      <a:pt x="41579" y="185738"/>
                      <a:pt x="92869" y="185738"/>
                    </a:cubicBezTo>
                    <a:cubicBezTo>
                      <a:pt x="144159" y="185738"/>
                      <a:pt x="185738" y="144159"/>
                      <a:pt x="185738" y="92869"/>
                    </a:cubicBezTo>
                    <a:cubicBezTo>
                      <a:pt x="185738" y="41579"/>
                      <a:pt x="144159" y="0"/>
                      <a:pt x="92869" y="0"/>
                    </a:cubicBezTo>
                    <a:cubicBezTo>
                      <a:pt x="41579" y="0"/>
                      <a:pt x="0" y="41579"/>
                      <a:pt x="0" y="92869"/>
                    </a:cubicBezTo>
                  </a:path>
                </a:pathLst>
              </a:custGeom>
              <a:noFill/>
              <a:ln w="19050">
                <a:solidFill>
                  <a:srgbClr val="D64545"/>
                </a:solidFill>
              </a:ln>
            </p:spPr>
            <p:txBody>
              <a:bodyPr/>
              <a:p/>
            </p:txBody>
          </p:sp>
          <p:sp>
            <p:nvSpPr>
              <p:cNvPr id="52" name="Freeform 52"/>
              <p:cNvSpPr/>
              <p:nvPr/>
            </p:nvSpPr>
            <p:spPr>
              <a:xfrm>
                <a:off x="6656388" y="2789238"/>
                <a:ext cx="41275" cy="41275"/>
              </a:xfrm>
              <a:custGeom>
                <a:avLst/>
                <a:gdLst/>
                <a:ahLst/>
                <a:cxnLst/>
                <a:rect l="l" t="t" r="r" b="b"/>
                <a:pathLst>
                  <a:path w="41275" h="41275">
                    <a:moveTo>
                      <a:pt x="0" y="0"/>
                    </a:moveTo>
                    <a:lnTo>
                      <a:pt x="41275" y="41275"/>
                    </a:lnTo>
                    <a:moveTo>
                      <a:pt x="41275" y="0"/>
                    </a:moveTo>
                    <a:lnTo>
                      <a:pt x="0" y="41275"/>
                    </a:lnTo>
                  </a:path>
                </a:pathLst>
              </a:custGeom>
              <a:noFill/>
              <a:ln w="19050">
                <a:solidFill>
                  <a:srgbClr val="D64545"/>
                </a:solidFill>
              </a:ln>
            </p:spPr>
            <p:txBody>
              <a:bodyPr/>
              <a:p/>
            </p:txBody>
          </p:sp>
        </p:grpSp>
        <p:sp>
          <p:nvSpPr>
            <p:cNvPr id="54" name="TextBox 54"/>
            <p:cNvSpPr txBox="1"/>
            <p:nvPr/>
          </p:nvSpPr>
          <p:spPr>
            <a:xfrm>
              <a:off x="6936105" y="2730818"/>
              <a:ext cx="2014538" cy="27432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b="1" dirty="0">
                  <a:solidFill>
                    <a:srgbClr val="2B3648"/>
                  </a:solidFill>
                  <a:latin typeface="Arial"/>
                  <a:ea typeface="Microsoft YaHei"/>
                  <a:cs typeface="Arial"/>
                </a:rPr>
                <a:t>聪明、快，但不负责——</a:t>
              </a:r>
            </a:p>
          </p:txBody>
        </p:sp>
        <p:grpSp>
          <p:nvGrpSpPr>
            <p:cNvPr id="57" name="Group 57"/>
            <p:cNvGrpSpPr/>
            <p:nvPr/>
          </p:nvGrpSpPr>
          <p:grpSpPr>
            <a:xfrm>
              <a:off x="6584156" y="3364706"/>
              <a:ext cx="185738" cy="185738"/>
              <a:chOff x="6584156" y="3364706"/>
              <a:chExt cx="185738" cy="185738"/>
            </a:xfrm>
          </p:grpSpPr>
          <p:sp>
            <p:nvSpPr>
              <p:cNvPr id="55" name="Freeform 55"/>
              <p:cNvSpPr/>
              <p:nvPr/>
            </p:nvSpPr>
            <p:spPr>
              <a:xfrm>
                <a:off x="6584156" y="3364706"/>
                <a:ext cx="185738" cy="185738"/>
              </a:xfrm>
              <a:custGeom>
                <a:avLst/>
                <a:gdLst/>
                <a:ahLst/>
                <a:cxnLst/>
                <a:rect l="l" t="t" r="r" b="b"/>
                <a:pathLst>
                  <a:path w="185738" h="185738">
                    <a:moveTo>
                      <a:pt x="0" y="92869"/>
                    </a:moveTo>
                    <a:cubicBezTo>
                      <a:pt x="0" y="144159"/>
                      <a:pt x="41579" y="185738"/>
                      <a:pt x="92869" y="185738"/>
                    </a:cubicBezTo>
                    <a:cubicBezTo>
                      <a:pt x="144159" y="185738"/>
                      <a:pt x="185738" y="144159"/>
                      <a:pt x="185738" y="92869"/>
                    </a:cubicBezTo>
                    <a:cubicBezTo>
                      <a:pt x="185738" y="41579"/>
                      <a:pt x="144159" y="0"/>
                      <a:pt x="92869" y="0"/>
                    </a:cubicBezTo>
                    <a:cubicBezTo>
                      <a:pt x="41579" y="0"/>
                      <a:pt x="0" y="41579"/>
                      <a:pt x="0" y="92869"/>
                    </a:cubicBezTo>
                  </a:path>
                </a:pathLst>
              </a:custGeom>
              <a:noFill/>
              <a:ln w="19050">
                <a:solidFill>
                  <a:srgbClr val="D64545"/>
                </a:solidFill>
              </a:ln>
            </p:spPr>
            <p:txBody>
              <a:bodyPr/>
              <a:p/>
            </p:txBody>
          </p:sp>
          <p:sp>
            <p:nvSpPr>
              <p:cNvPr id="56" name="Freeform 56"/>
              <p:cNvSpPr/>
              <p:nvPr/>
            </p:nvSpPr>
            <p:spPr>
              <a:xfrm>
                <a:off x="6656388" y="3436938"/>
                <a:ext cx="41275" cy="41275"/>
              </a:xfrm>
              <a:custGeom>
                <a:avLst/>
                <a:gdLst/>
                <a:ahLst/>
                <a:cxnLst/>
                <a:rect l="l" t="t" r="r" b="b"/>
                <a:pathLst>
                  <a:path w="41275" h="41275">
                    <a:moveTo>
                      <a:pt x="0" y="0"/>
                    </a:moveTo>
                    <a:lnTo>
                      <a:pt x="41275" y="41275"/>
                    </a:lnTo>
                    <a:moveTo>
                      <a:pt x="41275" y="0"/>
                    </a:moveTo>
                    <a:lnTo>
                      <a:pt x="0" y="41275"/>
                    </a:lnTo>
                  </a:path>
                </a:pathLst>
              </a:custGeom>
              <a:noFill/>
              <a:ln w="19050">
                <a:solidFill>
                  <a:srgbClr val="D64545"/>
                </a:solidFill>
              </a:ln>
            </p:spPr>
            <p:txBody>
              <a:bodyPr/>
              <a:p/>
            </p:txBody>
          </p:sp>
        </p:grpSp>
        <p:sp>
          <p:nvSpPr>
            <p:cNvPr id="58" name="TextBox 58"/>
            <p:cNvSpPr txBox="1"/>
            <p:nvPr/>
          </p:nvSpPr>
          <p:spPr>
            <a:xfrm>
              <a:off x="6936105" y="3378518"/>
              <a:ext cx="2194560" cy="27432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b="1" dirty="0">
                  <a:solidFill>
                    <a:srgbClr val="2B3648"/>
                  </a:solidFill>
                  <a:latin typeface="Arial"/>
                  <a:ea typeface="Microsoft YaHei"/>
                  <a:cs typeface="Arial"/>
                </a:rPr>
                <a:t>10 分钟，初稿就有了，</a:t>
              </a:r>
            </a:p>
          </p:txBody>
        </p:sp>
        <p:grpSp>
          <p:nvGrpSpPr>
            <p:cNvPr id="61" name="Group 61"/>
            <p:cNvGrpSpPr/>
            <p:nvPr/>
          </p:nvGrpSpPr>
          <p:grpSpPr>
            <a:xfrm>
              <a:off x="6584156" y="4012406"/>
              <a:ext cx="185738" cy="185738"/>
              <a:chOff x="6584156" y="4012406"/>
              <a:chExt cx="185738" cy="185738"/>
            </a:xfrm>
          </p:grpSpPr>
          <p:sp>
            <p:nvSpPr>
              <p:cNvPr id="59" name="Freeform 59"/>
              <p:cNvSpPr/>
              <p:nvPr/>
            </p:nvSpPr>
            <p:spPr>
              <a:xfrm>
                <a:off x="6584156" y="4012406"/>
                <a:ext cx="185738" cy="185738"/>
              </a:xfrm>
              <a:custGeom>
                <a:avLst/>
                <a:gdLst/>
                <a:ahLst/>
                <a:cxnLst/>
                <a:rect l="l" t="t" r="r" b="b"/>
                <a:pathLst>
                  <a:path w="185738" h="185738">
                    <a:moveTo>
                      <a:pt x="0" y="92869"/>
                    </a:moveTo>
                    <a:cubicBezTo>
                      <a:pt x="0" y="144159"/>
                      <a:pt x="41579" y="185738"/>
                      <a:pt x="92869" y="185738"/>
                    </a:cubicBezTo>
                    <a:cubicBezTo>
                      <a:pt x="144159" y="185738"/>
                      <a:pt x="185738" y="144159"/>
                      <a:pt x="185738" y="92869"/>
                    </a:cubicBezTo>
                    <a:cubicBezTo>
                      <a:pt x="185738" y="41579"/>
                      <a:pt x="144159" y="0"/>
                      <a:pt x="92869" y="0"/>
                    </a:cubicBezTo>
                    <a:cubicBezTo>
                      <a:pt x="41579" y="0"/>
                      <a:pt x="0" y="41579"/>
                      <a:pt x="0" y="92869"/>
                    </a:cubicBezTo>
                  </a:path>
                </a:pathLst>
              </a:custGeom>
              <a:noFill/>
              <a:ln w="19050">
                <a:solidFill>
                  <a:srgbClr val="D64545"/>
                </a:solidFill>
              </a:ln>
            </p:spPr>
            <p:txBody>
              <a:bodyPr/>
              <a:p/>
            </p:txBody>
          </p:sp>
          <p:sp>
            <p:nvSpPr>
              <p:cNvPr id="60" name="Freeform 60"/>
              <p:cNvSpPr/>
              <p:nvPr/>
            </p:nvSpPr>
            <p:spPr>
              <a:xfrm>
                <a:off x="6656388" y="4084638"/>
                <a:ext cx="41275" cy="41275"/>
              </a:xfrm>
              <a:custGeom>
                <a:avLst/>
                <a:gdLst/>
                <a:ahLst/>
                <a:cxnLst/>
                <a:rect l="l" t="t" r="r" b="b"/>
                <a:pathLst>
                  <a:path w="41275" h="41275">
                    <a:moveTo>
                      <a:pt x="0" y="0"/>
                    </a:moveTo>
                    <a:lnTo>
                      <a:pt x="41275" y="41275"/>
                    </a:lnTo>
                    <a:moveTo>
                      <a:pt x="41275" y="0"/>
                    </a:moveTo>
                    <a:lnTo>
                      <a:pt x="0" y="41275"/>
                    </a:lnTo>
                  </a:path>
                </a:pathLst>
              </a:custGeom>
              <a:noFill/>
              <a:ln w="19050">
                <a:solidFill>
                  <a:srgbClr val="D64545"/>
                </a:solidFill>
              </a:ln>
            </p:spPr>
            <p:txBody>
              <a:bodyPr/>
              <a:p/>
            </p:txBody>
          </p:sp>
        </p:grpSp>
        <p:sp>
          <p:nvSpPr>
            <p:cNvPr id="62" name="TextBox 62"/>
            <p:cNvSpPr txBox="1"/>
            <p:nvPr/>
          </p:nvSpPr>
          <p:spPr>
            <a:xfrm>
              <a:off x="6936105" y="4026218"/>
              <a:ext cx="1294448" cy="27432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b="1" dirty="0">
                  <a:solidFill>
                    <a:srgbClr val="2B3648"/>
                  </a:solidFill>
                  <a:latin typeface="Arial"/>
                  <a:ea typeface="Microsoft YaHei"/>
                  <a:cs typeface="Arial"/>
                </a:rPr>
                <a:t>拍板的还是你。</a:t>
              </a:r>
            </a:p>
          </p:txBody>
        </p:sp>
        <p:grpSp>
          <p:nvGrpSpPr>
            <p:cNvPr id="65" name="Group 65"/>
            <p:cNvGrpSpPr/>
            <p:nvPr/>
          </p:nvGrpSpPr>
          <p:grpSpPr>
            <a:xfrm>
              <a:off x="6584156" y="4660106"/>
              <a:ext cx="185738" cy="185738"/>
              <a:chOff x="6584156" y="4660106"/>
              <a:chExt cx="185738" cy="185738"/>
            </a:xfrm>
          </p:grpSpPr>
          <p:sp>
            <p:nvSpPr>
              <p:cNvPr id="63" name="Freeform 63"/>
              <p:cNvSpPr/>
              <p:nvPr/>
            </p:nvSpPr>
            <p:spPr>
              <a:xfrm>
                <a:off x="6584156" y="4660106"/>
                <a:ext cx="185738" cy="185738"/>
              </a:xfrm>
              <a:custGeom>
                <a:avLst/>
                <a:gdLst/>
                <a:ahLst/>
                <a:cxnLst/>
                <a:rect l="l" t="t" r="r" b="b"/>
                <a:pathLst>
                  <a:path w="185738" h="185738">
                    <a:moveTo>
                      <a:pt x="0" y="92869"/>
                    </a:moveTo>
                    <a:cubicBezTo>
                      <a:pt x="0" y="144159"/>
                      <a:pt x="41579" y="185738"/>
                      <a:pt x="92869" y="185738"/>
                    </a:cubicBezTo>
                    <a:cubicBezTo>
                      <a:pt x="144159" y="185738"/>
                      <a:pt x="185738" y="144159"/>
                      <a:pt x="185738" y="92869"/>
                    </a:cubicBezTo>
                    <a:cubicBezTo>
                      <a:pt x="185738" y="41579"/>
                      <a:pt x="144159" y="0"/>
                      <a:pt x="92869" y="0"/>
                    </a:cubicBezTo>
                    <a:cubicBezTo>
                      <a:pt x="41579" y="0"/>
                      <a:pt x="0" y="41579"/>
                      <a:pt x="0" y="92869"/>
                    </a:cubicBezTo>
                  </a:path>
                </a:pathLst>
              </a:custGeom>
              <a:noFill/>
              <a:ln w="19050">
                <a:solidFill>
                  <a:srgbClr val="D64545"/>
                </a:solidFill>
              </a:ln>
            </p:spPr>
            <p:txBody>
              <a:bodyPr/>
              <a:p/>
            </p:txBody>
          </p:sp>
          <p:sp>
            <p:nvSpPr>
              <p:cNvPr id="64" name="Freeform 64"/>
              <p:cNvSpPr/>
              <p:nvPr/>
            </p:nvSpPr>
            <p:spPr>
              <a:xfrm>
                <a:off x="6656388" y="4732338"/>
                <a:ext cx="41275" cy="41275"/>
              </a:xfrm>
              <a:custGeom>
                <a:avLst/>
                <a:gdLst/>
                <a:ahLst/>
                <a:cxnLst/>
                <a:rect l="l" t="t" r="r" b="b"/>
                <a:pathLst>
                  <a:path w="41275" h="41275">
                    <a:moveTo>
                      <a:pt x="0" y="0"/>
                    </a:moveTo>
                    <a:lnTo>
                      <a:pt x="41275" y="41275"/>
                    </a:lnTo>
                    <a:moveTo>
                      <a:pt x="41275" y="0"/>
                    </a:moveTo>
                    <a:lnTo>
                      <a:pt x="0" y="41275"/>
                    </a:lnTo>
                  </a:path>
                </a:pathLst>
              </a:custGeom>
              <a:noFill/>
              <a:ln w="19050">
                <a:solidFill>
                  <a:srgbClr val="D64545"/>
                </a:solidFill>
              </a:ln>
            </p:spPr>
            <p:txBody>
              <a:bodyPr/>
              <a:p/>
            </p:txBody>
          </p:sp>
        </p:grpSp>
        <p:sp>
          <p:nvSpPr>
            <p:cNvPr id="66" name="TextBox 66"/>
            <p:cNvSpPr txBox="1"/>
            <p:nvPr/>
          </p:nvSpPr>
          <p:spPr>
            <a:xfrm>
              <a:off x="6936105" y="4673918"/>
              <a:ext cx="1834515" cy="27432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b="1" dirty="0">
                  <a:solidFill>
                    <a:srgbClr val="2B3648"/>
                  </a:solidFill>
                  <a:latin typeface="Arial"/>
                  <a:ea typeface="Microsoft YaHei"/>
                  <a:cs typeface="Arial"/>
                </a:rPr>
                <a:t>不用，它就不会。</a:t>
              </a:r>
            </a:p>
          </p:txBody>
        </p:sp>
      </p:grpSp>
      <p:grpSp>
        <p:nvGrpSpPr>
          <p:cNvPr id="71" name="Group 71"/>
          <p:cNvGrpSpPr/>
          <p:nvPr/>
        </p:nvGrpSpPr>
        <p:grpSpPr>
          <a:xfrm>
            <a:off x="571500" y="5715000"/>
            <a:ext cx="11049000" cy="457200"/>
            <a:chOff x="571500" y="5715000"/>
            <a:chExt cx="11049000" cy="457200"/>
          </a:xfrm>
        </p:grpSpPr>
        <p:sp>
          <p:nvSpPr>
            <p:cNvPr id="68" name="Rectangle 68"/>
            <p:cNvSpPr/>
            <p:nvPr/>
          </p:nvSpPr>
          <p:spPr>
            <a:xfrm>
              <a:off x="571500" y="5715000"/>
              <a:ext cx="11049000" cy="457200"/>
            </a:xfrm>
            <a:prstGeom prst="roundRect">
              <a:avLst>
                <a:gd name="adj" fmla="val 33333"/>
              </a:avLst>
            </a:prstGeom>
            <a:solidFill>
              <a:srgbClr val="D6E6F9"/>
            </a:solidFill>
            <a:ln>
              <a:noFill/>
            </a:ln>
          </p:spPr>
          <p:txBody>
            <a:bodyPr/>
            <a:p/>
          </p:txBody>
        </p:sp>
        <p:sp>
          <p:nvSpPr>
            <p:cNvPr id="69" name="Rectangle 69"/>
            <p:cNvSpPr/>
            <p:nvPr/>
          </p:nvSpPr>
          <p:spPr>
            <a:xfrm>
              <a:off x="571500" y="5715000"/>
              <a:ext cx="76200" cy="457200"/>
            </a:xfrm>
            <a:prstGeom prst="roundRect">
              <a:avLst>
                <a:gd name="adj" fmla="val 50000"/>
              </a:avLst>
            </a:prstGeom>
            <a:solidFill>
              <a:srgbClr val="1565D8"/>
            </a:solidFill>
            <a:ln>
              <a:noFill/>
            </a:ln>
          </p:spPr>
          <p:txBody>
            <a:bodyPr/>
            <a:p/>
          </p:txBody>
        </p:sp>
        <p:sp>
          <p:nvSpPr>
            <p:cNvPr id="70" name="TextBox 70"/>
            <p:cNvSpPr txBox="1"/>
            <p:nvPr/>
          </p:nvSpPr>
          <p:spPr>
            <a:xfrm>
              <a:off x="859155" y="5864542"/>
              <a:ext cx="3058668" cy="27432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b="1" dirty="0">
                  <a:solidFill>
                    <a:srgbClr val="0B4EA2"/>
                  </a:solidFill>
                  <a:latin typeface="Arial"/>
                  <a:ea typeface="Microsoft YaHei"/>
                  <a:cs typeface="Arial"/>
                </a:rPr>
                <a:t>口诀：AI 是能力，不是产品——像电一样。</a:t>
              </a:r>
            </a:p>
          </p:txBody>
        </p:sp>
      </p:grpSp>
      <p:grpSp>
        <p:nvGrpSpPr>
          <p:cNvPr id="74" name="Group 74"/>
          <p:cNvGrpSpPr/>
          <p:nvPr/>
        </p:nvGrpSpPr>
        <p:grpSpPr>
          <a:xfrm>
            <a:off x="560070" y="6341745"/>
            <a:ext cx="11071860" cy="182880"/>
            <a:chOff x="560070" y="6341745"/>
            <a:chExt cx="11071860" cy="182880"/>
          </a:xfrm>
        </p:grpSpPr>
        <p:sp>
          <p:nvSpPr>
            <p:cNvPr id="72" name="TextBox 72"/>
            <p:cNvSpPr txBox="1"/>
            <p:nvPr/>
          </p:nvSpPr>
          <p:spPr>
            <a:xfrm>
              <a:off x="560070" y="6341745"/>
              <a:ext cx="1054989" cy="18288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00" dirty="0">
                  <a:solidFill>
                    <a:srgbClr val="8B99AE"/>
                  </a:solidFill>
                  <a:latin typeface="Arial"/>
                  <a:ea typeface="Microsoft YaHei"/>
                  <a:cs typeface="Arial"/>
                </a:rPr>
                <a:t>大模型通识 · 企业版</a:t>
              </a:r>
            </a:p>
          </p:txBody>
        </p:sp>
        <p:sp>
          <p:nvSpPr>
            <p:cNvPr id="73" name="TextBox 73"/>
            <p:cNvSpPr txBox="1"/>
            <p:nvPr/>
          </p:nvSpPr>
          <p:spPr>
            <a:xfrm>
              <a:off x="11273028" y="6341745"/>
              <a:ext cx="358902" cy="18288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r"/>
              <a:r>
                <a:rPr lang="zh-CN" sz="900" dirty="0">
                  <a:solidFill>
                    <a:srgbClr val="8B99AE"/>
                  </a:solidFill>
                  <a:latin typeface="Arial"/>
                  <a:ea typeface="Microsoft YaHei"/>
                  <a:cs typeface="Arial"/>
                </a:rPr>
                <a:t>7 / 51</a:t>
              </a:r>
            </a:p>
          </p:txBody>
        </p:sp>
      </p:grp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grpSp>
        <p:nvGrpSpPr>
          <p:cNvPr id="5" name="Group 5"/>
          <p:cNvGrpSpPr/>
          <p:nvPr/>
        </p:nvGrpSpPr>
        <p:grpSpPr>
          <a:xfrm>
            <a:off x="0" y="0"/>
            <a:ext cx="14192250" cy="8953500"/>
            <a:chOff x="0" y="0"/>
            <a:chExt cx="14192250" cy="8953500"/>
          </a:xfrm>
        </p:grpSpPr>
        <p:sp>
          <p:nvSpPr>
            <p:cNvPr id="2" name="Rectangle 2"/>
            <p:cNvSpPr/>
            <p:nvPr/>
          </p:nvSpPr>
          <p:spPr>
            <a:xfrm>
              <a:off x="0" y="0"/>
              <a:ext cx="12192000" cy="6858000"/>
            </a:xfrm>
            <a:prstGeom prst="rect">
              <a:avLst/>
            </a:prstGeom>
            <a:solidFill>
              <a:srgbClr val="F5F7FA"/>
            </a:solidFill>
            <a:ln>
              <a:noFill/>
            </a:ln>
          </p:spPr>
          <p:txBody>
            <a:bodyPr/>
            <a:p/>
          </p:txBody>
        </p:sp>
        <p:sp>
          <p:nvSpPr>
            <p:cNvPr id="3" name="Rectangle 3"/>
            <p:cNvSpPr/>
            <p:nvPr/>
          </p:nvSpPr>
          <p:spPr>
            <a:xfrm>
              <a:off x="0" y="0"/>
              <a:ext cx="12192000" cy="6858000"/>
            </a:xfrm>
            <a:prstGeom prst="rect">
              <a:avLst/>
            </a:prstGeom>
            <a:gradFill>
              <a:gsLst>
                <a:gs pos="0">
                  <a:srgbClr val="1565D8">
                    <a:alpha val="6000"/>
                  </a:srgbClr>
                </a:gs>
                <a:gs pos="100000">
                  <a:srgbClr val="1565D8">
                    <a:alpha val="0"/>
                  </a:srgbClr>
                </a:gs>
              </a:gsLst>
              <a:path path="circle">
                <a:fillToRect l="50000" t="50000" r="50000" b="50000"/>
              </a:path>
            </a:gradFill>
            <a:ln>
              <a:noFill/>
            </a:ln>
          </p:spPr>
          <p:txBody>
            <a:bodyPr/>
            <a:p/>
          </p:txBody>
        </p:sp>
        <p:sp>
          <p:nvSpPr>
            <p:cNvPr id="4" name="Ellipse 4"/>
            <p:cNvSpPr/>
            <p:nvPr/>
          </p:nvSpPr>
          <p:spPr>
            <a:xfrm>
              <a:off x="9620250" y="4381500"/>
              <a:ext cx="4572000" cy="4572000"/>
            </a:xfrm>
            <a:prstGeom prst="ellipse">
              <a:avLst/>
            </a:prstGeom>
            <a:noFill/>
            <a:ln w="14288">
              <a:solidFill>
                <a:srgbClr val="D6E6F9">
                  <a:alpha val="80000"/>
                </a:srgbClr>
              </a:solidFill>
            </a:ln>
          </p:spPr>
          <p:txBody>
            <a:bodyPr/>
            <a:p/>
          </p:txBody>
        </p:sp>
      </p:grpSp>
      <p:grpSp>
        <p:nvGrpSpPr>
          <p:cNvPr id="9" name="Group 9"/>
          <p:cNvGrpSpPr/>
          <p:nvPr/>
        </p:nvGrpSpPr>
        <p:grpSpPr>
          <a:xfrm>
            <a:off x="571500" y="685800"/>
            <a:ext cx="6924580" cy="700088"/>
            <a:chOff x="571500" y="685800"/>
            <a:chExt cx="6924580" cy="700088"/>
          </a:xfrm>
        </p:grpSpPr>
        <p:sp>
          <p:nvSpPr>
            <p:cNvPr id="6" name="Rectangle 6"/>
            <p:cNvSpPr/>
            <p:nvPr/>
          </p:nvSpPr>
          <p:spPr>
            <a:xfrm>
              <a:off x="571500" y="685800"/>
              <a:ext cx="76200" cy="323850"/>
            </a:xfrm>
            <a:prstGeom prst="roundRect">
              <a:avLst>
                <a:gd name="adj" fmla="val 50000"/>
              </a:avLst>
            </a:prstGeom>
            <a:solidFill>
              <a:srgbClr val="1565D8"/>
            </a:solidFill>
            <a:ln>
              <a:noFill/>
            </a:ln>
          </p:spPr>
          <p:txBody>
            <a:bodyPr/>
            <a:p/>
          </p:txBody>
        </p:sp>
        <p:sp>
          <p:nvSpPr>
            <p:cNvPr id="7" name="TextBox 7"/>
            <p:cNvSpPr txBox="1"/>
            <p:nvPr/>
          </p:nvSpPr>
          <p:spPr>
            <a:xfrm>
              <a:off x="771525" y="700088"/>
              <a:ext cx="4152662" cy="45720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2250" b="1" dirty="0">
                  <a:solidFill>
                    <a:srgbClr val="2B3648"/>
                  </a:solidFill>
                  <a:latin typeface="Arial"/>
                  <a:ea typeface="Microsoft YaHei"/>
                  <a:cs typeface="Arial"/>
                </a:rPr>
                <a:t>AI 的 70 年：为什么现在才好用</a:t>
              </a:r>
            </a:p>
          </p:txBody>
        </p:sp>
        <p:sp>
          <p:nvSpPr>
            <p:cNvPr id="8" name="TextBox 8"/>
            <p:cNvSpPr txBox="1"/>
            <p:nvPr/>
          </p:nvSpPr>
          <p:spPr>
            <a:xfrm>
              <a:off x="782955" y="1111568"/>
              <a:ext cx="6713125" cy="27432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5B6B82"/>
                  </a:solidFill>
                  <a:latin typeface="Arial"/>
                  <a:ea typeface="Microsoft YaHei"/>
                  <a:cs typeface="Arial"/>
                </a:rPr>
                <a:t>从 1956 到 2026，70 年大起大落——为什么现在才真能用？</a:t>
              </a:r>
            </a:p>
          </p:txBody>
        </p:sp>
      </p:grpSp>
      <p:grpSp>
        <p:nvGrpSpPr>
          <p:cNvPr id="14" name="Group 14"/>
          <p:cNvGrpSpPr/>
          <p:nvPr/>
        </p:nvGrpSpPr>
        <p:grpSpPr>
          <a:xfrm>
            <a:off x="2552700" y="2209800"/>
            <a:ext cx="6362700" cy="1"/>
            <a:chOff x="2552700" y="2209800"/>
            <a:chExt cx="6362700" cy="1"/>
          </a:xfrm>
        </p:grpSpPr>
        <p:sp>
          <p:nvSpPr>
            <p:cNvPr id="10" name="Line 10"/>
            <p:cNvSpPr/>
            <p:nvPr/>
          </p:nvSpPr>
          <p:spPr>
            <a:xfrm>
              <a:off x="2552700" y="2209800"/>
              <a:ext cx="190500" cy="1"/>
            </a:xfrm>
            <a:prstGeom prst="line">
              <a:avLst/>
            </a:prstGeom>
            <a:noFill/>
            <a:ln w="23812">
              <a:solidFill>
                <a:srgbClr val="1565D8"/>
              </a:solidFill>
              <a:tailEnd type="triangle" w="lg" len="lg"/>
            </a:ln>
          </p:spPr>
          <p:txBody>
            <a:bodyPr/>
            <a:p/>
          </p:txBody>
        </p:sp>
        <p:sp>
          <p:nvSpPr>
            <p:cNvPr id="11" name="Line 11"/>
            <p:cNvSpPr/>
            <p:nvPr/>
          </p:nvSpPr>
          <p:spPr>
            <a:xfrm>
              <a:off x="4610100" y="2209800"/>
              <a:ext cx="190500" cy="1"/>
            </a:xfrm>
            <a:prstGeom prst="line">
              <a:avLst/>
            </a:prstGeom>
            <a:noFill/>
            <a:ln w="23812">
              <a:solidFill>
                <a:srgbClr val="1565D8"/>
              </a:solidFill>
              <a:tailEnd type="triangle" w="lg" len="lg"/>
            </a:ln>
          </p:spPr>
          <p:txBody>
            <a:bodyPr/>
            <a:p/>
          </p:txBody>
        </p:sp>
        <p:sp>
          <p:nvSpPr>
            <p:cNvPr id="12" name="Line 12"/>
            <p:cNvSpPr/>
            <p:nvPr/>
          </p:nvSpPr>
          <p:spPr>
            <a:xfrm>
              <a:off x="6667500" y="2209800"/>
              <a:ext cx="190500" cy="1"/>
            </a:xfrm>
            <a:prstGeom prst="line">
              <a:avLst/>
            </a:prstGeom>
            <a:noFill/>
            <a:ln w="23812">
              <a:solidFill>
                <a:srgbClr val="1565D8"/>
              </a:solidFill>
              <a:tailEnd type="triangle" w="lg" len="lg"/>
            </a:ln>
          </p:spPr>
          <p:txBody>
            <a:bodyPr/>
            <a:p/>
          </p:txBody>
        </p:sp>
        <p:sp>
          <p:nvSpPr>
            <p:cNvPr id="13" name="Line 13"/>
            <p:cNvSpPr/>
            <p:nvPr/>
          </p:nvSpPr>
          <p:spPr>
            <a:xfrm>
              <a:off x="8724900" y="2209800"/>
              <a:ext cx="190500" cy="1"/>
            </a:xfrm>
            <a:prstGeom prst="line">
              <a:avLst/>
            </a:prstGeom>
            <a:noFill/>
            <a:ln w="23812">
              <a:solidFill>
                <a:srgbClr val="1565D8"/>
              </a:solidFill>
              <a:tailEnd type="triangle" w="lg" len="lg"/>
            </a:ln>
          </p:spPr>
          <p:txBody>
            <a:bodyPr/>
            <a:p/>
          </p:txBody>
        </p:sp>
      </p:grpSp>
      <p:grpSp>
        <p:nvGrpSpPr>
          <p:cNvPr id="26" name="Group 26"/>
          <p:cNvGrpSpPr/>
          <p:nvPr/>
        </p:nvGrpSpPr>
        <p:grpSpPr>
          <a:xfrm>
            <a:off x="571500" y="1962150"/>
            <a:ext cx="1905000" cy="1847850"/>
            <a:chOff x="571500" y="1962150"/>
            <a:chExt cx="1905000" cy="1847850"/>
          </a:xfrm>
        </p:grpSpPr>
        <p:sp>
          <p:nvSpPr>
            <p:cNvPr id="15" name="Ellipse 15"/>
            <p:cNvSpPr/>
            <p:nvPr/>
          </p:nvSpPr>
          <p:spPr>
            <a:xfrm>
              <a:off x="1333500" y="1962150"/>
              <a:ext cx="495300" cy="495300"/>
            </a:xfrm>
            <a:prstGeom prst="ellipse">
              <a:avLst/>
            </a:prstGeom>
            <a:solidFill>
              <a:srgbClr val="35A3E8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6" name="TextBox 16"/>
            <p:cNvSpPr txBox="1"/>
            <p:nvPr/>
          </p:nvSpPr>
          <p:spPr>
            <a:xfrm>
              <a:off x="1512024" y="2140268"/>
              <a:ext cx="138253" cy="27432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350" b="1" dirty="0">
                  <a:solidFill>
                    <a:srgbClr val="FFFFFF"/>
                  </a:solidFill>
                  <a:latin typeface="Arial"/>
                  <a:ea typeface="Microsoft YaHei"/>
                  <a:cs typeface="Arial"/>
                </a:rPr>
                <a:t>1</a:t>
              </a:r>
            </a:p>
          </p:txBody>
        </p:sp>
        <p:sp>
          <p:nvSpPr>
            <p:cNvPr id="17" name="Rectangle 17"/>
            <p:cNvSpPr/>
            <p:nvPr/>
          </p:nvSpPr>
          <p:spPr>
            <a:xfrm>
              <a:off x="571500" y="2571750"/>
              <a:ext cx="1905000" cy="1238250"/>
            </a:xfrm>
            <a:prstGeom prst="roundRect">
              <a:avLst>
                <a:gd name="adj" fmla="val 12308"/>
              </a:avLst>
            </a:prstGeom>
            <a:solidFill>
              <a:srgbClr val="FFFFFF"/>
            </a:solidFill>
            <a:ln w="9525">
              <a:solidFill>
                <a:srgbClr val="D8E1EC"/>
              </a:solidFill>
            </a:ln>
          </p:spPr>
          <p:txBody>
            <a:bodyPr/>
            <a:p/>
          </p:txBody>
        </p:sp>
        <p:sp>
          <p:nvSpPr>
            <p:cNvPr id="18" name="Ellipse 18"/>
            <p:cNvSpPr/>
            <p:nvPr/>
          </p:nvSpPr>
          <p:spPr>
            <a:xfrm>
              <a:off x="1352550" y="2762250"/>
              <a:ext cx="342900" cy="342900"/>
            </a:xfrm>
            <a:prstGeom prst="ellipse">
              <a:avLst/>
            </a:prstGeom>
            <a:solidFill>
              <a:srgbClr val="D6E6F9"/>
            </a:solidFill>
            <a:ln>
              <a:noFill/>
            </a:ln>
          </p:spPr>
          <p:txBody>
            <a:bodyPr/>
            <a:p/>
          </p:txBody>
        </p:sp>
        <p:grpSp>
          <p:nvGrpSpPr>
            <p:cNvPr id="23" name="Group 23"/>
            <p:cNvGrpSpPr/>
            <p:nvPr/>
          </p:nvGrpSpPr>
          <p:grpSpPr>
            <a:xfrm>
              <a:off x="1468438" y="2862262"/>
              <a:ext cx="111125" cy="142875"/>
              <a:chOff x="1468438" y="2862262"/>
              <a:chExt cx="111125" cy="142875"/>
            </a:xfrm>
          </p:grpSpPr>
          <p:sp>
            <p:nvSpPr>
              <p:cNvPr id="19" name="Freeform 19"/>
              <p:cNvSpPr/>
              <p:nvPr/>
            </p:nvSpPr>
            <p:spPr>
              <a:xfrm>
                <a:off x="1539875" y="2862262"/>
                <a:ext cx="39688" cy="39688"/>
              </a:xfrm>
              <a:custGeom>
                <a:avLst/>
                <a:gdLst/>
                <a:ahLst/>
                <a:cxnLst/>
                <a:rect l="l" t="t" r="r" b="b"/>
                <a:pathLst>
                  <a:path w="39688" h="39688">
                    <a:moveTo>
                      <a:pt x="0" y="0"/>
                    </a:moveTo>
                    <a:lnTo>
                      <a:pt x="0" y="31750"/>
                    </a:lnTo>
                    <a:cubicBezTo>
                      <a:pt x="0" y="36134"/>
                      <a:pt x="3554" y="39688"/>
                      <a:pt x="7938" y="39688"/>
                    </a:cubicBezTo>
                    <a:lnTo>
                      <a:pt x="39688" y="39688"/>
                    </a:lnTo>
                  </a:path>
                </a:pathLst>
              </a:custGeom>
              <a:noFill/>
              <a:ln w="19050">
                <a:solidFill>
                  <a:srgbClr val="1565D8"/>
                </a:solidFill>
              </a:ln>
            </p:spPr>
            <p:txBody>
              <a:bodyPr/>
              <a:p/>
            </p:txBody>
          </p:sp>
          <p:sp>
            <p:nvSpPr>
              <p:cNvPr id="20" name="Freeform 20"/>
              <p:cNvSpPr/>
              <p:nvPr/>
            </p:nvSpPr>
            <p:spPr>
              <a:xfrm>
                <a:off x="1468438" y="2862262"/>
                <a:ext cx="111125" cy="142875"/>
              </a:xfrm>
              <a:custGeom>
                <a:avLst/>
                <a:gdLst/>
                <a:ahLst/>
                <a:cxnLst/>
                <a:rect l="l" t="t" r="r" b="b"/>
                <a:pathLst>
                  <a:path w="111125" h="142875">
                    <a:moveTo>
                      <a:pt x="95250" y="142875"/>
                    </a:moveTo>
                    <a:lnTo>
                      <a:pt x="15875" y="142875"/>
                    </a:lnTo>
                    <a:cubicBezTo>
                      <a:pt x="7107" y="142875"/>
                      <a:pt x="0" y="135768"/>
                      <a:pt x="0" y="127000"/>
                    </a:cubicBezTo>
                    <a:lnTo>
                      <a:pt x="0" y="15875"/>
                    </a:lnTo>
                    <a:cubicBezTo>
                      <a:pt x="0" y="7107"/>
                      <a:pt x="7107" y="0"/>
                      <a:pt x="15875" y="0"/>
                    </a:cubicBezTo>
                    <a:lnTo>
                      <a:pt x="71438" y="0"/>
                    </a:lnTo>
                    <a:lnTo>
                      <a:pt x="111125" y="39688"/>
                    </a:lnTo>
                    <a:lnTo>
                      <a:pt x="111125" y="127000"/>
                    </a:lnTo>
                    <a:cubicBezTo>
                      <a:pt x="111125" y="135768"/>
                      <a:pt x="104018" y="142875"/>
                      <a:pt x="95250" y="142875"/>
                    </a:cubicBezTo>
                  </a:path>
                </a:pathLst>
              </a:custGeom>
              <a:noFill/>
              <a:ln w="19050">
                <a:solidFill>
                  <a:srgbClr val="1565D8"/>
                </a:solidFill>
              </a:ln>
            </p:spPr>
            <p:txBody>
              <a:bodyPr/>
              <a:p/>
            </p:txBody>
          </p:sp>
          <p:sp>
            <p:nvSpPr>
              <p:cNvPr id="21" name="Freeform 21"/>
              <p:cNvSpPr/>
              <p:nvPr/>
            </p:nvSpPr>
            <p:spPr>
              <a:xfrm>
                <a:off x="1524000" y="2925762"/>
                <a:ext cx="9525" cy="47625"/>
              </a:xfrm>
              <a:custGeom>
                <a:avLst/>
                <a:gdLst/>
                <a:ahLst/>
                <a:cxnLst/>
                <a:rect l="l" t="t" r="r" b="b"/>
                <a:pathLst>
                  <a:path w="9525" h="47625">
                    <a:moveTo>
                      <a:pt x="0" y="0"/>
                    </a:moveTo>
                    <a:lnTo>
                      <a:pt x="0" y="47625"/>
                    </a:lnTo>
                  </a:path>
                </a:pathLst>
              </a:custGeom>
              <a:noFill/>
              <a:ln w="19050">
                <a:solidFill>
                  <a:srgbClr val="1565D8"/>
                </a:solidFill>
              </a:ln>
            </p:spPr>
            <p:txBody>
              <a:bodyPr/>
              <a:p/>
            </p:txBody>
          </p:sp>
          <p:sp>
            <p:nvSpPr>
              <p:cNvPr id="22" name="Freeform 22"/>
              <p:cNvSpPr/>
              <p:nvPr/>
            </p:nvSpPr>
            <p:spPr>
              <a:xfrm>
                <a:off x="1504156" y="2925762"/>
                <a:ext cx="39688" cy="19844"/>
              </a:xfrm>
              <a:custGeom>
                <a:avLst/>
                <a:gdLst/>
                <a:ahLst/>
                <a:cxnLst/>
                <a:rect l="l" t="t" r="r" b="b"/>
                <a:pathLst>
                  <a:path w="39688" h="19844">
                    <a:moveTo>
                      <a:pt x="0" y="19844"/>
                    </a:moveTo>
                    <a:lnTo>
                      <a:pt x="19844" y="0"/>
                    </a:lnTo>
                    <a:lnTo>
                      <a:pt x="39688" y="19844"/>
                    </a:lnTo>
                  </a:path>
                </a:pathLst>
              </a:custGeom>
              <a:noFill/>
              <a:ln w="19050">
                <a:solidFill>
                  <a:srgbClr val="1565D8"/>
                </a:solidFill>
              </a:ln>
            </p:spPr>
            <p:txBody>
              <a:bodyPr/>
              <a:p/>
            </p:txBody>
          </p:sp>
        </p:grpSp>
        <p:sp>
          <p:nvSpPr>
            <p:cNvPr id="24" name="TextBox 24"/>
            <p:cNvSpPr txBox="1"/>
            <p:nvPr/>
          </p:nvSpPr>
          <p:spPr>
            <a:xfrm>
              <a:off x="1128808" y="3207068"/>
              <a:ext cx="790384" cy="27432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350" b="1" dirty="0">
                  <a:solidFill>
                    <a:srgbClr val="2B3648"/>
                  </a:solidFill>
                  <a:latin typeface="Arial"/>
                  <a:ea typeface="Microsoft YaHei"/>
                  <a:cs typeface="Arial"/>
                </a:rPr>
                <a:t>1956</a:t>
              </a:r>
            </a:p>
          </p:txBody>
        </p:sp>
        <p:sp>
          <p:nvSpPr>
            <p:cNvPr id="25" name="TextBox 25"/>
            <p:cNvSpPr txBox="1"/>
            <p:nvPr/>
          </p:nvSpPr>
          <p:spPr>
            <a:xfrm>
              <a:off x="972050" y="3514249"/>
              <a:ext cx="1103900" cy="19812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975" dirty="0">
                  <a:solidFill>
                    <a:srgbClr val="8B99AE"/>
                  </a:solidFill>
                  <a:latin typeface="Arial"/>
                  <a:ea typeface="Microsoft YaHei"/>
                  <a:cs typeface="Arial"/>
                </a:rPr>
                <a:t>诞生并命名</a:t>
              </a:r>
            </a:p>
          </p:txBody>
        </p:sp>
      </p:grpSp>
      <p:grpSp>
        <p:nvGrpSpPr>
          <p:cNvPr id="39" name="Group 39"/>
          <p:cNvGrpSpPr/>
          <p:nvPr/>
        </p:nvGrpSpPr>
        <p:grpSpPr>
          <a:xfrm>
            <a:off x="2628900" y="1962150"/>
            <a:ext cx="1905000" cy="1847850"/>
            <a:chOff x="2628900" y="1962150"/>
            <a:chExt cx="1905000" cy="1847850"/>
          </a:xfrm>
        </p:grpSpPr>
        <p:sp>
          <p:nvSpPr>
            <p:cNvPr id="27" name="Ellipse 27"/>
            <p:cNvSpPr/>
            <p:nvPr/>
          </p:nvSpPr>
          <p:spPr>
            <a:xfrm>
              <a:off x="3390900" y="1962150"/>
              <a:ext cx="495300" cy="495300"/>
            </a:xfrm>
            <a:prstGeom prst="ellipse">
              <a:avLst/>
            </a:prstGeom>
            <a:solidFill>
              <a:srgbClr val="1565D8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8" name="TextBox 28"/>
            <p:cNvSpPr txBox="1"/>
            <p:nvPr/>
          </p:nvSpPr>
          <p:spPr>
            <a:xfrm>
              <a:off x="3569424" y="2140268"/>
              <a:ext cx="138253" cy="27432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350" b="1" dirty="0">
                  <a:solidFill>
                    <a:srgbClr val="FFFFFF"/>
                  </a:solidFill>
                  <a:latin typeface="Arial"/>
                  <a:ea typeface="Microsoft YaHei"/>
                  <a:cs typeface="Arial"/>
                </a:rPr>
                <a:t>2</a:t>
              </a:r>
            </a:p>
          </p:txBody>
        </p:sp>
        <p:sp>
          <p:nvSpPr>
            <p:cNvPr id="29" name="Rectangle 29"/>
            <p:cNvSpPr/>
            <p:nvPr/>
          </p:nvSpPr>
          <p:spPr>
            <a:xfrm>
              <a:off x="2628900" y="2571750"/>
              <a:ext cx="1905000" cy="1238250"/>
            </a:xfrm>
            <a:prstGeom prst="roundRect">
              <a:avLst>
                <a:gd name="adj" fmla="val 12308"/>
              </a:avLst>
            </a:prstGeom>
            <a:solidFill>
              <a:srgbClr val="FFFFFF"/>
            </a:solidFill>
            <a:ln w="9525">
              <a:solidFill>
                <a:srgbClr val="D8E1EC"/>
              </a:solidFill>
            </a:ln>
          </p:spPr>
          <p:txBody>
            <a:bodyPr/>
            <a:p/>
          </p:txBody>
        </p:sp>
        <p:sp>
          <p:nvSpPr>
            <p:cNvPr id="30" name="Ellipse 30"/>
            <p:cNvSpPr/>
            <p:nvPr/>
          </p:nvSpPr>
          <p:spPr>
            <a:xfrm>
              <a:off x="3409950" y="2762250"/>
              <a:ext cx="342900" cy="342900"/>
            </a:xfrm>
            <a:prstGeom prst="ellipse">
              <a:avLst/>
            </a:prstGeom>
            <a:solidFill>
              <a:srgbClr val="D6E6F9"/>
            </a:solidFill>
            <a:ln>
              <a:noFill/>
            </a:ln>
          </p:spPr>
          <p:txBody>
            <a:bodyPr/>
            <a:p/>
          </p:txBody>
        </p:sp>
        <p:grpSp>
          <p:nvGrpSpPr>
            <p:cNvPr id="36" name="Group 36"/>
            <p:cNvGrpSpPr/>
            <p:nvPr/>
          </p:nvGrpSpPr>
          <p:grpSpPr>
            <a:xfrm>
              <a:off x="3509962" y="2873314"/>
              <a:ext cx="152401" cy="115948"/>
              <a:chOff x="3509962" y="2873314"/>
              <a:chExt cx="152401" cy="115948"/>
            </a:xfrm>
          </p:grpSpPr>
          <p:sp>
            <p:nvSpPr>
              <p:cNvPr id="31" name="Freeform 31"/>
              <p:cNvSpPr/>
              <p:nvPr/>
            </p:nvSpPr>
            <p:spPr>
              <a:xfrm>
                <a:off x="3509962" y="2976501"/>
                <a:ext cx="142875" cy="12761"/>
              </a:xfrm>
              <a:custGeom>
                <a:avLst/>
                <a:gdLst/>
                <a:ahLst/>
                <a:cxnLst/>
                <a:rect l="l" t="t" r="r" b="b"/>
                <a:pathLst>
                  <a:path w="142875" h="12761">
                    <a:moveTo>
                      <a:pt x="0" y="12761"/>
                    </a:moveTo>
                    <a:cubicBezTo>
                      <a:pt x="22103" y="0"/>
                      <a:pt x="49335" y="0"/>
                      <a:pt x="71438" y="12761"/>
                    </a:cubicBezTo>
                    <a:cubicBezTo>
                      <a:pt x="93540" y="0"/>
                      <a:pt x="120772" y="0"/>
                      <a:pt x="142875" y="12761"/>
                    </a:cubicBezTo>
                  </a:path>
                </a:pathLst>
              </a:custGeom>
              <a:noFill/>
              <a:ln w="19050">
                <a:solidFill>
                  <a:srgbClr val="1565D8"/>
                </a:solidFill>
              </a:ln>
            </p:spPr>
            <p:txBody>
              <a:bodyPr/>
              <a:p/>
            </p:txBody>
          </p:sp>
          <p:sp>
            <p:nvSpPr>
              <p:cNvPr id="32" name="Freeform 32"/>
              <p:cNvSpPr/>
              <p:nvPr/>
            </p:nvSpPr>
            <p:spPr>
              <a:xfrm>
                <a:off x="3509962" y="2873314"/>
                <a:ext cx="142875" cy="12761"/>
              </a:xfrm>
              <a:custGeom>
                <a:avLst/>
                <a:gdLst/>
                <a:ahLst/>
                <a:cxnLst/>
                <a:rect l="l" t="t" r="r" b="b"/>
                <a:pathLst>
                  <a:path w="142875" h="12761">
                    <a:moveTo>
                      <a:pt x="0" y="12761"/>
                    </a:moveTo>
                    <a:cubicBezTo>
                      <a:pt x="22103" y="0"/>
                      <a:pt x="49335" y="0"/>
                      <a:pt x="71438" y="12761"/>
                    </a:cubicBezTo>
                    <a:cubicBezTo>
                      <a:pt x="93540" y="0"/>
                      <a:pt x="120772" y="0"/>
                      <a:pt x="142875" y="12761"/>
                    </a:cubicBezTo>
                  </a:path>
                </a:pathLst>
              </a:custGeom>
              <a:noFill/>
              <a:ln w="19050">
                <a:solidFill>
                  <a:srgbClr val="1565D8"/>
                </a:solidFill>
              </a:ln>
            </p:spPr>
            <p:txBody>
              <a:bodyPr/>
              <a:p/>
            </p:txBody>
          </p:sp>
          <p:sp>
            <p:nvSpPr>
              <p:cNvPr id="33" name="Freeform 33"/>
              <p:cNvSpPr/>
              <p:nvPr/>
            </p:nvSpPr>
            <p:spPr>
              <a:xfrm>
                <a:off x="3509962" y="2886075"/>
                <a:ext cx="9525" cy="103187"/>
              </a:xfrm>
              <a:custGeom>
                <a:avLst/>
                <a:gdLst/>
                <a:ahLst/>
                <a:cxnLst/>
                <a:rect l="l" t="t" r="r" b="b"/>
                <a:pathLst>
                  <a:path w="9525" h="103187">
                    <a:moveTo>
                      <a:pt x="0" y="0"/>
                    </a:moveTo>
                    <a:lnTo>
                      <a:pt x="0" y="103187"/>
                    </a:lnTo>
                  </a:path>
                </a:pathLst>
              </a:custGeom>
              <a:noFill/>
              <a:ln w="19050">
                <a:solidFill>
                  <a:srgbClr val="1565D8"/>
                </a:solidFill>
              </a:ln>
            </p:spPr>
            <p:txBody>
              <a:bodyPr/>
              <a:p/>
            </p:txBody>
          </p:sp>
          <p:sp>
            <p:nvSpPr>
              <p:cNvPr id="34" name="Freeform 34"/>
              <p:cNvSpPr/>
              <p:nvPr/>
            </p:nvSpPr>
            <p:spPr>
              <a:xfrm>
                <a:off x="3581400" y="2886075"/>
                <a:ext cx="9525" cy="103187"/>
              </a:xfrm>
              <a:custGeom>
                <a:avLst/>
                <a:gdLst/>
                <a:ahLst/>
                <a:cxnLst/>
                <a:rect l="l" t="t" r="r" b="b"/>
                <a:pathLst>
                  <a:path w="9525" h="103187">
                    <a:moveTo>
                      <a:pt x="0" y="0"/>
                    </a:moveTo>
                    <a:lnTo>
                      <a:pt x="0" y="103187"/>
                    </a:lnTo>
                  </a:path>
                </a:pathLst>
              </a:custGeom>
              <a:noFill/>
              <a:ln w="19050">
                <a:solidFill>
                  <a:srgbClr val="1565D8"/>
                </a:solidFill>
              </a:ln>
            </p:spPr>
            <p:txBody>
              <a:bodyPr/>
              <a:p/>
            </p:txBody>
          </p:sp>
          <p:sp>
            <p:nvSpPr>
              <p:cNvPr id="35" name="Freeform 35"/>
              <p:cNvSpPr/>
              <p:nvPr/>
            </p:nvSpPr>
            <p:spPr>
              <a:xfrm>
                <a:off x="3652838" y="2886075"/>
                <a:ext cx="9525" cy="103187"/>
              </a:xfrm>
              <a:custGeom>
                <a:avLst/>
                <a:gdLst/>
                <a:ahLst/>
                <a:cxnLst/>
                <a:rect l="l" t="t" r="r" b="b"/>
                <a:pathLst>
                  <a:path w="9525" h="103187">
                    <a:moveTo>
                      <a:pt x="0" y="0"/>
                    </a:moveTo>
                    <a:lnTo>
                      <a:pt x="0" y="103187"/>
                    </a:lnTo>
                  </a:path>
                </a:pathLst>
              </a:custGeom>
              <a:noFill/>
              <a:ln w="19050">
                <a:solidFill>
                  <a:srgbClr val="1565D8"/>
                </a:solidFill>
              </a:ln>
            </p:spPr>
            <p:txBody>
              <a:bodyPr/>
              <a:p/>
            </p:txBody>
          </p:sp>
        </p:grpSp>
        <p:sp>
          <p:nvSpPr>
            <p:cNvPr id="37" name="TextBox 37"/>
            <p:cNvSpPr txBox="1"/>
            <p:nvPr/>
          </p:nvSpPr>
          <p:spPr>
            <a:xfrm>
              <a:off x="2997184" y="3207068"/>
              <a:ext cx="1168432" cy="27432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350" b="1" dirty="0">
                  <a:solidFill>
                    <a:srgbClr val="2B3648"/>
                  </a:solidFill>
                  <a:latin typeface="Arial"/>
                  <a:ea typeface="Microsoft YaHei"/>
                  <a:cs typeface="Arial"/>
                </a:rPr>
                <a:t>两个寒冬</a:t>
              </a:r>
            </a:p>
          </p:txBody>
        </p:sp>
        <p:sp>
          <p:nvSpPr>
            <p:cNvPr id="38" name="TextBox 38"/>
            <p:cNvSpPr txBox="1"/>
            <p:nvPr/>
          </p:nvSpPr>
          <p:spPr>
            <a:xfrm>
              <a:off x="3243977" y="3514249"/>
              <a:ext cx="674846" cy="19812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975" dirty="0">
                  <a:solidFill>
                    <a:srgbClr val="8B99AE"/>
                  </a:solidFill>
                  <a:latin typeface="Arial"/>
                  <a:ea typeface="Microsoft YaHei"/>
                  <a:cs typeface="Arial"/>
                </a:rPr>
                <a:t>两度受挫</a:t>
              </a:r>
            </a:p>
          </p:txBody>
        </p:sp>
      </p:grpSp>
      <p:grpSp>
        <p:nvGrpSpPr>
          <p:cNvPr id="51" name="Group 51"/>
          <p:cNvGrpSpPr/>
          <p:nvPr/>
        </p:nvGrpSpPr>
        <p:grpSpPr>
          <a:xfrm>
            <a:off x="4686300" y="1962150"/>
            <a:ext cx="1905000" cy="1847850"/>
            <a:chOff x="4686300" y="1962150"/>
            <a:chExt cx="1905000" cy="1847850"/>
          </a:xfrm>
        </p:grpSpPr>
        <p:sp>
          <p:nvSpPr>
            <p:cNvPr id="40" name="Ellipse 40"/>
            <p:cNvSpPr/>
            <p:nvPr/>
          </p:nvSpPr>
          <p:spPr>
            <a:xfrm>
              <a:off x="5448300" y="1962150"/>
              <a:ext cx="495300" cy="495300"/>
            </a:xfrm>
            <a:prstGeom prst="ellipse">
              <a:avLst/>
            </a:prstGeom>
            <a:solidFill>
              <a:srgbClr val="1565D8"/>
            </a:solidFill>
            <a:ln>
              <a:noFill/>
            </a:ln>
          </p:spPr>
          <p:txBody>
            <a:bodyPr/>
            <a:p/>
          </p:txBody>
        </p:sp>
        <p:sp>
          <p:nvSpPr>
            <p:cNvPr id="41" name="TextBox 41"/>
            <p:cNvSpPr txBox="1"/>
            <p:nvPr/>
          </p:nvSpPr>
          <p:spPr>
            <a:xfrm>
              <a:off x="5626824" y="2140268"/>
              <a:ext cx="138253" cy="27432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350" b="1" dirty="0">
                  <a:solidFill>
                    <a:srgbClr val="FFFFFF"/>
                  </a:solidFill>
                  <a:latin typeface="Arial"/>
                  <a:ea typeface="Microsoft YaHei"/>
                  <a:cs typeface="Arial"/>
                </a:rPr>
                <a:t>3</a:t>
              </a:r>
            </a:p>
          </p:txBody>
        </p:sp>
        <p:sp>
          <p:nvSpPr>
            <p:cNvPr id="42" name="Rectangle 42"/>
            <p:cNvSpPr/>
            <p:nvPr/>
          </p:nvSpPr>
          <p:spPr>
            <a:xfrm>
              <a:off x="4686300" y="2571750"/>
              <a:ext cx="1905000" cy="1238250"/>
            </a:xfrm>
            <a:prstGeom prst="roundRect">
              <a:avLst>
                <a:gd name="adj" fmla="val 12308"/>
              </a:avLst>
            </a:prstGeom>
            <a:solidFill>
              <a:srgbClr val="FFFFFF"/>
            </a:solidFill>
            <a:ln w="9525">
              <a:solidFill>
                <a:srgbClr val="D8E1EC"/>
              </a:solidFill>
            </a:ln>
          </p:spPr>
          <p:txBody>
            <a:bodyPr/>
            <a:p/>
          </p:txBody>
        </p:sp>
        <p:sp>
          <p:nvSpPr>
            <p:cNvPr id="43" name="Ellipse 43"/>
            <p:cNvSpPr/>
            <p:nvPr/>
          </p:nvSpPr>
          <p:spPr>
            <a:xfrm>
              <a:off x="5467350" y="2762250"/>
              <a:ext cx="342900" cy="342900"/>
            </a:xfrm>
            <a:prstGeom prst="ellipse">
              <a:avLst/>
            </a:prstGeom>
            <a:solidFill>
              <a:srgbClr val="D6E6F9"/>
            </a:solidFill>
            <a:ln>
              <a:noFill/>
            </a:ln>
          </p:spPr>
          <p:txBody>
            <a:bodyPr/>
            <a:p/>
          </p:txBody>
        </p:sp>
        <p:grpSp>
          <p:nvGrpSpPr>
            <p:cNvPr id="48" name="Group 48"/>
            <p:cNvGrpSpPr/>
            <p:nvPr/>
          </p:nvGrpSpPr>
          <p:grpSpPr>
            <a:xfrm>
              <a:off x="5583238" y="2862262"/>
              <a:ext cx="127000" cy="150813"/>
              <a:chOff x="5583238" y="2862262"/>
              <a:chExt cx="127000" cy="150813"/>
            </a:xfrm>
          </p:grpSpPr>
          <p:sp>
            <p:nvSpPr>
              <p:cNvPr id="44" name="Freeform 44"/>
              <p:cNvSpPr/>
              <p:nvPr/>
            </p:nvSpPr>
            <p:spPr>
              <a:xfrm>
                <a:off x="5654675" y="2862262"/>
                <a:ext cx="39688" cy="39688"/>
              </a:xfrm>
              <a:custGeom>
                <a:avLst/>
                <a:gdLst/>
                <a:ahLst/>
                <a:cxnLst/>
                <a:rect l="l" t="t" r="r" b="b"/>
                <a:pathLst>
                  <a:path w="39688" h="39688">
                    <a:moveTo>
                      <a:pt x="0" y="0"/>
                    </a:moveTo>
                    <a:lnTo>
                      <a:pt x="0" y="31750"/>
                    </a:lnTo>
                    <a:cubicBezTo>
                      <a:pt x="0" y="36134"/>
                      <a:pt x="3554" y="39688"/>
                      <a:pt x="7938" y="39688"/>
                    </a:cubicBezTo>
                    <a:lnTo>
                      <a:pt x="39688" y="39688"/>
                    </a:lnTo>
                  </a:path>
                </a:pathLst>
              </a:custGeom>
              <a:noFill/>
              <a:ln w="19050">
                <a:solidFill>
                  <a:srgbClr val="1565D8"/>
                </a:solidFill>
              </a:ln>
            </p:spPr>
            <p:txBody>
              <a:bodyPr/>
              <a:p/>
            </p:txBody>
          </p:sp>
          <p:sp>
            <p:nvSpPr>
              <p:cNvPr id="45" name="Freeform 45"/>
              <p:cNvSpPr/>
              <p:nvPr/>
            </p:nvSpPr>
            <p:spPr>
              <a:xfrm>
                <a:off x="5583238" y="2862262"/>
                <a:ext cx="111125" cy="142875"/>
              </a:xfrm>
              <a:custGeom>
                <a:avLst/>
                <a:gdLst/>
                <a:ahLst/>
                <a:cxnLst/>
                <a:rect l="l" t="t" r="r" b="b"/>
                <a:pathLst>
                  <a:path w="111125" h="142875">
                    <a:moveTo>
                      <a:pt x="55563" y="142875"/>
                    </a:moveTo>
                    <a:lnTo>
                      <a:pt x="15875" y="142875"/>
                    </a:lnTo>
                    <a:cubicBezTo>
                      <a:pt x="7107" y="142875"/>
                      <a:pt x="0" y="135768"/>
                      <a:pt x="0" y="127000"/>
                    </a:cubicBezTo>
                    <a:lnTo>
                      <a:pt x="0" y="15875"/>
                    </a:lnTo>
                    <a:cubicBezTo>
                      <a:pt x="0" y="7107"/>
                      <a:pt x="7107" y="0"/>
                      <a:pt x="15875" y="0"/>
                    </a:cubicBezTo>
                    <a:lnTo>
                      <a:pt x="71438" y="0"/>
                    </a:lnTo>
                    <a:lnTo>
                      <a:pt x="111125" y="39688"/>
                    </a:lnTo>
                    <a:lnTo>
                      <a:pt x="111125" y="75406"/>
                    </a:lnTo>
                  </a:path>
                </a:pathLst>
              </a:custGeom>
              <a:noFill/>
              <a:ln w="19050">
                <a:solidFill>
                  <a:srgbClr val="1565D8"/>
                </a:solidFill>
              </a:ln>
            </p:spPr>
            <p:txBody>
              <a:bodyPr/>
              <a:p/>
            </p:txBody>
          </p:sp>
          <p:sp>
            <p:nvSpPr>
              <p:cNvPr id="46" name="Freeform 46"/>
              <p:cNvSpPr/>
              <p:nvPr/>
            </p:nvSpPr>
            <p:spPr>
              <a:xfrm>
                <a:off x="5654675" y="2957512"/>
                <a:ext cx="39688" cy="39688"/>
              </a:xfrm>
              <a:custGeom>
                <a:avLst/>
                <a:gdLst/>
                <a:ahLst/>
                <a:cxnLst/>
                <a:rect l="l" t="t" r="r" b="b"/>
                <a:pathLst>
                  <a:path w="39688" h="39688">
                    <a:moveTo>
                      <a:pt x="0" y="19844"/>
                    </a:moveTo>
                    <a:cubicBezTo>
                      <a:pt x="0" y="30803"/>
                      <a:pt x="8884" y="39688"/>
                      <a:pt x="19844" y="39688"/>
                    </a:cubicBezTo>
                    <a:cubicBezTo>
                      <a:pt x="30803" y="39688"/>
                      <a:pt x="39688" y="30803"/>
                      <a:pt x="39688" y="19844"/>
                    </a:cubicBezTo>
                    <a:cubicBezTo>
                      <a:pt x="39688" y="8884"/>
                      <a:pt x="30803" y="0"/>
                      <a:pt x="19844" y="0"/>
                    </a:cubicBezTo>
                    <a:cubicBezTo>
                      <a:pt x="8884" y="0"/>
                      <a:pt x="0" y="8884"/>
                      <a:pt x="0" y="19844"/>
                    </a:cubicBezTo>
                  </a:path>
                </a:pathLst>
              </a:custGeom>
              <a:noFill/>
              <a:ln w="19050">
                <a:solidFill>
                  <a:srgbClr val="1565D8"/>
                </a:solidFill>
              </a:ln>
            </p:spPr>
            <p:txBody>
              <a:bodyPr/>
              <a:p/>
            </p:txBody>
          </p:sp>
          <p:sp>
            <p:nvSpPr>
              <p:cNvPr id="47" name="Freeform 47"/>
              <p:cNvSpPr/>
              <p:nvPr/>
            </p:nvSpPr>
            <p:spPr>
              <a:xfrm>
                <a:off x="5690394" y="2993231"/>
                <a:ext cx="19844" cy="19844"/>
              </a:xfrm>
              <a:custGeom>
                <a:avLst/>
                <a:gdLst/>
                <a:ahLst/>
                <a:cxnLst/>
                <a:rect l="l" t="t" r="r" b="b"/>
                <a:pathLst>
                  <a:path w="19844" h="19844">
                    <a:moveTo>
                      <a:pt x="0" y="0"/>
                    </a:moveTo>
                    <a:lnTo>
                      <a:pt x="19844" y="19844"/>
                    </a:lnTo>
                  </a:path>
                </a:pathLst>
              </a:custGeom>
              <a:noFill/>
              <a:ln w="19050">
                <a:solidFill>
                  <a:srgbClr val="1565D8"/>
                </a:solidFill>
              </a:ln>
            </p:spPr>
            <p:txBody>
              <a:bodyPr/>
              <a:p/>
            </p:txBody>
          </p:sp>
        </p:grpSp>
        <p:sp>
          <p:nvSpPr>
            <p:cNvPr id="49" name="TextBox 49"/>
            <p:cNvSpPr txBox="1"/>
            <p:nvPr/>
          </p:nvSpPr>
          <p:spPr>
            <a:xfrm>
              <a:off x="5338120" y="3207068"/>
              <a:ext cx="601361" cy="27432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350" b="1" dirty="0">
                  <a:solidFill>
                    <a:srgbClr val="2B3648"/>
                  </a:solidFill>
                  <a:latin typeface="Arial"/>
                  <a:ea typeface="Microsoft YaHei"/>
                  <a:cs typeface="Arial"/>
                </a:rPr>
                <a:t>2012</a:t>
              </a:r>
            </a:p>
          </p:txBody>
        </p:sp>
        <p:sp>
          <p:nvSpPr>
            <p:cNvPr id="50" name="TextBox 50"/>
            <p:cNvSpPr txBox="1"/>
            <p:nvPr/>
          </p:nvSpPr>
          <p:spPr>
            <a:xfrm>
              <a:off x="5171361" y="3514249"/>
              <a:ext cx="934879" cy="19812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975" dirty="0">
                  <a:solidFill>
                    <a:srgbClr val="8B99AE"/>
                  </a:solidFill>
                  <a:latin typeface="Arial"/>
                  <a:ea typeface="Microsoft YaHei"/>
                  <a:cs typeface="Arial"/>
                </a:rPr>
                <a:t>深度学习突破</a:t>
              </a:r>
            </a:p>
          </p:txBody>
        </p:sp>
      </p:grpSp>
      <p:grpSp>
        <p:nvGrpSpPr>
          <p:cNvPr id="62" name="Group 62"/>
          <p:cNvGrpSpPr/>
          <p:nvPr/>
        </p:nvGrpSpPr>
        <p:grpSpPr>
          <a:xfrm>
            <a:off x="6743700" y="1962150"/>
            <a:ext cx="1905000" cy="1847850"/>
            <a:chOff x="6743700" y="1962150"/>
            <a:chExt cx="1905000" cy="1847850"/>
          </a:xfrm>
        </p:grpSpPr>
        <p:sp>
          <p:nvSpPr>
            <p:cNvPr id="52" name="Ellipse 52"/>
            <p:cNvSpPr/>
            <p:nvPr/>
          </p:nvSpPr>
          <p:spPr>
            <a:xfrm>
              <a:off x="7505700" y="1962150"/>
              <a:ext cx="495300" cy="495300"/>
            </a:xfrm>
            <a:prstGeom prst="ellipse">
              <a:avLst/>
            </a:prstGeom>
            <a:solidFill>
              <a:srgbClr val="1565D8"/>
            </a:solidFill>
            <a:ln>
              <a:noFill/>
            </a:ln>
          </p:spPr>
          <p:txBody>
            <a:bodyPr/>
            <a:p/>
          </p:txBody>
        </p:sp>
        <p:sp>
          <p:nvSpPr>
            <p:cNvPr id="53" name="TextBox 53"/>
            <p:cNvSpPr txBox="1"/>
            <p:nvPr/>
          </p:nvSpPr>
          <p:spPr>
            <a:xfrm>
              <a:off x="7684224" y="2140268"/>
              <a:ext cx="138253" cy="27432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350" b="1" dirty="0">
                  <a:solidFill>
                    <a:srgbClr val="FFFFFF"/>
                  </a:solidFill>
                  <a:latin typeface="Arial"/>
                  <a:ea typeface="Microsoft YaHei"/>
                  <a:cs typeface="Arial"/>
                </a:rPr>
                <a:t>4</a:t>
              </a:r>
            </a:p>
          </p:txBody>
        </p:sp>
        <p:sp>
          <p:nvSpPr>
            <p:cNvPr id="54" name="Rectangle 54"/>
            <p:cNvSpPr/>
            <p:nvPr/>
          </p:nvSpPr>
          <p:spPr>
            <a:xfrm>
              <a:off x="6743700" y="2571750"/>
              <a:ext cx="1905000" cy="1238250"/>
            </a:xfrm>
            <a:prstGeom prst="roundRect">
              <a:avLst>
                <a:gd name="adj" fmla="val 12308"/>
              </a:avLst>
            </a:prstGeom>
            <a:solidFill>
              <a:srgbClr val="FFFFFF"/>
            </a:solidFill>
            <a:ln w="9525">
              <a:solidFill>
                <a:srgbClr val="D8E1EC"/>
              </a:solidFill>
            </a:ln>
          </p:spPr>
          <p:txBody>
            <a:bodyPr/>
            <a:p/>
          </p:txBody>
        </p:sp>
        <p:sp>
          <p:nvSpPr>
            <p:cNvPr id="55" name="Ellipse 55"/>
            <p:cNvSpPr/>
            <p:nvPr/>
          </p:nvSpPr>
          <p:spPr>
            <a:xfrm>
              <a:off x="7524750" y="2762250"/>
              <a:ext cx="342900" cy="342900"/>
            </a:xfrm>
            <a:prstGeom prst="ellipse">
              <a:avLst/>
            </a:prstGeom>
            <a:solidFill>
              <a:srgbClr val="D6E6F9"/>
            </a:solidFill>
            <a:ln>
              <a:noFill/>
            </a:ln>
          </p:spPr>
          <p:txBody>
            <a:bodyPr/>
            <a:p/>
          </p:txBody>
        </p:sp>
        <p:grpSp>
          <p:nvGrpSpPr>
            <p:cNvPr id="59" name="Group 59"/>
            <p:cNvGrpSpPr/>
            <p:nvPr/>
          </p:nvGrpSpPr>
          <p:grpSpPr>
            <a:xfrm>
              <a:off x="7624762" y="2870200"/>
              <a:ext cx="142875" cy="134938"/>
              <a:chOff x="7624762" y="2870200"/>
              <a:chExt cx="142875" cy="134938"/>
            </a:xfrm>
          </p:grpSpPr>
          <p:sp>
            <p:nvSpPr>
              <p:cNvPr id="56" name="Freeform 56"/>
              <p:cNvSpPr/>
              <p:nvPr/>
            </p:nvSpPr>
            <p:spPr>
              <a:xfrm>
                <a:off x="7664450" y="2909888"/>
                <a:ext cx="63500" cy="9525"/>
              </a:xfrm>
              <a:custGeom>
                <a:avLst/>
                <a:gdLst/>
                <a:ahLst/>
                <a:cxnLst/>
                <a:rect l="l" t="t" r="r" b="b"/>
                <a:pathLst>
                  <a:path w="63500" h="9525">
                    <a:moveTo>
                      <a:pt x="0" y="0"/>
                    </a:moveTo>
                    <a:lnTo>
                      <a:pt x="63500" y="0"/>
                    </a:lnTo>
                  </a:path>
                </a:pathLst>
              </a:custGeom>
              <a:noFill/>
              <a:ln w="19050">
                <a:solidFill>
                  <a:srgbClr val="1565D8"/>
                </a:solidFill>
              </a:ln>
            </p:spPr>
            <p:txBody>
              <a:bodyPr/>
              <a:p/>
            </p:txBody>
          </p:sp>
          <p:sp>
            <p:nvSpPr>
              <p:cNvPr id="57" name="Freeform 57"/>
              <p:cNvSpPr/>
              <p:nvPr/>
            </p:nvSpPr>
            <p:spPr>
              <a:xfrm>
                <a:off x="7664450" y="2941638"/>
                <a:ext cx="47625" cy="9525"/>
              </a:xfrm>
              <a:custGeom>
                <a:avLst/>
                <a:gdLst/>
                <a:ahLst/>
                <a:cxnLst/>
                <a:rect l="l" t="t" r="r" b="b"/>
                <a:pathLst>
                  <a:path w="47625" h="9525">
                    <a:moveTo>
                      <a:pt x="0" y="0"/>
                    </a:moveTo>
                    <a:lnTo>
                      <a:pt x="47625" y="0"/>
                    </a:lnTo>
                  </a:path>
                </a:pathLst>
              </a:custGeom>
              <a:noFill/>
              <a:ln w="19050">
                <a:solidFill>
                  <a:srgbClr val="1565D8"/>
                </a:solidFill>
              </a:ln>
            </p:spPr>
            <p:txBody>
              <a:bodyPr/>
              <a:p/>
            </p:txBody>
          </p:sp>
          <p:sp>
            <p:nvSpPr>
              <p:cNvPr id="58" name="Freeform 58"/>
              <p:cNvSpPr/>
              <p:nvPr/>
            </p:nvSpPr>
            <p:spPr>
              <a:xfrm>
                <a:off x="7624762" y="2870200"/>
                <a:ext cx="142875" cy="134938"/>
              </a:xfrm>
              <a:custGeom>
                <a:avLst/>
                <a:gdLst/>
                <a:ahLst/>
                <a:cxnLst/>
                <a:rect l="l" t="t" r="r" b="b"/>
                <a:pathLst>
                  <a:path w="142875" h="134938">
                    <a:moveTo>
                      <a:pt x="47625" y="111125"/>
                    </a:moveTo>
                    <a:lnTo>
                      <a:pt x="23812" y="111125"/>
                    </a:lnTo>
                    <a:cubicBezTo>
                      <a:pt x="10661" y="111125"/>
                      <a:pt x="0" y="100464"/>
                      <a:pt x="0" y="87313"/>
                    </a:cubicBezTo>
                    <a:lnTo>
                      <a:pt x="0" y="23812"/>
                    </a:lnTo>
                    <a:cubicBezTo>
                      <a:pt x="0" y="10661"/>
                      <a:pt x="10661" y="0"/>
                      <a:pt x="23812" y="0"/>
                    </a:cubicBezTo>
                    <a:lnTo>
                      <a:pt x="119062" y="0"/>
                    </a:lnTo>
                    <a:cubicBezTo>
                      <a:pt x="132214" y="0"/>
                      <a:pt x="142875" y="10661"/>
                      <a:pt x="142875" y="23812"/>
                    </a:cubicBezTo>
                    <a:lnTo>
                      <a:pt x="142875" y="87313"/>
                    </a:lnTo>
                    <a:cubicBezTo>
                      <a:pt x="142875" y="100464"/>
                      <a:pt x="132214" y="111125"/>
                      <a:pt x="119062" y="111125"/>
                    </a:cubicBezTo>
                    <a:lnTo>
                      <a:pt x="95250" y="111125"/>
                    </a:lnTo>
                    <a:lnTo>
                      <a:pt x="71438" y="134938"/>
                    </a:lnTo>
                    <a:lnTo>
                      <a:pt x="47625" y="111125"/>
                    </a:lnTo>
                  </a:path>
                </a:pathLst>
              </a:custGeom>
              <a:noFill/>
              <a:ln w="19050">
                <a:solidFill>
                  <a:srgbClr val="1565D8"/>
                </a:solidFill>
              </a:ln>
            </p:spPr>
            <p:txBody>
              <a:bodyPr/>
              <a:p/>
            </p:txBody>
          </p:sp>
        </p:grpSp>
        <p:sp>
          <p:nvSpPr>
            <p:cNvPr id="60" name="TextBox 60"/>
            <p:cNvSpPr txBox="1"/>
            <p:nvPr/>
          </p:nvSpPr>
          <p:spPr>
            <a:xfrm>
              <a:off x="7395520" y="3207068"/>
              <a:ext cx="601361" cy="27432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350" b="1" dirty="0">
                  <a:solidFill>
                    <a:srgbClr val="2B3648"/>
                  </a:solidFill>
                  <a:latin typeface="Arial"/>
                  <a:ea typeface="Microsoft YaHei"/>
                  <a:cs typeface="Arial"/>
                </a:rPr>
                <a:t>2017</a:t>
              </a:r>
            </a:p>
          </p:txBody>
        </p:sp>
        <p:sp>
          <p:nvSpPr>
            <p:cNvPr id="61" name="TextBox 61"/>
            <p:cNvSpPr txBox="1"/>
            <p:nvPr/>
          </p:nvSpPr>
          <p:spPr>
            <a:xfrm>
              <a:off x="7293769" y="3514249"/>
              <a:ext cx="804862" cy="19812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975" dirty="0">
                  <a:solidFill>
                    <a:srgbClr val="8B99AE"/>
                  </a:solidFill>
                  <a:latin typeface="Arial"/>
                  <a:ea typeface="Microsoft YaHei"/>
                  <a:cs typeface="Arial"/>
                </a:rPr>
                <a:t>大模型登场</a:t>
              </a:r>
            </a:p>
          </p:txBody>
        </p:sp>
      </p:grpSp>
      <p:grpSp>
        <p:nvGrpSpPr>
          <p:cNvPr id="72" name="Group 72"/>
          <p:cNvGrpSpPr/>
          <p:nvPr/>
        </p:nvGrpSpPr>
        <p:grpSpPr>
          <a:xfrm>
            <a:off x="8801100" y="1962150"/>
            <a:ext cx="1905000" cy="1847850"/>
            <a:chOff x="8801100" y="1962150"/>
            <a:chExt cx="1905000" cy="1847850"/>
          </a:xfrm>
        </p:grpSpPr>
        <p:sp>
          <p:nvSpPr>
            <p:cNvPr id="63" name="Ellipse 63"/>
            <p:cNvSpPr/>
            <p:nvPr/>
          </p:nvSpPr>
          <p:spPr>
            <a:xfrm>
              <a:off x="9563100" y="1962150"/>
              <a:ext cx="495300" cy="495300"/>
            </a:xfrm>
            <a:prstGeom prst="ellipse">
              <a:avLst/>
            </a:prstGeom>
            <a:solidFill>
              <a:srgbClr val="0B4EA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64" name="TextBox 64"/>
            <p:cNvSpPr txBox="1"/>
            <p:nvPr/>
          </p:nvSpPr>
          <p:spPr>
            <a:xfrm>
              <a:off x="9741624" y="2140268"/>
              <a:ext cx="138253" cy="27432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350" b="1" dirty="0">
                  <a:solidFill>
                    <a:srgbClr val="FFFFFF"/>
                  </a:solidFill>
                  <a:latin typeface="Arial"/>
                  <a:ea typeface="Microsoft YaHei"/>
                  <a:cs typeface="Arial"/>
                </a:rPr>
                <a:t>5</a:t>
              </a:r>
            </a:p>
          </p:txBody>
        </p:sp>
        <p:sp>
          <p:nvSpPr>
            <p:cNvPr id="65" name="Rectangle 65"/>
            <p:cNvSpPr/>
            <p:nvPr/>
          </p:nvSpPr>
          <p:spPr>
            <a:xfrm>
              <a:off x="8801100" y="2571750"/>
              <a:ext cx="1905000" cy="1238250"/>
            </a:xfrm>
            <a:prstGeom prst="roundRect">
              <a:avLst>
                <a:gd name="adj" fmla="val 12308"/>
              </a:avLst>
            </a:prstGeom>
            <a:solidFill>
              <a:srgbClr val="FFFFFF"/>
            </a:solidFill>
            <a:ln w="9525">
              <a:solidFill>
                <a:srgbClr val="D8E1EC"/>
              </a:solidFill>
            </a:ln>
          </p:spPr>
          <p:txBody>
            <a:bodyPr/>
            <a:p/>
          </p:txBody>
        </p:sp>
        <p:sp>
          <p:nvSpPr>
            <p:cNvPr id="66" name="Ellipse 66"/>
            <p:cNvSpPr/>
            <p:nvPr/>
          </p:nvSpPr>
          <p:spPr>
            <a:xfrm>
              <a:off x="9582150" y="2762250"/>
              <a:ext cx="342900" cy="342900"/>
            </a:xfrm>
            <a:prstGeom prst="ellipse">
              <a:avLst/>
            </a:prstGeom>
            <a:solidFill>
              <a:srgbClr val="D6E6F9"/>
            </a:solidFill>
            <a:ln>
              <a:noFill/>
            </a:ln>
          </p:spPr>
          <p:txBody>
            <a:bodyPr/>
            <a:p/>
          </p:txBody>
        </p:sp>
        <p:grpSp>
          <p:nvGrpSpPr>
            <p:cNvPr id="69" name="Group 69"/>
            <p:cNvGrpSpPr/>
            <p:nvPr/>
          </p:nvGrpSpPr>
          <p:grpSpPr>
            <a:xfrm>
              <a:off x="9682162" y="2862262"/>
              <a:ext cx="142875" cy="142875"/>
              <a:chOff x="9682162" y="2862262"/>
              <a:chExt cx="142875" cy="142875"/>
            </a:xfrm>
          </p:grpSpPr>
          <p:sp>
            <p:nvSpPr>
              <p:cNvPr id="67" name="Freeform 67"/>
              <p:cNvSpPr/>
              <p:nvPr/>
            </p:nvSpPr>
            <p:spPr>
              <a:xfrm>
                <a:off x="9682162" y="2862262"/>
                <a:ext cx="142875" cy="142875"/>
              </a:xfrm>
              <a:custGeom>
                <a:avLst/>
                <a:gdLst/>
                <a:ahLst/>
                <a:cxnLst/>
                <a:rect l="l" t="t" r="r" b="b"/>
                <a:pathLst>
                  <a:path w="142875" h="142875">
                    <a:moveTo>
                      <a:pt x="0" y="71438"/>
                    </a:moveTo>
                    <a:cubicBezTo>
                      <a:pt x="0" y="110891"/>
                      <a:pt x="31984" y="142875"/>
                      <a:pt x="71438" y="142875"/>
                    </a:cubicBezTo>
                    <a:cubicBezTo>
                      <a:pt x="110891" y="142875"/>
                      <a:pt x="142875" y="110891"/>
                      <a:pt x="142875" y="71438"/>
                    </a:cubicBezTo>
                    <a:cubicBezTo>
                      <a:pt x="142875" y="31984"/>
                      <a:pt x="110891" y="0"/>
                      <a:pt x="71438" y="0"/>
                    </a:cubicBezTo>
                    <a:cubicBezTo>
                      <a:pt x="31984" y="0"/>
                      <a:pt x="0" y="31984"/>
                      <a:pt x="0" y="71438"/>
                    </a:cubicBezTo>
                  </a:path>
                </a:pathLst>
              </a:custGeom>
              <a:noFill/>
              <a:ln w="19050">
                <a:solidFill>
                  <a:srgbClr val="1565D8"/>
                </a:solidFill>
              </a:ln>
            </p:spPr>
            <p:txBody>
              <a:bodyPr/>
              <a:p/>
            </p:txBody>
          </p:sp>
          <p:sp>
            <p:nvSpPr>
              <p:cNvPr id="68" name="Freeform 68"/>
              <p:cNvSpPr/>
              <p:nvPr/>
            </p:nvSpPr>
            <p:spPr>
              <a:xfrm>
                <a:off x="9729788" y="2917825"/>
                <a:ext cx="47625" cy="31750"/>
              </a:xfrm>
              <a:custGeom>
                <a:avLst/>
                <a:gdLst/>
                <a:ahLst/>
                <a:cxnLst/>
                <a:rect l="l" t="t" r="r" b="b"/>
                <a:pathLst>
                  <a:path w="47625" h="31750">
                    <a:moveTo>
                      <a:pt x="0" y="15875"/>
                    </a:moveTo>
                    <a:lnTo>
                      <a:pt x="15875" y="31750"/>
                    </a:lnTo>
                    <a:lnTo>
                      <a:pt x="47625" y="0"/>
                    </a:lnTo>
                  </a:path>
                </a:pathLst>
              </a:custGeom>
              <a:noFill/>
              <a:ln w="19050">
                <a:solidFill>
                  <a:srgbClr val="1565D8"/>
                </a:solidFill>
              </a:ln>
            </p:spPr>
            <p:txBody>
              <a:bodyPr/>
              <a:p/>
            </p:txBody>
          </p:sp>
        </p:grpSp>
        <p:sp>
          <p:nvSpPr>
            <p:cNvPr id="70" name="TextBox 70"/>
            <p:cNvSpPr txBox="1"/>
            <p:nvPr/>
          </p:nvSpPr>
          <p:spPr>
            <a:xfrm>
              <a:off x="9452920" y="3207068"/>
              <a:ext cx="601361" cy="27432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350" b="1" dirty="0">
                  <a:solidFill>
                    <a:srgbClr val="2B3648"/>
                  </a:solidFill>
                  <a:latin typeface="Arial"/>
                  <a:ea typeface="Microsoft YaHei"/>
                  <a:cs typeface="Arial"/>
                </a:rPr>
                <a:t>2026</a:t>
              </a:r>
            </a:p>
          </p:txBody>
        </p:sp>
        <p:sp>
          <p:nvSpPr>
            <p:cNvPr id="71" name="TextBox 71"/>
            <p:cNvSpPr txBox="1"/>
            <p:nvPr/>
          </p:nvSpPr>
          <p:spPr>
            <a:xfrm>
              <a:off x="9416177" y="3514249"/>
              <a:ext cx="674846" cy="19812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975" dirty="0">
                  <a:solidFill>
                    <a:srgbClr val="8B99AE"/>
                  </a:solidFill>
                  <a:latin typeface="Arial"/>
                  <a:ea typeface="Microsoft YaHei"/>
                  <a:cs typeface="Arial"/>
                </a:rPr>
                <a:t>会干活了</a:t>
              </a:r>
            </a:p>
          </p:txBody>
        </p:sp>
      </p:grpSp>
      <p:grpSp>
        <p:nvGrpSpPr>
          <p:cNvPr id="84" name="Group 84"/>
          <p:cNvGrpSpPr/>
          <p:nvPr/>
        </p:nvGrpSpPr>
        <p:grpSpPr>
          <a:xfrm>
            <a:off x="571500" y="4076700"/>
            <a:ext cx="11049000" cy="1066800"/>
            <a:chOff x="571500" y="4076700"/>
            <a:chExt cx="11049000" cy="1066800"/>
          </a:xfrm>
        </p:grpSpPr>
        <p:sp>
          <p:nvSpPr>
            <p:cNvPr id="73" name="Rectangle 73"/>
            <p:cNvSpPr/>
            <p:nvPr/>
          </p:nvSpPr>
          <p:spPr>
            <a:xfrm>
              <a:off x="571500" y="4076700"/>
              <a:ext cx="11049000" cy="990600"/>
            </a:xfrm>
            <a:prstGeom prst="roundRect">
              <a:avLst>
                <a:gd name="adj" fmla="val 15385"/>
              </a:avLst>
            </a:prstGeom>
            <a:solidFill>
              <a:srgbClr val="FFFFFF"/>
            </a:solidFill>
            <a:ln w="9525">
              <a:solidFill>
                <a:srgbClr val="D8E1EC"/>
              </a:solidFill>
            </a:ln>
          </p:spPr>
          <p:txBody>
            <a:bodyPr/>
            <a:p/>
          </p:txBody>
        </p:sp>
        <p:sp>
          <p:nvSpPr>
            <p:cNvPr id="74" name="Ellipse 74"/>
            <p:cNvSpPr/>
            <p:nvPr/>
          </p:nvSpPr>
          <p:spPr>
            <a:xfrm>
              <a:off x="781050" y="4362450"/>
              <a:ext cx="419100" cy="419100"/>
            </a:xfrm>
            <a:prstGeom prst="ellipse">
              <a:avLst/>
            </a:prstGeom>
            <a:solidFill>
              <a:srgbClr val="D6E6F9"/>
            </a:solidFill>
            <a:ln>
              <a:noFill/>
            </a:ln>
          </p:spPr>
          <p:txBody>
            <a:bodyPr/>
            <a:p/>
          </p:txBody>
        </p:sp>
        <p:grpSp>
          <p:nvGrpSpPr>
            <p:cNvPr id="80" name="Group 80"/>
            <p:cNvGrpSpPr/>
            <p:nvPr/>
          </p:nvGrpSpPr>
          <p:grpSpPr>
            <a:xfrm>
              <a:off x="904875" y="4486275"/>
              <a:ext cx="171450" cy="171422"/>
              <a:chOff x="904875" y="4486275"/>
              <a:chExt cx="171450" cy="171422"/>
            </a:xfrm>
          </p:grpSpPr>
          <p:sp>
            <p:nvSpPr>
              <p:cNvPr id="75" name="Freeform 75"/>
              <p:cNvSpPr/>
              <p:nvPr/>
            </p:nvSpPr>
            <p:spPr>
              <a:xfrm>
                <a:off x="942975" y="4486275"/>
                <a:ext cx="133350" cy="133350"/>
              </a:xfrm>
              <a:custGeom>
                <a:avLst/>
                <a:gdLst/>
                <a:ahLst/>
                <a:cxnLst/>
                <a:rect l="l" t="t" r="r" b="b"/>
                <a:pathLst>
                  <a:path w="133350" h="133350">
                    <a:moveTo>
                      <a:pt x="0" y="25403"/>
                    </a:moveTo>
                    <a:cubicBezTo>
                      <a:pt x="0" y="11373"/>
                      <a:pt x="11373" y="0"/>
                      <a:pt x="25403" y="0"/>
                    </a:cubicBezTo>
                    <a:lnTo>
                      <a:pt x="107947" y="0"/>
                    </a:lnTo>
                    <a:cubicBezTo>
                      <a:pt x="114684" y="0"/>
                      <a:pt x="121146" y="2676"/>
                      <a:pt x="125910" y="7440"/>
                    </a:cubicBezTo>
                    <a:cubicBezTo>
                      <a:pt x="130674" y="12204"/>
                      <a:pt x="133350" y="18666"/>
                      <a:pt x="133350" y="25403"/>
                    </a:cubicBezTo>
                    <a:lnTo>
                      <a:pt x="133350" y="107947"/>
                    </a:lnTo>
                    <a:cubicBezTo>
                      <a:pt x="133350" y="114684"/>
                      <a:pt x="130674" y="121146"/>
                      <a:pt x="125910" y="125910"/>
                    </a:cubicBezTo>
                    <a:cubicBezTo>
                      <a:pt x="121146" y="130674"/>
                      <a:pt x="114684" y="133350"/>
                      <a:pt x="107947" y="133350"/>
                    </a:cubicBezTo>
                    <a:lnTo>
                      <a:pt x="25403" y="133350"/>
                    </a:lnTo>
                    <a:cubicBezTo>
                      <a:pt x="11373" y="133350"/>
                      <a:pt x="0" y="121977"/>
                      <a:pt x="0" y="107947"/>
                    </a:cubicBezTo>
                    <a:lnTo>
                      <a:pt x="0" y="25403"/>
                    </a:lnTo>
                  </a:path>
                </a:pathLst>
              </a:custGeom>
              <a:noFill/>
              <a:ln w="19050">
                <a:solidFill>
                  <a:srgbClr val="1565D8"/>
                </a:solidFill>
              </a:ln>
            </p:spPr>
            <p:txBody>
              <a:bodyPr/>
              <a:p/>
            </p:txBody>
          </p:sp>
          <p:sp>
            <p:nvSpPr>
              <p:cNvPr id="76" name="Freeform 76"/>
              <p:cNvSpPr/>
              <p:nvPr/>
            </p:nvSpPr>
            <p:spPr>
              <a:xfrm>
                <a:off x="904875" y="4526852"/>
                <a:ext cx="128588" cy="130845"/>
              </a:xfrm>
              <a:custGeom>
                <a:avLst/>
                <a:gdLst/>
                <a:ahLst/>
                <a:cxnLst/>
                <a:rect l="l" t="t" r="r" b="b"/>
                <a:pathLst>
                  <a:path w="128588" h="130845">
                    <a:moveTo>
                      <a:pt x="9639" y="0"/>
                    </a:moveTo>
                    <a:cubicBezTo>
                      <a:pt x="3694" y="3389"/>
                      <a:pt x="17" y="9701"/>
                      <a:pt x="0" y="16545"/>
                    </a:cubicBezTo>
                    <a:lnTo>
                      <a:pt x="0" y="111795"/>
                    </a:lnTo>
                    <a:cubicBezTo>
                      <a:pt x="0" y="122272"/>
                      <a:pt x="8573" y="130845"/>
                      <a:pt x="19050" y="130845"/>
                    </a:cubicBezTo>
                    <a:lnTo>
                      <a:pt x="114300" y="130845"/>
                    </a:lnTo>
                    <a:cubicBezTo>
                      <a:pt x="121444" y="130845"/>
                      <a:pt x="125330" y="127178"/>
                      <a:pt x="128588" y="121320"/>
                    </a:cubicBezTo>
                  </a:path>
                </a:pathLst>
              </a:custGeom>
              <a:noFill/>
              <a:ln w="19050">
                <a:solidFill>
                  <a:srgbClr val="1565D8"/>
                </a:solidFill>
              </a:ln>
            </p:spPr>
            <p:txBody>
              <a:bodyPr/>
              <a:p/>
            </p:txBody>
          </p:sp>
          <p:sp>
            <p:nvSpPr>
              <p:cNvPr id="77" name="Freeform 77"/>
              <p:cNvSpPr/>
              <p:nvPr/>
            </p:nvSpPr>
            <p:spPr>
              <a:xfrm>
                <a:off x="981075" y="4524375"/>
                <a:ext cx="47625" cy="9525"/>
              </a:xfrm>
              <a:custGeom>
                <a:avLst/>
                <a:gdLst/>
                <a:ahLst/>
                <a:cxnLst/>
                <a:rect l="l" t="t" r="r" b="b"/>
                <a:pathLst>
                  <a:path w="47625" h="9525">
                    <a:moveTo>
                      <a:pt x="0" y="0"/>
                    </a:moveTo>
                    <a:lnTo>
                      <a:pt x="47625" y="0"/>
                    </a:lnTo>
                  </a:path>
                </a:pathLst>
              </a:custGeom>
              <a:noFill/>
              <a:ln w="19050">
                <a:solidFill>
                  <a:srgbClr val="1565D8"/>
                </a:solidFill>
              </a:ln>
            </p:spPr>
            <p:txBody>
              <a:bodyPr/>
              <a:p/>
            </p:txBody>
          </p:sp>
          <p:sp>
            <p:nvSpPr>
              <p:cNvPr id="78" name="Freeform 78"/>
              <p:cNvSpPr/>
              <p:nvPr/>
            </p:nvSpPr>
            <p:spPr>
              <a:xfrm>
                <a:off x="981075" y="4552950"/>
                <a:ext cx="57150" cy="9525"/>
              </a:xfrm>
              <a:custGeom>
                <a:avLst/>
                <a:gdLst/>
                <a:ahLst/>
                <a:cxnLst/>
                <a:rect l="l" t="t" r="r" b="b"/>
                <a:pathLst>
                  <a:path w="57150" h="9525">
                    <a:moveTo>
                      <a:pt x="0" y="0"/>
                    </a:moveTo>
                    <a:lnTo>
                      <a:pt x="57150" y="0"/>
                    </a:lnTo>
                  </a:path>
                </a:pathLst>
              </a:custGeom>
              <a:noFill/>
              <a:ln w="19050">
                <a:solidFill>
                  <a:srgbClr val="1565D8"/>
                </a:solidFill>
              </a:ln>
            </p:spPr>
            <p:txBody>
              <a:bodyPr/>
              <a:p/>
            </p:txBody>
          </p:sp>
          <p:sp>
            <p:nvSpPr>
              <p:cNvPr id="79" name="Freeform 79"/>
              <p:cNvSpPr/>
              <p:nvPr/>
            </p:nvSpPr>
            <p:spPr>
              <a:xfrm>
                <a:off x="981075" y="4581525"/>
                <a:ext cx="28575" cy="9525"/>
              </a:xfrm>
              <a:custGeom>
                <a:avLst/>
                <a:gdLst/>
                <a:ahLst/>
                <a:cxnLst/>
                <a:rect l="l" t="t" r="r" b="b"/>
                <a:pathLst>
                  <a:path w="28575" h="9525">
                    <a:moveTo>
                      <a:pt x="0" y="0"/>
                    </a:moveTo>
                    <a:lnTo>
                      <a:pt x="28575" y="0"/>
                    </a:lnTo>
                  </a:path>
                </a:pathLst>
              </a:custGeom>
              <a:noFill/>
              <a:ln w="19050">
                <a:solidFill>
                  <a:srgbClr val="1565D8"/>
                </a:solidFill>
              </a:ln>
            </p:spPr>
            <p:txBody>
              <a:bodyPr/>
              <a:p/>
            </p:txBody>
          </p:sp>
        </p:grpSp>
        <p:sp>
          <p:nvSpPr>
            <p:cNvPr id="81" name="TextBox 81"/>
            <p:cNvSpPr txBox="1"/>
            <p:nvPr/>
          </p:nvSpPr>
          <p:spPr>
            <a:xfrm>
              <a:off x="1335405" y="4331018"/>
              <a:ext cx="979408" cy="27432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b="1" dirty="0">
                  <a:solidFill>
                    <a:srgbClr val="2B3648"/>
                  </a:solidFill>
                  <a:latin typeface="Arial"/>
                  <a:ea typeface="Microsoft YaHei"/>
                  <a:cs typeface="Arial"/>
                </a:rPr>
                <a:t>为什么现在</a:t>
              </a:r>
            </a:p>
          </p:txBody>
        </p:sp>
        <p:sp>
          <p:nvSpPr>
            <p:cNvPr id="82" name="TextBox 82"/>
            <p:cNvSpPr txBox="1"/>
            <p:nvPr/>
          </p:nvSpPr>
          <p:spPr>
            <a:xfrm>
              <a:off x="1337310" y="4652010"/>
              <a:ext cx="5831205" cy="24384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00" dirty="0">
                  <a:solidFill>
                    <a:srgbClr val="5B6B82"/>
                  </a:solidFill>
                  <a:latin typeface="Arial"/>
                  <a:ea typeface="Microsoft YaHei"/>
                  <a:cs typeface="Arial"/>
                </a:rPr>
                <a:t>2017 Transformer 之后，三条件齐了：数据、算力、算法——</a:t>
              </a:r>
            </a:p>
          </p:txBody>
        </p:sp>
        <p:sp>
          <p:nvSpPr>
            <p:cNvPr id="83" name="TextBox 83"/>
            <p:cNvSpPr txBox="1"/>
            <p:nvPr/>
          </p:nvSpPr>
          <p:spPr>
            <a:xfrm>
              <a:off x="1337310" y="4899660"/>
              <a:ext cx="1150620" cy="24384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00" dirty="0">
                  <a:solidFill>
                    <a:srgbClr val="5B6B82"/>
                  </a:solidFill>
                  <a:latin typeface="Arial"/>
                  <a:ea typeface="Microsoft YaHei"/>
                  <a:cs typeface="Arial"/>
                </a:rPr>
                <a:t>少一个都不行。</a:t>
              </a:r>
            </a:p>
          </p:txBody>
        </p:sp>
      </p:grpSp>
      <p:grpSp>
        <p:nvGrpSpPr>
          <p:cNvPr id="88" name="Group 88"/>
          <p:cNvGrpSpPr/>
          <p:nvPr/>
        </p:nvGrpSpPr>
        <p:grpSpPr>
          <a:xfrm>
            <a:off x="571500" y="5295900"/>
            <a:ext cx="11049000" cy="457200"/>
            <a:chOff x="571500" y="5295900"/>
            <a:chExt cx="11049000" cy="457200"/>
          </a:xfrm>
        </p:grpSpPr>
        <p:sp>
          <p:nvSpPr>
            <p:cNvPr id="85" name="Rectangle 85"/>
            <p:cNvSpPr/>
            <p:nvPr/>
          </p:nvSpPr>
          <p:spPr>
            <a:xfrm>
              <a:off x="571500" y="5295900"/>
              <a:ext cx="11049000" cy="457200"/>
            </a:xfrm>
            <a:prstGeom prst="roundRect">
              <a:avLst>
                <a:gd name="adj" fmla="val 33333"/>
              </a:avLst>
            </a:prstGeom>
            <a:solidFill>
              <a:srgbClr val="D6E6F9"/>
            </a:solidFill>
            <a:ln>
              <a:noFill/>
            </a:ln>
          </p:spPr>
          <p:txBody>
            <a:bodyPr/>
            <a:p/>
          </p:txBody>
        </p:sp>
        <p:sp>
          <p:nvSpPr>
            <p:cNvPr id="86" name="Rectangle 86"/>
            <p:cNvSpPr/>
            <p:nvPr/>
          </p:nvSpPr>
          <p:spPr>
            <a:xfrm>
              <a:off x="571500" y="5295900"/>
              <a:ext cx="76200" cy="457200"/>
            </a:xfrm>
            <a:prstGeom prst="roundRect">
              <a:avLst>
                <a:gd name="adj" fmla="val 50000"/>
              </a:avLst>
            </a:prstGeom>
            <a:solidFill>
              <a:srgbClr val="1565D8"/>
            </a:solidFill>
            <a:ln>
              <a:noFill/>
            </a:ln>
          </p:spPr>
          <p:txBody>
            <a:bodyPr/>
            <a:p/>
          </p:txBody>
        </p:sp>
        <p:sp>
          <p:nvSpPr>
            <p:cNvPr id="87" name="TextBox 87"/>
            <p:cNvSpPr txBox="1"/>
            <p:nvPr/>
          </p:nvSpPr>
          <p:spPr>
            <a:xfrm>
              <a:off x="859155" y="5445442"/>
              <a:ext cx="3625739" cy="27432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b="1" dirty="0">
                  <a:solidFill>
                    <a:srgbClr val="0B4EA2"/>
                  </a:solidFill>
                  <a:latin typeface="Arial"/>
                  <a:ea typeface="Microsoft YaHei"/>
                  <a:cs typeface="Arial"/>
                </a:rPr>
                <a:t>一句话：不是 AI 突然聪明，是三条件齐了。</a:t>
              </a:r>
            </a:p>
          </p:txBody>
        </p:sp>
      </p:grpSp>
      <p:grpSp>
        <p:nvGrpSpPr>
          <p:cNvPr id="91" name="Group 91"/>
          <p:cNvGrpSpPr/>
          <p:nvPr/>
        </p:nvGrpSpPr>
        <p:grpSpPr>
          <a:xfrm>
            <a:off x="560070" y="6341745"/>
            <a:ext cx="11071860" cy="182880"/>
            <a:chOff x="560070" y="6341745"/>
            <a:chExt cx="11071860" cy="182880"/>
          </a:xfrm>
        </p:grpSpPr>
        <p:sp>
          <p:nvSpPr>
            <p:cNvPr id="89" name="TextBox 89"/>
            <p:cNvSpPr txBox="1"/>
            <p:nvPr/>
          </p:nvSpPr>
          <p:spPr>
            <a:xfrm>
              <a:off x="560070" y="6341745"/>
              <a:ext cx="1054989" cy="18288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00" dirty="0">
                  <a:solidFill>
                    <a:srgbClr val="8B99AE"/>
                  </a:solidFill>
                  <a:latin typeface="Arial"/>
                  <a:ea typeface="Microsoft YaHei"/>
                  <a:cs typeface="Arial"/>
                </a:rPr>
                <a:t>大模型通识 · 企业版</a:t>
              </a:r>
            </a:p>
          </p:txBody>
        </p:sp>
        <p:sp>
          <p:nvSpPr>
            <p:cNvPr id="90" name="TextBox 90"/>
            <p:cNvSpPr txBox="1"/>
            <p:nvPr/>
          </p:nvSpPr>
          <p:spPr>
            <a:xfrm>
              <a:off x="11207020" y="6341745"/>
              <a:ext cx="424910" cy="18288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r"/>
              <a:r>
                <a:rPr lang="zh-CN" sz="900" dirty="0">
                  <a:solidFill>
                    <a:srgbClr val="8B99AE"/>
                  </a:solidFill>
                  <a:latin typeface="Arial"/>
                  <a:ea typeface="Microsoft YaHei"/>
                  <a:cs typeface="Arial"/>
                </a:rPr>
                <a:t>8 / 51</a:t>
              </a:r>
            </a:p>
          </p:txBody>
        </p:sp>
      </p:grp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grpSp>
        <p:nvGrpSpPr>
          <p:cNvPr id="6" name="Group 6"/>
          <p:cNvGrpSpPr/>
          <p:nvPr/>
        </p:nvGrpSpPr>
        <p:grpSpPr>
          <a:xfrm>
            <a:off x="-1524000" y="0"/>
            <a:ext cx="13716000" cy="8477250"/>
            <a:chOff x="-1524000" y="0"/>
            <a:chExt cx="13716000" cy="8477250"/>
          </a:xfrm>
        </p:grpSpPr>
        <p:sp>
          <p:nvSpPr>
            <p:cNvPr id="2" name="Rectangle 2"/>
            <p:cNvSpPr/>
            <p:nvPr/>
          </p:nvSpPr>
          <p:spPr>
            <a:xfrm>
              <a:off x="0" y="0"/>
              <a:ext cx="12192000" cy="6858000"/>
            </a:xfrm>
            <a:prstGeom prst="rect">
              <a:avLst/>
            </a:prstGeom>
            <a:solidFill>
              <a:srgbClr val="F5F7FA"/>
            </a:solidFill>
            <a:ln>
              <a:noFill/>
            </a:ln>
          </p:spPr>
          <p:txBody>
            <a:bodyPr/>
            <a:p/>
          </p:txBody>
        </p:sp>
        <p:sp>
          <p:nvSpPr>
            <p:cNvPr id="3" name="Rectangle 3"/>
            <p:cNvSpPr/>
            <p:nvPr/>
          </p:nvSpPr>
          <p:spPr>
            <a:xfrm>
              <a:off x="0" y="0"/>
              <a:ext cx="12192000" cy="6858000"/>
            </a:xfrm>
            <a:prstGeom prst="rect">
              <a:avLst/>
            </a:prstGeom>
            <a:gradFill>
              <a:gsLst>
                <a:gs pos="0">
                  <a:srgbClr val="1565D8">
                    <a:alpha val="6000"/>
                  </a:srgbClr>
                </a:gs>
                <a:gs pos="100000">
                  <a:srgbClr val="1565D8">
                    <a:alpha val="0"/>
                  </a:srgbClr>
                </a:gs>
              </a:gsLst>
              <a:path path="circle">
                <a:fillToRect l="50000" t="50000" r="50000" b="50000"/>
              </a:path>
            </a:gradFill>
            <a:ln>
              <a:noFill/>
            </a:ln>
          </p:spPr>
          <p:txBody>
            <a:bodyPr/>
            <a:p/>
          </p:txBody>
        </p:sp>
        <p:sp>
          <p:nvSpPr>
            <p:cNvPr id="4" name="Ellipse 4"/>
            <p:cNvSpPr/>
            <p:nvPr/>
          </p:nvSpPr>
          <p:spPr>
            <a:xfrm>
              <a:off x="-1524000" y="4667250"/>
              <a:ext cx="3810000" cy="3810000"/>
            </a:xfrm>
            <a:prstGeom prst="ellipse">
              <a:avLst/>
            </a:prstGeom>
            <a:noFill/>
            <a:ln w="14288">
              <a:solidFill>
                <a:srgbClr val="D6E6F9">
                  <a:alpha val="80000"/>
                </a:srgbClr>
              </a:solidFill>
            </a:ln>
          </p:spPr>
          <p:txBody>
            <a:bodyPr/>
            <a:p/>
          </p:txBody>
        </p:sp>
        <p:sp>
          <p:nvSpPr>
            <p:cNvPr id="5" name="Ellipse 5"/>
            <p:cNvSpPr/>
            <p:nvPr/>
          </p:nvSpPr>
          <p:spPr>
            <a:xfrm>
              <a:off x="-952500" y="5238750"/>
              <a:ext cx="2667000" cy="2667000"/>
            </a:xfrm>
            <a:prstGeom prst="ellipse">
              <a:avLst/>
            </a:prstGeom>
            <a:noFill/>
            <a:ln w="14288">
              <a:solidFill>
                <a:srgbClr val="D6E6F9">
                  <a:alpha val="60000"/>
                </a:srgbClr>
              </a:solidFill>
              <a:custDash>
                <a:ds d="200000" sp="533333"/>
              </a:custDash>
            </a:ln>
          </p:spPr>
          <p:txBody>
            <a:bodyPr/>
            <a:p/>
          </p:txBody>
        </p:sp>
      </p:grpSp>
      <p:grpSp>
        <p:nvGrpSpPr>
          <p:cNvPr id="10" name="Group 10"/>
          <p:cNvGrpSpPr/>
          <p:nvPr/>
        </p:nvGrpSpPr>
        <p:grpSpPr>
          <a:xfrm>
            <a:off x="571500" y="685800"/>
            <a:ext cx="3666173" cy="700088"/>
            <a:chOff x="571500" y="685800"/>
            <a:chExt cx="3666173" cy="700088"/>
          </a:xfrm>
        </p:grpSpPr>
        <p:sp>
          <p:nvSpPr>
            <p:cNvPr id="7" name="Rectangle 7"/>
            <p:cNvSpPr/>
            <p:nvPr/>
          </p:nvSpPr>
          <p:spPr>
            <a:xfrm>
              <a:off x="571500" y="685800"/>
              <a:ext cx="76200" cy="323850"/>
            </a:xfrm>
            <a:prstGeom prst="roundRect">
              <a:avLst>
                <a:gd name="adj" fmla="val 50000"/>
              </a:avLst>
            </a:prstGeom>
            <a:solidFill>
              <a:srgbClr val="1565D8"/>
            </a:solidFill>
            <a:ln>
              <a:noFill/>
            </a:ln>
          </p:spPr>
          <p:txBody>
            <a:bodyPr/>
            <a:p/>
          </p:txBody>
        </p:sp>
        <p:sp>
          <p:nvSpPr>
            <p:cNvPr id="8" name="TextBox 8"/>
            <p:cNvSpPr txBox="1"/>
            <p:nvPr/>
          </p:nvSpPr>
          <p:spPr>
            <a:xfrm>
              <a:off x="771525" y="700088"/>
              <a:ext cx="2577465" cy="45720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2250" b="1" dirty="0">
                  <a:solidFill>
                    <a:srgbClr val="2B3648"/>
                  </a:solidFill>
                  <a:latin typeface="Arial"/>
                  <a:ea typeface="Microsoft YaHei"/>
                  <a:cs typeface="Arial"/>
                </a:rPr>
                <a:t>AI 能干的三件事</a:t>
              </a:r>
            </a:p>
          </p:txBody>
        </p:sp>
        <p:sp>
          <p:nvSpPr>
            <p:cNvPr id="9" name="TextBox 9"/>
            <p:cNvSpPr txBox="1"/>
            <p:nvPr/>
          </p:nvSpPr>
          <p:spPr>
            <a:xfrm>
              <a:off x="782955" y="1111568"/>
              <a:ext cx="3454718" cy="27432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5B6B82"/>
                  </a:solidFill>
                  <a:latin typeface="Arial"/>
                  <a:ea typeface="Microsoft YaHei"/>
                  <a:cs typeface="Arial"/>
                </a:rPr>
                <a:t>从聊天到干活，都是这三件事的组合</a:t>
              </a:r>
            </a:p>
          </p:txBody>
        </p:sp>
      </p:grpSp>
      <p:grpSp>
        <p:nvGrpSpPr>
          <p:cNvPr id="62" name="Group 62"/>
          <p:cNvGrpSpPr/>
          <p:nvPr/>
        </p:nvGrpSpPr>
        <p:grpSpPr>
          <a:xfrm>
            <a:off x="571500" y="1619250"/>
            <a:ext cx="10991850" cy="3810000"/>
            <a:chOff x="571500" y="1619250"/>
            <a:chExt cx="10991850" cy="3810000"/>
          </a:xfrm>
        </p:grpSpPr>
        <p:grpSp>
          <p:nvGrpSpPr>
            <p:cNvPr id="27" name="Group 27"/>
            <p:cNvGrpSpPr/>
            <p:nvPr/>
          </p:nvGrpSpPr>
          <p:grpSpPr>
            <a:xfrm>
              <a:off x="571500" y="1619250"/>
              <a:ext cx="3524250" cy="3810000"/>
              <a:chOff x="571500" y="1619250"/>
              <a:chExt cx="3524250" cy="3810000"/>
            </a:xfrm>
          </p:grpSpPr>
          <p:sp>
            <p:nvSpPr>
              <p:cNvPr id="11" name="Rectangle 11"/>
              <p:cNvSpPr/>
              <p:nvPr/>
            </p:nvSpPr>
            <p:spPr>
              <a:xfrm>
                <a:off x="571500" y="1619250"/>
                <a:ext cx="3524250" cy="3810000"/>
              </a:xfrm>
              <a:prstGeom prst="roundRect">
                <a:avLst>
                  <a:gd name="adj" fmla="val 4324"/>
                </a:avLst>
              </a:prstGeom>
              <a:solidFill>
                <a:srgbClr val="FFFFFF"/>
              </a:solidFill>
              <a:ln w="9525">
                <a:solidFill>
                  <a:srgbClr val="D8E1EC"/>
                </a:solidFill>
              </a:ln>
            </p:spPr>
            <p:txBody>
              <a:bodyPr/>
              <a:p/>
            </p:txBody>
          </p:sp>
          <p:sp>
            <p:nvSpPr>
              <p:cNvPr id="12" name="Rectangle 12"/>
              <p:cNvSpPr/>
              <p:nvPr/>
            </p:nvSpPr>
            <p:spPr>
              <a:xfrm>
                <a:off x="800100" y="1885950"/>
                <a:ext cx="914400" cy="323850"/>
              </a:xfrm>
              <a:prstGeom prst="roundRect">
                <a:avLst>
                  <a:gd name="adj" fmla="val 50000"/>
                </a:avLst>
              </a:prstGeom>
              <a:solidFill>
                <a:srgbClr val="D6E6F9"/>
              </a:solidFill>
              <a:ln>
                <a:noFill/>
              </a:ln>
            </p:spPr>
            <p:txBody>
              <a:bodyPr/>
              <a:p/>
            </p:txBody>
          </p:sp>
          <p:sp>
            <p:nvSpPr>
              <p:cNvPr id="13" name="TextBox 13"/>
              <p:cNvSpPr txBox="1"/>
              <p:nvPr/>
            </p:nvSpPr>
            <p:spPr>
              <a:xfrm>
                <a:off x="1006733" y="1983581"/>
                <a:ext cx="501134" cy="2286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ctr"/>
                <a:r>
                  <a:rPr lang="zh-CN" sz="1125" b="1" dirty="0">
                    <a:solidFill>
                      <a:srgbClr val="0B4EA2"/>
                    </a:solidFill>
                    <a:latin typeface="Arial"/>
                    <a:ea typeface="Microsoft YaHei"/>
                    <a:cs typeface="Arial"/>
                  </a:rPr>
                  <a:t>理解</a:t>
                </a:r>
              </a:p>
            </p:txBody>
          </p:sp>
          <p:sp>
            <p:nvSpPr>
              <p:cNvPr id="14" name="Ellipse 14"/>
              <p:cNvSpPr/>
              <p:nvPr/>
            </p:nvSpPr>
            <p:spPr>
              <a:xfrm>
                <a:off x="3657600" y="1838325"/>
                <a:ext cx="419100" cy="419100"/>
              </a:xfrm>
              <a:prstGeom prst="ellipse">
                <a:avLst/>
              </a:prstGeom>
              <a:solidFill>
                <a:srgbClr val="D6E6F9"/>
              </a:solidFill>
              <a:ln>
                <a:noFill/>
              </a:ln>
            </p:spPr>
            <p:txBody>
              <a:bodyPr/>
              <a:p/>
            </p:txBody>
          </p:sp>
          <p:grpSp>
            <p:nvGrpSpPr>
              <p:cNvPr id="18" name="Group 18"/>
              <p:cNvGrpSpPr/>
              <p:nvPr/>
            </p:nvGrpSpPr>
            <p:grpSpPr>
              <a:xfrm>
                <a:off x="3781425" y="1990725"/>
                <a:ext cx="171450" cy="123825"/>
                <a:chOff x="3781425" y="1990725"/>
                <a:chExt cx="171450" cy="123825"/>
              </a:xfrm>
            </p:grpSpPr>
            <p:sp>
              <p:nvSpPr>
                <p:cNvPr id="15" name="Freeform 15"/>
                <p:cNvSpPr/>
                <p:nvPr/>
              </p:nvSpPr>
              <p:spPr>
                <a:xfrm>
                  <a:off x="3800475" y="2076450"/>
                  <a:ext cx="38100" cy="38100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38100" h="38100">
                      <a:moveTo>
                        <a:pt x="0" y="19050"/>
                      </a:moveTo>
                      <a:cubicBezTo>
                        <a:pt x="0" y="29571"/>
                        <a:pt x="8529" y="38100"/>
                        <a:pt x="19050" y="38100"/>
                      </a:cubicBezTo>
                      <a:cubicBezTo>
                        <a:pt x="29571" y="38100"/>
                        <a:pt x="38100" y="29571"/>
                        <a:pt x="38100" y="19050"/>
                      </a:cubicBezTo>
                      <a:cubicBezTo>
                        <a:pt x="38100" y="8529"/>
                        <a:pt x="29571" y="0"/>
                        <a:pt x="19050" y="0"/>
                      </a:cubicBezTo>
                      <a:cubicBezTo>
                        <a:pt x="8529" y="0"/>
                        <a:pt x="0" y="8529"/>
                        <a:pt x="0" y="19050"/>
                      </a:cubicBezTo>
                    </a:path>
                  </a:pathLst>
                </a:custGeom>
                <a:noFill/>
                <a:ln w="19050">
                  <a:solidFill>
                    <a:srgbClr val="1565D8"/>
                  </a:solidFill>
                </a:ln>
              </p:spPr>
              <p:txBody>
                <a:bodyPr/>
                <a:p/>
              </p:txBody>
            </p:sp>
            <p:sp>
              <p:nvSpPr>
                <p:cNvPr id="16" name="Freeform 16"/>
                <p:cNvSpPr/>
                <p:nvPr/>
              </p:nvSpPr>
              <p:spPr>
                <a:xfrm>
                  <a:off x="3895725" y="2076450"/>
                  <a:ext cx="38100" cy="38100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38100" h="38100">
                      <a:moveTo>
                        <a:pt x="0" y="19050"/>
                      </a:moveTo>
                      <a:cubicBezTo>
                        <a:pt x="0" y="29571"/>
                        <a:pt x="8529" y="38100"/>
                        <a:pt x="19050" y="38100"/>
                      </a:cubicBezTo>
                      <a:cubicBezTo>
                        <a:pt x="29571" y="38100"/>
                        <a:pt x="38100" y="29571"/>
                        <a:pt x="38100" y="19050"/>
                      </a:cubicBezTo>
                      <a:cubicBezTo>
                        <a:pt x="38100" y="8529"/>
                        <a:pt x="29571" y="0"/>
                        <a:pt x="19050" y="0"/>
                      </a:cubicBezTo>
                      <a:cubicBezTo>
                        <a:pt x="8529" y="0"/>
                        <a:pt x="0" y="8529"/>
                        <a:pt x="0" y="19050"/>
                      </a:cubicBezTo>
                    </a:path>
                  </a:pathLst>
                </a:custGeom>
                <a:noFill/>
                <a:ln w="19050">
                  <a:solidFill>
                    <a:srgbClr val="1565D8"/>
                  </a:solidFill>
                </a:ln>
              </p:spPr>
              <p:txBody>
                <a:bodyPr/>
                <a:p/>
              </p:txBody>
            </p:sp>
            <p:sp>
              <p:nvSpPr>
                <p:cNvPr id="17" name="Freeform 17"/>
                <p:cNvSpPr/>
                <p:nvPr/>
              </p:nvSpPr>
              <p:spPr>
                <a:xfrm>
                  <a:off x="3781425" y="1990725"/>
                  <a:ext cx="171450" cy="104775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171450" h="104775">
                      <a:moveTo>
                        <a:pt x="19050" y="104775"/>
                      </a:moveTo>
                      <a:lnTo>
                        <a:pt x="0" y="104775"/>
                      </a:lnTo>
                      <a:lnTo>
                        <a:pt x="0" y="47625"/>
                      </a:lnTo>
                      <a:lnTo>
                        <a:pt x="19050" y="0"/>
                      </a:lnTo>
                      <a:lnTo>
                        <a:pt x="104775" y="0"/>
                      </a:lnTo>
                      <a:lnTo>
                        <a:pt x="142875" y="47625"/>
                      </a:lnTo>
                      <a:lnTo>
                        <a:pt x="152400" y="47625"/>
                      </a:lnTo>
                      <a:cubicBezTo>
                        <a:pt x="162921" y="47625"/>
                        <a:pt x="171450" y="56154"/>
                        <a:pt x="171450" y="66675"/>
                      </a:cubicBezTo>
                      <a:lnTo>
                        <a:pt x="171450" y="104775"/>
                      </a:lnTo>
                      <a:lnTo>
                        <a:pt x="152400" y="104775"/>
                      </a:lnTo>
                      <a:moveTo>
                        <a:pt x="114300" y="104775"/>
                      </a:moveTo>
                      <a:lnTo>
                        <a:pt x="57150" y="104775"/>
                      </a:lnTo>
                      <a:moveTo>
                        <a:pt x="0" y="47625"/>
                      </a:moveTo>
                      <a:lnTo>
                        <a:pt x="142875" y="47625"/>
                      </a:lnTo>
                      <a:moveTo>
                        <a:pt x="85725" y="47625"/>
                      </a:moveTo>
                      <a:lnTo>
                        <a:pt x="85725" y="0"/>
                      </a:lnTo>
                    </a:path>
                  </a:pathLst>
                </a:custGeom>
                <a:noFill/>
                <a:ln w="19050">
                  <a:solidFill>
                    <a:srgbClr val="1565D8"/>
                  </a:solidFill>
                </a:ln>
              </p:spPr>
              <p:txBody>
                <a:bodyPr/>
                <a:p/>
              </p:txBody>
            </p:sp>
          </p:grpSp>
          <p:sp>
            <p:nvSpPr>
              <p:cNvPr id="19" name="TextBox 19"/>
              <p:cNvSpPr txBox="1"/>
              <p:nvPr/>
            </p:nvSpPr>
            <p:spPr>
              <a:xfrm>
                <a:off x="779145" y="2565082"/>
                <a:ext cx="1693766" cy="33528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l"/>
                <a:r>
                  <a:rPr lang="zh-CN" sz="1650" b="1" dirty="0">
                    <a:solidFill>
                      <a:srgbClr val="2B3648"/>
                    </a:solidFill>
                    <a:latin typeface="Arial"/>
                    <a:ea typeface="Microsoft YaHei"/>
                    <a:cs typeface="Arial"/>
                  </a:rPr>
                  <a:t>听懂你说啥</a:t>
                </a:r>
              </a:p>
            </p:txBody>
          </p:sp>
          <p:sp>
            <p:nvSpPr>
              <p:cNvPr id="20" name="Rectangle 20"/>
              <p:cNvSpPr/>
              <p:nvPr/>
            </p:nvSpPr>
            <p:spPr>
              <a:xfrm>
                <a:off x="800100" y="2971800"/>
                <a:ext cx="3067050" cy="419100"/>
              </a:xfrm>
              <a:prstGeom prst="roundRect">
                <a:avLst>
                  <a:gd name="adj" fmla="val 36364"/>
                </a:avLst>
              </a:prstGeom>
              <a:solidFill>
                <a:srgbClr val="D6E6F9"/>
              </a:solidFill>
              <a:ln>
                <a:noFill/>
              </a:ln>
            </p:spPr>
            <p:txBody>
              <a:bodyPr/>
              <a:p/>
            </p:txBody>
          </p:sp>
          <p:sp>
            <p:nvSpPr>
              <p:cNvPr id="21" name="TextBox 21"/>
              <p:cNvSpPr txBox="1"/>
              <p:nvPr/>
            </p:nvSpPr>
            <p:spPr>
              <a:xfrm>
                <a:off x="973455" y="3102292"/>
                <a:ext cx="2302574" cy="27432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l"/>
                <a:r>
                  <a:rPr lang="zh-CN" sz="1350" b="1" dirty="0">
                    <a:solidFill>
                      <a:srgbClr val="0B4EA2"/>
                    </a:solidFill>
                    <a:latin typeface="Arial"/>
                    <a:ea typeface="Microsoft YaHei"/>
                    <a:cs typeface="Arial"/>
                  </a:rPr>
                  <a:t>读得懂你的问题和上下文</a:t>
                </a:r>
              </a:p>
            </p:txBody>
          </p:sp>
          <p:sp>
            <p:nvSpPr>
              <p:cNvPr id="22" name="TextBox 22"/>
              <p:cNvSpPr txBox="1"/>
              <p:nvPr/>
            </p:nvSpPr>
            <p:spPr>
              <a:xfrm>
                <a:off x="786765" y="3658552"/>
                <a:ext cx="2007918" cy="21336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l"/>
                <a:r>
                  <a:rPr lang="zh-CN" sz="1050" dirty="0">
                    <a:solidFill>
                      <a:srgbClr val="5B6B82"/>
                    </a:solidFill>
                    <a:latin typeface="Arial"/>
                    <a:ea typeface="Microsoft YaHei"/>
                    <a:cs typeface="Arial"/>
                  </a:rPr>
                  <a:t>它读得懂中文、英文、行话，</a:t>
                </a:r>
              </a:p>
            </p:txBody>
          </p:sp>
          <p:sp>
            <p:nvSpPr>
              <p:cNvPr id="23" name="TextBox 23"/>
              <p:cNvSpPr txBox="1"/>
              <p:nvPr/>
            </p:nvSpPr>
            <p:spPr>
              <a:xfrm>
                <a:off x="786765" y="3906202"/>
                <a:ext cx="2000917" cy="21336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l"/>
                <a:r>
                  <a:rPr lang="zh-CN" sz="1050" dirty="0">
                    <a:solidFill>
                      <a:srgbClr val="5B6B82"/>
                    </a:solidFill>
                    <a:latin typeface="Arial"/>
                    <a:ea typeface="Microsoft YaHei"/>
                    <a:cs typeface="Arial"/>
                  </a:rPr>
                  <a:t>语音、文档、图片、表格都认。</a:t>
                </a:r>
              </a:p>
            </p:txBody>
          </p:sp>
          <p:sp>
            <p:nvSpPr>
              <p:cNvPr id="24" name="TextBox 24"/>
              <p:cNvSpPr txBox="1"/>
              <p:nvPr/>
            </p:nvSpPr>
            <p:spPr>
              <a:xfrm>
                <a:off x="786765" y="4153852"/>
                <a:ext cx="2266950" cy="21336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l"/>
                <a:r>
                  <a:rPr lang="zh-CN" sz="1050" dirty="0">
                    <a:solidFill>
                      <a:srgbClr val="5B6B82"/>
                    </a:solidFill>
                    <a:latin typeface="Arial"/>
                    <a:ea typeface="Microsoft YaHei"/>
                    <a:cs typeface="Arial"/>
                  </a:rPr>
                  <a:t>也明白你想问什么，</a:t>
                </a:r>
              </a:p>
            </p:txBody>
          </p:sp>
          <p:sp>
            <p:nvSpPr>
              <p:cNvPr id="25" name="TextBox 25"/>
              <p:cNvSpPr txBox="1"/>
              <p:nvPr/>
            </p:nvSpPr>
            <p:spPr>
              <a:xfrm>
                <a:off x="786765" y="4553902"/>
                <a:ext cx="1857049" cy="21336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l"/>
                <a:r>
                  <a:rPr lang="zh-CN" sz="1050" b="1" dirty="0">
                    <a:solidFill>
                      <a:srgbClr val="1565D8"/>
                    </a:solidFill>
                    <a:latin typeface="Arial"/>
                    <a:ea typeface="Microsoft YaHei"/>
                    <a:cs typeface="Arial"/>
                  </a:rPr>
                  <a:t>比如丢一张销售表：</a:t>
                </a:r>
              </a:p>
            </p:txBody>
          </p:sp>
          <p:sp>
            <p:nvSpPr>
              <p:cNvPr id="26" name="TextBox 26"/>
              <p:cNvSpPr txBox="1"/>
              <p:nvPr/>
            </p:nvSpPr>
            <p:spPr>
              <a:xfrm>
                <a:off x="786765" y="4801552"/>
                <a:ext cx="930833" cy="21336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l"/>
                <a:r>
                  <a:rPr lang="zh-CN" sz="1050" b="1" dirty="0">
                    <a:solidFill>
                      <a:srgbClr val="1565D8"/>
                    </a:solidFill>
                    <a:latin typeface="Arial"/>
                    <a:ea typeface="Microsoft YaHei"/>
                    <a:cs typeface="Arial"/>
                  </a:rPr>
                  <a:t>它去找异常。</a:t>
                </a:r>
              </a:p>
            </p:txBody>
          </p:sp>
        </p:grpSp>
        <p:grpSp>
          <p:nvGrpSpPr>
            <p:cNvPr id="48" name="Group 48"/>
            <p:cNvGrpSpPr/>
            <p:nvPr/>
          </p:nvGrpSpPr>
          <p:grpSpPr>
            <a:xfrm>
              <a:off x="4305300" y="1619250"/>
              <a:ext cx="3524250" cy="3810000"/>
              <a:chOff x="4305300" y="1619250"/>
              <a:chExt cx="3524250" cy="3810000"/>
            </a:xfrm>
          </p:grpSpPr>
          <p:sp>
            <p:nvSpPr>
              <p:cNvPr id="28" name="Rectangle 28"/>
              <p:cNvSpPr/>
              <p:nvPr/>
            </p:nvSpPr>
            <p:spPr>
              <a:xfrm>
                <a:off x="4305300" y="1619250"/>
                <a:ext cx="3524250" cy="3810000"/>
              </a:xfrm>
              <a:prstGeom prst="roundRect">
                <a:avLst>
                  <a:gd name="adj" fmla="val 4324"/>
                </a:avLst>
              </a:prstGeom>
              <a:solidFill>
                <a:srgbClr val="FFFFFF"/>
              </a:solidFill>
              <a:ln w="9525">
                <a:solidFill>
                  <a:srgbClr val="D8E1EC"/>
                </a:solidFill>
              </a:ln>
            </p:spPr>
            <p:txBody>
              <a:bodyPr/>
              <a:p/>
            </p:txBody>
          </p:sp>
          <p:sp>
            <p:nvSpPr>
              <p:cNvPr id="29" name="Rectangle 29"/>
              <p:cNvSpPr/>
              <p:nvPr/>
            </p:nvSpPr>
            <p:spPr>
              <a:xfrm>
                <a:off x="4533900" y="1885950"/>
                <a:ext cx="914400" cy="323850"/>
              </a:xfrm>
              <a:prstGeom prst="roundRect">
                <a:avLst>
                  <a:gd name="adj" fmla="val 50000"/>
                </a:avLst>
              </a:prstGeom>
              <a:solidFill>
                <a:srgbClr val="D6E6F9"/>
              </a:solidFill>
              <a:ln>
                <a:noFill/>
              </a:ln>
            </p:spPr>
            <p:txBody>
              <a:bodyPr/>
              <a:p/>
            </p:txBody>
          </p:sp>
          <p:sp>
            <p:nvSpPr>
              <p:cNvPr id="30" name="TextBox 30"/>
              <p:cNvSpPr txBox="1"/>
              <p:nvPr/>
            </p:nvSpPr>
            <p:spPr>
              <a:xfrm>
                <a:off x="4740533" y="1983581"/>
                <a:ext cx="501134" cy="2286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ctr"/>
                <a:r>
                  <a:rPr lang="zh-CN" sz="1125" b="1" dirty="0">
                    <a:solidFill>
                      <a:srgbClr val="0B4EA2"/>
                    </a:solidFill>
                    <a:latin typeface="Arial"/>
                    <a:ea typeface="Microsoft YaHei"/>
                    <a:cs typeface="Arial"/>
                  </a:rPr>
                  <a:t>生成</a:t>
                </a:r>
              </a:p>
            </p:txBody>
          </p:sp>
          <p:sp>
            <p:nvSpPr>
              <p:cNvPr id="31" name="Ellipse 31"/>
              <p:cNvSpPr/>
              <p:nvPr/>
            </p:nvSpPr>
            <p:spPr>
              <a:xfrm>
                <a:off x="7391400" y="1838325"/>
                <a:ext cx="419100" cy="419100"/>
              </a:xfrm>
              <a:prstGeom prst="ellipse">
                <a:avLst/>
              </a:prstGeom>
              <a:solidFill>
                <a:srgbClr val="D6E6F9"/>
              </a:solidFill>
              <a:ln>
                <a:noFill/>
              </a:ln>
            </p:spPr>
            <p:txBody>
              <a:bodyPr/>
              <a:p/>
            </p:txBody>
          </p:sp>
          <p:grpSp>
            <p:nvGrpSpPr>
              <p:cNvPr id="40" name="Group 40"/>
              <p:cNvGrpSpPr/>
              <p:nvPr/>
            </p:nvGrpSpPr>
            <p:grpSpPr>
              <a:xfrm>
                <a:off x="7505700" y="1990725"/>
                <a:ext cx="190500" cy="114300"/>
                <a:chOff x="7505700" y="1990725"/>
                <a:chExt cx="190500" cy="114300"/>
              </a:xfrm>
            </p:grpSpPr>
            <p:sp>
              <p:nvSpPr>
                <p:cNvPr id="32" name="Freeform 32"/>
                <p:cNvSpPr/>
                <p:nvPr/>
              </p:nvSpPr>
              <p:spPr>
                <a:xfrm>
                  <a:off x="7505700" y="1990725"/>
                  <a:ext cx="190500" cy="114300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190500" h="114300">
                      <a:moveTo>
                        <a:pt x="0" y="19050"/>
                      </a:moveTo>
                      <a:cubicBezTo>
                        <a:pt x="0" y="8529"/>
                        <a:pt x="8529" y="0"/>
                        <a:pt x="19050" y="0"/>
                      </a:cubicBezTo>
                      <a:lnTo>
                        <a:pt x="171450" y="0"/>
                      </a:lnTo>
                      <a:cubicBezTo>
                        <a:pt x="181971" y="0"/>
                        <a:pt x="190500" y="8529"/>
                        <a:pt x="190500" y="19050"/>
                      </a:cubicBezTo>
                      <a:lnTo>
                        <a:pt x="190500" y="95250"/>
                      </a:lnTo>
                      <a:cubicBezTo>
                        <a:pt x="190500" y="105771"/>
                        <a:pt x="181971" y="114300"/>
                        <a:pt x="171450" y="114300"/>
                      </a:cubicBezTo>
                      <a:lnTo>
                        <a:pt x="19050" y="114300"/>
                      </a:lnTo>
                      <a:cubicBezTo>
                        <a:pt x="8529" y="114300"/>
                        <a:pt x="0" y="105771"/>
                        <a:pt x="0" y="95250"/>
                      </a:cubicBezTo>
                      <a:lnTo>
                        <a:pt x="0" y="19050"/>
                      </a:lnTo>
                    </a:path>
                  </a:pathLst>
                </a:custGeom>
                <a:noFill/>
                <a:ln w="19050">
                  <a:solidFill>
                    <a:srgbClr val="1565D8"/>
                  </a:solidFill>
                </a:ln>
              </p:spPr>
              <p:txBody>
                <a:bodyPr/>
                <a:p/>
              </p:txBody>
            </p:sp>
            <p:sp>
              <p:nvSpPr>
                <p:cNvPr id="33" name="Freeform 33"/>
                <p:cNvSpPr/>
                <p:nvPr/>
              </p:nvSpPr>
              <p:spPr>
                <a:xfrm>
                  <a:off x="7543800" y="2028825"/>
                  <a:ext cx="9525" cy="9525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9525" h="9525">
                      <a:moveTo>
                        <a:pt x="0" y="0"/>
                      </a:moveTo>
                      <a:lnTo>
                        <a:pt x="0" y="95"/>
                      </a:lnTo>
                    </a:path>
                  </a:pathLst>
                </a:custGeom>
                <a:noFill/>
                <a:ln w="19050">
                  <a:solidFill>
                    <a:srgbClr val="1565D8"/>
                  </a:solidFill>
                </a:ln>
              </p:spPr>
              <p:txBody>
                <a:bodyPr/>
                <a:p/>
              </p:txBody>
            </p:sp>
            <p:sp>
              <p:nvSpPr>
                <p:cNvPr id="34" name="Freeform 34"/>
                <p:cNvSpPr/>
                <p:nvPr/>
              </p:nvSpPr>
              <p:spPr>
                <a:xfrm>
                  <a:off x="7581900" y="2028825"/>
                  <a:ext cx="9525" cy="9525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9525" h="9525">
                      <a:moveTo>
                        <a:pt x="0" y="0"/>
                      </a:moveTo>
                      <a:lnTo>
                        <a:pt x="0" y="95"/>
                      </a:lnTo>
                    </a:path>
                  </a:pathLst>
                </a:custGeom>
                <a:noFill/>
                <a:ln w="19050">
                  <a:solidFill>
                    <a:srgbClr val="1565D8"/>
                  </a:solidFill>
                </a:ln>
              </p:spPr>
              <p:txBody>
                <a:bodyPr/>
                <a:p/>
              </p:txBody>
            </p:sp>
            <p:sp>
              <p:nvSpPr>
                <p:cNvPr id="35" name="Freeform 35"/>
                <p:cNvSpPr/>
                <p:nvPr/>
              </p:nvSpPr>
              <p:spPr>
                <a:xfrm>
                  <a:off x="7620000" y="2028825"/>
                  <a:ext cx="9525" cy="9525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9525" h="9525">
                      <a:moveTo>
                        <a:pt x="0" y="0"/>
                      </a:moveTo>
                      <a:lnTo>
                        <a:pt x="0" y="95"/>
                      </a:lnTo>
                    </a:path>
                  </a:pathLst>
                </a:custGeom>
                <a:noFill/>
                <a:ln w="19050">
                  <a:solidFill>
                    <a:srgbClr val="1565D8"/>
                  </a:solidFill>
                </a:ln>
              </p:spPr>
              <p:txBody>
                <a:bodyPr/>
                <a:p/>
              </p:txBody>
            </p:sp>
            <p:sp>
              <p:nvSpPr>
                <p:cNvPr id="36" name="Freeform 36"/>
                <p:cNvSpPr/>
                <p:nvPr/>
              </p:nvSpPr>
              <p:spPr>
                <a:xfrm>
                  <a:off x="7658100" y="2028825"/>
                  <a:ext cx="9525" cy="9525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9525" h="9525">
                      <a:moveTo>
                        <a:pt x="0" y="0"/>
                      </a:moveTo>
                      <a:lnTo>
                        <a:pt x="0" y="95"/>
                      </a:lnTo>
                    </a:path>
                  </a:pathLst>
                </a:custGeom>
                <a:noFill/>
                <a:ln w="19050">
                  <a:solidFill>
                    <a:srgbClr val="1565D8"/>
                  </a:solidFill>
                </a:ln>
              </p:spPr>
              <p:txBody>
                <a:bodyPr/>
                <a:p/>
              </p:txBody>
            </p:sp>
            <p:sp>
              <p:nvSpPr>
                <p:cNvPr id="37" name="Freeform 37"/>
                <p:cNvSpPr/>
                <p:nvPr/>
              </p:nvSpPr>
              <p:spPr>
                <a:xfrm>
                  <a:off x="7543800" y="2066925"/>
                  <a:ext cx="9525" cy="9525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9525" h="9525">
                      <a:moveTo>
                        <a:pt x="0" y="0"/>
                      </a:moveTo>
                      <a:lnTo>
                        <a:pt x="0" y="95"/>
                      </a:lnTo>
                    </a:path>
                  </a:pathLst>
                </a:custGeom>
                <a:noFill/>
                <a:ln w="19050">
                  <a:solidFill>
                    <a:srgbClr val="1565D8"/>
                  </a:solidFill>
                </a:ln>
              </p:spPr>
              <p:txBody>
                <a:bodyPr/>
                <a:p/>
              </p:txBody>
            </p:sp>
            <p:sp>
              <p:nvSpPr>
                <p:cNvPr id="38" name="Freeform 38"/>
                <p:cNvSpPr/>
                <p:nvPr/>
              </p:nvSpPr>
              <p:spPr>
                <a:xfrm>
                  <a:off x="7658100" y="2066925"/>
                  <a:ext cx="9525" cy="9525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9525" h="9525">
                      <a:moveTo>
                        <a:pt x="0" y="0"/>
                      </a:moveTo>
                      <a:lnTo>
                        <a:pt x="0" y="95"/>
                      </a:lnTo>
                    </a:path>
                  </a:pathLst>
                </a:custGeom>
                <a:noFill/>
                <a:ln w="19050">
                  <a:solidFill>
                    <a:srgbClr val="1565D8"/>
                  </a:solidFill>
                </a:ln>
              </p:spPr>
              <p:txBody>
                <a:bodyPr/>
                <a:p/>
              </p:txBody>
            </p:sp>
            <p:sp>
              <p:nvSpPr>
                <p:cNvPr id="39" name="Freeform 39"/>
                <p:cNvSpPr/>
                <p:nvPr/>
              </p:nvSpPr>
              <p:spPr>
                <a:xfrm>
                  <a:off x="7581900" y="2066925"/>
                  <a:ext cx="38100" cy="9525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38100" h="9525">
                      <a:moveTo>
                        <a:pt x="0" y="0"/>
                      </a:moveTo>
                      <a:lnTo>
                        <a:pt x="38100" y="95"/>
                      </a:lnTo>
                    </a:path>
                  </a:pathLst>
                </a:custGeom>
                <a:noFill/>
                <a:ln w="19050">
                  <a:solidFill>
                    <a:srgbClr val="1565D8"/>
                  </a:solidFill>
                </a:ln>
              </p:spPr>
              <p:txBody>
                <a:bodyPr/>
                <a:p/>
              </p:txBody>
            </p:sp>
          </p:grpSp>
          <p:sp>
            <p:nvSpPr>
              <p:cNvPr id="41" name="TextBox 41"/>
              <p:cNvSpPr txBox="1"/>
              <p:nvPr/>
            </p:nvSpPr>
            <p:spPr>
              <a:xfrm>
                <a:off x="4512945" y="2565082"/>
                <a:ext cx="1659112" cy="33528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l"/>
                <a:r>
                  <a:rPr lang="zh-CN" sz="1650" b="1" dirty="0">
                    <a:solidFill>
                      <a:srgbClr val="2B3648"/>
                    </a:solidFill>
                    <a:latin typeface="Arial"/>
                    <a:ea typeface="Microsoft YaHei"/>
                    <a:cs typeface="Arial"/>
                  </a:rPr>
                  <a:t>写出你要的</a:t>
                </a:r>
              </a:p>
            </p:txBody>
          </p:sp>
          <p:sp>
            <p:nvSpPr>
              <p:cNvPr id="42" name="Rectangle 42"/>
              <p:cNvSpPr/>
              <p:nvPr/>
            </p:nvSpPr>
            <p:spPr>
              <a:xfrm>
                <a:off x="4533900" y="2971800"/>
                <a:ext cx="3067050" cy="419100"/>
              </a:xfrm>
              <a:prstGeom prst="roundRect">
                <a:avLst>
                  <a:gd name="adj" fmla="val 36364"/>
                </a:avLst>
              </a:prstGeom>
              <a:solidFill>
                <a:srgbClr val="D6E6F9"/>
              </a:solidFill>
              <a:ln>
                <a:noFill/>
              </a:ln>
            </p:spPr>
            <p:txBody>
              <a:bodyPr/>
              <a:p/>
            </p:txBody>
          </p:sp>
          <p:sp>
            <p:nvSpPr>
              <p:cNvPr id="43" name="TextBox 43"/>
              <p:cNvSpPr txBox="1"/>
              <p:nvPr/>
            </p:nvSpPr>
            <p:spPr>
              <a:xfrm>
                <a:off x="4707255" y="3102292"/>
                <a:ext cx="1735503" cy="27432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l"/>
                <a:r>
                  <a:rPr lang="zh-CN" sz="1350" b="1" dirty="0">
                    <a:solidFill>
                      <a:srgbClr val="0B4EA2"/>
                    </a:solidFill>
                    <a:latin typeface="Arial"/>
                    <a:ea typeface="Microsoft YaHei"/>
                    <a:cs typeface="Arial"/>
                  </a:rPr>
                  <a:t>什么都能写出来</a:t>
                </a:r>
              </a:p>
            </p:txBody>
          </p:sp>
          <p:sp>
            <p:nvSpPr>
              <p:cNvPr id="44" name="TextBox 44"/>
              <p:cNvSpPr txBox="1"/>
              <p:nvPr/>
            </p:nvSpPr>
            <p:spPr>
              <a:xfrm>
                <a:off x="4520565" y="3658552"/>
                <a:ext cx="2112931" cy="21336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l"/>
                <a:r>
                  <a:rPr lang="zh-CN" sz="1050" dirty="0">
                    <a:solidFill>
                      <a:srgbClr val="5B6B82"/>
                    </a:solidFill>
                    <a:latin typeface="Arial"/>
                    <a:ea typeface="Microsoft YaHei"/>
                    <a:cs typeface="Arial"/>
                  </a:rPr>
                  <a:t>写东西：邮件、汇报、方案，</a:t>
                </a:r>
              </a:p>
            </p:txBody>
          </p:sp>
          <p:sp>
            <p:nvSpPr>
              <p:cNvPr id="45" name="TextBox 45"/>
              <p:cNvSpPr txBox="1"/>
              <p:nvPr/>
            </p:nvSpPr>
            <p:spPr>
              <a:xfrm>
                <a:off x="4520565" y="3906202"/>
                <a:ext cx="2266950" cy="21336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l"/>
                <a:r>
                  <a:rPr lang="zh-CN" sz="1050" dirty="0">
                    <a:solidFill>
                      <a:srgbClr val="5B6B82"/>
                    </a:solidFill>
                    <a:latin typeface="Arial"/>
                    <a:ea typeface="Microsoft YaHei"/>
                    <a:cs typeface="Arial"/>
                  </a:rPr>
                  <a:t>10 分钟出初稿；做东西：</a:t>
                </a:r>
              </a:p>
            </p:txBody>
          </p:sp>
          <p:sp>
            <p:nvSpPr>
              <p:cNvPr id="46" name="TextBox 46"/>
              <p:cNvSpPr txBox="1"/>
              <p:nvPr/>
            </p:nvSpPr>
            <p:spPr>
              <a:xfrm>
                <a:off x="4520565" y="4153852"/>
                <a:ext cx="2063925" cy="21336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l"/>
                <a:r>
                  <a:rPr lang="zh-CN" sz="1050" dirty="0">
                    <a:solidFill>
                      <a:srgbClr val="5B6B82"/>
                    </a:solidFill>
                    <a:latin typeface="Arial"/>
                    <a:ea typeface="Microsoft YaHei"/>
                    <a:cs typeface="Arial"/>
                  </a:rPr>
                  <a:t>PPT 提纲、表格公式、网页稿；</a:t>
                </a:r>
              </a:p>
            </p:txBody>
          </p:sp>
          <p:sp>
            <p:nvSpPr>
              <p:cNvPr id="47" name="TextBox 47"/>
              <p:cNvSpPr txBox="1"/>
              <p:nvPr/>
            </p:nvSpPr>
            <p:spPr>
              <a:xfrm>
                <a:off x="4520565" y="4401502"/>
                <a:ext cx="1706880" cy="21336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l"/>
                <a:r>
                  <a:rPr lang="zh-CN" sz="1050" dirty="0">
                    <a:solidFill>
                      <a:srgbClr val="5B6B82"/>
                    </a:solidFill>
                    <a:latin typeface="Arial"/>
                    <a:ea typeface="Microsoft YaHei"/>
                    <a:cs typeface="Arial"/>
                  </a:rPr>
                  <a:t>海报图片，描述就出。</a:t>
                </a:r>
              </a:p>
            </p:txBody>
          </p:sp>
        </p:grpSp>
        <p:grpSp>
          <p:nvGrpSpPr>
            <p:cNvPr id="61" name="Group 61"/>
            <p:cNvGrpSpPr/>
            <p:nvPr/>
          </p:nvGrpSpPr>
          <p:grpSpPr>
            <a:xfrm>
              <a:off x="8039100" y="1619250"/>
              <a:ext cx="3524250" cy="3810000"/>
              <a:chOff x="8039100" y="1619250"/>
              <a:chExt cx="3524250" cy="3810000"/>
            </a:xfrm>
          </p:grpSpPr>
          <p:sp>
            <p:nvSpPr>
              <p:cNvPr id="49" name="Rectangle 49"/>
              <p:cNvSpPr/>
              <p:nvPr/>
            </p:nvSpPr>
            <p:spPr>
              <a:xfrm>
                <a:off x="8039100" y="1619250"/>
                <a:ext cx="3524250" cy="3810000"/>
              </a:xfrm>
              <a:prstGeom prst="roundRect">
                <a:avLst>
                  <a:gd name="adj" fmla="val 4324"/>
                </a:avLst>
              </a:prstGeom>
              <a:solidFill>
                <a:srgbClr val="FFFFFF"/>
              </a:solidFill>
              <a:ln w="9525">
                <a:solidFill>
                  <a:srgbClr val="D8E1EC"/>
                </a:solidFill>
              </a:ln>
            </p:spPr>
            <p:txBody>
              <a:bodyPr/>
              <a:p/>
            </p:txBody>
          </p:sp>
          <p:sp>
            <p:nvSpPr>
              <p:cNvPr id="50" name="Rectangle 50"/>
              <p:cNvSpPr/>
              <p:nvPr/>
            </p:nvSpPr>
            <p:spPr>
              <a:xfrm>
                <a:off x="8267700" y="1885950"/>
                <a:ext cx="914400" cy="323850"/>
              </a:xfrm>
              <a:prstGeom prst="roundRect">
                <a:avLst>
                  <a:gd name="adj" fmla="val 50000"/>
                </a:avLst>
              </a:prstGeom>
              <a:solidFill>
                <a:srgbClr val="D6E6F9"/>
              </a:solidFill>
              <a:ln>
                <a:noFill/>
              </a:ln>
            </p:spPr>
            <p:txBody>
              <a:bodyPr/>
              <a:p/>
            </p:txBody>
          </p:sp>
          <p:sp>
            <p:nvSpPr>
              <p:cNvPr id="51" name="TextBox 51"/>
              <p:cNvSpPr txBox="1"/>
              <p:nvPr/>
            </p:nvSpPr>
            <p:spPr>
              <a:xfrm>
                <a:off x="8474333" y="1983581"/>
                <a:ext cx="501134" cy="2286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ctr"/>
                <a:r>
                  <a:rPr lang="zh-CN" sz="1125" b="1" dirty="0">
                    <a:solidFill>
                      <a:srgbClr val="0B4EA2"/>
                    </a:solidFill>
                    <a:latin typeface="Arial"/>
                    <a:ea typeface="Microsoft YaHei"/>
                    <a:cs typeface="Arial"/>
                  </a:rPr>
                  <a:t>决策</a:t>
                </a:r>
              </a:p>
            </p:txBody>
          </p:sp>
          <p:sp>
            <p:nvSpPr>
              <p:cNvPr id="52" name="Ellipse 52"/>
              <p:cNvSpPr/>
              <p:nvPr/>
            </p:nvSpPr>
            <p:spPr>
              <a:xfrm>
                <a:off x="11125200" y="1838325"/>
                <a:ext cx="419100" cy="419100"/>
              </a:xfrm>
              <a:prstGeom prst="ellipse">
                <a:avLst/>
              </a:prstGeom>
              <a:solidFill>
                <a:srgbClr val="D6E6F9"/>
              </a:solidFill>
              <a:ln>
                <a:noFill/>
              </a:ln>
            </p:spPr>
            <p:txBody>
              <a:bodyPr/>
              <a:p/>
            </p:txBody>
          </p:sp>
          <p:sp>
            <p:nvSpPr>
              <p:cNvPr id="53" name="Freeform 53"/>
              <p:cNvSpPr/>
              <p:nvPr/>
            </p:nvSpPr>
            <p:spPr>
              <a:xfrm>
                <a:off x="11239271" y="1964293"/>
                <a:ext cx="190157" cy="168564"/>
              </a:xfrm>
              <a:custGeom>
                <a:avLst/>
                <a:gdLst/>
                <a:ahLst/>
                <a:cxnLst/>
                <a:rect l="l" t="t" r="r" b="b"/>
                <a:pathLst>
                  <a:path w="190157" h="168564">
                    <a:moveTo>
                      <a:pt x="9754" y="159782"/>
                    </a:moveTo>
                    <a:lnTo>
                      <a:pt x="22136" y="122634"/>
                    </a:lnTo>
                    <a:cubicBezTo>
                      <a:pt x="0" y="89897"/>
                      <a:pt x="8553" y="47654"/>
                      <a:pt x="42139" y="23822"/>
                    </a:cubicBezTo>
                    <a:cubicBezTo>
                      <a:pt x="75724" y="0"/>
                      <a:pt x="123958" y="1953"/>
                      <a:pt x="154962" y="28394"/>
                    </a:cubicBezTo>
                    <a:cubicBezTo>
                      <a:pt x="185966" y="54845"/>
                      <a:pt x="190157" y="97603"/>
                      <a:pt x="164763" y="128416"/>
                    </a:cubicBezTo>
                    <a:cubicBezTo>
                      <a:pt x="139370" y="159229"/>
                      <a:pt x="92231" y="168564"/>
                      <a:pt x="54521" y="150257"/>
                    </a:cubicBezTo>
                    <a:lnTo>
                      <a:pt x="9754" y="159782"/>
                    </a:lnTo>
                  </a:path>
                </a:pathLst>
              </a:custGeom>
              <a:noFill/>
              <a:ln w="19050">
                <a:solidFill>
                  <a:srgbClr val="1565D8"/>
                </a:solidFill>
              </a:ln>
            </p:spPr>
            <p:txBody>
              <a:bodyPr/>
              <a:p/>
            </p:txBody>
          </p:sp>
          <p:sp>
            <p:nvSpPr>
              <p:cNvPr id="54" name="TextBox 54"/>
              <p:cNvSpPr txBox="1"/>
              <p:nvPr/>
            </p:nvSpPr>
            <p:spPr>
              <a:xfrm>
                <a:off x="8246745" y="2565082"/>
                <a:ext cx="1659112" cy="33528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l"/>
                <a:r>
                  <a:rPr lang="zh-CN" sz="1650" b="1" dirty="0">
                    <a:solidFill>
                      <a:srgbClr val="2B3648"/>
                    </a:solidFill>
                    <a:latin typeface="Arial"/>
                    <a:ea typeface="Microsoft YaHei"/>
                    <a:cs typeface="Arial"/>
                  </a:rPr>
                  <a:t>帮你拿主意</a:t>
                </a:r>
              </a:p>
            </p:txBody>
          </p:sp>
          <p:sp>
            <p:nvSpPr>
              <p:cNvPr id="55" name="Rectangle 55"/>
              <p:cNvSpPr/>
              <p:nvPr/>
            </p:nvSpPr>
            <p:spPr>
              <a:xfrm>
                <a:off x="8267700" y="2971800"/>
                <a:ext cx="3067050" cy="419100"/>
              </a:xfrm>
              <a:prstGeom prst="roundRect">
                <a:avLst>
                  <a:gd name="adj" fmla="val 36364"/>
                </a:avLst>
              </a:prstGeom>
              <a:solidFill>
                <a:srgbClr val="D6E6F9"/>
              </a:solidFill>
              <a:ln>
                <a:noFill/>
              </a:ln>
            </p:spPr>
            <p:txBody>
              <a:bodyPr/>
              <a:p/>
            </p:txBody>
          </p:sp>
          <p:sp>
            <p:nvSpPr>
              <p:cNvPr id="56" name="TextBox 56"/>
              <p:cNvSpPr txBox="1"/>
              <p:nvPr/>
            </p:nvSpPr>
            <p:spPr>
              <a:xfrm>
                <a:off x="8441055" y="3102292"/>
                <a:ext cx="1735503" cy="27432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l"/>
                <a:r>
                  <a:rPr lang="zh-CN" sz="1350" b="1" dirty="0">
                    <a:solidFill>
                      <a:srgbClr val="0B4EA2"/>
                    </a:solidFill>
                    <a:latin typeface="Arial"/>
                    <a:ea typeface="Microsoft YaHei"/>
                    <a:cs typeface="Arial"/>
                  </a:rPr>
                  <a:t>它出主意，你拍板</a:t>
                </a:r>
              </a:p>
            </p:txBody>
          </p:sp>
          <p:sp>
            <p:nvSpPr>
              <p:cNvPr id="57" name="TextBox 57"/>
              <p:cNvSpPr txBox="1"/>
              <p:nvPr/>
            </p:nvSpPr>
            <p:spPr>
              <a:xfrm>
                <a:off x="8254365" y="3658552"/>
                <a:ext cx="2007918" cy="21336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l"/>
                <a:r>
                  <a:rPr lang="zh-CN" sz="1050" dirty="0">
                    <a:solidFill>
                      <a:srgbClr val="5B6B82"/>
                    </a:solidFill>
                    <a:latin typeface="Arial"/>
                    <a:ea typeface="Microsoft YaHei"/>
                    <a:cs typeface="Arial"/>
                  </a:rPr>
                  <a:t>它帮你比方案、列利弊，</a:t>
                </a:r>
              </a:p>
            </p:txBody>
          </p:sp>
          <p:sp>
            <p:nvSpPr>
              <p:cNvPr id="58" name="TextBox 58"/>
              <p:cNvSpPr txBox="1"/>
              <p:nvPr/>
            </p:nvSpPr>
            <p:spPr>
              <a:xfrm>
                <a:off x="8254365" y="3906202"/>
                <a:ext cx="2126932" cy="21336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l"/>
                <a:r>
                  <a:rPr lang="zh-CN" sz="1050" dirty="0">
                    <a:solidFill>
                      <a:srgbClr val="5B6B82"/>
                    </a:solidFill>
                    <a:latin typeface="Arial"/>
                    <a:ea typeface="Microsoft YaHei"/>
                    <a:cs typeface="Arial"/>
                  </a:rPr>
                  <a:t>预判风险、提醒你漏掉的事；</a:t>
                </a:r>
              </a:p>
            </p:txBody>
          </p:sp>
          <p:sp>
            <p:nvSpPr>
              <p:cNvPr id="59" name="TextBox 59"/>
              <p:cNvSpPr txBox="1"/>
              <p:nvPr/>
            </p:nvSpPr>
            <p:spPr>
              <a:xfrm>
                <a:off x="8254365" y="4153852"/>
                <a:ext cx="2126932" cy="21336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l"/>
                <a:r>
                  <a:rPr lang="zh-CN" sz="1050" dirty="0">
                    <a:solidFill>
                      <a:srgbClr val="5B6B82"/>
                    </a:solidFill>
                    <a:latin typeface="Arial"/>
                    <a:ea typeface="Microsoft YaHei"/>
                    <a:cs typeface="Arial"/>
                  </a:rPr>
                  <a:t>但最终那个确认按钮，</a:t>
                </a:r>
              </a:p>
            </p:txBody>
          </p:sp>
          <p:sp>
            <p:nvSpPr>
              <p:cNvPr id="60" name="TextBox 60"/>
              <p:cNvSpPr txBox="1"/>
              <p:nvPr/>
            </p:nvSpPr>
            <p:spPr>
              <a:xfrm>
                <a:off x="8254365" y="4401502"/>
                <a:ext cx="1286828" cy="21336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l"/>
                <a:r>
                  <a:rPr lang="zh-CN" sz="1050" dirty="0">
                    <a:solidFill>
                      <a:srgbClr val="5B6B82"/>
                    </a:solidFill>
                    <a:latin typeface="Arial"/>
                    <a:ea typeface="Microsoft YaHei"/>
                    <a:cs typeface="Arial"/>
                  </a:rPr>
                  <a:t>永远在你手里。</a:t>
                </a:r>
              </a:p>
            </p:txBody>
          </p:sp>
        </p:grpSp>
      </p:grpSp>
      <p:grpSp>
        <p:nvGrpSpPr>
          <p:cNvPr id="65" name="Group 65"/>
          <p:cNvGrpSpPr/>
          <p:nvPr/>
        </p:nvGrpSpPr>
        <p:grpSpPr>
          <a:xfrm>
            <a:off x="560070" y="6341745"/>
            <a:ext cx="11071860" cy="182880"/>
            <a:chOff x="560070" y="6341745"/>
            <a:chExt cx="11071860" cy="182880"/>
          </a:xfrm>
        </p:grpSpPr>
        <p:sp>
          <p:nvSpPr>
            <p:cNvPr id="63" name="TextBox 63"/>
            <p:cNvSpPr txBox="1"/>
            <p:nvPr/>
          </p:nvSpPr>
          <p:spPr>
            <a:xfrm>
              <a:off x="560070" y="6341745"/>
              <a:ext cx="1054989" cy="18288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00" dirty="0">
                  <a:solidFill>
                    <a:srgbClr val="8B99AE"/>
                  </a:solidFill>
                  <a:latin typeface="Arial"/>
                  <a:ea typeface="Microsoft YaHei"/>
                  <a:cs typeface="Arial"/>
                </a:rPr>
                <a:t>大模型通识 · 企业版</a:t>
              </a:r>
            </a:p>
          </p:txBody>
        </p:sp>
        <p:sp>
          <p:nvSpPr>
            <p:cNvPr id="64" name="TextBox 64"/>
            <p:cNvSpPr txBox="1"/>
            <p:nvPr/>
          </p:nvSpPr>
          <p:spPr>
            <a:xfrm>
              <a:off x="11273028" y="6341745"/>
              <a:ext cx="358902" cy="18288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r"/>
              <a:r>
                <a:rPr lang="zh-CN" sz="900" dirty="0">
                  <a:solidFill>
                    <a:srgbClr val="8B99AE"/>
                  </a:solidFill>
                  <a:latin typeface="Arial"/>
                  <a:ea typeface="Microsoft YaHei"/>
                  <a:cs typeface="Arial"/>
                </a:rPr>
                <a:t>9 / 51</a:t>
              </a:r>
            </a:p>
          </p:txBody>
        </p:sp>
      </p:grp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5" name="Group 5"/>
          <p:cNvGrpSpPr/>
          <p:nvPr/>
        </p:nvGrpSpPr>
        <p:grpSpPr>
          <a:xfrm>
            <a:off x="0" y="0"/>
            <a:ext cx="14192250" cy="8953500"/>
            <a:chOff x="0" y="0"/>
            <a:chExt cx="14192250" cy="8953500"/>
          </a:xfrm>
        </p:grpSpPr>
        <p:sp>
          <p:nvSpPr>
            <p:cNvPr id="2" name="Rectangle 2"/>
            <p:cNvSpPr/>
            <p:nvPr/>
          </p:nvSpPr>
          <p:spPr>
            <a:xfrm>
              <a:off x="0" y="0"/>
              <a:ext cx="12192000" cy="6858000"/>
            </a:xfrm>
            <a:prstGeom prst="rect">
              <a:avLst/>
            </a:prstGeom>
            <a:solidFill>
              <a:srgbClr val="F5F7FA"/>
            </a:solidFill>
            <a:ln>
              <a:noFill/>
            </a:ln>
          </p:spPr>
          <p:txBody>
            <a:bodyPr/>
            <a:p/>
          </p:txBody>
        </p:sp>
        <p:sp>
          <p:nvSpPr>
            <p:cNvPr id="3" name="Rectangle 3"/>
            <p:cNvSpPr/>
            <p:nvPr/>
          </p:nvSpPr>
          <p:spPr>
            <a:xfrm>
              <a:off x="0" y="0"/>
              <a:ext cx="12192000" cy="6858000"/>
            </a:xfrm>
            <a:prstGeom prst="rect">
              <a:avLst/>
            </a:prstGeom>
            <a:gradFill>
              <a:gsLst>
                <a:gs pos="0">
                  <a:srgbClr val="1565D8">
                    <a:alpha val="6000"/>
                  </a:srgbClr>
                </a:gs>
                <a:gs pos="100000">
                  <a:srgbClr val="1565D8">
                    <a:alpha val="0"/>
                  </a:srgbClr>
                </a:gs>
              </a:gsLst>
              <a:path path="circle">
                <a:fillToRect l="50000" t="50000" r="50000" b="50000"/>
              </a:path>
            </a:gradFill>
            <a:ln>
              <a:noFill/>
            </a:ln>
          </p:spPr>
          <p:txBody>
            <a:bodyPr/>
            <a:p/>
          </p:txBody>
        </p:sp>
        <p:sp>
          <p:nvSpPr>
            <p:cNvPr id="4" name="Ellipse 4"/>
            <p:cNvSpPr/>
            <p:nvPr/>
          </p:nvSpPr>
          <p:spPr>
            <a:xfrm>
              <a:off x="9620250" y="4381500"/>
              <a:ext cx="4572000" cy="4572000"/>
            </a:xfrm>
            <a:prstGeom prst="ellipse">
              <a:avLst/>
            </a:prstGeom>
            <a:noFill/>
            <a:ln w="14288">
              <a:solidFill>
                <a:srgbClr val="D6E6F9">
                  <a:alpha val="80000"/>
                </a:srgbClr>
              </a:solidFill>
            </a:ln>
          </p:spPr>
          <p:txBody>
            <a:bodyPr/>
            <a:p/>
          </p:txBody>
        </p:sp>
      </p:grpSp>
      <p:grpSp>
        <p:nvGrpSpPr>
          <p:cNvPr id="9" name="Group 9"/>
          <p:cNvGrpSpPr/>
          <p:nvPr/>
        </p:nvGrpSpPr>
        <p:grpSpPr>
          <a:xfrm>
            <a:off x="571500" y="685800"/>
            <a:ext cx="4764310" cy="700088"/>
            <a:chOff x="571500" y="685800"/>
            <a:chExt cx="4764310" cy="700088"/>
          </a:xfrm>
        </p:grpSpPr>
        <p:sp>
          <p:nvSpPr>
            <p:cNvPr id="6" name="Rectangle 6"/>
            <p:cNvSpPr/>
            <p:nvPr/>
          </p:nvSpPr>
          <p:spPr>
            <a:xfrm>
              <a:off x="571500" y="685800"/>
              <a:ext cx="76200" cy="323850"/>
            </a:xfrm>
            <a:prstGeom prst="roundRect">
              <a:avLst>
                <a:gd name="adj" fmla="val 50000"/>
              </a:avLst>
            </a:prstGeom>
            <a:solidFill>
              <a:srgbClr val="1565D8"/>
            </a:solidFill>
            <a:ln>
              <a:noFill/>
            </a:ln>
          </p:spPr>
          <p:txBody>
            <a:bodyPr/>
            <a:p/>
          </p:txBody>
        </p:sp>
        <p:sp>
          <p:nvSpPr>
            <p:cNvPr id="7" name="TextBox 7"/>
            <p:cNvSpPr txBox="1"/>
            <p:nvPr/>
          </p:nvSpPr>
          <p:spPr>
            <a:xfrm>
              <a:off x="771525" y="700088"/>
              <a:ext cx="2939760" cy="45720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2250" b="1" dirty="0">
                  <a:solidFill>
                    <a:srgbClr val="2B3648"/>
                  </a:solidFill>
                  <a:latin typeface="Arial"/>
                  <a:ea typeface="Microsoft YaHei"/>
                  <a:cs typeface="Arial"/>
                </a:rPr>
                <a:t>AI 家族树：层层包含</a:t>
              </a:r>
            </a:p>
          </p:txBody>
        </p:sp>
        <p:sp>
          <p:nvSpPr>
            <p:cNvPr id="8" name="TextBox 8"/>
            <p:cNvSpPr txBox="1"/>
            <p:nvPr/>
          </p:nvSpPr>
          <p:spPr>
            <a:xfrm>
              <a:off x="782955" y="1111568"/>
              <a:ext cx="4552855" cy="27432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5B6B82"/>
                  </a:solidFill>
                  <a:latin typeface="Arial"/>
                  <a:ea typeface="Microsoft YaHei"/>
                  <a:cs typeface="Arial"/>
                </a:rPr>
                <a:t>越往下，越具体——你平时说的「大模型」，是最下面那支</a:t>
              </a:r>
            </a:p>
          </p:txBody>
        </p:sp>
      </p:grpSp>
      <p:grpSp>
        <p:nvGrpSpPr>
          <p:cNvPr id="20" name="Group 20"/>
          <p:cNvGrpSpPr/>
          <p:nvPr/>
        </p:nvGrpSpPr>
        <p:grpSpPr>
          <a:xfrm>
            <a:off x="523875" y="1619250"/>
            <a:ext cx="5238750" cy="3810000"/>
            <a:chOff x="523875" y="1619250"/>
            <a:chExt cx="5238750" cy="3810000"/>
          </a:xfrm>
        </p:grpSpPr>
        <p:sp>
          <p:nvSpPr>
            <p:cNvPr id="10" name="Polygon 10"/>
            <p:cNvSpPr/>
            <p:nvPr/>
          </p:nvSpPr>
          <p:spPr>
            <a:xfrm>
              <a:off x="1381125" y="1619250"/>
              <a:ext cx="3524250" cy="685800"/>
            </a:xfrm>
            <a:custGeom>
              <a:avLst/>
              <a:gdLst/>
              <a:ahLst/>
              <a:cxnLst/>
              <a:rect l="l" t="t" r="r" b="b"/>
              <a:pathLst>
                <a:path w="3524250" h="685800">
                  <a:moveTo>
                    <a:pt x="142875" y="0"/>
                  </a:moveTo>
                  <a:lnTo>
                    <a:pt x="3381375" y="0"/>
                  </a:lnTo>
                  <a:lnTo>
                    <a:pt x="3524250" y="685800"/>
                  </a:lnTo>
                  <a:lnTo>
                    <a:pt x="0" y="685800"/>
                  </a:lnTo>
                  <a:close/>
                </a:path>
              </a:pathLst>
            </a:custGeom>
            <a:solidFill>
              <a:srgbClr val="D6E6F9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1" name="TextBox 11"/>
            <p:cNvSpPr txBox="1"/>
            <p:nvPr/>
          </p:nvSpPr>
          <p:spPr>
            <a:xfrm>
              <a:off x="2639369" y="1892618"/>
              <a:ext cx="1007762" cy="27432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350" b="1" dirty="0">
                  <a:solidFill>
                    <a:srgbClr val="0B4EA2"/>
                  </a:solidFill>
                  <a:latin typeface="Arial"/>
                  <a:ea typeface="Microsoft YaHei"/>
                  <a:cs typeface="Arial"/>
                </a:rPr>
                <a:t>人工智能 AI</a:t>
              </a:r>
            </a:p>
          </p:txBody>
        </p:sp>
        <p:sp>
          <p:nvSpPr>
            <p:cNvPr id="12" name="Polygon 12"/>
            <p:cNvSpPr/>
            <p:nvPr/>
          </p:nvSpPr>
          <p:spPr>
            <a:xfrm>
              <a:off x="1095375" y="2400300"/>
              <a:ext cx="4095750" cy="685800"/>
            </a:xfrm>
            <a:custGeom>
              <a:avLst/>
              <a:gdLst/>
              <a:ahLst/>
              <a:cxnLst/>
              <a:rect l="l" t="t" r="r" b="b"/>
              <a:pathLst>
                <a:path w="4095750" h="685800">
                  <a:moveTo>
                    <a:pt x="142875" y="0"/>
                  </a:moveTo>
                  <a:lnTo>
                    <a:pt x="3952875" y="0"/>
                  </a:lnTo>
                  <a:lnTo>
                    <a:pt x="4095750" y="685800"/>
                  </a:lnTo>
                  <a:lnTo>
                    <a:pt x="0" y="685800"/>
                  </a:lnTo>
                  <a:close/>
                </a:path>
              </a:pathLst>
            </a:custGeom>
            <a:solidFill>
              <a:srgbClr val="35A3E8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3" name="TextBox 13"/>
            <p:cNvSpPr txBox="1"/>
            <p:nvPr/>
          </p:nvSpPr>
          <p:spPr>
            <a:xfrm>
              <a:off x="2596839" y="2673668"/>
              <a:ext cx="1092822" cy="27432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350" b="1" dirty="0">
                  <a:solidFill>
                    <a:srgbClr val="FFFFFF"/>
                  </a:solidFill>
                  <a:latin typeface="Arial"/>
                  <a:ea typeface="Microsoft YaHei"/>
                  <a:cs typeface="Arial"/>
                </a:rPr>
                <a:t>机器学习 ML</a:t>
              </a:r>
            </a:p>
          </p:txBody>
        </p:sp>
        <p:sp>
          <p:nvSpPr>
            <p:cNvPr id="14" name="Polygon 14"/>
            <p:cNvSpPr/>
            <p:nvPr/>
          </p:nvSpPr>
          <p:spPr>
            <a:xfrm>
              <a:off x="809625" y="3181350"/>
              <a:ext cx="4667250" cy="685800"/>
            </a:xfrm>
            <a:custGeom>
              <a:avLst/>
              <a:gdLst/>
              <a:ahLst/>
              <a:cxnLst/>
              <a:rect l="l" t="t" r="r" b="b"/>
              <a:pathLst>
                <a:path w="4667250" h="685800">
                  <a:moveTo>
                    <a:pt x="142875" y="0"/>
                  </a:moveTo>
                  <a:lnTo>
                    <a:pt x="4524375" y="0"/>
                  </a:lnTo>
                  <a:lnTo>
                    <a:pt x="4667250" y="685800"/>
                  </a:lnTo>
                  <a:lnTo>
                    <a:pt x="0" y="685800"/>
                  </a:lnTo>
                  <a:close/>
                </a:path>
              </a:pathLst>
            </a:custGeom>
            <a:solidFill>
              <a:srgbClr val="1565D8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5" name="TextBox 15"/>
            <p:cNvSpPr txBox="1"/>
            <p:nvPr/>
          </p:nvSpPr>
          <p:spPr>
            <a:xfrm>
              <a:off x="2615741" y="3454718"/>
              <a:ext cx="1055018" cy="27432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350" b="1" dirty="0">
                  <a:solidFill>
                    <a:srgbClr val="FFFFFF"/>
                  </a:solidFill>
                  <a:latin typeface="Arial"/>
                  <a:ea typeface="Microsoft YaHei"/>
                  <a:cs typeface="Arial"/>
                </a:rPr>
                <a:t>深度学习 DL</a:t>
              </a:r>
            </a:p>
          </p:txBody>
        </p:sp>
        <p:sp>
          <p:nvSpPr>
            <p:cNvPr id="16" name="Polygon 16"/>
            <p:cNvSpPr/>
            <p:nvPr/>
          </p:nvSpPr>
          <p:spPr>
            <a:xfrm>
              <a:off x="523875" y="3962400"/>
              <a:ext cx="5238750" cy="685800"/>
            </a:xfrm>
            <a:custGeom>
              <a:avLst/>
              <a:gdLst/>
              <a:ahLst/>
              <a:cxnLst/>
              <a:rect l="l" t="t" r="r" b="b"/>
              <a:pathLst>
                <a:path w="5238750" h="685800">
                  <a:moveTo>
                    <a:pt x="142875" y="0"/>
                  </a:moveTo>
                  <a:lnTo>
                    <a:pt x="5095875" y="0"/>
                  </a:lnTo>
                  <a:lnTo>
                    <a:pt x="5238750" y="685800"/>
                  </a:lnTo>
                  <a:lnTo>
                    <a:pt x="0" y="685800"/>
                  </a:lnTo>
                  <a:close/>
                </a:path>
              </a:pathLst>
            </a:custGeom>
            <a:solidFill>
              <a:srgbClr val="0B4EA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7" name="TextBox 17"/>
            <p:cNvSpPr txBox="1"/>
            <p:nvPr/>
          </p:nvSpPr>
          <p:spPr>
            <a:xfrm>
              <a:off x="2639369" y="4235768"/>
              <a:ext cx="1007762" cy="27432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350" b="1" dirty="0">
                  <a:solidFill>
                    <a:srgbClr val="FFFFFF"/>
                  </a:solidFill>
                  <a:latin typeface="Arial"/>
                  <a:ea typeface="Microsoft YaHei"/>
                  <a:cs typeface="Arial"/>
                </a:rPr>
                <a:t>大模型 LLM</a:t>
              </a:r>
            </a:p>
          </p:txBody>
        </p:sp>
        <p:sp>
          <p:nvSpPr>
            <p:cNvPr id="18" name="Rectangle 18"/>
            <p:cNvSpPr/>
            <p:nvPr/>
          </p:nvSpPr>
          <p:spPr>
            <a:xfrm>
              <a:off x="523875" y="4743450"/>
              <a:ext cx="5238750" cy="685800"/>
            </a:xfrm>
            <a:prstGeom prst="roundRect">
              <a:avLst>
                <a:gd name="adj" fmla="val 22222"/>
              </a:avLst>
            </a:prstGeom>
            <a:solidFill>
              <a:srgbClr val="FFFFFF"/>
            </a:solidFill>
            <a:ln w="19050">
              <a:solidFill>
                <a:srgbClr val="1565D8"/>
              </a:solidFill>
            </a:ln>
          </p:spPr>
          <p:txBody>
            <a:bodyPr/>
            <a:p/>
          </p:txBody>
        </p:sp>
        <p:sp>
          <p:nvSpPr>
            <p:cNvPr id="19" name="TextBox 19"/>
            <p:cNvSpPr txBox="1"/>
            <p:nvPr/>
          </p:nvSpPr>
          <p:spPr>
            <a:xfrm>
              <a:off x="2733881" y="5016818"/>
              <a:ext cx="818738" cy="27432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350" b="1" dirty="0">
                  <a:solidFill>
                    <a:srgbClr val="1565D8"/>
                  </a:solidFill>
                  <a:latin typeface="Arial"/>
                  <a:ea typeface="Microsoft YaHei"/>
                  <a:cs typeface="Arial"/>
                </a:rPr>
                <a:t>生成式 AI</a:t>
              </a:r>
            </a:p>
          </p:txBody>
        </p:sp>
      </p:grpSp>
      <p:grpSp>
        <p:nvGrpSpPr>
          <p:cNvPr id="26" name="Group 26"/>
          <p:cNvGrpSpPr/>
          <p:nvPr/>
        </p:nvGrpSpPr>
        <p:grpSpPr>
          <a:xfrm>
            <a:off x="4791075" y="1962150"/>
            <a:ext cx="1495425" cy="3133725"/>
            <a:chOff x="4791075" y="1962150"/>
            <a:chExt cx="1495425" cy="3133725"/>
          </a:xfrm>
        </p:grpSpPr>
        <p:sp>
          <p:nvSpPr>
            <p:cNvPr id="21" name="Line 21"/>
            <p:cNvSpPr/>
            <p:nvPr/>
          </p:nvSpPr>
          <p:spPr>
            <a:xfrm>
              <a:off x="4791075" y="1962150"/>
              <a:ext cx="1495425" cy="9525"/>
            </a:xfrm>
            <a:custGeom>
              <a:avLst/>
              <a:gdLst/>
              <a:ahLst/>
              <a:cxnLst/>
              <a:rect l="l" t="t" r="r" b="b"/>
              <a:pathLst>
                <a:path w="1495425" h="9525">
                  <a:moveTo>
                    <a:pt x="0" y="0"/>
                  </a:moveTo>
                  <a:lnTo>
                    <a:pt x="1495425" y="0"/>
                  </a:lnTo>
                </a:path>
              </a:pathLst>
            </a:custGeom>
            <a:noFill/>
            <a:ln w="14288">
              <a:solidFill>
                <a:srgbClr val="D8E1EC"/>
              </a:solidFill>
              <a:prstDash val="dash"/>
            </a:ln>
          </p:spPr>
          <p:txBody>
            <a:bodyPr/>
            <a:p/>
          </p:txBody>
        </p:sp>
        <p:sp>
          <p:nvSpPr>
            <p:cNvPr id="22" name="Line 22"/>
            <p:cNvSpPr/>
            <p:nvPr/>
          </p:nvSpPr>
          <p:spPr>
            <a:xfrm>
              <a:off x="5124450" y="2743200"/>
              <a:ext cx="1162050" cy="9525"/>
            </a:xfrm>
            <a:custGeom>
              <a:avLst/>
              <a:gdLst/>
              <a:ahLst/>
              <a:cxnLst/>
              <a:rect l="l" t="t" r="r" b="b"/>
              <a:pathLst>
                <a:path w="1162050" h="9525">
                  <a:moveTo>
                    <a:pt x="0" y="0"/>
                  </a:moveTo>
                  <a:lnTo>
                    <a:pt x="1162050" y="0"/>
                  </a:lnTo>
                </a:path>
              </a:pathLst>
            </a:custGeom>
            <a:noFill/>
            <a:ln w="14288">
              <a:solidFill>
                <a:srgbClr val="D8E1EC"/>
              </a:solidFill>
              <a:prstDash val="dash"/>
            </a:ln>
          </p:spPr>
          <p:txBody>
            <a:bodyPr/>
            <a:p/>
          </p:txBody>
        </p:sp>
        <p:sp>
          <p:nvSpPr>
            <p:cNvPr id="23" name="Line 23"/>
            <p:cNvSpPr/>
            <p:nvPr/>
          </p:nvSpPr>
          <p:spPr>
            <a:xfrm>
              <a:off x="5410200" y="3524250"/>
              <a:ext cx="876300" cy="9525"/>
            </a:xfrm>
            <a:custGeom>
              <a:avLst/>
              <a:gdLst/>
              <a:ahLst/>
              <a:cxnLst/>
              <a:rect l="l" t="t" r="r" b="b"/>
              <a:pathLst>
                <a:path w="876300" h="9525">
                  <a:moveTo>
                    <a:pt x="0" y="0"/>
                  </a:moveTo>
                  <a:lnTo>
                    <a:pt x="876300" y="0"/>
                  </a:lnTo>
                </a:path>
              </a:pathLst>
            </a:custGeom>
            <a:noFill/>
            <a:ln w="14288">
              <a:solidFill>
                <a:srgbClr val="D8E1EC"/>
              </a:solidFill>
              <a:prstDash val="dash"/>
            </a:ln>
          </p:spPr>
          <p:txBody>
            <a:bodyPr/>
            <a:p/>
          </p:txBody>
        </p:sp>
        <p:sp>
          <p:nvSpPr>
            <p:cNvPr id="24" name="Line 24"/>
            <p:cNvSpPr/>
            <p:nvPr/>
          </p:nvSpPr>
          <p:spPr>
            <a:xfrm>
              <a:off x="5695950" y="4305300"/>
              <a:ext cx="590550" cy="9525"/>
            </a:xfrm>
            <a:custGeom>
              <a:avLst/>
              <a:gdLst/>
              <a:ahLst/>
              <a:cxnLst/>
              <a:rect l="l" t="t" r="r" b="b"/>
              <a:pathLst>
                <a:path w="590550" h="9525">
                  <a:moveTo>
                    <a:pt x="0" y="0"/>
                  </a:moveTo>
                  <a:lnTo>
                    <a:pt x="590550" y="0"/>
                  </a:lnTo>
                </a:path>
              </a:pathLst>
            </a:custGeom>
            <a:noFill/>
            <a:ln w="14288">
              <a:solidFill>
                <a:srgbClr val="D8E1EC"/>
              </a:solidFill>
              <a:prstDash val="dash"/>
            </a:ln>
          </p:spPr>
          <p:txBody>
            <a:bodyPr/>
            <a:p/>
          </p:txBody>
        </p:sp>
        <p:sp>
          <p:nvSpPr>
            <p:cNvPr id="25" name="Line 25"/>
            <p:cNvSpPr/>
            <p:nvPr/>
          </p:nvSpPr>
          <p:spPr>
            <a:xfrm>
              <a:off x="5762625" y="5086350"/>
              <a:ext cx="523875" cy="9525"/>
            </a:xfrm>
            <a:custGeom>
              <a:avLst/>
              <a:gdLst/>
              <a:ahLst/>
              <a:cxnLst/>
              <a:rect l="l" t="t" r="r" b="b"/>
              <a:pathLst>
                <a:path w="523875" h="9525">
                  <a:moveTo>
                    <a:pt x="0" y="0"/>
                  </a:moveTo>
                  <a:lnTo>
                    <a:pt x="523875" y="0"/>
                  </a:lnTo>
                </a:path>
              </a:pathLst>
            </a:custGeom>
            <a:noFill/>
            <a:ln w="14288">
              <a:solidFill>
                <a:srgbClr val="1565D8"/>
              </a:solidFill>
              <a:prstDash val="dash"/>
            </a:ln>
          </p:spPr>
          <p:txBody>
            <a:bodyPr/>
            <a:p/>
          </p:txBody>
        </p:sp>
      </p:grpSp>
      <p:grpSp>
        <p:nvGrpSpPr>
          <p:cNvPr id="52" name="Group 52"/>
          <p:cNvGrpSpPr/>
          <p:nvPr/>
        </p:nvGrpSpPr>
        <p:grpSpPr>
          <a:xfrm>
            <a:off x="6286500" y="1619250"/>
            <a:ext cx="5334000" cy="3810000"/>
            <a:chOff x="6286500" y="1619250"/>
            <a:chExt cx="5334000" cy="3810000"/>
          </a:xfrm>
        </p:grpSpPr>
        <p:grpSp>
          <p:nvGrpSpPr>
            <p:cNvPr id="31" name="Group 31"/>
            <p:cNvGrpSpPr/>
            <p:nvPr/>
          </p:nvGrpSpPr>
          <p:grpSpPr>
            <a:xfrm>
              <a:off x="6286500" y="1619250"/>
              <a:ext cx="5334000" cy="685800"/>
              <a:chOff x="6286500" y="1619250"/>
              <a:chExt cx="5334000" cy="685800"/>
            </a:xfrm>
          </p:grpSpPr>
          <p:sp>
            <p:nvSpPr>
              <p:cNvPr id="27" name="Rectangle 27"/>
              <p:cNvSpPr/>
              <p:nvPr/>
            </p:nvSpPr>
            <p:spPr>
              <a:xfrm>
                <a:off x="6286500" y="1619250"/>
                <a:ext cx="5334000" cy="685800"/>
              </a:xfrm>
              <a:prstGeom prst="roundRect">
                <a:avLst>
                  <a:gd name="adj" fmla="val 22222"/>
                </a:avLst>
              </a:prstGeom>
              <a:solidFill>
                <a:srgbClr val="FFFFFF"/>
              </a:solidFill>
              <a:ln w="9525">
                <a:solidFill>
                  <a:srgbClr val="D8E1EC"/>
                </a:solidFill>
              </a:ln>
            </p:spPr>
            <p:txBody>
              <a:bodyPr/>
              <a:p/>
            </p:txBody>
          </p:sp>
          <p:sp>
            <p:nvSpPr>
              <p:cNvPr id="28" name="Rectangle 28"/>
              <p:cNvSpPr/>
              <p:nvPr/>
            </p:nvSpPr>
            <p:spPr>
              <a:xfrm>
                <a:off x="6286500" y="1619250"/>
                <a:ext cx="57150" cy="685800"/>
              </a:xfrm>
              <a:prstGeom prst="roundRect">
                <a:avLst>
                  <a:gd name="adj" fmla="val 50000"/>
                </a:avLst>
              </a:prstGeom>
              <a:solidFill>
                <a:srgbClr val="D6E6F9"/>
              </a:solidFill>
              <a:ln>
                <a:noFill/>
              </a:ln>
            </p:spPr>
            <p:txBody>
              <a:bodyPr/>
              <a:p/>
            </p:txBody>
          </p:sp>
          <p:sp>
            <p:nvSpPr>
              <p:cNvPr id="29" name="TextBox 29"/>
              <p:cNvSpPr txBox="1"/>
              <p:nvPr/>
            </p:nvSpPr>
            <p:spPr>
              <a:xfrm>
                <a:off x="6536055" y="1759268"/>
                <a:ext cx="1007762" cy="27432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l"/>
                <a:r>
                  <a:rPr lang="zh-CN" sz="1350" b="1" dirty="0">
                    <a:solidFill>
                      <a:srgbClr val="2B3648"/>
                    </a:solidFill>
                    <a:latin typeface="Arial"/>
                    <a:ea typeface="Microsoft YaHei"/>
                    <a:cs typeface="Arial"/>
                  </a:rPr>
                  <a:t>人工智能 AI</a:t>
                </a:r>
              </a:p>
            </p:txBody>
          </p:sp>
          <p:sp>
            <p:nvSpPr>
              <p:cNvPr id="30" name="TextBox 30"/>
              <p:cNvSpPr txBox="1"/>
              <p:nvPr/>
            </p:nvSpPr>
            <p:spPr>
              <a:xfrm>
                <a:off x="6539865" y="2039302"/>
                <a:ext cx="2841022" cy="21336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l"/>
                <a:r>
                  <a:rPr lang="zh-CN" sz="1050" dirty="0">
                    <a:solidFill>
                      <a:srgbClr val="5B6B82"/>
                    </a:solidFill>
                    <a:latin typeface="Arial"/>
                    <a:ea typeface="Microsoft YaHei"/>
                    <a:cs typeface="Arial"/>
                  </a:rPr>
                  <a:t>让机器像人一样「思考」的大目标——最大的圈</a:t>
                </a:r>
              </a:p>
            </p:txBody>
          </p:sp>
        </p:grpSp>
        <p:grpSp>
          <p:nvGrpSpPr>
            <p:cNvPr id="36" name="Group 36"/>
            <p:cNvGrpSpPr/>
            <p:nvPr/>
          </p:nvGrpSpPr>
          <p:grpSpPr>
            <a:xfrm>
              <a:off x="6286500" y="2400300"/>
              <a:ext cx="5334000" cy="685800"/>
              <a:chOff x="6286500" y="2400300"/>
              <a:chExt cx="5334000" cy="685800"/>
            </a:xfrm>
          </p:grpSpPr>
          <p:sp>
            <p:nvSpPr>
              <p:cNvPr id="32" name="Rectangle 32"/>
              <p:cNvSpPr/>
              <p:nvPr/>
            </p:nvSpPr>
            <p:spPr>
              <a:xfrm>
                <a:off x="6286500" y="2400300"/>
                <a:ext cx="5334000" cy="685800"/>
              </a:xfrm>
              <a:prstGeom prst="roundRect">
                <a:avLst>
                  <a:gd name="adj" fmla="val 22222"/>
                </a:avLst>
              </a:prstGeom>
              <a:solidFill>
                <a:srgbClr val="FFFFFF"/>
              </a:solidFill>
              <a:ln w="9525">
                <a:solidFill>
                  <a:srgbClr val="D8E1EC"/>
                </a:solidFill>
              </a:ln>
            </p:spPr>
            <p:txBody>
              <a:bodyPr/>
              <a:p/>
            </p:txBody>
          </p:sp>
          <p:sp>
            <p:nvSpPr>
              <p:cNvPr id="33" name="Rectangle 33"/>
              <p:cNvSpPr/>
              <p:nvPr/>
            </p:nvSpPr>
            <p:spPr>
              <a:xfrm>
                <a:off x="6286500" y="2400300"/>
                <a:ext cx="57150" cy="685800"/>
              </a:xfrm>
              <a:prstGeom prst="roundRect">
                <a:avLst>
                  <a:gd name="adj" fmla="val 50000"/>
                </a:avLst>
              </a:prstGeom>
              <a:solidFill>
                <a:srgbClr val="35A3E8"/>
              </a:solidFill>
              <a:ln>
                <a:noFill/>
              </a:ln>
            </p:spPr>
            <p:txBody>
              <a:bodyPr/>
              <a:p/>
            </p:txBody>
          </p:sp>
          <p:sp>
            <p:nvSpPr>
              <p:cNvPr id="34" name="TextBox 34"/>
              <p:cNvSpPr txBox="1"/>
              <p:nvPr/>
            </p:nvSpPr>
            <p:spPr>
              <a:xfrm>
                <a:off x="6536055" y="2540318"/>
                <a:ext cx="1092822" cy="27432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l"/>
                <a:r>
                  <a:rPr lang="zh-CN" sz="1350" b="1" dirty="0">
                    <a:solidFill>
                      <a:srgbClr val="2B3648"/>
                    </a:solidFill>
                    <a:latin typeface="Arial"/>
                    <a:ea typeface="Microsoft YaHei"/>
                    <a:cs typeface="Arial"/>
                  </a:rPr>
                  <a:t>机器学习 ML</a:t>
                </a:r>
              </a:p>
            </p:txBody>
          </p:sp>
          <p:sp>
            <p:nvSpPr>
              <p:cNvPr id="35" name="TextBox 35"/>
              <p:cNvSpPr txBox="1"/>
              <p:nvPr/>
            </p:nvSpPr>
            <p:spPr>
              <a:xfrm>
                <a:off x="6539865" y="2820352"/>
                <a:ext cx="1706880" cy="21336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l"/>
                <a:r>
                  <a:rPr lang="zh-CN" sz="1050" dirty="0">
                    <a:solidFill>
                      <a:srgbClr val="5B6B82"/>
                    </a:solidFill>
                    <a:latin typeface="Arial"/>
                    <a:ea typeface="Microsoft YaHei"/>
                    <a:cs typeface="Arial"/>
                  </a:rPr>
                  <a:t>让机器从数据里自己找规律</a:t>
                </a:r>
              </a:p>
            </p:txBody>
          </p:sp>
        </p:grpSp>
        <p:grpSp>
          <p:nvGrpSpPr>
            <p:cNvPr id="41" name="Group 41"/>
            <p:cNvGrpSpPr/>
            <p:nvPr/>
          </p:nvGrpSpPr>
          <p:grpSpPr>
            <a:xfrm>
              <a:off x="6286500" y="3181350"/>
              <a:ext cx="5334000" cy="685800"/>
              <a:chOff x="6286500" y="3181350"/>
              <a:chExt cx="5334000" cy="685800"/>
            </a:xfrm>
          </p:grpSpPr>
          <p:sp>
            <p:nvSpPr>
              <p:cNvPr id="37" name="Rectangle 37"/>
              <p:cNvSpPr/>
              <p:nvPr/>
            </p:nvSpPr>
            <p:spPr>
              <a:xfrm>
                <a:off x="6286500" y="3181350"/>
                <a:ext cx="5334000" cy="685800"/>
              </a:xfrm>
              <a:prstGeom prst="roundRect">
                <a:avLst>
                  <a:gd name="adj" fmla="val 22222"/>
                </a:avLst>
              </a:prstGeom>
              <a:solidFill>
                <a:srgbClr val="FFFFFF"/>
              </a:solidFill>
              <a:ln w="9525">
                <a:solidFill>
                  <a:srgbClr val="D8E1EC"/>
                </a:solidFill>
              </a:ln>
            </p:spPr>
            <p:txBody>
              <a:bodyPr/>
              <a:p/>
            </p:txBody>
          </p:sp>
          <p:sp>
            <p:nvSpPr>
              <p:cNvPr id="38" name="Rectangle 38"/>
              <p:cNvSpPr/>
              <p:nvPr/>
            </p:nvSpPr>
            <p:spPr>
              <a:xfrm>
                <a:off x="6286500" y="3181350"/>
                <a:ext cx="57150" cy="685800"/>
              </a:xfrm>
              <a:prstGeom prst="roundRect">
                <a:avLst>
                  <a:gd name="adj" fmla="val 50000"/>
                </a:avLst>
              </a:prstGeom>
              <a:solidFill>
                <a:srgbClr val="1565D8"/>
              </a:solidFill>
              <a:ln>
                <a:noFill/>
              </a:ln>
            </p:spPr>
            <p:txBody>
              <a:bodyPr/>
              <a:p/>
            </p:txBody>
          </p:sp>
          <p:sp>
            <p:nvSpPr>
              <p:cNvPr id="39" name="TextBox 39"/>
              <p:cNvSpPr txBox="1"/>
              <p:nvPr/>
            </p:nvSpPr>
            <p:spPr>
              <a:xfrm>
                <a:off x="6536055" y="3321368"/>
                <a:ext cx="1055018" cy="27432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l"/>
                <a:r>
                  <a:rPr lang="zh-CN" sz="1350" b="1" dirty="0">
                    <a:solidFill>
                      <a:srgbClr val="2B3648"/>
                    </a:solidFill>
                    <a:latin typeface="Arial"/>
                    <a:ea typeface="Microsoft YaHei"/>
                    <a:cs typeface="Arial"/>
                  </a:rPr>
                  <a:t>深度学习 DL</a:t>
                </a:r>
              </a:p>
            </p:txBody>
          </p:sp>
          <p:sp>
            <p:nvSpPr>
              <p:cNvPr id="40" name="TextBox 40"/>
              <p:cNvSpPr txBox="1"/>
              <p:nvPr/>
            </p:nvSpPr>
            <p:spPr>
              <a:xfrm>
                <a:off x="6539865" y="3601402"/>
                <a:ext cx="1566863" cy="21336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l"/>
                <a:r>
                  <a:rPr lang="zh-CN" sz="1050" dirty="0">
                    <a:solidFill>
                      <a:srgbClr val="5B6B82"/>
                    </a:solidFill>
                    <a:latin typeface="Arial"/>
                    <a:ea typeface="Microsoft YaHei"/>
                    <a:cs typeface="Arial"/>
                  </a:rPr>
                  <a:t>用「神经网络」学得更深</a:t>
                </a:r>
              </a:p>
            </p:txBody>
          </p:sp>
        </p:grpSp>
        <p:grpSp>
          <p:nvGrpSpPr>
            <p:cNvPr id="46" name="Group 46"/>
            <p:cNvGrpSpPr/>
            <p:nvPr/>
          </p:nvGrpSpPr>
          <p:grpSpPr>
            <a:xfrm>
              <a:off x="6286500" y="3962400"/>
              <a:ext cx="5334000" cy="685800"/>
              <a:chOff x="6286500" y="3962400"/>
              <a:chExt cx="5334000" cy="685800"/>
            </a:xfrm>
          </p:grpSpPr>
          <p:sp>
            <p:nvSpPr>
              <p:cNvPr id="42" name="Rectangle 42"/>
              <p:cNvSpPr/>
              <p:nvPr/>
            </p:nvSpPr>
            <p:spPr>
              <a:xfrm>
                <a:off x="6286500" y="3962400"/>
                <a:ext cx="5334000" cy="685800"/>
              </a:xfrm>
              <a:prstGeom prst="roundRect">
                <a:avLst>
                  <a:gd name="adj" fmla="val 22222"/>
                </a:avLst>
              </a:prstGeom>
              <a:solidFill>
                <a:srgbClr val="FFFFFF"/>
              </a:solidFill>
              <a:ln w="9525">
                <a:solidFill>
                  <a:srgbClr val="D8E1EC"/>
                </a:solidFill>
              </a:ln>
            </p:spPr>
            <p:txBody>
              <a:bodyPr/>
              <a:p/>
            </p:txBody>
          </p:sp>
          <p:sp>
            <p:nvSpPr>
              <p:cNvPr id="43" name="Rectangle 43"/>
              <p:cNvSpPr/>
              <p:nvPr/>
            </p:nvSpPr>
            <p:spPr>
              <a:xfrm>
                <a:off x="6286500" y="3962400"/>
                <a:ext cx="57150" cy="685800"/>
              </a:xfrm>
              <a:prstGeom prst="roundRect">
                <a:avLst>
                  <a:gd name="adj" fmla="val 50000"/>
                </a:avLst>
              </a:prstGeom>
              <a:solidFill>
                <a:srgbClr val="0B4EA2"/>
              </a:solidFill>
              <a:ln>
                <a:noFill/>
              </a:ln>
            </p:spPr>
            <p:txBody>
              <a:bodyPr/>
              <a:p/>
            </p:txBody>
          </p:sp>
          <p:sp>
            <p:nvSpPr>
              <p:cNvPr id="44" name="TextBox 44"/>
              <p:cNvSpPr txBox="1"/>
              <p:nvPr/>
            </p:nvSpPr>
            <p:spPr>
              <a:xfrm>
                <a:off x="6536055" y="4102418"/>
                <a:ext cx="1007762" cy="27432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l"/>
                <a:r>
                  <a:rPr lang="zh-CN" sz="1350" b="1" dirty="0">
                    <a:solidFill>
                      <a:srgbClr val="2B3648"/>
                    </a:solidFill>
                    <a:latin typeface="Arial"/>
                    <a:ea typeface="Microsoft YaHei"/>
                    <a:cs typeface="Arial"/>
                  </a:rPr>
                  <a:t>大模型 LLM</a:t>
                </a:r>
              </a:p>
            </p:txBody>
          </p:sp>
          <p:sp>
            <p:nvSpPr>
              <p:cNvPr id="45" name="TextBox 45"/>
              <p:cNvSpPr txBox="1"/>
              <p:nvPr/>
            </p:nvSpPr>
            <p:spPr>
              <a:xfrm>
                <a:off x="6539865" y="4382452"/>
                <a:ext cx="1566863" cy="21336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l"/>
                <a:r>
                  <a:rPr lang="zh-CN" sz="1050" dirty="0">
                    <a:solidFill>
                      <a:srgbClr val="5B6B82"/>
                    </a:solidFill>
                    <a:latin typeface="Arial"/>
                    <a:ea typeface="Microsoft YaHei"/>
                    <a:cs typeface="Arial"/>
                  </a:rPr>
                  <a:t>喂了海量文本的巨型网络</a:t>
                </a:r>
              </a:p>
            </p:txBody>
          </p:sp>
        </p:grpSp>
        <p:grpSp>
          <p:nvGrpSpPr>
            <p:cNvPr id="51" name="Group 51"/>
            <p:cNvGrpSpPr/>
            <p:nvPr/>
          </p:nvGrpSpPr>
          <p:grpSpPr>
            <a:xfrm>
              <a:off x="6286500" y="4743450"/>
              <a:ext cx="5334000" cy="685800"/>
              <a:chOff x="6286500" y="4743450"/>
              <a:chExt cx="5334000" cy="685800"/>
            </a:xfrm>
          </p:grpSpPr>
          <p:sp>
            <p:nvSpPr>
              <p:cNvPr id="47" name="Rectangle 47"/>
              <p:cNvSpPr/>
              <p:nvPr/>
            </p:nvSpPr>
            <p:spPr>
              <a:xfrm>
                <a:off x="6286500" y="4743450"/>
                <a:ext cx="5334000" cy="685800"/>
              </a:xfrm>
              <a:prstGeom prst="roundRect">
                <a:avLst>
                  <a:gd name="adj" fmla="val 22222"/>
                </a:avLst>
              </a:prstGeom>
              <a:solidFill>
                <a:srgbClr val="D6E6F9"/>
              </a:solidFill>
              <a:ln>
                <a:noFill/>
              </a:ln>
            </p:spPr>
            <p:txBody>
              <a:bodyPr/>
              <a:p/>
            </p:txBody>
          </p:sp>
          <p:sp>
            <p:nvSpPr>
              <p:cNvPr id="48" name="Rectangle 48"/>
              <p:cNvSpPr/>
              <p:nvPr/>
            </p:nvSpPr>
            <p:spPr>
              <a:xfrm>
                <a:off x="6286500" y="4743450"/>
                <a:ext cx="57150" cy="685800"/>
              </a:xfrm>
              <a:prstGeom prst="roundRect">
                <a:avLst>
                  <a:gd name="adj" fmla="val 50000"/>
                </a:avLst>
              </a:prstGeom>
              <a:solidFill>
                <a:srgbClr val="1565D8"/>
              </a:solidFill>
              <a:ln>
                <a:noFill/>
              </a:ln>
            </p:spPr>
            <p:txBody>
              <a:bodyPr/>
              <a:p/>
            </p:txBody>
          </p:sp>
          <p:sp>
            <p:nvSpPr>
              <p:cNvPr id="49" name="TextBox 49"/>
              <p:cNvSpPr txBox="1"/>
              <p:nvPr/>
            </p:nvSpPr>
            <p:spPr>
              <a:xfrm>
                <a:off x="6536055" y="4883468"/>
                <a:ext cx="818738" cy="27432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l"/>
                <a:r>
                  <a:rPr lang="zh-CN" sz="1350" b="1" dirty="0">
                    <a:solidFill>
                      <a:srgbClr val="0B4EA2"/>
                    </a:solidFill>
                    <a:latin typeface="Arial"/>
                    <a:ea typeface="Microsoft YaHei"/>
                    <a:cs typeface="Arial"/>
                  </a:rPr>
                  <a:t>生成式 AI</a:t>
                </a:r>
              </a:p>
            </p:txBody>
          </p:sp>
          <p:sp>
            <p:nvSpPr>
              <p:cNvPr id="50" name="TextBox 50"/>
              <p:cNvSpPr txBox="1"/>
              <p:nvPr/>
            </p:nvSpPr>
            <p:spPr>
              <a:xfrm>
                <a:off x="6539865" y="5163502"/>
                <a:ext cx="2981739" cy="21336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l"/>
                <a:r>
                  <a:rPr lang="zh-CN" sz="1050" b="1" dirty="0">
                    <a:solidFill>
                      <a:srgbClr val="1565D8"/>
                    </a:solidFill>
                    <a:latin typeface="Arial"/>
                    <a:ea typeface="Microsoft YaHei"/>
                    <a:cs typeface="Arial"/>
                  </a:rPr>
                  <a:t>能「写出」内容的那一支——最小、也最贴近你</a:t>
                </a:r>
              </a:p>
            </p:txBody>
          </p:sp>
        </p:grpSp>
      </p:grpSp>
      <p:grpSp>
        <p:nvGrpSpPr>
          <p:cNvPr id="56" name="Group 56"/>
          <p:cNvGrpSpPr/>
          <p:nvPr/>
        </p:nvGrpSpPr>
        <p:grpSpPr>
          <a:xfrm>
            <a:off x="571500" y="5715000"/>
            <a:ext cx="11049000" cy="457200"/>
            <a:chOff x="571500" y="5715000"/>
            <a:chExt cx="11049000" cy="457200"/>
          </a:xfrm>
        </p:grpSpPr>
        <p:sp>
          <p:nvSpPr>
            <p:cNvPr id="53" name="Rectangle 53"/>
            <p:cNvSpPr/>
            <p:nvPr/>
          </p:nvSpPr>
          <p:spPr>
            <a:xfrm>
              <a:off x="571500" y="5715000"/>
              <a:ext cx="11049000" cy="457200"/>
            </a:xfrm>
            <a:prstGeom prst="roundRect">
              <a:avLst>
                <a:gd name="adj" fmla="val 33333"/>
              </a:avLst>
            </a:prstGeom>
            <a:solidFill>
              <a:srgbClr val="D6E6F9"/>
            </a:solidFill>
            <a:ln>
              <a:noFill/>
            </a:ln>
          </p:spPr>
          <p:txBody>
            <a:bodyPr/>
            <a:p/>
          </p:txBody>
        </p:sp>
        <p:sp>
          <p:nvSpPr>
            <p:cNvPr id="54" name="Rectangle 54"/>
            <p:cNvSpPr/>
            <p:nvPr/>
          </p:nvSpPr>
          <p:spPr>
            <a:xfrm>
              <a:off x="571500" y="5715000"/>
              <a:ext cx="76200" cy="457200"/>
            </a:xfrm>
            <a:prstGeom prst="roundRect">
              <a:avLst>
                <a:gd name="adj" fmla="val 50000"/>
              </a:avLst>
            </a:prstGeom>
            <a:solidFill>
              <a:srgbClr val="1565D8"/>
            </a:solidFill>
            <a:ln>
              <a:noFill/>
            </a:ln>
          </p:spPr>
          <p:txBody>
            <a:bodyPr/>
            <a:p/>
          </p:txBody>
        </p:sp>
        <p:sp>
          <p:nvSpPr>
            <p:cNvPr id="55" name="TextBox 55"/>
            <p:cNvSpPr txBox="1"/>
            <p:nvPr/>
          </p:nvSpPr>
          <p:spPr>
            <a:xfrm>
              <a:off x="859155" y="5864542"/>
              <a:ext cx="4948904" cy="27432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b="1" dirty="0">
                  <a:solidFill>
                    <a:srgbClr val="0B4EA2"/>
                  </a:solidFill>
                  <a:latin typeface="Arial"/>
                  <a:ea typeface="Microsoft YaHei"/>
                  <a:cs typeface="Arial"/>
                </a:rPr>
                <a:t>记住：你学的是最下面这层。它是一个家族，不是五件事。</a:t>
              </a:r>
            </a:p>
          </p:txBody>
        </p:sp>
      </p:grpSp>
      <p:grpSp>
        <p:nvGrpSpPr>
          <p:cNvPr id="59" name="Group 59"/>
          <p:cNvGrpSpPr/>
          <p:nvPr/>
        </p:nvGrpSpPr>
        <p:grpSpPr>
          <a:xfrm>
            <a:off x="560070" y="6341745"/>
            <a:ext cx="11071860" cy="182880"/>
            <a:chOff x="560070" y="6341745"/>
            <a:chExt cx="11071860" cy="182880"/>
          </a:xfrm>
        </p:grpSpPr>
        <p:sp>
          <p:nvSpPr>
            <p:cNvPr id="57" name="TextBox 57"/>
            <p:cNvSpPr txBox="1"/>
            <p:nvPr/>
          </p:nvSpPr>
          <p:spPr>
            <a:xfrm>
              <a:off x="560070" y="6341745"/>
              <a:ext cx="1054989" cy="18288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00" dirty="0">
                  <a:solidFill>
                    <a:srgbClr val="8B99AE"/>
                  </a:solidFill>
                  <a:latin typeface="Arial"/>
                  <a:ea typeface="Microsoft YaHei"/>
                  <a:cs typeface="Arial"/>
                </a:rPr>
                <a:t>大模型通识 · 企业版</a:t>
              </a:r>
            </a:p>
          </p:txBody>
        </p:sp>
        <p:sp>
          <p:nvSpPr>
            <p:cNvPr id="58" name="TextBox 58"/>
            <p:cNvSpPr txBox="1"/>
            <p:nvPr/>
          </p:nvSpPr>
          <p:spPr>
            <a:xfrm>
              <a:off x="11273028" y="6341745"/>
              <a:ext cx="358902" cy="18288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r"/>
              <a:r>
                <a:rPr lang="zh-CN" sz="900" dirty="0">
                  <a:solidFill>
                    <a:srgbClr val="8B99AE"/>
                  </a:solidFill>
                  <a:latin typeface="Arial"/>
                  <a:ea typeface="Microsoft YaHei"/>
                  <a:cs typeface="Arial"/>
                </a:rPr>
                <a:t>10 / 51</a:t>
              </a:r>
            </a:p>
          </p:txBody>
        </p:sp>
      </p:grpSp>
    </p:spTree>
  </p:cSld>
  <p:clrMapOvr>
    <a:masterClrMapping/>
  </p:clrMapOvr>
  <p:transition xmlns:p14="http://schemas.microsoft.com/office/powerpoint/2010/main" p14:dur="400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900"/>
                            </p:stCondLst>
                            <p:childTnLst>
                              <p:par>
                                <p:cTn id="9" presetID="22" presetClass="entr" presetSubtype="1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1" dur="4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2" fill="hold">
                            <p:stCondLst>
                              <p:cond delay="1800"/>
                            </p:stCondLst>
                            <p:childTnLst>
                              <p:par>
                                <p:cTn id="13" presetID="2" presetClass="entr" presetSubtype="4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slide(fromBottom)">
                                      <p:cBhvr>
                                        <p:cTn id="15" dur="400"/>
                                        <p:tgtEl>
                                          <p:spTgt spid="5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6" fill="hold">
                            <p:stCondLst>
                              <p:cond delay="2700"/>
                            </p:stCondLst>
                            <p:childTnLst>
                              <p:par>
                                <p:cTn id="17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400"/>
                                        <p:tgtEl>
                                          <p:spTgt spid="5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0" grpId="0"/>
      <p:bldP spid="26" grpId="0"/>
      <p:bldP spid="52" grpId="0"/>
      <p:bldP spid="56" grpId="0"/>
    </p:bldLst>
  </p:timing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5" name="Group 5"/>
          <p:cNvGrpSpPr/>
          <p:nvPr/>
        </p:nvGrpSpPr>
        <p:grpSpPr>
          <a:xfrm>
            <a:off x="-1619250" y="0"/>
            <a:ext cx="13811250" cy="8477250"/>
            <a:chOff x="-1619250" y="0"/>
            <a:chExt cx="13811250" cy="8477250"/>
          </a:xfrm>
        </p:grpSpPr>
        <p:sp>
          <p:nvSpPr>
            <p:cNvPr id="2" name="Rectangle 2"/>
            <p:cNvSpPr/>
            <p:nvPr/>
          </p:nvSpPr>
          <p:spPr>
            <a:xfrm>
              <a:off x="0" y="0"/>
              <a:ext cx="12192000" cy="6858000"/>
            </a:xfrm>
            <a:prstGeom prst="rect">
              <a:avLst/>
            </a:prstGeom>
            <a:solidFill>
              <a:srgbClr val="F5F7FA"/>
            </a:solidFill>
            <a:ln>
              <a:noFill/>
            </a:ln>
          </p:spPr>
          <p:txBody>
            <a:bodyPr/>
            <a:p/>
          </p:txBody>
        </p:sp>
        <p:sp>
          <p:nvSpPr>
            <p:cNvPr id="3" name="Rectangle 3"/>
            <p:cNvSpPr/>
            <p:nvPr/>
          </p:nvSpPr>
          <p:spPr>
            <a:xfrm>
              <a:off x="0" y="0"/>
              <a:ext cx="12192000" cy="6858000"/>
            </a:xfrm>
            <a:prstGeom prst="rect">
              <a:avLst/>
            </a:prstGeom>
            <a:gradFill>
              <a:gsLst>
                <a:gs pos="0">
                  <a:srgbClr val="1565D8">
                    <a:alpha val="6000"/>
                  </a:srgbClr>
                </a:gs>
                <a:gs pos="100000">
                  <a:srgbClr val="1565D8">
                    <a:alpha val="0"/>
                  </a:srgbClr>
                </a:gs>
              </a:gsLst>
              <a:path path="circle">
                <a:fillToRect l="50000" t="50000" r="50000" b="50000"/>
              </a:path>
            </a:gradFill>
            <a:ln>
              <a:noFill/>
            </a:ln>
          </p:spPr>
          <p:txBody>
            <a:bodyPr/>
            <a:p/>
          </p:txBody>
        </p:sp>
        <p:sp>
          <p:nvSpPr>
            <p:cNvPr id="4" name="Ellipse 4"/>
            <p:cNvSpPr/>
            <p:nvPr/>
          </p:nvSpPr>
          <p:spPr>
            <a:xfrm>
              <a:off x="-1619250" y="4667250"/>
              <a:ext cx="3810000" cy="3810000"/>
            </a:xfrm>
            <a:prstGeom prst="ellipse">
              <a:avLst/>
            </a:prstGeom>
            <a:noFill/>
            <a:ln w="14288">
              <a:solidFill>
                <a:srgbClr val="D6E6F9">
                  <a:alpha val="80000"/>
                </a:srgbClr>
              </a:solidFill>
            </a:ln>
          </p:spPr>
          <p:txBody>
            <a:bodyPr/>
            <a:p/>
          </p:txBody>
        </p:sp>
      </p:grpSp>
      <p:grpSp>
        <p:nvGrpSpPr>
          <p:cNvPr id="9" name="Group 9"/>
          <p:cNvGrpSpPr/>
          <p:nvPr/>
        </p:nvGrpSpPr>
        <p:grpSpPr>
          <a:xfrm>
            <a:off x="571500" y="685800"/>
            <a:ext cx="3722608" cy="700088"/>
            <a:chOff x="571500" y="685800"/>
            <a:chExt cx="3722608" cy="700088"/>
          </a:xfrm>
        </p:grpSpPr>
        <p:sp>
          <p:nvSpPr>
            <p:cNvPr id="6" name="Rectangle 6"/>
            <p:cNvSpPr/>
            <p:nvPr/>
          </p:nvSpPr>
          <p:spPr>
            <a:xfrm>
              <a:off x="571500" y="685800"/>
              <a:ext cx="76200" cy="323850"/>
            </a:xfrm>
            <a:prstGeom prst="roundRect">
              <a:avLst>
                <a:gd name="adj" fmla="val 50000"/>
              </a:avLst>
            </a:prstGeom>
            <a:solidFill>
              <a:srgbClr val="1565D8"/>
            </a:solidFill>
            <a:ln>
              <a:noFill/>
            </a:ln>
          </p:spPr>
          <p:txBody>
            <a:bodyPr/>
            <a:p/>
          </p:txBody>
        </p:sp>
        <p:sp>
          <p:nvSpPr>
            <p:cNvPr id="7" name="TextBox 7"/>
            <p:cNvSpPr txBox="1"/>
            <p:nvPr/>
          </p:nvSpPr>
          <p:spPr>
            <a:xfrm>
              <a:off x="771525" y="700088"/>
              <a:ext cx="3522583" cy="45720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2250" b="1" dirty="0">
                  <a:solidFill>
                    <a:srgbClr val="2B3648"/>
                  </a:solidFill>
                  <a:latin typeface="Arial"/>
                  <a:ea typeface="Microsoft YaHei"/>
                  <a:cs typeface="Arial"/>
                </a:rPr>
                <a:t>它擅长什么、不擅长什么</a:t>
              </a:r>
            </a:p>
          </p:txBody>
        </p:sp>
        <p:sp>
          <p:nvSpPr>
            <p:cNvPr id="8" name="TextBox 8"/>
            <p:cNvSpPr txBox="1"/>
            <p:nvPr/>
          </p:nvSpPr>
          <p:spPr>
            <a:xfrm>
              <a:off x="782955" y="1111568"/>
              <a:ext cx="2194560" cy="27432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5B6B82"/>
                  </a:solidFill>
                  <a:latin typeface="Arial"/>
                  <a:ea typeface="Microsoft YaHei"/>
                  <a:cs typeface="Arial"/>
                </a:rPr>
                <a:t>知道边界，才不会用错地方</a:t>
              </a:r>
            </a:p>
          </p:txBody>
        </p:sp>
      </p:grpSp>
      <p:grpSp>
        <p:nvGrpSpPr>
          <p:cNvPr id="37" name="Group 37"/>
          <p:cNvGrpSpPr/>
          <p:nvPr/>
        </p:nvGrpSpPr>
        <p:grpSpPr>
          <a:xfrm>
            <a:off x="571500" y="1619250"/>
            <a:ext cx="5334000" cy="3810000"/>
            <a:chOff x="571500" y="1619250"/>
            <a:chExt cx="5334000" cy="3810000"/>
          </a:xfrm>
        </p:grpSpPr>
        <p:sp>
          <p:nvSpPr>
            <p:cNvPr id="10" name="Rectangle 10"/>
            <p:cNvSpPr/>
            <p:nvPr/>
          </p:nvSpPr>
          <p:spPr>
            <a:xfrm>
              <a:off x="571500" y="1619250"/>
              <a:ext cx="5334000" cy="3810000"/>
            </a:xfrm>
            <a:prstGeom prst="roundRect">
              <a:avLst>
                <a:gd name="adj" fmla="val 4000"/>
              </a:avLst>
            </a:prstGeom>
            <a:solidFill>
              <a:srgbClr val="FFFFFF"/>
            </a:solidFill>
            <a:ln w="9525">
              <a:solidFill>
                <a:srgbClr val="D8E1EC"/>
              </a:solidFill>
            </a:ln>
          </p:spPr>
          <p:txBody>
            <a:bodyPr/>
            <a:p/>
          </p:txBody>
        </p:sp>
        <p:sp>
          <p:nvSpPr>
            <p:cNvPr id="11" name="Ellipse 11"/>
            <p:cNvSpPr/>
            <p:nvPr/>
          </p:nvSpPr>
          <p:spPr>
            <a:xfrm>
              <a:off x="838200" y="1905000"/>
              <a:ext cx="419100" cy="419100"/>
            </a:xfrm>
            <a:prstGeom prst="ellipse">
              <a:avLst/>
            </a:prstGeom>
            <a:solidFill>
              <a:srgbClr val="D6E6F9"/>
            </a:solidFill>
            <a:ln>
              <a:noFill/>
            </a:ln>
          </p:spPr>
          <p:txBody>
            <a:bodyPr/>
            <a:p/>
          </p:txBody>
        </p:sp>
        <p:grpSp>
          <p:nvGrpSpPr>
            <p:cNvPr id="14" name="Group 14"/>
            <p:cNvGrpSpPr/>
            <p:nvPr/>
          </p:nvGrpSpPr>
          <p:grpSpPr>
            <a:xfrm>
              <a:off x="971550" y="2042116"/>
              <a:ext cx="148634" cy="148634"/>
              <a:chOff x="971550" y="2042116"/>
              <a:chExt cx="148634" cy="148634"/>
            </a:xfrm>
          </p:grpSpPr>
          <p:sp>
            <p:nvSpPr>
              <p:cNvPr id="12" name="Freeform 12"/>
              <p:cNvSpPr/>
              <p:nvPr/>
            </p:nvSpPr>
            <p:spPr>
              <a:xfrm>
                <a:off x="971550" y="2042116"/>
                <a:ext cx="148634" cy="148634"/>
              </a:xfrm>
              <a:custGeom>
                <a:avLst/>
                <a:gdLst/>
                <a:ahLst/>
                <a:cxnLst/>
                <a:rect l="l" t="t" r="r" b="b"/>
                <a:pathLst>
                  <a:path w="148634" h="148634">
                    <a:moveTo>
                      <a:pt x="0" y="148634"/>
                    </a:moveTo>
                    <a:lnTo>
                      <a:pt x="38100" y="148634"/>
                    </a:lnTo>
                    <a:lnTo>
                      <a:pt x="138112" y="48621"/>
                    </a:lnTo>
                    <a:cubicBezTo>
                      <a:pt x="148634" y="38100"/>
                      <a:pt x="148634" y="21042"/>
                      <a:pt x="138112" y="10521"/>
                    </a:cubicBezTo>
                    <a:cubicBezTo>
                      <a:pt x="127591" y="0"/>
                      <a:pt x="110534" y="0"/>
                      <a:pt x="100012" y="10521"/>
                    </a:cubicBezTo>
                    <a:lnTo>
                      <a:pt x="0" y="110534"/>
                    </a:lnTo>
                    <a:lnTo>
                      <a:pt x="0" y="148634"/>
                    </a:lnTo>
                  </a:path>
                </a:pathLst>
              </a:custGeom>
              <a:noFill/>
              <a:ln w="19050">
                <a:solidFill>
                  <a:srgbClr val="1565D8"/>
                </a:solidFill>
              </a:ln>
            </p:spPr>
            <p:txBody>
              <a:bodyPr/>
              <a:p/>
            </p:txBody>
          </p:sp>
          <p:sp>
            <p:nvSpPr>
              <p:cNvPr id="13" name="Freeform 13"/>
              <p:cNvSpPr/>
              <p:nvPr/>
            </p:nvSpPr>
            <p:spPr>
              <a:xfrm>
                <a:off x="1062038" y="2062162"/>
                <a:ext cx="38100" cy="38100"/>
              </a:xfrm>
              <a:custGeom>
                <a:avLst/>
                <a:gdLst/>
                <a:ahLst/>
                <a:cxnLst/>
                <a:rect l="l" t="t" r="r" b="b"/>
                <a:pathLst>
                  <a:path w="38100" h="38100">
                    <a:moveTo>
                      <a:pt x="0" y="0"/>
                    </a:moveTo>
                    <a:lnTo>
                      <a:pt x="38100" y="38100"/>
                    </a:lnTo>
                  </a:path>
                </a:pathLst>
              </a:custGeom>
              <a:noFill/>
              <a:ln w="19050">
                <a:solidFill>
                  <a:srgbClr val="1565D8"/>
                </a:solidFill>
              </a:ln>
            </p:spPr>
            <p:txBody>
              <a:bodyPr/>
              <a:p/>
            </p:txBody>
          </p:sp>
        </p:grpSp>
        <p:sp>
          <p:nvSpPr>
            <p:cNvPr id="15" name="TextBox 15"/>
            <p:cNvSpPr txBox="1"/>
            <p:nvPr/>
          </p:nvSpPr>
          <p:spPr>
            <a:xfrm>
              <a:off x="1369695" y="2012632"/>
              <a:ext cx="2121170" cy="33528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650" b="1" dirty="0">
                  <a:solidFill>
                    <a:srgbClr val="2B3648"/>
                  </a:solidFill>
                  <a:latin typeface="Arial"/>
                  <a:ea typeface="Microsoft YaHei"/>
                  <a:cs typeface="Arial"/>
                </a:rPr>
                <a:t>擅长：帮你「起草」</a:t>
              </a:r>
            </a:p>
          </p:txBody>
        </p:sp>
        <p:sp>
          <p:nvSpPr>
            <p:cNvPr id="16" name="Line 16"/>
            <p:cNvSpPr/>
            <p:nvPr/>
          </p:nvSpPr>
          <p:spPr>
            <a:xfrm>
              <a:off x="800100" y="2438400"/>
              <a:ext cx="4876800" cy="9525"/>
            </a:xfrm>
            <a:custGeom>
              <a:avLst/>
              <a:gdLst/>
              <a:ahLst/>
              <a:cxnLst/>
              <a:rect l="l" t="t" r="r" b="b"/>
              <a:pathLst>
                <a:path w="4876800" h="9525">
                  <a:moveTo>
                    <a:pt x="0" y="0"/>
                  </a:moveTo>
                  <a:lnTo>
                    <a:pt x="4876800" y="0"/>
                  </a:lnTo>
                </a:path>
              </a:pathLst>
            </a:custGeom>
            <a:noFill/>
            <a:ln w="9525">
              <a:solidFill>
                <a:srgbClr val="D8E1EC"/>
              </a:solidFill>
            </a:ln>
          </p:spPr>
          <p:txBody>
            <a:bodyPr/>
            <a:p/>
          </p:txBody>
        </p:sp>
        <p:grpSp>
          <p:nvGrpSpPr>
            <p:cNvPr id="19" name="Group 19"/>
            <p:cNvGrpSpPr/>
            <p:nvPr/>
          </p:nvGrpSpPr>
          <p:grpSpPr>
            <a:xfrm>
              <a:off x="869156" y="2717006"/>
              <a:ext cx="185738" cy="185738"/>
              <a:chOff x="869156" y="2717006"/>
              <a:chExt cx="185738" cy="185738"/>
            </a:xfrm>
          </p:grpSpPr>
          <p:sp>
            <p:nvSpPr>
              <p:cNvPr id="17" name="Freeform 17"/>
              <p:cNvSpPr/>
              <p:nvPr/>
            </p:nvSpPr>
            <p:spPr>
              <a:xfrm>
                <a:off x="869156" y="2717006"/>
                <a:ext cx="185738" cy="185738"/>
              </a:xfrm>
              <a:custGeom>
                <a:avLst/>
                <a:gdLst/>
                <a:ahLst/>
                <a:cxnLst/>
                <a:rect l="l" t="t" r="r" b="b"/>
                <a:pathLst>
                  <a:path w="185738" h="185738">
                    <a:moveTo>
                      <a:pt x="0" y="92869"/>
                    </a:moveTo>
                    <a:cubicBezTo>
                      <a:pt x="0" y="144159"/>
                      <a:pt x="41579" y="185738"/>
                      <a:pt x="92869" y="185738"/>
                    </a:cubicBezTo>
                    <a:cubicBezTo>
                      <a:pt x="144159" y="185738"/>
                      <a:pt x="185738" y="144159"/>
                      <a:pt x="185738" y="92869"/>
                    </a:cubicBezTo>
                    <a:cubicBezTo>
                      <a:pt x="185738" y="41579"/>
                      <a:pt x="144159" y="0"/>
                      <a:pt x="92869" y="0"/>
                    </a:cubicBezTo>
                    <a:cubicBezTo>
                      <a:pt x="41579" y="0"/>
                      <a:pt x="0" y="41579"/>
                      <a:pt x="0" y="92869"/>
                    </a:cubicBezTo>
                  </a:path>
                </a:pathLst>
              </a:custGeom>
              <a:noFill/>
              <a:ln w="19050">
                <a:solidFill>
                  <a:srgbClr val="2FA36B"/>
                </a:solidFill>
              </a:ln>
            </p:spPr>
            <p:txBody>
              <a:bodyPr/>
              <a:p/>
            </p:txBody>
          </p:sp>
          <p:sp>
            <p:nvSpPr>
              <p:cNvPr id="18" name="Freeform 18"/>
              <p:cNvSpPr/>
              <p:nvPr/>
            </p:nvSpPr>
            <p:spPr>
              <a:xfrm>
                <a:off x="931069" y="2789238"/>
                <a:ext cx="61912" cy="41275"/>
              </a:xfrm>
              <a:custGeom>
                <a:avLst/>
                <a:gdLst/>
                <a:ahLst/>
                <a:cxnLst/>
                <a:rect l="l" t="t" r="r" b="b"/>
                <a:pathLst>
                  <a:path w="61912" h="41275">
                    <a:moveTo>
                      <a:pt x="0" y="20638"/>
                    </a:moveTo>
                    <a:lnTo>
                      <a:pt x="20638" y="41275"/>
                    </a:lnTo>
                    <a:lnTo>
                      <a:pt x="61912" y="0"/>
                    </a:lnTo>
                  </a:path>
                </a:pathLst>
              </a:custGeom>
              <a:noFill/>
              <a:ln w="19050">
                <a:solidFill>
                  <a:srgbClr val="2FA36B"/>
                </a:solidFill>
              </a:ln>
            </p:spPr>
            <p:txBody>
              <a:bodyPr/>
              <a:p/>
            </p:txBody>
          </p:sp>
        </p:grpSp>
        <p:sp>
          <p:nvSpPr>
            <p:cNvPr id="20" name="TextBox 20"/>
            <p:cNvSpPr txBox="1"/>
            <p:nvPr/>
          </p:nvSpPr>
          <p:spPr>
            <a:xfrm>
              <a:off x="1221105" y="2730818"/>
              <a:ext cx="2734628" cy="27432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b="1" dirty="0">
                  <a:solidFill>
                    <a:srgbClr val="2B3648"/>
                  </a:solidFill>
                  <a:latin typeface="Arial"/>
                  <a:ea typeface="Microsoft YaHei"/>
                  <a:cs typeface="Arial"/>
                </a:rPr>
                <a:t>写东西：</a:t>
              </a:r>
              <a:r>
                <a:rPr lang="zh-CN" sz="1350" dirty="0">
                  <a:solidFill>
                    <a:srgbClr val="5B6B82"/>
                  </a:solidFill>
                  <a:latin typeface="Arial"/>
                  <a:ea typeface="Microsoft YaHei"/>
                  <a:cs typeface="Arial"/>
                </a:rPr>
                <a:t>邮件、汇报、总结、通知</a:t>
              </a:r>
            </a:p>
          </p:txBody>
        </p:sp>
        <p:grpSp>
          <p:nvGrpSpPr>
            <p:cNvPr id="23" name="Group 23"/>
            <p:cNvGrpSpPr/>
            <p:nvPr/>
          </p:nvGrpSpPr>
          <p:grpSpPr>
            <a:xfrm>
              <a:off x="869156" y="3250406"/>
              <a:ext cx="185738" cy="185738"/>
              <a:chOff x="869156" y="3250406"/>
              <a:chExt cx="185738" cy="185738"/>
            </a:xfrm>
          </p:grpSpPr>
          <p:sp>
            <p:nvSpPr>
              <p:cNvPr id="21" name="Freeform 21"/>
              <p:cNvSpPr/>
              <p:nvPr/>
            </p:nvSpPr>
            <p:spPr>
              <a:xfrm>
                <a:off x="869156" y="3250406"/>
                <a:ext cx="185738" cy="185738"/>
              </a:xfrm>
              <a:custGeom>
                <a:avLst/>
                <a:gdLst/>
                <a:ahLst/>
                <a:cxnLst/>
                <a:rect l="l" t="t" r="r" b="b"/>
                <a:pathLst>
                  <a:path w="185738" h="185738">
                    <a:moveTo>
                      <a:pt x="0" y="92869"/>
                    </a:moveTo>
                    <a:cubicBezTo>
                      <a:pt x="0" y="144159"/>
                      <a:pt x="41579" y="185738"/>
                      <a:pt x="92869" y="185738"/>
                    </a:cubicBezTo>
                    <a:cubicBezTo>
                      <a:pt x="144159" y="185738"/>
                      <a:pt x="185738" y="144159"/>
                      <a:pt x="185738" y="92869"/>
                    </a:cubicBezTo>
                    <a:cubicBezTo>
                      <a:pt x="185738" y="41579"/>
                      <a:pt x="144159" y="0"/>
                      <a:pt x="92869" y="0"/>
                    </a:cubicBezTo>
                    <a:cubicBezTo>
                      <a:pt x="41579" y="0"/>
                      <a:pt x="0" y="41579"/>
                      <a:pt x="0" y="92869"/>
                    </a:cubicBezTo>
                  </a:path>
                </a:pathLst>
              </a:custGeom>
              <a:noFill/>
              <a:ln w="19050">
                <a:solidFill>
                  <a:srgbClr val="2FA36B"/>
                </a:solidFill>
              </a:ln>
            </p:spPr>
            <p:txBody>
              <a:bodyPr/>
              <a:p/>
            </p:txBody>
          </p:sp>
          <p:sp>
            <p:nvSpPr>
              <p:cNvPr id="22" name="Freeform 22"/>
              <p:cNvSpPr/>
              <p:nvPr/>
            </p:nvSpPr>
            <p:spPr>
              <a:xfrm>
                <a:off x="931069" y="3322638"/>
                <a:ext cx="61912" cy="41275"/>
              </a:xfrm>
              <a:custGeom>
                <a:avLst/>
                <a:gdLst/>
                <a:ahLst/>
                <a:cxnLst/>
                <a:rect l="l" t="t" r="r" b="b"/>
                <a:pathLst>
                  <a:path w="61912" h="41275">
                    <a:moveTo>
                      <a:pt x="0" y="20638"/>
                    </a:moveTo>
                    <a:lnTo>
                      <a:pt x="20638" y="41275"/>
                    </a:lnTo>
                    <a:lnTo>
                      <a:pt x="61912" y="0"/>
                    </a:lnTo>
                  </a:path>
                </a:pathLst>
              </a:custGeom>
              <a:noFill/>
              <a:ln w="19050">
                <a:solidFill>
                  <a:srgbClr val="2FA36B"/>
                </a:solidFill>
              </a:ln>
            </p:spPr>
            <p:txBody>
              <a:bodyPr/>
              <a:p/>
            </p:txBody>
          </p:sp>
        </p:grpSp>
        <p:sp>
          <p:nvSpPr>
            <p:cNvPr id="24" name="TextBox 24"/>
            <p:cNvSpPr txBox="1"/>
            <p:nvPr/>
          </p:nvSpPr>
          <p:spPr>
            <a:xfrm>
              <a:off x="1221105" y="3264218"/>
              <a:ext cx="2554605" cy="27432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b="1" dirty="0">
                  <a:solidFill>
                    <a:srgbClr val="2B3648"/>
                  </a:solidFill>
                  <a:latin typeface="Arial"/>
                  <a:ea typeface="Microsoft YaHei"/>
                  <a:cs typeface="Arial"/>
                </a:rPr>
                <a:t>整理：</a:t>
              </a:r>
              <a:r>
                <a:rPr lang="zh-CN" sz="1350" dirty="0">
                  <a:solidFill>
                    <a:srgbClr val="5B6B82"/>
                  </a:solidFill>
                  <a:latin typeface="Arial"/>
                  <a:ea typeface="Microsoft YaHei"/>
                  <a:cs typeface="Arial"/>
                </a:rPr>
                <a:t>把一堆零散信息理成要点</a:t>
              </a:r>
            </a:p>
          </p:txBody>
        </p:sp>
        <p:grpSp>
          <p:nvGrpSpPr>
            <p:cNvPr id="27" name="Group 27"/>
            <p:cNvGrpSpPr/>
            <p:nvPr/>
          </p:nvGrpSpPr>
          <p:grpSpPr>
            <a:xfrm>
              <a:off x="869156" y="3783806"/>
              <a:ext cx="185738" cy="185738"/>
              <a:chOff x="869156" y="3783806"/>
              <a:chExt cx="185738" cy="185738"/>
            </a:xfrm>
          </p:grpSpPr>
          <p:sp>
            <p:nvSpPr>
              <p:cNvPr id="25" name="Freeform 25"/>
              <p:cNvSpPr/>
              <p:nvPr/>
            </p:nvSpPr>
            <p:spPr>
              <a:xfrm>
                <a:off x="869156" y="3783806"/>
                <a:ext cx="185738" cy="185738"/>
              </a:xfrm>
              <a:custGeom>
                <a:avLst/>
                <a:gdLst/>
                <a:ahLst/>
                <a:cxnLst/>
                <a:rect l="l" t="t" r="r" b="b"/>
                <a:pathLst>
                  <a:path w="185738" h="185738">
                    <a:moveTo>
                      <a:pt x="0" y="92869"/>
                    </a:moveTo>
                    <a:cubicBezTo>
                      <a:pt x="0" y="144159"/>
                      <a:pt x="41579" y="185738"/>
                      <a:pt x="92869" y="185738"/>
                    </a:cubicBezTo>
                    <a:cubicBezTo>
                      <a:pt x="144159" y="185738"/>
                      <a:pt x="185738" y="144159"/>
                      <a:pt x="185738" y="92869"/>
                    </a:cubicBezTo>
                    <a:cubicBezTo>
                      <a:pt x="185738" y="41579"/>
                      <a:pt x="144159" y="0"/>
                      <a:pt x="92869" y="0"/>
                    </a:cubicBezTo>
                    <a:cubicBezTo>
                      <a:pt x="41579" y="0"/>
                      <a:pt x="0" y="41579"/>
                      <a:pt x="0" y="92869"/>
                    </a:cubicBezTo>
                  </a:path>
                </a:pathLst>
              </a:custGeom>
              <a:noFill/>
              <a:ln w="19050">
                <a:solidFill>
                  <a:srgbClr val="2FA36B"/>
                </a:solidFill>
              </a:ln>
            </p:spPr>
            <p:txBody>
              <a:bodyPr/>
              <a:p/>
            </p:txBody>
          </p:sp>
          <p:sp>
            <p:nvSpPr>
              <p:cNvPr id="26" name="Freeform 26"/>
              <p:cNvSpPr/>
              <p:nvPr/>
            </p:nvSpPr>
            <p:spPr>
              <a:xfrm>
                <a:off x="931069" y="3856038"/>
                <a:ext cx="61912" cy="41275"/>
              </a:xfrm>
              <a:custGeom>
                <a:avLst/>
                <a:gdLst/>
                <a:ahLst/>
                <a:cxnLst/>
                <a:rect l="l" t="t" r="r" b="b"/>
                <a:pathLst>
                  <a:path w="61912" h="41275">
                    <a:moveTo>
                      <a:pt x="0" y="20638"/>
                    </a:moveTo>
                    <a:lnTo>
                      <a:pt x="20638" y="41275"/>
                    </a:lnTo>
                    <a:lnTo>
                      <a:pt x="61912" y="0"/>
                    </a:lnTo>
                  </a:path>
                </a:pathLst>
              </a:custGeom>
              <a:noFill/>
              <a:ln w="19050">
                <a:solidFill>
                  <a:srgbClr val="2FA36B"/>
                </a:solidFill>
              </a:ln>
            </p:spPr>
            <p:txBody>
              <a:bodyPr/>
              <a:p/>
            </p:txBody>
          </p:sp>
        </p:grpSp>
        <p:sp>
          <p:nvSpPr>
            <p:cNvPr id="28" name="TextBox 28"/>
            <p:cNvSpPr txBox="1"/>
            <p:nvPr/>
          </p:nvSpPr>
          <p:spPr>
            <a:xfrm>
              <a:off x="1221105" y="3797618"/>
              <a:ext cx="2914650" cy="27432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b="1" dirty="0">
                  <a:solidFill>
                    <a:srgbClr val="2B3648"/>
                  </a:solidFill>
                  <a:latin typeface="Arial"/>
                  <a:ea typeface="Microsoft YaHei"/>
                  <a:cs typeface="Arial"/>
                </a:rPr>
                <a:t>翻译：</a:t>
              </a:r>
              <a:r>
                <a:rPr lang="zh-CN" sz="1350" dirty="0">
                  <a:solidFill>
                    <a:srgbClr val="5B6B82"/>
                  </a:solidFill>
                  <a:latin typeface="Arial"/>
                  <a:ea typeface="Microsoft YaHei"/>
                  <a:cs typeface="Arial"/>
                </a:rPr>
                <a:t>中英文、方言、专业术语互译</a:t>
              </a:r>
            </a:p>
          </p:txBody>
        </p:sp>
        <p:grpSp>
          <p:nvGrpSpPr>
            <p:cNvPr id="31" name="Group 31"/>
            <p:cNvGrpSpPr/>
            <p:nvPr/>
          </p:nvGrpSpPr>
          <p:grpSpPr>
            <a:xfrm>
              <a:off x="869156" y="4317206"/>
              <a:ext cx="185738" cy="185738"/>
              <a:chOff x="869156" y="4317206"/>
              <a:chExt cx="185738" cy="185738"/>
            </a:xfrm>
          </p:grpSpPr>
          <p:sp>
            <p:nvSpPr>
              <p:cNvPr id="29" name="Freeform 29"/>
              <p:cNvSpPr/>
              <p:nvPr/>
            </p:nvSpPr>
            <p:spPr>
              <a:xfrm>
                <a:off x="869156" y="4317206"/>
                <a:ext cx="185738" cy="185738"/>
              </a:xfrm>
              <a:custGeom>
                <a:avLst/>
                <a:gdLst/>
                <a:ahLst/>
                <a:cxnLst/>
                <a:rect l="l" t="t" r="r" b="b"/>
                <a:pathLst>
                  <a:path w="185738" h="185738">
                    <a:moveTo>
                      <a:pt x="0" y="92869"/>
                    </a:moveTo>
                    <a:cubicBezTo>
                      <a:pt x="0" y="144159"/>
                      <a:pt x="41579" y="185738"/>
                      <a:pt x="92869" y="185738"/>
                    </a:cubicBezTo>
                    <a:cubicBezTo>
                      <a:pt x="144159" y="185738"/>
                      <a:pt x="185738" y="144159"/>
                      <a:pt x="185738" y="92869"/>
                    </a:cubicBezTo>
                    <a:cubicBezTo>
                      <a:pt x="185738" y="41579"/>
                      <a:pt x="144159" y="0"/>
                      <a:pt x="92869" y="0"/>
                    </a:cubicBezTo>
                    <a:cubicBezTo>
                      <a:pt x="41579" y="0"/>
                      <a:pt x="0" y="41579"/>
                      <a:pt x="0" y="92869"/>
                    </a:cubicBezTo>
                  </a:path>
                </a:pathLst>
              </a:custGeom>
              <a:noFill/>
              <a:ln w="19050">
                <a:solidFill>
                  <a:srgbClr val="2FA36B"/>
                </a:solidFill>
              </a:ln>
            </p:spPr>
            <p:txBody>
              <a:bodyPr/>
              <a:p/>
            </p:txBody>
          </p:sp>
          <p:sp>
            <p:nvSpPr>
              <p:cNvPr id="30" name="Freeform 30"/>
              <p:cNvSpPr/>
              <p:nvPr/>
            </p:nvSpPr>
            <p:spPr>
              <a:xfrm>
                <a:off x="931069" y="4389438"/>
                <a:ext cx="61912" cy="41275"/>
              </a:xfrm>
              <a:custGeom>
                <a:avLst/>
                <a:gdLst/>
                <a:ahLst/>
                <a:cxnLst/>
                <a:rect l="l" t="t" r="r" b="b"/>
                <a:pathLst>
                  <a:path w="61912" h="41275">
                    <a:moveTo>
                      <a:pt x="0" y="20638"/>
                    </a:moveTo>
                    <a:lnTo>
                      <a:pt x="20638" y="41275"/>
                    </a:lnTo>
                    <a:lnTo>
                      <a:pt x="61912" y="0"/>
                    </a:lnTo>
                  </a:path>
                </a:pathLst>
              </a:custGeom>
              <a:noFill/>
              <a:ln w="19050">
                <a:solidFill>
                  <a:srgbClr val="2FA36B"/>
                </a:solidFill>
              </a:ln>
            </p:spPr>
            <p:txBody>
              <a:bodyPr/>
              <a:p/>
            </p:txBody>
          </p:sp>
        </p:grpSp>
        <p:sp>
          <p:nvSpPr>
            <p:cNvPr id="32" name="TextBox 32"/>
            <p:cNvSpPr txBox="1"/>
            <p:nvPr/>
          </p:nvSpPr>
          <p:spPr>
            <a:xfrm>
              <a:off x="1221105" y="4331018"/>
              <a:ext cx="2554605" cy="27432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b="1" dirty="0">
                  <a:solidFill>
                    <a:srgbClr val="2B3648"/>
                  </a:solidFill>
                  <a:latin typeface="Arial"/>
                  <a:ea typeface="Microsoft YaHei"/>
                  <a:cs typeface="Arial"/>
                </a:rPr>
                <a:t>想点子：</a:t>
              </a:r>
              <a:r>
                <a:rPr lang="zh-CN" sz="1350" dirty="0">
                  <a:solidFill>
                    <a:srgbClr val="5B6B82"/>
                  </a:solidFill>
                  <a:latin typeface="Arial"/>
                  <a:ea typeface="Microsoft YaHei"/>
                  <a:cs typeface="Arial"/>
                </a:rPr>
                <a:t>起名、方案、头脑风暴</a:t>
              </a:r>
            </a:p>
          </p:txBody>
        </p:sp>
        <p:grpSp>
          <p:nvGrpSpPr>
            <p:cNvPr id="35" name="Group 35"/>
            <p:cNvGrpSpPr/>
            <p:nvPr/>
          </p:nvGrpSpPr>
          <p:grpSpPr>
            <a:xfrm>
              <a:off x="869156" y="4850606"/>
              <a:ext cx="185738" cy="185738"/>
              <a:chOff x="869156" y="4850606"/>
              <a:chExt cx="185738" cy="185738"/>
            </a:xfrm>
          </p:grpSpPr>
          <p:sp>
            <p:nvSpPr>
              <p:cNvPr id="33" name="Freeform 33"/>
              <p:cNvSpPr/>
              <p:nvPr/>
            </p:nvSpPr>
            <p:spPr>
              <a:xfrm>
                <a:off x="869156" y="4850606"/>
                <a:ext cx="185738" cy="185738"/>
              </a:xfrm>
              <a:custGeom>
                <a:avLst/>
                <a:gdLst/>
                <a:ahLst/>
                <a:cxnLst/>
                <a:rect l="l" t="t" r="r" b="b"/>
                <a:pathLst>
                  <a:path w="185738" h="185738">
                    <a:moveTo>
                      <a:pt x="0" y="92869"/>
                    </a:moveTo>
                    <a:cubicBezTo>
                      <a:pt x="0" y="144159"/>
                      <a:pt x="41579" y="185738"/>
                      <a:pt x="92869" y="185738"/>
                    </a:cubicBezTo>
                    <a:cubicBezTo>
                      <a:pt x="144159" y="185738"/>
                      <a:pt x="185738" y="144159"/>
                      <a:pt x="185738" y="92869"/>
                    </a:cubicBezTo>
                    <a:cubicBezTo>
                      <a:pt x="185738" y="41579"/>
                      <a:pt x="144159" y="0"/>
                      <a:pt x="92869" y="0"/>
                    </a:cubicBezTo>
                    <a:cubicBezTo>
                      <a:pt x="41579" y="0"/>
                      <a:pt x="0" y="41579"/>
                      <a:pt x="0" y="92869"/>
                    </a:cubicBezTo>
                  </a:path>
                </a:pathLst>
              </a:custGeom>
              <a:noFill/>
              <a:ln w="19050">
                <a:solidFill>
                  <a:srgbClr val="2FA36B"/>
                </a:solidFill>
              </a:ln>
            </p:spPr>
            <p:txBody>
              <a:bodyPr/>
              <a:p/>
            </p:txBody>
          </p:sp>
          <p:sp>
            <p:nvSpPr>
              <p:cNvPr id="34" name="Freeform 34"/>
              <p:cNvSpPr/>
              <p:nvPr/>
            </p:nvSpPr>
            <p:spPr>
              <a:xfrm>
                <a:off x="931069" y="4922838"/>
                <a:ext cx="61912" cy="41275"/>
              </a:xfrm>
              <a:custGeom>
                <a:avLst/>
                <a:gdLst/>
                <a:ahLst/>
                <a:cxnLst/>
                <a:rect l="l" t="t" r="r" b="b"/>
                <a:pathLst>
                  <a:path w="61912" h="41275">
                    <a:moveTo>
                      <a:pt x="0" y="20637"/>
                    </a:moveTo>
                    <a:lnTo>
                      <a:pt x="20638" y="41275"/>
                    </a:lnTo>
                    <a:lnTo>
                      <a:pt x="61912" y="0"/>
                    </a:lnTo>
                  </a:path>
                </a:pathLst>
              </a:custGeom>
              <a:noFill/>
              <a:ln w="19050">
                <a:solidFill>
                  <a:srgbClr val="2FA36B"/>
                </a:solidFill>
              </a:ln>
            </p:spPr>
            <p:txBody>
              <a:bodyPr/>
              <a:p/>
            </p:txBody>
          </p:sp>
        </p:grpSp>
        <p:sp>
          <p:nvSpPr>
            <p:cNvPr id="36" name="TextBox 36"/>
            <p:cNvSpPr txBox="1"/>
            <p:nvPr/>
          </p:nvSpPr>
          <p:spPr>
            <a:xfrm>
              <a:off x="1221105" y="4864418"/>
              <a:ext cx="2734628" cy="27432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b="1" dirty="0">
                  <a:solidFill>
                    <a:srgbClr val="2B3648"/>
                  </a:solidFill>
                  <a:latin typeface="Arial"/>
                  <a:ea typeface="Microsoft YaHei"/>
                  <a:cs typeface="Arial"/>
                </a:rPr>
                <a:t>答疑：</a:t>
              </a:r>
              <a:r>
                <a:rPr lang="zh-CN" sz="1350" dirty="0">
                  <a:solidFill>
                    <a:srgbClr val="5B6B82"/>
                  </a:solidFill>
                  <a:latin typeface="Arial"/>
                  <a:ea typeface="Microsoft YaHei"/>
                  <a:cs typeface="Arial"/>
                </a:rPr>
                <a:t>解释概念、举例、打个比方</a:t>
              </a:r>
            </a:p>
          </p:txBody>
        </p:sp>
      </p:grpSp>
      <p:grpSp>
        <p:nvGrpSpPr>
          <p:cNvPr id="67" name="Group 67"/>
          <p:cNvGrpSpPr/>
          <p:nvPr/>
        </p:nvGrpSpPr>
        <p:grpSpPr>
          <a:xfrm>
            <a:off x="6286500" y="1619250"/>
            <a:ext cx="5334000" cy="3810000"/>
            <a:chOff x="6286500" y="1619250"/>
            <a:chExt cx="5334000" cy="3810000"/>
          </a:xfrm>
        </p:grpSpPr>
        <p:sp>
          <p:nvSpPr>
            <p:cNvPr id="38" name="Rectangle 38"/>
            <p:cNvSpPr/>
            <p:nvPr/>
          </p:nvSpPr>
          <p:spPr>
            <a:xfrm>
              <a:off x="6286500" y="1619250"/>
              <a:ext cx="5334000" cy="3810000"/>
            </a:xfrm>
            <a:prstGeom prst="roundRect">
              <a:avLst>
                <a:gd name="adj" fmla="val 4000"/>
              </a:avLst>
            </a:prstGeom>
            <a:solidFill>
              <a:srgbClr val="FFFFFF"/>
            </a:solidFill>
            <a:ln w="9525">
              <a:solidFill>
                <a:srgbClr val="D8E1EC"/>
              </a:solidFill>
            </a:ln>
          </p:spPr>
          <p:txBody>
            <a:bodyPr/>
            <a:p/>
          </p:txBody>
        </p:sp>
        <p:sp>
          <p:nvSpPr>
            <p:cNvPr id="39" name="Ellipse 39"/>
            <p:cNvSpPr/>
            <p:nvPr/>
          </p:nvSpPr>
          <p:spPr>
            <a:xfrm>
              <a:off x="6553200" y="1905000"/>
              <a:ext cx="419100" cy="419100"/>
            </a:xfrm>
            <a:prstGeom prst="ellipse">
              <a:avLst/>
            </a:prstGeom>
            <a:solidFill>
              <a:srgbClr val="E9EEF5"/>
            </a:solidFill>
            <a:ln>
              <a:noFill/>
            </a:ln>
          </p:spPr>
          <p:txBody>
            <a:bodyPr/>
            <a:p/>
          </p:txBody>
        </p:sp>
        <p:grpSp>
          <p:nvGrpSpPr>
            <p:cNvPr id="48" name="Group 48"/>
            <p:cNvGrpSpPr/>
            <p:nvPr/>
          </p:nvGrpSpPr>
          <p:grpSpPr>
            <a:xfrm>
              <a:off x="6686550" y="2028825"/>
              <a:ext cx="152400" cy="171450"/>
              <a:chOff x="6686550" y="2028825"/>
              <a:chExt cx="152400" cy="171450"/>
            </a:xfrm>
          </p:grpSpPr>
          <p:sp>
            <p:nvSpPr>
              <p:cNvPr id="40" name="Freeform 40"/>
              <p:cNvSpPr/>
              <p:nvPr/>
            </p:nvSpPr>
            <p:spPr>
              <a:xfrm>
                <a:off x="6686550" y="2028825"/>
                <a:ext cx="152400" cy="171450"/>
              </a:xfrm>
              <a:custGeom>
                <a:avLst/>
                <a:gdLst/>
                <a:ahLst/>
                <a:cxnLst/>
                <a:rect l="l" t="t" r="r" b="b"/>
                <a:pathLst>
                  <a:path w="152400" h="171450">
                    <a:moveTo>
                      <a:pt x="0" y="19050"/>
                    </a:moveTo>
                    <a:cubicBezTo>
                      <a:pt x="0" y="8529"/>
                      <a:pt x="8529" y="0"/>
                      <a:pt x="19050" y="0"/>
                    </a:cubicBezTo>
                    <a:lnTo>
                      <a:pt x="133350" y="0"/>
                    </a:lnTo>
                    <a:cubicBezTo>
                      <a:pt x="143871" y="0"/>
                      <a:pt x="152400" y="8529"/>
                      <a:pt x="152400" y="19050"/>
                    </a:cubicBezTo>
                    <a:lnTo>
                      <a:pt x="152400" y="152400"/>
                    </a:lnTo>
                    <a:cubicBezTo>
                      <a:pt x="152400" y="162921"/>
                      <a:pt x="143871" y="171450"/>
                      <a:pt x="133350" y="171450"/>
                    </a:cubicBezTo>
                    <a:lnTo>
                      <a:pt x="19050" y="171450"/>
                    </a:lnTo>
                    <a:cubicBezTo>
                      <a:pt x="8529" y="171450"/>
                      <a:pt x="0" y="162921"/>
                      <a:pt x="0" y="152400"/>
                    </a:cubicBezTo>
                    <a:lnTo>
                      <a:pt x="0" y="19050"/>
                    </a:lnTo>
                  </a:path>
                </a:pathLst>
              </a:custGeom>
              <a:noFill/>
              <a:ln w="19050">
                <a:solidFill>
                  <a:srgbClr val="5B6B82"/>
                </a:solidFill>
              </a:ln>
            </p:spPr>
            <p:txBody>
              <a:bodyPr/>
              <a:p/>
            </p:txBody>
          </p:sp>
          <p:sp>
            <p:nvSpPr>
              <p:cNvPr id="41" name="Freeform 41"/>
              <p:cNvSpPr/>
              <p:nvPr/>
            </p:nvSpPr>
            <p:spPr>
              <a:xfrm>
                <a:off x="6724650" y="2066925"/>
                <a:ext cx="76200" cy="28575"/>
              </a:xfrm>
              <a:custGeom>
                <a:avLst/>
                <a:gdLst/>
                <a:ahLst/>
                <a:cxnLst/>
                <a:rect l="l" t="t" r="r" b="b"/>
                <a:pathLst>
                  <a:path w="76200" h="28575">
                    <a:moveTo>
                      <a:pt x="0" y="9525"/>
                    </a:moveTo>
                    <a:cubicBezTo>
                      <a:pt x="0" y="4264"/>
                      <a:pt x="4264" y="0"/>
                      <a:pt x="9525" y="0"/>
                    </a:cubicBezTo>
                    <a:lnTo>
                      <a:pt x="66675" y="0"/>
                    </a:lnTo>
                    <a:cubicBezTo>
                      <a:pt x="71936" y="0"/>
                      <a:pt x="76200" y="4264"/>
                      <a:pt x="76200" y="9525"/>
                    </a:cubicBezTo>
                    <a:lnTo>
                      <a:pt x="76200" y="19050"/>
                    </a:lnTo>
                    <a:cubicBezTo>
                      <a:pt x="76200" y="24311"/>
                      <a:pt x="71936" y="28575"/>
                      <a:pt x="66675" y="28575"/>
                    </a:cubicBezTo>
                    <a:lnTo>
                      <a:pt x="9525" y="28575"/>
                    </a:lnTo>
                    <a:cubicBezTo>
                      <a:pt x="4264" y="28575"/>
                      <a:pt x="0" y="24311"/>
                      <a:pt x="0" y="19050"/>
                    </a:cubicBezTo>
                    <a:lnTo>
                      <a:pt x="0" y="9525"/>
                    </a:lnTo>
                  </a:path>
                </a:pathLst>
              </a:custGeom>
              <a:noFill/>
              <a:ln w="19050">
                <a:solidFill>
                  <a:srgbClr val="5B6B82"/>
                </a:solidFill>
              </a:ln>
            </p:spPr>
            <p:txBody>
              <a:bodyPr/>
              <a:p/>
            </p:txBody>
          </p:sp>
          <p:sp>
            <p:nvSpPr>
              <p:cNvPr id="42" name="Freeform 42"/>
              <p:cNvSpPr/>
              <p:nvPr/>
            </p:nvSpPr>
            <p:spPr>
              <a:xfrm>
                <a:off x="6724650" y="2133600"/>
                <a:ext cx="9525" cy="9525"/>
              </a:xfrm>
              <a:custGeom>
                <a:avLst/>
                <a:gdLst/>
                <a:ahLst/>
                <a:cxnLst/>
                <a:rect l="l" t="t" r="r" b="b"/>
                <a:pathLst>
                  <a:path w="9525" h="9525">
                    <a:moveTo>
                      <a:pt x="0" y="0"/>
                    </a:moveTo>
                    <a:lnTo>
                      <a:pt x="0" y="95"/>
                    </a:lnTo>
                  </a:path>
                </a:pathLst>
              </a:custGeom>
              <a:noFill/>
              <a:ln w="19050">
                <a:solidFill>
                  <a:srgbClr val="5B6B82"/>
                </a:solidFill>
              </a:ln>
            </p:spPr>
            <p:txBody>
              <a:bodyPr/>
              <a:p/>
            </p:txBody>
          </p:sp>
          <p:sp>
            <p:nvSpPr>
              <p:cNvPr id="43" name="Freeform 43"/>
              <p:cNvSpPr/>
              <p:nvPr/>
            </p:nvSpPr>
            <p:spPr>
              <a:xfrm>
                <a:off x="6762750" y="2133600"/>
                <a:ext cx="9525" cy="9525"/>
              </a:xfrm>
              <a:custGeom>
                <a:avLst/>
                <a:gdLst/>
                <a:ahLst/>
                <a:cxnLst/>
                <a:rect l="l" t="t" r="r" b="b"/>
                <a:pathLst>
                  <a:path w="9525" h="9525">
                    <a:moveTo>
                      <a:pt x="0" y="0"/>
                    </a:moveTo>
                    <a:lnTo>
                      <a:pt x="0" y="95"/>
                    </a:lnTo>
                  </a:path>
                </a:pathLst>
              </a:custGeom>
              <a:noFill/>
              <a:ln w="19050">
                <a:solidFill>
                  <a:srgbClr val="5B6B82"/>
                </a:solidFill>
              </a:ln>
            </p:spPr>
            <p:txBody>
              <a:bodyPr/>
              <a:p/>
            </p:txBody>
          </p:sp>
          <p:sp>
            <p:nvSpPr>
              <p:cNvPr id="44" name="Freeform 44"/>
              <p:cNvSpPr/>
              <p:nvPr/>
            </p:nvSpPr>
            <p:spPr>
              <a:xfrm>
                <a:off x="6800850" y="2133600"/>
                <a:ext cx="9525" cy="9525"/>
              </a:xfrm>
              <a:custGeom>
                <a:avLst/>
                <a:gdLst/>
                <a:ahLst/>
                <a:cxnLst/>
                <a:rect l="l" t="t" r="r" b="b"/>
                <a:pathLst>
                  <a:path w="9525" h="9525">
                    <a:moveTo>
                      <a:pt x="0" y="0"/>
                    </a:moveTo>
                    <a:lnTo>
                      <a:pt x="0" y="95"/>
                    </a:lnTo>
                  </a:path>
                </a:pathLst>
              </a:custGeom>
              <a:noFill/>
              <a:ln w="19050">
                <a:solidFill>
                  <a:srgbClr val="5B6B82"/>
                </a:solidFill>
              </a:ln>
            </p:spPr>
            <p:txBody>
              <a:bodyPr/>
              <a:p/>
            </p:txBody>
          </p:sp>
          <p:sp>
            <p:nvSpPr>
              <p:cNvPr id="45" name="Freeform 45"/>
              <p:cNvSpPr/>
              <p:nvPr/>
            </p:nvSpPr>
            <p:spPr>
              <a:xfrm>
                <a:off x="6724650" y="2162175"/>
                <a:ext cx="9525" cy="9525"/>
              </a:xfrm>
              <a:custGeom>
                <a:avLst/>
                <a:gdLst/>
                <a:ahLst/>
                <a:cxnLst/>
                <a:rect l="l" t="t" r="r" b="b"/>
                <a:pathLst>
                  <a:path w="9525" h="9525">
                    <a:moveTo>
                      <a:pt x="0" y="0"/>
                    </a:moveTo>
                    <a:lnTo>
                      <a:pt x="0" y="95"/>
                    </a:lnTo>
                  </a:path>
                </a:pathLst>
              </a:custGeom>
              <a:noFill/>
              <a:ln w="19050">
                <a:solidFill>
                  <a:srgbClr val="5B6B82"/>
                </a:solidFill>
              </a:ln>
            </p:spPr>
            <p:txBody>
              <a:bodyPr/>
              <a:p/>
            </p:txBody>
          </p:sp>
          <p:sp>
            <p:nvSpPr>
              <p:cNvPr id="46" name="Freeform 46"/>
              <p:cNvSpPr/>
              <p:nvPr/>
            </p:nvSpPr>
            <p:spPr>
              <a:xfrm>
                <a:off x="6762750" y="2162175"/>
                <a:ext cx="9525" cy="9525"/>
              </a:xfrm>
              <a:custGeom>
                <a:avLst/>
                <a:gdLst/>
                <a:ahLst/>
                <a:cxnLst/>
                <a:rect l="l" t="t" r="r" b="b"/>
                <a:pathLst>
                  <a:path w="9525" h="9525">
                    <a:moveTo>
                      <a:pt x="0" y="0"/>
                    </a:moveTo>
                    <a:lnTo>
                      <a:pt x="0" y="95"/>
                    </a:lnTo>
                  </a:path>
                </a:pathLst>
              </a:custGeom>
              <a:noFill/>
              <a:ln w="19050">
                <a:solidFill>
                  <a:srgbClr val="5B6B82"/>
                </a:solidFill>
              </a:ln>
            </p:spPr>
            <p:txBody>
              <a:bodyPr/>
              <a:p/>
            </p:txBody>
          </p:sp>
          <p:sp>
            <p:nvSpPr>
              <p:cNvPr id="47" name="Freeform 47"/>
              <p:cNvSpPr/>
              <p:nvPr/>
            </p:nvSpPr>
            <p:spPr>
              <a:xfrm>
                <a:off x="6800850" y="2162175"/>
                <a:ext cx="9525" cy="9525"/>
              </a:xfrm>
              <a:custGeom>
                <a:avLst/>
                <a:gdLst/>
                <a:ahLst/>
                <a:cxnLst/>
                <a:rect l="l" t="t" r="r" b="b"/>
                <a:pathLst>
                  <a:path w="9525" h="9525">
                    <a:moveTo>
                      <a:pt x="0" y="0"/>
                    </a:moveTo>
                    <a:lnTo>
                      <a:pt x="0" y="95"/>
                    </a:lnTo>
                  </a:path>
                </a:pathLst>
              </a:custGeom>
              <a:noFill/>
              <a:ln w="19050">
                <a:solidFill>
                  <a:srgbClr val="5B6B82"/>
                </a:solidFill>
              </a:ln>
            </p:spPr>
            <p:txBody>
              <a:bodyPr/>
              <a:p/>
            </p:txBody>
          </p:sp>
        </p:grpSp>
        <p:sp>
          <p:nvSpPr>
            <p:cNvPr id="49" name="TextBox 49"/>
            <p:cNvSpPr txBox="1"/>
            <p:nvPr/>
          </p:nvSpPr>
          <p:spPr>
            <a:xfrm>
              <a:off x="7084695" y="2012632"/>
              <a:ext cx="2583228" cy="33528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650" b="1" dirty="0">
                  <a:solidFill>
                    <a:srgbClr val="2B3648"/>
                  </a:solidFill>
                  <a:latin typeface="Arial"/>
                  <a:ea typeface="Microsoft YaHei"/>
                  <a:cs typeface="Arial"/>
                </a:rPr>
                <a:t>不擅长：别让它「拍板」</a:t>
              </a:r>
            </a:p>
          </p:txBody>
        </p:sp>
        <p:sp>
          <p:nvSpPr>
            <p:cNvPr id="50" name="Line 50"/>
            <p:cNvSpPr/>
            <p:nvPr/>
          </p:nvSpPr>
          <p:spPr>
            <a:xfrm>
              <a:off x="6515100" y="2438400"/>
              <a:ext cx="4876800" cy="9525"/>
            </a:xfrm>
            <a:custGeom>
              <a:avLst/>
              <a:gdLst/>
              <a:ahLst/>
              <a:cxnLst/>
              <a:rect l="l" t="t" r="r" b="b"/>
              <a:pathLst>
                <a:path w="4876800" h="9525">
                  <a:moveTo>
                    <a:pt x="0" y="0"/>
                  </a:moveTo>
                  <a:lnTo>
                    <a:pt x="4876800" y="0"/>
                  </a:lnTo>
                </a:path>
              </a:pathLst>
            </a:custGeom>
            <a:noFill/>
            <a:ln w="9525">
              <a:solidFill>
                <a:srgbClr val="D8E1EC"/>
              </a:solidFill>
            </a:ln>
          </p:spPr>
          <p:txBody>
            <a:bodyPr/>
            <a:p/>
          </p:txBody>
        </p:sp>
        <p:grpSp>
          <p:nvGrpSpPr>
            <p:cNvPr id="53" name="Group 53"/>
            <p:cNvGrpSpPr/>
            <p:nvPr/>
          </p:nvGrpSpPr>
          <p:grpSpPr>
            <a:xfrm>
              <a:off x="6584156" y="2717006"/>
              <a:ext cx="185738" cy="185738"/>
              <a:chOff x="6584156" y="2717006"/>
              <a:chExt cx="185738" cy="185738"/>
            </a:xfrm>
          </p:grpSpPr>
          <p:sp>
            <p:nvSpPr>
              <p:cNvPr id="51" name="Freeform 51"/>
              <p:cNvSpPr/>
              <p:nvPr/>
            </p:nvSpPr>
            <p:spPr>
              <a:xfrm>
                <a:off x="6584156" y="2717006"/>
                <a:ext cx="185738" cy="185738"/>
              </a:xfrm>
              <a:custGeom>
                <a:avLst/>
                <a:gdLst/>
                <a:ahLst/>
                <a:cxnLst/>
                <a:rect l="l" t="t" r="r" b="b"/>
                <a:pathLst>
                  <a:path w="185738" h="185738">
                    <a:moveTo>
                      <a:pt x="0" y="92869"/>
                    </a:moveTo>
                    <a:cubicBezTo>
                      <a:pt x="0" y="144159"/>
                      <a:pt x="41579" y="185738"/>
                      <a:pt x="92869" y="185738"/>
                    </a:cubicBezTo>
                    <a:cubicBezTo>
                      <a:pt x="144159" y="185738"/>
                      <a:pt x="185738" y="144159"/>
                      <a:pt x="185738" y="92869"/>
                    </a:cubicBezTo>
                    <a:cubicBezTo>
                      <a:pt x="185738" y="41579"/>
                      <a:pt x="144159" y="0"/>
                      <a:pt x="92869" y="0"/>
                    </a:cubicBezTo>
                    <a:cubicBezTo>
                      <a:pt x="41579" y="0"/>
                      <a:pt x="0" y="41579"/>
                      <a:pt x="0" y="92869"/>
                    </a:cubicBezTo>
                  </a:path>
                </a:pathLst>
              </a:custGeom>
              <a:noFill/>
              <a:ln w="19050">
                <a:solidFill>
                  <a:srgbClr val="D64545"/>
                </a:solidFill>
              </a:ln>
            </p:spPr>
            <p:txBody>
              <a:bodyPr/>
              <a:p/>
            </p:txBody>
          </p:sp>
          <p:sp>
            <p:nvSpPr>
              <p:cNvPr id="52" name="Freeform 52"/>
              <p:cNvSpPr/>
              <p:nvPr/>
            </p:nvSpPr>
            <p:spPr>
              <a:xfrm>
                <a:off x="6656388" y="2789238"/>
                <a:ext cx="41275" cy="41275"/>
              </a:xfrm>
              <a:custGeom>
                <a:avLst/>
                <a:gdLst/>
                <a:ahLst/>
                <a:cxnLst/>
                <a:rect l="l" t="t" r="r" b="b"/>
                <a:pathLst>
                  <a:path w="41275" h="41275">
                    <a:moveTo>
                      <a:pt x="0" y="0"/>
                    </a:moveTo>
                    <a:lnTo>
                      <a:pt x="41275" y="41275"/>
                    </a:lnTo>
                    <a:moveTo>
                      <a:pt x="41275" y="0"/>
                    </a:moveTo>
                    <a:lnTo>
                      <a:pt x="0" y="41275"/>
                    </a:lnTo>
                  </a:path>
                </a:pathLst>
              </a:custGeom>
              <a:noFill/>
              <a:ln w="19050">
                <a:solidFill>
                  <a:srgbClr val="D64545"/>
                </a:solidFill>
              </a:ln>
            </p:spPr>
            <p:txBody>
              <a:bodyPr/>
              <a:p/>
            </p:txBody>
          </p:sp>
        </p:grpSp>
        <p:sp>
          <p:nvSpPr>
            <p:cNvPr id="54" name="TextBox 54"/>
            <p:cNvSpPr txBox="1"/>
            <p:nvPr/>
          </p:nvSpPr>
          <p:spPr>
            <a:xfrm>
              <a:off x="6936105" y="2730818"/>
              <a:ext cx="2014538" cy="27432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b="1" dirty="0">
                  <a:solidFill>
                    <a:srgbClr val="2B3648"/>
                  </a:solidFill>
                  <a:latin typeface="Arial"/>
                  <a:ea typeface="Microsoft YaHei"/>
                  <a:cs typeface="Arial"/>
                </a:rPr>
                <a:t>算精确的账</a:t>
              </a:r>
              <a:r>
                <a:rPr lang="zh-CN" sz="1350" dirty="0">
                  <a:solidFill>
                    <a:srgbClr val="5B6B82"/>
                  </a:solidFill>
                  <a:latin typeface="Arial"/>
                  <a:ea typeface="Microsoft YaHei"/>
                  <a:cs typeface="Arial"/>
                </a:rPr>
                <a:t>（容易算错）</a:t>
              </a:r>
            </a:p>
          </p:txBody>
        </p:sp>
        <p:grpSp>
          <p:nvGrpSpPr>
            <p:cNvPr id="57" name="Group 57"/>
            <p:cNvGrpSpPr/>
            <p:nvPr/>
          </p:nvGrpSpPr>
          <p:grpSpPr>
            <a:xfrm>
              <a:off x="6584156" y="3364706"/>
              <a:ext cx="185738" cy="185738"/>
              <a:chOff x="6584156" y="3364706"/>
              <a:chExt cx="185738" cy="185738"/>
            </a:xfrm>
          </p:grpSpPr>
          <p:sp>
            <p:nvSpPr>
              <p:cNvPr id="55" name="Freeform 55"/>
              <p:cNvSpPr/>
              <p:nvPr/>
            </p:nvSpPr>
            <p:spPr>
              <a:xfrm>
                <a:off x="6584156" y="3364706"/>
                <a:ext cx="185738" cy="185738"/>
              </a:xfrm>
              <a:custGeom>
                <a:avLst/>
                <a:gdLst/>
                <a:ahLst/>
                <a:cxnLst/>
                <a:rect l="l" t="t" r="r" b="b"/>
                <a:pathLst>
                  <a:path w="185738" h="185738">
                    <a:moveTo>
                      <a:pt x="0" y="92869"/>
                    </a:moveTo>
                    <a:cubicBezTo>
                      <a:pt x="0" y="144159"/>
                      <a:pt x="41579" y="185738"/>
                      <a:pt x="92869" y="185738"/>
                    </a:cubicBezTo>
                    <a:cubicBezTo>
                      <a:pt x="144159" y="185738"/>
                      <a:pt x="185738" y="144159"/>
                      <a:pt x="185738" y="92869"/>
                    </a:cubicBezTo>
                    <a:cubicBezTo>
                      <a:pt x="185738" y="41579"/>
                      <a:pt x="144159" y="0"/>
                      <a:pt x="92869" y="0"/>
                    </a:cubicBezTo>
                    <a:cubicBezTo>
                      <a:pt x="41579" y="0"/>
                      <a:pt x="0" y="41579"/>
                      <a:pt x="0" y="92869"/>
                    </a:cubicBezTo>
                  </a:path>
                </a:pathLst>
              </a:custGeom>
              <a:noFill/>
              <a:ln w="19050">
                <a:solidFill>
                  <a:srgbClr val="D64545"/>
                </a:solidFill>
              </a:ln>
            </p:spPr>
            <p:txBody>
              <a:bodyPr/>
              <a:p/>
            </p:txBody>
          </p:sp>
          <p:sp>
            <p:nvSpPr>
              <p:cNvPr id="56" name="Freeform 56"/>
              <p:cNvSpPr/>
              <p:nvPr/>
            </p:nvSpPr>
            <p:spPr>
              <a:xfrm>
                <a:off x="6656388" y="3436938"/>
                <a:ext cx="41275" cy="41275"/>
              </a:xfrm>
              <a:custGeom>
                <a:avLst/>
                <a:gdLst/>
                <a:ahLst/>
                <a:cxnLst/>
                <a:rect l="l" t="t" r="r" b="b"/>
                <a:pathLst>
                  <a:path w="41275" h="41275">
                    <a:moveTo>
                      <a:pt x="0" y="0"/>
                    </a:moveTo>
                    <a:lnTo>
                      <a:pt x="41275" y="41275"/>
                    </a:lnTo>
                    <a:moveTo>
                      <a:pt x="41275" y="0"/>
                    </a:moveTo>
                    <a:lnTo>
                      <a:pt x="0" y="41275"/>
                    </a:lnTo>
                  </a:path>
                </a:pathLst>
              </a:custGeom>
              <a:noFill/>
              <a:ln w="19050">
                <a:solidFill>
                  <a:srgbClr val="D64545"/>
                </a:solidFill>
              </a:ln>
            </p:spPr>
            <p:txBody>
              <a:bodyPr/>
              <a:p/>
            </p:txBody>
          </p:sp>
        </p:grpSp>
        <p:sp>
          <p:nvSpPr>
            <p:cNvPr id="58" name="TextBox 58"/>
            <p:cNvSpPr txBox="1"/>
            <p:nvPr/>
          </p:nvSpPr>
          <p:spPr>
            <a:xfrm>
              <a:off x="6936105" y="3378518"/>
              <a:ext cx="2194560" cy="27432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b="1" dirty="0">
                  <a:solidFill>
                    <a:srgbClr val="2B3648"/>
                  </a:solidFill>
                  <a:latin typeface="Arial"/>
                  <a:ea typeface="Microsoft YaHei"/>
                  <a:cs typeface="Arial"/>
                </a:rPr>
                <a:t>记住死准的事实</a:t>
              </a:r>
              <a:r>
                <a:rPr lang="zh-CN" sz="1350" dirty="0">
                  <a:solidFill>
                    <a:srgbClr val="5B6B82"/>
                  </a:solidFill>
                  <a:latin typeface="Arial"/>
                  <a:ea typeface="Microsoft YaHei"/>
                  <a:cs typeface="Arial"/>
                </a:rPr>
                <a:t>（会记串）</a:t>
              </a:r>
            </a:p>
          </p:txBody>
        </p:sp>
        <p:grpSp>
          <p:nvGrpSpPr>
            <p:cNvPr id="61" name="Group 61"/>
            <p:cNvGrpSpPr/>
            <p:nvPr/>
          </p:nvGrpSpPr>
          <p:grpSpPr>
            <a:xfrm>
              <a:off x="6584156" y="4012406"/>
              <a:ext cx="185738" cy="185738"/>
              <a:chOff x="6584156" y="4012406"/>
              <a:chExt cx="185738" cy="185738"/>
            </a:xfrm>
          </p:grpSpPr>
          <p:sp>
            <p:nvSpPr>
              <p:cNvPr id="59" name="Freeform 59"/>
              <p:cNvSpPr/>
              <p:nvPr/>
            </p:nvSpPr>
            <p:spPr>
              <a:xfrm>
                <a:off x="6584156" y="4012406"/>
                <a:ext cx="185738" cy="185738"/>
              </a:xfrm>
              <a:custGeom>
                <a:avLst/>
                <a:gdLst/>
                <a:ahLst/>
                <a:cxnLst/>
                <a:rect l="l" t="t" r="r" b="b"/>
                <a:pathLst>
                  <a:path w="185738" h="185738">
                    <a:moveTo>
                      <a:pt x="0" y="92869"/>
                    </a:moveTo>
                    <a:cubicBezTo>
                      <a:pt x="0" y="144159"/>
                      <a:pt x="41579" y="185738"/>
                      <a:pt x="92869" y="185738"/>
                    </a:cubicBezTo>
                    <a:cubicBezTo>
                      <a:pt x="144159" y="185738"/>
                      <a:pt x="185738" y="144159"/>
                      <a:pt x="185738" y="92869"/>
                    </a:cubicBezTo>
                    <a:cubicBezTo>
                      <a:pt x="185738" y="41579"/>
                      <a:pt x="144159" y="0"/>
                      <a:pt x="92869" y="0"/>
                    </a:cubicBezTo>
                    <a:cubicBezTo>
                      <a:pt x="41579" y="0"/>
                      <a:pt x="0" y="41579"/>
                      <a:pt x="0" y="92869"/>
                    </a:cubicBezTo>
                  </a:path>
                </a:pathLst>
              </a:custGeom>
              <a:noFill/>
              <a:ln w="19050">
                <a:solidFill>
                  <a:srgbClr val="D64545"/>
                </a:solidFill>
              </a:ln>
            </p:spPr>
            <p:txBody>
              <a:bodyPr/>
              <a:p/>
            </p:txBody>
          </p:sp>
          <p:sp>
            <p:nvSpPr>
              <p:cNvPr id="60" name="Freeform 60"/>
              <p:cNvSpPr/>
              <p:nvPr/>
            </p:nvSpPr>
            <p:spPr>
              <a:xfrm>
                <a:off x="6656388" y="4084638"/>
                <a:ext cx="41275" cy="41275"/>
              </a:xfrm>
              <a:custGeom>
                <a:avLst/>
                <a:gdLst/>
                <a:ahLst/>
                <a:cxnLst/>
                <a:rect l="l" t="t" r="r" b="b"/>
                <a:pathLst>
                  <a:path w="41275" h="41275">
                    <a:moveTo>
                      <a:pt x="0" y="0"/>
                    </a:moveTo>
                    <a:lnTo>
                      <a:pt x="41275" y="41275"/>
                    </a:lnTo>
                    <a:moveTo>
                      <a:pt x="41275" y="0"/>
                    </a:moveTo>
                    <a:lnTo>
                      <a:pt x="0" y="41275"/>
                    </a:lnTo>
                  </a:path>
                </a:pathLst>
              </a:custGeom>
              <a:noFill/>
              <a:ln w="19050">
                <a:solidFill>
                  <a:srgbClr val="D64545"/>
                </a:solidFill>
              </a:ln>
            </p:spPr>
            <p:txBody>
              <a:bodyPr/>
              <a:p/>
            </p:txBody>
          </p:sp>
        </p:grpSp>
        <p:sp>
          <p:nvSpPr>
            <p:cNvPr id="62" name="TextBox 62"/>
            <p:cNvSpPr txBox="1"/>
            <p:nvPr/>
          </p:nvSpPr>
          <p:spPr>
            <a:xfrm>
              <a:off x="6936105" y="4026218"/>
              <a:ext cx="1294448" cy="27432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b="1" dirty="0">
                  <a:solidFill>
                    <a:srgbClr val="2B3648"/>
                  </a:solidFill>
                  <a:latin typeface="Arial"/>
                  <a:ea typeface="Microsoft YaHei"/>
                  <a:cs typeface="Arial"/>
                </a:rPr>
                <a:t>替你做重大决定</a:t>
              </a:r>
            </a:p>
          </p:txBody>
        </p:sp>
        <p:grpSp>
          <p:nvGrpSpPr>
            <p:cNvPr id="65" name="Group 65"/>
            <p:cNvGrpSpPr/>
            <p:nvPr/>
          </p:nvGrpSpPr>
          <p:grpSpPr>
            <a:xfrm>
              <a:off x="6584156" y="4660106"/>
              <a:ext cx="185738" cy="185738"/>
              <a:chOff x="6584156" y="4660106"/>
              <a:chExt cx="185738" cy="185738"/>
            </a:xfrm>
          </p:grpSpPr>
          <p:sp>
            <p:nvSpPr>
              <p:cNvPr id="63" name="Freeform 63"/>
              <p:cNvSpPr/>
              <p:nvPr/>
            </p:nvSpPr>
            <p:spPr>
              <a:xfrm>
                <a:off x="6584156" y="4660106"/>
                <a:ext cx="185738" cy="185738"/>
              </a:xfrm>
              <a:custGeom>
                <a:avLst/>
                <a:gdLst/>
                <a:ahLst/>
                <a:cxnLst/>
                <a:rect l="l" t="t" r="r" b="b"/>
                <a:pathLst>
                  <a:path w="185738" h="185738">
                    <a:moveTo>
                      <a:pt x="0" y="92869"/>
                    </a:moveTo>
                    <a:cubicBezTo>
                      <a:pt x="0" y="144159"/>
                      <a:pt x="41579" y="185738"/>
                      <a:pt x="92869" y="185738"/>
                    </a:cubicBezTo>
                    <a:cubicBezTo>
                      <a:pt x="144159" y="185738"/>
                      <a:pt x="185738" y="144159"/>
                      <a:pt x="185738" y="92869"/>
                    </a:cubicBezTo>
                    <a:cubicBezTo>
                      <a:pt x="185738" y="41579"/>
                      <a:pt x="144159" y="0"/>
                      <a:pt x="92869" y="0"/>
                    </a:cubicBezTo>
                    <a:cubicBezTo>
                      <a:pt x="41579" y="0"/>
                      <a:pt x="0" y="41579"/>
                      <a:pt x="0" y="92869"/>
                    </a:cubicBezTo>
                  </a:path>
                </a:pathLst>
              </a:custGeom>
              <a:noFill/>
              <a:ln w="19050">
                <a:solidFill>
                  <a:srgbClr val="D64545"/>
                </a:solidFill>
              </a:ln>
            </p:spPr>
            <p:txBody>
              <a:bodyPr/>
              <a:p/>
            </p:txBody>
          </p:sp>
          <p:sp>
            <p:nvSpPr>
              <p:cNvPr id="64" name="Freeform 64"/>
              <p:cNvSpPr/>
              <p:nvPr/>
            </p:nvSpPr>
            <p:spPr>
              <a:xfrm>
                <a:off x="6656388" y="4732338"/>
                <a:ext cx="41275" cy="41275"/>
              </a:xfrm>
              <a:custGeom>
                <a:avLst/>
                <a:gdLst/>
                <a:ahLst/>
                <a:cxnLst/>
                <a:rect l="l" t="t" r="r" b="b"/>
                <a:pathLst>
                  <a:path w="41275" h="41275">
                    <a:moveTo>
                      <a:pt x="0" y="0"/>
                    </a:moveTo>
                    <a:lnTo>
                      <a:pt x="41275" y="41275"/>
                    </a:lnTo>
                    <a:moveTo>
                      <a:pt x="41275" y="0"/>
                    </a:moveTo>
                    <a:lnTo>
                      <a:pt x="0" y="41275"/>
                    </a:lnTo>
                  </a:path>
                </a:pathLst>
              </a:custGeom>
              <a:noFill/>
              <a:ln w="19050">
                <a:solidFill>
                  <a:srgbClr val="D64545"/>
                </a:solidFill>
              </a:ln>
            </p:spPr>
            <p:txBody>
              <a:bodyPr/>
              <a:p/>
            </p:txBody>
          </p:sp>
        </p:grpSp>
        <p:sp>
          <p:nvSpPr>
            <p:cNvPr id="66" name="TextBox 66"/>
            <p:cNvSpPr txBox="1"/>
            <p:nvPr/>
          </p:nvSpPr>
          <p:spPr>
            <a:xfrm>
              <a:off x="6936105" y="4673918"/>
              <a:ext cx="1834515" cy="27432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b="1" dirty="0">
                  <a:solidFill>
                    <a:srgbClr val="2B3648"/>
                  </a:solidFill>
                  <a:latin typeface="Arial"/>
                  <a:ea typeface="Microsoft YaHei"/>
                  <a:cs typeface="Arial"/>
                </a:rPr>
                <a:t>判断你单位的特殊规矩</a:t>
              </a:r>
            </a:p>
          </p:txBody>
        </p:sp>
      </p:grpSp>
      <p:grpSp>
        <p:nvGrpSpPr>
          <p:cNvPr id="71" name="Group 71"/>
          <p:cNvGrpSpPr/>
          <p:nvPr/>
        </p:nvGrpSpPr>
        <p:grpSpPr>
          <a:xfrm>
            <a:off x="571500" y="5715000"/>
            <a:ext cx="11049000" cy="457200"/>
            <a:chOff x="571500" y="5715000"/>
            <a:chExt cx="11049000" cy="457200"/>
          </a:xfrm>
        </p:grpSpPr>
        <p:sp>
          <p:nvSpPr>
            <p:cNvPr id="68" name="Rectangle 68"/>
            <p:cNvSpPr/>
            <p:nvPr/>
          </p:nvSpPr>
          <p:spPr>
            <a:xfrm>
              <a:off x="571500" y="5715000"/>
              <a:ext cx="11049000" cy="457200"/>
            </a:xfrm>
            <a:prstGeom prst="roundRect">
              <a:avLst>
                <a:gd name="adj" fmla="val 33333"/>
              </a:avLst>
            </a:prstGeom>
            <a:solidFill>
              <a:srgbClr val="D6E6F9"/>
            </a:solidFill>
            <a:ln>
              <a:noFill/>
            </a:ln>
          </p:spPr>
          <p:txBody>
            <a:bodyPr/>
            <a:p/>
          </p:txBody>
        </p:sp>
        <p:sp>
          <p:nvSpPr>
            <p:cNvPr id="69" name="Rectangle 69"/>
            <p:cNvSpPr/>
            <p:nvPr/>
          </p:nvSpPr>
          <p:spPr>
            <a:xfrm>
              <a:off x="571500" y="5715000"/>
              <a:ext cx="76200" cy="457200"/>
            </a:xfrm>
            <a:prstGeom prst="roundRect">
              <a:avLst>
                <a:gd name="adj" fmla="val 50000"/>
              </a:avLst>
            </a:prstGeom>
            <a:solidFill>
              <a:srgbClr val="1565D8"/>
            </a:solidFill>
            <a:ln>
              <a:noFill/>
            </a:ln>
          </p:spPr>
          <p:txBody>
            <a:bodyPr/>
            <a:p/>
          </p:txBody>
        </p:sp>
        <p:sp>
          <p:nvSpPr>
            <p:cNvPr id="70" name="TextBox 70"/>
            <p:cNvSpPr txBox="1"/>
            <p:nvPr/>
          </p:nvSpPr>
          <p:spPr>
            <a:xfrm>
              <a:off x="859155" y="5864542"/>
              <a:ext cx="3058668" cy="27432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b="1" dirty="0">
                  <a:solidFill>
                    <a:srgbClr val="0B4EA2"/>
                  </a:solidFill>
                  <a:latin typeface="Arial"/>
                  <a:ea typeface="Microsoft YaHei"/>
                  <a:cs typeface="Arial"/>
                </a:rPr>
                <a:t>口诀：能帮你起草，不能替你负责。</a:t>
              </a:r>
            </a:p>
          </p:txBody>
        </p:sp>
      </p:grpSp>
      <p:grpSp>
        <p:nvGrpSpPr>
          <p:cNvPr id="74" name="Group 74"/>
          <p:cNvGrpSpPr/>
          <p:nvPr/>
        </p:nvGrpSpPr>
        <p:grpSpPr>
          <a:xfrm>
            <a:off x="560070" y="6341745"/>
            <a:ext cx="11071860" cy="182880"/>
            <a:chOff x="560070" y="6341745"/>
            <a:chExt cx="11071860" cy="182880"/>
          </a:xfrm>
        </p:grpSpPr>
        <p:sp>
          <p:nvSpPr>
            <p:cNvPr id="72" name="TextBox 72"/>
            <p:cNvSpPr txBox="1"/>
            <p:nvPr/>
          </p:nvSpPr>
          <p:spPr>
            <a:xfrm>
              <a:off x="560070" y="6341745"/>
              <a:ext cx="1054989" cy="18288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00" dirty="0">
                  <a:solidFill>
                    <a:srgbClr val="8B99AE"/>
                  </a:solidFill>
                  <a:latin typeface="Arial"/>
                  <a:ea typeface="Microsoft YaHei"/>
                  <a:cs typeface="Arial"/>
                </a:rPr>
                <a:t>大模型通识 · 企业版</a:t>
              </a:r>
            </a:p>
          </p:txBody>
        </p:sp>
        <p:sp>
          <p:nvSpPr>
            <p:cNvPr id="73" name="TextBox 73"/>
            <p:cNvSpPr txBox="1"/>
            <p:nvPr/>
          </p:nvSpPr>
          <p:spPr>
            <a:xfrm>
              <a:off x="11273028" y="6341745"/>
              <a:ext cx="358902" cy="18288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r"/>
              <a:r>
                <a:rPr lang="zh-CN" sz="900" dirty="0">
                  <a:solidFill>
                    <a:srgbClr val="8B99AE"/>
                  </a:solidFill>
                  <a:latin typeface="Arial"/>
                  <a:ea typeface="Microsoft YaHei"/>
                  <a:cs typeface="Arial"/>
                </a:rPr>
                <a:t>11 / 51</a:t>
              </a:r>
            </a:p>
          </p:txBody>
        </p:sp>
      </p:grpSp>
    </p:spTree>
  </p:cSld>
  <p:clrMapOvr>
    <a:masterClrMapping/>
  </p:clrMapOvr>
  <p:transition xmlns:p14="http://schemas.microsoft.com/office/powerpoint/2010/main" p14:dur="400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00"/>
                                        <p:tgtEl>
                                          <p:spTgt spid="3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900"/>
                            </p:stCondLst>
                            <p:childTnLst>
                              <p:par>
                                <p:cTn id="9" presetID="22" presetClass="entr" presetSubtype="1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1" dur="400"/>
                                        <p:tgtEl>
                                          <p:spTgt spid="6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2" fill="hold">
                            <p:stCondLst>
                              <p:cond delay="1800"/>
                            </p:stCondLst>
                            <p:childTnLst>
                              <p:par>
                                <p:cTn id="13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400"/>
                                        <p:tgtEl>
                                          <p:spTgt spid="7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7" grpId="0"/>
      <p:bldP spid="67" grpId="0"/>
      <p:bldP spid="71" grpId="0"/>
    </p:bldLst>
  </p:timing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9" name="Group 9"/>
          <p:cNvGrpSpPr/>
          <p:nvPr/>
        </p:nvGrpSpPr>
        <p:grpSpPr>
          <a:xfrm>
            <a:off x="-666750" y="-1238250"/>
            <a:ext cx="15144750" cy="10382250"/>
            <a:chOff x="-666750" y="-1238250"/>
            <a:chExt cx="15144750" cy="10382250"/>
          </a:xfrm>
        </p:grpSpPr>
        <p:sp>
          <p:nvSpPr>
            <p:cNvPr id="2" name="Rectangle 2"/>
            <p:cNvSpPr/>
            <p:nvPr/>
          </p:nvSpPr>
          <p:spPr>
            <a:xfrm>
              <a:off x="0" y="0"/>
              <a:ext cx="12192000" cy="6858000"/>
            </a:xfrm>
            <a:prstGeom prst="rect">
              <a:avLst/>
            </a:prstGeom>
            <a:gradFill>
              <a:gsLst>
                <a:gs pos="0">
                  <a:srgbClr val="0B4EA2"/>
                </a:gs>
                <a:gs pos="55000">
                  <a:srgbClr val="1565D8"/>
                </a:gs>
                <a:gs pos="100000">
                  <a:srgbClr val="35A3E8"/>
                </a:gs>
              </a:gsLst>
              <a:lin ang="2700000" scaled="1"/>
            </a:gradFill>
            <a:ln>
              <a:noFill/>
            </a:ln>
          </p:spPr>
          <p:txBody>
            <a:bodyPr/>
            <a:p/>
          </p:txBody>
        </p:sp>
        <p:sp>
          <p:nvSpPr>
            <p:cNvPr id="3" name="Ellipse 3"/>
            <p:cNvSpPr/>
            <p:nvPr/>
          </p:nvSpPr>
          <p:spPr>
            <a:xfrm>
              <a:off x="8382000" y="3048000"/>
              <a:ext cx="6096000" cy="6096000"/>
            </a:xfrm>
            <a:prstGeom prst="ellipse">
              <a:avLst/>
            </a:prstGeom>
            <a:noFill/>
            <a:ln w="14288">
              <a:solidFill>
                <a:srgbClr val="FFFFFF">
                  <a:alpha val="10000"/>
                </a:srgbClr>
              </a:solidFill>
            </a:ln>
          </p:spPr>
          <p:txBody>
            <a:bodyPr/>
            <a:p/>
          </p:txBody>
        </p:sp>
        <p:sp>
          <p:nvSpPr>
            <p:cNvPr id="4" name="Ellipse 4"/>
            <p:cNvSpPr/>
            <p:nvPr/>
          </p:nvSpPr>
          <p:spPr>
            <a:xfrm>
              <a:off x="9048750" y="3714750"/>
              <a:ext cx="4762500" cy="4762500"/>
            </a:xfrm>
            <a:prstGeom prst="ellipse">
              <a:avLst/>
            </a:prstGeom>
            <a:noFill/>
            <a:ln w="14288">
              <a:solidFill>
                <a:srgbClr val="FFFFFF">
                  <a:alpha val="14000"/>
                </a:srgbClr>
              </a:solidFill>
              <a:custDash>
                <a:ds d="266666" sp="533333"/>
              </a:custDash>
            </a:ln>
          </p:spPr>
          <p:txBody>
            <a:bodyPr/>
            <a:p/>
          </p:txBody>
        </p:sp>
        <p:sp>
          <p:nvSpPr>
            <p:cNvPr id="5" name="Ellipse 5"/>
            <p:cNvSpPr/>
            <p:nvPr/>
          </p:nvSpPr>
          <p:spPr>
            <a:xfrm>
              <a:off x="9715500" y="4381500"/>
              <a:ext cx="3429000" cy="3429000"/>
            </a:xfrm>
            <a:prstGeom prst="ellipse">
              <a:avLst/>
            </a:prstGeom>
            <a:noFill/>
            <a:ln w="14288">
              <a:solidFill>
                <a:srgbClr val="FFFFFF">
                  <a:alpha val="10000"/>
                </a:srgbClr>
              </a:solidFill>
            </a:ln>
          </p:spPr>
          <p:txBody>
            <a:bodyPr/>
            <a:p/>
          </p:txBody>
        </p:sp>
        <p:sp>
          <p:nvSpPr>
            <p:cNvPr id="6" name="Ellipse 6"/>
            <p:cNvSpPr/>
            <p:nvPr/>
          </p:nvSpPr>
          <p:spPr>
            <a:xfrm>
              <a:off x="-666750" y="-1238250"/>
              <a:ext cx="3619500" cy="3619500"/>
            </a:xfrm>
            <a:prstGeom prst="ellipse">
              <a:avLst/>
            </a:prstGeom>
            <a:noFill/>
            <a:ln w="14288">
              <a:solidFill>
                <a:srgbClr val="FFFFFF">
                  <a:alpha val="8000"/>
                </a:srgbClr>
              </a:solidFill>
            </a:ln>
          </p:spPr>
          <p:txBody>
            <a:bodyPr/>
            <a:p/>
          </p:txBody>
        </p:sp>
        <p:sp>
          <p:nvSpPr>
            <p:cNvPr id="7" name="Ellipse 7"/>
            <p:cNvSpPr/>
            <p:nvPr/>
          </p:nvSpPr>
          <p:spPr>
            <a:xfrm>
              <a:off x="11382375" y="1095375"/>
              <a:ext cx="95250" cy="95250"/>
            </a:xfrm>
            <a:prstGeom prst="ellipse">
              <a:avLst/>
            </a:prstGeom>
            <a:solidFill>
              <a:srgbClr val="FFFFFF">
                <a:alpha val="20000"/>
              </a:srgbClr>
            </a:solidFill>
            <a:ln>
              <a:noFill/>
            </a:ln>
          </p:spPr>
          <p:txBody>
            <a:bodyPr/>
            <a:p/>
          </p:txBody>
        </p:sp>
        <p:sp>
          <p:nvSpPr>
            <p:cNvPr id="8" name="Ellipse 8"/>
            <p:cNvSpPr/>
            <p:nvPr/>
          </p:nvSpPr>
          <p:spPr>
            <a:xfrm>
              <a:off x="10629900" y="723900"/>
              <a:ext cx="76200" cy="76200"/>
            </a:xfrm>
            <a:prstGeom prst="ellipse">
              <a:avLst/>
            </a:prstGeom>
            <a:solidFill>
              <a:srgbClr val="FFFFFF">
                <a:alpha val="16000"/>
              </a:srgbClr>
            </a:solidFill>
            <a:ln>
              <a:noFill/>
            </a:ln>
          </p:spPr>
          <p:txBody>
            <a:bodyPr/>
            <a:p/>
          </p:txBody>
        </p:sp>
      </p:grpSp>
      <p:sp>
        <p:nvSpPr>
          <p:cNvPr id="10" name="TextBox 10"/>
          <p:cNvSpPr txBox="1"/>
          <p:nvPr/>
        </p:nvSpPr>
        <p:spPr>
          <a:xfrm>
            <a:off x="9619869" y="4038600"/>
            <a:ext cx="2153031" cy="24384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r"/>
            <a:r>
              <a:rPr lang="zh-CN" sz="12000" b="1" dirty="0">
                <a:solidFill>
                  <a:srgbClr val="FFFFFF">
                    <a:alphaMod val="14000"/>
                  </a:srgbClr>
                </a:solidFill>
                <a:latin typeface="Arial"/>
                <a:ea typeface="Microsoft YaHei"/>
                <a:cs typeface="Arial"/>
              </a:rPr>
              <a:t>03</a:t>
            </a:r>
          </a:p>
        </p:txBody>
      </p:sp>
      <p:sp>
        <p:nvSpPr>
          <p:cNvPr id="11" name="TextBox 11"/>
          <p:cNvSpPr txBox="1"/>
          <p:nvPr/>
        </p:nvSpPr>
        <p:spPr>
          <a:xfrm>
            <a:off x="560070" y="474345"/>
            <a:ext cx="634937" cy="18288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900" dirty="0">
                <a:solidFill>
                  <a:srgbClr val="FFFFFF">
                    <a:alphaMod val="50000"/>
                  </a:srgbClr>
                </a:solidFill>
                <a:latin typeface="Arial"/>
                <a:ea typeface="Microsoft YaHei"/>
                <a:cs typeface="Arial"/>
              </a:rPr>
              <a:t>LOGO HERE</a:t>
            </a:r>
          </a:p>
        </p:txBody>
      </p:sp>
      <p:grpSp>
        <p:nvGrpSpPr>
          <p:cNvPr id="18" name="Group 18"/>
          <p:cNvGrpSpPr/>
          <p:nvPr/>
        </p:nvGrpSpPr>
        <p:grpSpPr>
          <a:xfrm>
            <a:off x="529590" y="2423160"/>
            <a:ext cx="3318224" cy="2258378"/>
            <a:chOff x="529590" y="2423160"/>
            <a:chExt cx="3318224" cy="2258378"/>
          </a:xfrm>
        </p:grpSpPr>
        <p:sp>
          <p:nvSpPr>
            <p:cNvPr id="12" name="TextBox 12"/>
            <p:cNvSpPr txBox="1"/>
            <p:nvPr/>
          </p:nvSpPr>
          <p:spPr>
            <a:xfrm>
              <a:off x="556260" y="2423160"/>
              <a:ext cx="1134618" cy="24384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00" dirty="0">
                  <a:solidFill>
                    <a:srgbClr val="FFFFFF">
                      <a:alphaMod val="70000"/>
                    </a:srgbClr>
                  </a:solidFill>
                  <a:latin typeface="Arial"/>
                  <a:ea typeface="Microsoft YaHei"/>
                  <a:cs typeface="Arial"/>
                </a:rPr>
                <a:t>CHAPTER THREE</a:t>
              </a:r>
            </a:p>
          </p:txBody>
        </p:sp>
        <p:sp>
          <p:nvSpPr>
            <p:cNvPr id="13" name="Rectangle 13"/>
            <p:cNvSpPr/>
            <p:nvPr/>
          </p:nvSpPr>
          <p:spPr>
            <a:xfrm>
              <a:off x="571500" y="2781300"/>
              <a:ext cx="533400" cy="38100"/>
            </a:xfrm>
            <a:prstGeom prst="roundRect">
              <a:avLst>
                <a:gd name="adj" fmla="val 50000"/>
              </a:avLst>
            </a:prstGeom>
            <a:solidFill>
              <a:srgbClr val="FFFFFF">
                <a:alpha val="85000"/>
              </a:srgbClr>
            </a:solidFill>
            <a:ln>
              <a:noFill/>
            </a:ln>
          </p:spPr>
          <p:txBody>
            <a:bodyPr/>
            <a:p/>
          </p:txBody>
        </p:sp>
        <p:sp>
          <p:nvSpPr>
            <p:cNvPr id="14" name="TextBox 14"/>
            <p:cNvSpPr txBox="1"/>
            <p:nvPr/>
          </p:nvSpPr>
          <p:spPr>
            <a:xfrm>
              <a:off x="529590" y="2996565"/>
              <a:ext cx="3318224" cy="67056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3300" b="1" dirty="0">
                  <a:solidFill>
                    <a:srgbClr val="FFFFFF"/>
                  </a:solidFill>
                  <a:latin typeface="Arial"/>
                  <a:ea typeface="Microsoft YaHei"/>
                  <a:cs typeface="Arial"/>
                </a:rPr>
                <a:t>大模型如何工作</a:t>
              </a:r>
            </a:p>
          </p:txBody>
        </p:sp>
        <p:sp>
          <p:nvSpPr>
            <p:cNvPr id="15" name="TextBox 15"/>
            <p:cNvSpPr txBox="1"/>
            <p:nvPr/>
          </p:nvSpPr>
          <p:spPr>
            <a:xfrm>
              <a:off x="550545" y="3593782"/>
              <a:ext cx="2682240" cy="33528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650" dirty="0">
                  <a:solidFill>
                    <a:srgbClr val="FFFFFF">
                      <a:alphaMod val="85000"/>
                    </a:srgbClr>
                  </a:solidFill>
                  <a:latin typeface="Arial"/>
                  <a:ea typeface="Microsoft YaHei"/>
                  <a:cs typeface="Arial"/>
                </a:rPr>
                <a:t>一个特别会「接话」的高手</a:t>
              </a:r>
            </a:p>
          </p:txBody>
        </p:sp>
        <p:sp>
          <p:nvSpPr>
            <p:cNvPr id="16" name="TextBox 16"/>
            <p:cNvSpPr txBox="1"/>
            <p:nvPr/>
          </p:nvSpPr>
          <p:spPr>
            <a:xfrm>
              <a:off x="554355" y="4121468"/>
              <a:ext cx="1654492" cy="27432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FFFFFF">
                      <a:alphaMod val="75000"/>
                    </a:srgbClr>
                  </a:solidFill>
                  <a:latin typeface="Arial"/>
                  <a:ea typeface="Microsoft YaHei"/>
                  <a:cs typeface="Arial"/>
                </a:rPr>
                <a:t>它为什么这么聪明？</a:t>
              </a:r>
            </a:p>
          </p:txBody>
        </p:sp>
        <p:sp>
          <p:nvSpPr>
            <p:cNvPr id="17" name="TextBox 17"/>
            <p:cNvSpPr txBox="1"/>
            <p:nvPr/>
          </p:nvSpPr>
          <p:spPr>
            <a:xfrm>
              <a:off x="554355" y="4407218"/>
              <a:ext cx="2554605" cy="27432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FFFFFF">
                      <a:alphaMod val="75000"/>
                    </a:srgbClr>
                  </a:solidFill>
                  <a:latin typeface="Arial"/>
                  <a:ea typeface="Microsoft YaHei"/>
                  <a:cs typeface="Arial"/>
                </a:rPr>
                <a:t>又为什么会一本正经地说错话？</a:t>
              </a:r>
            </a:p>
          </p:txBody>
        </p:sp>
      </p:grpSp>
    </p:spTree>
  </p:cSld>
  <p:clrMapOvr>
    <a:masterClrMapping/>
  </p:clrMapOvr>
  <p:transition xmlns:p14="http://schemas.microsoft.com/office/powerpoint/2010/main" p14:dur="400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8" grpId="0"/>
    </p:bldLst>
  </p:timing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5" name="Group 5"/>
          <p:cNvGrpSpPr/>
          <p:nvPr/>
        </p:nvGrpSpPr>
        <p:grpSpPr>
          <a:xfrm>
            <a:off x="0" y="0"/>
            <a:ext cx="14192250" cy="8953500"/>
            <a:chOff x="0" y="0"/>
            <a:chExt cx="14192250" cy="8953500"/>
          </a:xfrm>
        </p:grpSpPr>
        <p:sp>
          <p:nvSpPr>
            <p:cNvPr id="2" name="Rectangle 2"/>
            <p:cNvSpPr/>
            <p:nvPr/>
          </p:nvSpPr>
          <p:spPr>
            <a:xfrm>
              <a:off x="0" y="0"/>
              <a:ext cx="12192000" cy="6858000"/>
            </a:xfrm>
            <a:prstGeom prst="rect">
              <a:avLst/>
            </a:prstGeom>
            <a:solidFill>
              <a:srgbClr val="F5F7FA"/>
            </a:solidFill>
            <a:ln>
              <a:noFill/>
            </a:ln>
          </p:spPr>
          <p:txBody>
            <a:bodyPr/>
            <a:p/>
          </p:txBody>
        </p:sp>
        <p:sp>
          <p:nvSpPr>
            <p:cNvPr id="3" name="Rectangle 3"/>
            <p:cNvSpPr/>
            <p:nvPr/>
          </p:nvSpPr>
          <p:spPr>
            <a:xfrm>
              <a:off x="0" y="0"/>
              <a:ext cx="12192000" cy="6858000"/>
            </a:xfrm>
            <a:prstGeom prst="rect">
              <a:avLst/>
            </a:prstGeom>
            <a:gradFill>
              <a:gsLst>
                <a:gs pos="0">
                  <a:srgbClr val="1565D8">
                    <a:alpha val="6000"/>
                  </a:srgbClr>
                </a:gs>
                <a:gs pos="100000">
                  <a:srgbClr val="1565D8">
                    <a:alpha val="0"/>
                  </a:srgbClr>
                </a:gs>
              </a:gsLst>
              <a:path path="circle">
                <a:fillToRect l="50000" t="50000" r="50000" b="50000"/>
              </a:path>
            </a:gradFill>
            <a:ln>
              <a:noFill/>
            </a:ln>
          </p:spPr>
          <p:txBody>
            <a:bodyPr/>
            <a:p/>
          </p:txBody>
        </p:sp>
        <p:sp>
          <p:nvSpPr>
            <p:cNvPr id="4" name="Ellipse 4"/>
            <p:cNvSpPr/>
            <p:nvPr/>
          </p:nvSpPr>
          <p:spPr>
            <a:xfrm>
              <a:off x="9620250" y="4381500"/>
              <a:ext cx="4572000" cy="4572000"/>
            </a:xfrm>
            <a:prstGeom prst="ellipse">
              <a:avLst/>
            </a:prstGeom>
            <a:noFill/>
            <a:ln w="14288">
              <a:solidFill>
                <a:srgbClr val="D6E6F9">
                  <a:alpha val="80000"/>
                </a:srgbClr>
              </a:solidFill>
            </a:ln>
          </p:spPr>
          <p:txBody>
            <a:bodyPr/>
            <a:p/>
          </p:txBody>
        </p:sp>
      </p:grpSp>
      <p:grpSp>
        <p:nvGrpSpPr>
          <p:cNvPr id="9" name="Group 9"/>
          <p:cNvGrpSpPr/>
          <p:nvPr/>
        </p:nvGrpSpPr>
        <p:grpSpPr>
          <a:xfrm>
            <a:off x="571500" y="685800"/>
            <a:ext cx="4206240" cy="700088"/>
            <a:chOff x="571500" y="685800"/>
            <a:chExt cx="4206240" cy="700088"/>
          </a:xfrm>
        </p:grpSpPr>
        <p:sp>
          <p:nvSpPr>
            <p:cNvPr id="6" name="Rectangle 6"/>
            <p:cNvSpPr/>
            <p:nvPr/>
          </p:nvSpPr>
          <p:spPr>
            <a:xfrm>
              <a:off x="571500" y="685800"/>
              <a:ext cx="76200" cy="323850"/>
            </a:xfrm>
            <a:prstGeom prst="roundRect">
              <a:avLst>
                <a:gd name="adj" fmla="val 50000"/>
              </a:avLst>
            </a:prstGeom>
            <a:solidFill>
              <a:srgbClr val="1565D8"/>
            </a:solidFill>
            <a:ln>
              <a:noFill/>
            </a:ln>
          </p:spPr>
          <p:txBody>
            <a:bodyPr/>
            <a:p/>
          </p:txBody>
        </p:sp>
        <p:sp>
          <p:nvSpPr>
            <p:cNvPr id="7" name="TextBox 7"/>
            <p:cNvSpPr txBox="1"/>
            <p:nvPr/>
          </p:nvSpPr>
          <p:spPr>
            <a:xfrm>
              <a:off x="771525" y="700088"/>
              <a:ext cx="2624721" cy="45720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2250" b="1" dirty="0">
                  <a:solidFill>
                    <a:srgbClr val="2B3648"/>
                  </a:solidFill>
                  <a:latin typeface="Arial"/>
                  <a:ea typeface="Microsoft YaHei"/>
                  <a:cs typeface="Arial"/>
                </a:rPr>
                <a:t>大模型 = 接话高手</a:t>
              </a:r>
            </a:p>
          </p:txBody>
        </p:sp>
        <p:sp>
          <p:nvSpPr>
            <p:cNvPr id="8" name="TextBox 8"/>
            <p:cNvSpPr txBox="1"/>
            <p:nvPr/>
          </p:nvSpPr>
          <p:spPr>
            <a:xfrm>
              <a:off x="782955" y="1111568"/>
              <a:ext cx="3994785" cy="27432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5B6B82"/>
                  </a:solidFill>
                  <a:latin typeface="Arial"/>
                  <a:ea typeface="Microsoft YaHei"/>
                  <a:cs typeface="Arial"/>
                </a:rPr>
                <a:t>它不是「查答案」，而是「一个词一个词往下接」</a:t>
              </a:r>
            </a:p>
          </p:txBody>
        </p:sp>
      </p:grpSp>
      <p:grpSp>
        <p:nvGrpSpPr>
          <p:cNvPr id="11" name="Group 11"/>
          <p:cNvGrpSpPr/>
          <p:nvPr/>
        </p:nvGrpSpPr>
        <p:grpSpPr>
          <a:xfrm>
            <a:off x="554355" y="1492568"/>
            <a:ext cx="7955280" cy="274320"/>
            <a:chOff x="554355" y="1492568"/>
            <a:chExt cx="7955280" cy="274320"/>
          </a:xfrm>
        </p:grpSpPr>
        <p:sp>
          <p:nvSpPr>
            <p:cNvPr id="10" name="TextBox 10"/>
            <p:cNvSpPr txBox="1"/>
            <p:nvPr/>
          </p:nvSpPr>
          <p:spPr>
            <a:xfrm>
              <a:off x="554355" y="1492568"/>
              <a:ext cx="7955280" cy="27432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5B6B82"/>
                  </a:solidFill>
                  <a:latin typeface="Arial"/>
                  <a:ea typeface="Microsoft YaHei"/>
                  <a:cs typeface="Arial"/>
                </a:rPr>
                <a:t>它读过海量的文本，所以特别会「接话」。你给它开头，它就顺着往下说，说得越接越像那么回事。</a:t>
              </a:r>
            </a:p>
          </p:txBody>
        </p:sp>
      </p:grpSp>
      <p:grpSp>
        <p:nvGrpSpPr>
          <p:cNvPr id="14" name="Group 14"/>
          <p:cNvGrpSpPr/>
          <p:nvPr/>
        </p:nvGrpSpPr>
        <p:grpSpPr>
          <a:xfrm>
            <a:off x="3810000" y="2495550"/>
            <a:ext cx="4476750" cy="1"/>
            <a:chOff x="3810000" y="2495550"/>
            <a:chExt cx="4476750" cy="1"/>
          </a:xfrm>
        </p:grpSpPr>
        <p:sp>
          <p:nvSpPr>
            <p:cNvPr id="12" name="Line 12"/>
            <p:cNvSpPr/>
            <p:nvPr/>
          </p:nvSpPr>
          <p:spPr>
            <a:xfrm>
              <a:off x="3810000" y="2495550"/>
              <a:ext cx="571500" cy="1"/>
            </a:xfrm>
            <a:prstGeom prst="line">
              <a:avLst/>
            </a:prstGeom>
            <a:noFill/>
            <a:ln w="23812">
              <a:solidFill>
                <a:srgbClr val="1565D8"/>
              </a:solidFill>
              <a:tailEnd type="triangle" w="lg" len="lg"/>
            </a:ln>
          </p:spPr>
          <p:txBody>
            <a:bodyPr/>
            <a:p/>
          </p:txBody>
        </p:sp>
        <p:sp>
          <p:nvSpPr>
            <p:cNvPr id="13" name="Line 13"/>
            <p:cNvSpPr/>
            <p:nvPr/>
          </p:nvSpPr>
          <p:spPr>
            <a:xfrm>
              <a:off x="7715250" y="2495550"/>
              <a:ext cx="571500" cy="1"/>
            </a:xfrm>
            <a:prstGeom prst="line">
              <a:avLst/>
            </a:prstGeom>
            <a:noFill/>
            <a:ln w="23812">
              <a:solidFill>
                <a:srgbClr val="1565D8"/>
              </a:solidFill>
              <a:tailEnd type="triangle" w="lg" len="lg"/>
            </a:ln>
          </p:spPr>
          <p:txBody>
            <a:bodyPr/>
            <a:p/>
          </p:txBody>
        </p:sp>
      </p:grpSp>
      <p:grpSp>
        <p:nvGrpSpPr>
          <p:cNvPr id="27" name="Group 27"/>
          <p:cNvGrpSpPr/>
          <p:nvPr/>
        </p:nvGrpSpPr>
        <p:grpSpPr>
          <a:xfrm>
            <a:off x="571500" y="2190750"/>
            <a:ext cx="3238500" cy="2952750"/>
            <a:chOff x="571500" y="2190750"/>
            <a:chExt cx="3238500" cy="2952750"/>
          </a:xfrm>
        </p:grpSpPr>
        <p:sp>
          <p:nvSpPr>
            <p:cNvPr id="15" name="Ellipse 15"/>
            <p:cNvSpPr/>
            <p:nvPr/>
          </p:nvSpPr>
          <p:spPr>
            <a:xfrm>
              <a:off x="1885950" y="2190750"/>
              <a:ext cx="609600" cy="609600"/>
            </a:xfrm>
            <a:prstGeom prst="ellipse">
              <a:avLst/>
            </a:prstGeom>
            <a:solidFill>
              <a:srgbClr val="1565D8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6" name="TextBox 16"/>
            <p:cNvSpPr txBox="1"/>
            <p:nvPr/>
          </p:nvSpPr>
          <p:spPr>
            <a:xfrm>
              <a:off x="2113943" y="2419350"/>
              <a:ext cx="153614" cy="30480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500" b="1" dirty="0">
                  <a:solidFill>
                    <a:srgbClr val="FFFFFF"/>
                  </a:solidFill>
                  <a:latin typeface="Arial"/>
                  <a:ea typeface="Microsoft YaHei"/>
                  <a:cs typeface="Arial"/>
                </a:rPr>
                <a:t>1</a:t>
              </a:r>
            </a:p>
          </p:txBody>
        </p:sp>
        <p:sp>
          <p:nvSpPr>
            <p:cNvPr id="17" name="Rectangle 17"/>
            <p:cNvSpPr/>
            <p:nvPr/>
          </p:nvSpPr>
          <p:spPr>
            <a:xfrm>
              <a:off x="571500" y="2952750"/>
              <a:ext cx="3238500" cy="2190750"/>
            </a:xfrm>
            <a:prstGeom prst="roundRect">
              <a:avLst>
                <a:gd name="adj" fmla="val 6957"/>
              </a:avLst>
            </a:prstGeom>
            <a:solidFill>
              <a:srgbClr val="FFFFFF"/>
            </a:solidFill>
            <a:ln w="9525">
              <a:solidFill>
                <a:srgbClr val="D8E1EC"/>
              </a:solidFill>
            </a:ln>
          </p:spPr>
          <p:txBody>
            <a:bodyPr/>
            <a:p/>
          </p:txBody>
        </p:sp>
        <p:sp>
          <p:nvSpPr>
            <p:cNvPr id="18" name="Ellipse 18"/>
            <p:cNvSpPr/>
            <p:nvPr/>
          </p:nvSpPr>
          <p:spPr>
            <a:xfrm>
              <a:off x="800100" y="3181350"/>
              <a:ext cx="419100" cy="419100"/>
            </a:xfrm>
            <a:prstGeom prst="ellipse">
              <a:avLst/>
            </a:prstGeom>
            <a:solidFill>
              <a:srgbClr val="D6E6F9"/>
            </a:solidFill>
            <a:ln>
              <a:noFill/>
            </a:ln>
          </p:spPr>
          <p:txBody>
            <a:bodyPr/>
            <a:p/>
          </p:txBody>
        </p:sp>
        <p:grpSp>
          <p:nvGrpSpPr>
            <p:cNvPr id="22" name="Group 22"/>
            <p:cNvGrpSpPr/>
            <p:nvPr/>
          </p:nvGrpSpPr>
          <p:grpSpPr>
            <a:xfrm>
              <a:off x="923925" y="3314700"/>
              <a:ext cx="171450" cy="161925"/>
              <a:chOff x="923925" y="3314700"/>
              <a:chExt cx="171450" cy="161925"/>
            </a:xfrm>
          </p:grpSpPr>
          <p:sp>
            <p:nvSpPr>
              <p:cNvPr id="19" name="Freeform 19"/>
              <p:cNvSpPr/>
              <p:nvPr/>
            </p:nvSpPr>
            <p:spPr>
              <a:xfrm>
                <a:off x="971550" y="3362325"/>
                <a:ext cx="76200" cy="9525"/>
              </a:xfrm>
              <a:custGeom>
                <a:avLst/>
                <a:gdLst/>
                <a:ahLst/>
                <a:cxnLst/>
                <a:rect l="l" t="t" r="r" b="b"/>
                <a:pathLst>
                  <a:path w="76200" h="9525">
                    <a:moveTo>
                      <a:pt x="0" y="0"/>
                    </a:moveTo>
                    <a:lnTo>
                      <a:pt x="76200" y="0"/>
                    </a:lnTo>
                  </a:path>
                </a:pathLst>
              </a:custGeom>
              <a:noFill/>
              <a:ln w="19050">
                <a:solidFill>
                  <a:srgbClr val="1565D8"/>
                </a:solidFill>
              </a:ln>
            </p:spPr>
            <p:txBody>
              <a:bodyPr/>
              <a:p/>
            </p:txBody>
          </p:sp>
          <p:sp>
            <p:nvSpPr>
              <p:cNvPr id="20" name="Freeform 20"/>
              <p:cNvSpPr/>
              <p:nvPr/>
            </p:nvSpPr>
            <p:spPr>
              <a:xfrm>
                <a:off x="971550" y="3400425"/>
                <a:ext cx="57150" cy="9525"/>
              </a:xfrm>
              <a:custGeom>
                <a:avLst/>
                <a:gdLst/>
                <a:ahLst/>
                <a:cxnLst/>
                <a:rect l="l" t="t" r="r" b="b"/>
                <a:pathLst>
                  <a:path w="57150" h="9525">
                    <a:moveTo>
                      <a:pt x="0" y="0"/>
                    </a:moveTo>
                    <a:lnTo>
                      <a:pt x="57150" y="0"/>
                    </a:lnTo>
                  </a:path>
                </a:pathLst>
              </a:custGeom>
              <a:noFill/>
              <a:ln w="19050">
                <a:solidFill>
                  <a:srgbClr val="1565D8"/>
                </a:solidFill>
              </a:ln>
            </p:spPr>
            <p:txBody>
              <a:bodyPr/>
              <a:p/>
            </p:txBody>
          </p:sp>
          <p:sp>
            <p:nvSpPr>
              <p:cNvPr id="21" name="Freeform 21"/>
              <p:cNvSpPr/>
              <p:nvPr/>
            </p:nvSpPr>
            <p:spPr>
              <a:xfrm>
                <a:off x="923925" y="3314700"/>
                <a:ext cx="171450" cy="161925"/>
              </a:xfrm>
              <a:custGeom>
                <a:avLst/>
                <a:gdLst/>
                <a:ahLst/>
                <a:cxnLst/>
                <a:rect l="l" t="t" r="r" b="b"/>
                <a:pathLst>
                  <a:path w="171450" h="161925">
                    <a:moveTo>
                      <a:pt x="57150" y="133350"/>
                    </a:moveTo>
                    <a:lnTo>
                      <a:pt x="28575" y="133350"/>
                    </a:lnTo>
                    <a:cubicBezTo>
                      <a:pt x="12793" y="133350"/>
                      <a:pt x="0" y="120557"/>
                      <a:pt x="0" y="104775"/>
                    </a:cubicBezTo>
                    <a:lnTo>
                      <a:pt x="0" y="28575"/>
                    </a:lnTo>
                    <a:cubicBezTo>
                      <a:pt x="0" y="12793"/>
                      <a:pt x="12793" y="0"/>
                      <a:pt x="28575" y="0"/>
                    </a:cubicBezTo>
                    <a:lnTo>
                      <a:pt x="142875" y="0"/>
                    </a:lnTo>
                    <a:cubicBezTo>
                      <a:pt x="158657" y="0"/>
                      <a:pt x="171450" y="12793"/>
                      <a:pt x="171450" y="28575"/>
                    </a:cubicBezTo>
                    <a:lnTo>
                      <a:pt x="171450" y="104775"/>
                    </a:lnTo>
                    <a:cubicBezTo>
                      <a:pt x="171450" y="120557"/>
                      <a:pt x="158657" y="133350"/>
                      <a:pt x="142875" y="133350"/>
                    </a:cubicBezTo>
                    <a:lnTo>
                      <a:pt x="114300" y="133350"/>
                    </a:lnTo>
                    <a:lnTo>
                      <a:pt x="85725" y="161925"/>
                    </a:lnTo>
                    <a:lnTo>
                      <a:pt x="57150" y="133350"/>
                    </a:lnTo>
                  </a:path>
                </a:pathLst>
              </a:custGeom>
              <a:noFill/>
              <a:ln w="19050">
                <a:solidFill>
                  <a:srgbClr val="1565D8"/>
                </a:solidFill>
              </a:ln>
            </p:spPr>
            <p:txBody>
              <a:bodyPr/>
              <a:p/>
            </p:txBody>
          </p:sp>
        </p:grpSp>
        <p:sp>
          <p:nvSpPr>
            <p:cNvPr id="23" name="TextBox 23"/>
            <p:cNvSpPr txBox="1"/>
            <p:nvPr/>
          </p:nvSpPr>
          <p:spPr>
            <a:xfrm>
              <a:off x="1331595" y="3288982"/>
              <a:ext cx="1197054" cy="33528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650" b="1" dirty="0">
                  <a:solidFill>
                    <a:srgbClr val="2B3648"/>
                  </a:solidFill>
                  <a:latin typeface="Arial"/>
                  <a:ea typeface="Microsoft YaHei"/>
                  <a:cs typeface="Arial"/>
                </a:rPr>
                <a:t>你问一句话</a:t>
              </a:r>
            </a:p>
          </p:txBody>
        </p:sp>
        <p:sp>
          <p:nvSpPr>
            <p:cNvPr id="24" name="Rectangle 24"/>
            <p:cNvSpPr/>
            <p:nvPr/>
          </p:nvSpPr>
          <p:spPr>
            <a:xfrm>
              <a:off x="800100" y="3733800"/>
              <a:ext cx="2781300" cy="609600"/>
            </a:xfrm>
            <a:prstGeom prst="roundRect">
              <a:avLst>
                <a:gd name="adj" fmla="val 25000"/>
              </a:avLst>
            </a:prstGeom>
            <a:solidFill>
              <a:srgbClr val="D6E6F9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5" name="TextBox 25"/>
            <p:cNvSpPr txBox="1"/>
            <p:nvPr/>
          </p:nvSpPr>
          <p:spPr>
            <a:xfrm>
              <a:off x="975360" y="3975735"/>
              <a:ext cx="2214753" cy="24384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00" b="1" dirty="0">
                  <a:solidFill>
                    <a:srgbClr val="0B4EA2"/>
                  </a:solidFill>
                  <a:latin typeface="Arial"/>
                  <a:ea typeface="Microsoft YaHei"/>
                  <a:cs typeface="Arial"/>
                </a:rPr>
                <a:t>「帮我写一份本周工作总结」</a:t>
              </a:r>
            </a:p>
          </p:txBody>
        </p:sp>
        <p:sp>
          <p:nvSpPr>
            <p:cNvPr id="26" name="TextBox 26"/>
            <p:cNvSpPr txBox="1"/>
            <p:nvPr/>
          </p:nvSpPr>
          <p:spPr>
            <a:xfrm>
              <a:off x="786765" y="4611052"/>
              <a:ext cx="1349835" cy="21336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050" dirty="0">
                  <a:solidFill>
                    <a:srgbClr val="5B6B82"/>
                  </a:solidFill>
                  <a:latin typeface="Arial"/>
                  <a:ea typeface="Microsoft YaHei"/>
                  <a:cs typeface="Arial"/>
                </a:rPr>
                <a:t>就像给 AI 发一条微信</a:t>
              </a:r>
            </a:p>
          </p:txBody>
        </p:sp>
      </p:grpSp>
      <p:grpSp>
        <p:nvGrpSpPr>
          <p:cNvPr id="42" name="Group 42"/>
          <p:cNvGrpSpPr/>
          <p:nvPr/>
        </p:nvGrpSpPr>
        <p:grpSpPr>
          <a:xfrm>
            <a:off x="4476750" y="2190750"/>
            <a:ext cx="3238500" cy="2952750"/>
            <a:chOff x="4476750" y="2190750"/>
            <a:chExt cx="3238500" cy="2952750"/>
          </a:xfrm>
        </p:grpSpPr>
        <p:sp>
          <p:nvSpPr>
            <p:cNvPr id="28" name="Ellipse 28"/>
            <p:cNvSpPr/>
            <p:nvPr/>
          </p:nvSpPr>
          <p:spPr>
            <a:xfrm>
              <a:off x="5791200" y="2190750"/>
              <a:ext cx="609600" cy="609600"/>
            </a:xfrm>
            <a:prstGeom prst="ellipse">
              <a:avLst/>
            </a:prstGeom>
            <a:solidFill>
              <a:srgbClr val="35A3E8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9" name="TextBox 29"/>
            <p:cNvSpPr txBox="1"/>
            <p:nvPr/>
          </p:nvSpPr>
          <p:spPr>
            <a:xfrm>
              <a:off x="6019193" y="2419350"/>
              <a:ext cx="153614" cy="30480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500" b="1" dirty="0">
                  <a:solidFill>
                    <a:srgbClr val="FFFFFF"/>
                  </a:solidFill>
                  <a:latin typeface="Arial"/>
                  <a:ea typeface="Microsoft YaHei"/>
                  <a:cs typeface="Arial"/>
                </a:rPr>
                <a:t>2</a:t>
              </a:r>
            </a:p>
          </p:txBody>
        </p:sp>
        <p:sp>
          <p:nvSpPr>
            <p:cNvPr id="30" name="Rectangle 30"/>
            <p:cNvSpPr/>
            <p:nvPr/>
          </p:nvSpPr>
          <p:spPr>
            <a:xfrm>
              <a:off x="4476750" y="2952750"/>
              <a:ext cx="3238500" cy="2190750"/>
            </a:xfrm>
            <a:prstGeom prst="roundRect">
              <a:avLst>
                <a:gd name="adj" fmla="val 6957"/>
              </a:avLst>
            </a:prstGeom>
            <a:solidFill>
              <a:srgbClr val="FFFFFF"/>
            </a:solidFill>
            <a:ln w="9525">
              <a:solidFill>
                <a:srgbClr val="D8E1EC"/>
              </a:solidFill>
            </a:ln>
          </p:spPr>
          <p:txBody>
            <a:bodyPr/>
            <a:p/>
          </p:txBody>
        </p:sp>
        <p:sp>
          <p:nvSpPr>
            <p:cNvPr id="31" name="Ellipse 31"/>
            <p:cNvSpPr/>
            <p:nvPr/>
          </p:nvSpPr>
          <p:spPr>
            <a:xfrm>
              <a:off x="4705350" y="3181350"/>
              <a:ext cx="419100" cy="419100"/>
            </a:xfrm>
            <a:prstGeom prst="ellipse">
              <a:avLst/>
            </a:prstGeom>
            <a:solidFill>
              <a:srgbClr val="D6E6F9"/>
            </a:solidFill>
            <a:ln>
              <a:noFill/>
            </a:ln>
          </p:spPr>
          <p:txBody>
            <a:bodyPr/>
            <a:p/>
          </p:txBody>
        </p:sp>
        <p:grpSp>
          <p:nvGrpSpPr>
            <p:cNvPr id="36" name="Group 36"/>
            <p:cNvGrpSpPr/>
            <p:nvPr/>
          </p:nvGrpSpPr>
          <p:grpSpPr>
            <a:xfrm>
              <a:off x="4829175" y="3314700"/>
              <a:ext cx="152400" cy="152400"/>
              <a:chOff x="4829175" y="3314700"/>
              <a:chExt cx="152400" cy="152400"/>
            </a:xfrm>
          </p:grpSpPr>
          <p:sp>
            <p:nvSpPr>
              <p:cNvPr id="32" name="Freeform 32"/>
              <p:cNvSpPr/>
              <p:nvPr/>
            </p:nvSpPr>
            <p:spPr>
              <a:xfrm>
                <a:off x="4829175" y="3314700"/>
                <a:ext cx="57150" cy="57150"/>
              </a:xfrm>
              <a:custGeom>
                <a:avLst/>
                <a:gdLst/>
                <a:ahLst/>
                <a:cxnLst/>
                <a:rect l="l" t="t" r="r" b="b"/>
                <a:pathLst>
                  <a:path w="57150" h="57150">
                    <a:moveTo>
                      <a:pt x="0" y="28575"/>
                    </a:moveTo>
                    <a:cubicBezTo>
                      <a:pt x="0" y="44357"/>
                      <a:pt x="12793" y="57150"/>
                      <a:pt x="28575" y="57150"/>
                    </a:cubicBezTo>
                    <a:cubicBezTo>
                      <a:pt x="44357" y="57150"/>
                      <a:pt x="57150" y="44357"/>
                      <a:pt x="57150" y="28575"/>
                    </a:cubicBezTo>
                    <a:cubicBezTo>
                      <a:pt x="57150" y="12793"/>
                      <a:pt x="44357" y="0"/>
                      <a:pt x="28575" y="0"/>
                    </a:cubicBezTo>
                    <a:cubicBezTo>
                      <a:pt x="12793" y="0"/>
                      <a:pt x="0" y="12793"/>
                      <a:pt x="0" y="28575"/>
                    </a:cubicBezTo>
                  </a:path>
                </a:pathLst>
              </a:custGeom>
              <a:noFill/>
              <a:ln w="19050">
                <a:solidFill>
                  <a:srgbClr val="1565D8"/>
                </a:solidFill>
              </a:ln>
            </p:spPr>
            <p:txBody>
              <a:bodyPr/>
              <a:p/>
            </p:txBody>
          </p:sp>
          <p:sp>
            <p:nvSpPr>
              <p:cNvPr id="33" name="Freeform 33"/>
              <p:cNvSpPr/>
              <p:nvPr/>
            </p:nvSpPr>
            <p:spPr>
              <a:xfrm>
                <a:off x="4829175" y="3409950"/>
                <a:ext cx="57150" cy="57150"/>
              </a:xfrm>
              <a:custGeom>
                <a:avLst/>
                <a:gdLst/>
                <a:ahLst/>
                <a:cxnLst/>
                <a:rect l="l" t="t" r="r" b="b"/>
                <a:pathLst>
                  <a:path w="57150" h="57150">
                    <a:moveTo>
                      <a:pt x="0" y="28575"/>
                    </a:moveTo>
                    <a:cubicBezTo>
                      <a:pt x="0" y="44357"/>
                      <a:pt x="12793" y="57150"/>
                      <a:pt x="28575" y="57150"/>
                    </a:cubicBezTo>
                    <a:cubicBezTo>
                      <a:pt x="44357" y="57150"/>
                      <a:pt x="57150" y="44357"/>
                      <a:pt x="57150" y="28575"/>
                    </a:cubicBezTo>
                    <a:cubicBezTo>
                      <a:pt x="57150" y="12793"/>
                      <a:pt x="44357" y="0"/>
                      <a:pt x="28575" y="0"/>
                    </a:cubicBezTo>
                    <a:cubicBezTo>
                      <a:pt x="12793" y="0"/>
                      <a:pt x="0" y="12793"/>
                      <a:pt x="0" y="28575"/>
                    </a:cubicBezTo>
                  </a:path>
                </a:pathLst>
              </a:custGeom>
              <a:noFill/>
              <a:ln w="19050">
                <a:solidFill>
                  <a:srgbClr val="1565D8"/>
                </a:solidFill>
              </a:ln>
            </p:spPr>
            <p:txBody>
              <a:bodyPr/>
              <a:p/>
            </p:txBody>
          </p:sp>
          <p:sp>
            <p:nvSpPr>
              <p:cNvPr id="34" name="Freeform 34"/>
              <p:cNvSpPr/>
              <p:nvPr/>
            </p:nvSpPr>
            <p:spPr>
              <a:xfrm>
                <a:off x="4882515" y="3358515"/>
                <a:ext cx="99060" cy="99060"/>
              </a:xfrm>
              <a:custGeom>
                <a:avLst/>
                <a:gdLst/>
                <a:ahLst/>
                <a:cxnLst/>
                <a:rect l="l" t="t" r="r" b="b"/>
                <a:pathLst>
                  <a:path w="99060" h="99060">
                    <a:moveTo>
                      <a:pt x="0" y="0"/>
                    </a:moveTo>
                    <a:lnTo>
                      <a:pt x="99060" y="99060"/>
                    </a:lnTo>
                  </a:path>
                </a:pathLst>
              </a:custGeom>
              <a:noFill/>
              <a:ln w="19050">
                <a:solidFill>
                  <a:srgbClr val="1565D8"/>
                </a:solidFill>
              </a:ln>
            </p:spPr>
            <p:txBody>
              <a:bodyPr/>
              <a:p/>
            </p:txBody>
          </p:sp>
          <p:sp>
            <p:nvSpPr>
              <p:cNvPr id="35" name="Freeform 35"/>
              <p:cNvSpPr/>
              <p:nvPr/>
            </p:nvSpPr>
            <p:spPr>
              <a:xfrm>
                <a:off x="4882515" y="3324225"/>
                <a:ext cx="99060" cy="99060"/>
              </a:xfrm>
              <a:custGeom>
                <a:avLst/>
                <a:gdLst/>
                <a:ahLst/>
                <a:cxnLst/>
                <a:rect l="l" t="t" r="r" b="b"/>
                <a:pathLst>
                  <a:path w="99060" h="99060">
                    <a:moveTo>
                      <a:pt x="0" y="99060"/>
                    </a:moveTo>
                    <a:lnTo>
                      <a:pt x="99060" y="0"/>
                    </a:lnTo>
                  </a:path>
                </a:pathLst>
              </a:custGeom>
              <a:noFill/>
              <a:ln w="19050">
                <a:solidFill>
                  <a:srgbClr val="1565D8"/>
                </a:solidFill>
              </a:ln>
            </p:spPr>
            <p:txBody>
              <a:bodyPr/>
              <a:p/>
            </p:txBody>
          </p:sp>
        </p:grpSp>
        <p:sp>
          <p:nvSpPr>
            <p:cNvPr id="37" name="TextBox 37"/>
            <p:cNvSpPr txBox="1"/>
            <p:nvPr/>
          </p:nvSpPr>
          <p:spPr>
            <a:xfrm>
              <a:off x="5236845" y="3288982"/>
              <a:ext cx="966026" cy="33528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650" b="1" dirty="0">
                  <a:solidFill>
                    <a:srgbClr val="2B3648"/>
                  </a:solidFill>
                  <a:latin typeface="Arial"/>
                  <a:ea typeface="Microsoft YaHei"/>
                  <a:cs typeface="Arial"/>
                </a:rPr>
                <a:t>它拆成词</a:t>
              </a:r>
            </a:p>
          </p:txBody>
        </p:sp>
        <p:sp>
          <p:nvSpPr>
            <p:cNvPr id="38" name="TextBox 38"/>
            <p:cNvSpPr txBox="1"/>
            <p:nvPr/>
          </p:nvSpPr>
          <p:spPr>
            <a:xfrm>
              <a:off x="4692015" y="3887152"/>
              <a:ext cx="1426845" cy="21336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050" dirty="0">
                  <a:solidFill>
                    <a:srgbClr val="5B6B82"/>
                  </a:solidFill>
                  <a:latin typeface="Arial"/>
                  <a:ea typeface="Microsoft YaHei"/>
                  <a:cs typeface="Arial"/>
                </a:rPr>
                <a:t>把话切成一个个小词块</a:t>
              </a:r>
            </a:p>
          </p:txBody>
        </p:sp>
        <p:sp>
          <p:nvSpPr>
            <p:cNvPr id="39" name="TextBox 39"/>
            <p:cNvSpPr txBox="1"/>
            <p:nvPr/>
          </p:nvSpPr>
          <p:spPr>
            <a:xfrm>
              <a:off x="4692015" y="4134802"/>
              <a:ext cx="691753" cy="21336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050" dirty="0">
                  <a:solidFill>
                    <a:srgbClr val="5B6B82"/>
                  </a:solidFill>
                  <a:latin typeface="Arial"/>
                  <a:ea typeface="Microsoft YaHei"/>
                  <a:cs typeface="Arial"/>
                </a:rPr>
                <a:t>（token）</a:t>
              </a:r>
            </a:p>
          </p:txBody>
        </p:sp>
        <p:sp>
          <p:nvSpPr>
            <p:cNvPr id="40" name="Rectangle 40"/>
            <p:cNvSpPr/>
            <p:nvPr/>
          </p:nvSpPr>
          <p:spPr>
            <a:xfrm>
              <a:off x="4705350" y="4476750"/>
              <a:ext cx="2781300" cy="419100"/>
            </a:xfrm>
            <a:prstGeom prst="roundRect">
              <a:avLst>
                <a:gd name="adj" fmla="val 36364"/>
              </a:avLst>
            </a:prstGeom>
            <a:solidFill>
              <a:srgbClr val="E9EEF5"/>
            </a:solidFill>
            <a:ln>
              <a:noFill/>
            </a:ln>
          </p:spPr>
          <p:txBody>
            <a:bodyPr/>
            <a:p/>
          </p:txBody>
        </p:sp>
        <p:sp>
          <p:nvSpPr>
            <p:cNvPr id="41" name="TextBox 41"/>
            <p:cNvSpPr txBox="1"/>
            <p:nvPr/>
          </p:nvSpPr>
          <p:spPr>
            <a:xfrm>
              <a:off x="4882515" y="4630102"/>
              <a:ext cx="2827370" cy="21336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050" b="1" dirty="0">
                  <a:solidFill>
                    <a:srgbClr val="0B4EA2"/>
                  </a:solidFill>
                  <a:latin typeface="Arial"/>
                  <a:ea typeface="Microsoft YaHei"/>
                  <a:cs typeface="Arial"/>
                </a:rPr>
                <a:t>帮 / 我 / 写 / 一 / 份 / 本周 / 工作 / 总结</a:t>
              </a:r>
            </a:p>
          </p:txBody>
        </p:sp>
      </p:grpSp>
      <p:grpSp>
        <p:nvGrpSpPr>
          <p:cNvPr id="56" name="Group 56"/>
          <p:cNvGrpSpPr/>
          <p:nvPr/>
        </p:nvGrpSpPr>
        <p:grpSpPr>
          <a:xfrm>
            <a:off x="8382000" y="2190750"/>
            <a:ext cx="3238500" cy="2952750"/>
            <a:chOff x="8382000" y="2190750"/>
            <a:chExt cx="3238500" cy="2952750"/>
          </a:xfrm>
        </p:grpSpPr>
        <p:sp>
          <p:nvSpPr>
            <p:cNvPr id="43" name="Ellipse 43"/>
            <p:cNvSpPr/>
            <p:nvPr/>
          </p:nvSpPr>
          <p:spPr>
            <a:xfrm>
              <a:off x="9696450" y="2190750"/>
              <a:ext cx="609600" cy="609600"/>
            </a:xfrm>
            <a:prstGeom prst="ellipse">
              <a:avLst/>
            </a:prstGeom>
            <a:solidFill>
              <a:srgbClr val="0B4EA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44" name="TextBox 44"/>
            <p:cNvSpPr txBox="1"/>
            <p:nvPr/>
          </p:nvSpPr>
          <p:spPr>
            <a:xfrm>
              <a:off x="9924443" y="2419350"/>
              <a:ext cx="153614" cy="30480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500" b="1" dirty="0">
                  <a:solidFill>
                    <a:srgbClr val="FFFFFF"/>
                  </a:solidFill>
                  <a:latin typeface="Arial"/>
                  <a:ea typeface="Microsoft YaHei"/>
                  <a:cs typeface="Arial"/>
                </a:rPr>
                <a:t>3</a:t>
              </a:r>
            </a:p>
          </p:txBody>
        </p:sp>
        <p:sp>
          <p:nvSpPr>
            <p:cNvPr id="45" name="Rectangle 45"/>
            <p:cNvSpPr/>
            <p:nvPr/>
          </p:nvSpPr>
          <p:spPr>
            <a:xfrm>
              <a:off x="8382000" y="2952750"/>
              <a:ext cx="3238500" cy="2190750"/>
            </a:xfrm>
            <a:prstGeom prst="roundRect">
              <a:avLst>
                <a:gd name="adj" fmla="val 6957"/>
              </a:avLst>
            </a:prstGeom>
            <a:solidFill>
              <a:srgbClr val="FFFFFF"/>
            </a:solidFill>
            <a:ln w="9525">
              <a:solidFill>
                <a:srgbClr val="D8E1EC"/>
              </a:solidFill>
            </a:ln>
          </p:spPr>
          <p:txBody>
            <a:bodyPr/>
            <a:p/>
          </p:txBody>
        </p:sp>
        <p:sp>
          <p:nvSpPr>
            <p:cNvPr id="46" name="Ellipse 46"/>
            <p:cNvSpPr/>
            <p:nvPr/>
          </p:nvSpPr>
          <p:spPr>
            <a:xfrm>
              <a:off x="8610600" y="3181350"/>
              <a:ext cx="419100" cy="419100"/>
            </a:xfrm>
            <a:prstGeom prst="ellipse">
              <a:avLst/>
            </a:prstGeom>
            <a:solidFill>
              <a:srgbClr val="D6E6F9"/>
            </a:solidFill>
            <a:ln>
              <a:noFill/>
            </a:ln>
          </p:spPr>
          <p:txBody>
            <a:bodyPr/>
            <a:p/>
          </p:txBody>
        </p:sp>
        <p:grpSp>
          <p:nvGrpSpPr>
            <p:cNvPr id="50" name="Group 50"/>
            <p:cNvGrpSpPr/>
            <p:nvPr/>
          </p:nvGrpSpPr>
          <p:grpSpPr>
            <a:xfrm>
              <a:off x="8743949" y="3310046"/>
              <a:ext cx="157041" cy="161688"/>
              <a:chOff x="8743949" y="3310046"/>
              <a:chExt cx="157041" cy="161688"/>
            </a:xfrm>
          </p:grpSpPr>
          <p:sp>
            <p:nvSpPr>
              <p:cNvPr id="47" name="Freeform 47"/>
              <p:cNvSpPr/>
              <p:nvPr/>
            </p:nvSpPr>
            <p:spPr>
              <a:xfrm>
                <a:off x="8791575" y="3362325"/>
                <a:ext cx="57150" cy="57150"/>
              </a:xfrm>
              <a:custGeom>
                <a:avLst/>
                <a:gdLst/>
                <a:ahLst/>
                <a:cxnLst/>
                <a:rect l="l" t="t" r="r" b="b"/>
                <a:pathLst>
                  <a:path w="57150" h="57150">
                    <a:moveTo>
                      <a:pt x="0" y="57150"/>
                    </a:moveTo>
                    <a:lnTo>
                      <a:pt x="57150" y="0"/>
                    </a:lnTo>
                  </a:path>
                </a:pathLst>
              </a:custGeom>
              <a:noFill/>
              <a:ln w="19050">
                <a:solidFill>
                  <a:srgbClr val="1565D8"/>
                </a:solidFill>
              </a:ln>
            </p:spPr>
            <p:txBody>
              <a:bodyPr/>
              <a:p/>
            </p:txBody>
          </p:sp>
          <p:sp>
            <p:nvSpPr>
              <p:cNvPr id="48" name="Freeform 48"/>
              <p:cNvSpPr/>
              <p:nvPr/>
            </p:nvSpPr>
            <p:spPr>
              <a:xfrm>
                <a:off x="8810625" y="3310046"/>
                <a:ext cx="90365" cy="90379"/>
              </a:xfrm>
              <a:custGeom>
                <a:avLst/>
                <a:gdLst/>
                <a:ahLst/>
                <a:cxnLst/>
                <a:rect l="l" t="t" r="r" b="b"/>
                <a:pathLst>
                  <a:path w="90365" h="90379">
                    <a:moveTo>
                      <a:pt x="0" y="23704"/>
                    </a:moveTo>
                    <a:lnTo>
                      <a:pt x="4410" y="18599"/>
                    </a:lnTo>
                    <a:cubicBezTo>
                      <a:pt x="23011" y="0"/>
                      <a:pt x="53168" y="2"/>
                      <a:pt x="71766" y="18603"/>
                    </a:cubicBezTo>
                    <a:cubicBezTo>
                      <a:pt x="90365" y="37204"/>
                      <a:pt x="90363" y="67361"/>
                      <a:pt x="71761" y="85959"/>
                    </a:cubicBezTo>
                    <a:lnTo>
                      <a:pt x="66675" y="90379"/>
                    </a:lnTo>
                  </a:path>
                </a:pathLst>
              </a:custGeom>
              <a:noFill/>
              <a:ln w="19050">
                <a:solidFill>
                  <a:srgbClr val="1565D8"/>
                </a:solidFill>
              </a:ln>
            </p:spPr>
            <p:txBody>
              <a:bodyPr/>
              <a:p/>
            </p:txBody>
          </p:sp>
          <p:sp>
            <p:nvSpPr>
              <p:cNvPr id="49" name="Freeform 49"/>
              <p:cNvSpPr/>
              <p:nvPr/>
            </p:nvSpPr>
            <p:spPr>
              <a:xfrm>
                <a:off x="8743949" y="3381375"/>
                <a:ext cx="85726" cy="90359"/>
              </a:xfrm>
              <a:custGeom>
                <a:avLst/>
                <a:gdLst/>
                <a:ahLst/>
                <a:cxnLst/>
                <a:rect l="l" t="t" r="r" b="b"/>
                <a:pathLst>
                  <a:path w="85726" h="90359">
                    <a:moveTo>
                      <a:pt x="85726" y="66675"/>
                    </a:moveTo>
                    <a:lnTo>
                      <a:pt x="81945" y="71761"/>
                    </a:lnTo>
                    <a:cubicBezTo>
                      <a:pt x="63138" y="90359"/>
                      <a:pt x="32867" y="90359"/>
                      <a:pt x="14060" y="71761"/>
                    </a:cubicBezTo>
                    <a:cubicBezTo>
                      <a:pt x="5063" y="62865"/>
                      <a:pt x="0" y="50738"/>
                      <a:pt x="0" y="38086"/>
                    </a:cubicBezTo>
                    <a:cubicBezTo>
                      <a:pt x="0" y="25433"/>
                      <a:pt x="5063" y="13306"/>
                      <a:pt x="14060" y="4410"/>
                    </a:cubicBezTo>
                    <a:lnTo>
                      <a:pt x="19051" y="0"/>
                    </a:lnTo>
                  </a:path>
                </a:pathLst>
              </a:custGeom>
              <a:noFill/>
              <a:ln w="19050">
                <a:solidFill>
                  <a:srgbClr val="1565D8"/>
                </a:solidFill>
              </a:ln>
            </p:spPr>
            <p:txBody>
              <a:bodyPr/>
              <a:p/>
            </p:txBody>
          </p:sp>
        </p:grpSp>
        <p:sp>
          <p:nvSpPr>
            <p:cNvPr id="51" name="TextBox 51"/>
            <p:cNvSpPr txBox="1"/>
            <p:nvPr/>
          </p:nvSpPr>
          <p:spPr>
            <a:xfrm>
              <a:off x="9142095" y="3288982"/>
              <a:ext cx="1659112" cy="33528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650" b="1" dirty="0">
                  <a:solidFill>
                    <a:srgbClr val="2B3648"/>
                  </a:solidFill>
                  <a:latin typeface="Arial"/>
                  <a:ea typeface="Microsoft YaHei"/>
                  <a:cs typeface="Arial"/>
                </a:rPr>
                <a:t>逐个「接」下去</a:t>
              </a:r>
            </a:p>
          </p:txBody>
        </p:sp>
        <p:sp>
          <p:nvSpPr>
            <p:cNvPr id="52" name="TextBox 52"/>
            <p:cNvSpPr txBox="1"/>
            <p:nvPr/>
          </p:nvSpPr>
          <p:spPr>
            <a:xfrm>
              <a:off x="8597265" y="3887152"/>
              <a:ext cx="1566863" cy="21336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050" dirty="0">
                  <a:solidFill>
                    <a:srgbClr val="5B6B82"/>
                  </a:solidFill>
                  <a:latin typeface="Arial"/>
                  <a:ea typeface="Microsoft YaHei"/>
                  <a:cs typeface="Arial"/>
                </a:rPr>
                <a:t>预测下一个最可能的词，</a:t>
              </a:r>
            </a:p>
          </p:txBody>
        </p:sp>
        <p:sp>
          <p:nvSpPr>
            <p:cNvPr id="53" name="TextBox 53"/>
            <p:cNvSpPr txBox="1"/>
            <p:nvPr/>
          </p:nvSpPr>
          <p:spPr>
            <a:xfrm>
              <a:off x="8597265" y="4134802"/>
              <a:ext cx="726758" cy="21336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050" dirty="0">
                  <a:solidFill>
                    <a:srgbClr val="5B6B82"/>
                  </a:solidFill>
                  <a:latin typeface="Arial"/>
                  <a:ea typeface="Microsoft YaHei"/>
                  <a:cs typeface="Arial"/>
                </a:rPr>
                <a:t>接出整段话</a:t>
              </a:r>
            </a:p>
          </p:txBody>
        </p:sp>
        <p:sp>
          <p:nvSpPr>
            <p:cNvPr id="54" name="Rectangle 54"/>
            <p:cNvSpPr/>
            <p:nvPr/>
          </p:nvSpPr>
          <p:spPr>
            <a:xfrm>
              <a:off x="8610600" y="4476750"/>
              <a:ext cx="2781300" cy="419100"/>
            </a:xfrm>
            <a:prstGeom prst="roundRect">
              <a:avLst>
                <a:gd name="adj" fmla="val 36364"/>
              </a:avLst>
            </a:prstGeom>
            <a:solidFill>
              <a:srgbClr val="D6E6F9"/>
            </a:solidFill>
            <a:ln>
              <a:noFill/>
            </a:ln>
          </p:spPr>
          <p:txBody>
            <a:bodyPr/>
            <a:p/>
          </p:txBody>
        </p:sp>
        <p:sp>
          <p:nvSpPr>
            <p:cNvPr id="55" name="TextBox 55"/>
            <p:cNvSpPr txBox="1"/>
            <p:nvPr/>
          </p:nvSpPr>
          <p:spPr>
            <a:xfrm>
              <a:off x="8787765" y="4630102"/>
              <a:ext cx="2099629" cy="21336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050" b="1" dirty="0">
                  <a:solidFill>
                    <a:srgbClr val="0B4EA2"/>
                  </a:solidFill>
                  <a:latin typeface="Arial"/>
                  <a:ea typeface="Microsoft YaHei"/>
                  <a:cs typeface="Arial"/>
                </a:rPr>
                <a:t>本周我完成了……（接着说下去）</a:t>
              </a:r>
            </a:p>
          </p:txBody>
        </p:sp>
      </p:grpSp>
      <p:grpSp>
        <p:nvGrpSpPr>
          <p:cNvPr id="60" name="Group 60"/>
          <p:cNvGrpSpPr/>
          <p:nvPr/>
        </p:nvGrpSpPr>
        <p:grpSpPr>
          <a:xfrm>
            <a:off x="571500" y="5486400"/>
            <a:ext cx="11049000" cy="457200"/>
            <a:chOff x="571500" y="5486400"/>
            <a:chExt cx="11049000" cy="457200"/>
          </a:xfrm>
        </p:grpSpPr>
        <p:sp>
          <p:nvSpPr>
            <p:cNvPr id="57" name="Rectangle 57"/>
            <p:cNvSpPr/>
            <p:nvPr/>
          </p:nvSpPr>
          <p:spPr>
            <a:xfrm>
              <a:off x="571500" y="5486400"/>
              <a:ext cx="11049000" cy="457200"/>
            </a:xfrm>
            <a:prstGeom prst="roundRect">
              <a:avLst>
                <a:gd name="adj" fmla="val 33333"/>
              </a:avLst>
            </a:prstGeom>
            <a:solidFill>
              <a:srgbClr val="D6E6F9"/>
            </a:solidFill>
            <a:ln>
              <a:noFill/>
            </a:ln>
          </p:spPr>
          <p:txBody>
            <a:bodyPr/>
            <a:p/>
          </p:txBody>
        </p:sp>
        <p:sp>
          <p:nvSpPr>
            <p:cNvPr id="58" name="Rectangle 58"/>
            <p:cNvSpPr/>
            <p:nvPr/>
          </p:nvSpPr>
          <p:spPr>
            <a:xfrm>
              <a:off x="571500" y="5486400"/>
              <a:ext cx="76200" cy="457200"/>
            </a:xfrm>
            <a:prstGeom prst="roundRect">
              <a:avLst>
                <a:gd name="adj" fmla="val 50000"/>
              </a:avLst>
            </a:prstGeom>
            <a:solidFill>
              <a:srgbClr val="1565D8"/>
            </a:solidFill>
            <a:ln>
              <a:noFill/>
            </a:ln>
          </p:spPr>
          <p:txBody>
            <a:bodyPr/>
            <a:p/>
          </p:txBody>
        </p:sp>
        <p:sp>
          <p:nvSpPr>
            <p:cNvPr id="59" name="TextBox 59"/>
            <p:cNvSpPr txBox="1"/>
            <p:nvPr/>
          </p:nvSpPr>
          <p:spPr>
            <a:xfrm>
              <a:off x="859155" y="5635942"/>
              <a:ext cx="3436715" cy="27432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b="1" dirty="0">
                  <a:solidFill>
                    <a:srgbClr val="0B4EA2"/>
                  </a:solidFill>
                  <a:latin typeface="Arial"/>
                  <a:ea typeface="Microsoft YaHei"/>
                  <a:cs typeface="Arial"/>
                </a:rPr>
                <a:t>所以：它懂常识，也会一本正经地说错。</a:t>
              </a:r>
            </a:p>
          </p:txBody>
        </p:sp>
      </p:grpSp>
      <p:grpSp>
        <p:nvGrpSpPr>
          <p:cNvPr id="63" name="Group 63"/>
          <p:cNvGrpSpPr/>
          <p:nvPr/>
        </p:nvGrpSpPr>
        <p:grpSpPr>
          <a:xfrm>
            <a:off x="560070" y="6341745"/>
            <a:ext cx="11071860" cy="182880"/>
            <a:chOff x="560070" y="6341745"/>
            <a:chExt cx="11071860" cy="182880"/>
          </a:xfrm>
        </p:grpSpPr>
        <p:sp>
          <p:nvSpPr>
            <p:cNvPr id="61" name="TextBox 61"/>
            <p:cNvSpPr txBox="1"/>
            <p:nvPr/>
          </p:nvSpPr>
          <p:spPr>
            <a:xfrm>
              <a:off x="560070" y="6341745"/>
              <a:ext cx="1054989" cy="18288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00" dirty="0">
                  <a:solidFill>
                    <a:srgbClr val="8B99AE"/>
                  </a:solidFill>
                  <a:latin typeface="Arial"/>
                  <a:ea typeface="Microsoft YaHei"/>
                  <a:cs typeface="Arial"/>
                </a:rPr>
                <a:t>大模型通识 · 企业版</a:t>
              </a:r>
            </a:p>
          </p:txBody>
        </p:sp>
        <p:sp>
          <p:nvSpPr>
            <p:cNvPr id="62" name="TextBox 62"/>
            <p:cNvSpPr txBox="1"/>
            <p:nvPr/>
          </p:nvSpPr>
          <p:spPr>
            <a:xfrm>
              <a:off x="11273028" y="6341745"/>
              <a:ext cx="358902" cy="18288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r"/>
              <a:r>
                <a:rPr lang="zh-CN" sz="900" dirty="0">
                  <a:solidFill>
                    <a:srgbClr val="8B99AE"/>
                  </a:solidFill>
                  <a:latin typeface="Arial"/>
                  <a:ea typeface="Microsoft YaHei"/>
                  <a:cs typeface="Arial"/>
                </a:rPr>
                <a:t>13 / 51</a:t>
              </a:r>
            </a:p>
          </p:txBody>
        </p:sp>
      </p:grpSp>
    </p:spTree>
  </p:cSld>
  <p:clrMapOvr>
    <a:masterClrMapping/>
  </p:clrMapOvr>
  <p:transition xmlns:p14="http://schemas.microsoft.com/office/powerpoint/2010/main" p14:dur="400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900"/>
                            </p:stCondLst>
                            <p:childTnLst>
                              <p:par>
                                <p:cTn id="9" presetID="22" presetClass="entr" presetSubtype="1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1" dur="4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2" fill="hold">
                            <p:stCondLst>
                              <p:cond delay="1800"/>
                            </p:stCondLst>
                            <p:childTnLst>
                              <p:par>
                                <p:cTn id="13" presetID="2" presetClass="entr" presetSubtype="4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slide(fromBottom)">
                                      <p:cBhvr>
                                        <p:cTn id="15" dur="4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6" fill="hold">
                            <p:stCondLst>
                              <p:cond delay="2700"/>
                            </p:stCondLst>
                            <p:childTnLst>
                              <p:par>
                                <p:cTn id="17" presetID="2" presetClass="entr" presetSubtype="4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slide(fromBottom)">
                                      <p:cBhvr>
                                        <p:cTn id="19" dur="400"/>
                                        <p:tgtEl>
                                          <p:spTgt spid="4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0" fill="hold">
                            <p:stCondLst>
                              <p:cond delay="3600"/>
                            </p:stCondLst>
                            <p:childTnLst>
                              <p:par>
                                <p:cTn id="21" presetID="2" presetClass="entr" presetSubtype="4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slide(fromBottom)">
                                      <p:cBhvr>
                                        <p:cTn id="23" dur="400"/>
                                        <p:tgtEl>
                                          <p:spTgt spid="5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4" fill="hold">
                            <p:stCondLst>
                              <p:cond delay="4500"/>
                            </p:stCondLst>
                            <p:childTnLst>
                              <p:par>
                                <p:cTn id="25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400"/>
                                        <p:tgtEl>
                                          <p:spTgt spid="6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1" grpId="0"/>
      <p:bldP spid="14" grpId="0"/>
      <p:bldP spid="27" grpId="0"/>
      <p:bldP spid="42" grpId="0"/>
      <p:bldP spid="56" grpId="0"/>
      <p:bldP spid="60" grpId="0"/>
    </p:bldLst>
  </p:timing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5" name="Group 5"/>
          <p:cNvGrpSpPr/>
          <p:nvPr/>
        </p:nvGrpSpPr>
        <p:grpSpPr>
          <a:xfrm>
            <a:off x="-1619250" y="0"/>
            <a:ext cx="13811250" cy="8477250"/>
            <a:chOff x="-1619250" y="0"/>
            <a:chExt cx="13811250" cy="8477250"/>
          </a:xfrm>
        </p:grpSpPr>
        <p:sp>
          <p:nvSpPr>
            <p:cNvPr id="2" name="Rectangle 2"/>
            <p:cNvSpPr/>
            <p:nvPr/>
          </p:nvSpPr>
          <p:spPr>
            <a:xfrm>
              <a:off x="0" y="0"/>
              <a:ext cx="12192000" cy="6858000"/>
            </a:xfrm>
            <a:prstGeom prst="rect">
              <a:avLst/>
            </a:prstGeom>
            <a:solidFill>
              <a:srgbClr val="F5F7FA"/>
            </a:solidFill>
            <a:ln>
              <a:noFill/>
            </a:ln>
          </p:spPr>
          <p:txBody>
            <a:bodyPr/>
            <a:p/>
          </p:txBody>
        </p:sp>
        <p:sp>
          <p:nvSpPr>
            <p:cNvPr id="3" name="Rectangle 3"/>
            <p:cNvSpPr/>
            <p:nvPr/>
          </p:nvSpPr>
          <p:spPr>
            <a:xfrm>
              <a:off x="0" y="0"/>
              <a:ext cx="12192000" cy="6858000"/>
            </a:xfrm>
            <a:prstGeom prst="rect">
              <a:avLst/>
            </a:prstGeom>
            <a:gradFill>
              <a:gsLst>
                <a:gs pos="0">
                  <a:srgbClr val="1565D8">
                    <a:alpha val="6000"/>
                  </a:srgbClr>
                </a:gs>
                <a:gs pos="100000">
                  <a:srgbClr val="1565D8">
                    <a:alpha val="0"/>
                  </a:srgbClr>
                </a:gs>
              </a:gsLst>
              <a:path path="circle">
                <a:fillToRect l="50000" t="50000" r="50000" b="50000"/>
              </a:path>
            </a:gradFill>
            <a:ln>
              <a:noFill/>
            </a:ln>
          </p:spPr>
          <p:txBody>
            <a:bodyPr/>
            <a:p/>
          </p:txBody>
        </p:sp>
        <p:sp>
          <p:nvSpPr>
            <p:cNvPr id="4" name="Ellipse 4"/>
            <p:cNvSpPr/>
            <p:nvPr/>
          </p:nvSpPr>
          <p:spPr>
            <a:xfrm>
              <a:off x="-1619250" y="4667250"/>
              <a:ext cx="3810000" cy="3810000"/>
            </a:xfrm>
            <a:prstGeom prst="ellipse">
              <a:avLst/>
            </a:prstGeom>
            <a:noFill/>
            <a:ln w="14288">
              <a:solidFill>
                <a:srgbClr val="D6E6F9">
                  <a:alpha val="80000"/>
                </a:srgbClr>
              </a:solidFill>
            </a:ln>
          </p:spPr>
          <p:txBody>
            <a:bodyPr/>
            <a:p/>
          </p:txBody>
        </p:sp>
      </p:grpSp>
      <p:grpSp>
        <p:nvGrpSpPr>
          <p:cNvPr id="9" name="Group 9"/>
          <p:cNvGrpSpPr/>
          <p:nvPr/>
        </p:nvGrpSpPr>
        <p:grpSpPr>
          <a:xfrm>
            <a:off x="571500" y="685800"/>
            <a:ext cx="4107228" cy="700088"/>
            <a:chOff x="571500" y="685800"/>
            <a:chExt cx="4107228" cy="700088"/>
          </a:xfrm>
        </p:grpSpPr>
        <p:sp>
          <p:nvSpPr>
            <p:cNvPr id="6" name="Rectangle 6"/>
            <p:cNvSpPr/>
            <p:nvPr/>
          </p:nvSpPr>
          <p:spPr>
            <a:xfrm>
              <a:off x="571500" y="685800"/>
              <a:ext cx="76200" cy="323850"/>
            </a:xfrm>
            <a:prstGeom prst="roundRect">
              <a:avLst>
                <a:gd name="adj" fmla="val 50000"/>
              </a:avLst>
            </a:prstGeom>
            <a:solidFill>
              <a:srgbClr val="1565D8"/>
            </a:solidFill>
            <a:ln>
              <a:noFill/>
            </a:ln>
          </p:spPr>
          <p:txBody>
            <a:bodyPr/>
            <a:p/>
          </p:txBody>
        </p:sp>
        <p:sp>
          <p:nvSpPr>
            <p:cNvPr id="7" name="TextBox 7"/>
            <p:cNvSpPr txBox="1"/>
            <p:nvPr/>
          </p:nvSpPr>
          <p:spPr>
            <a:xfrm>
              <a:off x="771525" y="700088"/>
              <a:ext cx="1947386" cy="45720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2250" b="1" dirty="0">
                  <a:solidFill>
                    <a:srgbClr val="2B3648"/>
                  </a:solidFill>
                  <a:latin typeface="Arial"/>
                  <a:ea typeface="Microsoft YaHei"/>
                  <a:cs typeface="Arial"/>
                </a:rPr>
                <a:t>AI ≠ 搜索引擎</a:t>
              </a:r>
            </a:p>
          </p:txBody>
        </p:sp>
        <p:sp>
          <p:nvSpPr>
            <p:cNvPr id="8" name="TextBox 8"/>
            <p:cNvSpPr txBox="1"/>
            <p:nvPr/>
          </p:nvSpPr>
          <p:spPr>
            <a:xfrm>
              <a:off x="782955" y="1111568"/>
              <a:ext cx="3895773" cy="27432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5B6B82"/>
                  </a:solidFill>
                  <a:latin typeface="Arial"/>
                  <a:ea typeface="Microsoft YaHei"/>
                  <a:cs typeface="Arial"/>
                </a:rPr>
                <a:t>为什么 AI 的答案，和搜索引擎搜出来的不一样？</a:t>
              </a:r>
            </a:p>
          </p:txBody>
        </p:sp>
      </p:grpSp>
      <p:grpSp>
        <p:nvGrpSpPr>
          <p:cNvPr id="31" name="Group 31"/>
          <p:cNvGrpSpPr/>
          <p:nvPr/>
        </p:nvGrpSpPr>
        <p:grpSpPr>
          <a:xfrm>
            <a:off x="571500" y="1619250"/>
            <a:ext cx="5334000" cy="3524250"/>
            <a:chOff x="571500" y="1619250"/>
            <a:chExt cx="5334000" cy="3524250"/>
          </a:xfrm>
        </p:grpSpPr>
        <p:sp>
          <p:nvSpPr>
            <p:cNvPr id="10" name="Rectangle 10"/>
            <p:cNvSpPr/>
            <p:nvPr/>
          </p:nvSpPr>
          <p:spPr>
            <a:xfrm>
              <a:off x="571500" y="1619250"/>
              <a:ext cx="5334000" cy="3524250"/>
            </a:xfrm>
            <a:prstGeom prst="roundRect">
              <a:avLst>
                <a:gd name="adj" fmla="val 4324"/>
              </a:avLst>
            </a:prstGeom>
            <a:solidFill>
              <a:srgbClr val="FFFFFF"/>
            </a:solidFill>
            <a:ln w="9525">
              <a:solidFill>
                <a:srgbClr val="D8E1EC"/>
              </a:solidFill>
            </a:ln>
          </p:spPr>
          <p:txBody>
            <a:bodyPr/>
            <a:p/>
          </p:txBody>
        </p:sp>
        <p:sp>
          <p:nvSpPr>
            <p:cNvPr id="11" name="Ellipse 11"/>
            <p:cNvSpPr/>
            <p:nvPr/>
          </p:nvSpPr>
          <p:spPr>
            <a:xfrm>
              <a:off x="857250" y="1905000"/>
              <a:ext cx="495300" cy="495300"/>
            </a:xfrm>
            <a:prstGeom prst="ellipse">
              <a:avLst/>
            </a:prstGeom>
            <a:solidFill>
              <a:srgbClr val="D6E6F9"/>
            </a:solidFill>
            <a:ln>
              <a:noFill/>
            </a:ln>
          </p:spPr>
          <p:txBody>
            <a:bodyPr/>
            <a:p/>
          </p:txBody>
        </p:sp>
        <p:grpSp>
          <p:nvGrpSpPr>
            <p:cNvPr id="21" name="Group 21"/>
            <p:cNvGrpSpPr/>
            <p:nvPr/>
          </p:nvGrpSpPr>
          <p:grpSpPr>
            <a:xfrm>
              <a:off x="1027112" y="2041525"/>
              <a:ext cx="155576" cy="211137"/>
              <a:chOff x="1027112" y="2041525"/>
              <a:chExt cx="155576" cy="211137"/>
            </a:xfrm>
          </p:grpSpPr>
          <p:sp>
            <p:nvSpPr>
              <p:cNvPr id="12" name="Freeform 12"/>
              <p:cNvSpPr/>
              <p:nvPr/>
            </p:nvSpPr>
            <p:spPr>
              <a:xfrm>
                <a:off x="1038225" y="2063750"/>
                <a:ext cx="133350" cy="88900"/>
              </a:xfrm>
              <a:custGeom>
                <a:avLst/>
                <a:gdLst/>
                <a:ahLst/>
                <a:cxnLst/>
                <a:rect l="l" t="t" r="r" b="b"/>
                <a:pathLst>
                  <a:path w="133350" h="88900">
                    <a:moveTo>
                      <a:pt x="0" y="22225"/>
                    </a:moveTo>
                    <a:cubicBezTo>
                      <a:pt x="0" y="9950"/>
                      <a:pt x="9950" y="0"/>
                      <a:pt x="22225" y="0"/>
                    </a:cubicBezTo>
                    <a:lnTo>
                      <a:pt x="111125" y="0"/>
                    </a:lnTo>
                    <a:cubicBezTo>
                      <a:pt x="123400" y="0"/>
                      <a:pt x="133350" y="9950"/>
                      <a:pt x="133350" y="22225"/>
                    </a:cubicBezTo>
                    <a:lnTo>
                      <a:pt x="133350" y="66675"/>
                    </a:lnTo>
                    <a:cubicBezTo>
                      <a:pt x="133350" y="78950"/>
                      <a:pt x="123400" y="88900"/>
                      <a:pt x="111125" y="88900"/>
                    </a:cubicBezTo>
                    <a:lnTo>
                      <a:pt x="22225" y="88900"/>
                    </a:lnTo>
                    <a:cubicBezTo>
                      <a:pt x="9950" y="88900"/>
                      <a:pt x="0" y="78950"/>
                      <a:pt x="0" y="66675"/>
                    </a:cubicBezTo>
                    <a:lnTo>
                      <a:pt x="0" y="22225"/>
                    </a:lnTo>
                  </a:path>
                </a:pathLst>
              </a:custGeom>
              <a:noFill/>
              <a:ln w="19050">
                <a:solidFill>
                  <a:srgbClr val="1565D8"/>
                </a:solidFill>
              </a:ln>
            </p:spPr>
            <p:txBody>
              <a:bodyPr/>
              <a:p/>
            </p:txBody>
          </p:sp>
          <p:sp>
            <p:nvSpPr>
              <p:cNvPr id="13" name="Freeform 13"/>
              <p:cNvSpPr/>
              <p:nvPr/>
            </p:nvSpPr>
            <p:spPr>
              <a:xfrm>
                <a:off x="1104900" y="2041525"/>
                <a:ext cx="9525" cy="22225"/>
              </a:xfrm>
              <a:custGeom>
                <a:avLst/>
                <a:gdLst/>
                <a:ahLst/>
                <a:cxnLst/>
                <a:rect l="l" t="t" r="r" b="b"/>
                <a:pathLst>
                  <a:path w="9525" h="22225">
                    <a:moveTo>
                      <a:pt x="0" y="0"/>
                    </a:moveTo>
                    <a:lnTo>
                      <a:pt x="0" y="22225"/>
                    </a:lnTo>
                  </a:path>
                </a:pathLst>
              </a:custGeom>
              <a:noFill/>
              <a:ln w="19050">
                <a:solidFill>
                  <a:srgbClr val="1565D8"/>
                </a:solidFill>
              </a:ln>
            </p:spPr>
            <p:txBody>
              <a:bodyPr/>
              <a:p/>
            </p:txBody>
          </p:sp>
          <p:sp>
            <p:nvSpPr>
              <p:cNvPr id="14" name="Freeform 14"/>
              <p:cNvSpPr/>
              <p:nvPr/>
            </p:nvSpPr>
            <p:spPr>
              <a:xfrm>
                <a:off x="1071562" y="2152650"/>
                <a:ext cx="9525" cy="100012"/>
              </a:xfrm>
              <a:custGeom>
                <a:avLst/>
                <a:gdLst/>
                <a:ahLst/>
                <a:cxnLst/>
                <a:rect l="l" t="t" r="r" b="b"/>
                <a:pathLst>
                  <a:path w="9525" h="100012">
                    <a:moveTo>
                      <a:pt x="0" y="0"/>
                    </a:moveTo>
                    <a:lnTo>
                      <a:pt x="0" y="100012"/>
                    </a:lnTo>
                  </a:path>
                </a:pathLst>
              </a:custGeom>
              <a:noFill/>
              <a:ln w="19050">
                <a:solidFill>
                  <a:srgbClr val="1565D8"/>
                </a:solidFill>
              </a:ln>
            </p:spPr>
            <p:txBody>
              <a:bodyPr/>
              <a:p/>
            </p:txBody>
          </p:sp>
          <p:sp>
            <p:nvSpPr>
              <p:cNvPr id="15" name="Freeform 15"/>
              <p:cNvSpPr/>
              <p:nvPr/>
            </p:nvSpPr>
            <p:spPr>
              <a:xfrm>
                <a:off x="1138238" y="2152650"/>
                <a:ext cx="9525" cy="100012"/>
              </a:xfrm>
              <a:custGeom>
                <a:avLst/>
                <a:gdLst/>
                <a:ahLst/>
                <a:cxnLst/>
                <a:rect l="l" t="t" r="r" b="b"/>
                <a:pathLst>
                  <a:path w="9525" h="100012">
                    <a:moveTo>
                      <a:pt x="0" y="0"/>
                    </a:moveTo>
                    <a:lnTo>
                      <a:pt x="0" y="100012"/>
                    </a:lnTo>
                  </a:path>
                </a:pathLst>
              </a:custGeom>
              <a:noFill/>
              <a:ln w="19050">
                <a:solidFill>
                  <a:srgbClr val="1565D8"/>
                </a:solidFill>
              </a:ln>
            </p:spPr>
            <p:txBody>
              <a:bodyPr/>
              <a:p/>
            </p:txBody>
          </p:sp>
          <p:sp>
            <p:nvSpPr>
              <p:cNvPr id="16" name="Freeform 16"/>
              <p:cNvSpPr/>
              <p:nvPr/>
            </p:nvSpPr>
            <p:spPr>
              <a:xfrm>
                <a:off x="1027112" y="2174875"/>
                <a:ext cx="44450" cy="22225"/>
              </a:xfrm>
              <a:custGeom>
                <a:avLst/>
                <a:gdLst/>
                <a:ahLst/>
                <a:cxnLst/>
                <a:rect l="l" t="t" r="r" b="b"/>
                <a:pathLst>
                  <a:path w="44450" h="22225">
                    <a:moveTo>
                      <a:pt x="0" y="22225"/>
                    </a:moveTo>
                    <a:lnTo>
                      <a:pt x="44450" y="0"/>
                    </a:lnTo>
                  </a:path>
                </a:pathLst>
              </a:custGeom>
              <a:noFill/>
              <a:ln w="19050">
                <a:solidFill>
                  <a:srgbClr val="1565D8"/>
                </a:solidFill>
              </a:ln>
            </p:spPr>
            <p:txBody>
              <a:bodyPr/>
              <a:p/>
            </p:txBody>
          </p:sp>
          <p:sp>
            <p:nvSpPr>
              <p:cNvPr id="17" name="Freeform 17"/>
              <p:cNvSpPr/>
              <p:nvPr/>
            </p:nvSpPr>
            <p:spPr>
              <a:xfrm>
                <a:off x="1138238" y="2174875"/>
                <a:ext cx="44450" cy="22225"/>
              </a:xfrm>
              <a:custGeom>
                <a:avLst/>
                <a:gdLst/>
                <a:ahLst/>
                <a:cxnLst/>
                <a:rect l="l" t="t" r="r" b="b"/>
                <a:pathLst>
                  <a:path w="44450" h="22225">
                    <a:moveTo>
                      <a:pt x="0" y="0"/>
                    </a:moveTo>
                    <a:lnTo>
                      <a:pt x="44450" y="22225"/>
                    </a:lnTo>
                  </a:path>
                </a:pathLst>
              </a:custGeom>
              <a:noFill/>
              <a:ln w="19050">
                <a:solidFill>
                  <a:srgbClr val="1565D8"/>
                </a:solidFill>
              </a:ln>
            </p:spPr>
            <p:txBody>
              <a:bodyPr/>
              <a:p/>
            </p:txBody>
          </p:sp>
          <p:sp>
            <p:nvSpPr>
              <p:cNvPr id="18" name="Freeform 18"/>
              <p:cNvSpPr/>
              <p:nvPr/>
            </p:nvSpPr>
            <p:spPr>
              <a:xfrm>
                <a:off x="1071562" y="2219325"/>
                <a:ext cx="66675" cy="9525"/>
              </a:xfrm>
              <a:custGeom>
                <a:avLst/>
                <a:gdLst/>
                <a:ahLst/>
                <a:cxnLst/>
                <a:rect l="l" t="t" r="r" b="b"/>
                <a:pathLst>
                  <a:path w="66675" h="9525">
                    <a:moveTo>
                      <a:pt x="0" y="0"/>
                    </a:moveTo>
                    <a:lnTo>
                      <a:pt x="66675" y="0"/>
                    </a:lnTo>
                  </a:path>
                </a:pathLst>
              </a:custGeom>
              <a:noFill/>
              <a:ln w="19050">
                <a:solidFill>
                  <a:srgbClr val="1565D8"/>
                </a:solidFill>
              </a:ln>
            </p:spPr>
            <p:txBody>
              <a:bodyPr/>
              <a:p/>
            </p:txBody>
          </p:sp>
          <p:sp>
            <p:nvSpPr>
              <p:cNvPr id="19" name="Freeform 19"/>
              <p:cNvSpPr/>
              <p:nvPr/>
            </p:nvSpPr>
            <p:spPr>
              <a:xfrm>
                <a:off x="1082675" y="2108200"/>
                <a:ext cx="9525" cy="9525"/>
              </a:xfrm>
              <a:custGeom>
                <a:avLst/>
                <a:gdLst/>
                <a:ahLst/>
                <a:cxnLst/>
                <a:rect l="l" t="t" r="r" b="b"/>
                <a:pathLst>
                  <a:path w="9525" h="9525">
                    <a:moveTo>
                      <a:pt x="0" y="0"/>
                    </a:moveTo>
                    <a:lnTo>
                      <a:pt x="0" y="111"/>
                    </a:lnTo>
                  </a:path>
                </a:pathLst>
              </a:custGeom>
              <a:noFill/>
              <a:ln w="19050">
                <a:solidFill>
                  <a:srgbClr val="1565D8"/>
                </a:solidFill>
              </a:ln>
            </p:spPr>
            <p:txBody>
              <a:bodyPr/>
              <a:p/>
            </p:txBody>
          </p:sp>
          <p:sp>
            <p:nvSpPr>
              <p:cNvPr id="20" name="Freeform 20"/>
              <p:cNvSpPr/>
              <p:nvPr/>
            </p:nvSpPr>
            <p:spPr>
              <a:xfrm>
                <a:off x="1127125" y="2108200"/>
                <a:ext cx="9525" cy="9525"/>
              </a:xfrm>
              <a:custGeom>
                <a:avLst/>
                <a:gdLst/>
                <a:ahLst/>
                <a:cxnLst/>
                <a:rect l="l" t="t" r="r" b="b"/>
                <a:pathLst>
                  <a:path w="9525" h="9525">
                    <a:moveTo>
                      <a:pt x="0" y="0"/>
                    </a:moveTo>
                    <a:lnTo>
                      <a:pt x="0" y="111"/>
                    </a:lnTo>
                  </a:path>
                </a:pathLst>
              </a:custGeom>
              <a:noFill/>
              <a:ln w="19050">
                <a:solidFill>
                  <a:srgbClr val="1565D8"/>
                </a:solidFill>
              </a:ln>
            </p:spPr>
            <p:txBody>
              <a:bodyPr/>
              <a:p/>
            </p:txBody>
          </p:sp>
        </p:grpSp>
        <p:sp>
          <p:nvSpPr>
            <p:cNvPr id="22" name="TextBox 22"/>
            <p:cNvSpPr txBox="1"/>
            <p:nvPr/>
          </p:nvSpPr>
          <p:spPr>
            <a:xfrm>
              <a:off x="1483995" y="1955482"/>
              <a:ext cx="1000680" cy="33528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650" b="1" dirty="0">
                  <a:solidFill>
                    <a:srgbClr val="2B3648"/>
                  </a:solidFill>
                  <a:latin typeface="Arial"/>
                  <a:ea typeface="Microsoft YaHei"/>
                  <a:cs typeface="Arial"/>
                </a:rPr>
                <a:t>大模型 AI</a:t>
              </a:r>
            </a:p>
          </p:txBody>
        </p:sp>
        <p:sp>
          <p:nvSpPr>
            <p:cNvPr id="23" name="TextBox 23"/>
            <p:cNvSpPr txBox="1"/>
            <p:nvPr/>
          </p:nvSpPr>
          <p:spPr>
            <a:xfrm>
              <a:off x="1487805" y="2235518"/>
              <a:ext cx="2378183" cy="27432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b="1" dirty="0">
                  <a:solidFill>
                    <a:srgbClr val="1565D8"/>
                  </a:solidFill>
                  <a:latin typeface="Arial"/>
                  <a:ea typeface="Microsoft YaHei"/>
                  <a:cs typeface="Arial"/>
                </a:rPr>
                <a:t>它「答」—— 直接给你一段话</a:t>
              </a:r>
            </a:p>
          </p:txBody>
        </p:sp>
        <p:sp>
          <p:nvSpPr>
            <p:cNvPr id="24" name="Line 24"/>
            <p:cNvSpPr/>
            <p:nvPr/>
          </p:nvSpPr>
          <p:spPr>
            <a:xfrm>
              <a:off x="800100" y="2628900"/>
              <a:ext cx="4876800" cy="9525"/>
            </a:xfrm>
            <a:custGeom>
              <a:avLst/>
              <a:gdLst/>
              <a:ahLst/>
              <a:cxnLst/>
              <a:rect l="l" t="t" r="r" b="b"/>
              <a:pathLst>
                <a:path w="4876800" h="9525">
                  <a:moveTo>
                    <a:pt x="0" y="0"/>
                  </a:moveTo>
                  <a:lnTo>
                    <a:pt x="4876800" y="0"/>
                  </a:lnTo>
                </a:path>
              </a:pathLst>
            </a:custGeom>
            <a:noFill/>
            <a:ln w="9525">
              <a:solidFill>
                <a:srgbClr val="D8E1EC"/>
              </a:solidFill>
            </a:ln>
          </p:spPr>
          <p:txBody>
            <a:bodyPr/>
            <a:p/>
          </p:txBody>
        </p:sp>
        <p:sp>
          <p:nvSpPr>
            <p:cNvPr id="25" name="TextBox 25"/>
            <p:cNvSpPr txBox="1"/>
            <p:nvPr/>
          </p:nvSpPr>
          <p:spPr>
            <a:xfrm>
              <a:off x="782955" y="2883218"/>
              <a:ext cx="3094673" cy="27432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5B6B82"/>
                  </a:solidFill>
                  <a:latin typeface="Arial"/>
                  <a:ea typeface="Microsoft YaHei"/>
                  <a:cs typeface="Arial"/>
                </a:rPr>
                <a:t>它把训练时读过的内容，一个词一个词</a:t>
              </a:r>
            </a:p>
          </p:txBody>
        </p:sp>
        <p:sp>
          <p:nvSpPr>
            <p:cNvPr id="26" name="TextBox 26"/>
            <p:cNvSpPr txBox="1"/>
            <p:nvPr/>
          </p:nvSpPr>
          <p:spPr>
            <a:xfrm>
              <a:off x="782955" y="3149918"/>
              <a:ext cx="3094673" cy="27432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5B6B82"/>
                  </a:solidFill>
                  <a:latin typeface="Arial"/>
                  <a:ea typeface="Microsoft YaHei"/>
                  <a:cs typeface="Arial"/>
                </a:rPr>
                <a:t>「接」成一段话直接给你；偶尔会一本</a:t>
              </a:r>
            </a:p>
          </p:txBody>
        </p:sp>
        <p:sp>
          <p:nvSpPr>
            <p:cNvPr id="27" name="TextBox 27"/>
            <p:cNvSpPr txBox="1"/>
            <p:nvPr/>
          </p:nvSpPr>
          <p:spPr>
            <a:xfrm>
              <a:off x="782955" y="3416618"/>
              <a:ext cx="934402" cy="27432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5B6B82"/>
                  </a:solidFill>
                  <a:latin typeface="Arial"/>
                  <a:ea typeface="Microsoft YaHei"/>
                  <a:cs typeface="Arial"/>
                </a:rPr>
                <a:t>正经地编。</a:t>
              </a:r>
            </a:p>
          </p:txBody>
        </p:sp>
        <p:sp>
          <p:nvSpPr>
            <p:cNvPr id="28" name="Rectangle 28"/>
            <p:cNvSpPr/>
            <p:nvPr/>
          </p:nvSpPr>
          <p:spPr>
            <a:xfrm>
              <a:off x="800100" y="3905250"/>
              <a:ext cx="4876800" cy="914400"/>
            </a:xfrm>
            <a:prstGeom prst="roundRect">
              <a:avLst>
                <a:gd name="adj" fmla="val 16667"/>
              </a:avLst>
            </a:prstGeom>
            <a:solidFill>
              <a:srgbClr val="D6E6F9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9" name="TextBox 29"/>
            <p:cNvSpPr txBox="1"/>
            <p:nvPr/>
          </p:nvSpPr>
          <p:spPr>
            <a:xfrm>
              <a:off x="1013460" y="4137660"/>
              <a:ext cx="1878711" cy="24384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00" b="1" dirty="0">
                  <a:solidFill>
                    <a:srgbClr val="0B4EA2"/>
                  </a:solidFill>
                  <a:latin typeface="Arial"/>
                  <a:ea typeface="Microsoft YaHei"/>
                  <a:cs typeface="Arial"/>
                </a:rPr>
                <a:t>答案在它的「记忆」里，</a:t>
              </a:r>
            </a:p>
          </p:txBody>
        </p:sp>
        <p:sp>
          <p:nvSpPr>
            <p:cNvPr id="30" name="TextBox 30"/>
            <p:cNvSpPr txBox="1"/>
            <p:nvPr/>
          </p:nvSpPr>
          <p:spPr>
            <a:xfrm>
              <a:off x="1013460" y="4423410"/>
              <a:ext cx="1950720" cy="24384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00" dirty="0">
                  <a:solidFill>
                    <a:srgbClr val="0B4EA2"/>
                  </a:solidFill>
                  <a:latin typeface="Arial"/>
                  <a:ea typeface="Microsoft YaHei"/>
                  <a:cs typeface="Arial"/>
                </a:rPr>
                <a:t>所以关键事实要回搜索核实</a:t>
              </a:r>
            </a:p>
          </p:txBody>
        </p:sp>
      </p:grpSp>
      <p:grpSp>
        <p:nvGrpSpPr>
          <p:cNvPr id="45" name="Group 45"/>
          <p:cNvGrpSpPr/>
          <p:nvPr/>
        </p:nvGrpSpPr>
        <p:grpSpPr>
          <a:xfrm>
            <a:off x="6286500" y="1619250"/>
            <a:ext cx="5334000" cy="3524250"/>
            <a:chOff x="6286500" y="1619250"/>
            <a:chExt cx="5334000" cy="3524250"/>
          </a:xfrm>
        </p:grpSpPr>
        <p:sp>
          <p:nvSpPr>
            <p:cNvPr id="32" name="Rectangle 32"/>
            <p:cNvSpPr/>
            <p:nvPr/>
          </p:nvSpPr>
          <p:spPr>
            <a:xfrm>
              <a:off x="6286500" y="1619250"/>
              <a:ext cx="5334000" cy="3524250"/>
            </a:xfrm>
            <a:prstGeom prst="roundRect">
              <a:avLst>
                <a:gd name="adj" fmla="val 4324"/>
              </a:avLst>
            </a:prstGeom>
            <a:solidFill>
              <a:srgbClr val="FFFFFF"/>
            </a:solidFill>
            <a:ln w="9525">
              <a:solidFill>
                <a:srgbClr val="D8E1EC"/>
              </a:solidFill>
            </a:ln>
          </p:spPr>
          <p:txBody>
            <a:bodyPr/>
            <a:p/>
          </p:txBody>
        </p:sp>
        <p:sp>
          <p:nvSpPr>
            <p:cNvPr id="33" name="Ellipse 33"/>
            <p:cNvSpPr/>
            <p:nvPr/>
          </p:nvSpPr>
          <p:spPr>
            <a:xfrm>
              <a:off x="6572250" y="1905000"/>
              <a:ext cx="495300" cy="495300"/>
            </a:xfrm>
            <a:prstGeom prst="ellipse">
              <a:avLst/>
            </a:prstGeom>
            <a:solidFill>
              <a:srgbClr val="E9EEF5"/>
            </a:solidFill>
            <a:ln>
              <a:noFill/>
            </a:ln>
          </p:spPr>
          <p:txBody>
            <a:bodyPr/>
            <a:p/>
          </p:txBody>
        </p:sp>
        <p:grpSp>
          <p:nvGrpSpPr>
            <p:cNvPr id="36" name="Group 36"/>
            <p:cNvGrpSpPr/>
            <p:nvPr/>
          </p:nvGrpSpPr>
          <p:grpSpPr>
            <a:xfrm>
              <a:off x="6719888" y="2052638"/>
              <a:ext cx="200025" cy="200025"/>
              <a:chOff x="6719888" y="2052638"/>
              <a:chExt cx="200025" cy="200025"/>
            </a:xfrm>
          </p:grpSpPr>
          <p:sp>
            <p:nvSpPr>
              <p:cNvPr id="34" name="Freeform 34"/>
              <p:cNvSpPr/>
              <p:nvPr/>
            </p:nvSpPr>
            <p:spPr>
              <a:xfrm>
                <a:off x="6719888" y="2052638"/>
                <a:ext cx="155575" cy="155575"/>
              </a:xfrm>
              <a:custGeom>
                <a:avLst/>
                <a:gdLst/>
                <a:ahLst/>
                <a:cxnLst/>
                <a:rect l="l" t="t" r="r" b="b"/>
                <a:pathLst>
                  <a:path w="155575" h="155575">
                    <a:moveTo>
                      <a:pt x="0" y="77787"/>
                    </a:moveTo>
                    <a:cubicBezTo>
                      <a:pt x="0" y="120748"/>
                      <a:pt x="34827" y="155575"/>
                      <a:pt x="77787" y="155575"/>
                    </a:cubicBezTo>
                    <a:cubicBezTo>
                      <a:pt x="120748" y="155575"/>
                      <a:pt x="155575" y="120748"/>
                      <a:pt x="155575" y="77787"/>
                    </a:cubicBezTo>
                    <a:cubicBezTo>
                      <a:pt x="155575" y="34827"/>
                      <a:pt x="120748" y="0"/>
                      <a:pt x="77787" y="0"/>
                    </a:cubicBezTo>
                    <a:cubicBezTo>
                      <a:pt x="34827" y="0"/>
                      <a:pt x="0" y="34827"/>
                      <a:pt x="0" y="77787"/>
                    </a:cubicBezTo>
                  </a:path>
                </a:pathLst>
              </a:custGeom>
              <a:noFill/>
              <a:ln w="19050">
                <a:solidFill>
                  <a:srgbClr val="5B6B82"/>
                </a:solidFill>
              </a:ln>
            </p:spPr>
            <p:txBody>
              <a:bodyPr/>
              <a:p/>
            </p:txBody>
          </p:sp>
          <p:sp>
            <p:nvSpPr>
              <p:cNvPr id="35" name="Freeform 35"/>
              <p:cNvSpPr/>
              <p:nvPr/>
            </p:nvSpPr>
            <p:spPr>
              <a:xfrm>
                <a:off x="6853238" y="2185988"/>
                <a:ext cx="66675" cy="66675"/>
              </a:xfrm>
              <a:custGeom>
                <a:avLst/>
                <a:gdLst/>
                <a:ahLst/>
                <a:cxnLst/>
                <a:rect l="l" t="t" r="r" b="b"/>
                <a:pathLst>
                  <a:path w="66675" h="66675">
                    <a:moveTo>
                      <a:pt x="66675" y="66675"/>
                    </a:moveTo>
                    <a:lnTo>
                      <a:pt x="0" y="0"/>
                    </a:lnTo>
                  </a:path>
                </a:pathLst>
              </a:custGeom>
              <a:noFill/>
              <a:ln w="19050">
                <a:solidFill>
                  <a:srgbClr val="5B6B82"/>
                </a:solidFill>
              </a:ln>
            </p:spPr>
            <p:txBody>
              <a:bodyPr/>
              <a:p/>
            </p:txBody>
          </p:sp>
        </p:grpSp>
        <p:sp>
          <p:nvSpPr>
            <p:cNvPr id="37" name="TextBox 37"/>
            <p:cNvSpPr txBox="1"/>
            <p:nvPr/>
          </p:nvSpPr>
          <p:spPr>
            <a:xfrm>
              <a:off x="7198995" y="1955482"/>
              <a:ext cx="966026" cy="33528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650" b="1" dirty="0">
                  <a:solidFill>
                    <a:srgbClr val="2B3648"/>
                  </a:solidFill>
                  <a:latin typeface="Arial"/>
                  <a:ea typeface="Microsoft YaHei"/>
                  <a:cs typeface="Arial"/>
                </a:rPr>
                <a:t>搜索引擎</a:t>
              </a:r>
            </a:p>
          </p:txBody>
        </p:sp>
        <p:sp>
          <p:nvSpPr>
            <p:cNvPr id="38" name="TextBox 38"/>
            <p:cNvSpPr txBox="1"/>
            <p:nvPr/>
          </p:nvSpPr>
          <p:spPr>
            <a:xfrm>
              <a:off x="7202805" y="2235518"/>
              <a:ext cx="2189159" cy="27432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b="1" dirty="0">
                  <a:solidFill>
                    <a:srgbClr val="5B6B82"/>
                  </a:solidFill>
                  <a:latin typeface="Arial"/>
                  <a:ea typeface="Microsoft YaHei"/>
                  <a:cs typeface="Arial"/>
                </a:rPr>
                <a:t>它「找」—— 给你一堆链接</a:t>
              </a:r>
            </a:p>
          </p:txBody>
        </p:sp>
        <p:sp>
          <p:nvSpPr>
            <p:cNvPr id="39" name="Line 39"/>
            <p:cNvSpPr/>
            <p:nvPr/>
          </p:nvSpPr>
          <p:spPr>
            <a:xfrm>
              <a:off x="6515100" y="2628900"/>
              <a:ext cx="4876800" cy="9525"/>
            </a:xfrm>
            <a:custGeom>
              <a:avLst/>
              <a:gdLst/>
              <a:ahLst/>
              <a:cxnLst/>
              <a:rect l="l" t="t" r="r" b="b"/>
              <a:pathLst>
                <a:path w="4876800" h="9525">
                  <a:moveTo>
                    <a:pt x="0" y="0"/>
                  </a:moveTo>
                  <a:lnTo>
                    <a:pt x="4876800" y="0"/>
                  </a:lnTo>
                </a:path>
              </a:pathLst>
            </a:custGeom>
            <a:noFill/>
            <a:ln w="9525">
              <a:solidFill>
                <a:srgbClr val="D8E1EC"/>
              </a:solidFill>
            </a:ln>
          </p:spPr>
          <p:txBody>
            <a:bodyPr/>
            <a:p/>
          </p:txBody>
        </p:sp>
        <p:sp>
          <p:nvSpPr>
            <p:cNvPr id="40" name="TextBox 40"/>
            <p:cNvSpPr txBox="1"/>
            <p:nvPr/>
          </p:nvSpPr>
          <p:spPr>
            <a:xfrm>
              <a:off x="6497955" y="2883218"/>
              <a:ext cx="3094673" cy="27432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5B6B82"/>
                  </a:solidFill>
                  <a:latin typeface="Arial"/>
                  <a:ea typeface="Microsoft YaHei"/>
                  <a:cs typeface="Arial"/>
                </a:rPr>
                <a:t>它负责「找」：把包含答案的网页链接</a:t>
              </a:r>
            </a:p>
          </p:txBody>
        </p:sp>
        <p:sp>
          <p:nvSpPr>
            <p:cNvPr id="41" name="TextBox 41"/>
            <p:cNvSpPr txBox="1"/>
            <p:nvPr/>
          </p:nvSpPr>
          <p:spPr>
            <a:xfrm>
              <a:off x="6497955" y="3149918"/>
              <a:ext cx="2374582" cy="27432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5B6B82"/>
                  </a:solidFill>
                  <a:latin typeface="Arial"/>
                  <a:ea typeface="Microsoft YaHei"/>
                  <a:cs typeface="Arial"/>
                </a:rPr>
                <a:t>列给你，让你自己点进去看。</a:t>
              </a:r>
            </a:p>
          </p:txBody>
        </p:sp>
        <p:sp>
          <p:nvSpPr>
            <p:cNvPr id="42" name="Rectangle 42"/>
            <p:cNvSpPr/>
            <p:nvPr/>
          </p:nvSpPr>
          <p:spPr>
            <a:xfrm>
              <a:off x="6515100" y="3905250"/>
              <a:ext cx="4876800" cy="914400"/>
            </a:xfrm>
            <a:prstGeom prst="roundRect">
              <a:avLst>
                <a:gd name="adj" fmla="val 16667"/>
              </a:avLst>
            </a:prstGeom>
            <a:solidFill>
              <a:srgbClr val="E9EEF5"/>
            </a:solidFill>
            <a:ln>
              <a:noFill/>
            </a:ln>
          </p:spPr>
          <p:txBody>
            <a:bodyPr/>
            <a:p/>
          </p:txBody>
        </p:sp>
        <p:sp>
          <p:nvSpPr>
            <p:cNvPr id="43" name="TextBox 43"/>
            <p:cNvSpPr txBox="1"/>
            <p:nvPr/>
          </p:nvSpPr>
          <p:spPr>
            <a:xfrm>
              <a:off x="6728460" y="4137660"/>
              <a:ext cx="1206627" cy="24384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00" b="1" dirty="0">
                  <a:solidFill>
                    <a:srgbClr val="2B3648"/>
                  </a:solidFill>
                  <a:latin typeface="Arial"/>
                  <a:ea typeface="Microsoft YaHei"/>
                  <a:cs typeface="Arial"/>
                </a:rPr>
                <a:t>答案在网页里，</a:t>
              </a:r>
            </a:p>
          </p:txBody>
        </p:sp>
        <p:sp>
          <p:nvSpPr>
            <p:cNvPr id="44" name="TextBox 44"/>
            <p:cNvSpPr txBox="1"/>
            <p:nvPr/>
          </p:nvSpPr>
          <p:spPr>
            <a:xfrm>
              <a:off x="6728460" y="4423410"/>
              <a:ext cx="990600" cy="24384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00" dirty="0">
                  <a:solidFill>
                    <a:srgbClr val="2B3648"/>
                  </a:solidFill>
                  <a:latin typeface="Arial"/>
                  <a:ea typeface="Microsoft YaHei"/>
                  <a:cs typeface="Arial"/>
                </a:rPr>
                <a:t>它只是导航员</a:t>
              </a:r>
            </a:p>
          </p:txBody>
        </p:sp>
      </p:grpSp>
      <p:grpSp>
        <p:nvGrpSpPr>
          <p:cNvPr id="48" name="Group 48"/>
          <p:cNvGrpSpPr/>
          <p:nvPr/>
        </p:nvGrpSpPr>
        <p:grpSpPr>
          <a:xfrm>
            <a:off x="5848350" y="3133725"/>
            <a:ext cx="495300" cy="495300"/>
            <a:chOff x="5848350" y="3133725"/>
            <a:chExt cx="495300" cy="495300"/>
          </a:xfrm>
        </p:grpSpPr>
        <p:sp>
          <p:nvSpPr>
            <p:cNvPr id="46" name="Ellipse 46"/>
            <p:cNvSpPr/>
            <p:nvPr/>
          </p:nvSpPr>
          <p:spPr>
            <a:xfrm>
              <a:off x="5848350" y="3133725"/>
              <a:ext cx="495300" cy="495300"/>
            </a:xfrm>
            <a:prstGeom prst="ellipse">
              <a:avLst/>
            </a:prstGeom>
            <a:solidFill>
              <a:srgbClr val="1565D8"/>
            </a:solidFill>
            <a:ln>
              <a:noFill/>
            </a:ln>
          </p:spPr>
          <p:txBody>
            <a:bodyPr/>
            <a:p/>
          </p:txBody>
        </p:sp>
        <p:sp>
          <p:nvSpPr>
            <p:cNvPr id="47" name="TextBox 47"/>
            <p:cNvSpPr txBox="1"/>
            <p:nvPr/>
          </p:nvSpPr>
          <p:spPr>
            <a:xfrm>
              <a:off x="5988348" y="3318510"/>
              <a:ext cx="215303" cy="24384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200" b="1" dirty="0">
                  <a:solidFill>
                    <a:srgbClr val="FFFFFF"/>
                  </a:solidFill>
                  <a:latin typeface="Arial"/>
                  <a:ea typeface="Microsoft YaHei"/>
                  <a:cs typeface="Arial"/>
                </a:rPr>
                <a:t>VS</a:t>
              </a:r>
            </a:p>
          </p:txBody>
        </p:sp>
      </p:grpSp>
      <p:grpSp>
        <p:nvGrpSpPr>
          <p:cNvPr id="52" name="Group 52"/>
          <p:cNvGrpSpPr/>
          <p:nvPr/>
        </p:nvGrpSpPr>
        <p:grpSpPr>
          <a:xfrm>
            <a:off x="571500" y="5486400"/>
            <a:ext cx="11049000" cy="457200"/>
            <a:chOff x="571500" y="5486400"/>
            <a:chExt cx="11049000" cy="457200"/>
          </a:xfrm>
        </p:grpSpPr>
        <p:sp>
          <p:nvSpPr>
            <p:cNvPr id="49" name="Rectangle 49"/>
            <p:cNvSpPr/>
            <p:nvPr/>
          </p:nvSpPr>
          <p:spPr>
            <a:xfrm>
              <a:off x="571500" y="5486400"/>
              <a:ext cx="11049000" cy="457200"/>
            </a:xfrm>
            <a:prstGeom prst="roundRect">
              <a:avLst>
                <a:gd name="adj" fmla="val 33333"/>
              </a:avLst>
            </a:prstGeom>
            <a:solidFill>
              <a:srgbClr val="D6E6F9"/>
            </a:solidFill>
            <a:ln>
              <a:noFill/>
            </a:ln>
          </p:spPr>
          <p:txBody>
            <a:bodyPr/>
            <a:p/>
          </p:txBody>
        </p:sp>
        <p:sp>
          <p:nvSpPr>
            <p:cNvPr id="50" name="Rectangle 50"/>
            <p:cNvSpPr/>
            <p:nvPr/>
          </p:nvSpPr>
          <p:spPr>
            <a:xfrm>
              <a:off x="571500" y="5486400"/>
              <a:ext cx="76200" cy="457200"/>
            </a:xfrm>
            <a:prstGeom prst="roundRect">
              <a:avLst>
                <a:gd name="adj" fmla="val 50000"/>
              </a:avLst>
            </a:prstGeom>
            <a:solidFill>
              <a:srgbClr val="1565D8"/>
            </a:solidFill>
            <a:ln>
              <a:noFill/>
            </a:ln>
          </p:spPr>
          <p:txBody>
            <a:bodyPr/>
            <a:p/>
          </p:txBody>
        </p:sp>
        <p:sp>
          <p:nvSpPr>
            <p:cNvPr id="51" name="TextBox 51"/>
            <p:cNvSpPr txBox="1"/>
            <p:nvPr/>
          </p:nvSpPr>
          <p:spPr>
            <a:xfrm>
              <a:off x="859155" y="5635942"/>
              <a:ext cx="4599211" cy="27432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b="1" dirty="0">
                  <a:solidFill>
                    <a:srgbClr val="0B4EA2"/>
                  </a:solidFill>
                  <a:latin typeface="Arial"/>
                  <a:ea typeface="Microsoft YaHei"/>
                  <a:cs typeface="Arial"/>
                </a:rPr>
                <a:t>查事实用搜索，写东西用 AI，关键事实再回搜索核实。</a:t>
              </a:r>
            </a:p>
          </p:txBody>
        </p:sp>
      </p:grpSp>
      <p:grpSp>
        <p:nvGrpSpPr>
          <p:cNvPr id="55" name="Group 55"/>
          <p:cNvGrpSpPr/>
          <p:nvPr/>
        </p:nvGrpSpPr>
        <p:grpSpPr>
          <a:xfrm>
            <a:off x="560070" y="6341745"/>
            <a:ext cx="11071860" cy="182880"/>
            <a:chOff x="560070" y="6341745"/>
            <a:chExt cx="11071860" cy="182880"/>
          </a:xfrm>
        </p:grpSpPr>
        <p:sp>
          <p:nvSpPr>
            <p:cNvPr id="53" name="TextBox 53"/>
            <p:cNvSpPr txBox="1"/>
            <p:nvPr/>
          </p:nvSpPr>
          <p:spPr>
            <a:xfrm>
              <a:off x="560070" y="6341745"/>
              <a:ext cx="1054989" cy="18288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00" dirty="0">
                  <a:solidFill>
                    <a:srgbClr val="8B99AE"/>
                  </a:solidFill>
                  <a:latin typeface="Arial"/>
                  <a:ea typeface="Microsoft YaHei"/>
                  <a:cs typeface="Arial"/>
                </a:rPr>
                <a:t>大模型通识 · 企业版</a:t>
              </a:r>
            </a:p>
          </p:txBody>
        </p:sp>
        <p:sp>
          <p:nvSpPr>
            <p:cNvPr id="54" name="TextBox 54"/>
            <p:cNvSpPr txBox="1"/>
            <p:nvPr/>
          </p:nvSpPr>
          <p:spPr>
            <a:xfrm>
              <a:off x="11207020" y="6341745"/>
              <a:ext cx="424910" cy="18288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r"/>
              <a:r>
                <a:rPr lang="zh-CN" sz="900" dirty="0">
                  <a:solidFill>
                    <a:srgbClr val="8B99AE"/>
                  </a:solidFill>
                  <a:latin typeface="Arial"/>
                  <a:ea typeface="Microsoft YaHei"/>
                  <a:cs typeface="Arial"/>
                </a:rPr>
                <a:t>14 / 51</a:t>
              </a:r>
            </a:p>
          </p:txBody>
        </p:sp>
      </p:grpSp>
    </p:spTree>
  </p:cSld>
  <p:clrMapOvr>
    <a:masterClrMapping/>
  </p:clrMapOvr>
  <p:transition xmlns:p14="http://schemas.microsoft.com/office/powerpoint/2010/main" p14:dur="400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entr" presetSubtype="4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slide(fromBottom)">
                                      <p:cBhvr>
                                        <p:cTn id="7" dur="4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900"/>
                            </p:stCondLst>
                            <p:childTnLst>
                              <p:par>
                                <p:cTn id="9" presetID="2" presetClass="entr" presetSubtype="4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slide(fromBottom)">
                                      <p:cBhvr>
                                        <p:cTn id="11" dur="400"/>
                                        <p:tgtEl>
                                          <p:spTgt spid="4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2" fill="hold">
                            <p:stCondLst>
                              <p:cond delay="1800"/>
                            </p:stCondLst>
                            <p:childTnLst>
                              <p:par>
                                <p:cTn id="13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400"/>
                                        <p:tgtEl>
                                          <p:spTgt spid="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6" fill="hold">
                            <p:stCondLst>
                              <p:cond delay="2700"/>
                            </p:stCondLst>
                            <p:childTnLst>
                              <p:par>
                                <p:cTn id="17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400"/>
                                        <p:tgtEl>
                                          <p:spTgt spid="5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1" grpId="0"/>
      <p:bldP spid="45" grpId="0"/>
      <p:bldP spid="48" grpId="0"/>
      <p:bldP spid="52" grpId="0"/>
    </p:bldLst>
  </p:timing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5" name="Group 5"/>
          <p:cNvGrpSpPr/>
          <p:nvPr/>
        </p:nvGrpSpPr>
        <p:grpSpPr>
          <a:xfrm>
            <a:off x="0" y="0"/>
            <a:ext cx="14192250" cy="8953500"/>
            <a:chOff x="0" y="0"/>
            <a:chExt cx="14192250" cy="8953500"/>
          </a:xfrm>
        </p:grpSpPr>
        <p:sp>
          <p:nvSpPr>
            <p:cNvPr id="2" name="Rectangle 2"/>
            <p:cNvSpPr/>
            <p:nvPr/>
          </p:nvSpPr>
          <p:spPr>
            <a:xfrm>
              <a:off x="0" y="0"/>
              <a:ext cx="12192000" cy="6858000"/>
            </a:xfrm>
            <a:prstGeom prst="rect">
              <a:avLst/>
            </a:prstGeom>
            <a:solidFill>
              <a:srgbClr val="F5F7FA"/>
            </a:solidFill>
            <a:ln>
              <a:noFill/>
            </a:ln>
          </p:spPr>
          <p:txBody>
            <a:bodyPr/>
            <a:p/>
          </p:txBody>
        </p:sp>
        <p:sp>
          <p:nvSpPr>
            <p:cNvPr id="3" name="Rectangle 3"/>
            <p:cNvSpPr/>
            <p:nvPr/>
          </p:nvSpPr>
          <p:spPr>
            <a:xfrm>
              <a:off x="0" y="0"/>
              <a:ext cx="12192000" cy="6858000"/>
            </a:xfrm>
            <a:prstGeom prst="rect">
              <a:avLst/>
            </a:prstGeom>
            <a:gradFill>
              <a:gsLst>
                <a:gs pos="0">
                  <a:srgbClr val="1565D8">
                    <a:alpha val="6000"/>
                  </a:srgbClr>
                </a:gs>
                <a:gs pos="100000">
                  <a:srgbClr val="1565D8">
                    <a:alpha val="0"/>
                  </a:srgbClr>
                </a:gs>
              </a:gsLst>
              <a:path path="circle">
                <a:fillToRect l="50000" t="50000" r="50000" b="50000"/>
              </a:path>
            </a:gradFill>
            <a:ln>
              <a:noFill/>
            </a:ln>
          </p:spPr>
          <p:txBody>
            <a:bodyPr/>
            <a:p/>
          </p:txBody>
        </p:sp>
        <p:sp>
          <p:nvSpPr>
            <p:cNvPr id="4" name="Ellipse 4"/>
            <p:cNvSpPr/>
            <p:nvPr/>
          </p:nvSpPr>
          <p:spPr>
            <a:xfrm>
              <a:off x="9620250" y="4381500"/>
              <a:ext cx="4572000" cy="4572000"/>
            </a:xfrm>
            <a:prstGeom prst="ellipse">
              <a:avLst/>
            </a:prstGeom>
            <a:noFill/>
            <a:ln w="14288">
              <a:solidFill>
                <a:srgbClr val="D6E6F9">
                  <a:alpha val="80000"/>
                </a:srgbClr>
              </a:solidFill>
            </a:ln>
          </p:spPr>
          <p:txBody>
            <a:bodyPr/>
            <a:p/>
          </p:txBody>
        </p:sp>
      </p:grpSp>
      <p:grpSp>
        <p:nvGrpSpPr>
          <p:cNvPr id="9" name="Group 9"/>
          <p:cNvGrpSpPr/>
          <p:nvPr/>
        </p:nvGrpSpPr>
        <p:grpSpPr>
          <a:xfrm>
            <a:off x="571500" y="685800"/>
            <a:ext cx="4206240" cy="700088"/>
            <a:chOff x="571500" y="685800"/>
            <a:chExt cx="4206240" cy="700088"/>
          </a:xfrm>
        </p:grpSpPr>
        <p:sp>
          <p:nvSpPr>
            <p:cNvPr id="6" name="Rectangle 6"/>
            <p:cNvSpPr/>
            <p:nvPr/>
          </p:nvSpPr>
          <p:spPr>
            <a:xfrm>
              <a:off x="571500" y="685800"/>
              <a:ext cx="76200" cy="323850"/>
            </a:xfrm>
            <a:prstGeom prst="roundRect">
              <a:avLst>
                <a:gd name="adj" fmla="val 50000"/>
              </a:avLst>
            </a:prstGeom>
            <a:solidFill>
              <a:srgbClr val="1565D8"/>
            </a:solidFill>
            <a:ln>
              <a:noFill/>
            </a:ln>
          </p:spPr>
          <p:txBody>
            <a:bodyPr/>
            <a:p/>
          </p:txBody>
        </p:sp>
        <p:sp>
          <p:nvSpPr>
            <p:cNvPr id="7" name="TextBox 7"/>
            <p:cNvSpPr txBox="1"/>
            <p:nvPr/>
          </p:nvSpPr>
          <p:spPr>
            <a:xfrm>
              <a:off x="771525" y="700088"/>
              <a:ext cx="2766489" cy="45720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2250" b="1" dirty="0">
                  <a:solidFill>
                    <a:srgbClr val="2B3648"/>
                  </a:solidFill>
                  <a:latin typeface="Arial"/>
                  <a:ea typeface="Microsoft YaHei"/>
                  <a:cs typeface="Arial"/>
                </a:rPr>
                <a:t>上下文窗口 与 幻觉</a:t>
              </a:r>
            </a:p>
          </p:txBody>
        </p:sp>
        <p:sp>
          <p:nvSpPr>
            <p:cNvPr id="8" name="TextBox 8"/>
            <p:cNvSpPr txBox="1"/>
            <p:nvPr/>
          </p:nvSpPr>
          <p:spPr>
            <a:xfrm>
              <a:off x="782955" y="1111568"/>
              <a:ext cx="3994785" cy="27432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5B6B82"/>
                  </a:solidFill>
                  <a:latin typeface="Arial"/>
                  <a:ea typeface="Microsoft YaHei"/>
                  <a:cs typeface="Arial"/>
                </a:rPr>
                <a:t>两个必须知道的「短板」，正好教你怎么用得更稳</a:t>
              </a:r>
            </a:p>
          </p:txBody>
        </p:sp>
      </p:grpSp>
      <p:grpSp>
        <p:nvGrpSpPr>
          <p:cNvPr id="24" name="Group 24"/>
          <p:cNvGrpSpPr/>
          <p:nvPr/>
        </p:nvGrpSpPr>
        <p:grpSpPr>
          <a:xfrm>
            <a:off x="571500" y="1619250"/>
            <a:ext cx="5334000" cy="3524250"/>
            <a:chOff x="571500" y="1619250"/>
            <a:chExt cx="5334000" cy="3524250"/>
          </a:xfrm>
        </p:grpSpPr>
        <p:sp>
          <p:nvSpPr>
            <p:cNvPr id="10" name="Rectangle 10"/>
            <p:cNvSpPr/>
            <p:nvPr/>
          </p:nvSpPr>
          <p:spPr>
            <a:xfrm>
              <a:off x="571500" y="1619250"/>
              <a:ext cx="5334000" cy="3524250"/>
            </a:xfrm>
            <a:prstGeom prst="roundRect">
              <a:avLst>
                <a:gd name="adj" fmla="val 4324"/>
              </a:avLst>
            </a:prstGeom>
            <a:solidFill>
              <a:srgbClr val="FFFFFF"/>
            </a:solidFill>
            <a:ln w="9525">
              <a:solidFill>
                <a:srgbClr val="D8E1EC"/>
              </a:solidFill>
            </a:ln>
          </p:spPr>
          <p:txBody>
            <a:bodyPr/>
            <a:p/>
          </p:txBody>
        </p:sp>
        <p:sp>
          <p:nvSpPr>
            <p:cNvPr id="11" name="Ellipse 11"/>
            <p:cNvSpPr/>
            <p:nvPr/>
          </p:nvSpPr>
          <p:spPr>
            <a:xfrm>
              <a:off x="857250" y="1924050"/>
              <a:ext cx="495300" cy="495300"/>
            </a:xfrm>
            <a:prstGeom prst="ellipse">
              <a:avLst/>
            </a:prstGeom>
            <a:solidFill>
              <a:srgbClr val="D6E6F9"/>
            </a:solidFill>
            <a:ln>
              <a:noFill/>
            </a:ln>
          </p:spPr>
          <p:txBody>
            <a:bodyPr/>
            <a:p/>
          </p:txBody>
        </p:sp>
        <p:grpSp>
          <p:nvGrpSpPr>
            <p:cNvPr id="15" name="Group 15"/>
            <p:cNvGrpSpPr/>
            <p:nvPr/>
          </p:nvGrpSpPr>
          <p:grpSpPr>
            <a:xfrm>
              <a:off x="1027112" y="2071688"/>
              <a:ext cx="155575" cy="200025"/>
              <a:chOff x="1027112" y="2071688"/>
              <a:chExt cx="155575" cy="200025"/>
            </a:xfrm>
          </p:grpSpPr>
          <p:sp>
            <p:nvSpPr>
              <p:cNvPr id="12" name="Freeform 12"/>
              <p:cNvSpPr/>
              <p:nvPr/>
            </p:nvSpPr>
            <p:spPr>
              <a:xfrm>
                <a:off x="1027112" y="2071688"/>
                <a:ext cx="155575" cy="200025"/>
              </a:xfrm>
              <a:custGeom>
                <a:avLst/>
                <a:gdLst/>
                <a:ahLst/>
                <a:cxnLst/>
                <a:rect l="l" t="t" r="r" b="b"/>
                <a:pathLst>
                  <a:path w="155575" h="200025">
                    <a:moveTo>
                      <a:pt x="77788" y="0"/>
                    </a:moveTo>
                    <a:cubicBezTo>
                      <a:pt x="34827" y="0"/>
                      <a:pt x="0" y="36360"/>
                      <a:pt x="0" y="77787"/>
                    </a:cubicBezTo>
                    <a:lnTo>
                      <a:pt x="0" y="188913"/>
                    </a:lnTo>
                    <a:cubicBezTo>
                      <a:pt x="0" y="195050"/>
                      <a:pt x="4975" y="200025"/>
                      <a:pt x="11113" y="200025"/>
                    </a:cubicBezTo>
                    <a:lnTo>
                      <a:pt x="144463" y="200025"/>
                    </a:lnTo>
                    <a:cubicBezTo>
                      <a:pt x="150600" y="200025"/>
                      <a:pt x="155575" y="195050"/>
                      <a:pt x="155575" y="188913"/>
                    </a:cubicBezTo>
                    <a:lnTo>
                      <a:pt x="155575" y="77787"/>
                    </a:lnTo>
                    <a:cubicBezTo>
                      <a:pt x="155575" y="36360"/>
                      <a:pt x="120748" y="0"/>
                      <a:pt x="77788" y="0"/>
                    </a:cubicBezTo>
                  </a:path>
                </a:pathLst>
              </a:custGeom>
              <a:noFill/>
              <a:ln w="19050">
                <a:solidFill>
                  <a:srgbClr val="1565D8"/>
                </a:solidFill>
              </a:ln>
            </p:spPr>
            <p:txBody>
              <a:bodyPr/>
              <a:p/>
            </p:txBody>
          </p:sp>
          <p:sp>
            <p:nvSpPr>
              <p:cNvPr id="13" name="Freeform 13"/>
              <p:cNvSpPr/>
              <p:nvPr/>
            </p:nvSpPr>
            <p:spPr>
              <a:xfrm>
                <a:off x="1027112" y="2182812"/>
                <a:ext cx="155575" cy="9525"/>
              </a:xfrm>
              <a:custGeom>
                <a:avLst/>
                <a:gdLst/>
                <a:ahLst/>
                <a:cxnLst/>
                <a:rect l="l" t="t" r="r" b="b"/>
                <a:pathLst>
                  <a:path w="155575" h="9525">
                    <a:moveTo>
                      <a:pt x="0" y="0"/>
                    </a:moveTo>
                    <a:lnTo>
                      <a:pt x="155575" y="0"/>
                    </a:lnTo>
                  </a:path>
                </a:pathLst>
              </a:custGeom>
              <a:noFill/>
              <a:ln w="19050">
                <a:solidFill>
                  <a:srgbClr val="1565D8"/>
                </a:solidFill>
              </a:ln>
            </p:spPr>
            <p:txBody>
              <a:bodyPr/>
              <a:p/>
            </p:txBody>
          </p:sp>
          <p:sp>
            <p:nvSpPr>
              <p:cNvPr id="14" name="Freeform 14"/>
              <p:cNvSpPr/>
              <p:nvPr/>
            </p:nvSpPr>
            <p:spPr>
              <a:xfrm>
                <a:off x="1104900" y="2071688"/>
                <a:ext cx="9525" cy="200025"/>
              </a:xfrm>
              <a:custGeom>
                <a:avLst/>
                <a:gdLst/>
                <a:ahLst/>
                <a:cxnLst/>
                <a:rect l="l" t="t" r="r" b="b"/>
                <a:pathLst>
                  <a:path w="9525" h="200025">
                    <a:moveTo>
                      <a:pt x="0" y="0"/>
                    </a:moveTo>
                    <a:lnTo>
                      <a:pt x="0" y="200025"/>
                    </a:lnTo>
                  </a:path>
                </a:pathLst>
              </a:custGeom>
              <a:noFill/>
              <a:ln w="19050">
                <a:solidFill>
                  <a:srgbClr val="1565D8"/>
                </a:solidFill>
              </a:ln>
            </p:spPr>
            <p:txBody>
              <a:bodyPr/>
              <a:p/>
            </p:txBody>
          </p:sp>
        </p:grpSp>
        <p:sp>
          <p:nvSpPr>
            <p:cNvPr id="16" name="TextBox 16"/>
            <p:cNvSpPr txBox="1"/>
            <p:nvPr/>
          </p:nvSpPr>
          <p:spPr>
            <a:xfrm>
              <a:off x="1483995" y="1974532"/>
              <a:ext cx="1197054" cy="33528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650" b="1" dirty="0">
                  <a:solidFill>
                    <a:srgbClr val="2B3648"/>
                  </a:solidFill>
                  <a:latin typeface="Arial"/>
                  <a:ea typeface="Microsoft YaHei"/>
                  <a:cs typeface="Arial"/>
                </a:rPr>
                <a:t>上下文窗口</a:t>
              </a:r>
            </a:p>
          </p:txBody>
        </p:sp>
        <p:sp>
          <p:nvSpPr>
            <p:cNvPr id="17" name="TextBox 17"/>
            <p:cNvSpPr txBox="1"/>
            <p:nvPr/>
          </p:nvSpPr>
          <p:spPr>
            <a:xfrm>
              <a:off x="1491615" y="2286952"/>
              <a:ext cx="1405842" cy="21336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050" dirty="0">
                  <a:solidFill>
                    <a:srgbClr val="5B6B82"/>
                  </a:solidFill>
                  <a:latin typeface="Arial"/>
                  <a:ea typeface="Microsoft YaHei"/>
                  <a:cs typeface="Arial"/>
                </a:rPr>
                <a:t>= 它一次能「看」多少</a:t>
              </a:r>
            </a:p>
          </p:txBody>
        </p:sp>
        <p:sp>
          <p:nvSpPr>
            <p:cNvPr id="18" name="TextBox 18"/>
            <p:cNvSpPr txBox="1"/>
            <p:nvPr/>
          </p:nvSpPr>
          <p:spPr>
            <a:xfrm>
              <a:off x="762000" y="2743200"/>
              <a:ext cx="1336358" cy="60960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3000" b="1" dirty="0">
                  <a:solidFill>
                    <a:srgbClr val="1565D8"/>
                  </a:solidFill>
                  <a:latin typeface="Arial"/>
                  <a:ea typeface="Microsoft YaHei"/>
                  <a:cs typeface="Arial"/>
                </a:rPr>
                <a:t>百万字</a:t>
              </a:r>
            </a:p>
          </p:txBody>
        </p:sp>
        <p:sp>
          <p:nvSpPr>
            <p:cNvPr id="19" name="TextBox 19"/>
            <p:cNvSpPr txBox="1"/>
            <p:nvPr/>
          </p:nvSpPr>
          <p:spPr>
            <a:xfrm>
              <a:off x="782955" y="3378518"/>
              <a:ext cx="3454718" cy="27432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5B6B82"/>
                  </a:solidFill>
                  <a:latin typeface="Arial"/>
                  <a:ea typeface="Microsoft YaHei"/>
                  <a:cs typeface="Arial"/>
                </a:rPr>
                <a:t>主流模型一次能「记得」这么长——</a:t>
              </a:r>
            </a:p>
          </p:txBody>
        </p:sp>
        <p:sp>
          <p:nvSpPr>
            <p:cNvPr id="20" name="TextBox 20"/>
            <p:cNvSpPr txBox="1"/>
            <p:nvPr/>
          </p:nvSpPr>
          <p:spPr>
            <a:xfrm>
              <a:off x="782955" y="3645218"/>
              <a:ext cx="3454718" cy="27432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5B6B82"/>
                  </a:solidFill>
                  <a:latin typeface="Arial"/>
                  <a:ea typeface="Microsoft YaHei"/>
                  <a:cs typeface="Arial"/>
                </a:rPr>
                <a:t>已到百万字级（Gemini 3 到 200 万字）</a:t>
              </a:r>
            </a:p>
          </p:txBody>
        </p:sp>
        <p:sp>
          <p:nvSpPr>
            <p:cNvPr id="21" name="TextBox 21"/>
            <p:cNvSpPr txBox="1"/>
            <p:nvPr/>
          </p:nvSpPr>
          <p:spPr>
            <a:xfrm>
              <a:off x="782955" y="3911918"/>
              <a:ext cx="2932652" cy="27432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5B6B82"/>
                  </a:solidFill>
                  <a:latin typeface="Arial"/>
                  <a:ea typeface="Microsoft YaHei"/>
                  <a:cs typeface="Arial"/>
                </a:rPr>
                <a:t>整本合同、整本年报，一次喂完还能问。</a:t>
              </a:r>
            </a:p>
          </p:txBody>
        </p:sp>
        <p:sp>
          <p:nvSpPr>
            <p:cNvPr id="22" name="Rectangle 22"/>
            <p:cNvSpPr/>
            <p:nvPr/>
          </p:nvSpPr>
          <p:spPr>
            <a:xfrm>
              <a:off x="800100" y="4305300"/>
              <a:ext cx="4876800" cy="571500"/>
            </a:xfrm>
            <a:prstGeom prst="roundRect">
              <a:avLst>
                <a:gd name="adj" fmla="val 26667"/>
              </a:avLst>
            </a:prstGeom>
            <a:solidFill>
              <a:srgbClr val="D6E6F9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3" name="TextBox 23"/>
            <p:cNvSpPr txBox="1"/>
            <p:nvPr/>
          </p:nvSpPr>
          <p:spPr>
            <a:xfrm>
              <a:off x="1013460" y="4537710"/>
              <a:ext cx="2886837" cy="24384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00" b="1" dirty="0">
                  <a:solidFill>
                    <a:srgbClr val="0B4EA2"/>
                  </a:solidFill>
                  <a:latin typeface="Arial"/>
                  <a:ea typeface="Microsoft YaHei"/>
                  <a:cs typeface="Arial"/>
                </a:rPr>
                <a:t>所以：长文档一次喂，关键信息放最前</a:t>
              </a:r>
            </a:p>
          </p:txBody>
        </p:sp>
      </p:grpSp>
      <p:grpSp>
        <p:nvGrpSpPr>
          <p:cNvPr id="39" name="Group 39"/>
          <p:cNvGrpSpPr/>
          <p:nvPr/>
        </p:nvGrpSpPr>
        <p:grpSpPr>
          <a:xfrm>
            <a:off x="6286500" y="1619250"/>
            <a:ext cx="5334000" cy="3524250"/>
            <a:chOff x="6286500" y="1619250"/>
            <a:chExt cx="5334000" cy="3524250"/>
          </a:xfrm>
        </p:grpSpPr>
        <p:sp>
          <p:nvSpPr>
            <p:cNvPr id="25" name="Rectangle 25"/>
            <p:cNvSpPr/>
            <p:nvPr/>
          </p:nvSpPr>
          <p:spPr>
            <a:xfrm>
              <a:off x="6286500" y="1619250"/>
              <a:ext cx="5334000" cy="3524250"/>
            </a:xfrm>
            <a:prstGeom prst="roundRect">
              <a:avLst>
                <a:gd name="adj" fmla="val 4324"/>
              </a:avLst>
            </a:prstGeom>
            <a:solidFill>
              <a:srgbClr val="FFFFFF"/>
            </a:solidFill>
            <a:ln w="9525">
              <a:solidFill>
                <a:srgbClr val="D8E1EC"/>
              </a:solidFill>
            </a:ln>
          </p:spPr>
          <p:txBody>
            <a:bodyPr/>
            <a:p/>
          </p:txBody>
        </p:sp>
        <p:sp>
          <p:nvSpPr>
            <p:cNvPr id="26" name="Ellipse 26"/>
            <p:cNvSpPr/>
            <p:nvPr/>
          </p:nvSpPr>
          <p:spPr>
            <a:xfrm>
              <a:off x="6572250" y="1924050"/>
              <a:ext cx="495300" cy="495300"/>
            </a:xfrm>
            <a:prstGeom prst="ellipse">
              <a:avLst/>
            </a:prstGeom>
            <a:solidFill>
              <a:srgbClr val="E9EEF5"/>
            </a:solidFill>
            <a:ln>
              <a:noFill/>
            </a:ln>
          </p:spPr>
          <p:txBody>
            <a:bodyPr/>
            <a:p/>
          </p:txBody>
        </p:sp>
        <p:grpSp>
          <p:nvGrpSpPr>
            <p:cNvPr id="30" name="Group 30"/>
            <p:cNvGrpSpPr/>
            <p:nvPr/>
          </p:nvGrpSpPr>
          <p:grpSpPr>
            <a:xfrm>
              <a:off x="6719888" y="2071688"/>
              <a:ext cx="200025" cy="200025"/>
              <a:chOff x="6719888" y="2071688"/>
              <a:chExt cx="200025" cy="200025"/>
            </a:xfrm>
          </p:grpSpPr>
          <p:sp>
            <p:nvSpPr>
              <p:cNvPr id="27" name="Freeform 27"/>
              <p:cNvSpPr/>
              <p:nvPr/>
            </p:nvSpPr>
            <p:spPr>
              <a:xfrm>
                <a:off x="6719888" y="2071688"/>
                <a:ext cx="200025" cy="200025"/>
              </a:xfrm>
              <a:custGeom>
                <a:avLst/>
                <a:gdLst/>
                <a:ahLst/>
                <a:cxnLst/>
                <a:rect l="l" t="t" r="r" b="b"/>
                <a:pathLst>
                  <a:path w="200025" h="200025">
                    <a:moveTo>
                      <a:pt x="0" y="100012"/>
                    </a:moveTo>
                    <a:cubicBezTo>
                      <a:pt x="0" y="155248"/>
                      <a:pt x="44777" y="200025"/>
                      <a:pt x="100012" y="200025"/>
                    </a:cubicBezTo>
                    <a:cubicBezTo>
                      <a:pt x="155248" y="200025"/>
                      <a:pt x="200025" y="155248"/>
                      <a:pt x="200025" y="100012"/>
                    </a:cubicBezTo>
                    <a:cubicBezTo>
                      <a:pt x="200025" y="44777"/>
                      <a:pt x="155248" y="0"/>
                      <a:pt x="100012" y="0"/>
                    </a:cubicBezTo>
                    <a:cubicBezTo>
                      <a:pt x="44777" y="0"/>
                      <a:pt x="0" y="44777"/>
                      <a:pt x="0" y="100012"/>
                    </a:cubicBezTo>
                  </a:path>
                </a:pathLst>
              </a:custGeom>
              <a:noFill/>
              <a:ln w="19050">
                <a:solidFill>
                  <a:srgbClr val="D64545"/>
                </a:solidFill>
              </a:ln>
            </p:spPr>
            <p:txBody>
              <a:bodyPr/>
              <a:p/>
            </p:txBody>
          </p:sp>
          <p:sp>
            <p:nvSpPr>
              <p:cNvPr id="28" name="Freeform 28"/>
              <p:cNvSpPr/>
              <p:nvPr/>
            </p:nvSpPr>
            <p:spPr>
              <a:xfrm>
                <a:off x="6819900" y="2127250"/>
                <a:ext cx="9525" cy="44450"/>
              </a:xfrm>
              <a:custGeom>
                <a:avLst/>
                <a:gdLst/>
                <a:ahLst/>
                <a:cxnLst/>
                <a:rect l="l" t="t" r="r" b="b"/>
                <a:pathLst>
                  <a:path w="9525" h="44450">
                    <a:moveTo>
                      <a:pt x="0" y="0"/>
                    </a:moveTo>
                    <a:lnTo>
                      <a:pt x="0" y="44450"/>
                    </a:lnTo>
                  </a:path>
                </a:pathLst>
              </a:custGeom>
              <a:noFill/>
              <a:ln w="19050">
                <a:solidFill>
                  <a:srgbClr val="D64545"/>
                </a:solidFill>
              </a:ln>
            </p:spPr>
            <p:txBody>
              <a:bodyPr/>
              <a:p/>
            </p:txBody>
          </p:sp>
          <p:sp>
            <p:nvSpPr>
              <p:cNvPr id="29" name="Freeform 29"/>
              <p:cNvSpPr/>
              <p:nvPr/>
            </p:nvSpPr>
            <p:spPr>
              <a:xfrm>
                <a:off x="6819900" y="2216150"/>
                <a:ext cx="9525" cy="9525"/>
              </a:xfrm>
              <a:custGeom>
                <a:avLst/>
                <a:gdLst/>
                <a:ahLst/>
                <a:cxnLst/>
                <a:rect l="l" t="t" r="r" b="b"/>
                <a:pathLst>
                  <a:path w="9525" h="9525">
                    <a:moveTo>
                      <a:pt x="0" y="0"/>
                    </a:moveTo>
                    <a:lnTo>
                      <a:pt x="111" y="0"/>
                    </a:lnTo>
                  </a:path>
                </a:pathLst>
              </a:custGeom>
              <a:noFill/>
              <a:ln w="19050">
                <a:solidFill>
                  <a:srgbClr val="D64545"/>
                </a:solidFill>
              </a:ln>
            </p:spPr>
            <p:txBody>
              <a:bodyPr/>
              <a:p/>
            </p:txBody>
          </p:sp>
        </p:grpSp>
        <p:sp>
          <p:nvSpPr>
            <p:cNvPr id="31" name="TextBox 31"/>
            <p:cNvSpPr txBox="1"/>
            <p:nvPr/>
          </p:nvSpPr>
          <p:spPr>
            <a:xfrm>
              <a:off x="7198995" y="1974532"/>
              <a:ext cx="1994104" cy="33528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650" b="1" dirty="0">
                  <a:solidFill>
                    <a:srgbClr val="2B3648"/>
                  </a:solidFill>
                  <a:latin typeface="Arial"/>
                  <a:ea typeface="Microsoft YaHei"/>
                  <a:cs typeface="Arial"/>
                </a:rPr>
                <a:t>幻觉 Hallucination</a:t>
              </a:r>
            </a:p>
          </p:txBody>
        </p:sp>
        <p:sp>
          <p:nvSpPr>
            <p:cNvPr id="32" name="TextBox 32"/>
            <p:cNvSpPr txBox="1"/>
            <p:nvPr/>
          </p:nvSpPr>
          <p:spPr>
            <a:xfrm>
              <a:off x="7206615" y="2286952"/>
              <a:ext cx="985790" cy="21336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050" dirty="0">
                  <a:solidFill>
                    <a:srgbClr val="5B6B82"/>
                  </a:solidFill>
                  <a:latin typeface="Arial"/>
                  <a:ea typeface="Microsoft YaHei"/>
                  <a:cs typeface="Arial"/>
                </a:rPr>
                <a:t>= 一本正经地编</a:t>
              </a:r>
            </a:p>
          </p:txBody>
        </p:sp>
        <p:sp>
          <p:nvSpPr>
            <p:cNvPr id="33" name="TextBox 33"/>
            <p:cNvSpPr txBox="1"/>
            <p:nvPr/>
          </p:nvSpPr>
          <p:spPr>
            <a:xfrm>
              <a:off x="6477000" y="2743200"/>
              <a:ext cx="2596515" cy="60960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3000" b="1" dirty="0">
                  <a:solidFill>
                    <a:srgbClr val="D64545"/>
                  </a:solidFill>
                  <a:latin typeface="Arial"/>
                  <a:ea typeface="Microsoft YaHei"/>
                  <a:cs typeface="Arial"/>
                </a:rPr>
                <a:t>说得特别自信</a:t>
              </a:r>
            </a:p>
          </p:txBody>
        </p:sp>
        <p:sp>
          <p:nvSpPr>
            <p:cNvPr id="34" name="TextBox 34"/>
            <p:cNvSpPr txBox="1"/>
            <p:nvPr/>
          </p:nvSpPr>
          <p:spPr>
            <a:xfrm>
              <a:off x="6497955" y="3378518"/>
              <a:ext cx="3274695" cy="27432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5B6B82"/>
                  </a:solidFill>
                  <a:latin typeface="Arial"/>
                  <a:ea typeface="Microsoft YaHei"/>
                  <a:cs typeface="Arial"/>
                </a:rPr>
                <a:t>它可能一本正经地编造一个听起来很对、</a:t>
              </a:r>
            </a:p>
          </p:txBody>
        </p:sp>
        <p:sp>
          <p:nvSpPr>
            <p:cNvPr id="35" name="TextBox 35"/>
            <p:cNvSpPr txBox="1"/>
            <p:nvPr/>
          </p:nvSpPr>
          <p:spPr>
            <a:xfrm>
              <a:off x="6497955" y="3645218"/>
              <a:ext cx="2914650" cy="27432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5B6B82"/>
                  </a:solidFill>
                  <a:latin typeface="Arial"/>
                  <a:ea typeface="Microsoft YaHei"/>
                  <a:cs typeface="Arial"/>
                </a:rPr>
                <a:t>其实是错的信息，还说得特别自信。</a:t>
              </a:r>
            </a:p>
          </p:txBody>
        </p:sp>
        <p:sp>
          <p:nvSpPr>
            <p:cNvPr id="36" name="TextBox 36"/>
            <p:cNvSpPr txBox="1"/>
            <p:nvPr/>
          </p:nvSpPr>
          <p:spPr>
            <a:xfrm>
              <a:off x="6497955" y="3911918"/>
              <a:ext cx="3454718" cy="27432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5B6B82"/>
                  </a:solidFill>
                  <a:latin typeface="Arial"/>
                  <a:ea typeface="Microsoft YaHei"/>
                  <a:cs typeface="Arial"/>
                </a:rPr>
                <a:t>这是「接话」机制天生的毛病，不是故障。</a:t>
              </a:r>
            </a:p>
          </p:txBody>
        </p:sp>
        <p:sp>
          <p:nvSpPr>
            <p:cNvPr id="37" name="Rectangle 37"/>
            <p:cNvSpPr/>
            <p:nvPr/>
          </p:nvSpPr>
          <p:spPr>
            <a:xfrm>
              <a:off x="6515100" y="4305300"/>
              <a:ext cx="4876800" cy="571500"/>
            </a:xfrm>
            <a:prstGeom prst="roundRect">
              <a:avLst>
                <a:gd name="adj" fmla="val 26667"/>
              </a:avLst>
            </a:prstGeom>
            <a:solidFill>
              <a:srgbClr val="E9EEF5"/>
            </a:solidFill>
            <a:ln>
              <a:noFill/>
            </a:ln>
          </p:spPr>
          <p:txBody>
            <a:bodyPr/>
            <a:p/>
          </p:txBody>
        </p:sp>
        <p:sp>
          <p:nvSpPr>
            <p:cNvPr id="38" name="TextBox 38"/>
            <p:cNvSpPr txBox="1"/>
            <p:nvPr/>
          </p:nvSpPr>
          <p:spPr>
            <a:xfrm>
              <a:off x="6728460" y="4537710"/>
              <a:ext cx="3054858" cy="24384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00" b="1" dirty="0">
                  <a:solidFill>
                    <a:srgbClr val="2B3648"/>
                  </a:solidFill>
                  <a:latin typeface="Arial"/>
                  <a:ea typeface="Microsoft YaHei"/>
                  <a:cs typeface="Arial"/>
                </a:rPr>
                <a:t>越权威、越具体的「假答案」，越要核实</a:t>
              </a:r>
            </a:p>
          </p:txBody>
        </p:sp>
      </p:grpSp>
      <p:grpSp>
        <p:nvGrpSpPr>
          <p:cNvPr id="43" name="Group 43"/>
          <p:cNvGrpSpPr/>
          <p:nvPr/>
        </p:nvGrpSpPr>
        <p:grpSpPr>
          <a:xfrm>
            <a:off x="571500" y="5486400"/>
            <a:ext cx="11049000" cy="457200"/>
            <a:chOff x="571500" y="5486400"/>
            <a:chExt cx="11049000" cy="457200"/>
          </a:xfrm>
        </p:grpSpPr>
        <p:sp>
          <p:nvSpPr>
            <p:cNvPr id="40" name="Rectangle 40"/>
            <p:cNvSpPr/>
            <p:nvPr/>
          </p:nvSpPr>
          <p:spPr>
            <a:xfrm>
              <a:off x="571500" y="5486400"/>
              <a:ext cx="11049000" cy="457200"/>
            </a:xfrm>
            <a:prstGeom prst="roundRect">
              <a:avLst>
                <a:gd name="adj" fmla="val 33333"/>
              </a:avLst>
            </a:prstGeom>
            <a:solidFill>
              <a:srgbClr val="D6E6F9"/>
            </a:solidFill>
            <a:ln>
              <a:noFill/>
            </a:ln>
          </p:spPr>
          <p:txBody>
            <a:bodyPr/>
            <a:p/>
          </p:txBody>
        </p:sp>
        <p:sp>
          <p:nvSpPr>
            <p:cNvPr id="41" name="Rectangle 41"/>
            <p:cNvSpPr/>
            <p:nvPr/>
          </p:nvSpPr>
          <p:spPr>
            <a:xfrm>
              <a:off x="571500" y="5486400"/>
              <a:ext cx="76200" cy="457200"/>
            </a:xfrm>
            <a:prstGeom prst="roundRect">
              <a:avLst>
                <a:gd name="adj" fmla="val 50000"/>
              </a:avLst>
            </a:prstGeom>
            <a:solidFill>
              <a:srgbClr val="1565D8"/>
            </a:solidFill>
            <a:ln>
              <a:noFill/>
            </a:ln>
          </p:spPr>
          <p:txBody>
            <a:bodyPr/>
            <a:p/>
          </p:txBody>
        </p:sp>
        <p:sp>
          <p:nvSpPr>
            <p:cNvPr id="42" name="TextBox 42"/>
            <p:cNvSpPr txBox="1"/>
            <p:nvPr/>
          </p:nvSpPr>
          <p:spPr>
            <a:xfrm>
              <a:off x="859155" y="5635942"/>
              <a:ext cx="2869644" cy="27432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b="1" dirty="0">
                  <a:solidFill>
                    <a:srgbClr val="0B4EA2"/>
                  </a:solidFill>
                  <a:latin typeface="Arial"/>
                  <a:ea typeface="Microsoft YaHei"/>
                  <a:cs typeface="Arial"/>
                </a:rPr>
                <a:t>铁律：关键信息，必须自己核实。</a:t>
              </a:r>
            </a:p>
          </p:txBody>
        </p:sp>
      </p:grpSp>
      <p:grpSp>
        <p:nvGrpSpPr>
          <p:cNvPr id="46" name="Group 46"/>
          <p:cNvGrpSpPr/>
          <p:nvPr/>
        </p:nvGrpSpPr>
        <p:grpSpPr>
          <a:xfrm>
            <a:off x="560070" y="6341745"/>
            <a:ext cx="11071860" cy="182880"/>
            <a:chOff x="560070" y="6341745"/>
            <a:chExt cx="11071860" cy="182880"/>
          </a:xfrm>
        </p:grpSpPr>
        <p:sp>
          <p:nvSpPr>
            <p:cNvPr id="44" name="TextBox 44"/>
            <p:cNvSpPr txBox="1"/>
            <p:nvPr/>
          </p:nvSpPr>
          <p:spPr>
            <a:xfrm>
              <a:off x="560070" y="6341745"/>
              <a:ext cx="1054989" cy="18288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00" dirty="0">
                  <a:solidFill>
                    <a:srgbClr val="8B99AE"/>
                  </a:solidFill>
                  <a:latin typeface="Arial"/>
                  <a:ea typeface="Microsoft YaHei"/>
                  <a:cs typeface="Arial"/>
                </a:rPr>
                <a:t>大模型通识 · 企业版</a:t>
              </a:r>
            </a:p>
          </p:txBody>
        </p:sp>
        <p:sp>
          <p:nvSpPr>
            <p:cNvPr id="45" name="TextBox 45"/>
            <p:cNvSpPr txBox="1"/>
            <p:nvPr/>
          </p:nvSpPr>
          <p:spPr>
            <a:xfrm>
              <a:off x="11207020" y="6341745"/>
              <a:ext cx="424910" cy="18288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r"/>
              <a:r>
                <a:rPr lang="zh-CN" sz="900" dirty="0">
                  <a:solidFill>
                    <a:srgbClr val="8B99AE"/>
                  </a:solidFill>
                  <a:latin typeface="Arial"/>
                  <a:ea typeface="Microsoft YaHei"/>
                  <a:cs typeface="Arial"/>
                </a:rPr>
                <a:t>15 / 51</a:t>
              </a:r>
            </a:p>
          </p:txBody>
        </p:sp>
      </p:grpSp>
    </p:spTree>
  </p:cSld>
  <p:clrMapOvr>
    <a:masterClrMapping/>
  </p:clrMapOvr>
  <p:transition xmlns:p14="http://schemas.microsoft.com/office/powerpoint/2010/main" p14:dur="400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entr" presetSubtype="4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slide(fromBottom)">
                                      <p:cBhvr>
                                        <p:cTn id="7" dur="4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900"/>
                            </p:stCondLst>
                            <p:childTnLst>
                              <p:par>
                                <p:cTn id="9" presetID="2" presetClass="entr" presetSubtype="4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slide(fromBottom)">
                                      <p:cBhvr>
                                        <p:cTn id="11" dur="400"/>
                                        <p:tgtEl>
                                          <p:spTgt spid="3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2" fill="hold">
                            <p:stCondLst>
                              <p:cond delay="1800"/>
                            </p:stCondLst>
                            <p:childTnLst>
                              <p:par>
                                <p:cTn id="13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400"/>
                                        <p:tgtEl>
                                          <p:spTgt spid="4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4" grpId="0"/>
      <p:bldP spid="39" grpId="0"/>
      <p:bldP spid="43" grpId="0"/>
    </p:bldLst>
  </p:timing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grpSp>
        <p:nvGrpSpPr>
          <p:cNvPr id="5" name="Group 5"/>
          <p:cNvGrpSpPr/>
          <p:nvPr/>
        </p:nvGrpSpPr>
        <p:grpSpPr>
          <a:xfrm>
            <a:off x="-1619250" y="0"/>
            <a:ext cx="13811250" cy="8477250"/>
            <a:chOff x="-1619250" y="0"/>
            <a:chExt cx="13811250" cy="8477250"/>
          </a:xfrm>
        </p:grpSpPr>
        <p:sp>
          <p:nvSpPr>
            <p:cNvPr id="2" name="Rectangle 2"/>
            <p:cNvSpPr/>
            <p:nvPr/>
          </p:nvSpPr>
          <p:spPr>
            <a:xfrm>
              <a:off x="0" y="0"/>
              <a:ext cx="12192000" cy="6858000"/>
            </a:xfrm>
            <a:prstGeom prst="rect">
              <a:avLst/>
            </a:prstGeom>
            <a:solidFill>
              <a:srgbClr val="F5F7FA"/>
            </a:solidFill>
            <a:ln>
              <a:noFill/>
            </a:ln>
          </p:spPr>
          <p:txBody>
            <a:bodyPr/>
            <a:p/>
          </p:txBody>
        </p:sp>
        <p:sp>
          <p:nvSpPr>
            <p:cNvPr id="3" name="Rectangle 3"/>
            <p:cNvSpPr/>
            <p:nvPr/>
          </p:nvSpPr>
          <p:spPr>
            <a:xfrm>
              <a:off x="0" y="0"/>
              <a:ext cx="12192000" cy="6858000"/>
            </a:xfrm>
            <a:prstGeom prst="rect">
              <a:avLst/>
            </a:prstGeom>
            <a:gradFill>
              <a:gsLst>
                <a:gs pos="0">
                  <a:srgbClr val="1565D8">
                    <a:alpha val="6000"/>
                  </a:srgbClr>
                </a:gs>
                <a:gs pos="100000">
                  <a:srgbClr val="1565D8">
                    <a:alpha val="0"/>
                  </a:srgbClr>
                </a:gs>
              </a:gsLst>
              <a:path path="circle">
                <a:fillToRect l="50000" t="50000" r="50000" b="50000"/>
              </a:path>
            </a:gradFill>
            <a:ln>
              <a:noFill/>
            </a:ln>
          </p:spPr>
          <p:txBody>
            <a:bodyPr/>
            <a:p/>
          </p:txBody>
        </p:sp>
        <p:sp>
          <p:nvSpPr>
            <p:cNvPr id="4" name="Ellipse 4"/>
            <p:cNvSpPr/>
            <p:nvPr/>
          </p:nvSpPr>
          <p:spPr>
            <a:xfrm>
              <a:off x="-1619250" y="4667250"/>
              <a:ext cx="3810000" cy="3810000"/>
            </a:xfrm>
            <a:prstGeom prst="ellipse">
              <a:avLst/>
            </a:prstGeom>
            <a:noFill/>
            <a:ln w="14288">
              <a:solidFill>
                <a:srgbClr val="D6E6F9">
                  <a:alpha val="80000"/>
                </a:srgbClr>
              </a:solidFill>
            </a:ln>
          </p:spPr>
          <p:txBody>
            <a:bodyPr/>
            <a:p/>
          </p:txBody>
        </p:sp>
      </p:grpSp>
      <p:grpSp>
        <p:nvGrpSpPr>
          <p:cNvPr id="9" name="Group 9"/>
          <p:cNvGrpSpPr/>
          <p:nvPr/>
        </p:nvGrpSpPr>
        <p:grpSpPr>
          <a:xfrm>
            <a:off x="571500" y="685800"/>
            <a:ext cx="4044220" cy="700088"/>
            <a:chOff x="571500" y="685800"/>
            <a:chExt cx="4044220" cy="700088"/>
          </a:xfrm>
        </p:grpSpPr>
        <p:sp>
          <p:nvSpPr>
            <p:cNvPr id="6" name="Rectangle 6"/>
            <p:cNvSpPr/>
            <p:nvPr/>
          </p:nvSpPr>
          <p:spPr>
            <a:xfrm>
              <a:off x="571500" y="685800"/>
              <a:ext cx="76200" cy="323850"/>
            </a:xfrm>
            <a:prstGeom prst="roundRect">
              <a:avLst>
                <a:gd name="adj" fmla="val 50000"/>
              </a:avLst>
            </a:prstGeom>
            <a:solidFill>
              <a:srgbClr val="1565D8"/>
            </a:solidFill>
            <a:ln>
              <a:noFill/>
            </a:ln>
          </p:spPr>
          <p:txBody>
            <a:bodyPr/>
            <a:p/>
          </p:txBody>
        </p:sp>
        <p:sp>
          <p:nvSpPr>
            <p:cNvPr id="7" name="TextBox 7"/>
            <p:cNvSpPr txBox="1"/>
            <p:nvPr/>
          </p:nvSpPr>
          <p:spPr>
            <a:xfrm>
              <a:off x="771525" y="700088"/>
              <a:ext cx="2262426" cy="45720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2250" b="1" dirty="0">
                  <a:solidFill>
                    <a:srgbClr val="2B3648"/>
                  </a:solidFill>
                  <a:latin typeface="Arial"/>
                  <a:ea typeface="Microsoft YaHei"/>
                  <a:cs typeface="Arial"/>
                </a:rPr>
                <a:t>AI 大脑有多大</a:t>
              </a:r>
            </a:p>
          </p:txBody>
        </p:sp>
        <p:sp>
          <p:nvSpPr>
            <p:cNvPr id="8" name="TextBox 8"/>
            <p:cNvSpPr txBox="1"/>
            <p:nvPr/>
          </p:nvSpPr>
          <p:spPr>
            <a:xfrm>
              <a:off x="782955" y="1111568"/>
              <a:ext cx="3832765" cy="27432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5B6B82"/>
                  </a:solidFill>
                  <a:latin typeface="Arial"/>
                  <a:ea typeface="Microsoft YaHei"/>
                  <a:cs typeface="Arial"/>
                </a:rPr>
                <a:t>B = 十亿，T = 万亿——2026 年的模型，装了多少知识？</a:t>
              </a:r>
            </a:p>
          </p:txBody>
        </p:sp>
      </p:grpSp>
      <p:grpSp>
        <p:nvGrpSpPr>
          <p:cNvPr id="50" name="Group 50"/>
          <p:cNvGrpSpPr/>
          <p:nvPr/>
        </p:nvGrpSpPr>
        <p:grpSpPr>
          <a:xfrm>
            <a:off x="484227" y="1619250"/>
            <a:ext cx="11136273" cy="2857500"/>
            <a:chOff x="484227" y="1619250"/>
            <a:chExt cx="11136273" cy="2857500"/>
          </a:xfrm>
        </p:grpSpPr>
        <p:grpSp>
          <p:nvGrpSpPr>
            <p:cNvPr id="17" name="Group 17"/>
            <p:cNvGrpSpPr/>
            <p:nvPr/>
          </p:nvGrpSpPr>
          <p:grpSpPr>
            <a:xfrm>
              <a:off x="484227" y="1619250"/>
              <a:ext cx="2231946" cy="2857500"/>
              <a:chOff x="484227" y="1619250"/>
              <a:chExt cx="2231946" cy="2857500"/>
            </a:xfrm>
          </p:grpSpPr>
          <p:sp>
            <p:nvSpPr>
              <p:cNvPr id="10" name="Rectangle 10"/>
              <p:cNvSpPr/>
              <p:nvPr/>
            </p:nvSpPr>
            <p:spPr>
              <a:xfrm>
                <a:off x="571500" y="1619250"/>
                <a:ext cx="2057400" cy="2857500"/>
              </a:xfrm>
              <a:prstGeom prst="roundRect">
                <a:avLst>
                  <a:gd name="adj" fmla="val 7407"/>
                </a:avLst>
              </a:prstGeom>
              <a:solidFill>
                <a:srgbClr val="FFFFFF"/>
              </a:solidFill>
              <a:ln w="9525">
                <a:solidFill>
                  <a:srgbClr val="D8E1EC"/>
                </a:solidFill>
              </a:ln>
            </p:spPr>
            <p:txBody>
              <a:bodyPr/>
              <a:p/>
            </p:txBody>
          </p:sp>
          <p:sp>
            <p:nvSpPr>
              <p:cNvPr id="11" name="TextBox 11"/>
              <p:cNvSpPr txBox="1"/>
              <p:nvPr/>
            </p:nvSpPr>
            <p:spPr>
              <a:xfrm>
                <a:off x="1119092" y="1895475"/>
                <a:ext cx="962216" cy="3048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ctr"/>
                <a:r>
                  <a:rPr lang="zh-CN" sz="1500" b="1" dirty="0">
                    <a:solidFill>
                      <a:srgbClr val="2B3648"/>
                    </a:solidFill>
                    <a:latin typeface="Arial"/>
                    <a:ea typeface="Microsoft YaHei"/>
                    <a:cs typeface="Arial"/>
                  </a:rPr>
                  <a:t>7B</a:t>
                </a:r>
              </a:p>
            </p:txBody>
          </p:sp>
          <p:sp>
            <p:nvSpPr>
              <p:cNvPr id="12" name="TextBox 12"/>
              <p:cNvSpPr txBox="1"/>
              <p:nvPr/>
            </p:nvSpPr>
            <p:spPr>
              <a:xfrm>
                <a:off x="1096804" y="2286952"/>
                <a:ext cx="1006792" cy="21336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ctr"/>
                <a:r>
                  <a:rPr lang="zh-CN" sz="1050" dirty="0">
                    <a:solidFill>
                      <a:srgbClr val="5B6B82"/>
                    </a:solidFill>
                    <a:latin typeface="Arial"/>
                    <a:ea typeface="Microsoft YaHei"/>
                    <a:cs typeface="Arial"/>
                  </a:rPr>
                  <a:t>70 亿参数，</a:t>
                </a:r>
              </a:p>
            </p:txBody>
          </p:sp>
          <p:sp>
            <p:nvSpPr>
              <p:cNvPr id="13" name="TextBox 13"/>
              <p:cNvSpPr txBox="1"/>
              <p:nvPr/>
            </p:nvSpPr>
            <p:spPr>
              <a:xfrm>
                <a:off x="1166812" y="2515552"/>
                <a:ext cx="866775" cy="21336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ctr"/>
                <a:r>
                  <a:rPr lang="zh-CN" sz="1050" dirty="0">
                    <a:solidFill>
                      <a:srgbClr val="5B6B82"/>
                    </a:solidFill>
                    <a:latin typeface="Arial"/>
                    <a:ea typeface="Microsoft YaHei"/>
                    <a:cs typeface="Arial"/>
                  </a:rPr>
                  <a:t>手机就能跑</a:t>
                </a:r>
              </a:p>
            </p:txBody>
          </p:sp>
          <p:sp>
            <p:nvSpPr>
              <p:cNvPr id="14" name="Rectangle 14"/>
              <p:cNvSpPr/>
              <p:nvPr/>
            </p:nvSpPr>
            <p:spPr>
              <a:xfrm>
                <a:off x="800100" y="2857500"/>
                <a:ext cx="1600200" cy="285750"/>
              </a:xfrm>
              <a:prstGeom prst="roundRect">
                <a:avLst>
                  <a:gd name="adj" fmla="val 50000"/>
                </a:avLst>
              </a:prstGeom>
              <a:solidFill>
                <a:srgbClr val="D6E6F9"/>
              </a:solidFill>
              <a:ln>
                <a:noFill/>
              </a:ln>
            </p:spPr>
            <p:txBody>
              <a:bodyPr/>
              <a:p/>
            </p:txBody>
          </p:sp>
          <p:sp>
            <p:nvSpPr>
              <p:cNvPr id="15" name="TextBox 15"/>
              <p:cNvSpPr txBox="1"/>
              <p:nvPr/>
            </p:nvSpPr>
            <p:spPr>
              <a:xfrm>
                <a:off x="484227" y="2944178"/>
                <a:ext cx="2231946" cy="21336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ctr"/>
                <a:r>
                  <a:rPr lang="zh-CN" sz="1050" b="1" dirty="0">
                    <a:solidFill>
                      <a:srgbClr val="0B4EA2"/>
                    </a:solidFill>
                    <a:latin typeface="Arial"/>
                    <a:ea typeface="Microsoft YaHei"/>
                    <a:cs typeface="Arial"/>
                  </a:rPr>
                  <a:t>日常问答、轻任务够用</a:t>
                </a:r>
              </a:p>
            </p:txBody>
          </p:sp>
          <p:sp>
            <p:nvSpPr>
              <p:cNvPr id="16" name="TextBox 16"/>
              <p:cNvSpPr txBox="1"/>
              <p:nvPr/>
            </p:nvSpPr>
            <p:spPr>
              <a:xfrm>
                <a:off x="886778" y="3429952"/>
                <a:ext cx="1426845" cy="21336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ctr"/>
                <a:r>
                  <a:rPr lang="zh-CN" sz="1050" dirty="0">
                    <a:solidFill>
                      <a:srgbClr val="8B99AE"/>
                    </a:solidFill>
                    <a:latin typeface="Arial"/>
                    <a:ea typeface="Microsoft YaHei"/>
                    <a:cs typeface="Arial"/>
                  </a:rPr>
                  <a:t>入门：先感受 AI 的边界</a:t>
                </a:r>
              </a:p>
            </p:txBody>
          </p:sp>
        </p:grpSp>
        <p:grpSp>
          <p:nvGrpSpPr>
            <p:cNvPr id="25" name="Group 25"/>
            <p:cNvGrpSpPr/>
            <p:nvPr/>
          </p:nvGrpSpPr>
          <p:grpSpPr>
            <a:xfrm>
              <a:off x="2819400" y="1619250"/>
              <a:ext cx="2057400" cy="2857500"/>
              <a:chOff x="2819400" y="1619250"/>
              <a:chExt cx="2057400" cy="2857500"/>
            </a:xfrm>
          </p:grpSpPr>
          <p:sp>
            <p:nvSpPr>
              <p:cNvPr id="18" name="Rectangle 18"/>
              <p:cNvSpPr/>
              <p:nvPr/>
            </p:nvSpPr>
            <p:spPr>
              <a:xfrm>
                <a:off x="2819400" y="1619250"/>
                <a:ext cx="2057400" cy="2857500"/>
              </a:xfrm>
              <a:prstGeom prst="roundRect">
                <a:avLst>
                  <a:gd name="adj" fmla="val 7407"/>
                </a:avLst>
              </a:prstGeom>
              <a:solidFill>
                <a:srgbClr val="FFFFFF"/>
              </a:solidFill>
              <a:ln w="9525">
                <a:solidFill>
                  <a:srgbClr val="D8E1EC"/>
                </a:solidFill>
              </a:ln>
            </p:spPr>
            <p:txBody>
              <a:bodyPr/>
              <a:p/>
            </p:txBody>
          </p:sp>
          <p:sp>
            <p:nvSpPr>
              <p:cNvPr id="19" name="TextBox 19"/>
              <p:cNvSpPr txBox="1"/>
              <p:nvPr/>
            </p:nvSpPr>
            <p:spPr>
              <a:xfrm>
                <a:off x="3629525" y="1895475"/>
                <a:ext cx="437150" cy="3048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ctr"/>
                <a:r>
                  <a:rPr lang="zh-CN" sz="1500" b="1" dirty="0">
                    <a:solidFill>
                      <a:srgbClr val="2B3648"/>
                    </a:solidFill>
                    <a:latin typeface="Arial"/>
                    <a:ea typeface="Microsoft YaHei"/>
                    <a:cs typeface="Arial"/>
                  </a:rPr>
                  <a:t>70B</a:t>
                </a:r>
              </a:p>
            </p:txBody>
          </p:sp>
          <p:sp>
            <p:nvSpPr>
              <p:cNvPr id="20" name="TextBox 20"/>
              <p:cNvSpPr txBox="1"/>
              <p:nvPr/>
            </p:nvSpPr>
            <p:spPr>
              <a:xfrm>
                <a:off x="3274695" y="2286952"/>
                <a:ext cx="1146810" cy="21336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ctr"/>
                <a:r>
                  <a:rPr lang="zh-CN" sz="1050" dirty="0">
                    <a:solidFill>
                      <a:srgbClr val="5B6B82"/>
                    </a:solidFill>
                    <a:latin typeface="Arial"/>
                    <a:ea typeface="Microsoft YaHei"/>
                    <a:cs typeface="Arial"/>
                  </a:rPr>
                  <a:t>700 亿参数，</a:t>
                </a:r>
              </a:p>
            </p:txBody>
          </p:sp>
          <p:sp>
            <p:nvSpPr>
              <p:cNvPr id="21" name="TextBox 21"/>
              <p:cNvSpPr txBox="1"/>
              <p:nvPr/>
            </p:nvSpPr>
            <p:spPr>
              <a:xfrm>
                <a:off x="3190684" y="2515552"/>
                <a:ext cx="1314831" cy="21336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ctr"/>
                <a:r>
                  <a:rPr lang="zh-CN" sz="1050" dirty="0">
                    <a:solidFill>
                      <a:srgbClr val="5B6B82"/>
                    </a:solidFill>
                    <a:latin typeface="Arial"/>
                    <a:ea typeface="Microsoft YaHei"/>
                    <a:cs typeface="Arial"/>
                  </a:rPr>
                  <a:t>一张高端显卡</a:t>
                </a:r>
              </a:p>
            </p:txBody>
          </p:sp>
          <p:sp>
            <p:nvSpPr>
              <p:cNvPr id="22" name="Rectangle 22"/>
              <p:cNvSpPr/>
              <p:nvPr/>
            </p:nvSpPr>
            <p:spPr>
              <a:xfrm>
                <a:off x="3048000" y="2857500"/>
                <a:ext cx="1600200" cy="285750"/>
              </a:xfrm>
              <a:prstGeom prst="roundRect">
                <a:avLst>
                  <a:gd name="adj" fmla="val 50000"/>
                </a:avLst>
              </a:prstGeom>
              <a:solidFill>
                <a:srgbClr val="D6E6F9"/>
              </a:solidFill>
              <a:ln>
                <a:noFill/>
              </a:ln>
            </p:spPr>
            <p:txBody>
              <a:bodyPr/>
              <a:p/>
            </p:txBody>
          </p:sp>
          <p:sp>
            <p:nvSpPr>
              <p:cNvPr id="23" name="TextBox 23"/>
              <p:cNvSpPr txBox="1"/>
              <p:nvPr/>
            </p:nvSpPr>
            <p:spPr>
              <a:xfrm>
                <a:off x="2879146" y="2944178"/>
                <a:ext cx="1937909" cy="21336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ctr"/>
                <a:r>
                  <a:rPr lang="zh-CN" sz="1050" b="1" dirty="0">
                    <a:solidFill>
                      <a:srgbClr val="0B4EA2"/>
                    </a:solidFill>
                    <a:latin typeface="Arial"/>
                    <a:ea typeface="Microsoft YaHei"/>
                    <a:cs typeface="Arial"/>
                  </a:rPr>
                  <a:t>企业私有化部署的入门线</a:t>
                </a:r>
              </a:p>
            </p:txBody>
          </p:sp>
          <p:sp>
            <p:nvSpPr>
              <p:cNvPr id="24" name="TextBox 24"/>
              <p:cNvSpPr txBox="1"/>
              <p:nvPr/>
            </p:nvSpPr>
            <p:spPr>
              <a:xfrm>
                <a:off x="3064669" y="3429952"/>
                <a:ext cx="1566863" cy="21336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ctr"/>
                <a:r>
                  <a:rPr lang="zh-CN" sz="1050" dirty="0">
                    <a:solidFill>
                      <a:srgbClr val="8B99AE"/>
                    </a:solidFill>
                    <a:latin typeface="Arial"/>
                    <a:ea typeface="Microsoft YaHei"/>
                    <a:cs typeface="Arial"/>
                  </a:rPr>
                  <a:t>量化 Q4 后约 40GB 内存</a:t>
                </a:r>
              </a:p>
            </p:txBody>
          </p:sp>
        </p:grpSp>
        <p:grpSp>
          <p:nvGrpSpPr>
            <p:cNvPr id="33" name="Group 33"/>
            <p:cNvGrpSpPr/>
            <p:nvPr/>
          </p:nvGrpSpPr>
          <p:grpSpPr>
            <a:xfrm>
              <a:off x="5067300" y="1619250"/>
              <a:ext cx="2057400" cy="2857500"/>
              <a:chOff x="5067300" y="1619250"/>
              <a:chExt cx="2057400" cy="2857500"/>
            </a:xfrm>
          </p:grpSpPr>
          <p:sp>
            <p:nvSpPr>
              <p:cNvPr id="26" name="Rectangle 26"/>
              <p:cNvSpPr/>
              <p:nvPr/>
            </p:nvSpPr>
            <p:spPr>
              <a:xfrm>
                <a:off x="5067300" y="1619250"/>
                <a:ext cx="2057400" cy="2857500"/>
              </a:xfrm>
              <a:prstGeom prst="roundRect">
                <a:avLst>
                  <a:gd name="adj" fmla="val 7407"/>
                </a:avLst>
              </a:prstGeom>
              <a:solidFill>
                <a:srgbClr val="FFFFFF"/>
              </a:solidFill>
              <a:ln w="9525">
                <a:solidFill>
                  <a:srgbClr val="D8E1EC"/>
                </a:solidFill>
              </a:ln>
            </p:spPr>
            <p:txBody>
              <a:bodyPr/>
              <a:p/>
            </p:txBody>
          </p:sp>
          <p:sp>
            <p:nvSpPr>
              <p:cNvPr id="27" name="TextBox 27"/>
              <p:cNvSpPr txBox="1"/>
              <p:nvPr/>
            </p:nvSpPr>
            <p:spPr>
              <a:xfrm>
                <a:off x="5866924" y="1895475"/>
                <a:ext cx="458152" cy="3048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ctr"/>
                <a:r>
                  <a:rPr lang="zh-CN" sz="1500" b="1" dirty="0">
                    <a:solidFill>
                      <a:srgbClr val="2B3648"/>
                    </a:solidFill>
                    <a:latin typeface="Arial"/>
                    <a:ea typeface="Microsoft YaHei"/>
                    <a:cs typeface="Arial"/>
                  </a:rPr>
                  <a:t>754</a:t>
                </a:r>
              </a:p>
            </p:txBody>
          </p:sp>
          <p:sp>
            <p:nvSpPr>
              <p:cNvPr id="28" name="TextBox 28"/>
              <p:cNvSpPr txBox="1"/>
              <p:nvPr/>
            </p:nvSpPr>
            <p:spPr>
              <a:xfrm>
                <a:off x="5442085" y="2286952"/>
                <a:ext cx="1307830" cy="21336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ctr"/>
                <a:r>
                  <a:rPr lang="zh-CN" sz="1050" dirty="0">
                    <a:solidFill>
                      <a:srgbClr val="5B6B82"/>
                    </a:solidFill>
                    <a:latin typeface="Arial"/>
                    <a:ea typeface="Microsoft YaHei"/>
                    <a:cs typeface="Arial"/>
                  </a:rPr>
                  <a:t>754B（GLM-5.2）</a:t>
                </a:r>
              </a:p>
            </p:txBody>
          </p:sp>
          <p:sp>
            <p:nvSpPr>
              <p:cNvPr id="29" name="TextBox 29"/>
              <p:cNvSpPr txBox="1"/>
              <p:nvPr/>
            </p:nvSpPr>
            <p:spPr>
              <a:xfrm>
                <a:off x="5802630" y="2515552"/>
                <a:ext cx="586740" cy="21336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ctr"/>
                <a:r>
                  <a:rPr lang="zh-CN" sz="1050" dirty="0">
                    <a:solidFill>
                      <a:srgbClr val="5B6B82"/>
                    </a:solidFill>
                    <a:latin typeface="Arial"/>
                    <a:ea typeface="Microsoft YaHei"/>
                    <a:cs typeface="Arial"/>
                  </a:rPr>
                  <a:t>25GB 能跑</a:t>
                </a:r>
              </a:p>
            </p:txBody>
          </p:sp>
          <p:sp>
            <p:nvSpPr>
              <p:cNvPr id="30" name="Rectangle 30"/>
              <p:cNvSpPr/>
              <p:nvPr/>
            </p:nvSpPr>
            <p:spPr>
              <a:xfrm>
                <a:off x="5295900" y="2857500"/>
                <a:ext cx="1600200" cy="285750"/>
              </a:xfrm>
              <a:prstGeom prst="roundRect">
                <a:avLst>
                  <a:gd name="adj" fmla="val 50000"/>
                </a:avLst>
              </a:prstGeom>
              <a:solidFill>
                <a:srgbClr val="D6E6F9"/>
              </a:solidFill>
              <a:ln>
                <a:noFill/>
              </a:ln>
            </p:spPr>
            <p:txBody>
              <a:bodyPr/>
              <a:p/>
            </p:txBody>
          </p:sp>
          <p:sp>
            <p:nvSpPr>
              <p:cNvPr id="31" name="TextBox 31"/>
              <p:cNvSpPr txBox="1"/>
              <p:nvPr/>
            </p:nvSpPr>
            <p:spPr>
              <a:xfrm>
                <a:off x="5127046" y="2944178"/>
                <a:ext cx="1937909" cy="21336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ctr"/>
                <a:r>
                  <a:rPr lang="zh-CN" sz="1050" b="1" dirty="0">
                    <a:solidFill>
                      <a:srgbClr val="0B4EA2"/>
                    </a:solidFill>
                    <a:latin typeface="Arial"/>
                    <a:ea typeface="Microsoft YaHei"/>
                    <a:cs typeface="Arial"/>
                  </a:rPr>
                  <a:t>MoE + 稀疏注意力省下的</a:t>
                </a:r>
              </a:p>
            </p:txBody>
          </p:sp>
          <p:sp>
            <p:nvSpPr>
              <p:cNvPr id="32" name="TextBox 32"/>
              <p:cNvSpPr txBox="1"/>
              <p:nvPr/>
            </p:nvSpPr>
            <p:spPr>
              <a:xfrm>
                <a:off x="5316069" y="3429952"/>
                <a:ext cx="1559862" cy="21336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ctr"/>
                <a:r>
                  <a:rPr lang="zh-CN" sz="1050" dirty="0">
                    <a:solidFill>
                      <a:srgbClr val="8B99AE"/>
                    </a:solidFill>
                    <a:latin typeface="Arial"/>
                    <a:ea typeface="Microsoft YaHei"/>
                    <a:cs typeface="Arial"/>
                  </a:rPr>
                  <a:t>MIT 开源，免费本地用</a:t>
                </a:r>
              </a:p>
            </p:txBody>
          </p:sp>
        </p:grpSp>
        <p:grpSp>
          <p:nvGrpSpPr>
            <p:cNvPr id="41" name="Group 41"/>
            <p:cNvGrpSpPr/>
            <p:nvPr/>
          </p:nvGrpSpPr>
          <p:grpSpPr>
            <a:xfrm>
              <a:off x="7227927" y="1619250"/>
              <a:ext cx="2231946" cy="2857500"/>
              <a:chOff x="7227927" y="1619250"/>
              <a:chExt cx="2231946" cy="2857500"/>
            </a:xfrm>
          </p:grpSpPr>
          <p:sp>
            <p:nvSpPr>
              <p:cNvPr id="34" name="Rectangle 34"/>
              <p:cNvSpPr/>
              <p:nvPr/>
            </p:nvSpPr>
            <p:spPr>
              <a:xfrm>
                <a:off x="7315200" y="1619250"/>
                <a:ext cx="2057400" cy="2857500"/>
              </a:xfrm>
              <a:prstGeom prst="roundRect">
                <a:avLst>
                  <a:gd name="adj" fmla="val 7407"/>
                </a:avLst>
              </a:prstGeom>
              <a:solidFill>
                <a:srgbClr val="FFFFFF"/>
              </a:solidFill>
              <a:ln w="9525">
                <a:solidFill>
                  <a:srgbClr val="D8E1EC"/>
                </a:solidFill>
              </a:ln>
            </p:spPr>
            <p:txBody>
              <a:bodyPr/>
              <a:p/>
            </p:txBody>
          </p:sp>
          <p:sp>
            <p:nvSpPr>
              <p:cNvPr id="35" name="TextBox 35"/>
              <p:cNvSpPr txBox="1"/>
              <p:nvPr/>
            </p:nvSpPr>
            <p:spPr>
              <a:xfrm>
                <a:off x="7904798" y="1895475"/>
                <a:ext cx="878205" cy="3048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ctr"/>
                <a:r>
                  <a:rPr lang="zh-CN" sz="1500" b="1" dirty="0">
                    <a:solidFill>
                      <a:srgbClr val="2B3648"/>
                    </a:solidFill>
                    <a:latin typeface="Arial"/>
                    <a:ea typeface="Microsoft YaHei"/>
                    <a:cs typeface="Arial"/>
                  </a:rPr>
                  <a:t>1.6T</a:t>
                </a:r>
              </a:p>
            </p:txBody>
          </p:sp>
          <p:sp>
            <p:nvSpPr>
              <p:cNvPr id="36" name="TextBox 36"/>
              <p:cNvSpPr txBox="1"/>
              <p:nvPr/>
            </p:nvSpPr>
            <p:spPr>
              <a:xfrm>
                <a:off x="7700486" y="2286952"/>
                <a:ext cx="1286828" cy="21336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ctr"/>
                <a:r>
                  <a:rPr lang="zh-CN" sz="1050" dirty="0">
                    <a:solidFill>
                      <a:srgbClr val="5B6B82"/>
                    </a:solidFill>
                    <a:latin typeface="Arial"/>
                    <a:ea typeface="Microsoft YaHei"/>
                    <a:cs typeface="Arial"/>
                  </a:rPr>
                  <a:t>DeepSeek V4</a:t>
                </a:r>
              </a:p>
            </p:txBody>
          </p:sp>
          <p:sp>
            <p:nvSpPr>
              <p:cNvPr id="37" name="TextBox 37"/>
              <p:cNvSpPr txBox="1"/>
              <p:nvPr/>
            </p:nvSpPr>
            <p:spPr>
              <a:xfrm>
                <a:off x="8050530" y="2515552"/>
                <a:ext cx="586740" cy="21336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ctr"/>
                <a:r>
                  <a:rPr lang="zh-CN" sz="1050" dirty="0">
                    <a:solidFill>
                      <a:srgbClr val="5B6B82"/>
                    </a:solidFill>
                    <a:latin typeface="Arial"/>
                    <a:ea typeface="Microsoft YaHei"/>
                    <a:cs typeface="Arial"/>
                  </a:rPr>
                  <a:t>万人医院</a:t>
                </a:r>
              </a:p>
            </p:txBody>
          </p:sp>
          <p:sp>
            <p:nvSpPr>
              <p:cNvPr id="38" name="Rectangle 38"/>
              <p:cNvSpPr/>
              <p:nvPr/>
            </p:nvSpPr>
            <p:spPr>
              <a:xfrm>
                <a:off x="7543800" y="2857500"/>
                <a:ext cx="1600200" cy="285750"/>
              </a:xfrm>
              <a:prstGeom prst="roundRect">
                <a:avLst>
                  <a:gd name="adj" fmla="val 50000"/>
                </a:avLst>
              </a:prstGeom>
              <a:solidFill>
                <a:srgbClr val="D6E6F9"/>
              </a:solidFill>
              <a:ln>
                <a:noFill/>
              </a:ln>
            </p:spPr>
            <p:txBody>
              <a:bodyPr/>
              <a:p/>
            </p:txBody>
          </p:sp>
          <p:sp>
            <p:nvSpPr>
              <p:cNvPr id="39" name="TextBox 39"/>
              <p:cNvSpPr txBox="1"/>
              <p:nvPr/>
            </p:nvSpPr>
            <p:spPr>
              <a:xfrm>
                <a:off x="7227927" y="2944178"/>
                <a:ext cx="2231946" cy="21336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ctr"/>
                <a:r>
                  <a:rPr lang="zh-CN" sz="1050" b="1" dirty="0">
                    <a:solidFill>
                      <a:srgbClr val="0B4EA2"/>
                    </a:solidFill>
                    <a:latin typeface="Arial"/>
                    <a:ea typeface="Microsoft YaHei"/>
                    <a:cs typeface="Arial"/>
                  </a:rPr>
                  <a:t>每次只派 49B「出诊」</a:t>
                </a:r>
              </a:p>
            </p:txBody>
          </p:sp>
          <p:sp>
            <p:nvSpPr>
              <p:cNvPr id="40" name="TextBox 40"/>
              <p:cNvSpPr txBox="1"/>
              <p:nvPr/>
            </p:nvSpPr>
            <p:spPr>
              <a:xfrm>
                <a:off x="7630478" y="3429952"/>
                <a:ext cx="1426845" cy="21336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ctr"/>
                <a:r>
                  <a:rPr lang="zh-CN" sz="1050" dirty="0">
                    <a:solidFill>
                      <a:srgbClr val="8B99AE"/>
                    </a:solidFill>
                    <a:latin typeface="Arial"/>
                    <a:ea typeface="Microsoft YaHei"/>
                    <a:cs typeface="Arial"/>
                  </a:rPr>
                  <a:t>又大又便宜的秘密</a:t>
                </a:r>
              </a:p>
            </p:txBody>
          </p:sp>
        </p:grpSp>
        <p:grpSp>
          <p:nvGrpSpPr>
            <p:cNvPr id="49" name="Group 49"/>
            <p:cNvGrpSpPr/>
            <p:nvPr/>
          </p:nvGrpSpPr>
          <p:grpSpPr>
            <a:xfrm>
              <a:off x="9563100" y="1619250"/>
              <a:ext cx="2057400" cy="2857500"/>
              <a:chOff x="9563100" y="1619250"/>
              <a:chExt cx="2057400" cy="2857500"/>
            </a:xfrm>
          </p:grpSpPr>
          <p:sp>
            <p:nvSpPr>
              <p:cNvPr id="42" name="Rectangle 42"/>
              <p:cNvSpPr/>
              <p:nvPr/>
            </p:nvSpPr>
            <p:spPr>
              <a:xfrm>
                <a:off x="9563100" y="1619250"/>
                <a:ext cx="2057400" cy="2857500"/>
              </a:xfrm>
              <a:prstGeom prst="roundRect">
                <a:avLst>
                  <a:gd name="adj" fmla="val 7407"/>
                </a:avLst>
              </a:prstGeom>
              <a:solidFill>
                <a:srgbClr val="FFFFFF"/>
              </a:solidFill>
              <a:ln w="9525">
                <a:solidFill>
                  <a:srgbClr val="D8E1EC"/>
                </a:solidFill>
              </a:ln>
            </p:spPr>
            <p:txBody>
              <a:bodyPr/>
              <a:p/>
            </p:txBody>
          </p:sp>
          <p:sp>
            <p:nvSpPr>
              <p:cNvPr id="43" name="TextBox 43"/>
              <p:cNvSpPr txBox="1"/>
              <p:nvPr/>
            </p:nvSpPr>
            <p:spPr>
              <a:xfrm>
                <a:off x="10031932" y="1895475"/>
                <a:ext cx="1119735" cy="3048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ctr"/>
                <a:r>
                  <a:rPr lang="zh-CN" sz="1500" b="1" dirty="0">
                    <a:solidFill>
                      <a:srgbClr val="2B3648"/>
                    </a:solidFill>
                    <a:latin typeface="Arial"/>
                    <a:ea typeface="Microsoft YaHei"/>
                    <a:cs typeface="Arial"/>
                  </a:rPr>
                  <a:t>2.8T</a:t>
                </a:r>
              </a:p>
            </p:txBody>
          </p:sp>
          <p:sp>
            <p:nvSpPr>
              <p:cNvPr id="44" name="TextBox 44"/>
              <p:cNvSpPr txBox="1"/>
              <p:nvPr/>
            </p:nvSpPr>
            <p:spPr>
              <a:xfrm>
                <a:off x="10228421" y="2286952"/>
                <a:ext cx="726758" cy="21336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ctr"/>
                <a:r>
                  <a:rPr lang="zh-CN" sz="1050" dirty="0">
                    <a:solidFill>
                      <a:srgbClr val="5B6B82"/>
                    </a:solidFill>
                    <a:latin typeface="Arial"/>
                    <a:ea typeface="Microsoft YaHei"/>
                    <a:cs typeface="Arial"/>
                  </a:rPr>
                  <a:t>Kimi K3</a:t>
                </a:r>
              </a:p>
            </p:txBody>
          </p:sp>
          <p:sp>
            <p:nvSpPr>
              <p:cNvPr id="45" name="TextBox 45"/>
              <p:cNvSpPr txBox="1"/>
              <p:nvPr/>
            </p:nvSpPr>
            <p:spPr>
              <a:xfrm>
                <a:off x="10088404" y="2515552"/>
                <a:ext cx="1006792" cy="21336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ctr"/>
                <a:r>
                  <a:rPr lang="zh-CN" sz="1050" dirty="0">
                    <a:solidFill>
                      <a:srgbClr val="5B6B82"/>
                    </a:solidFill>
                    <a:latin typeface="Arial"/>
                    <a:ea typeface="Microsoft YaHei"/>
                    <a:cs typeface="Arial"/>
                  </a:rPr>
                  <a:t>开源阵营最大</a:t>
                </a:r>
              </a:p>
            </p:txBody>
          </p:sp>
          <p:sp>
            <p:nvSpPr>
              <p:cNvPr id="46" name="Rectangle 46"/>
              <p:cNvSpPr/>
              <p:nvPr/>
            </p:nvSpPr>
            <p:spPr>
              <a:xfrm>
                <a:off x="9791700" y="2857500"/>
                <a:ext cx="1600200" cy="285750"/>
              </a:xfrm>
              <a:prstGeom prst="roundRect">
                <a:avLst>
                  <a:gd name="adj" fmla="val 50000"/>
                </a:avLst>
              </a:prstGeom>
              <a:solidFill>
                <a:srgbClr val="D6E6F9"/>
              </a:solidFill>
              <a:ln>
                <a:noFill/>
              </a:ln>
            </p:spPr>
            <p:txBody>
              <a:bodyPr/>
              <a:p/>
            </p:txBody>
          </p:sp>
          <p:sp>
            <p:nvSpPr>
              <p:cNvPr id="47" name="TextBox 47"/>
              <p:cNvSpPr txBox="1"/>
              <p:nvPr/>
            </p:nvSpPr>
            <p:spPr>
              <a:xfrm>
                <a:off x="9769864" y="2944178"/>
                <a:ext cx="1643872" cy="21336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ctr"/>
                <a:r>
                  <a:rPr lang="zh-CN" sz="1050" b="1" dirty="0">
                    <a:solidFill>
                      <a:srgbClr val="0B4EA2"/>
                    </a:solidFill>
                    <a:latin typeface="Arial"/>
                    <a:ea typeface="Microsoft YaHei"/>
                    <a:cs typeface="Arial"/>
                  </a:rPr>
                  <a:t>896 个「科室」按需启用</a:t>
                </a:r>
              </a:p>
            </p:txBody>
          </p:sp>
          <p:sp>
            <p:nvSpPr>
              <p:cNvPr id="48" name="TextBox 48"/>
              <p:cNvSpPr txBox="1"/>
              <p:nvPr/>
            </p:nvSpPr>
            <p:spPr>
              <a:xfrm>
                <a:off x="9948386" y="3429952"/>
                <a:ext cx="1286828" cy="21336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ctr"/>
                <a:r>
                  <a:rPr lang="zh-CN" sz="1050" dirty="0">
                    <a:solidFill>
                      <a:srgbClr val="8B99AE"/>
                    </a:solidFill>
                    <a:latin typeface="Arial"/>
                    <a:ea typeface="Microsoft YaHei"/>
                    <a:cs typeface="Arial"/>
                  </a:rPr>
                  <a:t>智能指数国产第 1</a:t>
                </a:r>
              </a:p>
            </p:txBody>
          </p:sp>
        </p:grpSp>
      </p:grpSp>
      <p:grpSp>
        <p:nvGrpSpPr>
          <p:cNvPr id="55" name="Group 55"/>
          <p:cNvGrpSpPr/>
          <p:nvPr/>
        </p:nvGrpSpPr>
        <p:grpSpPr>
          <a:xfrm>
            <a:off x="571500" y="4724400"/>
            <a:ext cx="11049000" cy="838200"/>
            <a:chOff x="571500" y="4724400"/>
            <a:chExt cx="11049000" cy="838200"/>
          </a:xfrm>
        </p:grpSpPr>
        <p:sp>
          <p:nvSpPr>
            <p:cNvPr id="51" name="Rectangle 51"/>
            <p:cNvSpPr/>
            <p:nvPr/>
          </p:nvSpPr>
          <p:spPr>
            <a:xfrm>
              <a:off x="571500" y="4724400"/>
              <a:ext cx="11049000" cy="838200"/>
            </a:xfrm>
            <a:prstGeom prst="roundRect">
              <a:avLst>
                <a:gd name="adj" fmla="val 18182"/>
              </a:avLst>
            </a:prstGeom>
            <a:solidFill>
              <a:srgbClr val="D6E6F9"/>
            </a:solidFill>
            <a:ln>
              <a:noFill/>
            </a:ln>
          </p:spPr>
          <p:txBody>
            <a:bodyPr/>
            <a:p/>
          </p:txBody>
        </p:sp>
        <p:sp>
          <p:nvSpPr>
            <p:cNvPr id="52" name="Rectangle 52"/>
            <p:cNvSpPr/>
            <p:nvPr/>
          </p:nvSpPr>
          <p:spPr>
            <a:xfrm>
              <a:off x="571500" y="4724400"/>
              <a:ext cx="76200" cy="838200"/>
            </a:xfrm>
            <a:prstGeom prst="roundRect">
              <a:avLst>
                <a:gd name="adj" fmla="val 50000"/>
              </a:avLst>
            </a:prstGeom>
            <a:solidFill>
              <a:srgbClr val="1565D8"/>
            </a:solidFill>
            <a:ln>
              <a:noFill/>
            </a:ln>
          </p:spPr>
          <p:txBody>
            <a:bodyPr/>
            <a:p/>
          </p:txBody>
        </p:sp>
        <p:sp>
          <p:nvSpPr>
            <p:cNvPr id="53" name="TextBox 53"/>
            <p:cNvSpPr txBox="1"/>
            <p:nvPr/>
          </p:nvSpPr>
          <p:spPr>
            <a:xfrm>
              <a:off x="859155" y="4902518"/>
              <a:ext cx="6527252" cy="27432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b="1" dirty="0">
                  <a:solidFill>
                    <a:srgbClr val="0B4EA2"/>
                  </a:solidFill>
                  <a:latin typeface="Arial"/>
                  <a:ea typeface="Microsoft YaHei"/>
                  <a:cs typeface="Arial"/>
                </a:rPr>
                <a:t>口诀：参数是「大脑容量」，不是智商——MoE 让「大而不贵」成为可能。</a:t>
              </a:r>
            </a:p>
          </p:txBody>
        </p:sp>
        <p:sp>
          <p:nvSpPr>
            <p:cNvPr id="54" name="TextBox 54"/>
            <p:cNvSpPr txBox="1"/>
            <p:nvPr/>
          </p:nvSpPr>
          <p:spPr>
            <a:xfrm>
              <a:off x="861060" y="5223510"/>
              <a:ext cx="4719066" cy="24384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00" dirty="0">
                  <a:solidFill>
                    <a:srgbClr val="0B4EA2"/>
                  </a:solidFill>
                  <a:latin typeface="Arial"/>
                  <a:ea typeface="Microsoft YaHei"/>
                  <a:cs typeface="Arial"/>
                </a:rPr>
                <a:t>量化 Q4 / Q8：像 4K 压成 720P——文件小一半，效果损失小，所以本地也能跑。</a:t>
              </a:r>
            </a:p>
          </p:txBody>
        </p:sp>
      </p:grpSp>
      <p:grpSp>
        <p:nvGrpSpPr>
          <p:cNvPr id="57" name="Group 57"/>
          <p:cNvGrpSpPr/>
          <p:nvPr/>
        </p:nvGrpSpPr>
        <p:grpSpPr>
          <a:xfrm>
            <a:off x="558165" y="5792152"/>
            <a:ext cx="2525982" cy="213360"/>
            <a:chOff x="558165" y="5792152"/>
            <a:chExt cx="2525982" cy="213360"/>
          </a:xfrm>
        </p:grpSpPr>
        <p:sp>
          <p:nvSpPr>
            <p:cNvPr id="56" name="TextBox 56"/>
            <p:cNvSpPr txBox="1"/>
            <p:nvPr/>
          </p:nvSpPr>
          <p:spPr>
            <a:xfrm>
              <a:off x="558165" y="5792152"/>
              <a:ext cx="2525982" cy="21336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050" dirty="0">
                  <a:solidFill>
                    <a:srgbClr val="8B99AE"/>
                  </a:solidFill>
                  <a:latin typeface="Arial"/>
                  <a:ea typeface="Microsoft YaHei"/>
                  <a:cs typeface="Arial"/>
                </a:rPr>
                <a:t>* 2026 年 9 月主流模型数据，以官网为准。</a:t>
              </a:r>
            </a:p>
          </p:txBody>
        </p:sp>
      </p:grpSp>
      <p:grpSp>
        <p:nvGrpSpPr>
          <p:cNvPr id="60" name="Group 60"/>
          <p:cNvGrpSpPr/>
          <p:nvPr/>
        </p:nvGrpSpPr>
        <p:grpSpPr>
          <a:xfrm>
            <a:off x="560070" y="6341745"/>
            <a:ext cx="11071860" cy="182880"/>
            <a:chOff x="560070" y="6341745"/>
            <a:chExt cx="11071860" cy="182880"/>
          </a:xfrm>
        </p:grpSpPr>
        <p:sp>
          <p:nvSpPr>
            <p:cNvPr id="58" name="TextBox 58"/>
            <p:cNvSpPr txBox="1"/>
            <p:nvPr/>
          </p:nvSpPr>
          <p:spPr>
            <a:xfrm>
              <a:off x="560070" y="6341745"/>
              <a:ext cx="1054989" cy="18288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00" dirty="0">
                  <a:solidFill>
                    <a:srgbClr val="8B99AE"/>
                  </a:solidFill>
                  <a:latin typeface="Arial"/>
                  <a:ea typeface="Microsoft YaHei"/>
                  <a:cs typeface="Arial"/>
                </a:rPr>
                <a:t>大模型通识 · 企业版</a:t>
              </a:r>
            </a:p>
          </p:txBody>
        </p:sp>
        <p:sp>
          <p:nvSpPr>
            <p:cNvPr id="59" name="TextBox 59"/>
            <p:cNvSpPr txBox="1"/>
            <p:nvPr/>
          </p:nvSpPr>
          <p:spPr>
            <a:xfrm>
              <a:off x="11207020" y="6341745"/>
              <a:ext cx="424910" cy="18288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r"/>
              <a:r>
                <a:rPr lang="zh-CN" sz="900" dirty="0">
                  <a:solidFill>
                    <a:srgbClr val="8B99AE"/>
                  </a:solidFill>
                  <a:latin typeface="Arial"/>
                  <a:ea typeface="Microsoft YaHei"/>
                  <a:cs typeface="Arial"/>
                </a:rPr>
                <a:t>16 / 51</a:t>
              </a:r>
            </a:p>
          </p:txBody>
        </p:sp>
      </p:grp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grpSp>
        <p:nvGrpSpPr>
          <p:cNvPr id="5" name="Group 5"/>
          <p:cNvGrpSpPr/>
          <p:nvPr/>
        </p:nvGrpSpPr>
        <p:grpSpPr>
          <a:xfrm>
            <a:off x="-1619250" y="0"/>
            <a:ext cx="13811250" cy="8477250"/>
            <a:chOff x="-1619250" y="0"/>
            <a:chExt cx="13811250" cy="8477250"/>
          </a:xfrm>
        </p:grpSpPr>
        <p:sp>
          <p:nvSpPr>
            <p:cNvPr id="2" name="Rectangle 2"/>
            <p:cNvSpPr/>
            <p:nvPr/>
          </p:nvSpPr>
          <p:spPr>
            <a:xfrm>
              <a:off x="0" y="0"/>
              <a:ext cx="12192000" cy="6858000"/>
            </a:xfrm>
            <a:prstGeom prst="rect">
              <a:avLst/>
            </a:prstGeom>
            <a:solidFill>
              <a:srgbClr val="F5F7FA"/>
            </a:solidFill>
            <a:ln>
              <a:noFill/>
            </a:ln>
          </p:spPr>
          <p:txBody>
            <a:bodyPr/>
            <a:p/>
          </p:txBody>
        </p:sp>
        <p:sp>
          <p:nvSpPr>
            <p:cNvPr id="3" name="Rectangle 3"/>
            <p:cNvSpPr/>
            <p:nvPr/>
          </p:nvSpPr>
          <p:spPr>
            <a:xfrm>
              <a:off x="0" y="0"/>
              <a:ext cx="12192000" cy="6858000"/>
            </a:xfrm>
            <a:prstGeom prst="rect">
              <a:avLst/>
            </a:prstGeom>
            <a:gradFill>
              <a:gsLst>
                <a:gs pos="0">
                  <a:srgbClr val="1565D8">
                    <a:alpha val="6000"/>
                  </a:srgbClr>
                </a:gs>
                <a:gs pos="100000">
                  <a:srgbClr val="1565D8">
                    <a:alpha val="0"/>
                  </a:srgbClr>
                </a:gs>
              </a:gsLst>
              <a:path path="circle">
                <a:fillToRect l="50000" t="50000" r="50000" b="50000"/>
              </a:path>
            </a:gradFill>
            <a:ln>
              <a:noFill/>
            </a:ln>
          </p:spPr>
          <p:txBody>
            <a:bodyPr/>
            <a:p/>
          </p:txBody>
        </p:sp>
        <p:sp>
          <p:nvSpPr>
            <p:cNvPr id="4" name="Ellipse 4"/>
            <p:cNvSpPr/>
            <p:nvPr/>
          </p:nvSpPr>
          <p:spPr>
            <a:xfrm>
              <a:off x="-1619250" y="4667250"/>
              <a:ext cx="3810000" cy="3810000"/>
            </a:xfrm>
            <a:prstGeom prst="ellipse">
              <a:avLst/>
            </a:prstGeom>
            <a:noFill/>
            <a:ln w="14288">
              <a:solidFill>
                <a:srgbClr val="D6E6F9">
                  <a:alpha val="80000"/>
                </a:srgbClr>
              </a:solidFill>
            </a:ln>
          </p:spPr>
          <p:txBody>
            <a:bodyPr/>
            <a:p/>
          </p:txBody>
        </p:sp>
      </p:grpSp>
      <p:grpSp>
        <p:nvGrpSpPr>
          <p:cNvPr id="9" name="Group 9"/>
          <p:cNvGrpSpPr/>
          <p:nvPr/>
        </p:nvGrpSpPr>
        <p:grpSpPr>
          <a:xfrm>
            <a:off x="571500" y="685800"/>
            <a:ext cx="4107228" cy="700088"/>
            <a:chOff x="571500" y="685800"/>
            <a:chExt cx="4107228" cy="700088"/>
          </a:xfrm>
        </p:grpSpPr>
        <p:sp>
          <p:nvSpPr>
            <p:cNvPr id="6" name="Rectangle 6"/>
            <p:cNvSpPr/>
            <p:nvPr/>
          </p:nvSpPr>
          <p:spPr>
            <a:xfrm>
              <a:off x="571500" y="685800"/>
              <a:ext cx="76200" cy="323850"/>
            </a:xfrm>
            <a:prstGeom prst="roundRect">
              <a:avLst>
                <a:gd name="adj" fmla="val 50000"/>
              </a:avLst>
            </a:prstGeom>
            <a:solidFill>
              <a:srgbClr val="1565D8"/>
            </a:solidFill>
            <a:ln>
              <a:noFill/>
            </a:ln>
          </p:spPr>
          <p:txBody>
            <a:bodyPr/>
            <a:p/>
          </p:txBody>
        </p:sp>
        <p:sp>
          <p:nvSpPr>
            <p:cNvPr id="7" name="TextBox 7"/>
            <p:cNvSpPr txBox="1"/>
            <p:nvPr/>
          </p:nvSpPr>
          <p:spPr>
            <a:xfrm>
              <a:off x="771525" y="700088"/>
              <a:ext cx="1947386" cy="45720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2250" b="1" dirty="0">
                  <a:solidFill>
                    <a:srgbClr val="2B3648"/>
                  </a:solidFill>
                  <a:latin typeface="Arial"/>
                  <a:ea typeface="Microsoft YaHei"/>
                  <a:cs typeface="Arial"/>
                </a:rPr>
                <a:t>MoE 混合专家</a:t>
              </a:r>
            </a:p>
          </p:txBody>
        </p:sp>
        <p:sp>
          <p:nvSpPr>
            <p:cNvPr id="8" name="TextBox 8"/>
            <p:cNvSpPr txBox="1"/>
            <p:nvPr/>
          </p:nvSpPr>
          <p:spPr>
            <a:xfrm>
              <a:off x="782955" y="1111568"/>
              <a:ext cx="3895773" cy="27432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5B6B82"/>
                  </a:solidFill>
                  <a:latin typeface="Arial"/>
                  <a:ea typeface="Microsoft YaHei"/>
                  <a:cs typeface="Arial"/>
                </a:rPr>
                <a:t>同样是万亿参数，为什么有的贵、有的便宜？</a:t>
              </a:r>
            </a:p>
          </p:txBody>
        </p:sp>
      </p:grpSp>
      <p:grpSp>
        <p:nvGrpSpPr>
          <p:cNvPr id="31" name="Group 31"/>
          <p:cNvGrpSpPr/>
          <p:nvPr/>
        </p:nvGrpSpPr>
        <p:grpSpPr>
          <a:xfrm>
            <a:off x="571500" y="1619250"/>
            <a:ext cx="5334000" cy="3524250"/>
            <a:chOff x="571500" y="1619250"/>
            <a:chExt cx="5334000" cy="3524250"/>
          </a:xfrm>
        </p:grpSpPr>
        <p:sp>
          <p:nvSpPr>
            <p:cNvPr id="10" name="Rectangle 10"/>
            <p:cNvSpPr/>
            <p:nvPr/>
          </p:nvSpPr>
          <p:spPr>
            <a:xfrm>
              <a:off x="571500" y="1619250"/>
              <a:ext cx="5334000" cy="3524250"/>
            </a:xfrm>
            <a:prstGeom prst="roundRect">
              <a:avLst>
                <a:gd name="adj" fmla="val 4324"/>
              </a:avLst>
            </a:prstGeom>
            <a:solidFill>
              <a:srgbClr val="FFFFFF"/>
            </a:solidFill>
            <a:ln w="9525">
              <a:solidFill>
                <a:srgbClr val="D8E1EC"/>
              </a:solidFill>
            </a:ln>
          </p:spPr>
          <p:txBody>
            <a:bodyPr/>
            <a:p/>
          </p:txBody>
        </p:sp>
        <p:sp>
          <p:nvSpPr>
            <p:cNvPr id="11" name="Ellipse 11"/>
            <p:cNvSpPr/>
            <p:nvPr/>
          </p:nvSpPr>
          <p:spPr>
            <a:xfrm>
              <a:off x="857250" y="1905000"/>
              <a:ext cx="495300" cy="495300"/>
            </a:xfrm>
            <a:prstGeom prst="ellipse">
              <a:avLst/>
            </a:prstGeom>
            <a:solidFill>
              <a:srgbClr val="D6E6F9"/>
            </a:solidFill>
            <a:ln>
              <a:noFill/>
            </a:ln>
          </p:spPr>
          <p:txBody>
            <a:bodyPr/>
            <a:p/>
          </p:txBody>
        </p:sp>
        <p:grpSp>
          <p:nvGrpSpPr>
            <p:cNvPr id="21" name="Group 21"/>
            <p:cNvGrpSpPr/>
            <p:nvPr/>
          </p:nvGrpSpPr>
          <p:grpSpPr>
            <a:xfrm>
              <a:off x="1027112" y="2041525"/>
              <a:ext cx="155576" cy="211137"/>
              <a:chOff x="1027112" y="2041525"/>
              <a:chExt cx="155576" cy="211137"/>
            </a:xfrm>
          </p:grpSpPr>
          <p:sp>
            <p:nvSpPr>
              <p:cNvPr id="12" name="Freeform 12"/>
              <p:cNvSpPr/>
              <p:nvPr/>
            </p:nvSpPr>
            <p:spPr>
              <a:xfrm>
                <a:off x="1038225" y="2063750"/>
                <a:ext cx="133350" cy="88900"/>
              </a:xfrm>
              <a:custGeom>
                <a:avLst/>
                <a:gdLst/>
                <a:ahLst/>
                <a:cxnLst/>
                <a:rect l="l" t="t" r="r" b="b"/>
                <a:pathLst>
                  <a:path w="133350" h="88900">
                    <a:moveTo>
                      <a:pt x="0" y="22225"/>
                    </a:moveTo>
                    <a:cubicBezTo>
                      <a:pt x="0" y="9950"/>
                      <a:pt x="9950" y="0"/>
                      <a:pt x="22225" y="0"/>
                    </a:cubicBezTo>
                    <a:lnTo>
                      <a:pt x="111125" y="0"/>
                    </a:lnTo>
                    <a:cubicBezTo>
                      <a:pt x="123400" y="0"/>
                      <a:pt x="133350" y="9950"/>
                      <a:pt x="133350" y="22225"/>
                    </a:cubicBezTo>
                    <a:lnTo>
                      <a:pt x="133350" y="66675"/>
                    </a:lnTo>
                    <a:cubicBezTo>
                      <a:pt x="133350" y="78950"/>
                      <a:pt x="123400" y="88900"/>
                      <a:pt x="111125" y="88900"/>
                    </a:cubicBezTo>
                    <a:lnTo>
                      <a:pt x="22225" y="88900"/>
                    </a:lnTo>
                    <a:cubicBezTo>
                      <a:pt x="9950" y="88900"/>
                      <a:pt x="0" y="78950"/>
                      <a:pt x="0" y="66675"/>
                    </a:cubicBezTo>
                    <a:lnTo>
                      <a:pt x="0" y="22225"/>
                    </a:lnTo>
                  </a:path>
                </a:pathLst>
              </a:custGeom>
              <a:noFill/>
              <a:ln w="19050">
                <a:solidFill>
                  <a:srgbClr val="1565D8"/>
                </a:solidFill>
              </a:ln>
            </p:spPr>
            <p:txBody>
              <a:bodyPr/>
              <a:p/>
            </p:txBody>
          </p:sp>
          <p:sp>
            <p:nvSpPr>
              <p:cNvPr id="13" name="Freeform 13"/>
              <p:cNvSpPr/>
              <p:nvPr/>
            </p:nvSpPr>
            <p:spPr>
              <a:xfrm>
                <a:off x="1104900" y="2041525"/>
                <a:ext cx="9525" cy="22225"/>
              </a:xfrm>
              <a:custGeom>
                <a:avLst/>
                <a:gdLst/>
                <a:ahLst/>
                <a:cxnLst/>
                <a:rect l="l" t="t" r="r" b="b"/>
                <a:pathLst>
                  <a:path w="9525" h="22225">
                    <a:moveTo>
                      <a:pt x="0" y="0"/>
                    </a:moveTo>
                    <a:lnTo>
                      <a:pt x="0" y="22225"/>
                    </a:lnTo>
                  </a:path>
                </a:pathLst>
              </a:custGeom>
              <a:noFill/>
              <a:ln w="19050">
                <a:solidFill>
                  <a:srgbClr val="1565D8"/>
                </a:solidFill>
              </a:ln>
            </p:spPr>
            <p:txBody>
              <a:bodyPr/>
              <a:p/>
            </p:txBody>
          </p:sp>
          <p:sp>
            <p:nvSpPr>
              <p:cNvPr id="14" name="Freeform 14"/>
              <p:cNvSpPr/>
              <p:nvPr/>
            </p:nvSpPr>
            <p:spPr>
              <a:xfrm>
                <a:off x="1071562" y="2152650"/>
                <a:ext cx="9525" cy="100012"/>
              </a:xfrm>
              <a:custGeom>
                <a:avLst/>
                <a:gdLst/>
                <a:ahLst/>
                <a:cxnLst/>
                <a:rect l="l" t="t" r="r" b="b"/>
                <a:pathLst>
                  <a:path w="9525" h="100012">
                    <a:moveTo>
                      <a:pt x="0" y="0"/>
                    </a:moveTo>
                    <a:lnTo>
                      <a:pt x="0" y="100012"/>
                    </a:lnTo>
                  </a:path>
                </a:pathLst>
              </a:custGeom>
              <a:noFill/>
              <a:ln w="19050">
                <a:solidFill>
                  <a:srgbClr val="1565D8"/>
                </a:solidFill>
              </a:ln>
            </p:spPr>
            <p:txBody>
              <a:bodyPr/>
              <a:p/>
            </p:txBody>
          </p:sp>
          <p:sp>
            <p:nvSpPr>
              <p:cNvPr id="15" name="Freeform 15"/>
              <p:cNvSpPr/>
              <p:nvPr/>
            </p:nvSpPr>
            <p:spPr>
              <a:xfrm>
                <a:off x="1138238" y="2152650"/>
                <a:ext cx="9525" cy="100012"/>
              </a:xfrm>
              <a:custGeom>
                <a:avLst/>
                <a:gdLst/>
                <a:ahLst/>
                <a:cxnLst/>
                <a:rect l="l" t="t" r="r" b="b"/>
                <a:pathLst>
                  <a:path w="9525" h="100012">
                    <a:moveTo>
                      <a:pt x="0" y="0"/>
                    </a:moveTo>
                    <a:lnTo>
                      <a:pt x="0" y="100012"/>
                    </a:lnTo>
                  </a:path>
                </a:pathLst>
              </a:custGeom>
              <a:noFill/>
              <a:ln w="19050">
                <a:solidFill>
                  <a:srgbClr val="1565D8"/>
                </a:solidFill>
              </a:ln>
            </p:spPr>
            <p:txBody>
              <a:bodyPr/>
              <a:p/>
            </p:txBody>
          </p:sp>
          <p:sp>
            <p:nvSpPr>
              <p:cNvPr id="16" name="Freeform 16"/>
              <p:cNvSpPr/>
              <p:nvPr/>
            </p:nvSpPr>
            <p:spPr>
              <a:xfrm>
                <a:off x="1027112" y="2174875"/>
                <a:ext cx="44450" cy="22225"/>
              </a:xfrm>
              <a:custGeom>
                <a:avLst/>
                <a:gdLst/>
                <a:ahLst/>
                <a:cxnLst/>
                <a:rect l="l" t="t" r="r" b="b"/>
                <a:pathLst>
                  <a:path w="44450" h="22225">
                    <a:moveTo>
                      <a:pt x="0" y="22225"/>
                    </a:moveTo>
                    <a:lnTo>
                      <a:pt x="44450" y="0"/>
                    </a:lnTo>
                  </a:path>
                </a:pathLst>
              </a:custGeom>
              <a:noFill/>
              <a:ln w="19050">
                <a:solidFill>
                  <a:srgbClr val="1565D8"/>
                </a:solidFill>
              </a:ln>
            </p:spPr>
            <p:txBody>
              <a:bodyPr/>
              <a:p/>
            </p:txBody>
          </p:sp>
          <p:sp>
            <p:nvSpPr>
              <p:cNvPr id="17" name="Freeform 17"/>
              <p:cNvSpPr/>
              <p:nvPr/>
            </p:nvSpPr>
            <p:spPr>
              <a:xfrm>
                <a:off x="1138238" y="2174875"/>
                <a:ext cx="44450" cy="22225"/>
              </a:xfrm>
              <a:custGeom>
                <a:avLst/>
                <a:gdLst/>
                <a:ahLst/>
                <a:cxnLst/>
                <a:rect l="l" t="t" r="r" b="b"/>
                <a:pathLst>
                  <a:path w="44450" h="22225">
                    <a:moveTo>
                      <a:pt x="0" y="0"/>
                    </a:moveTo>
                    <a:lnTo>
                      <a:pt x="44450" y="22225"/>
                    </a:lnTo>
                  </a:path>
                </a:pathLst>
              </a:custGeom>
              <a:noFill/>
              <a:ln w="19050">
                <a:solidFill>
                  <a:srgbClr val="1565D8"/>
                </a:solidFill>
              </a:ln>
            </p:spPr>
            <p:txBody>
              <a:bodyPr/>
              <a:p/>
            </p:txBody>
          </p:sp>
          <p:sp>
            <p:nvSpPr>
              <p:cNvPr id="18" name="Freeform 18"/>
              <p:cNvSpPr/>
              <p:nvPr/>
            </p:nvSpPr>
            <p:spPr>
              <a:xfrm>
                <a:off x="1071562" y="2219325"/>
                <a:ext cx="66675" cy="9525"/>
              </a:xfrm>
              <a:custGeom>
                <a:avLst/>
                <a:gdLst/>
                <a:ahLst/>
                <a:cxnLst/>
                <a:rect l="l" t="t" r="r" b="b"/>
                <a:pathLst>
                  <a:path w="66675" h="9525">
                    <a:moveTo>
                      <a:pt x="0" y="0"/>
                    </a:moveTo>
                    <a:lnTo>
                      <a:pt x="66675" y="0"/>
                    </a:lnTo>
                  </a:path>
                </a:pathLst>
              </a:custGeom>
              <a:noFill/>
              <a:ln w="19050">
                <a:solidFill>
                  <a:srgbClr val="1565D8"/>
                </a:solidFill>
              </a:ln>
            </p:spPr>
            <p:txBody>
              <a:bodyPr/>
              <a:p/>
            </p:txBody>
          </p:sp>
          <p:sp>
            <p:nvSpPr>
              <p:cNvPr id="19" name="Freeform 19"/>
              <p:cNvSpPr/>
              <p:nvPr/>
            </p:nvSpPr>
            <p:spPr>
              <a:xfrm>
                <a:off x="1082675" y="2108200"/>
                <a:ext cx="9525" cy="9525"/>
              </a:xfrm>
              <a:custGeom>
                <a:avLst/>
                <a:gdLst/>
                <a:ahLst/>
                <a:cxnLst/>
                <a:rect l="l" t="t" r="r" b="b"/>
                <a:pathLst>
                  <a:path w="9525" h="9525">
                    <a:moveTo>
                      <a:pt x="0" y="0"/>
                    </a:moveTo>
                    <a:lnTo>
                      <a:pt x="0" y="111"/>
                    </a:lnTo>
                  </a:path>
                </a:pathLst>
              </a:custGeom>
              <a:noFill/>
              <a:ln w="19050">
                <a:solidFill>
                  <a:srgbClr val="1565D8"/>
                </a:solidFill>
              </a:ln>
            </p:spPr>
            <p:txBody>
              <a:bodyPr/>
              <a:p/>
            </p:txBody>
          </p:sp>
          <p:sp>
            <p:nvSpPr>
              <p:cNvPr id="20" name="Freeform 20"/>
              <p:cNvSpPr/>
              <p:nvPr/>
            </p:nvSpPr>
            <p:spPr>
              <a:xfrm>
                <a:off x="1127125" y="2108200"/>
                <a:ext cx="9525" cy="9525"/>
              </a:xfrm>
              <a:custGeom>
                <a:avLst/>
                <a:gdLst/>
                <a:ahLst/>
                <a:cxnLst/>
                <a:rect l="l" t="t" r="r" b="b"/>
                <a:pathLst>
                  <a:path w="9525" h="9525">
                    <a:moveTo>
                      <a:pt x="0" y="0"/>
                    </a:moveTo>
                    <a:lnTo>
                      <a:pt x="0" y="111"/>
                    </a:lnTo>
                  </a:path>
                </a:pathLst>
              </a:custGeom>
              <a:noFill/>
              <a:ln w="19050">
                <a:solidFill>
                  <a:srgbClr val="1565D8"/>
                </a:solidFill>
              </a:ln>
            </p:spPr>
            <p:txBody>
              <a:bodyPr/>
              <a:p/>
            </p:txBody>
          </p:sp>
        </p:grpSp>
        <p:sp>
          <p:nvSpPr>
            <p:cNvPr id="22" name="TextBox 22"/>
            <p:cNvSpPr txBox="1"/>
            <p:nvPr/>
          </p:nvSpPr>
          <p:spPr>
            <a:xfrm>
              <a:off x="1483995" y="1955482"/>
              <a:ext cx="1000680" cy="33528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650" b="1" dirty="0">
                  <a:solidFill>
                    <a:srgbClr val="2B3648"/>
                  </a:solidFill>
                  <a:latin typeface="Arial"/>
                  <a:ea typeface="Microsoft YaHei"/>
                  <a:cs typeface="Arial"/>
                </a:rPr>
                <a:t>Dense</a:t>
              </a:r>
            </a:p>
          </p:txBody>
        </p:sp>
        <p:sp>
          <p:nvSpPr>
            <p:cNvPr id="23" name="TextBox 23"/>
            <p:cNvSpPr txBox="1"/>
            <p:nvPr/>
          </p:nvSpPr>
          <p:spPr>
            <a:xfrm>
              <a:off x="1487805" y="2235518"/>
              <a:ext cx="2378183" cy="27432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b="1" dirty="0">
                  <a:solidFill>
                    <a:srgbClr val="1565D8"/>
                  </a:solidFill>
                  <a:latin typeface="Arial"/>
                  <a:ea typeface="Microsoft YaHei"/>
                  <a:cs typeface="Arial"/>
                </a:rPr>
                <a:t>全院会诊：大夫全上</a:t>
              </a:r>
            </a:p>
          </p:txBody>
        </p:sp>
        <p:sp>
          <p:nvSpPr>
            <p:cNvPr id="24" name="Line 24"/>
            <p:cNvSpPr/>
            <p:nvPr/>
          </p:nvSpPr>
          <p:spPr>
            <a:xfrm>
              <a:off x="800100" y="2628900"/>
              <a:ext cx="4876800" cy="9525"/>
            </a:xfrm>
            <a:custGeom>
              <a:avLst/>
              <a:gdLst/>
              <a:ahLst/>
              <a:cxnLst/>
              <a:rect l="l" t="t" r="r" b="b"/>
              <a:pathLst>
                <a:path w="4876800" h="9525">
                  <a:moveTo>
                    <a:pt x="0" y="0"/>
                  </a:moveTo>
                  <a:lnTo>
                    <a:pt x="4876800" y="0"/>
                  </a:lnTo>
                </a:path>
              </a:pathLst>
            </a:custGeom>
            <a:noFill/>
            <a:ln w="9525">
              <a:solidFill>
                <a:srgbClr val="D8E1EC"/>
              </a:solidFill>
            </a:ln>
          </p:spPr>
          <p:txBody>
            <a:bodyPr/>
            <a:p/>
          </p:txBody>
        </p:sp>
        <p:sp>
          <p:nvSpPr>
            <p:cNvPr id="25" name="TextBox 25"/>
            <p:cNvSpPr txBox="1"/>
            <p:nvPr/>
          </p:nvSpPr>
          <p:spPr>
            <a:xfrm>
              <a:off x="782955" y="2883218"/>
              <a:ext cx="3094673" cy="27432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5B6B82"/>
                  </a:solidFill>
                  <a:latin typeface="Arial"/>
                  <a:ea typeface="Microsoft YaHei"/>
                  <a:cs typeface="Arial"/>
                </a:rPr>
                <a:t>每个问题，全部参数都参与计算——</a:t>
              </a:r>
            </a:p>
          </p:txBody>
        </p:sp>
        <p:sp>
          <p:nvSpPr>
            <p:cNvPr id="26" name="TextBox 26"/>
            <p:cNvSpPr txBox="1"/>
            <p:nvPr/>
          </p:nvSpPr>
          <p:spPr>
            <a:xfrm>
              <a:off x="782955" y="3149918"/>
              <a:ext cx="3094673" cy="27432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5B6B82"/>
                  </a:solidFill>
                  <a:latin typeface="Arial"/>
                  <a:ea typeface="Microsoft YaHei"/>
                  <a:cs typeface="Arial"/>
                </a:rPr>
                <a:t>1.6 万亿参数每次全开，</a:t>
              </a:r>
            </a:p>
          </p:txBody>
        </p:sp>
        <p:sp>
          <p:nvSpPr>
            <p:cNvPr id="27" name="TextBox 27"/>
            <p:cNvSpPr txBox="1"/>
            <p:nvPr/>
          </p:nvSpPr>
          <p:spPr>
            <a:xfrm>
              <a:off x="782955" y="3416618"/>
              <a:ext cx="934402" cy="27432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5B6B82"/>
                  </a:solidFill>
                  <a:latin typeface="Arial"/>
                  <a:ea typeface="Microsoft YaHei"/>
                  <a:cs typeface="Arial"/>
                </a:rPr>
                <a:t>又慢，又烧钱。</a:t>
              </a:r>
            </a:p>
          </p:txBody>
        </p:sp>
        <p:sp>
          <p:nvSpPr>
            <p:cNvPr id="28" name="Rectangle 28"/>
            <p:cNvSpPr/>
            <p:nvPr/>
          </p:nvSpPr>
          <p:spPr>
            <a:xfrm>
              <a:off x="800100" y="3905250"/>
              <a:ext cx="4876800" cy="914400"/>
            </a:xfrm>
            <a:prstGeom prst="roundRect">
              <a:avLst>
                <a:gd name="adj" fmla="val 16667"/>
              </a:avLst>
            </a:prstGeom>
            <a:solidFill>
              <a:srgbClr val="D6E6F9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9" name="TextBox 29"/>
            <p:cNvSpPr txBox="1"/>
            <p:nvPr/>
          </p:nvSpPr>
          <p:spPr>
            <a:xfrm>
              <a:off x="1013460" y="4137660"/>
              <a:ext cx="1878711" cy="24384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00" b="1" dirty="0">
                  <a:solidFill>
                    <a:srgbClr val="0B4EA2"/>
                  </a:solidFill>
                  <a:latin typeface="Arial"/>
                  <a:ea typeface="Microsoft YaHei"/>
                  <a:cs typeface="Arial"/>
                </a:rPr>
                <a:t>好比医院：每个病人</a:t>
              </a:r>
            </a:p>
          </p:txBody>
        </p:sp>
        <p:sp>
          <p:nvSpPr>
            <p:cNvPr id="30" name="TextBox 30"/>
            <p:cNvSpPr txBox="1"/>
            <p:nvPr/>
          </p:nvSpPr>
          <p:spPr>
            <a:xfrm>
              <a:off x="1013460" y="4423410"/>
              <a:ext cx="1950720" cy="24384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00" dirty="0">
                  <a:solidFill>
                    <a:srgbClr val="0B4EA2"/>
                  </a:solidFill>
                  <a:latin typeface="Arial"/>
                  <a:ea typeface="Microsoft YaHei"/>
                  <a:cs typeface="Arial"/>
                </a:rPr>
                <a:t>所有科室都会诊一遍。</a:t>
              </a:r>
            </a:p>
          </p:txBody>
        </p:sp>
      </p:grpSp>
      <p:grpSp>
        <p:nvGrpSpPr>
          <p:cNvPr id="45" name="Group 45"/>
          <p:cNvGrpSpPr/>
          <p:nvPr/>
        </p:nvGrpSpPr>
        <p:grpSpPr>
          <a:xfrm>
            <a:off x="6286500" y="1619250"/>
            <a:ext cx="5334000" cy="3524250"/>
            <a:chOff x="6286500" y="1619250"/>
            <a:chExt cx="5334000" cy="3524250"/>
          </a:xfrm>
        </p:grpSpPr>
        <p:sp>
          <p:nvSpPr>
            <p:cNvPr id="32" name="Rectangle 32"/>
            <p:cNvSpPr/>
            <p:nvPr/>
          </p:nvSpPr>
          <p:spPr>
            <a:xfrm>
              <a:off x="6286500" y="1619250"/>
              <a:ext cx="5334000" cy="3524250"/>
            </a:xfrm>
            <a:prstGeom prst="roundRect">
              <a:avLst>
                <a:gd name="adj" fmla="val 4324"/>
              </a:avLst>
            </a:prstGeom>
            <a:solidFill>
              <a:srgbClr val="FFFFFF"/>
            </a:solidFill>
            <a:ln w="9525">
              <a:solidFill>
                <a:srgbClr val="D8E1EC"/>
              </a:solidFill>
            </a:ln>
          </p:spPr>
          <p:txBody>
            <a:bodyPr/>
            <a:p/>
          </p:txBody>
        </p:sp>
        <p:sp>
          <p:nvSpPr>
            <p:cNvPr id="33" name="Ellipse 33"/>
            <p:cNvSpPr/>
            <p:nvPr/>
          </p:nvSpPr>
          <p:spPr>
            <a:xfrm>
              <a:off x="6572250" y="1905000"/>
              <a:ext cx="495300" cy="495300"/>
            </a:xfrm>
            <a:prstGeom prst="ellipse">
              <a:avLst/>
            </a:prstGeom>
            <a:solidFill>
              <a:srgbClr val="E9EEF5"/>
            </a:solidFill>
            <a:ln>
              <a:noFill/>
            </a:ln>
          </p:spPr>
          <p:txBody>
            <a:bodyPr/>
            <a:p/>
          </p:txBody>
        </p:sp>
        <p:grpSp>
          <p:nvGrpSpPr>
            <p:cNvPr id="36" name="Group 36"/>
            <p:cNvGrpSpPr/>
            <p:nvPr/>
          </p:nvGrpSpPr>
          <p:grpSpPr>
            <a:xfrm>
              <a:off x="6719888" y="2052638"/>
              <a:ext cx="200025" cy="200025"/>
              <a:chOff x="6719888" y="2052638"/>
              <a:chExt cx="200025" cy="200025"/>
            </a:xfrm>
          </p:grpSpPr>
          <p:sp>
            <p:nvSpPr>
              <p:cNvPr id="34" name="Freeform 34"/>
              <p:cNvSpPr/>
              <p:nvPr/>
            </p:nvSpPr>
            <p:spPr>
              <a:xfrm>
                <a:off x="6719888" y="2052638"/>
                <a:ext cx="155575" cy="155575"/>
              </a:xfrm>
              <a:custGeom>
                <a:avLst/>
                <a:gdLst/>
                <a:ahLst/>
                <a:cxnLst/>
                <a:rect l="l" t="t" r="r" b="b"/>
                <a:pathLst>
                  <a:path w="155575" h="155575">
                    <a:moveTo>
                      <a:pt x="0" y="77787"/>
                    </a:moveTo>
                    <a:cubicBezTo>
                      <a:pt x="0" y="120748"/>
                      <a:pt x="34827" y="155575"/>
                      <a:pt x="77787" y="155575"/>
                    </a:cubicBezTo>
                    <a:cubicBezTo>
                      <a:pt x="120748" y="155575"/>
                      <a:pt x="155575" y="120748"/>
                      <a:pt x="155575" y="77787"/>
                    </a:cubicBezTo>
                    <a:cubicBezTo>
                      <a:pt x="155575" y="34827"/>
                      <a:pt x="120748" y="0"/>
                      <a:pt x="77787" y="0"/>
                    </a:cubicBezTo>
                    <a:cubicBezTo>
                      <a:pt x="34827" y="0"/>
                      <a:pt x="0" y="34827"/>
                      <a:pt x="0" y="77787"/>
                    </a:cubicBezTo>
                  </a:path>
                </a:pathLst>
              </a:custGeom>
              <a:noFill/>
              <a:ln w="19050">
                <a:solidFill>
                  <a:srgbClr val="5B6B82"/>
                </a:solidFill>
              </a:ln>
            </p:spPr>
            <p:txBody>
              <a:bodyPr/>
              <a:p/>
            </p:txBody>
          </p:sp>
          <p:sp>
            <p:nvSpPr>
              <p:cNvPr id="35" name="Freeform 35"/>
              <p:cNvSpPr/>
              <p:nvPr/>
            </p:nvSpPr>
            <p:spPr>
              <a:xfrm>
                <a:off x="6853238" y="2185988"/>
                <a:ext cx="66675" cy="66675"/>
              </a:xfrm>
              <a:custGeom>
                <a:avLst/>
                <a:gdLst/>
                <a:ahLst/>
                <a:cxnLst/>
                <a:rect l="l" t="t" r="r" b="b"/>
                <a:pathLst>
                  <a:path w="66675" h="66675">
                    <a:moveTo>
                      <a:pt x="66675" y="66675"/>
                    </a:moveTo>
                    <a:lnTo>
                      <a:pt x="0" y="0"/>
                    </a:lnTo>
                  </a:path>
                </a:pathLst>
              </a:custGeom>
              <a:noFill/>
              <a:ln w="19050">
                <a:solidFill>
                  <a:srgbClr val="5B6B82"/>
                </a:solidFill>
              </a:ln>
            </p:spPr>
            <p:txBody>
              <a:bodyPr/>
              <a:p/>
            </p:txBody>
          </p:sp>
        </p:grpSp>
        <p:sp>
          <p:nvSpPr>
            <p:cNvPr id="37" name="TextBox 37"/>
            <p:cNvSpPr txBox="1"/>
            <p:nvPr/>
          </p:nvSpPr>
          <p:spPr>
            <a:xfrm>
              <a:off x="7198995" y="1955482"/>
              <a:ext cx="966026" cy="33528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650" b="1" dirty="0">
                  <a:solidFill>
                    <a:srgbClr val="2B3648"/>
                  </a:solidFill>
                  <a:latin typeface="Arial"/>
                  <a:ea typeface="Microsoft YaHei"/>
                  <a:cs typeface="Arial"/>
                </a:rPr>
                <a:t>MoE</a:t>
              </a:r>
            </a:p>
          </p:txBody>
        </p:sp>
        <p:sp>
          <p:nvSpPr>
            <p:cNvPr id="38" name="TextBox 38"/>
            <p:cNvSpPr txBox="1"/>
            <p:nvPr/>
          </p:nvSpPr>
          <p:spPr>
            <a:xfrm>
              <a:off x="7202805" y="2235518"/>
              <a:ext cx="2189159" cy="27432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b="1" dirty="0">
                  <a:solidFill>
                    <a:srgbClr val="5B6B82"/>
                  </a:solidFill>
                  <a:latin typeface="Arial"/>
                  <a:ea typeface="Microsoft YaHei"/>
                  <a:cs typeface="Arial"/>
                </a:rPr>
                <a:t>医院分科：按需出诊</a:t>
              </a:r>
            </a:p>
          </p:txBody>
        </p:sp>
        <p:sp>
          <p:nvSpPr>
            <p:cNvPr id="39" name="Line 39"/>
            <p:cNvSpPr/>
            <p:nvPr/>
          </p:nvSpPr>
          <p:spPr>
            <a:xfrm>
              <a:off x="6515100" y="2628900"/>
              <a:ext cx="4876800" cy="9525"/>
            </a:xfrm>
            <a:custGeom>
              <a:avLst/>
              <a:gdLst/>
              <a:ahLst/>
              <a:cxnLst/>
              <a:rect l="l" t="t" r="r" b="b"/>
              <a:pathLst>
                <a:path w="4876800" h="9525">
                  <a:moveTo>
                    <a:pt x="0" y="0"/>
                  </a:moveTo>
                  <a:lnTo>
                    <a:pt x="4876800" y="0"/>
                  </a:lnTo>
                </a:path>
              </a:pathLst>
            </a:custGeom>
            <a:noFill/>
            <a:ln w="9525">
              <a:solidFill>
                <a:srgbClr val="D8E1EC"/>
              </a:solidFill>
            </a:ln>
          </p:spPr>
          <p:txBody>
            <a:bodyPr/>
            <a:p/>
          </p:txBody>
        </p:sp>
        <p:sp>
          <p:nvSpPr>
            <p:cNvPr id="40" name="TextBox 40"/>
            <p:cNvSpPr txBox="1"/>
            <p:nvPr/>
          </p:nvSpPr>
          <p:spPr>
            <a:xfrm>
              <a:off x="6497955" y="2883218"/>
              <a:ext cx="3094673" cy="27432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5B6B82"/>
                  </a:solidFill>
                  <a:latin typeface="Arial"/>
                  <a:ea typeface="Microsoft YaHei"/>
                  <a:cs typeface="Arial"/>
                </a:rPr>
                <a:t>只激活和当前问题相关的「专家」——</a:t>
              </a:r>
            </a:p>
          </p:txBody>
        </p:sp>
        <p:sp>
          <p:nvSpPr>
            <p:cNvPr id="41" name="TextBox 41"/>
            <p:cNvSpPr txBox="1"/>
            <p:nvPr/>
          </p:nvSpPr>
          <p:spPr>
            <a:xfrm>
              <a:off x="6497955" y="3149918"/>
              <a:ext cx="2374582" cy="27432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5B6B82"/>
                  </a:solidFill>
                  <a:latin typeface="Arial"/>
                  <a:ea typeface="Microsoft YaHei"/>
                  <a:cs typeface="Arial"/>
                </a:rPr>
                <a:t>DeepSeek V4：1.6T 总参数，</a:t>
              </a:r>
            </a:p>
          </p:txBody>
        </p:sp>
        <p:sp>
          <p:nvSpPr>
            <p:cNvPr id="42" name="Rectangle 42"/>
            <p:cNvSpPr/>
            <p:nvPr/>
          </p:nvSpPr>
          <p:spPr>
            <a:xfrm>
              <a:off x="6515100" y="3905250"/>
              <a:ext cx="4876800" cy="914400"/>
            </a:xfrm>
            <a:prstGeom prst="roundRect">
              <a:avLst>
                <a:gd name="adj" fmla="val 16667"/>
              </a:avLst>
            </a:prstGeom>
            <a:solidFill>
              <a:srgbClr val="E9EEF5"/>
            </a:solidFill>
            <a:ln>
              <a:noFill/>
            </a:ln>
          </p:spPr>
          <p:txBody>
            <a:bodyPr/>
            <a:p/>
          </p:txBody>
        </p:sp>
        <p:sp>
          <p:nvSpPr>
            <p:cNvPr id="43" name="TextBox 43"/>
            <p:cNvSpPr txBox="1"/>
            <p:nvPr/>
          </p:nvSpPr>
          <p:spPr>
            <a:xfrm>
              <a:off x="6728460" y="4137660"/>
              <a:ext cx="1206627" cy="24384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00" b="1" dirty="0">
                  <a:solidFill>
                    <a:srgbClr val="2B3648"/>
                  </a:solidFill>
                  <a:latin typeface="Arial"/>
                  <a:ea typeface="Microsoft YaHei"/>
                  <a:cs typeface="Arial"/>
                </a:rPr>
                <a:t>每次 49B 出诊</a:t>
              </a:r>
            </a:p>
          </p:txBody>
        </p:sp>
        <p:sp>
          <p:nvSpPr>
            <p:cNvPr id="44" name="TextBox 44"/>
            <p:cNvSpPr txBox="1"/>
            <p:nvPr/>
          </p:nvSpPr>
          <p:spPr>
            <a:xfrm>
              <a:off x="6728460" y="4423410"/>
              <a:ext cx="990600" cy="24384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00" dirty="0">
                  <a:solidFill>
                    <a:srgbClr val="2B3648"/>
                  </a:solidFill>
                  <a:latin typeface="Arial"/>
                  <a:ea typeface="Microsoft YaHei"/>
                  <a:cs typeface="Arial"/>
                </a:rPr>
                <a:t>比 GPT-5 便宜约 80%。</a:t>
              </a:r>
            </a:p>
          </p:txBody>
        </p:sp>
      </p:grpSp>
      <p:grpSp>
        <p:nvGrpSpPr>
          <p:cNvPr id="48" name="Group 48"/>
          <p:cNvGrpSpPr/>
          <p:nvPr/>
        </p:nvGrpSpPr>
        <p:grpSpPr>
          <a:xfrm>
            <a:off x="5848350" y="3133725"/>
            <a:ext cx="495300" cy="495300"/>
            <a:chOff x="5848350" y="3133725"/>
            <a:chExt cx="495300" cy="495300"/>
          </a:xfrm>
        </p:grpSpPr>
        <p:sp>
          <p:nvSpPr>
            <p:cNvPr id="46" name="Ellipse 46"/>
            <p:cNvSpPr/>
            <p:nvPr/>
          </p:nvSpPr>
          <p:spPr>
            <a:xfrm>
              <a:off x="5848350" y="3133725"/>
              <a:ext cx="495300" cy="495300"/>
            </a:xfrm>
            <a:prstGeom prst="ellipse">
              <a:avLst/>
            </a:prstGeom>
            <a:solidFill>
              <a:srgbClr val="1565D8"/>
            </a:solidFill>
            <a:ln>
              <a:noFill/>
            </a:ln>
          </p:spPr>
          <p:txBody>
            <a:bodyPr/>
            <a:p/>
          </p:txBody>
        </p:sp>
        <p:sp>
          <p:nvSpPr>
            <p:cNvPr id="47" name="TextBox 47"/>
            <p:cNvSpPr txBox="1"/>
            <p:nvPr/>
          </p:nvSpPr>
          <p:spPr>
            <a:xfrm>
              <a:off x="5988348" y="3318510"/>
              <a:ext cx="215303" cy="24384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200" b="1" dirty="0">
                  <a:solidFill>
                    <a:srgbClr val="FFFFFF"/>
                  </a:solidFill>
                  <a:latin typeface="Arial"/>
                  <a:ea typeface="Microsoft YaHei"/>
                  <a:cs typeface="Arial"/>
                </a:rPr>
                <a:t>vs</a:t>
              </a:r>
            </a:p>
          </p:txBody>
        </p:sp>
      </p:grpSp>
      <p:grpSp>
        <p:nvGrpSpPr>
          <p:cNvPr id="52" name="Group 52"/>
          <p:cNvGrpSpPr/>
          <p:nvPr/>
        </p:nvGrpSpPr>
        <p:grpSpPr>
          <a:xfrm>
            <a:off x="571500" y="5486400"/>
            <a:ext cx="11049000" cy="457200"/>
            <a:chOff x="571500" y="5486400"/>
            <a:chExt cx="11049000" cy="457200"/>
          </a:xfrm>
        </p:grpSpPr>
        <p:sp>
          <p:nvSpPr>
            <p:cNvPr id="49" name="Rectangle 49"/>
            <p:cNvSpPr/>
            <p:nvPr/>
          </p:nvSpPr>
          <p:spPr>
            <a:xfrm>
              <a:off x="571500" y="5486400"/>
              <a:ext cx="11049000" cy="457200"/>
            </a:xfrm>
            <a:prstGeom prst="roundRect">
              <a:avLst>
                <a:gd name="adj" fmla="val 33333"/>
              </a:avLst>
            </a:prstGeom>
            <a:solidFill>
              <a:srgbClr val="D6E6F9"/>
            </a:solidFill>
            <a:ln>
              <a:noFill/>
            </a:ln>
          </p:spPr>
          <p:txBody>
            <a:bodyPr/>
            <a:p/>
          </p:txBody>
        </p:sp>
        <p:sp>
          <p:nvSpPr>
            <p:cNvPr id="50" name="Rectangle 50"/>
            <p:cNvSpPr/>
            <p:nvPr/>
          </p:nvSpPr>
          <p:spPr>
            <a:xfrm>
              <a:off x="571500" y="5486400"/>
              <a:ext cx="76200" cy="457200"/>
            </a:xfrm>
            <a:prstGeom prst="roundRect">
              <a:avLst>
                <a:gd name="adj" fmla="val 50000"/>
              </a:avLst>
            </a:prstGeom>
            <a:solidFill>
              <a:srgbClr val="1565D8"/>
            </a:solidFill>
            <a:ln>
              <a:noFill/>
            </a:ln>
          </p:spPr>
          <p:txBody>
            <a:bodyPr/>
            <a:p/>
          </p:txBody>
        </p:sp>
        <p:sp>
          <p:nvSpPr>
            <p:cNvPr id="51" name="TextBox 51"/>
            <p:cNvSpPr txBox="1"/>
            <p:nvPr/>
          </p:nvSpPr>
          <p:spPr>
            <a:xfrm>
              <a:off x="859155" y="5635942"/>
              <a:ext cx="4599211" cy="27432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b="1" dirty="0">
                  <a:solidFill>
                    <a:srgbClr val="0B4EA2"/>
                  </a:solidFill>
                  <a:latin typeface="Arial"/>
                  <a:ea typeface="Microsoft YaHei"/>
                  <a:cs typeface="Arial"/>
                </a:rPr>
                <a:t>这就是国产大模型敢打价格战的技术底气——大模型的能力，第一次进了普通企业的预算。</a:t>
              </a:r>
            </a:p>
          </p:txBody>
        </p:sp>
      </p:grpSp>
      <p:grpSp>
        <p:nvGrpSpPr>
          <p:cNvPr id="55" name="Group 55"/>
          <p:cNvGrpSpPr/>
          <p:nvPr/>
        </p:nvGrpSpPr>
        <p:grpSpPr>
          <a:xfrm>
            <a:off x="560070" y="6341745"/>
            <a:ext cx="11071860" cy="182880"/>
            <a:chOff x="560070" y="6341745"/>
            <a:chExt cx="11071860" cy="182880"/>
          </a:xfrm>
        </p:grpSpPr>
        <p:sp>
          <p:nvSpPr>
            <p:cNvPr id="53" name="TextBox 53"/>
            <p:cNvSpPr txBox="1"/>
            <p:nvPr/>
          </p:nvSpPr>
          <p:spPr>
            <a:xfrm>
              <a:off x="560070" y="6341745"/>
              <a:ext cx="1054989" cy="18288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00" dirty="0">
                  <a:solidFill>
                    <a:srgbClr val="8B99AE"/>
                  </a:solidFill>
                  <a:latin typeface="Arial"/>
                  <a:ea typeface="Microsoft YaHei"/>
                  <a:cs typeface="Arial"/>
                </a:rPr>
                <a:t>大模型通识 · 企业版</a:t>
              </a:r>
            </a:p>
          </p:txBody>
        </p:sp>
        <p:sp>
          <p:nvSpPr>
            <p:cNvPr id="54" name="TextBox 54"/>
            <p:cNvSpPr txBox="1"/>
            <p:nvPr/>
          </p:nvSpPr>
          <p:spPr>
            <a:xfrm>
              <a:off x="11207020" y="6341745"/>
              <a:ext cx="424910" cy="18288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r"/>
              <a:r>
                <a:rPr lang="zh-CN" sz="900" dirty="0">
                  <a:solidFill>
                    <a:srgbClr val="8B99AE"/>
                  </a:solidFill>
                  <a:latin typeface="Arial"/>
                  <a:ea typeface="Microsoft YaHei"/>
                  <a:cs typeface="Arial"/>
                </a:rPr>
                <a:t>17 / 51</a:t>
              </a:r>
            </a:p>
          </p:txBody>
        </p:sp>
      </p:grp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5" name="Group 5"/>
          <p:cNvGrpSpPr/>
          <p:nvPr/>
        </p:nvGrpSpPr>
        <p:grpSpPr>
          <a:xfrm>
            <a:off x="-1619250" y="0"/>
            <a:ext cx="13811250" cy="8477250"/>
            <a:chOff x="-1619250" y="0"/>
            <a:chExt cx="13811250" cy="8477250"/>
          </a:xfrm>
        </p:grpSpPr>
        <p:sp>
          <p:nvSpPr>
            <p:cNvPr id="2" name="Rectangle 2"/>
            <p:cNvSpPr/>
            <p:nvPr/>
          </p:nvSpPr>
          <p:spPr>
            <a:xfrm>
              <a:off x="0" y="0"/>
              <a:ext cx="12192000" cy="6858000"/>
            </a:xfrm>
            <a:prstGeom prst="rect">
              <a:avLst/>
            </a:prstGeom>
            <a:solidFill>
              <a:srgbClr val="F5F7FA"/>
            </a:solidFill>
            <a:ln>
              <a:noFill/>
            </a:ln>
          </p:spPr>
          <p:txBody>
            <a:bodyPr/>
            <a:p/>
          </p:txBody>
        </p:sp>
        <p:sp>
          <p:nvSpPr>
            <p:cNvPr id="3" name="Rectangle 3"/>
            <p:cNvSpPr/>
            <p:nvPr/>
          </p:nvSpPr>
          <p:spPr>
            <a:xfrm>
              <a:off x="0" y="0"/>
              <a:ext cx="12192000" cy="6858000"/>
            </a:xfrm>
            <a:prstGeom prst="rect">
              <a:avLst/>
            </a:prstGeom>
            <a:gradFill>
              <a:gsLst>
                <a:gs pos="0">
                  <a:srgbClr val="1565D8">
                    <a:alpha val="6000"/>
                  </a:srgbClr>
                </a:gs>
                <a:gs pos="100000">
                  <a:srgbClr val="1565D8">
                    <a:alpha val="0"/>
                  </a:srgbClr>
                </a:gs>
              </a:gsLst>
              <a:path path="circle">
                <a:fillToRect l="50000" t="50000" r="50000" b="50000"/>
              </a:path>
            </a:gradFill>
            <a:ln>
              <a:noFill/>
            </a:ln>
          </p:spPr>
          <p:txBody>
            <a:bodyPr/>
            <a:p/>
          </p:txBody>
        </p:sp>
        <p:sp>
          <p:nvSpPr>
            <p:cNvPr id="4" name="Ellipse 4"/>
            <p:cNvSpPr/>
            <p:nvPr/>
          </p:nvSpPr>
          <p:spPr>
            <a:xfrm>
              <a:off x="-1619250" y="4667250"/>
              <a:ext cx="3810000" cy="3810000"/>
            </a:xfrm>
            <a:prstGeom prst="ellipse">
              <a:avLst/>
            </a:prstGeom>
            <a:noFill/>
            <a:ln w="14288">
              <a:solidFill>
                <a:srgbClr val="D6E6F9">
                  <a:alpha val="80000"/>
                </a:srgbClr>
              </a:solidFill>
            </a:ln>
          </p:spPr>
          <p:txBody>
            <a:bodyPr/>
            <a:p/>
          </p:txBody>
        </p:sp>
      </p:grpSp>
      <p:grpSp>
        <p:nvGrpSpPr>
          <p:cNvPr id="9" name="Group 9"/>
          <p:cNvGrpSpPr/>
          <p:nvPr/>
        </p:nvGrpSpPr>
        <p:grpSpPr>
          <a:xfrm>
            <a:off x="571500" y="685800"/>
            <a:ext cx="4982766" cy="700088"/>
            <a:chOff x="571500" y="685800"/>
            <a:chExt cx="4982766" cy="700088"/>
          </a:xfrm>
        </p:grpSpPr>
        <p:sp>
          <p:nvSpPr>
            <p:cNvPr id="6" name="Rectangle 6"/>
            <p:cNvSpPr/>
            <p:nvPr/>
          </p:nvSpPr>
          <p:spPr>
            <a:xfrm>
              <a:off x="571500" y="685800"/>
              <a:ext cx="76200" cy="323850"/>
            </a:xfrm>
            <a:prstGeom prst="roundRect">
              <a:avLst>
                <a:gd name="adj" fmla="val 50000"/>
              </a:avLst>
            </a:prstGeom>
            <a:solidFill>
              <a:srgbClr val="1565D8"/>
            </a:solidFill>
            <a:ln>
              <a:noFill/>
            </a:ln>
          </p:spPr>
          <p:txBody>
            <a:bodyPr/>
            <a:p/>
          </p:txBody>
        </p:sp>
        <p:sp>
          <p:nvSpPr>
            <p:cNvPr id="7" name="TextBox 7"/>
            <p:cNvSpPr txBox="1"/>
            <p:nvPr/>
          </p:nvSpPr>
          <p:spPr>
            <a:xfrm>
              <a:off x="771525" y="700088"/>
              <a:ext cx="4782741" cy="45720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2250" b="1" dirty="0">
                  <a:solidFill>
                    <a:srgbClr val="2B3648"/>
                  </a:solidFill>
                  <a:latin typeface="Arial"/>
                  <a:ea typeface="Microsoft YaHei"/>
                  <a:cs typeface="Arial"/>
                </a:rPr>
                <a:t>不只是文字：它会看、会听、会读</a:t>
              </a:r>
            </a:p>
          </p:txBody>
        </p:sp>
        <p:sp>
          <p:nvSpPr>
            <p:cNvPr id="8" name="TextBox 8"/>
            <p:cNvSpPr txBox="1"/>
            <p:nvPr/>
          </p:nvSpPr>
          <p:spPr>
            <a:xfrm>
              <a:off x="782955" y="1111568"/>
              <a:ext cx="4093797" cy="27432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5B6B82"/>
                  </a:solidFill>
                  <a:latin typeface="Arial"/>
                  <a:ea typeface="Microsoft YaHei"/>
                  <a:cs typeface="Arial"/>
                </a:rPr>
                <a:t>会聊天只是起点——现代 AI 还能处理图、声音和文件</a:t>
              </a:r>
            </a:p>
          </p:txBody>
        </p:sp>
      </p:grpSp>
      <p:grpSp>
        <p:nvGrpSpPr>
          <p:cNvPr id="54" name="Group 54"/>
          <p:cNvGrpSpPr/>
          <p:nvPr/>
        </p:nvGrpSpPr>
        <p:grpSpPr>
          <a:xfrm>
            <a:off x="571500" y="1619250"/>
            <a:ext cx="6953250" cy="3771900"/>
            <a:chOff x="571500" y="1619250"/>
            <a:chExt cx="6953250" cy="3771900"/>
          </a:xfrm>
        </p:grpSpPr>
        <p:grpSp>
          <p:nvGrpSpPr>
            <p:cNvPr id="20" name="Group 20"/>
            <p:cNvGrpSpPr/>
            <p:nvPr/>
          </p:nvGrpSpPr>
          <p:grpSpPr>
            <a:xfrm>
              <a:off x="571500" y="1619250"/>
              <a:ext cx="3371850" cy="1790700"/>
              <a:chOff x="571500" y="1619250"/>
              <a:chExt cx="3371850" cy="1790700"/>
            </a:xfrm>
          </p:grpSpPr>
          <p:sp>
            <p:nvSpPr>
              <p:cNvPr id="10" name="Rectangle 10"/>
              <p:cNvSpPr/>
              <p:nvPr/>
            </p:nvSpPr>
            <p:spPr>
              <a:xfrm>
                <a:off x="571500" y="1619250"/>
                <a:ext cx="3371850" cy="1790700"/>
              </a:xfrm>
              <a:prstGeom prst="roundRect">
                <a:avLst>
                  <a:gd name="adj" fmla="val 8511"/>
                </a:avLst>
              </a:prstGeom>
              <a:solidFill>
                <a:srgbClr val="FFFFFF"/>
              </a:solidFill>
              <a:ln w="9525">
                <a:solidFill>
                  <a:srgbClr val="D8E1EC"/>
                </a:solidFill>
              </a:ln>
            </p:spPr>
            <p:txBody>
              <a:bodyPr/>
              <a:p/>
            </p:txBody>
          </p:sp>
          <p:sp>
            <p:nvSpPr>
              <p:cNvPr id="11" name="Ellipse 11"/>
              <p:cNvSpPr/>
              <p:nvPr/>
            </p:nvSpPr>
            <p:spPr>
              <a:xfrm>
                <a:off x="781050" y="1847850"/>
                <a:ext cx="419100" cy="419100"/>
              </a:xfrm>
              <a:prstGeom prst="ellipse">
                <a:avLst/>
              </a:prstGeom>
              <a:solidFill>
                <a:srgbClr val="D6E6F9"/>
              </a:solidFill>
              <a:ln>
                <a:noFill/>
              </a:ln>
            </p:spPr>
            <p:txBody>
              <a:bodyPr/>
              <a:p/>
            </p:txBody>
          </p:sp>
          <p:grpSp>
            <p:nvGrpSpPr>
              <p:cNvPr id="16" name="Group 16"/>
              <p:cNvGrpSpPr/>
              <p:nvPr/>
            </p:nvGrpSpPr>
            <p:grpSpPr>
              <a:xfrm>
                <a:off x="904875" y="1971675"/>
                <a:ext cx="171450" cy="171450"/>
                <a:chOff x="904875" y="1971675"/>
                <a:chExt cx="171450" cy="171450"/>
              </a:xfrm>
            </p:grpSpPr>
            <p:sp>
              <p:nvSpPr>
                <p:cNvPr id="12" name="Freeform 12"/>
                <p:cNvSpPr/>
                <p:nvPr/>
              </p:nvSpPr>
              <p:spPr>
                <a:xfrm>
                  <a:off x="1019175" y="2019300"/>
                  <a:ext cx="9525" cy="9525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9525" h="9525">
                      <a:moveTo>
                        <a:pt x="0" y="0"/>
                      </a:moveTo>
                      <a:lnTo>
                        <a:pt x="95" y="0"/>
                      </a:lnTo>
                    </a:path>
                  </a:pathLst>
                </a:custGeom>
                <a:noFill/>
                <a:ln w="19050">
                  <a:solidFill>
                    <a:srgbClr val="1565D8"/>
                  </a:solidFill>
                </a:ln>
              </p:spPr>
              <p:txBody>
                <a:bodyPr/>
                <a:p/>
              </p:txBody>
            </p:sp>
            <p:sp>
              <p:nvSpPr>
                <p:cNvPr id="13" name="Freeform 13"/>
                <p:cNvSpPr/>
                <p:nvPr/>
              </p:nvSpPr>
              <p:spPr>
                <a:xfrm>
                  <a:off x="904875" y="1971675"/>
                  <a:ext cx="171450" cy="171450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171450" h="171450">
                      <a:moveTo>
                        <a:pt x="0" y="28575"/>
                      </a:moveTo>
                      <a:cubicBezTo>
                        <a:pt x="0" y="12793"/>
                        <a:pt x="12793" y="0"/>
                        <a:pt x="28575" y="0"/>
                      </a:cubicBezTo>
                      <a:lnTo>
                        <a:pt x="142875" y="0"/>
                      </a:lnTo>
                      <a:cubicBezTo>
                        <a:pt x="158657" y="0"/>
                        <a:pt x="171450" y="12793"/>
                        <a:pt x="171450" y="28575"/>
                      </a:cubicBezTo>
                      <a:lnTo>
                        <a:pt x="171450" y="142875"/>
                      </a:lnTo>
                      <a:cubicBezTo>
                        <a:pt x="171450" y="158657"/>
                        <a:pt x="158657" y="171450"/>
                        <a:pt x="142875" y="171450"/>
                      </a:cubicBezTo>
                      <a:lnTo>
                        <a:pt x="28575" y="171450"/>
                      </a:lnTo>
                      <a:cubicBezTo>
                        <a:pt x="12793" y="171450"/>
                        <a:pt x="0" y="158657"/>
                        <a:pt x="0" y="142875"/>
                      </a:cubicBezTo>
                      <a:lnTo>
                        <a:pt x="0" y="28575"/>
                      </a:lnTo>
                    </a:path>
                  </a:pathLst>
                </a:custGeom>
                <a:noFill/>
                <a:ln w="19050">
                  <a:solidFill>
                    <a:srgbClr val="1565D8"/>
                  </a:solidFill>
                </a:ln>
              </p:spPr>
              <p:txBody>
                <a:bodyPr/>
                <a:p/>
              </p:txBody>
            </p:sp>
            <p:sp>
              <p:nvSpPr>
                <p:cNvPr id="14" name="Freeform 14"/>
                <p:cNvSpPr/>
                <p:nvPr/>
              </p:nvSpPr>
              <p:spPr>
                <a:xfrm>
                  <a:off x="904875" y="2039369"/>
                  <a:ext cx="123825" cy="56131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123825" h="56131">
                      <a:moveTo>
                        <a:pt x="0" y="56131"/>
                      </a:moveTo>
                      <a:lnTo>
                        <a:pt x="47625" y="8506"/>
                      </a:lnTo>
                      <a:cubicBezTo>
                        <a:pt x="56464" y="0"/>
                        <a:pt x="67361" y="0"/>
                        <a:pt x="76200" y="8506"/>
                      </a:cubicBezTo>
                      <a:lnTo>
                        <a:pt x="123825" y="56131"/>
                      </a:lnTo>
                    </a:path>
                  </a:pathLst>
                </a:custGeom>
                <a:noFill/>
                <a:ln w="19050">
                  <a:solidFill>
                    <a:srgbClr val="1565D8"/>
                  </a:solidFill>
                </a:ln>
              </p:spPr>
              <p:txBody>
                <a:bodyPr/>
                <a:p/>
              </p:txBody>
            </p:sp>
            <p:sp>
              <p:nvSpPr>
                <p:cNvPr id="15" name="Freeform 15"/>
                <p:cNvSpPr/>
                <p:nvPr/>
              </p:nvSpPr>
              <p:spPr>
                <a:xfrm>
                  <a:off x="1009650" y="2058419"/>
                  <a:ext cx="66675" cy="37081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66675" h="37081">
                      <a:moveTo>
                        <a:pt x="0" y="18031"/>
                      </a:moveTo>
                      <a:lnTo>
                        <a:pt x="9525" y="8506"/>
                      </a:lnTo>
                      <a:cubicBezTo>
                        <a:pt x="18364" y="0"/>
                        <a:pt x="29261" y="0"/>
                        <a:pt x="38100" y="8506"/>
                      </a:cubicBezTo>
                      <a:lnTo>
                        <a:pt x="66675" y="37081"/>
                      </a:lnTo>
                    </a:path>
                  </a:pathLst>
                </a:custGeom>
                <a:noFill/>
                <a:ln w="19050">
                  <a:solidFill>
                    <a:srgbClr val="1565D8"/>
                  </a:solidFill>
                </a:ln>
              </p:spPr>
              <p:txBody>
                <a:bodyPr/>
                <a:p/>
              </p:txBody>
            </p:sp>
          </p:grpSp>
          <p:sp>
            <p:nvSpPr>
              <p:cNvPr id="17" name="TextBox 17"/>
              <p:cNvSpPr txBox="1"/>
              <p:nvPr/>
            </p:nvSpPr>
            <p:spPr>
              <a:xfrm>
                <a:off x="1314450" y="1971675"/>
                <a:ext cx="668179" cy="3048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l"/>
                <a:r>
                  <a:rPr lang="zh-CN" sz="1500" b="1" dirty="0">
                    <a:solidFill>
                      <a:srgbClr val="2B3648"/>
                    </a:solidFill>
                    <a:latin typeface="Arial"/>
                    <a:ea typeface="Microsoft YaHei"/>
                    <a:cs typeface="Arial"/>
                  </a:rPr>
                  <a:t>会看图</a:t>
                </a:r>
              </a:p>
            </p:txBody>
          </p:sp>
          <p:sp>
            <p:nvSpPr>
              <p:cNvPr id="18" name="TextBox 18"/>
              <p:cNvSpPr txBox="1"/>
              <p:nvPr/>
            </p:nvSpPr>
            <p:spPr>
              <a:xfrm>
                <a:off x="786765" y="2534602"/>
                <a:ext cx="2266950" cy="21336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l"/>
                <a:r>
                  <a:rPr lang="zh-CN" sz="1050" dirty="0">
                    <a:solidFill>
                      <a:srgbClr val="5B6B82"/>
                    </a:solidFill>
                    <a:latin typeface="Arial"/>
                    <a:ea typeface="Microsoft YaHei"/>
                    <a:cs typeface="Arial"/>
                  </a:rPr>
                  <a:t>产品照片、图纸、截图直接拍给它：</a:t>
                </a:r>
              </a:p>
            </p:txBody>
          </p:sp>
          <p:sp>
            <p:nvSpPr>
              <p:cNvPr id="19" name="TextBox 19"/>
              <p:cNvSpPr txBox="1"/>
              <p:nvPr/>
            </p:nvSpPr>
            <p:spPr>
              <a:xfrm>
                <a:off x="786765" y="2782252"/>
                <a:ext cx="1566863" cy="21336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l"/>
                <a:r>
                  <a:rPr lang="zh-CN" sz="1050" dirty="0">
                    <a:solidFill>
                      <a:srgbClr val="5B6B82"/>
                    </a:solidFill>
                    <a:latin typeface="Arial"/>
                    <a:ea typeface="Microsoft YaHei"/>
                    <a:cs typeface="Arial"/>
                  </a:rPr>
                  <a:t>能看懂、能描述、能分析</a:t>
                </a:r>
              </a:p>
            </p:txBody>
          </p:sp>
        </p:grpSp>
        <p:grpSp>
          <p:nvGrpSpPr>
            <p:cNvPr id="31" name="Group 31"/>
            <p:cNvGrpSpPr/>
            <p:nvPr/>
          </p:nvGrpSpPr>
          <p:grpSpPr>
            <a:xfrm>
              <a:off x="4152900" y="1619250"/>
              <a:ext cx="3371850" cy="1790700"/>
              <a:chOff x="4152900" y="1619250"/>
              <a:chExt cx="3371850" cy="1790700"/>
            </a:xfrm>
          </p:grpSpPr>
          <p:sp>
            <p:nvSpPr>
              <p:cNvPr id="21" name="Rectangle 21"/>
              <p:cNvSpPr/>
              <p:nvPr/>
            </p:nvSpPr>
            <p:spPr>
              <a:xfrm>
                <a:off x="4152900" y="1619250"/>
                <a:ext cx="3371850" cy="1790700"/>
              </a:xfrm>
              <a:prstGeom prst="roundRect">
                <a:avLst>
                  <a:gd name="adj" fmla="val 8511"/>
                </a:avLst>
              </a:prstGeom>
              <a:solidFill>
                <a:srgbClr val="FFFFFF"/>
              </a:solidFill>
              <a:ln w="9525">
                <a:solidFill>
                  <a:srgbClr val="D8E1EC"/>
                </a:solidFill>
              </a:ln>
            </p:spPr>
            <p:txBody>
              <a:bodyPr/>
              <a:p/>
            </p:txBody>
          </p:sp>
          <p:sp>
            <p:nvSpPr>
              <p:cNvPr id="22" name="Ellipse 22"/>
              <p:cNvSpPr/>
              <p:nvPr/>
            </p:nvSpPr>
            <p:spPr>
              <a:xfrm>
                <a:off x="4362450" y="1847850"/>
                <a:ext cx="419100" cy="419100"/>
              </a:xfrm>
              <a:prstGeom prst="ellipse">
                <a:avLst/>
              </a:prstGeom>
              <a:solidFill>
                <a:srgbClr val="D6E6F9"/>
              </a:solidFill>
              <a:ln>
                <a:noFill/>
              </a:ln>
            </p:spPr>
            <p:txBody>
              <a:bodyPr/>
              <a:p/>
            </p:txBody>
          </p:sp>
          <p:grpSp>
            <p:nvGrpSpPr>
              <p:cNvPr id="27" name="Group 27"/>
              <p:cNvGrpSpPr/>
              <p:nvPr/>
            </p:nvGrpSpPr>
            <p:grpSpPr>
              <a:xfrm>
                <a:off x="4505325" y="1962150"/>
                <a:ext cx="133350" cy="190500"/>
                <a:chOff x="4505325" y="1962150"/>
                <a:chExt cx="133350" cy="190500"/>
              </a:xfrm>
            </p:grpSpPr>
            <p:sp>
              <p:nvSpPr>
                <p:cNvPr id="23" name="Freeform 23"/>
                <p:cNvSpPr/>
                <p:nvPr/>
              </p:nvSpPr>
              <p:spPr>
                <a:xfrm>
                  <a:off x="4543425" y="1962150"/>
                  <a:ext cx="57150" cy="104775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57150" h="104775">
                      <a:moveTo>
                        <a:pt x="0" y="28575"/>
                      </a:moveTo>
                      <a:cubicBezTo>
                        <a:pt x="0" y="12793"/>
                        <a:pt x="12793" y="0"/>
                        <a:pt x="28575" y="0"/>
                      </a:cubicBezTo>
                      <a:cubicBezTo>
                        <a:pt x="44357" y="0"/>
                        <a:pt x="57150" y="12793"/>
                        <a:pt x="57150" y="28575"/>
                      </a:cubicBezTo>
                      <a:lnTo>
                        <a:pt x="57150" y="76200"/>
                      </a:lnTo>
                      <a:cubicBezTo>
                        <a:pt x="57150" y="91982"/>
                        <a:pt x="44357" y="104775"/>
                        <a:pt x="28575" y="104775"/>
                      </a:cubicBezTo>
                      <a:cubicBezTo>
                        <a:pt x="12793" y="104775"/>
                        <a:pt x="0" y="91982"/>
                        <a:pt x="0" y="76200"/>
                      </a:cubicBezTo>
                      <a:lnTo>
                        <a:pt x="0" y="28575"/>
                      </a:lnTo>
                    </a:path>
                  </a:pathLst>
                </a:custGeom>
                <a:noFill/>
                <a:ln w="19050">
                  <a:solidFill>
                    <a:srgbClr val="1565D8"/>
                  </a:solidFill>
                </a:ln>
              </p:spPr>
              <p:txBody>
                <a:bodyPr/>
                <a:p/>
              </p:txBody>
            </p:sp>
            <p:sp>
              <p:nvSpPr>
                <p:cNvPr id="24" name="Freeform 24"/>
                <p:cNvSpPr/>
                <p:nvPr/>
              </p:nvSpPr>
              <p:spPr>
                <a:xfrm>
                  <a:off x="4505325" y="2038350"/>
                  <a:ext cx="133350" cy="66675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133350" h="66675">
                      <a:moveTo>
                        <a:pt x="0" y="0"/>
                      </a:moveTo>
                      <a:cubicBezTo>
                        <a:pt x="0" y="36824"/>
                        <a:pt x="29851" y="66675"/>
                        <a:pt x="66675" y="66675"/>
                      </a:cubicBezTo>
                      <a:cubicBezTo>
                        <a:pt x="103499" y="66675"/>
                        <a:pt x="133350" y="36824"/>
                        <a:pt x="133350" y="0"/>
                      </a:cubicBezTo>
                    </a:path>
                  </a:pathLst>
                </a:custGeom>
                <a:noFill/>
                <a:ln w="19050">
                  <a:solidFill>
                    <a:srgbClr val="1565D8"/>
                  </a:solidFill>
                </a:ln>
              </p:spPr>
              <p:txBody>
                <a:bodyPr/>
                <a:p/>
              </p:txBody>
            </p:sp>
            <p:sp>
              <p:nvSpPr>
                <p:cNvPr id="25" name="Freeform 25"/>
                <p:cNvSpPr/>
                <p:nvPr/>
              </p:nvSpPr>
              <p:spPr>
                <a:xfrm>
                  <a:off x="4533900" y="2143125"/>
                  <a:ext cx="76200" cy="9525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76200" h="9525">
                      <a:moveTo>
                        <a:pt x="0" y="0"/>
                      </a:moveTo>
                      <a:lnTo>
                        <a:pt x="76200" y="0"/>
                      </a:lnTo>
                    </a:path>
                  </a:pathLst>
                </a:custGeom>
                <a:noFill/>
                <a:ln w="19050">
                  <a:solidFill>
                    <a:srgbClr val="1565D8"/>
                  </a:solidFill>
                </a:ln>
              </p:spPr>
              <p:txBody>
                <a:bodyPr/>
                <a:p/>
              </p:txBody>
            </p:sp>
            <p:sp>
              <p:nvSpPr>
                <p:cNvPr id="26" name="Freeform 26"/>
                <p:cNvSpPr/>
                <p:nvPr/>
              </p:nvSpPr>
              <p:spPr>
                <a:xfrm>
                  <a:off x="4572000" y="2105025"/>
                  <a:ext cx="9525" cy="38100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9525" h="38100">
                      <a:moveTo>
                        <a:pt x="0" y="0"/>
                      </a:moveTo>
                      <a:lnTo>
                        <a:pt x="0" y="38100"/>
                      </a:lnTo>
                    </a:path>
                  </a:pathLst>
                </a:custGeom>
                <a:noFill/>
                <a:ln w="19050">
                  <a:solidFill>
                    <a:srgbClr val="1565D8"/>
                  </a:solidFill>
                </a:ln>
              </p:spPr>
              <p:txBody>
                <a:bodyPr/>
                <a:p/>
              </p:txBody>
            </p:sp>
          </p:grpSp>
          <p:sp>
            <p:nvSpPr>
              <p:cNvPr id="28" name="TextBox 28"/>
              <p:cNvSpPr txBox="1"/>
              <p:nvPr/>
            </p:nvSpPr>
            <p:spPr>
              <a:xfrm>
                <a:off x="4895850" y="1971675"/>
                <a:ext cx="878205" cy="3048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l"/>
                <a:r>
                  <a:rPr lang="zh-CN" sz="1500" b="1" dirty="0">
                    <a:solidFill>
                      <a:srgbClr val="2B3648"/>
                    </a:solidFill>
                    <a:latin typeface="Arial"/>
                    <a:ea typeface="Microsoft YaHei"/>
                    <a:cs typeface="Arial"/>
                  </a:rPr>
                  <a:t>会听声音</a:t>
                </a:r>
              </a:p>
            </p:txBody>
          </p:sp>
          <p:sp>
            <p:nvSpPr>
              <p:cNvPr id="29" name="TextBox 29"/>
              <p:cNvSpPr txBox="1"/>
              <p:nvPr/>
            </p:nvSpPr>
            <p:spPr>
              <a:xfrm>
                <a:off x="4368165" y="2534602"/>
                <a:ext cx="1986915" cy="21336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l"/>
                <a:r>
                  <a:rPr lang="zh-CN" sz="1050" dirty="0">
                    <a:solidFill>
                      <a:srgbClr val="5B6B82"/>
                    </a:solidFill>
                    <a:latin typeface="Arial"/>
                    <a:ea typeface="Microsoft YaHei"/>
                    <a:cs typeface="Arial"/>
                  </a:rPr>
                  <a:t>会议录音、采访录音转成文字，</a:t>
                </a:r>
              </a:p>
            </p:txBody>
          </p:sp>
          <p:sp>
            <p:nvSpPr>
              <p:cNvPr id="30" name="TextBox 30"/>
              <p:cNvSpPr txBox="1"/>
              <p:nvPr/>
            </p:nvSpPr>
            <p:spPr>
              <a:xfrm>
                <a:off x="4368165" y="2782252"/>
                <a:ext cx="1846898" cy="21336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l"/>
                <a:r>
                  <a:rPr lang="zh-CN" sz="1050" dirty="0">
                    <a:solidFill>
                      <a:srgbClr val="5B6B82"/>
                    </a:solidFill>
                    <a:latin typeface="Arial"/>
                    <a:ea typeface="Microsoft YaHei"/>
                    <a:cs typeface="Arial"/>
                  </a:rPr>
                  <a:t>再让它总结、出纪要、找待办</a:t>
                </a:r>
              </a:p>
            </p:txBody>
          </p:sp>
        </p:grpSp>
        <p:grpSp>
          <p:nvGrpSpPr>
            <p:cNvPr id="41" name="Group 41"/>
            <p:cNvGrpSpPr/>
            <p:nvPr/>
          </p:nvGrpSpPr>
          <p:grpSpPr>
            <a:xfrm>
              <a:off x="571500" y="3600450"/>
              <a:ext cx="3371850" cy="1790700"/>
              <a:chOff x="571500" y="3600450"/>
              <a:chExt cx="3371850" cy="1790700"/>
            </a:xfrm>
          </p:grpSpPr>
          <p:sp>
            <p:nvSpPr>
              <p:cNvPr id="32" name="Rectangle 32"/>
              <p:cNvSpPr/>
              <p:nvPr/>
            </p:nvSpPr>
            <p:spPr>
              <a:xfrm>
                <a:off x="571500" y="3600450"/>
                <a:ext cx="3371850" cy="1790700"/>
              </a:xfrm>
              <a:prstGeom prst="roundRect">
                <a:avLst>
                  <a:gd name="adj" fmla="val 8511"/>
                </a:avLst>
              </a:prstGeom>
              <a:solidFill>
                <a:srgbClr val="FFFFFF"/>
              </a:solidFill>
              <a:ln w="9525">
                <a:solidFill>
                  <a:srgbClr val="D8E1EC"/>
                </a:solidFill>
              </a:ln>
            </p:spPr>
            <p:txBody>
              <a:bodyPr/>
              <a:p/>
            </p:txBody>
          </p:sp>
          <p:sp>
            <p:nvSpPr>
              <p:cNvPr id="33" name="Ellipse 33"/>
              <p:cNvSpPr/>
              <p:nvPr/>
            </p:nvSpPr>
            <p:spPr>
              <a:xfrm>
                <a:off x="781050" y="3829050"/>
                <a:ext cx="419100" cy="419100"/>
              </a:xfrm>
              <a:prstGeom prst="ellipse">
                <a:avLst/>
              </a:prstGeom>
              <a:solidFill>
                <a:srgbClr val="D6E6F9"/>
              </a:solidFill>
              <a:ln>
                <a:noFill/>
              </a:ln>
            </p:spPr>
            <p:txBody>
              <a:bodyPr/>
              <a:p/>
            </p:txBody>
          </p:sp>
          <p:grpSp>
            <p:nvGrpSpPr>
              <p:cNvPr id="37" name="Group 37"/>
              <p:cNvGrpSpPr/>
              <p:nvPr/>
            </p:nvGrpSpPr>
            <p:grpSpPr>
              <a:xfrm>
                <a:off x="904875" y="3952875"/>
                <a:ext cx="171450" cy="171450"/>
                <a:chOff x="904875" y="3952875"/>
                <a:chExt cx="171450" cy="171450"/>
              </a:xfrm>
            </p:grpSpPr>
            <p:sp>
              <p:nvSpPr>
                <p:cNvPr id="34" name="Freeform 34"/>
                <p:cNvSpPr/>
                <p:nvPr/>
              </p:nvSpPr>
              <p:spPr>
                <a:xfrm>
                  <a:off x="904875" y="3952875"/>
                  <a:ext cx="171450" cy="171450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171450" h="171450">
                      <a:moveTo>
                        <a:pt x="0" y="19050"/>
                      </a:moveTo>
                      <a:cubicBezTo>
                        <a:pt x="0" y="8529"/>
                        <a:pt x="8529" y="0"/>
                        <a:pt x="19050" y="0"/>
                      </a:cubicBezTo>
                      <a:lnTo>
                        <a:pt x="152400" y="0"/>
                      </a:lnTo>
                      <a:cubicBezTo>
                        <a:pt x="162921" y="0"/>
                        <a:pt x="171450" y="8529"/>
                        <a:pt x="171450" y="19050"/>
                      </a:cubicBezTo>
                      <a:lnTo>
                        <a:pt x="171450" y="152400"/>
                      </a:lnTo>
                      <a:cubicBezTo>
                        <a:pt x="171450" y="162921"/>
                        <a:pt x="162921" y="171450"/>
                        <a:pt x="152400" y="171450"/>
                      </a:cubicBezTo>
                      <a:lnTo>
                        <a:pt x="19050" y="171450"/>
                      </a:lnTo>
                      <a:cubicBezTo>
                        <a:pt x="8529" y="171450"/>
                        <a:pt x="0" y="162921"/>
                        <a:pt x="0" y="152400"/>
                      </a:cubicBezTo>
                      <a:lnTo>
                        <a:pt x="0" y="19050"/>
                      </a:lnTo>
                    </a:path>
                  </a:pathLst>
                </a:custGeom>
                <a:noFill/>
                <a:ln w="19050">
                  <a:solidFill>
                    <a:srgbClr val="1565D8"/>
                  </a:solidFill>
                </a:ln>
              </p:spPr>
              <p:txBody>
                <a:bodyPr/>
                <a:p/>
              </p:txBody>
            </p:sp>
            <p:sp>
              <p:nvSpPr>
                <p:cNvPr id="35" name="Freeform 35"/>
                <p:cNvSpPr/>
                <p:nvPr/>
              </p:nvSpPr>
              <p:spPr>
                <a:xfrm>
                  <a:off x="904875" y="4019550"/>
                  <a:ext cx="171450" cy="9525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171450" h="9525">
                      <a:moveTo>
                        <a:pt x="0" y="0"/>
                      </a:moveTo>
                      <a:lnTo>
                        <a:pt x="171450" y="0"/>
                      </a:lnTo>
                    </a:path>
                  </a:pathLst>
                </a:custGeom>
                <a:noFill/>
                <a:ln w="19050">
                  <a:solidFill>
                    <a:srgbClr val="1565D8"/>
                  </a:solidFill>
                </a:ln>
              </p:spPr>
              <p:txBody>
                <a:bodyPr/>
                <a:p/>
              </p:txBody>
            </p:sp>
            <p:sp>
              <p:nvSpPr>
                <p:cNvPr id="36" name="Freeform 36"/>
                <p:cNvSpPr/>
                <p:nvPr/>
              </p:nvSpPr>
              <p:spPr>
                <a:xfrm>
                  <a:off x="971550" y="3952875"/>
                  <a:ext cx="9525" cy="171450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9525" h="171450">
                      <a:moveTo>
                        <a:pt x="0" y="0"/>
                      </a:moveTo>
                      <a:lnTo>
                        <a:pt x="0" y="171450"/>
                      </a:lnTo>
                    </a:path>
                  </a:pathLst>
                </a:custGeom>
                <a:noFill/>
                <a:ln w="19050">
                  <a:solidFill>
                    <a:srgbClr val="1565D8"/>
                  </a:solidFill>
                </a:ln>
              </p:spPr>
              <p:txBody>
                <a:bodyPr/>
                <a:p/>
              </p:txBody>
            </p:sp>
          </p:grpSp>
          <p:sp>
            <p:nvSpPr>
              <p:cNvPr id="38" name="TextBox 38"/>
              <p:cNvSpPr txBox="1"/>
              <p:nvPr/>
            </p:nvSpPr>
            <p:spPr>
              <a:xfrm>
                <a:off x="1314450" y="3952875"/>
                <a:ext cx="878205" cy="3048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l"/>
                <a:r>
                  <a:rPr lang="zh-CN" sz="1500" b="1" dirty="0">
                    <a:solidFill>
                      <a:srgbClr val="2B3648"/>
                    </a:solidFill>
                    <a:latin typeface="Arial"/>
                    <a:ea typeface="Microsoft YaHei"/>
                    <a:cs typeface="Arial"/>
                  </a:rPr>
                  <a:t>会读表格</a:t>
                </a:r>
              </a:p>
            </p:txBody>
          </p:sp>
          <p:sp>
            <p:nvSpPr>
              <p:cNvPr id="39" name="TextBox 39"/>
              <p:cNvSpPr txBox="1"/>
              <p:nvPr/>
            </p:nvSpPr>
            <p:spPr>
              <a:xfrm>
                <a:off x="786765" y="4515802"/>
                <a:ext cx="1517856" cy="21336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l"/>
                <a:r>
                  <a:rPr lang="zh-CN" sz="1050" dirty="0">
                    <a:solidFill>
                      <a:srgbClr val="5B6B82"/>
                    </a:solidFill>
                    <a:latin typeface="Arial"/>
                    <a:ea typeface="Microsoft YaHei"/>
                    <a:cs typeface="Arial"/>
                  </a:rPr>
                  <a:t>Excel / 统计表直接传：</a:t>
                </a:r>
              </a:p>
            </p:txBody>
          </p:sp>
          <p:sp>
            <p:nvSpPr>
              <p:cNvPr id="40" name="TextBox 40"/>
              <p:cNvSpPr txBox="1"/>
              <p:nvPr/>
            </p:nvSpPr>
            <p:spPr>
              <a:xfrm>
                <a:off x="786765" y="4763452"/>
                <a:ext cx="1566863" cy="21336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l"/>
                <a:r>
                  <a:rPr lang="zh-CN" sz="1050" dirty="0">
                    <a:solidFill>
                      <a:srgbClr val="5B6B82"/>
                    </a:solidFill>
                    <a:latin typeface="Arial"/>
                    <a:ea typeface="Microsoft YaHei"/>
                    <a:cs typeface="Arial"/>
                  </a:rPr>
                  <a:t>找异常、算公式、出结论</a:t>
                </a:r>
              </a:p>
            </p:txBody>
          </p:sp>
        </p:grpSp>
        <p:grpSp>
          <p:nvGrpSpPr>
            <p:cNvPr id="53" name="Group 53"/>
            <p:cNvGrpSpPr/>
            <p:nvPr/>
          </p:nvGrpSpPr>
          <p:grpSpPr>
            <a:xfrm>
              <a:off x="4152900" y="3600450"/>
              <a:ext cx="3371850" cy="1790700"/>
              <a:chOff x="4152900" y="3600450"/>
              <a:chExt cx="3371850" cy="1790700"/>
            </a:xfrm>
          </p:grpSpPr>
          <p:sp>
            <p:nvSpPr>
              <p:cNvPr id="42" name="Rectangle 42"/>
              <p:cNvSpPr/>
              <p:nvPr/>
            </p:nvSpPr>
            <p:spPr>
              <a:xfrm>
                <a:off x="4152900" y="3600450"/>
                <a:ext cx="3371850" cy="1790700"/>
              </a:xfrm>
              <a:prstGeom prst="roundRect">
                <a:avLst>
                  <a:gd name="adj" fmla="val 8511"/>
                </a:avLst>
              </a:prstGeom>
              <a:solidFill>
                <a:srgbClr val="FFFFFF"/>
              </a:solidFill>
              <a:ln w="9525">
                <a:solidFill>
                  <a:srgbClr val="D8E1EC"/>
                </a:solidFill>
              </a:ln>
            </p:spPr>
            <p:txBody>
              <a:bodyPr/>
              <a:p/>
            </p:txBody>
          </p:sp>
          <p:sp>
            <p:nvSpPr>
              <p:cNvPr id="43" name="Ellipse 43"/>
              <p:cNvSpPr/>
              <p:nvPr/>
            </p:nvSpPr>
            <p:spPr>
              <a:xfrm>
                <a:off x="4362450" y="3829050"/>
                <a:ext cx="419100" cy="419100"/>
              </a:xfrm>
              <a:prstGeom prst="ellipse">
                <a:avLst/>
              </a:prstGeom>
              <a:solidFill>
                <a:srgbClr val="D6E6F9"/>
              </a:solidFill>
              <a:ln>
                <a:noFill/>
              </a:ln>
            </p:spPr>
            <p:txBody>
              <a:bodyPr/>
              <a:p/>
            </p:txBody>
          </p:sp>
          <p:grpSp>
            <p:nvGrpSpPr>
              <p:cNvPr id="49" name="Group 49"/>
              <p:cNvGrpSpPr/>
              <p:nvPr/>
            </p:nvGrpSpPr>
            <p:grpSpPr>
              <a:xfrm>
                <a:off x="4505325" y="3952875"/>
                <a:ext cx="133350" cy="171450"/>
                <a:chOff x="4505325" y="3952875"/>
                <a:chExt cx="133350" cy="171450"/>
              </a:xfrm>
            </p:grpSpPr>
            <p:sp>
              <p:nvSpPr>
                <p:cNvPr id="44" name="Freeform 44"/>
                <p:cNvSpPr/>
                <p:nvPr/>
              </p:nvSpPr>
              <p:spPr>
                <a:xfrm>
                  <a:off x="4591050" y="3952875"/>
                  <a:ext cx="47625" cy="47625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47625" h="47625">
                      <a:moveTo>
                        <a:pt x="0" y="0"/>
                      </a:moveTo>
                      <a:lnTo>
                        <a:pt x="0" y="38100"/>
                      </a:lnTo>
                      <a:cubicBezTo>
                        <a:pt x="0" y="43361"/>
                        <a:pt x="4264" y="47625"/>
                        <a:pt x="9525" y="47625"/>
                      </a:cubicBezTo>
                      <a:lnTo>
                        <a:pt x="47625" y="47625"/>
                      </a:lnTo>
                    </a:path>
                  </a:pathLst>
                </a:custGeom>
                <a:noFill/>
                <a:ln w="19050">
                  <a:solidFill>
                    <a:srgbClr val="1565D8"/>
                  </a:solidFill>
                </a:ln>
              </p:spPr>
              <p:txBody>
                <a:bodyPr/>
                <a:p/>
              </p:txBody>
            </p:sp>
            <p:sp>
              <p:nvSpPr>
                <p:cNvPr id="45" name="Freeform 45"/>
                <p:cNvSpPr/>
                <p:nvPr/>
              </p:nvSpPr>
              <p:spPr>
                <a:xfrm>
                  <a:off x="4505325" y="3952875"/>
                  <a:ext cx="133350" cy="171450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133350" h="171450">
                      <a:moveTo>
                        <a:pt x="114300" y="171450"/>
                      </a:moveTo>
                      <a:lnTo>
                        <a:pt x="19050" y="171450"/>
                      </a:lnTo>
                      <a:cubicBezTo>
                        <a:pt x="8529" y="171450"/>
                        <a:pt x="0" y="162921"/>
                        <a:pt x="0" y="152400"/>
                      </a:cubicBezTo>
                      <a:lnTo>
                        <a:pt x="0" y="19050"/>
                      </a:lnTo>
                      <a:cubicBezTo>
                        <a:pt x="0" y="8529"/>
                        <a:pt x="8529" y="0"/>
                        <a:pt x="19050" y="0"/>
                      </a:cubicBezTo>
                      <a:lnTo>
                        <a:pt x="85725" y="0"/>
                      </a:lnTo>
                      <a:lnTo>
                        <a:pt x="133350" y="47625"/>
                      </a:lnTo>
                      <a:lnTo>
                        <a:pt x="133350" y="152400"/>
                      </a:lnTo>
                      <a:cubicBezTo>
                        <a:pt x="133350" y="162921"/>
                        <a:pt x="124821" y="171450"/>
                        <a:pt x="114300" y="171450"/>
                      </a:cubicBezTo>
                    </a:path>
                  </a:pathLst>
                </a:custGeom>
                <a:noFill/>
                <a:ln w="19050">
                  <a:solidFill>
                    <a:srgbClr val="1565D8"/>
                  </a:solidFill>
                </a:ln>
              </p:spPr>
              <p:txBody>
                <a:bodyPr/>
                <a:p/>
              </p:txBody>
            </p:sp>
            <p:sp>
              <p:nvSpPr>
                <p:cNvPr id="46" name="Freeform 46"/>
                <p:cNvSpPr/>
                <p:nvPr/>
              </p:nvSpPr>
              <p:spPr>
                <a:xfrm>
                  <a:off x="4543425" y="4010025"/>
                  <a:ext cx="9525" cy="9525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9525" h="9525">
                      <a:moveTo>
                        <a:pt x="0" y="0"/>
                      </a:moveTo>
                      <a:lnTo>
                        <a:pt x="9525" y="0"/>
                      </a:lnTo>
                    </a:path>
                  </a:pathLst>
                </a:custGeom>
                <a:noFill/>
                <a:ln w="19050">
                  <a:solidFill>
                    <a:srgbClr val="1565D8"/>
                  </a:solidFill>
                </a:ln>
              </p:spPr>
              <p:txBody>
                <a:bodyPr/>
                <a:p/>
              </p:txBody>
            </p:sp>
            <p:sp>
              <p:nvSpPr>
                <p:cNvPr id="47" name="Freeform 47"/>
                <p:cNvSpPr/>
                <p:nvPr/>
              </p:nvSpPr>
              <p:spPr>
                <a:xfrm>
                  <a:off x="4543425" y="4048125"/>
                  <a:ext cx="57150" cy="9525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57150" h="9525">
                      <a:moveTo>
                        <a:pt x="0" y="0"/>
                      </a:moveTo>
                      <a:lnTo>
                        <a:pt x="57150" y="0"/>
                      </a:lnTo>
                    </a:path>
                  </a:pathLst>
                </a:custGeom>
                <a:noFill/>
                <a:ln w="19050">
                  <a:solidFill>
                    <a:srgbClr val="1565D8"/>
                  </a:solidFill>
                </a:ln>
              </p:spPr>
              <p:txBody>
                <a:bodyPr/>
                <a:p/>
              </p:txBody>
            </p:sp>
            <p:sp>
              <p:nvSpPr>
                <p:cNvPr id="48" name="Freeform 48"/>
                <p:cNvSpPr/>
                <p:nvPr/>
              </p:nvSpPr>
              <p:spPr>
                <a:xfrm>
                  <a:off x="4543425" y="4086225"/>
                  <a:ext cx="57150" cy="9525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57150" h="9525">
                      <a:moveTo>
                        <a:pt x="0" y="0"/>
                      </a:moveTo>
                      <a:lnTo>
                        <a:pt x="57150" y="0"/>
                      </a:lnTo>
                    </a:path>
                  </a:pathLst>
                </a:custGeom>
                <a:noFill/>
                <a:ln w="19050">
                  <a:solidFill>
                    <a:srgbClr val="1565D8"/>
                  </a:solidFill>
                </a:ln>
              </p:spPr>
              <p:txBody>
                <a:bodyPr/>
                <a:p/>
              </p:txBody>
            </p:sp>
          </p:grpSp>
          <p:sp>
            <p:nvSpPr>
              <p:cNvPr id="50" name="TextBox 50"/>
              <p:cNvSpPr txBox="1"/>
              <p:nvPr/>
            </p:nvSpPr>
            <p:spPr>
              <a:xfrm>
                <a:off x="4895850" y="3952875"/>
                <a:ext cx="1088231" cy="3048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l"/>
                <a:r>
                  <a:rPr lang="zh-CN" sz="1500" b="1" dirty="0">
                    <a:solidFill>
                      <a:srgbClr val="2B3648"/>
                    </a:solidFill>
                    <a:latin typeface="Arial"/>
                    <a:ea typeface="Microsoft YaHei"/>
                    <a:cs typeface="Arial"/>
                  </a:rPr>
                  <a:t>会读长文档</a:t>
                </a:r>
              </a:p>
            </p:txBody>
          </p:sp>
          <p:sp>
            <p:nvSpPr>
              <p:cNvPr id="51" name="TextBox 51"/>
              <p:cNvSpPr txBox="1"/>
              <p:nvPr/>
            </p:nvSpPr>
            <p:spPr>
              <a:xfrm>
                <a:off x="4368165" y="4515802"/>
                <a:ext cx="1832896" cy="21336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l"/>
                <a:r>
                  <a:rPr lang="zh-CN" sz="1050" dirty="0">
                    <a:solidFill>
                      <a:srgbClr val="5B6B82"/>
                    </a:solidFill>
                    <a:latin typeface="Arial"/>
                    <a:ea typeface="Microsoft YaHei"/>
                    <a:cs typeface="Arial"/>
                  </a:rPr>
                  <a:t>100 页合同、制度、年报 PDF</a:t>
                </a:r>
              </a:p>
            </p:txBody>
          </p:sp>
          <p:sp>
            <p:nvSpPr>
              <p:cNvPr id="52" name="TextBox 52"/>
              <p:cNvSpPr txBox="1"/>
              <p:nvPr/>
            </p:nvSpPr>
            <p:spPr>
              <a:xfrm>
                <a:off x="4368165" y="4763452"/>
                <a:ext cx="1146810" cy="21336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l"/>
                <a:r>
                  <a:rPr lang="zh-CN" sz="1050" dirty="0">
                    <a:solidFill>
                      <a:srgbClr val="5B6B82"/>
                    </a:solidFill>
                    <a:latin typeface="Arial"/>
                    <a:ea typeface="Microsoft YaHei"/>
                    <a:cs typeface="Arial"/>
                  </a:rPr>
                  <a:t>丢给它，直接提问</a:t>
                </a:r>
              </a:p>
            </p:txBody>
          </p:sp>
        </p:grpSp>
      </p:grpSp>
      <p:grpSp>
        <p:nvGrpSpPr>
          <p:cNvPr id="56" name="Group 56"/>
          <p:cNvGrpSpPr/>
          <p:nvPr/>
        </p:nvGrpSpPr>
        <p:grpSpPr>
          <a:xfrm>
            <a:off x="7734300" y="1619250"/>
            <a:ext cx="3886200" cy="3886200"/>
            <a:chOff x="7734300" y="1619250"/>
            <a:chExt cx="3886200" cy="3886200"/>
          </a:xfrm>
        </p:grpSpPr>
        <p:pic>
          <p:nvPicPr>
            <p:cNvPr id="55" name="Image 55"/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7734300" y="1619250"/>
              <a:ext cx="3886200" cy="3886200"/>
            </a:xfrm>
            <a:prstGeom prst="roundRect">
              <a:avLst>
                <a:gd name="adj" fmla="val 3921"/>
              </a:avLst>
            </a:prstGeom>
          </p:spPr>
        </p:pic>
      </p:grpSp>
      <p:grpSp>
        <p:nvGrpSpPr>
          <p:cNvPr id="60" name="Group 60"/>
          <p:cNvGrpSpPr/>
          <p:nvPr/>
        </p:nvGrpSpPr>
        <p:grpSpPr>
          <a:xfrm>
            <a:off x="571500" y="5715000"/>
            <a:ext cx="11049000" cy="457200"/>
            <a:chOff x="571500" y="5715000"/>
            <a:chExt cx="11049000" cy="457200"/>
          </a:xfrm>
        </p:grpSpPr>
        <p:sp>
          <p:nvSpPr>
            <p:cNvPr id="57" name="Rectangle 57"/>
            <p:cNvSpPr/>
            <p:nvPr/>
          </p:nvSpPr>
          <p:spPr>
            <a:xfrm>
              <a:off x="571500" y="5715000"/>
              <a:ext cx="11049000" cy="457200"/>
            </a:xfrm>
            <a:prstGeom prst="roundRect">
              <a:avLst>
                <a:gd name="adj" fmla="val 33333"/>
              </a:avLst>
            </a:prstGeom>
            <a:solidFill>
              <a:srgbClr val="D6E6F9"/>
            </a:solidFill>
            <a:ln>
              <a:noFill/>
            </a:ln>
          </p:spPr>
          <p:txBody>
            <a:bodyPr/>
            <a:p/>
          </p:txBody>
        </p:sp>
        <p:sp>
          <p:nvSpPr>
            <p:cNvPr id="58" name="Rectangle 58"/>
            <p:cNvSpPr/>
            <p:nvPr/>
          </p:nvSpPr>
          <p:spPr>
            <a:xfrm>
              <a:off x="571500" y="5715000"/>
              <a:ext cx="76200" cy="457200"/>
            </a:xfrm>
            <a:prstGeom prst="roundRect">
              <a:avLst>
                <a:gd name="adj" fmla="val 50000"/>
              </a:avLst>
            </a:prstGeom>
            <a:solidFill>
              <a:srgbClr val="1565D8"/>
            </a:solidFill>
            <a:ln>
              <a:noFill/>
            </a:ln>
          </p:spPr>
          <p:txBody>
            <a:bodyPr/>
            <a:p/>
          </p:txBody>
        </p:sp>
        <p:sp>
          <p:nvSpPr>
            <p:cNvPr id="59" name="TextBox 59"/>
            <p:cNvSpPr txBox="1"/>
            <p:nvPr/>
          </p:nvSpPr>
          <p:spPr>
            <a:xfrm>
              <a:off x="859155" y="5864542"/>
              <a:ext cx="5752255" cy="27432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b="1" dirty="0">
                  <a:solidFill>
                    <a:srgbClr val="0B4EA2"/>
                  </a:solidFill>
                  <a:latin typeface="Arial"/>
                  <a:ea typeface="Microsoft YaHei"/>
                  <a:cs typeface="Arial"/>
                </a:rPr>
                <a:t>记住：会发微信，就会用多模态 AI——图、音、文件，都是它的输入。</a:t>
              </a:r>
            </a:p>
          </p:txBody>
        </p:sp>
      </p:grpSp>
      <p:grpSp>
        <p:nvGrpSpPr>
          <p:cNvPr id="63" name="Group 63"/>
          <p:cNvGrpSpPr/>
          <p:nvPr/>
        </p:nvGrpSpPr>
        <p:grpSpPr>
          <a:xfrm>
            <a:off x="560070" y="6341745"/>
            <a:ext cx="11071860" cy="182880"/>
            <a:chOff x="560070" y="6341745"/>
            <a:chExt cx="11071860" cy="182880"/>
          </a:xfrm>
        </p:grpSpPr>
        <p:sp>
          <p:nvSpPr>
            <p:cNvPr id="61" name="TextBox 61"/>
            <p:cNvSpPr txBox="1"/>
            <p:nvPr/>
          </p:nvSpPr>
          <p:spPr>
            <a:xfrm>
              <a:off x="560070" y="6341745"/>
              <a:ext cx="1054989" cy="18288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00" dirty="0">
                  <a:solidFill>
                    <a:srgbClr val="8B99AE"/>
                  </a:solidFill>
                  <a:latin typeface="Arial"/>
                  <a:ea typeface="Microsoft YaHei"/>
                  <a:cs typeface="Arial"/>
                </a:rPr>
                <a:t>大模型通识 · 企业版</a:t>
              </a:r>
            </a:p>
          </p:txBody>
        </p:sp>
        <p:sp>
          <p:nvSpPr>
            <p:cNvPr id="62" name="TextBox 62"/>
            <p:cNvSpPr txBox="1"/>
            <p:nvPr/>
          </p:nvSpPr>
          <p:spPr>
            <a:xfrm>
              <a:off x="11207020" y="6341745"/>
              <a:ext cx="424910" cy="18288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r"/>
              <a:r>
                <a:rPr lang="zh-CN" sz="900" dirty="0">
                  <a:solidFill>
                    <a:srgbClr val="8B99AE"/>
                  </a:solidFill>
                  <a:latin typeface="Arial"/>
                  <a:ea typeface="Microsoft YaHei"/>
                  <a:cs typeface="Arial"/>
                </a:rPr>
                <a:t>18 / 51</a:t>
              </a:r>
            </a:p>
          </p:txBody>
        </p:sp>
      </p:grpSp>
    </p:spTree>
  </p:cSld>
  <p:clrMapOvr>
    <a:masterClrMapping/>
  </p:clrMapOvr>
  <p:transition xmlns:p14="http://schemas.microsoft.com/office/powerpoint/2010/main" p14:dur="400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1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400"/>
                                        <p:tgtEl>
                                          <p:spTgt spid="5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900"/>
                            </p:stCondLst>
                            <p:childTnLst>
                              <p:par>
                                <p:cTn id="9" presetID="2" presetClass="entr" presetSubtype="4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slide(fromBottom)">
                                      <p:cBhvr>
                                        <p:cTn id="11" dur="400"/>
                                        <p:tgtEl>
                                          <p:spTgt spid="5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2" fill="hold">
                            <p:stCondLst>
                              <p:cond delay="1800"/>
                            </p:stCondLst>
                            <p:childTnLst>
                              <p:par>
                                <p:cTn id="13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400"/>
                                        <p:tgtEl>
                                          <p:spTgt spid="6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4" grpId="0"/>
      <p:bldP spid="56" grpId="0"/>
      <p:bldP spid="60" grpId="0"/>
    </p:bldLst>
  </p:timing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9" name="Group 9"/>
          <p:cNvGrpSpPr/>
          <p:nvPr/>
        </p:nvGrpSpPr>
        <p:grpSpPr>
          <a:xfrm>
            <a:off x="-666750" y="-1238250"/>
            <a:ext cx="15144750" cy="10382250"/>
            <a:chOff x="-666750" y="-1238250"/>
            <a:chExt cx="15144750" cy="10382250"/>
          </a:xfrm>
        </p:grpSpPr>
        <p:sp>
          <p:nvSpPr>
            <p:cNvPr id="2" name="Rectangle 2"/>
            <p:cNvSpPr/>
            <p:nvPr/>
          </p:nvSpPr>
          <p:spPr>
            <a:xfrm>
              <a:off x="0" y="0"/>
              <a:ext cx="12192000" cy="6858000"/>
            </a:xfrm>
            <a:prstGeom prst="rect">
              <a:avLst/>
            </a:prstGeom>
            <a:gradFill>
              <a:gsLst>
                <a:gs pos="0">
                  <a:srgbClr val="0B4EA2"/>
                </a:gs>
                <a:gs pos="55000">
                  <a:srgbClr val="1565D8"/>
                </a:gs>
                <a:gs pos="100000">
                  <a:srgbClr val="35A3E8"/>
                </a:gs>
              </a:gsLst>
              <a:lin ang="2700000" scaled="1"/>
            </a:gradFill>
            <a:ln>
              <a:noFill/>
            </a:ln>
          </p:spPr>
          <p:txBody>
            <a:bodyPr/>
            <a:p/>
          </p:txBody>
        </p:sp>
        <p:sp>
          <p:nvSpPr>
            <p:cNvPr id="3" name="Ellipse 3"/>
            <p:cNvSpPr/>
            <p:nvPr/>
          </p:nvSpPr>
          <p:spPr>
            <a:xfrm>
              <a:off x="8382000" y="3048000"/>
              <a:ext cx="6096000" cy="6096000"/>
            </a:xfrm>
            <a:prstGeom prst="ellipse">
              <a:avLst/>
            </a:prstGeom>
            <a:noFill/>
            <a:ln w="14288">
              <a:solidFill>
                <a:srgbClr val="FFFFFF">
                  <a:alpha val="10000"/>
                </a:srgbClr>
              </a:solidFill>
            </a:ln>
          </p:spPr>
          <p:txBody>
            <a:bodyPr/>
            <a:p/>
          </p:txBody>
        </p:sp>
        <p:sp>
          <p:nvSpPr>
            <p:cNvPr id="4" name="Ellipse 4"/>
            <p:cNvSpPr/>
            <p:nvPr/>
          </p:nvSpPr>
          <p:spPr>
            <a:xfrm>
              <a:off x="9048750" y="3714750"/>
              <a:ext cx="4762500" cy="4762500"/>
            </a:xfrm>
            <a:prstGeom prst="ellipse">
              <a:avLst/>
            </a:prstGeom>
            <a:noFill/>
            <a:ln w="14288">
              <a:solidFill>
                <a:srgbClr val="FFFFFF">
                  <a:alpha val="14000"/>
                </a:srgbClr>
              </a:solidFill>
              <a:custDash>
                <a:ds d="266666" sp="533333"/>
              </a:custDash>
            </a:ln>
          </p:spPr>
          <p:txBody>
            <a:bodyPr/>
            <a:p/>
          </p:txBody>
        </p:sp>
        <p:sp>
          <p:nvSpPr>
            <p:cNvPr id="5" name="Ellipse 5"/>
            <p:cNvSpPr/>
            <p:nvPr/>
          </p:nvSpPr>
          <p:spPr>
            <a:xfrm>
              <a:off x="9715500" y="4381500"/>
              <a:ext cx="3429000" cy="3429000"/>
            </a:xfrm>
            <a:prstGeom prst="ellipse">
              <a:avLst/>
            </a:prstGeom>
            <a:noFill/>
            <a:ln w="14288">
              <a:solidFill>
                <a:srgbClr val="FFFFFF">
                  <a:alpha val="10000"/>
                </a:srgbClr>
              </a:solidFill>
            </a:ln>
          </p:spPr>
          <p:txBody>
            <a:bodyPr/>
            <a:p/>
          </p:txBody>
        </p:sp>
        <p:sp>
          <p:nvSpPr>
            <p:cNvPr id="6" name="Ellipse 6"/>
            <p:cNvSpPr/>
            <p:nvPr/>
          </p:nvSpPr>
          <p:spPr>
            <a:xfrm>
              <a:off x="-666750" y="-1238250"/>
              <a:ext cx="3619500" cy="3619500"/>
            </a:xfrm>
            <a:prstGeom prst="ellipse">
              <a:avLst/>
            </a:prstGeom>
            <a:noFill/>
            <a:ln w="14288">
              <a:solidFill>
                <a:srgbClr val="FFFFFF">
                  <a:alpha val="8000"/>
                </a:srgbClr>
              </a:solidFill>
            </a:ln>
          </p:spPr>
          <p:txBody>
            <a:bodyPr/>
            <a:p/>
          </p:txBody>
        </p:sp>
        <p:sp>
          <p:nvSpPr>
            <p:cNvPr id="7" name="Ellipse 7"/>
            <p:cNvSpPr/>
            <p:nvPr/>
          </p:nvSpPr>
          <p:spPr>
            <a:xfrm>
              <a:off x="11382375" y="1095375"/>
              <a:ext cx="95250" cy="95250"/>
            </a:xfrm>
            <a:prstGeom prst="ellipse">
              <a:avLst/>
            </a:prstGeom>
            <a:solidFill>
              <a:srgbClr val="FFFFFF">
                <a:alpha val="20000"/>
              </a:srgbClr>
            </a:solidFill>
            <a:ln>
              <a:noFill/>
            </a:ln>
          </p:spPr>
          <p:txBody>
            <a:bodyPr/>
            <a:p/>
          </p:txBody>
        </p:sp>
        <p:sp>
          <p:nvSpPr>
            <p:cNvPr id="8" name="Ellipse 8"/>
            <p:cNvSpPr/>
            <p:nvPr/>
          </p:nvSpPr>
          <p:spPr>
            <a:xfrm>
              <a:off x="10629900" y="723900"/>
              <a:ext cx="76200" cy="76200"/>
            </a:xfrm>
            <a:prstGeom prst="ellipse">
              <a:avLst/>
            </a:prstGeom>
            <a:solidFill>
              <a:srgbClr val="FFFFFF">
                <a:alpha val="16000"/>
              </a:srgbClr>
            </a:solidFill>
            <a:ln>
              <a:noFill/>
            </a:ln>
          </p:spPr>
          <p:txBody>
            <a:bodyPr/>
            <a:p/>
          </p:txBody>
        </p:sp>
      </p:grpSp>
      <p:sp>
        <p:nvSpPr>
          <p:cNvPr id="10" name="TextBox 10"/>
          <p:cNvSpPr txBox="1"/>
          <p:nvPr/>
        </p:nvSpPr>
        <p:spPr>
          <a:xfrm>
            <a:off x="9619869" y="4038600"/>
            <a:ext cx="2153031" cy="24384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r"/>
            <a:r>
              <a:rPr lang="zh-CN" sz="12000" b="1" dirty="0">
                <a:solidFill>
                  <a:srgbClr val="FFFFFF">
                    <a:alphaMod val="14000"/>
                  </a:srgbClr>
                </a:solidFill>
                <a:latin typeface="Arial"/>
                <a:ea typeface="Microsoft YaHei"/>
                <a:cs typeface="Arial"/>
              </a:rPr>
              <a:t>04</a:t>
            </a:r>
          </a:p>
        </p:txBody>
      </p:sp>
      <p:sp>
        <p:nvSpPr>
          <p:cNvPr id="11" name="TextBox 11"/>
          <p:cNvSpPr txBox="1"/>
          <p:nvPr/>
        </p:nvSpPr>
        <p:spPr>
          <a:xfrm>
            <a:off x="560070" y="474345"/>
            <a:ext cx="634937" cy="18288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900" dirty="0">
                <a:solidFill>
                  <a:srgbClr val="FFFFFF">
                    <a:alphaMod val="50000"/>
                  </a:srgbClr>
                </a:solidFill>
                <a:latin typeface="Arial"/>
                <a:ea typeface="Microsoft YaHei"/>
                <a:cs typeface="Arial"/>
              </a:rPr>
              <a:t>LOGO HERE</a:t>
            </a:r>
          </a:p>
        </p:txBody>
      </p:sp>
      <p:grpSp>
        <p:nvGrpSpPr>
          <p:cNvPr id="18" name="Group 18"/>
          <p:cNvGrpSpPr/>
          <p:nvPr/>
        </p:nvGrpSpPr>
        <p:grpSpPr>
          <a:xfrm>
            <a:off x="529590" y="2423160"/>
            <a:ext cx="3164443" cy="2258378"/>
            <a:chOff x="529590" y="2423160"/>
            <a:chExt cx="3164443" cy="2258378"/>
          </a:xfrm>
        </p:grpSpPr>
        <p:sp>
          <p:nvSpPr>
            <p:cNvPr id="12" name="TextBox 12"/>
            <p:cNvSpPr txBox="1"/>
            <p:nvPr/>
          </p:nvSpPr>
          <p:spPr>
            <a:xfrm>
              <a:off x="556260" y="2423160"/>
              <a:ext cx="1078611" cy="24384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00" dirty="0">
                  <a:solidFill>
                    <a:srgbClr val="FFFFFF">
                      <a:alphaMod val="70000"/>
                    </a:srgbClr>
                  </a:solidFill>
                  <a:latin typeface="Arial"/>
                  <a:ea typeface="Microsoft YaHei"/>
                  <a:cs typeface="Arial"/>
                </a:rPr>
                <a:t>CHAPTER FOUR</a:t>
              </a:r>
            </a:p>
          </p:txBody>
        </p:sp>
        <p:sp>
          <p:nvSpPr>
            <p:cNvPr id="13" name="Rectangle 13"/>
            <p:cNvSpPr/>
            <p:nvPr/>
          </p:nvSpPr>
          <p:spPr>
            <a:xfrm>
              <a:off x="571500" y="2781300"/>
              <a:ext cx="533400" cy="38100"/>
            </a:xfrm>
            <a:prstGeom prst="roundRect">
              <a:avLst>
                <a:gd name="adj" fmla="val 50000"/>
              </a:avLst>
            </a:prstGeom>
            <a:solidFill>
              <a:srgbClr val="FFFFFF">
                <a:alpha val="85000"/>
              </a:srgbClr>
            </a:solidFill>
            <a:ln>
              <a:noFill/>
            </a:ln>
          </p:spPr>
          <p:txBody>
            <a:bodyPr/>
            <a:p/>
          </p:txBody>
        </p:sp>
        <p:sp>
          <p:nvSpPr>
            <p:cNvPr id="14" name="TextBox 14"/>
            <p:cNvSpPr txBox="1"/>
            <p:nvPr/>
          </p:nvSpPr>
          <p:spPr>
            <a:xfrm>
              <a:off x="529590" y="2996565"/>
              <a:ext cx="2394109" cy="67056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3300" b="1" dirty="0">
                  <a:solidFill>
                    <a:srgbClr val="FFFFFF"/>
                  </a:solidFill>
                  <a:latin typeface="Arial"/>
                  <a:ea typeface="Microsoft YaHei"/>
                  <a:cs typeface="Arial"/>
                </a:rPr>
                <a:t>写好提示词</a:t>
              </a:r>
            </a:p>
          </p:txBody>
        </p:sp>
        <p:sp>
          <p:nvSpPr>
            <p:cNvPr id="15" name="TextBox 15"/>
            <p:cNvSpPr txBox="1"/>
            <p:nvPr/>
          </p:nvSpPr>
          <p:spPr>
            <a:xfrm>
              <a:off x="550545" y="3593782"/>
              <a:ext cx="1901142" cy="33528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650" dirty="0">
                  <a:solidFill>
                    <a:srgbClr val="FFFFFF">
                      <a:alphaMod val="85000"/>
                    </a:srgbClr>
                  </a:solidFill>
                  <a:latin typeface="Arial"/>
                  <a:ea typeface="Microsoft YaHei"/>
                  <a:cs typeface="Arial"/>
                </a:rPr>
                <a:t>跟 AI 说话也有套路</a:t>
              </a:r>
            </a:p>
          </p:txBody>
        </p:sp>
        <p:sp>
          <p:nvSpPr>
            <p:cNvPr id="16" name="TextBox 16"/>
            <p:cNvSpPr txBox="1"/>
            <p:nvPr/>
          </p:nvSpPr>
          <p:spPr>
            <a:xfrm>
              <a:off x="554355" y="4121468"/>
              <a:ext cx="3139678" cy="27432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FFFFFF">
                      <a:alphaMod val="75000"/>
                    </a:srgbClr>
                  </a:solidFill>
                  <a:latin typeface="Arial"/>
                  <a:ea typeface="Microsoft YaHei"/>
                  <a:cs typeface="Arial"/>
                </a:rPr>
                <a:t>同一个 AI，问法不同，答案天差地别——</a:t>
              </a:r>
            </a:p>
          </p:txBody>
        </p:sp>
        <p:sp>
          <p:nvSpPr>
            <p:cNvPr id="17" name="TextBox 17"/>
            <p:cNvSpPr txBox="1"/>
            <p:nvPr/>
          </p:nvSpPr>
          <p:spPr>
            <a:xfrm>
              <a:off x="554355" y="4407218"/>
              <a:ext cx="2581608" cy="27432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FFFFFF">
                      <a:alphaMod val="75000"/>
                    </a:srgbClr>
                  </a:solidFill>
                  <a:latin typeface="Arial"/>
                  <a:ea typeface="Microsoft YaHei"/>
                  <a:cs typeface="Arial"/>
                </a:rPr>
                <a:t>差的往往不是 AI，是你怎么问。</a:t>
              </a:r>
            </a:p>
          </p:txBody>
        </p:sp>
      </p:grpSp>
    </p:spTree>
  </p:cSld>
  <p:clrMapOvr>
    <a:masterClrMapping/>
  </p:clrMapOvr>
  <p:transition xmlns:p14="http://schemas.microsoft.com/office/powerpoint/2010/main" p14:dur="400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8" grpId="0"/>
    </p:bldLst>
  </p:timing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5" name="Group 5"/>
          <p:cNvGrpSpPr/>
          <p:nvPr/>
        </p:nvGrpSpPr>
        <p:grpSpPr>
          <a:xfrm>
            <a:off x="-1619250" y="0"/>
            <a:ext cx="13811250" cy="8477250"/>
            <a:chOff x="-1619250" y="0"/>
            <a:chExt cx="13811250" cy="8477250"/>
          </a:xfrm>
        </p:grpSpPr>
        <p:sp>
          <p:nvSpPr>
            <p:cNvPr id="2" name="Rectangle 2"/>
            <p:cNvSpPr/>
            <p:nvPr/>
          </p:nvSpPr>
          <p:spPr>
            <a:xfrm>
              <a:off x="0" y="0"/>
              <a:ext cx="12192000" cy="6858000"/>
            </a:xfrm>
            <a:prstGeom prst="rect">
              <a:avLst/>
            </a:prstGeom>
            <a:solidFill>
              <a:srgbClr val="F5F7FA"/>
            </a:solidFill>
            <a:ln>
              <a:noFill/>
            </a:ln>
          </p:spPr>
          <p:txBody>
            <a:bodyPr/>
            <a:p/>
          </p:txBody>
        </p:sp>
        <p:sp>
          <p:nvSpPr>
            <p:cNvPr id="3" name="Rectangle 3"/>
            <p:cNvSpPr/>
            <p:nvPr/>
          </p:nvSpPr>
          <p:spPr>
            <a:xfrm>
              <a:off x="0" y="0"/>
              <a:ext cx="12192000" cy="6858000"/>
            </a:xfrm>
            <a:prstGeom prst="rect">
              <a:avLst/>
            </a:prstGeom>
            <a:gradFill>
              <a:gsLst>
                <a:gs pos="0">
                  <a:srgbClr val="1565D8">
                    <a:alpha val="6000"/>
                  </a:srgbClr>
                </a:gs>
                <a:gs pos="100000">
                  <a:srgbClr val="1565D8">
                    <a:alpha val="0"/>
                  </a:srgbClr>
                </a:gs>
              </a:gsLst>
              <a:path path="circle">
                <a:fillToRect l="50000" t="50000" r="50000" b="50000"/>
              </a:path>
            </a:gradFill>
            <a:ln>
              <a:noFill/>
            </a:ln>
          </p:spPr>
          <p:txBody>
            <a:bodyPr/>
            <a:p/>
          </p:txBody>
        </p:sp>
        <p:sp>
          <p:nvSpPr>
            <p:cNvPr id="4" name="Ellipse 4"/>
            <p:cNvSpPr/>
            <p:nvPr/>
          </p:nvSpPr>
          <p:spPr>
            <a:xfrm>
              <a:off x="-1619250" y="4667250"/>
              <a:ext cx="3810000" cy="3810000"/>
            </a:xfrm>
            <a:prstGeom prst="ellipse">
              <a:avLst/>
            </a:prstGeom>
            <a:noFill/>
            <a:ln w="14288">
              <a:solidFill>
                <a:srgbClr val="D6E6F9">
                  <a:alpha val="80000"/>
                </a:srgbClr>
              </a:solidFill>
            </a:ln>
          </p:spPr>
          <p:txBody>
            <a:bodyPr/>
            <a:p/>
          </p:txBody>
        </p:sp>
      </p:grpSp>
      <p:grpSp>
        <p:nvGrpSpPr>
          <p:cNvPr id="9" name="Group 9"/>
          <p:cNvGrpSpPr/>
          <p:nvPr/>
        </p:nvGrpSpPr>
        <p:grpSpPr>
          <a:xfrm>
            <a:off x="571500" y="685800"/>
            <a:ext cx="3513153" cy="700088"/>
            <a:chOff x="571500" y="685800"/>
            <a:chExt cx="3513153" cy="700088"/>
          </a:xfrm>
        </p:grpSpPr>
        <p:sp>
          <p:nvSpPr>
            <p:cNvPr id="6" name="Rectangle 6"/>
            <p:cNvSpPr/>
            <p:nvPr/>
          </p:nvSpPr>
          <p:spPr>
            <a:xfrm>
              <a:off x="571500" y="685800"/>
              <a:ext cx="76200" cy="323850"/>
            </a:xfrm>
            <a:prstGeom prst="roundRect">
              <a:avLst>
                <a:gd name="adj" fmla="val 50000"/>
              </a:avLst>
            </a:prstGeom>
            <a:solidFill>
              <a:srgbClr val="1565D8"/>
            </a:solidFill>
            <a:ln>
              <a:noFill/>
            </a:ln>
          </p:spPr>
          <p:txBody>
            <a:bodyPr/>
            <a:p/>
          </p:txBody>
        </p:sp>
        <p:sp>
          <p:nvSpPr>
            <p:cNvPr id="7" name="TextBox 7"/>
            <p:cNvSpPr txBox="1"/>
            <p:nvPr/>
          </p:nvSpPr>
          <p:spPr>
            <a:xfrm>
              <a:off x="771525" y="700088"/>
              <a:ext cx="1947386" cy="45720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2250" b="1" dirty="0">
                  <a:solidFill>
                    <a:srgbClr val="2B3648"/>
                  </a:solidFill>
                  <a:latin typeface="Arial"/>
                  <a:ea typeface="Microsoft YaHei"/>
                  <a:cs typeface="Arial"/>
                </a:rPr>
                <a:t>提示词五要素</a:t>
              </a:r>
            </a:p>
          </p:txBody>
        </p:sp>
        <p:sp>
          <p:nvSpPr>
            <p:cNvPr id="8" name="TextBox 8"/>
            <p:cNvSpPr txBox="1"/>
            <p:nvPr/>
          </p:nvSpPr>
          <p:spPr>
            <a:xfrm>
              <a:off x="782955" y="1111568"/>
              <a:ext cx="3301698" cy="27432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5B6B82"/>
                  </a:solidFill>
                  <a:latin typeface="Arial"/>
                  <a:ea typeface="Microsoft YaHei"/>
                  <a:cs typeface="Arial"/>
                </a:rPr>
                <a:t>把这五样讲清楚，AI 才知道你到底要什么</a:t>
              </a:r>
            </a:p>
          </p:txBody>
        </p:sp>
      </p:grpSp>
      <p:grpSp>
        <p:nvGrpSpPr>
          <p:cNvPr id="82" name="Group 82"/>
          <p:cNvGrpSpPr/>
          <p:nvPr/>
        </p:nvGrpSpPr>
        <p:grpSpPr>
          <a:xfrm>
            <a:off x="571500" y="1619250"/>
            <a:ext cx="11049000" cy="3238500"/>
            <a:chOff x="571500" y="1619250"/>
            <a:chExt cx="11049000" cy="3238500"/>
          </a:xfrm>
        </p:grpSpPr>
        <p:grpSp>
          <p:nvGrpSpPr>
            <p:cNvPr id="24" name="Group 24"/>
            <p:cNvGrpSpPr/>
            <p:nvPr/>
          </p:nvGrpSpPr>
          <p:grpSpPr>
            <a:xfrm>
              <a:off x="571500" y="1619250"/>
              <a:ext cx="2057400" cy="3238500"/>
              <a:chOff x="571500" y="1619250"/>
              <a:chExt cx="2057400" cy="3238500"/>
            </a:xfrm>
          </p:grpSpPr>
          <p:sp>
            <p:nvSpPr>
              <p:cNvPr id="10" name="Rectangle 10"/>
              <p:cNvSpPr/>
              <p:nvPr/>
            </p:nvSpPr>
            <p:spPr>
              <a:xfrm>
                <a:off x="571500" y="1619250"/>
                <a:ext cx="2057400" cy="3238500"/>
              </a:xfrm>
              <a:prstGeom prst="roundRect">
                <a:avLst>
                  <a:gd name="adj" fmla="val 7407"/>
                </a:avLst>
              </a:prstGeom>
              <a:solidFill>
                <a:srgbClr val="FFFFFF"/>
              </a:solidFill>
              <a:ln w="9525">
                <a:solidFill>
                  <a:srgbClr val="D8E1EC"/>
                </a:solidFill>
              </a:ln>
            </p:spPr>
            <p:txBody>
              <a:bodyPr/>
              <a:p/>
            </p:txBody>
          </p:sp>
          <p:sp>
            <p:nvSpPr>
              <p:cNvPr id="11" name="Ellipse 11"/>
              <p:cNvSpPr/>
              <p:nvPr/>
            </p:nvSpPr>
            <p:spPr>
              <a:xfrm>
                <a:off x="1428750" y="1885950"/>
                <a:ext cx="342900" cy="342900"/>
              </a:xfrm>
              <a:prstGeom prst="ellipse">
                <a:avLst/>
              </a:prstGeom>
              <a:solidFill>
                <a:srgbClr val="1565D8"/>
              </a:solidFill>
              <a:ln>
                <a:noFill/>
              </a:ln>
            </p:spPr>
            <p:txBody>
              <a:bodyPr/>
              <a:p/>
            </p:txBody>
          </p:sp>
          <p:sp>
            <p:nvSpPr>
              <p:cNvPr id="12" name="TextBox 12"/>
              <p:cNvSpPr txBox="1"/>
              <p:nvPr/>
            </p:nvSpPr>
            <p:spPr>
              <a:xfrm>
                <a:off x="1538754" y="1994535"/>
                <a:ext cx="122892" cy="24384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ctr"/>
                <a:r>
                  <a:rPr lang="zh-CN" sz="1200" b="1" dirty="0">
                    <a:solidFill>
                      <a:srgbClr val="FFFFFF"/>
                    </a:solidFill>
                    <a:latin typeface="Arial"/>
                    <a:ea typeface="Microsoft YaHei"/>
                    <a:cs typeface="Arial"/>
                  </a:rPr>
                  <a:t>1</a:t>
                </a:r>
              </a:p>
            </p:txBody>
          </p:sp>
          <p:sp>
            <p:nvSpPr>
              <p:cNvPr id="13" name="Ellipse 13"/>
              <p:cNvSpPr/>
              <p:nvPr/>
            </p:nvSpPr>
            <p:spPr>
              <a:xfrm>
                <a:off x="1390650" y="2381250"/>
                <a:ext cx="419100" cy="419100"/>
              </a:xfrm>
              <a:prstGeom prst="ellipse">
                <a:avLst/>
              </a:prstGeom>
              <a:solidFill>
                <a:srgbClr val="D6E6F9"/>
              </a:solidFill>
              <a:ln>
                <a:noFill/>
              </a:ln>
            </p:spPr>
            <p:txBody>
              <a:bodyPr/>
              <a:p/>
            </p:txBody>
          </p:sp>
          <p:grpSp>
            <p:nvGrpSpPr>
              <p:cNvPr id="18" name="Group 18"/>
              <p:cNvGrpSpPr/>
              <p:nvPr/>
            </p:nvGrpSpPr>
            <p:grpSpPr>
              <a:xfrm>
                <a:off x="1533525" y="2505075"/>
                <a:ext cx="133350" cy="171450"/>
                <a:chOff x="1533525" y="2505075"/>
                <a:chExt cx="133350" cy="171450"/>
              </a:xfrm>
            </p:grpSpPr>
            <p:sp>
              <p:nvSpPr>
                <p:cNvPr id="14" name="Freeform 14"/>
                <p:cNvSpPr/>
                <p:nvPr/>
              </p:nvSpPr>
              <p:spPr>
                <a:xfrm>
                  <a:off x="1533525" y="2505075"/>
                  <a:ext cx="133350" cy="171450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133350" h="171450">
                      <a:moveTo>
                        <a:pt x="0" y="28575"/>
                      </a:moveTo>
                      <a:cubicBezTo>
                        <a:pt x="0" y="12793"/>
                        <a:pt x="12793" y="0"/>
                        <a:pt x="28575" y="0"/>
                      </a:cubicBezTo>
                      <a:lnTo>
                        <a:pt x="104775" y="0"/>
                      </a:lnTo>
                      <a:cubicBezTo>
                        <a:pt x="120557" y="0"/>
                        <a:pt x="133350" y="12793"/>
                        <a:pt x="133350" y="28575"/>
                      </a:cubicBezTo>
                      <a:lnTo>
                        <a:pt x="133350" y="142875"/>
                      </a:lnTo>
                      <a:cubicBezTo>
                        <a:pt x="133350" y="158657"/>
                        <a:pt x="120557" y="171450"/>
                        <a:pt x="104775" y="171450"/>
                      </a:cubicBezTo>
                      <a:lnTo>
                        <a:pt x="28575" y="171450"/>
                      </a:lnTo>
                      <a:cubicBezTo>
                        <a:pt x="12793" y="171450"/>
                        <a:pt x="0" y="158657"/>
                        <a:pt x="0" y="142875"/>
                      </a:cubicBezTo>
                      <a:lnTo>
                        <a:pt x="0" y="28575"/>
                      </a:lnTo>
                    </a:path>
                  </a:pathLst>
                </a:custGeom>
                <a:noFill/>
                <a:ln w="19050">
                  <a:solidFill>
                    <a:srgbClr val="1565D8"/>
                  </a:solidFill>
                </a:ln>
              </p:spPr>
              <p:txBody>
                <a:bodyPr/>
                <a:p/>
              </p:txBody>
            </p:sp>
            <p:sp>
              <p:nvSpPr>
                <p:cNvPr id="15" name="Freeform 15"/>
                <p:cNvSpPr/>
                <p:nvPr/>
              </p:nvSpPr>
              <p:spPr>
                <a:xfrm>
                  <a:off x="1581150" y="2581275"/>
                  <a:ext cx="38100" cy="38100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38100" h="38100">
                      <a:moveTo>
                        <a:pt x="0" y="19050"/>
                      </a:moveTo>
                      <a:cubicBezTo>
                        <a:pt x="0" y="29571"/>
                        <a:pt x="8529" y="38100"/>
                        <a:pt x="19050" y="38100"/>
                      </a:cubicBezTo>
                      <a:cubicBezTo>
                        <a:pt x="29571" y="38100"/>
                        <a:pt x="38100" y="29571"/>
                        <a:pt x="38100" y="19050"/>
                      </a:cubicBezTo>
                      <a:cubicBezTo>
                        <a:pt x="38100" y="8529"/>
                        <a:pt x="29571" y="0"/>
                        <a:pt x="19050" y="0"/>
                      </a:cubicBezTo>
                      <a:cubicBezTo>
                        <a:pt x="8529" y="0"/>
                        <a:pt x="0" y="8529"/>
                        <a:pt x="0" y="19050"/>
                      </a:cubicBezTo>
                    </a:path>
                  </a:pathLst>
                </a:custGeom>
                <a:noFill/>
                <a:ln w="19050">
                  <a:solidFill>
                    <a:srgbClr val="1565D8"/>
                  </a:solidFill>
                </a:ln>
              </p:spPr>
              <p:txBody>
                <a:bodyPr/>
                <a:p/>
              </p:txBody>
            </p:sp>
            <p:sp>
              <p:nvSpPr>
                <p:cNvPr id="16" name="Freeform 16"/>
                <p:cNvSpPr/>
                <p:nvPr/>
              </p:nvSpPr>
              <p:spPr>
                <a:xfrm>
                  <a:off x="1581150" y="2533650"/>
                  <a:ext cx="38100" cy="9525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38100" h="9525">
                      <a:moveTo>
                        <a:pt x="0" y="0"/>
                      </a:moveTo>
                      <a:lnTo>
                        <a:pt x="38100" y="0"/>
                      </a:lnTo>
                    </a:path>
                  </a:pathLst>
                </a:custGeom>
                <a:noFill/>
                <a:ln w="19050">
                  <a:solidFill>
                    <a:srgbClr val="1565D8"/>
                  </a:solidFill>
                </a:ln>
              </p:spPr>
              <p:txBody>
                <a:bodyPr/>
                <a:p/>
              </p:txBody>
            </p:sp>
            <p:sp>
              <p:nvSpPr>
                <p:cNvPr id="17" name="Freeform 17"/>
                <p:cNvSpPr/>
                <p:nvPr/>
              </p:nvSpPr>
              <p:spPr>
                <a:xfrm>
                  <a:off x="1571625" y="2647950"/>
                  <a:ext cx="57150" cy="9525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57150" h="9525">
                      <a:moveTo>
                        <a:pt x="0" y="0"/>
                      </a:moveTo>
                      <a:lnTo>
                        <a:pt x="57150" y="0"/>
                      </a:lnTo>
                    </a:path>
                  </a:pathLst>
                </a:custGeom>
                <a:noFill/>
                <a:ln w="19050">
                  <a:solidFill>
                    <a:srgbClr val="1565D8"/>
                  </a:solidFill>
                </a:ln>
              </p:spPr>
              <p:txBody>
                <a:bodyPr/>
                <a:p/>
              </p:txBody>
            </p:sp>
          </p:grpSp>
          <p:sp>
            <p:nvSpPr>
              <p:cNvPr id="19" name="TextBox 19"/>
              <p:cNvSpPr txBox="1"/>
              <p:nvPr/>
            </p:nvSpPr>
            <p:spPr>
              <a:xfrm>
                <a:off x="1371124" y="2981325"/>
                <a:ext cx="458152" cy="3048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ctr"/>
                <a:r>
                  <a:rPr lang="zh-CN" sz="1500" b="1" dirty="0">
                    <a:solidFill>
                      <a:srgbClr val="2B3648"/>
                    </a:solidFill>
                    <a:latin typeface="Arial"/>
                    <a:ea typeface="Microsoft YaHei"/>
                    <a:cs typeface="Arial"/>
                  </a:rPr>
                  <a:t>角色</a:t>
                </a:r>
              </a:p>
            </p:txBody>
          </p:sp>
          <p:sp>
            <p:nvSpPr>
              <p:cNvPr id="20" name="TextBox 20"/>
              <p:cNvSpPr txBox="1"/>
              <p:nvPr/>
            </p:nvSpPr>
            <p:spPr>
              <a:xfrm>
                <a:off x="1376839" y="3277552"/>
                <a:ext cx="446722" cy="21336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ctr"/>
                <a:r>
                  <a:rPr lang="zh-CN" sz="1050" dirty="0">
                    <a:solidFill>
                      <a:srgbClr val="5B6B82"/>
                    </a:solidFill>
                    <a:latin typeface="Arial"/>
                    <a:ea typeface="Microsoft YaHei"/>
                    <a:cs typeface="Arial"/>
                  </a:rPr>
                  <a:t>你是谁</a:t>
                </a:r>
              </a:p>
            </p:txBody>
          </p:sp>
          <p:sp>
            <p:nvSpPr>
              <p:cNvPr id="21" name="Line 21"/>
              <p:cNvSpPr/>
              <p:nvPr/>
            </p:nvSpPr>
            <p:spPr>
              <a:xfrm>
                <a:off x="800100" y="3581400"/>
                <a:ext cx="1600200" cy="9525"/>
              </a:xfrm>
              <a:custGeom>
                <a:avLst/>
                <a:gdLst/>
                <a:ahLst/>
                <a:cxnLst/>
                <a:rect l="l" t="t" r="r" b="b"/>
                <a:pathLst>
                  <a:path w="1600200" h="9525">
                    <a:moveTo>
                      <a:pt x="0" y="0"/>
                    </a:moveTo>
                    <a:lnTo>
                      <a:pt x="1600200" y="0"/>
                    </a:lnTo>
                  </a:path>
                </a:pathLst>
              </a:custGeom>
              <a:noFill/>
              <a:ln w="9525">
                <a:solidFill>
                  <a:srgbClr val="D8E1EC"/>
                </a:solidFill>
              </a:ln>
            </p:spPr>
            <p:txBody>
              <a:bodyPr/>
              <a:p/>
            </p:txBody>
          </p:sp>
          <p:sp>
            <p:nvSpPr>
              <p:cNvPr id="22" name="TextBox 22"/>
              <p:cNvSpPr txBox="1"/>
              <p:nvPr/>
            </p:nvSpPr>
            <p:spPr>
              <a:xfrm>
                <a:off x="1270873" y="3802856"/>
                <a:ext cx="658654" cy="2286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ctr"/>
                <a:r>
                  <a:rPr lang="zh-CN" sz="1125" b="1" dirty="0">
                    <a:solidFill>
                      <a:srgbClr val="0B4EA2"/>
                    </a:solidFill>
                    <a:latin typeface="Arial"/>
                    <a:ea typeface="Microsoft YaHei"/>
                    <a:cs typeface="Arial"/>
                  </a:rPr>
                  <a:t>你是资深</a:t>
                </a:r>
              </a:p>
            </p:txBody>
          </p:sp>
          <p:sp>
            <p:nvSpPr>
              <p:cNvPr id="23" name="TextBox 23"/>
              <p:cNvSpPr txBox="1"/>
              <p:nvPr/>
            </p:nvSpPr>
            <p:spPr>
              <a:xfrm>
                <a:off x="1270873" y="4031456"/>
                <a:ext cx="658654" cy="2286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ctr"/>
                <a:r>
                  <a:rPr lang="zh-CN" sz="1125" b="1" dirty="0">
                    <a:solidFill>
                      <a:srgbClr val="0B4EA2"/>
                    </a:solidFill>
                    <a:latin typeface="Arial"/>
                    <a:ea typeface="Microsoft YaHei"/>
                    <a:cs typeface="Arial"/>
                  </a:rPr>
                  <a:t>行政助理</a:t>
                </a:r>
              </a:p>
            </p:txBody>
          </p:sp>
        </p:grpSp>
        <p:grpSp>
          <p:nvGrpSpPr>
            <p:cNvPr id="38" name="Group 38"/>
            <p:cNvGrpSpPr/>
            <p:nvPr/>
          </p:nvGrpSpPr>
          <p:grpSpPr>
            <a:xfrm>
              <a:off x="2819400" y="1619250"/>
              <a:ext cx="2057400" cy="3238500"/>
              <a:chOff x="2819400" y="1619250"/>
              <a:chExt cx="2057400" cy="3238500"/>
            </a:xfrm>
          </p:grpSpPr>
          <p:sp>
            <p:nvSpPr>
              <p:cNvPr id="25" name="Rectangle 25"/>
              <p:cNvSpPr/>
              <p:nvPr/>
            </p:nvSpPr>
            <p:spPr>
              <a:xfrm>
                <a:off x="2819400" y="1619250"/>
                <a:ext cx="2057400" cy="3238500"/>
              </a:xfrm>
              <a:prstGeom prst="roundRect">
                <a:avLst>
                  <a:gd name="adj" fmla="val 7407"/>
                </a:avLst>
              </a:prstGeom>
              <a:solidFill>
                <a:srgbClr val="FFFFFF"/>
              </a:solidFill>
              <a:ln w="9525">
                <a:solidFill>
                  <a:srgbClr val="D8E1EC"/>
                </a:solidFill>
              </a:ln>
            </p:spPr>
            <p:txBody>
              <a:bodyPr/>
              <a:p/>
            </p:txBody>
          </p:sp>
          <p:sp>
            <p:nvSpPr>
              <p:cNvPr id="26" name="Ellipse 26"/>
              <p:cNvSpPr/>
              <p:nvPr/>
            </p:nvSpPr>
            <p:spPr>
              <a:xfrm>
                <a:off x="3676650" y="1885950"/>
                <a:ext cx="342900" cy="342900"/>
              </a:xfrm>
              <a:prstGeom prst="ellipse">
                <a:avLst/>
              </a:prstGeom>
              <a:solidFill>
                <a:srgbClr val="1565D8"/>
              </a:solidFill>
              <a:ln>
                <a:noFill/>
              </a:ln>
            </p:spPr>
            <p:txBody>
              <a:bodyPr/>
              <a:p/>
            </p:txBody>
          </p:sp>
          <p:sp>
            <p:nvSpPr>
              <p:cNvPr id="27" name="TextBox 27"/>
              <p:cNvSpPr txBox="1"/>
              <p:nvPr/>
            </p:nvSpPr>
            <p:spPr>
              <a:xfrm>
                <a:off x="3786654" y="1994535"/>
                <a:ext cx="122892" cy="24384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ctr"/>
                <a:r>
                  <a:rPr lang="zh-CN" sz="1200" b="1" dirty="0">
                    <a:solidFill>
                      <a:srgbClr val="FFFFFF"/>
                    </a:solidFill>
                    <a:latin typeface="Arial"/>
                    <a:ea typeface="Microsoft YaHei"/>
                    <a:cs typeface="Arial"/>
                  </a:rPr>
                  <a:t>2</a:t>
                </a:r>
              </a:p>
            </p:txBody>
          </p:sp>
          <p:sp>
            <p:nvSpPr>
              <p:cNvPr id="28" name="Ellipse 28"/>
              <p:cNvSpPr/>
              <p:nvPr/>
            </p:nvSpPr>
            <p:spPr>
              <a:xfrm>
                <a:off x="3638550" y="2381250"/>
                <a:ext cx="419100" cy="419100"/>
              </a:xfrm>
              <a:prstGeom prst="ellipse">
                <a:avLst/>
              </a:prstGeom>
              <a:solidFill>
                <a:srgbClr val="D6E6F9"/>
              </a:solidFill>
              <a:ln>
                <a:noFill/>
              </a:ln>
            </p:spPr>
            <p:txBody>
              <a:bodyPr/>
              <a:p/>
            </p:txBody>
          </p:sp>
          <p:grpSp>
            <p:nvGrpSpPr>
              <p:cNvPr id="32" name="Group 32"/>
              <p:cNvGrpSpPr/>
              <p:nvPr/>
            </p:nvGrpSpPr>
            <p:grpSpPr>
              <a:xfrm>
                <a:off x="3762375" y="2505075"/>
                <a:ext cx="171450" cy="171450"/>
                <a:chOff x="3762375" y="2505075"/>
                <a:chExt cx="171450" cy="171450"/>
              </a:xfrm>
            </p:grpSpPr>
            <p:sp>
              <p:nvSpPr>
                <p:cNvPr id="29" name="Freeform 29"/>
                <p:cNvSpPr/>
                <p:nvPr/>
              </p:nvSpPr>
              <p:spPr>
                <a:xfrm>
                  <a:off x="3762375" y="2505075"/>
                  <a:ext cx="171450" cy="171450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171450" h="171450">
                      <a:moveTo>
                        <a:pt x="0" y="85725"/>
                      </a:moveTo>
                      <a:cubicBezTo>
                        <a:pt x="0" y="133070"/>
                        <a:pt x="38380" y="171450"/>
                        <a:pt x="85725" y="171450"/>
                      </a:cubicBezTo>
                      <a:cubicBezTo>
                        <a:pt x="133070" y="171450"/>
                        <a:pt x="171450" y="133070"/>
                        <a:pt x="171450" y="85725"/>
                      </a:cubicBezTo>
                      <a:cubicBezTo>
                        <a:pt x="171450" y="38380"/>
                        <a:pt x="133070" y="0"/>
                        <a:pt x="85725" y="0"/>
                      </a:cubicBezTo>
                      <a:cubicBezTo>
                        <a:pt x="38380" y="0"/>
                        <a:pt x="0" y="38380"/>
                        <a:pt x="0" y="85725"/>
                      </a:cubicBezTo>
                    </a:path>
                  </a:pathLst>
                </a:custGeom>
                <a:noFill/>
                <a:ln w="19050">
                  <a:solidFill>
                    <a:srgbClr val="1565D8"/>
                  </a:solidFill>
                </a:ln>
              </p:spPr>
              <p:txBody>
                <a:bodyPr/>
                <a:p/>
              </p:txBody>
            </p:sp>
            <p:sp>
              <p:nvSpPr>
                <p:cNvPr id="30" name="Freeform 30"/>
                <p:cNvSpPr/>
                <p:nvPr/>
              </p:nvSpPr>
              <p:spPr>
                <a:xfrm>
                  <a:off x="3848100" y="2562225"/>
                  <a:ext cx="9525" cy="9525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9525" h="9525">
                      <a:moveTo>
                        <a:pt x="0" y="0"/>
                      </a:moveTo>
                      <a:lnTo>
                        <a:pt x="95" y="0"/>
                      </a:lnTo>
                    </a:path>
                  </a:pathLst>
                </a:custGeom>
                <a:noFill/>
                <a:ln w="19050">
                  <a:solidFill>
                    <a:srgbClr val="1565D8"/>
                  </a:solidFill>
                </a:ln>
              </p:spPr>
              <p:txBody>
                <a:bodyPr/>
                <a:p/>
              </p:txBody>
            </p:sp>
            <p:sp>
              <p:nvSpPr>
                <p:cNvPr id="31" name="Freeform 31"/>
                <p:cNvSpPr/>
                <p:nvPr/>
              </p:nvSpPr>
              <p:spPr>
                <a:xfrm>
                  <a:off x="3838575" y="2590800"/>
                  <a:ext cx="19050" cy="38100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19050" h="38100">
                      <a:moveTo>
                        <a:pt x="0" y="0"/>
                      </a:moveTo>
                      <a:lnTo>
                        <a:pt x="9525" y="0"/>
                      </a:lnTo>
                      <a:lnTo>
                        <a:pt x="9525" y="38100"/>
                      </a:lnTo>
                      <a:lnTo>
                        <a:pt x="19050" y="38100"/>
                      </a:lnTo>
                    </a:path>
                  </a:pathLst>
                </a:custGeom>
                <a:noFill/>
                <a:ln w="19050">
                  <a:solidFill>
                    <a:srgbClr val="1565D8"/>
                  </a:solidFill>
                </a:ln>
              </p:spPr>
              <p:txBody>
                <a:bodyPr/>
                <a:p/>
              </p:txBody>
            </p:sp>
          </p:grpSp>
          <p:sp>
            <p:nvSpPr>
              <p:cNvPr id="33" name="TextBox 33"/>
              <p:cNvSpPr txBox="1"/>
              <p:nvPr/>
            </p:nvSpPr>
            <p:spPr>
              <a:xfrm>
                <a:off x="3619024" y="2981325"/>
                <a:ext cx="458152" cy="3048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ctr"/>
                <a:r>
                  <a:rPr lang="zh-CN" sz="1500" b="1" dirty="0">
                    <a:solidFill>
                      <a:srgbClr val="2B3648"/>
                    </a:solidFill>
                    <a:latin typeface="Arial"/>
                    <a:ea typeface="Microsoft YaHei"/>
                    <a:cs typeface="Arial"/>
                  </a:rPr>
                  <a:t>背景</a:t>
                </a:r>
              </a:p>
            </p:txBody>
          </p:sp>
          <p:sp>
            <p:nvSpPr>
              <p:cNvPr id="34" name="TextBox 34"/>
              <p:cNvSpPr txBox="1"/>
              <p:nvPr/>
            </p:nvSpPr>
            <p:spPr>
              <a:xfrm>
                <a:off x="3554730" y="3277552"/>
                <a:ext cx="586740" cy="21336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ctr"/>
                <a:r>
                  <a:rPr lang="zh-CN" sz="1050" dirty="0">
                    <a:solidFill>
                      <a:srgbClr val="5B6B82"/>
                    </a:solidFill>
                    <a:latin typeface="Arial"/>
                    <a:ea typeface="Microsoft YaHei"/>
                    <a:cs typeface="Arial"/>
                  </a:rPr>
                  <a:t>背景是啥</a:t>
                </a:r>
              </a:p>
            </p:txBody>
          </p:sp>
          <p:sp>
            <p:nvSpPr>
              <p:cNvPr id="35" name="Line 35"/>
              <p:cNvSpPr/>
              <p:nvPr/>
            </p:nvSpPr>
            <p:spPr>
              <a:xfrm>
                <a:off x="3048000" y="3581400"/>
                <a:ext cx="1600200" cy="9525"/>
              </a:xfrm>
              <a:custGeom>
                <a:avLst/>
                <a:gdLst/>
                <a:ahLst/>
                <a:cxnLst/>
                <a:rect l="l" t="t" r="r" b="b"/>
                <a:pathLst>
                  <a:path w="1600200" h="9525">
                    <a:moveTo>
                      <a:pt x="0" y="0"/>
                    </a:moveTo>
                    <a:lnTo>
                      <a:pt x="1600200" y="0"/>
                    </a:lnTo>
                  </a:path>
                </a:pathLst>
              </a:custGeom>
              <a:noFill/>
              <a:ln w="9525">
                <a:solidFill>
                  <a:srgbClr val="D8E1EC"/>
                </a:solidFill>
              </a:ln>
            </p:spPr>
            <p:txBody>
              <a:bodyPr/>
              <a:p/>
            </p:txBody>
          </p:sp>
          <p:sp>
            <p:nvSpPr>
              <p:cNvPr id="36" name="TextBox 36"/>
              <p:cNvSpPr txBox="1"/>
              <p:nvPr/>
            </p:nvSpPr>
            <p:spPr>
              <a:xfrm>
                <a:off x="3270680" y="3745706"/>
                <a:ext cx="1154841" cy="2286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ctr"/>
                <a:r>
                  <a:rPr lang="zh-CN" sz="1125" b="1" dirty="0">
                    <a:solidFill>
                      <a:srgbClr val="0B4EA2"/>
                    </a:solidFill>
                    <a:latin typeface="Arial"/>
                    <a:ea typeface="Microsoft YaHei"/>
                    <a:cs typeface="Arial"/>
                  </a:rPr>
                  <a:t>下周 3 项议程，</a:t>
                </a:r>
              </a:p>
            </p:txBody>
          </p:sp>
          <p:sp>
            <p:nvSpPr>
              <p:cNvPr id="37" name="TextBox 37"/>
              <p:cNvSpPr txBox="1"/>
              <p:nvPr/>
            </p:nvSpPr>
            <p:spPr>
              <a:xfrm>
                <a:off x="3440013" y="3974306"/>
                <a:ext cx="816173" cy="2286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ctr"/>
                <a:r>
                  <a:rPr lang="zh-CN" sz="1125" b="1" dirty="0">
                    <a:solidFill>
                      <a:srgbClr val="0B4EA2"/>
                    </a:solidFill>
                    <a:latin typeface="Arial"/>
                    <a:ea typeface="Microsoft YaHei"/>
                    <a:cs typeface="Arial"/>
                  </a:rPr>
                  <a:t>有纪要草稿</a:t>
                </a:r>
              </a:p>
            </p:txBody>
          </p:sp>
        </p:grpSp>
        <p:grpSp>
          <p:nvGrpSpPr>
            <p:cNvPr id="52" name="Group 52"/>
            <p:cNvGrpSpPr/>
            <p:nvPr/>
          </p:nvGrpSpPr>
          <p:grpSpPr>
            <a:xfrm>
              <a:off x="5067300" y="1619250"/>
              <a:ext cx="2057400" cy="3238500"/>
              <a:chOff x="5067300" y="1619250"/>
              <a:chExt cx="2057400" cy="3238500"/>
            </a:xfrm>
          </p:grpSpPr>
          <p:sp>
            <p:nvSpPr>
              <p:cNvPr id="39" name="Rectangle 39"/>
              <p:cNvSpPr/>
              <p:nvPr/>
            </p:nvSpPr>
            <p:spPr>
              <a:xfrm>
                <a:off x="5067300" y="1619250"/>
                <a:ext cx="2057400" cy="3238500"/>
              </a:xfrm>
              <a:prstGeom prst="roundRect">
                <a:avLst>
                  <a:gd name="adj" fmla="val 7407"/>
                </a:avLst>
              </a:prstGeom>
              <a:solidFill>
                <a:srgbClr val="FFFFFF"/>
              </a:solidFill>
              <a:ln w="9525">
                <a:solidFill>
                  <a:srgbClr val="D8E1EC"/>
                </a:solidFill>
              </a:ln>
            </p:spPr>
            <p:txBody>
              <a:bodyPr/>
              <a:p/>
            </p:txBody>
          </p:sp>
          <p:sp>
            <p:nvSpPr>
              <p:cNvPr id="40" name="Ellipse 40"/>
              <p:cNvSpPr/>
              <p:nvPr/>
            </p:nvSpPr>
            <p:spPr>
              <a:xfrm>
                <a:off x="5924550" y="1885950"/>
                <a:ext cx="342900" cy="342900"/>
              </a:xfrm>
              <a:prstGeom prst="ellipse">
                <a:avLst/>
              </a:prstGeom>
              <a:solidFill>
                <a:srgbClr val="1565D8"/>
              </a:solidFill>
              <a:ln>
                <a:noFill/>
              </a:ln>
            </p:spPr>
            <p:txBody>
              <a:bodyPr/>
              <a:p/>
            </p:txBody>
          </p:sp>
          <p:sp>
            <p:nvSpPr>
              <p:cNvPr id="41" name="TextBox 41"/>
              <p:cNvSpPr txBox="1"/>
              <p:nvPr/>
            </p:nvSpPr>
            <p:spPr>
              <a:xfrm>
                <a:off x="6034554" y="1994535"/>
                <a:ext cx="122892" cy="24384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ctr"/>
                <a:r>
                  <a:rPr lang="zh-CN" sz="1200" b="1" dirty="0">
                    <a:solidFill>
                      <a:srgbClr val="FFFFFF"/>
                    </a:solidFill>
                    <a:latin typeface="Arial"/>
                    <a:ea typeface="Microsoft YaHei"/>
                    <a:cs typeface="Arial"/>
                  </a:rPr>
                  <a:t>3</a:t>
                </a:r>
              </a:p>
            </p:txBody>
          </p:sp>
          <p:sp>
            <p:nvSpPr>
              <p:cNvPr id="42" name="Ellipse 42"/>
              <p:cNvSpPr/>
              <p:nvPr/>
            </p:nvSpPr>
            <p:spPr>
              <a:xfrm>
                <a:off x="5886450" y="2381250"/>
                <a:ext cx="419100" cy="419100"/>
              </a:xfrm>
              <a:prstGeom prst="ellipse">
                <a:avLst/>
              </a:prstGeom>
              <a:solidFill>
                <a:srgbClr val="D6E6F9"/>
              </a:solidFill>
              <a:ln>
                <a:noFill/>
              </a:ln>
            </p:spPr>
            <p:txBody>
              <a:bodyPr/>
              <a:p/>
            </p:txBody>
          </p:sp>
          <p:grpSp>
            <p:nvGrpSpPr>
              <p:cNvPr id="46" name="Group 46"/>
              <p:cNvGrpSpPr/>
              <p:nvPr/>
            </p:nvGrpSpPr>
            <p:grpSpPr>
              <a:xfrm>
                <a:off x="6010275" y="2505075"/>
                <a:ext cx="171450" cy="171450"/>
                <a:chOff x="6010275" y="2505075"/>
                <a:chExt cx="171450" cy="171450"/>
              </a:xfrm>
            </p:grpSpPr>
            <p:sp>
              <p:nvSpPr>
                <p:cNvPr id="43" name="Freeform 43"/>
                <p:cNvSpPr/>
                <p:nvPr/>
              </p:nvSpPr>
              <p:spPr>
                <a:xfrm>
                  <a:off x="6086475" y="2581275"/>
                  <a:ext cx="19050" cy="19050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19050" h="19050">
                      <a:moveTo>
                        <a:pt x="0" y="9525"/>
                      </a:moveTo>
                      <a:cubicBezTo>
                        <a:pt x="0" y="14786"/>
                        <a:pt x="4264" y="19050"/>
                        <a:pt x="9525" y="19050"/>
                      </a:cubicBezTo>
                      <a:cubicBezTo>
                        <a:pt x="14786" y="19050"/>
                        <a:pt x="19050" y="14786"/>
                        <a:pt x="19050" y="9525"/>
                      </a:cubicBezTo>
                      <a:cubicBezTo>
                        <a:pt x="19050" y="4264"/>
                        <a:pt x="14786" y="0"/>
                        <a:pt x="9525" y="0"/>
                      </a:cubicBezTo>
                      <a:cubicBezTo>
                        <a:pt x="4264" y="0"/>
                        <a:pt x="0" y="4264"/>
                        <a:pt x="0" y="9525"/>
                      </a:cubicBezTo>
                    </a:path>
                  </a:pathLst>
                </a:custGeom>
                <a:noFill/>
                <a:ln w="19050">
                  <a:solidFill>
                    <a:srgbClr val="1565D8"/>
                  </a:solidFill>
                </a:ln>
              </p:spPr>
              <p:txBody>
                <a:bodyPr/>
                <a:p/>
              </p:txBody>
            </p:sp>
            <p:sp>
              <p:nvSpPr>
                <p:cNvPr id="44" name="Freeform 44"/>
                <p:cNvSpPr/>
                <p:nvPr/>
              </p:nvSpPr>
              <p:spPr>
                <a:xfrm>
                  <a:off x="6048375" y="2543175"/>
                  <a:ext cx="95250" cy="95250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95250" h="95250">
                      <a:moveTo>
                        <a:pt x="0" y="47625"/>
                      </a:moveTo>
                      <a:cubicBezTo>
                        <a:pt x="0" y="73928"/>
                        <a:pt x="21322" y="95250"/>
                        <a:pt x="47625" y="95250"/>
                      </a:cubicBezTo>
                      <a:cubicBezTo>
                        <a:pt x="73928" y="95250"/>
                        <a:pt x="95250" y="73928"/>
                        <a:pt x="95250" y="47625"/>
                      </a:cubicBezTo>
                      <a:cubicBezTo>
                        <a:pt x="95250" y="21322"/>
                        <a:pt x="73928" y="0"/>
                        <a:pt x="47625" y="0"/>
                      </a:cubicBezTo>
                      <a:cubicBezTo>
                        <a:pt x="21322" y="0"/>
                        <a:pt x="0" y="21322"/>
                        <a:pt x="0" y="47625"/>
                      </a:cubicBezTo>
                    </a:path>
                  </a:pathLst>
                </a:custGeom>
                <a:noFill/>
                <a:ln w="19050">
                  <a:solidFill>
                    <a:srgbClr val="1565D8"/>
                  </a:solidFill>
                </a:ln>
              </p:spPr>
              <p:txBody>
                <a:bodyPr/>
                <a:p/>
              </p:txBody>
            </p:sp>
            <p:sp>
              <p:nvSpPr>
                <p:cNvPr id="45" name="Freeform 45"/>
                <p:cNvSpPr/>
                <p:nvPr/>
              </p:nvSpPr>
              <p:spPr>
                <a:xfrm>
                  <a:off x="6010275" y="2505075"/>
                  <a:ext cx="171450" cy="171450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171450" h="171450">
                      <a:moveTo>
                        <a:pt x="0" y="85725"/>
                      </a:moveTo>
                      <a:cubicBezTo>
                        <a:pt x="0" y="133070"/>
                        <a:pt x="38380" y="171450"/>
                        <a:pt x="85725" y="171450"/>
                      </a:cubicBezTo>
                      <a:cubicBezTo>
                        <a:pt x="133070" y="171450"/>
                        <a:pt x="171450" y="133070"/>
                        <a:pt x="171450" y="85725"/>
                      </a:cubicBezTo>
                      <a:cubicBezTo>
                        <a:pt x="171450" y="38380"/>
                        <a:pt x="133070" y="0"/>
                        <a:pt x="85725" y="0"/>
                      </a:cubicBezTo>
                      <a:cubicBezTo>
                        <a:pt x="38380" y="0"/>
                        <a:pt x="0" y="38380"/>
                        <a:pt x="0" y="85725"/>
                      </a:cubicBezTo>
                    </a:path>
                  </a:pathLst>
                </a:custGeom>
                <a:noFill/>
                <a:ln w="19050">
                  <a:solidFill>
                    <a:srgbClr val="1565D8"/>
                  </a:solidFill>
                </a:ln>
              </p:spPr>
              <p:txBody>
                <a:bodyPr/>
                <a:p/>
              </p:txBody>
            </p:sp>
          </p:grpSp>
          <p:sp>
            <p:nvSpPr>
              <p:cNvPr id="47" name="TextBox 47"/>
              <p:cNvSpPr txBox="1"/>
              <p:nvPr/>
            </p:nvSpPr>
            <p:spPr>
              <a:xfrm>
                <a:off x="5866924" y="2981325"/>
                <a:ext cx="458152" cy="3048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ctr"/>
                <a:r>
                  <a:rPr lang="zh-CN" sz="1500" b="1" dirty="0">
                    <a:solidFill>
                      <a:srgbClr val="2B3648"/>
                    </a:solidFill>
                    <a:latin typeface="Arial"/>
                    <a:ea typeface="Microsoft YaHei"/>
                    <a:cs typeface="Arial"/>
                  </a:rPr>
                  <a:t>任务</a:t>
                </a:r>
              </a:p>
            </p:txBody>
          </p:sp>
          <p:sp>
            <p:nvSpPr>
              <p:cNvPr id="48" name="TextBox 48"/>
              <p:cNvSpPr txBox="1"/>
              <p:nvPr/>
            </p:nvSpPr>
            <p:spPr>
              <a:xfrm>
                <a:off x="5802630" y="3277552"/>
                <a:ext cx="586740" cy="21336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ctr"/>
                <a:r>
                  <a:rPr lang="zh-CN" sz="1050" dirty="0">
                    <a:solidFill>
                      <a:srgbClr val="5B6B82"/>
                    </a:solidFill>
                    <a:latin typeface="Arial"/>
                    <a:ea typeface="Microsoft YaHei"/>
                    <a:cs typeface="Arial"/>
                  </a:rPr>
                  <a:t>要我干啥</a:t>
                </a:r>
              </a:p>
            </p:txBody>
          </p:sp>
          <p:sp>
            <p:nvSpPr>
              <p:cNvPr id="49" name="Line 49"/>
              <p:cNvSpPr/>
              <p:nvPr/>
            </p:nvSpPr>
            <p:spPr>
              <a:xfrm>
                <a:off x="5295900" y="3581400"/>
                <a:ext cx="1600200" cy="9525"/>
              </a:xfrm>
              <a:custGeom>
                <a:avLst/>
                <a:gdLst/>
                <a:ahLst/>
                <a:cxnLst/>
                <a:rect l="l" t="t" r="r" b="b"/>
                <a:pathLst>
                  <a:path w="1600200" h="9525">
                    <a:moveTo>
                      <a:pt x="0" y="0"/>
                    </a:moveTo>
                    <a:lnTo>
                      <a:pt x="1600200" y="0"/>
                    </a:lnTo>
                  </a:path>
                </a:pathLst>
              </a:custGeom>
              <a:noFill/>
              <a:ln w="9525">
                <a:solidFill>
                  <a:srgbClr val="D8E1EC"/>
                </a:solidFill>
              </a:ln>
            </p:spPr>
            <p:txBody>
              <a:bodyPr/>
              <a:p/>
            </p:txBody>
          </p:sp>
          <p:sp>
            <p:nvSpPr>
              <p:cNvPr id="50" name="TextBox 50"/>
              <p:cNvSpPr txBox="1"/>
              <p:nvPr/>
            </p:nvSpPr>
            <p:spPr>
              <a:xfrm>
                <a:off x="5609153" y="3802856"/>
                <a:ext cx="973693" cy="2286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ctr"/>
                <a:r>
                  <a:rPr lang="zh-CN" sz="1125" b="1" dirty="0">
                    <a:solidFill>
                      <a:srgbClr val="0B4EA2"/>
                    </a:solidFill>
                    <a:latin typeface="Arial"/>
                    <a:ea typeface="Microsoft YaHei"/>
                    <a:cs typeface="Arial"/>
                  </a:rPr>
                  <a:t>写一条简洁的</a:t>
                </a:r>
              </a:p>
            </p:txBody>
          </p:sp>
          <p:sp>
            <p:nvSpPr>
              <p:cNvPr id="51" name="TextBox 51"/>
              <p:cNvSpPr txBox="1"/>
              <p:nvPr/>
            </p:nvSpPr>
            <p:spPr>
              <a:xfrm>
                <a:off x="5766673" y="4031456"/>
                <a:ext cx="658654" cy="2286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ctr"/>
                <a:r>
                  <a:rPr lang="zh-CN" sz="1125" b="1" dirty="0">
                    <a:solidFill>
                      <a:srgbClr val="0B4EA2"/>
                    </a:solidFill>
                    <a:latin typeface="Arial"/>
                    <a:ea typeface="Microsoft YaHei"/>
                    <a:cs typeface="Arial"/>
                  </a:rPr>
                  <a:t>会议通知</a:t>
                </a:r>
              </a:p>
            </p:txBody>
          </p:sp>
        </p:grpSp>
        <p:grpSp>
          <p:nvGrpSpPr>
            <p:cNvPr id="66" name="Group 66"/>
            <p:cNvGrpSpPr/>
            <p:nvPr/>
          </p:nvGrpSpPr>
          <p:grpSpPr>
            <a:xfrm>
              <a:off x="7315200" y="1619250"/>
              <a:ext cx="2057400" cy="3238500"/>
              <a:chOff x="7315200" y="1619250"/>
              <a:chExt cx="2057400" cy="3238500"/>
            </a:xfrm>
          </p:grpSpPr>
          <p:sp>
            <p:nvSpPr>
              <p:cNvPr id="53" name="Rectangle 53"/>
              <p:cNvSpPr/>
              <p:nvPr/>
            </p:nvSpPr>
            <p:spPr>
              <a:xfrm>
                <a:off x="7315200" y="1619250"/>
                <a:ext cx="2057400" cy="3238500"/>
              </a:xfrm>
              <a:prstGeom prst="roundRect">
                <a:avLst>
                  <a:gd name="adj" fmla="val 7407"/>
                </a:avLst>
              </a:prstGeom>
              <a:solidFill>
                <a:srgbClr val="FFFFFF"/>
              </a:solidFill>
              <a:ln w="9525">
                <a:solidFill>
                  <a:srgbClr val="D8E1EC"/>
                </a:solidFill>
              </a:ln>
            </p:spPr>
            <p:txBody>
              <a:bodyPr/>
              <a:p/>
            </p:txBody>
          </p:sp>
          <p:sp>
            <p:nvSpPr>
              <p:cNvPr id="54" name="Ellipse 54"/>
              <p:cNvSpPr/>
              <p:nvPr/>
            </p:nvSpPr>
            <p:spPr>
              <a:xfrm>
                <a:off x="8172450" y="1885950"/>
                <a:ext cx="342900" cy="342900"/>
              </a:xfrm>
              <a:prstGeom prst="ellipse">
                <a:avLst/>
              </a:prstGeom>
              <a:solidFill>
                <a:srgbClr val="1565D8"/>
              </a:solidFill>
              <a:ln>
                <a:noFill/>
              </a:ln>
            </p:spPr>
            <p:txBody>
              <a:bodyPr/>
              <a:p/>
            </p:txBody>
          </p:sp>
          <p:sp>
            <p:nvSpPr>
              <p:cNvPr id="55" name="TextBox 55"/>
              <p:cNvSpPr txBox="1"/>
              <p:nvPr/>
            </p:nvSpPr>
            <p:spPr>
              <a:xfrm>
                <a:off x="8282454" y="1994535"/>
                <a:ext cx="122892" cy="24384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ctr"/>
                <a:r>
                  <a:rPr lang="zh-CN" sz="1200" b="1" dirty="0">
                    <a:solidFill>
                      <a:srgbClr val="FFFFFF"/>
                    </a:solidFill>
                    <a:latin typeface="Arial"/>
                    <a:ea typeface="Microsoft YaHei"/>
                    <a:cs typeface="Arial"/>
                  </a:rPr>
                  <a:t>4</a:t>
                </a:r>
              </a:p>
            </p:txBody>
          </p:sp>
          <p:sp>
            <p:nvSpPr>
              <p:cNvPr id="56" name="Ellipse 56"/>
              <p:cNvSpPr/>
              <p:nvPr/>
            </p:nvSpPr>
            <p:spPr>
              <a:xfrm>
                <a:off x="8134350" y="2381250"/>
                <a:ext cx="419100" cy="419100"/>
              </a:xfrm>
              <a:prstGeom prst="ellipse">
                <a:avLst/>
              </a:prstGeom>
              <a:solidFill>
                <a:srgbClr val="D6E6F9"/>
              </a:solidFill>
              <a:ln>
                <a:noFill/>
              </a:ln>
            </p:spPr>
            <p:txBody>
              <a:bodyPr/>
              <a:p/>
            </p:txBody>
          </p:sp>
          <p:grpSp>
            <p:nvGrpSpPr>
              <p:cNvPr id="60" name="Group 60"/>
              <p:cNvGrpSpPr/>
              <p:nvPr/>
            </p:nvGrpSpPr>
            <p:grpSpPr>
              <a:xfrm>
                <a:off x="8277225" y="2505075"/>
                <a:ext cx="133350" cy="171450"/>
                <a:chOff x="8277225" y="2505075"/>
                <a:chExt cx="133350" cy="171450"/>
              </a:xfrm>
            </p:grpSpPr>
            <p:sp>
              <p:nvSpPr>
                <p:cNvPr id="57" name="Freeform 57"/>
                <p:cNvSpPr/>
                <p:nvPr/>
              </p:nvSpPr>
              <p:spPr>
                <a:xfrm>
                  <a:off x="8277225" y="2581275"/>
                  <a:ext cx="133350" cy="95250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133350" h="95250">
                      <a:moveTo>
                        <a:pt x="0" y="19050"/>
                      </a:moveTo>
                      <a:cubicBezTo>
                        <a:pt x="0" y="8529"/>
                        <a:pt x="8529" y="0"/>
                        <a:pt x="19050" y="0"/>
                      </a:cubicBezTo>
                      <a:lnTo>
                        <a:pt x="114300" y="0"/>
                      </a:lnTo>
                      <a:cubicBezTo>
                        <a:pt x="124821" y="0"/>
                        <a:pt x="133350" y="8529"/>
                        <a:pt x="133350" y="19050"/>
                      </a:cubicBezTo>
                      <a:lnTo>
                        <a:pt x="133350" y="76200"/>
                      </a:lnTo>
                      <a:cubicBezTo>
                        <a:pt x="133350" y="86721"/>
                        <a:pt x="124821" y="95250"/>
                        <a:pt x="114300" y="95250"/>
                      </a:cubicBezTo>
                      <a:lnTo>
                        <a:pt x="19050" y="95250"/>
                      </a:lnTo>
                      <a:cubicBezTo>
                        <a:pt x="8529" y="95250"/>
                        <a:pt x="0" y="86721"/>
                        <a:pt x="0" y="76200"/>
                      </a:cubicBezTo>
                      <a:lnTo>
                        <a:pt x="0" y="19050"/>
                      </a:lnTo>
                    </a:path>
                  </a:pathLst>
                </a:custGeom>
                <a:noFill/>
                <a:ln w="19050">
                  <a:solidFill>
                    <a:srgbClr val="1565D8"/>
                  </a:solidFill>
                </a:ln>
              </p:spPr>
              <p:txBody>
                <a:bodyPr/>
                <a:p/>
              </p:txBody>
            </p:sp>
            <p:sp>
              <p:nvSpPr>
                <p:cNvPr id="58" name="Freeform 58"/>
                <p:cNvSpPr/>
                <p:nvPr/>
              </p:nvSpPr>
              <p:spPr>
                <a:xfrm>
                  <a:off x="8334375" y="2619375"/>
                  <a:ext cx="19050" cy="19050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19050" h="19050">
                      <a:moveTo>
                        <a:pt x="0" y="9525"/>
                      </a:moveTo>
                      <a:cubicBezTo>
                        <a:pt x="0" y="14786"/>
                        <a:pt x="4264" y="19050"/>
                        <a:pt x="9525" y="19050"/>
                      </a:cubicBezTo>
                      <a:cubicBezTo>
                        <a:pt x="14786" y="19050"/>
                        <a:pt x="19050" y="14786"/>
                        <a:pt x="19050" y="9525"/>
                      </a:cubicBezTo>
                      <a:cubicBezTo>
                        <a:pt x="19050" y="4264"/>
                        <a:pt x="14786" y="0"/>
                        <a:pt x="9525" y="0"/>
                      </a:cubicBezTo>
                      <a:cubicBezTo>
                        <a:pt x="4264" y="0"/>
                        <a:pt x="0" y="4264"/>
                        <a:pt x="0" y="9525"/>
                      </a:cubicBezTo>
                    </a:path>
                  </a:pathLst>
                </a:custGeom>
                <a:noFill/>
                <a:ln w="19050">
                  <a:solidFill>
                    <a:srgbClr val="1565D8"/>
                  </a:solidFill>
                </a:ln>
              </p:spPr>
              <p:txBody>
                <a:bodyPr/>
                <a:p/>
              </p:txBody>
            </p:sp>
            <p:sp>
              <p:nvSpPr>
                <p:cNvPr id="59" name="Freeform 59"/>
                <p:cNvSpPr/>
                <p:nvPr/>
              </p:nvSpPr>
              <p:spPr>
                <a:xfrm>
                  <a:off x="8305800" y="2505075"/>
                  <a:ext cx="76200" cy="76200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76200" h="76200">
                      <a:moveTo>
                        <a:pt x="0" y="76200"/>
                      </a:moveTo>
                      <a:lnTo>
                        <a:pt x="0" y="38100"/>
                      </a:lnTo>
                      <a:cubicBezTo>
                        <a:pt x="0" y="17058"/>
                        <a:pt x="17058" y="0"/>
                        <a:pt x="38100" y="0"/>
                      </a:cubicBezTo>
                      <a:cubicBezTo>
                        <a:pt x="59142" y="0"/>
                        <a:pt x="76200" y="17058"/>
                        <a:pt x="76200" y="38100"/>
                      </a:cubicBezTo>
                      <a:lnTo>
                        <a:pt x="76200" y="76200"/>
                      </a:lnTo>
                    </a:path>
                  </a:pathLst>
                </a:custGeom>
                <a:noFill/>
                <a:ln w="19050">
                  <a:solidFill>
                    <a:srgbClr val="1565D8"/>
                  </a:solidFill>
                </a:ln>
              </p:spPr>
              <p:txBody>
                <a:bodyPr/>
                <a:p/>
              </p:txBody>
            </p:sp>
          </p:grpSp>
          <p:sp>
            <p:nvSpPr>
              <p:cNvPr id="61" name="TextBox 61"/>
              <p:cNvSpPr txBox="1"/>
              <p:nvPr/>
            </p:nvSpPr>
            <p:spPr>
              <a:xfrm>
                <a:off x="8114824" y="2981325"/>
                <a:ext cx="458152" cy="3048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ctr"/>
                <a:r>
                  <a:rPr lang="zh-CN" sz="1500" b="1" dirty="0">
                    <a:solidFill>
                      <a:srgbClr val="2B3648"/>
                    </a:solidFill>
                    <a:latin typeface="Arial"/>
                    <a:ea typeface="Microsoft YaHei"/>
                    <a:cs typeface="Arial"/>
                  </a:rPr>
                  <a:t>约束</a:t>
                </a:r>
              </a:p>
            </p:txBody>
          </p:sp>
          <p:sp>
            <p:nvSpPr>
              <p:cNvPr id="62" name="TextBox 62"/>
              <p:cNvSpPr txBox="1"/>
              <p:nvPr/>
            </p:nvSpPr>
            <p:spPr>
              <a:xfrm>
                <a:off x="7980521" y="3277552"/>
                <a:ext cx="726758" cy="21336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ctr"/>
                <a:r>
                  <a:rPr lang="zh-CN" sz="1050" dirty="0">
                    <a:solidFill>
                      <a:srgbClr val="5B6B82"/>
                    </a:solidFill>
                    <a:latin typeface="Arial"/>
                    <a:ea typeface="Microsoft YaHei"/>
                    <a:cs typeface="Arial"/>
                  </a:rPr>
                  <a:t>有什么限制</a:t>
                </a:r>
              </a:p>
            </p:txBody>
          </p:sp>
          <p:sp>
            <p:nvSpPr>
              <p:cNvPr id="63" name="Line 63"/>
              <p:cNvSpPr/>
              <p:nvPr/>
            </p:nvSpPr>
            <p:spPr>
              <a:xfrm>
                <a:off x="7543800" y="3581400"/>
                <a:ext cx="1600200" cy="9525"/>
              </a:xfrm>
              <a:custGeom>
                <a:avLst/>
                <a:gdLst/>
                <a:ahLst/>
                <a:cxnLst/>
                <a:rect l="l" t="t" r="r" b="b"/>
                <a:pathLst>
                  <a:path w="1600200" h="9525">
                    <a:moveTo>
                      <a:pt x="0" y="0"/>
                    </a:moveTo>
                    <a:lnTo>
                      <a:pt x="1600200" y="0"/>
                    </a:lnTo>
                  </a:path>
                </a:pathLst>
              </a:custGeom>
              <a:noFill/>
              <a:ln w="9525">
                <a:solidFill>
                  <a:srgbClr val="D8E1EC"/>
                </a:solidFill>
              </a:ln>
            </p:spPr>
            <p:txBody>
              <a:bodyPr/>
              <a:p/>
            </p:txBody>
          </p:sp>
          <p:sp>
            <p:nvSpPr>
              <p:cNvPr id="64" name="TextBox 64"/>
              <p:cNvSpPr txBox="1"/>
              <p:nvPr/>
            </p:nvSpPr>
            <p:spPr>
              <a:xfrm>
                <a:off x="7939751" y="3802856"/>
                <a:ext cx="808297" cy="2286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ctr"/>
                <a:r>
                  <a:rPr lang="zh-CN" sz="1125" b="1" dirty="0">
                    <a:solidFill>
                      <a:srgbClr val="0B4EA2"/>
                    </a:solidFill>
                    <a:latin typeface="Arial"/>
                    <a:ea typeface="Microsoft YaHei"/>
                    <a:cs typeface="Arial"/>
                  </a:rPr>
                  <a:t>100 字内、</a:t>
                </a:r>
              </a:p>
            </p:txBody>
          </p:sp>
          <p:sp>
            <p:nvSpPr>
              <p:cNvPr id="65" name="TextBox 65"/>
              <p:cNvSpPr txBox="1"/>
              <p:nvPr/>
            </p:nvSpPr>
            <p:spPr>
              <a:xfrm>
                <a:off x="8014573" y="4031456"/>
                <a:ext cx="658654" cy="2286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ctr"/>
                <a:r>
                  <a:rPr lang="zh-CN" sz="1125" b="1" dirty="0">
                    <a:solidFill>
                      <a:srgbClr val="0B4EA2"/>
                    </a:solidFill>
                    <a:latin typeface="Arial"/>
                    <a:ea typeface="Microsoft YaHei"/>
                    <a:cs typeface="Arial"/>
                  </a:rPr>
                  <a:t>语气正式</a:t>
                </a:r>
              </a:p>
            </p:txBody>
          </p:sp>
        </p:grpSp>
        <p:grpSp>
          <p:nvGrpSpPr>
            <p:cNvPr id="81" name="Group 81"/>
            <p:cNvGrpSpPr/>
            <p:nvPr/>
          </p:nvGrpSpPr>
          <p:grpSpPr>
            <a:xfrm>
              <a:off x="9563100" y="1619250"/>
              <a:ext cx="2057400" cy="3238500"/>
              <a:chOff x="9563100" y="1619250"/>
              <a:chExt cx="2057400" cy="3238500"/>
            </a:xfrm>
          </p:grpSpPr>
          <p:sp>
            <p:nvSpPr>
              <p:cNvPr id="67" name="Rectangle 67"/>
              <p:cNvSpPr/>
              <p:nvPr/>
            </p:nvSpPr>
            <p:spPr>
              <a:xfrm>
                <a:off x="9563100" y="1619250"/>
                <a:ext cx="2057400" cy="3238500"/>
              </a:xfrm>
              <a:prstGeom prst="roundRect">
                <a:avLst>
                  <a:gd name="adj" fmla="val 7407"/>
                </a:avLst>
              </a:prstGeom>
              <a:solidFill>
                <a:srgbClr val="FFFFFF"/>
              </a:solidFill>
              <a:ln w="9525">
                <a:solidFill>
                  <a:srgbClr val="D8E1EC"/>
                </a:solidFill>
              </a:ln>
            </p:spPr>
            <p:txBody>
              <a:bodyPr/>
              <a:p/>
            </p:txBody>
          </p:sp>
          <p:sp>
            <p:nvSpPr>
              <p:cNvPr id="68" name="Ellipse 68"/>
              <p:cNvSpPr/>
              <p:nvPr/>
            </p:nvSpPr>
            <p:spPr>
              <a:xfrm>
                <a:off x="10420350" y="1885950"/>
                <a:ext cx="342900" cy="342900"/>
              </a:xfrm>
              <a:prstGeom prst="ellipse">
                <a:avLst/>
              </a:prstGeom>
              <a:solidFill>
                <a:srgbClr val="1565D8"/>
              </a:solidFill>
              <a:ln>
                <a:noFill/>
              </a:ln>
            </p:spPr>
            <p:txBody>
              <a:bodyPr/>
              <a:p/>
            </p:txBody>
          </p:sp>
          <p:sp>
            <p:nvSpPr>
              <p:cNvPr id="69" name="TextBox 69"/>
              <p:cNvSpPr txBox="1"/>
              <p:nvPr/>
            </p:nvSpPr>
            <p:spPr>
              <a:xfrm>
                <a:off x="10530354" y="1994535"/>
                <a:ext cx="122892" cy="24384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ctr"/>
                <a:r>
                  <a:rPr lang="zh-CN" sz="1200" b="1" dirty="0">
                    <a:solidFill>
                      <a:srgbClr val="FFFFFF"/>
                    </a:solidFill>
                    <a:latin typeface="Arial"/>
                    <a:ea typeface="Microsoft YaHei"/>
                    <a:cs typeface="Arial"/>
                  </a:rPr>
                  <a:t>5</a:t>
                </a:r>
              </a:p>
            </p:txBody>
          </p:sp>
          <p:sp>
            <p:nvSpPr>
              <p:cNvPr id="70" name="Ellipse 70"/>
              <p:cNvSpPr/>
              <p:nvPr/>
            </p:nvSpPr>
            <p:spPr>
              <a:xfrm>
                <a:off x="10382250" y="2381250"/>
                <a:ext cx="419100" cy="419100"/>
              </a:xfrm>
              <a:prstGeom prst="ellipse">
                <a:avLst/>
              </a:prstGeom>
              <a:solidFill>
                <a:srgbClr val="D6E6F9"/>
              </a:solidFill>
              <a:ln>
                <a:noFill/>
              </a:ln>
            </p:spPr>
            <p:txBody>
              <a:bodyPr/>
              <a:p/>
            </p:txBody>
          </p:sp>
          <p:grpSp>
            <p:nvGrpSpPr>
              <p:cNvPr id="75" name="Group 75"/>
              <p:cNvGrpSpPr/>
              <p:nvPr/>
            </p:nvGrpSpPr>
            <p:grpSpPr>
              <a:xfrm>
                <a:off x="10515600" y="2514600"/>
                <a:ext cx="152400" cy="152400"/>
                <a:chOff x="10515600" y="2514600"/>
                <a:chExt cx="152400" cy="152400"/>
              </a:xfrm>
            </p:grpSpPr>
            <p:sp>
              <p:nvSpPr>
                <p:cNvPr id="71" name="Freeform 71"/>
                <p:cNvSpPr/>
                <p:nvPr/>
              </p:nvSpPr>
              <p:spPr>
                <a:xfrm>
                  <a:off x="10515600" y="2514600"/>
                  <a:ext cx="57150" cy="47625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57150" h="47625">
                      <a:moveTo>
                        <a:pt x="0" y="19050"/>
                      </a:moveTo>
                      <a:cubicBezTo>
                        <a:pt x="0" y="8529"/>
                        <a:pt x="8529" y="0"/>
                        <a:pt x="19050" y="0"/>
                      </a:cubicBezTo>
                      <a:lnTo>
                        <a:pt x="38100" y="0"/>
                      </a:lnTo>
                      <a:cubicBezTo>
                        <a:pt x="48621" y="0"/>
                        <a:pt x="57150" y="8529"/>
                        <a:pt x="57150" y="19050"/>
                      </a:cubicBezTo>
                      <a:lnTo>
                        <a:pt x="57150" y="28575"/>
                      </a:lnTo>
                      <a:cubicBezTo>
                        <a:pt x="57150" y="39096"/>
                        <a:pt x="48621" y="47625"/>
                        <a:pt x="38100" y="47625"/>
                      </a:cubicBezTo>
                      <a:lnTo>
                        <a:pt x="19050" y="47625"/>
                      </a:lnTo>
                      <a:cubicBezTo>
                        <a:pt x="8529" y="47625"/>
                        <a:pt x="0" y="39096"/>
                        <a:pt x="0" y="28575"/>
                      </a:cubicBezTo>
                      <a:lnTo>
                        <a:pt x="0" y="19050"/>
                      </a:lnTo>
                    </a:path>
                  </a:pathLst>
                </a:custGeom>
                <a:noFill/>
                <a:ln w="19050">
                  <a:solidFill>
                    <a:srgbClr val="1565D8"/>
                  </a:solidFill>
                </a:ln>
              </p:spPr>
              <p:txBody>
                <a:bodyPr/>
                <a:p/>
              </p:txBody>
            </p:sp>
            <p:sp>
              <p:nvSpPr>
                <p:cNvPr id="72" name="Freeform 72"/>
                <p:cNvSpPr/>
                <p:nvPr/>
              </p:nvSpPr>
              <p:spPr>
                <a:xfrm>
                  <a:off x="10515600" y="2600325"/>
                  <a:ext cx="57150" cy="66675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57150" h="66675">
                      <a:moveTo>
                        <a:pt x="0" y="19050"/>
                      </a:moveTo>
                      <a:cubicBezTo>
                        <a:pt x="0" y="8529"/>
                        <a:pt x="8529" y="0"/>
                        <a:pt x="19050" y="0"/>
                      </a:cubicBezTo>
                      <a:lnTo>
                        <a:pt x="38100" y="0"/>
                      </a:lnTo>
                      <a:cubicBezTo>
                        <a:pt x="48621" y="0"/>
                        <a:pt x="57150" y="8529"/>
                        <a:pt x="57150" y="19050"/>
                      </a:cubicBezTo>
                      <a:lnTo>
                        <a:pt x="57150" y="47625"/>
                      </a:lnTo>
                      <a:cubicBezTo>
                        <a:pt x="57150" y="58146"/>
                        <a:pt x="48621" y="66675"/>
                        <a:pt x="38100" y="66675"/>
                      </a:cubicBezTo>
                      <a:lnTo>
                        <a:pt x="19050" y="66675"/>
                      </a:lnTo>
                      <a:cubicBezTo>
                        <a:pt x="8529" y="66675"/>
                        <a:pt x="0" y="58146"/>
                        <a:pt x="0" y="47625"/>
                      </a:cubicBezTo>
                      <a:lnTo>
                        <a:pt x="0" y="19050"/>
                      </a:lnTo>
                    </a:path>
                  </a:pathLst>
                </a:custGeom>
                <a:noFill/>
                <a:ln w="19050">
                  <a:solidFill>
                    <a:srgbClr val="1565D8"/>
                  </a:solidFill>
                </a:ln>
              </p:spPr>
              <p:txBody>
                <a:bodyPr/>
                <a:p/>
              </p:txBody>
            </p:sp>
            <p:sp>
              <p:nvSpPr>
                <p:cNvPr id="73" name="Freeform 73"/>
                <p:cNvSpPr/>
                <p:nvPr/>
              </p:nvSpPr>
              <p:spPr>
                <a:xfrm>
                  <a:off x="10610850" y="2514600"/>
                  <a:ext cx="57150" cy="66675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57150" h="66675">
                      <a:moveTo>
                        <a:pt x="0" y="19050"/>
                      </a:moveTo>
                      <a:cubicBezTo>
                        <a:pt x="0" y="8529"/>
                        <a:pt x="8529" y="0"/>
                        <a:pt x="19050" y="0"/>
                      </a:cubicBezTo>
                      <a:lnTo>
                        <a:pt x="38100" y="0"/>
                      </a:lnTo>
                      <a:cubicBezTo>
                        <a:pt x="48621" y="0"/>
                        <a:pt x="57150" y="8529"/>
                        <a:pt x="57150" y="19050"/>
                      </a:cubicBezTo>
                      <a:lnTo>
                        <a:pt x="57150" y="47625"/>
                      </a:lnTo>
                      <a:cubicBezTo>
                        <a:pt x="57150" y="58146"/>
                        <a:pt x="48621" y="66675"/>
                        <a:pt x="38100" y="66675"/>
                      </a:cubicBezTo>
                      <a:lnTo>
                        <a:pt x="19050" y="66675"/>
                      </a:lnTo>
                      <a:cubicBezTo>
                        <a:pt x="8529" y="66675"/>
                        <a:pt x="0" y="58146"/>
                        <a:pt x="0" y="47625"/>
                      </a:cubicBezTo>
                      <a:lnTo>
                        <a:pt x="0" y="19050"/>
                      </a:lnTo>
                    </a:path>
                  </a:pathLst>
                </a:custGeom>
                <a:noFill/>
                <a:ln w="19050">
                  <a:solidFill>
                    <a:srgbClr val="1565D8"/>
                  </a:solidFill>
                </a:ln>
              </p:spPr>
              <p:txBody>
                <a:bodyPr/>
                <a:p/>
              </p:txBody>
            </p:sp>
            <p:sp>
              <p:nvSpPr>
                <p:cNvPr id="74" name="Freeform 74"/>
                <p:cNvSpPr/>
                <p:nvPr/>
              </p:nvSpPr>
              <p:spPr>
                <a:xfrm>
                  <a:off x="10610850" y="2619375"/>
                  <a:ext cx="57150" cy="47625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57150" h="47625">
                      <a:moveTo>
                        <a:pt x="0" y="19050"/>
                      </a:moveTo>
                      <a:cubicBezTo>
                        <a:pt x="0" y="8529"/>
                        <a:pt x="8529" y="0"/>
                        <a:pt x="19050" y="0"/>
                      </a:cubicBezTo>
                      <a:lnTo>
                        <a:pt x="38100" y="0"/>
                      </a:lnTo>
                      <a:cubicBezTo>
                        <a:pt x="48621" y="0"/>
                        <a:pt x="57150" y="8529"/>
                        <a:pt x="57150" y="19050"/>
                      </a:cubicBezTo>
                      <a:lnTo>
                        <a:pt x="57150" y="28575"/>
                      </a:lnTo>
                      <a:cubicBezTo>
                        <a:pt x="57150" y="39096"/>
                        <a:pt x="48621" y="47625"/>
                        <a:pt x="38100" y="47625"/>
                      </a:cubicBezTo>
                      <a:lnTo>
                        <a:pt x="19050" y="47625"/>
                      </a:lnTo>
                      <a:cubicBezTo>
                        <a:pt x="8529" y="47625"/>
                        <a:pt x="0" y="39096"/>
                        <a:pt x="0" y="28575"/>
                      </a:cubicBezTo>
                      <a:lnTo>
                        <a:pt x="0" y="19050"/>
                      </a:lnTo>
                    </a:path>
                  </a:pathLst>
                </a:custGeom>
                <a:noFill/>
                <a:ln w="19050">
                  <a:solidFill>
                    <a:srgbClr val="1565D8"/>
                  </a:solidFill>
                </a:ln>
              </p:spPr>
              <p:txBody>
                <a:bodyPr/>
                <a:p/>
              </p:txBody>
            </p:sp>
          </p:grpSp>
          <p:sp>
            <p:nvSpPr>
              <p:cNvPr id="76" name="TextBox 76"/>
              <p:cNvSpPr txBox="1"/>
              <p:nvPr/>
            </p:nvSpPr>
            <p:spPr>
              <a:xfrm>
                <a:off x="10362724" y="2981325"/>
                <a:ext cx="458152" cy="3048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ctr"/>
                <a:r>
                  <a:rPr lang="zh-CN" sz="1500" b="1" dirty="0">
                    <a:solidFill>
                      <a:srgbClr val="2B3648"/>
                    </a:solidFill>
                    <a:latin typeface="Arial"/>
                    <a:ea typeface="Microsoft YaHei"/>
                    <a:cs typeface="Arial"/>
                  </a:rPr>
                  <a:t>格式</a:t>
                </a:r>
              </a:p>
            </p:txBody>
          </p:sp>
          <p:sp>
            <p:nvSpPr>
              <p:cNvPr id="77" name="TextBox 77"/>
              <p:cNvSpPr txBox="1"/>
              <p:nvPr/>
            </p:nvSpPr>
            <p:spPr>
              <a:xfrm>
                <a:off x="10158412" y="3277552"/>
                <a:ext cx="866775" cy="21336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ctr"/>
                <a:r>
                  <a:rPr lang="zh-CN" sz="1050" dirty="0">
                    <a:solidFill>
                      <a:srgbClr val="5B6B82"/>
                    </a:solidFill>
                    <a:latin typeface="Arial"/>
                    <a:ea typeface="Microsoft YaHei"/>
                    <a:cs typeface="Arial"/>
                  </a:rPr>
                  <a:t>给我什么格式</a:t>
                </a:r>
              </a:p>
            </p:txBody>
          </p:sp>
          <p:sp>
            <p:nvSpPr>
              <p:cNvPr id="78" name="Line 78"/>
              <p:cNvSpPr/>
              <p:nvPr/>
            </p:nvSpPr>
            <p:spPr>
              <a:xfrm>
                <a:off x="9791700" y="3581400"/>
                <a:ext cx="1600200" cy="9525"/>
              </a:xfrm>
              <a:custGeom>
                <a:avLst/>
                <a:gdLst/>
                <a:ahLst/>
                <a:cxnLst/>
                <a:rect l="l" t="t" r="r" b="b"/>
                <a:pathLst>
                  <a:path w="1600200" h="9525">
                    <a:moveTo>
                      <a:pt x="0" y="0"/>
                    </a:moveTo>
                    <a:lnTo>
                      <a:pt x="1600200" y="0"/>
                    </a:lnTo>
                  </a:path>
                </a:pathLst>
              </a:custGeom>
              <a:noFill/>
              <a:ln w="9525">
                <a:solidFill>
                  <a:srgbClr val="D8E1EC"/>
                </a:solidFill>
              </a:ln>
            </p:spPr>
            <p:txBody>
              <a:bodyPr/>
              <a:p/>
            </p:txBody>
          </p:sp>
          <p:sp>
            <p:nvSpPr>
              <p:cNvPr id="79" name="TextBox 79"/>
              <p:cNvSpPr txBox="1"/>
              <p:nvPr/>
            </p:nvSpPr>
            <p:spPr>
              <a:xfrm>
                <a:off x="10183713" y="3802856"/>
                <a:ext cx="816173" cy="2286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ctr"/>
                <a:r>
                  <a:rPr lang="zh-CN" sz="1125" b="1" dirty="0">
                    <a:solidFill>
                      <a:srgbClr val="0B4EA2"/>
                    </a:solidFill>
                    <a:latin typeface="Arial"/>
                    <a:ea typeface="Microsoft YaHei"/>
                    <a:cs typeface="Arial"/>
                  </a:rPr>
                  <a:t>用邮件体，</a:t>
                </a:r>
              </a:p>
            </p:txBody>
          </p:sp>
          <p:sp>
            <p:nvSpPr>
              <p:cNvPr id="80" name="TextBox 80"/>
              <p:cNvSpPr txBox="1"/>
              <p:nvPr/>
            </p:nvSpPr>
            <p:spPr>
              <a:xfrm>
                <a:off x="10093139" y="4031456"/>
                <a:ext cx="997321" cy="2286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ctr"/>
                <a:r>
                  <a:rPr lang="zh-CN" sz="1125" b="1" dirty="0">
                    <a:solidFill>
                      <a:srgbClr val="0B4EA2"/>
                    </a:solidFill>
                    <a:latin typeface="Arial"/>
                    <a:ea typeface="Microsoft YaHei"/>
                    <a:cs typeface="Arial"/>
                  </a:rPr>
                  <a:t>列出 2 条待办</a:t>
                </a:r>
              </a:p>
            </p:txBody>
          </p:sp>
        </p:grpSp>
      </p:grpSp>
      <p:grpSp>
        <p:nvGrpSpPr>
          <p:cNvPr id="86" name="Group 86"/>
          <p:cNvGrpSpPr/>
          <p:nvPr/>
        </p:nvGrpSpPr>
        <p:grpSpPr>
          <a:xfrm>
            <a:off x="571500" y="5334000"/>
            <a:ext cx="11049000" cy="457200"/>
            <a:chOff x="571500" y="5334000"/>
            <a:chExt cx="11049000" cy="457200"/>
          </a:xfrm>
        </p:grpSpPr>
        <p:sp>
          <p:nvSpPr>
            <p:cNvPr id="83" name="Rectangle 83"/>
            <p:cNvSpPr/>
            <p:nvPr/>
          </p:nvSpPr>
          <p:spPr>
            <a:xfrm>
              <a:off x="571500" y="5334000"/>
              <a:ext cx="11049000" cy="457200"/>
            </a:xfrm>
            <a:prstGeom prst="roundRect">
              <a:avLst>
                <a:gd name="adj" fmla="val 33333"/>
              </a:avLst>
            </a:prstGeom>
            <a:solidFill>
              <a:srgbClr val="D6E6F9"/>
            </a:solidFill>
            <a:ln>
              <a:noFill/>
            </a:ln>
          </p:spPr>
          <p:txBody>
            <a:bodyPr/>
            <a:p/>
          </p:txBody>
        </p:sp>
        <p:sp>
          <p:nvSpPr>
            <p:cNvPr id="84" name="Rectangle 84"/>
            <p:cNvSpPr/>
            <p:nvPr/>
          </p:nvSpPr>
          <p:spPr>
            <a:xfrm>
              <a:off x="571500" y="5334000"/>
              <a:ext cx="76200" cy="457200"/>
            </a:xfrm>
            <a:prstGeom prst="roundRect">
              <a:avLst>
                <a:gd name="adj" fmla="val 50000"/>
              </a:avLst>
            </a:prstGeom>
            <a:solidFill>
              <a:srgbClr val="1565D8"/>
            </a:solidFill>
            <a:ln>
              <a:noFill/>
            </a:ln>
          </p:spPr>
          <p:txBody>
            <a:bodyPr/>
            <a:p/>
          </p:txBody>
        </p:sp>
        <p:sp>
          <p:nvSpPr>
            <p:cNvPr id="85" name="TextBox 85"/>
            <p:cNvSpPr txBox="1"/>
            <p:nvPr/>
          </p:nvSpPr>
          <p:spPr>
            <a:xfrm>
              <a:off x="859155" y="5483542"/>
              <a:ext cx="5629389" cy="27432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b="1" dirty="0">
                  <a:solidFill>
                    <a:srgbClr val="0B4EA2"/>
                  </a:solidFill>
                  <a:latin typeface="Arial"/>
                  <a:ea typeface="Microsoft YaHei"/>
                  <a:cs typeface="Arial"/>
                </a:rPr>
                <a:t>口诀：你是谁 · 背景是啥 · 要我干啥 · 有什么限制 · 给我什么格式</a:t>
              </a:r>
            </a:p>
          </p:txBody>
        </p:sp>
      </p:grpSp>
      <p:grpSp>
        <p:nvGrpSpPr>
          <p:cNvPr id="89" name="Group 89"/>
          <p:cNvGrpSpPr/>
          <p:nvPr/>
        </p:nvGrpSpPr>
        <p:grpSpPr>
          <a:xfrm>
            <a:off x="560070" y="6341745"/>
            <a:ext cx="11071860" cy="182880"/>
            <a:chOff x="560070" y="6341745"/>
            <a:chExt cx="11071860" cy="182880"/>
          </a:xfrm>
        </p:grpSpPr>
        <p:sp>
          <p:nvSpPr>
            <p:cNvPr id="87" name="TextBox 87"/>
            <p:cNvSpPr txBox="1"/>
            <p:nvPr/>
          </p:nvSpPr>
          <p:spPr>
            <a:xfrm>
              <a:off x="560070" y="6341745"/>
              <a:ext cx="1054989" cy="18288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00" dirty="0">
                  <a:solidFill>
                    <a:srgbClr val="8B99AE"/>
                  </a:solidFill>
                  <a:latin typeface="Arial"/>
                  <a:ea typeface="Microsoft YaHei"/>
                  <a:cs typeface="Arial"/>
                </a:rPr>
                <a:t>大模型通识 · 企业版</a:t>
              </a:r>
            </a:p>
          </p:txBody>
        </p:sp>
        <p:sp>
          <p:nvSpPr>
            <p:cNvPr id="88" name="TextBox 88"/>
            <p:cNvSpPr txBox="1"/>
            <p:nvPr/>
          </p:nvSpPr>
          <p:spPr>
            <a:xfrm>
              <a:off x="11207020" y="6341745"/>
              <a:ext cx="424910" cy="18288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r"/>
              <a:r>
                <a:rPr lang="zh-CN" sz="900" dirty="0">
                  <a:solidFill>
                    <a:srgbClr val="8B99AE"/>
                  </a:solidFill>
                  <a:latin typeface="Arial"/>
                  <a:ea typeface="Microsoft YaHei"/>
                  <a:cs typeface="Arial"/>
                </a:rPr>
                <a:t>20 / 51</a:t>
              </a:r>
            </a:p>
          </p:txBody>
        </p:sp>
      </p:grpSp>
    </p:spTree>
  </p:cSld>
  <p:clrMapOvr>
    <a:masterClrMapping/>
  </p:clrMapOvr>
  <p:transition xmlns:p14="http://schemas.microsoft.com/office/powerpoint/2010/main" p14:dur="400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1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400"/>
                                        <p:tgtEl>
                                          <p:spTgt spid="8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900"/>
                            </p:stCondLst>
                            <p:childTnLst>
                              <p:par>
                                <p:cTn id="9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" dur="400"/>
                                        <p:tgtEl>
                                          <p:spTgt spid="8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2" grpId="0"/>
      <p:bldP spid="86" grpId="0"/>
    </p:bldLst>
  </p:timing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5" name="Group 5"/>
          <p:cNvGrpSpPr/>
          <p:nvPr/>
        </p:nvGrpSpPr>
        <p:grpSpPr>
          <a:xfrm>
            <a:off x="-1619250" y="0"/>
            <a:ext cx="13811250" cy="8477250"/>
            <a:chOff x="-1619250" y="0"/>
            <a:chExt cx="13811250" cy="8477250"/>
          </a:xfrm>
        </p:grpSpPr>
        <p:sp>
          <p:nvSpPr>
            <p:cNvPr id="2" name="Rectangle 2"/>
            <p:cNvSpPr/>
            <p:nvPr/>
          </p:nvSpPr>
          <p:spPr>
            <a:xfrm>
              <a:off x="0" y="0"/>
              <a:ext cx="12192000" cy="6858000"/>
            </a:xfrm>
            <a:prstGeom prst="rect">
              <a:avLst/>
            </a:prstGeom>
            <a:solidFill>
              <a:srgbClr val="F5F7FA"/>
            </a:solidFill>
            <a:ln>
              <a:noFill/>
            </a:ln>
          </p:spPr>
          <p:txBody>
            <a:bodyPr/>
            <a:p/>
          </p:txBody>
        </p:sp>
        <p:sp>
          <p:nvSpPr>
            <p:cNvPr id="3" name="Rectangle 3"/>
            <p:cNvSpPr/>
            <p:nvPr/>
          </p:nvSpPr>
          <p:spPr>
            <a:xfrm>
              <a:off x="0" y="0"/>
              <a:ext cx="12192000" cy="6858000"/>
            </a:xfrm>
            <a:prstGeom prst="rect">
              <a:avLst/>
            </a:prstGeom>
            <a:gradFill>
              <a:gsLst>
                <a:gs pos="0">
                  <a:srgbClr val="1565D8">
                    <a:alpha val="6000"/>
                  </a:srgbClr>
                </a:gs>
                <a:gs pos="100000">
                  <a:srgbClr val="1565D8">
                    <a:alpha val="0"/>
                  </a:srgbClr>
                </a:gs>
              </a:gsLst>
              <a:path path="circle">
                <a:fillToRect l="50000" t="50000" r="50000" b="50000"/>
              </a:path>
            </a:gradFill>
            <a:ln>
              <a:noFill/>
            </a:ln>
          </p:spPr>
          <p:txBody>
            <a:bodyPr/>
            <a:p/>
          </p:txBody>
        </p:sp>
        <p:sp>
          <p:nvSpPr>
            <p:cNvPr id="4" name="Ellipse 4"/>
            <p:cNvSpPr/>
            <p:nvPr/>
          </p:nvSpPr>
          <p:spPr>
            <a:xfrm>
              <a:off x="-1619250" y="4667250"/>
              <a:ext cx="3810000" cy="3810000"/>
            </a:xfrm>
            <a:prstGeom prst="ellipse">
              <a:avLst/>
            </a:prstGeom>
            <a:noFill/>
            <a:ln w="14288">
              <a:solidFill>
                <a:srgbClr val="D6E6F9">
                  <a:alpha val="80000"/>
                </a:srgbClr>
              </a:solidFill>
            </a:ln>
          </p:spPr>
          <p:txBody>
            <a:bodyPr/>
            <a:p/>
          </p:txBody>
        </p:sp>
      </p:grpSp>
      <p:grpSp>
        <p:nvGrpSpPr>
          <p:cNvPr id="9" name="Group 9"/>
          <p:cNvGrpSpPr/>
          <p:nvPr/>
        </p:nvGrpSpPr>
        <p:grpSpPr>
          <a:xfrm>
            <a:off x="571500" y="685800"/>
            <a:ext cx="3306128" cy="700088"/>
            <a:chOff x="571500" y="685800"/>
            <a:chExt cx="3306128" cy="700088"/>
          </a:xfrm>
        </p:grpSpPr>
        <p:sp>
          <p:nvSpPr>
            <p:cNvPr id="6" name="Rectangle 6"/>
            <p:cNvSpPr/>
            <p:nvPr/>
          </p:nvSpPr>
          <p:spPr>
            <a:xfrm>
              <a:off x="571500" y="685800"/>
              <a:ext cx="76200" cy="323850"/>
            </a:xfrm>
            <a:prstGeom prst="roundRect">
              <a:avLst>
                <a:gd name="adj" fmla="val 50000"/>
              </a:avLst>
            </a:prstGeom>
            <a:solidFill>
              <a:srgbClr val="1565D8"/>
            </a:solidFill>
            <a:ln>
              <a:noFill/>
            </a:ln>
          </p:spPr>
          <p:txBody>
            <a:bodyPr/>
            <a:p/>
          </p:txBody>
        </p:sp>
        <p:sp>
          <p:nvSpPr>
            <p:cNvPr id="7" name="TextBox 7"/>
            <p:cNvSpPr txBox="1"/>
            <p:nvPr/>
          </p:nvSpPr>
          <p:spPr>
            <a:xfrm>
              <a:off x="771525" y="700088"/>
              <a:ext cx="2309682" cy="45720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2250" b="1" dirty="0">
                  <a:solidFill>
                    <a:srgbClr val="2B3648"/>
                  </a:solidFill>
                  <a:latin typeface="Arial"/>
                  <a:ea typeface="Microsoft YaHei"/>
                  <a:cs typeface="Arial"/>
                </a:rPr>
                <a:t>公式 + 真实范例</a:t>
              </a:r>
            </a:p>
          </p:txBody>
        </p:sp>
        <p:sp>
          <p:nvSpPr>
            <p:cNvPr id="8" name="TextBox 8"/>
            <p:cNvSpPr txBox="1"/>
            <p:nvPr/>
          </p:nvSpPr>
          <p:spPr>
            <a:xfrm>
              <a:off x="782955" y="1111568"/>
              <a:ext cx="3094673" cy="27432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5B6B82"/>
                  </a:solidFill>
                  <a:latin typeface="Arial"/>
                  <a:ea typeface="Microsoft YaHei"/>
                  <a:cs typeface="Arial"/>
                </a:rPr>
                <a:t>同样一件事，问法不同，结果差多少？</a:t>
              </a:r>
            </a:p>
          </p:txBody>
        </p:sp>
      </p:grpSp>
      <p:grpSp>
        <p:nvGrpSpPr>
          <p:cNvPr id="25" name="Group 25"/>
          <p:cNvGrpSpPr/>
          <p:nvPr/>
        </p:nvGrpSpPr>
        <p:grpSpPr>
          <a:xfrm>
            <a:off x="571500" y="1619250"/>
            <a:ext cx="3143250" cy="2571750"/>
            <a:chOff x="571500" y="1619250"/>
            <a:chExt cx="3143250" cy="2571750"/>
          </a:xfrm>
        </p:grpSpPr>
        <p:sp>
          <p:nvSpPr>
            <p:cNvPr id="10" name="Rectangle 10"/>
            <p:cNvSpPr/>
            <p:nvPr/>
          </p:nvSpPr>
          <p:spPr>
            <a:xfrm>
              <a:off x="571500" y="1619250"/>
              <a:ext cx="3143250" cy="2571750"/>
            </a:xfrm>
            <a:prstGeom prst="roundRect">
              <a:avLst>
                <a:gd name="adj" fmla="val 5926"/>
              </a:avLst>
            </a:prstGeom>
            <a:solidFill>
              <a:srgbClr val="FFFFFF"/>
            </a:solidFill>
            <a:ln w="9525">
              <a:solidFill>
                <a:srgbClr val="D8E1EC"/>
              </a:solidFill>
            </a:ln>
          </p:spPr>
          <p:txBody>
            <a:bodyPr/>
            <a:p/>
          </p:txBody>
        </p:sp>
        <p:sp>
          <p:nvSpPr>
            <p:cNvPr id="11" name="Ellipse 11"/>
            <p:cNvSpPr/>
            <p:nvPr/>
          </p:nvSpPr>
          <p:spPr>
            <a:xfrm>
              <a:off x="800100" y="1847850"/>
              <a:ext cx="419100" cy="419100"/>
            </a:xfrm>
            <a:prstGeom prst="ellipse">
              <a:avLst/>
            </a:prstGeom>
            <a:solidFill>
              <a:srgbClr val="E9EEF5"/>
            </a:solidFill>
            <a:ln>
              <a:noFill/>
            </a:ln>
          </p:spPr>
          <p:txBody>
            <a:bodyPr/>
            <a:p/>
          </p:txBody>
        </p:sp>
        <p:grpSp>
          <p:nvGrpSpPr>
            <p:cNvPr id="15" name="Group 15"/>
            <p:cNvGrpSpPr/>
            <p:nvPr/>
          </p:nvGrpSpPr>
          <p:grpSpPr>
            <a:xfrm>
              <a:off x="923925" y="1981200"/>
              <a:ext cx="171450" cy="161925"/>
              <a:chOff x="923925" y="1981200"/>
              <a:chExt cx="171450" cy="161925"/>
            </a:xfrm>
          </p:grpSpPr>
          <p:sp>
            <p:nvSpPr>
              <p:cNvPr id="12" name="Freeform 12"/>
              <p:cNvSpPr/>
              <p:nvPr/>
            </p:nvSpPr>
            <p:spPr>
              <a:xfrm>
                <a:off x="971550" y="2028825"/>
                <a:ext cx="76200" cy="9525"/>
              </a:xfrm>
              <a:custGeom>
                <a:avLst/>
                <a:gdLst/>
                <a:ahLst/>
                <a:cxnLst/>
                <a:rect l="l" t="t" r="r" b="b"/>
                <a:pathLst>
                  <a:path w="76200" h="9525">
                    <a:moveTo>
                      <a:pt x="0" y="0"/>
                    </a:moveTo>
                    <a:lnTo>
                      <a:pt x="76200" y="0"/>
                    </a:lnTo>
                  </a:path>
                </a:pathLst>
              </a:custGeom>
              <a:noFill/>
              <a:ln w="19050">
                <a:solidFill>
                  <a:srgbClr val="5B6B82"/>
                </a:solidFill>
              </a:ln>
            </p:spPr>
            <p:txBody>
              <a:bodyPr/>
              <a:p/>
            </p:txBody>
          </p:sp>
          <p:sp>
            <p:nvSpPr>
              <p:cNvPr id="13" name="Freeform 13"/>
              <p:cNvSpPr/>
              <p:nvPr/>
            </p:nvSpPr>
            <p:spPr>
              <a:xfrm>
                <a:off x="971550" y="2066925"/>
                <a:ext cx="57150" cy="9525"/>
              </a:xfrm>
              <a:custGeom>
                <a:avLst/>
                <a:gdLst/>
                <a:ahLst/>
                <a:cxnLst/>
                <a:rect l="l" t="t" r="r" b="b"/>
                <a:pathLst>
                  <a:path w="57150" h="9525">
                    <a:moveTo>
                      <a:pt x="0" y="0"/>
                    </a:moveTo>
                    <a:lnTo>
                      <a:pt x="57150" y="0"/>
                    </a:lnTo>
                  </a:path>
                </a:pathLst>
              </a:custGeom>
              <a:noFill/>
              <a:ln w="19050">
                <a:solidFill>
                  <a:srgbClr val="5B6B82"/>
                </a:solidFill>
              </a:ln>
            </p:spPr>
            <p:txBody>
              <a:bodyPr/>
              <a:p/>
            </p:txBody>
          </p:sp>
          <p:sp>
            <p:nvSpPr>
              <p:cNvPr id="14" name="Freeform 14"/>
              <p:cNvSpPr/>
              <p:nvPr/>
            </p:nvSpPr>
            <p:spPr>
              <a:xfrm>
                <a:off x="923925" y="1981200"/>
                <a:ext cx="171450" cy="161925"/>
              </a:xfrm>
              <a:custGeom>
                <a:avLst/>
                <a:gdLst/>
                <a:ahLst/>
                <a:cxnLst/>
                <a:rect l="l" t="t" r="r" b="b"/>
                <a:pathLst>
                  <a:path w="171450" h="161925">
                    <a:moveTo>
                      <a:pt x="57150" y="133350"/>
                    </a:moveTo>
                    <a:lnTo>
                      <a:pt x="28575" y="133350"/>
                    </a:lnTo>
                    <a:cubicBezTo>
                      <a:pt x="12793" y="133350"/>
                      <a:pt x="0" y="120557"/>
                      <a:pt x="0" y="104775"/>
                    </a:cubicBezTo>
                    <a:lnTo>
                      <a:pt x="0" y="28575"/>
                    </a:lnTo>
                    <a:cubicBezTo>
                      <a:pt x="0" y="12793"/>
                      <a:pt x="12793" y="0"/>
                      <a:pt x="28575" y="0"/>
                    </a:cubicBezTo>
                    <a:lnTo>
                      <a:pt x="142875" y="0"/>
                    </a:lnTo>
                    <a:cubicBezTo>
                      <a:pt x="158657" y="0"/>
                      <a:pt x="171450" y="12793"/>
                      <a:pt x="171450" y="28575"/>
                    </a:cubicBezTo>
                    <a:lnTo>
                      <a:pt x="171450" y="104775"/>
                    </a:lnTo>
                    <a:cubicBezTo>
                      <a:pt x="171450" y="120557"/>
                      <a:pt x="158657" y="133350"/>
                      <a:pt x="142875" y="133350"/>
                    </a:cubicBezTo>
                    <a:lnTo>
                      <a:pt x="114300" y="133350"/>
                    </a:lnTo>
                    <a:lnTo>
                      <a:pt x="85725" y="161925"/>
                    </a:lnTo>
                    <a:lnTo>
                      <a:pt x="57150" y="133350"/>
                    </a:lnTo>
                  </a:path>
                </a:pathLst>
              </a:custGeom>
              <a:noFill/>
              <a:ln w="19050">
                <a:solidFill>
                  <a:srgbClr val="5B6B82"/>
                </a:solidFill>
              </a:ln>
            </p:spPr>
            <p:txBody>
              <a:bodyPr/>
              <a:p/>
            </p:txBody>
          </p:sp>
        </p:grpSp>
        <p:sp>
          <p:nvSpPr>
            <p:cNvPr id="16" name="TextBox 16"/>
            <p:cNvSpPr txBox="1"/>
            <p:nvPr/>
          </p:nvSpPr>
          <p:spPr>
            <a:xfrm>
              <a:off x="1331595" y="1955482"/>
              <a:ext cx="966026" cy="33528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650" b="1" dirty="0">
                  <a:solidFill>
                    <a:srgbClr val="2B3648"/>
                  </a:solidFill>
                  <a:latin typeface="Arial"/>
                  <a:ea typeface="Microsoft YaHei"/>
                  <a:cs typeface="Arial"/>
                </a:rPr>
                <a:t>模糊地问</a:t>
              </a:r>
            </a:p>
          </p:txBody>
        </p:sp>
        <p:sp>
          <p:nvSpPr>
            <p:cNvPr id="17" name="Rectangle 17"/>
            <p:cNvSpPr/>
            <p:nvPr/>
          </p:nvSpPr>
          <p:spPr>
            <a:xfrm>
              <a:off x="800100" y="2457450"/>
              <a:ext cx="2686050" cy="800100"/>
            </a:xfrm>
            <a:prstGeom prst="roundRect">
              <a:avLst>
                <a:gd name="adj" fmla="val 19048"/>
              </a:avLst>
            </a:prstGeom>
            <a:solidFill>
              <a:srgbClr val="E9EEF5"/>
            </a:solidFill>
            <a:ln>
              <a:noFill/>
            </a:ln>
          </p:spPr>
          <p:txBody>
            <a:bodyPr/>
            <a:p/>
          </p:txBody>
        </p:sp>
        <p:grpSp>
          <p:nvGrpSpPr>
            <p:cNvPr id="20" name="Group 20"/>
            <p:cNvGrpSpPr/>
            <p:nvPr/>
          </p:nvGrpSpPr>
          <p:grpSpPr>
            <a:xfrm>
              <a:off x="1030288" y="2695575"/>
              <a:ext cx="111124" cy="95250"/>
              <a:chOff x="1030288" y="2695575"/>
              <a:chExt cx="111124" cy="95250"/>
            </a:xfrm>
          </p:grpSpPr>
          <p:sp>
            <p:nvSpPr>
              <p:cNvPr id="18" name="Freeform 18"/>
              <p:cNvSpPr/>
              <p:nvPr/>
            </p:nvSpPr>
            <p:spPr>
              <a:xfrm>
                <a:off x="1030288" y="2695575"/>
                <a:ext cx="39687" cy="95250"/>
              </a:xfrm>
              <a:custGeom>
                <a:avLst/>
                <a:gdLst/>
                <a:ahLst/>
                <a:cxnLst/>
                <a:rect l="l" t="t" r="r" b="b"/>
                <a:pathLst>
                  <a:path w="39687" h="95250">
                    <a:moveTo>
                      <a:pt x="39687" y="39688"/>
                    </a:moveTo>
                    <a:lnTo>
                      <a:pt x="7937" y="39688"/>
                    </a:lnTo>
                    <a:cubicBezTo>
                      <a:pt x="3554" y="39688"/>
                      <a:pt x="0" y="36134"/>
                      <a:pt x="0" y="31750"/>
                    </a:cubicBezTo>
                    <a:lnTo>
                      <a:pt x="0" y="7937"/>
                    </a:lnTo>
                    <a:cubicBezTo>
                      <a:pt x="0" y="3554"/>
                      <a:pt x="3554" y="0"/>
                      <a:pt x="7937" y="0"/>
                    </a:cubicBezTo>
                    <a:lnTo>
                      <a:pt x="31750" y="0"/>
                    </a:lnTo>
                    <a:cubicBezTo>
                      <a:pt x="36134" y="0"/>
                      <a:pt x="39687" y="3554"/>
                      <a:pt x="39687" y="7937"/>
                    </a:cubicBezTo>
                    <a:lnTo>
                      <a:pt x="39687" y="55562"/>
                    </a:lnTo>
                    <a:cubicBezTo>
                      <a:pt x="39687" y="76732"/>
                      <a:pt x="29107" y="89956"/>
                      <a:pt x="7937" y="95250"/>
                    </a:cubicBezTo>
                  </a:path>
                </a:pathLst>
              </a:custGeom>
              <a:noFill/>
              <a:ln w="19050">
                <a:solidFill>
                  <a:srgbClr val="8B99AE"/>
                </a:solidFill>
              </a:ln>
            </p:spPr>
            <p:txBody>
              <a:bodyPr/>
              <a:p/>
            </p:txBody>
          </p:sp>
          <p:sp>
            <p:nvSpPr>
              <p:cNvPr id="19" name="Freeform 19"/>
              <p:cNvSpPr/>
              <p:nvPr/>
            </p:nvSpPr>
            <p:spPr>
              <a:xfrm>
                <a:off x="1101725" y="2695575"/>
                <a:ext cx="39687" cy="95250"/>
              </a:xfrm>
              <a:custGeom>
                <a:avLst/>
                <a:gdLst/>
                <a:ahLst/>
                <a:cxnLst/>
                <a:rect l="l" t="t" r="r" b="b"/>
                <a:pathLst>
                  <a:path w="39687" h="95250">
                    <a:moveTo>
                      <a:pt x="39687" y="39688"/>
                    </a:moveTo>
                    <a:lnTo>
                      <a:pt x="7937" y="39688"/>
                    </a:lnTo>
                    <a:cubicBezTo>
                      <a:pt x="3554" y="39688"/>
                      <a:pt x="0" y="36134"/>
                      <a:pt x="0" y="31750"/>
                    </a:cubicBezTo>
                    <a:lnTo>
                      <a:pt x="0" y="7937"/>
                    </a:lnTo>
                    <a:cubicBezTo>
                      <a:pt x="0" y="3554"/>
                      <a:pt x="3554" y="0"/>
                      <a:pt x="7937" y="0"/>
                    </a:cubicBezTo>
                    <a:lnTo>
                      <a:pt x="31750" y="0"/>
                    </a:lnTo>
                    <a:cubicBezTo>
                      <a:pt x="36134" y="0"/>
                      <a:pt x="39687" y="3554"/>
                      <a:pt x="39687" y="7937"/>
                    </a:cubicBezTo>
                    <a:lnTo>
                      <a:pt x="39687" y="55562"/>
                    </a:lnTo>
                    <a:cubicBezTo>
                      <a:pt x="39687" y="76732"/>
                      <a:pt x="29107" y="89956"/>
                      <a:pt x="7937" y="95250"/>
                    </a:cubicBezTo>
                  </a:path>
                </a:pathLst>
              </a:custGeom>
              <a:noFill/>
              <a:ln w="19050">
                <a:solidFill>
                  <a:srgbClr val="8B99AE"/>
                </a:solidFill>
              </a:ln>
            </p:spPr>
            <p:txBody>
              <a:bodyPr/>
              <a:p/>
            </p:txBody>
          </p:sp>
        </p:grpSp>
        <p:sp>
          <p:nvSpPr>
            <p:cNvPr id="21" name="TextBox 21"/>
            <p:cNvSpPr txBox="1"/>
            <p:nvPr/>
          </p:nvSpPr>
          <p:spPr>
            <a:xfrm>
              <a:off x="973455" y="2959418"/>
              <a:ext cx="1924526" cy="27432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b="1" dirty="0">
                  <a:solidFill>
                    <a:srgbClr val="2B3648"/>
                  </a:solidFill>
                  <a:latin typeface="Arial"/>
                  <a:ea typeface="Microsoft YaHei"/>
                  <a:cs typeface="Arial"/>
                </a:rPr>
                <a:t>「帮我写个会议通知」</a:t>
              </a:r>
            </a:p>
          </p:txBody>
        </p:sp>
        <p:sp>
          <p:nvSpPr>
            <p:cNvPr id="22" name="TextBox 22"/>
            <p:cNvSpPr txBox="1"/>
            <p:nvPr/>
          </p:nvSpPr>
          <p:spPr>
            <a:xfrm>
              <a:off x="784860" y="3528060"/>
              <a:ext cx="534543" cy="24384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00" b="1" dirty="0">
                  <a:solidFill>
                    <a:srgbClr val="5B6B82"/>
                  </a:solidFill>
                  <a:latin typeface="Arial"/>
                  <a:ea typeface="Microsoft YaHei"/>
                  <a:cs typeface="Arial"/>
                </a:rPr>
                <a:t>结果：</a:t>
              </a:r>
            </a:p>
          </p:txBody>
        </p:sp>
        <p:sp>
          <p:nvSpPr>
            <p:cNvPr id="23" name="TextBox 23"/>
            <p:cNvSpPr txBox="1"/>
            <p:nvPr/>
          </p:nvSpPr>
          <p:spPr>
            <a:xfrm>
              <a:off x="1242060" y="3528060"/>
              <a:ext cx="1470660" cy="24384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00" dirty="0">
                  <a:solidFill>
                    <a:srgbClr val="5B6B82"/>
                  </a:solidFill>
                  <a:latin typeface="Arial"/>
                  <a:ea typeface="Microsoft YaHei"/>
                  <a:cs typeface="Arial"/>
                </a:rPr>
                <a:t>泛泛而谈，还要返工</a:t>
              </a:r>
            </a:p>
          </p:txBody>
        </p:sp>
        <p:sp>
          <p:nvSpPr>
            <p:cNvPr id="24" name="TextBox 24"/>
            <p:cNvSpPr txBox="1"/>
            <p:nvPr/>
          </p:nvSpPr>
          <p:spPr>
            <a:xfrm>
              <a:off x="786765" y="3830002"/>
              <a:ext cx="1867900" cy="21336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050" dirty="0">
                  <a:solidFill>
                    <a:srgbClr val="8B99AE"/>
                  </a:solidFill>
                  <a:latin typeface="Arial"/>
                  <a:ea typeface="Microsoft YaHei"/>
                  <a:cs typeface="Arial"/>
                </a:rPr>
                <a:t>缺背景、缺约束，AI 只能瞎猜</a:t>
              </a:r>
            </a:p>
          </p:txBody>
        </p:sp>
      </p:grpSp>
      <p:grpSp>
        <p:nvGrpSpPr>
          <p:cNvPr id="50" name="Group 50"/>
          <p:cNvGrpSpPr/>
          <p:nvPr/>
        </p:nvGrpSpPr>
        <p:grpSpPr>
          <a:xfrm>
            <a:off x="3905250" y="1619250"/>
            <a:ext cx="7715250" cy="2571750"/>
            <a:chOff x="3905250" y="1619250"/>
            <a:chExt cx="7715250" cy="2571750"/>
          </a:xfrm>
        </p:grpSpPr>
        <p:sp>
          <p:nvSpPr>
            <p:cNvPr id="26" name="Rectangle 26"/>
            <p:cNvSpPr/>
            <p:nvPr/>
          </p:nvSpPr>
          <p:spPr>
            <a:xfrm>
              <a:off x="3905250" y="1619250"/>
              <a:ext cx="7715250" cy="2571750"/>
            </a:xfrm>
            <a:prstGeom prst="roundRect">
              <a:avLst>
                <a:gd name="adj" fmla="val 5926"/>
              </a:avLst>
            </a:prstGeom>
            <a:solidFill>
              <a:srgbClr val="FFFFFF"/>
            </a:solidFill>
            <a:ln w="9525">
              <a:solidFill>
                <a:srgbClr val="D8E1EC"/>
              </a:solidFill>
            </a:ln>
          </p:spPr>
          <p:txBody>
            <a:bodyPr/>
            <a:p/>
          </p:txBody>
        </p:sp>
        <p:sp>
          <p:nvSpPr>
            <p:cNvPr id="27" name="Ellipse 27"/>
            <p:cNvSpPr/>
            <p:nvPr/>
          </p:nvSpPr>
          <p:spPr>
            <a:xfrm>
              <a:off x="4133850" y="1828800"/>
              <a:ext cx="419100" cy="419100"/>
            </a:xfrm>
            <a:prstGeom prst="ellipse">
              <a:avLst/>
            </a:prstGeom>
            <a:solidFill>
              <a:srgbClr val="D6E6F9"/>
            </a:solidFill>
            <a:ln>
              <a:noFill/>
            </a:ln>
          </p:spPr>
          <p:txBody>
            <a:bodyPr/>
            <a:p/>
          </p:txBody>
        </p:sp>
        <p:grpSp>
          <p:nvGrpSpPr>
            <p:cNvPr id="32" name="Group 32"/>
            <p:cNvGrpSpPr/>
            <p:nvPr/>
          </p:nvGrpSpPr>
          <p:grpSpPr>
            <a:xfrm>
              <a:off x="4276725" y="1962150"/>
              <a:ext cx="142875" cy="161925"/>
              <a:chOff x="4276725" y="1962150"/>
              <a:chExt cx="142875" cy="161925"/>
            </a:xfrm>
          </p:grpSpPr>
          <p:sp>
            <p:nvSpPr>
              <p:cNvPr id="28" name="Freeform 28"/>
              <p:cNvSpPr/>
              <p:nvPr/>
            </p:nvSpPr>
            <p:spPr>
              <a:xfrm>
                <a:off x="4276725" y="1962150"/>
                <a:ext cx="114300" cy="152400"/>
              </a:xfrm>
              <a:custGeom>
                <a:avLst/>
                <a:gdLst/>
                <a:ahLst/>
                <a:cxnLst/>
                <a:rect l="l" t="t" r="r" b="b"/>
                <a:pathLst>
                  <a:path w="114300" h="152400">
                    <a:moveTo>
                      <a:pt x="43958" y="152400"/>
                    </a:moveTo>
                    <a:lnTo>
                      <a:pt x="19050" y="152400"/>
                    </a:lnTo>
                    <a:cubicBezTo>
                      <a:pt x="8529" y="152400"/>
                      <a:pt x="0" y="143871"/>
                      <a:pt x="0" y="133350"/>
                    </a:cubicBezTo>
                    <a:lnTo>
                      <a:pt x="0" y="19050"/>
                    </a:lnTo>
                    <a:cubicBezTo>
                      <a:pt x="0" y="8529"/>
                      <a:pt x="8529" y="0"/>
                      <a:pt x="19050" y="0"/>
                    </a:cubicBezTo>
                    <a:lnTo>
                      <a:pt x="95250" y="0"/>
                    </a:lnTo>
                    <a:cubicBezTo>
                      <a:pt x="105771" y="0"/>
                      <a:pt x="114300" y="8529"/>
                      <a:pt x="114300" y="19050"/>
                    </a:cubicBezTo>
                    <a:lnTo>
                      <a:pt x="114300" y="95250"/>
                    </a:lnTo>
                  </a:path>
                </a:pathLst>
              </a:custGeom>
              <a:noFill/>
              <a:ln w="19050">
                <a:solidFill>
                  <a:srgbClr val="1565D8"/>
                </a:solidFill>
              </a:ln>
            </p:spPr>
            <p:txBody>
              <a:bodyPr/>
              <a:p/>
            </p:txBody>
          </p:sp>
          <p:sp>
            <p:nvSpPr>
              <p:cNvPr id="29" name="Freeform 29"/>
              <p:cNvSpPr/>
              <p:nvPr/>
            </p:nvSpPr>
            <p:spPr>
              <a:xfrm>
                <a:off x="4362450" y="2085975"/>
                <a:ext cx="57150" cy="38100"/>
              </a:xfrm>
              <a:custGeom>
                <a:avLst/>
                <a:gdLst/>
                <a:ahLst/>
                <a:cxnLst/>
                <a:rect l="l" t="t" r="r" b="b"/>
                <a:pathLst>
                  <a:path w="57150" h="38100">
                    <a:moveTo>
                      <a:pt x="0" y="19050"/>
                    </a:moveTo>
                    <a:lnTo>
                      <a:pt x="19050" y="38100"/>
                    </a:lnTo>
                    <a:lnTo>
                      <a:pt x="57150" y="0"/>
                    </a:lnTo>
                  </a:path>
                </a:pathLst>
              </a:custGeom>
              <a:noFill/>
              <a:ln w="19050">
                <a:solidFill>
                  <a:srgbClr val="1565D8"/>
                </a:solidFill>
              </a:ln>
            </p:spPr>
            <p:txBody>
              <a:bodyPr/>
              <a:p/>
            </p:txBody>
          </p:sp>
          <p:sp>
            <p:nvSpPr>
              <p:cNvPr id="30" name="Freeform 30"/>
              <p:cNvSpPr/>
              <p:nvPr/>
            </p:nvSpPr>
            <p:spPr>
              <a:xfrm>
                <a:off x="4314825" y="2000250"/>
                <a:ext cx="38100" cy="9525"/>
              </a:xfrm>
              <a:custGeom>
                <a:avLst/>
                <a:gdLst/>
                <a:ahLst/>
                <a:cxnLst/>
                <a:rect l="l" t="t" r="r" b="b"/>
                <a:pathLst>
                  <a:path w="38100" h="9525">
                    <a:moveTo>
                      <a:pt x="0" y="0"/>
                    </a:moveTo>
                    <a:lnTo>
                      <a:pt x="38100" y="0"/>
                    </a:lnTo>
                  </a:path>
                </a:pathLst>
              </a:custGeom>
              <a:noFill/>
              <a:ln w="19050">
                <a:solidFill>
                  <a:srgbClr val="1565D8"/>
                </a:solidFill>
              </a:ln>
            </p:spPr>
            <p:txBody>
              <a:bodyPr/>
              <a:p/>
            </p:txBody>
          </p:sp>
          <p:sp>
            <p:nvSpPr>
              <p:cNvPr id="31" name="Freeform 31"/>
              <p:cNvSpPr/>
              <p:nvPr/>
            </p:nvSpPr>
            <p:spPr>
              <a:xfrm>
                <a:off x="4314825" y="2038350"/>
                <a:ext cx="19050" cy="9525"/>
              </a:xfrm>
              <a:custGeom>
                <a:avLst/>
                <a:gdLst/>
                <a:ahLst/>
                <a:cxnLst/>
                <a:rect l="l" t="t" r="r" b="b"/>
                <a:pathLst>
                  <a:path w="19050" h="9525">
                    <a:moveTo>
                      <a:pt x="0" y="0"/>
                    </a:moveTo>
                    <a:lnTo>
                      <a:pt x="19050" y="0"/>
                    </a:lnTo>
                  </a:path>
                </a:pathLst>
              </a:custGeom>
              <a:noFill/>
              <a:ln w="19050">
                <a:solidFill>
                  <a:srgbClr val="1565D8"/>
                </a:solidFill>
              </a:ln>
            </p:spPr>
            <p:txBody>
              <a:bodyPr/>
              <a:p/>
            </p:txBody>
          </p:sp>
        </p:grpSp>
        <p:sp>
          <p:nvSpPr>
            <p:cNvPr id="33" name="TextBox 33"/>
            <p:cNvSpPr txBox="1"/>
            <p:nvPr/>
          </p:nvSpPr>
          <p:spPr>
            <a:xfrm>
              <a:off x="4665345" y="1936432"/>
              <a:ext cx="2583228" cy="33528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650" b="1" dirty="0">
                  <a:solidFill>
                    <a:srgbClr val="2B3648"/>
                  </a:solidFill>
                  <a:latin typeface="Arial"/>
                  <a:ea typeface="Microsoft YaHei"/>
                  <a:cs typeface="Arial"/>
                </a:rPr>
                <a:t>五要素公式（可直接套）</a:t>
              </a:r>
            </a:p>
          </p:txBody>
        </p:sp>
        <p:sp>
          <p:nvSpPr>
            <p:cNvPr id="34" name="Rectangle 34"/>
            <p:cNvSpPr/>
            <p:nvPr/>
          </p:nvSpPr>
          <p:spPr>
            <a:xfrm>
              <a:off x="4133850" y="2400300"/>
              <a:ext cx="685800" cy="285750"/>
            </a:xfrm>
            <a:prstGeom prst="roundRect">
              <a:avLst>
                <a:gd name="adj" fmla="val 50000"/>
              </a:avLst>
            </a:prstGeom>
            <a:solidFill>
              <a:srgbClr val="D6E6F9"/>
            </a:solidFill>
            <a:ln>
              <a:noFill/>
            </a:ln>
          </p:spPr>
          <p:txBody>
            <a:bodyPr/>
            <a:p/>
          </p:txBody>
        </p:sp>
        <p:sp>
          <p:nvSpPr>
            <p:cNvPr id="35" name="TextBox 35"/>
            <p:cNvSpPr txBox="1"/>
            <p:nvPr/>
          </p:nvSpPr>
          <p:spPr>
            <a:xfrm>
              <a:off x="4316397" y="2486978"/>
              <a:ext cx="320707" cy="21336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050" b="1" dirty="0">
                  <a:solidFill>
                    <a:srgbClr val="0B4EA2"/>
                  </a:solidFill>
                  <a:latin typeface="Arial"/>
                  <a:ea typeface="Microsoft YaHei"/>
                  <a:cs typeface="Arial"/>
                </a:rPr>
                <a:t>角色</a:t>
              </a:r>
            </a:p>
          </p:txBody>
        </p:sp>
        <p:sp>
          <p:nvSpPr>
            <p:cNvPr id="36" name="TextBox 36"/>
            <p:cNvSpPr txBox="1"/>
            <p:nvPr/>
          </p:nvSpPr>
          <p:spPr>
            <a:xfrm>
              <a:off x="4994910" y="2470785"/>
              <a:ext cx="1310640" cy="24384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00" dirty="0">
                  <a:solidFill>
                    <a:srgbClr val="2B3648"/>
                  </a:solidFill>
                  <a:latin typeface="Arial"/>
                  <a:ea typeface="Microsoft YaHei"/>
                  <a:cs typeface="Arial"/>
                </a:rPr>
                <a:t>你是资深行政助理</a:t>
              </a:r>
            </a:p>
          </p:txBody>
        </p:sp>
        <p:sp>
          <p:nvSpPr>
            <p:cNvPr id="37" name="Rectangle 37"/>
            <p:cNvSpPr/>
            <p:nvPr/>
          </p:nvSpPr>
          <p:spPr>
            <a:xfrm>
              <a:off x="4133850" y="2781300"/>
              <a:ext cx="685800" cy="285750"/>
            </a:xfrm>
            <a:prstGeom prst="roundRect">
              <a:avLst>
                <a:gd name="adj" fmla="val 50000"/>
              </a:avLst>
            </a:prstGeom>
            <a:solidFill>
              <a:srgbClr val="D6E6F9"/>
            </a:solidFill>
            <a:ln>
              <a:noFill/>
            </a:ln>
          </p:spPr>
          <p:txBody>
            <a:bodyPr/>
            <a:p/>
          </p:txBody>
        </p:sp>
        <p:sp>
          <p:nvSpPr>
            <p:cNvPr id="38" name="TextBox 38"/>
            <p:cNvSpPr txBox="1"/>
            <p:nvPr/>
          </p:nvSpPr>
          <p:spPr>
            <a:xfrm>
              <a:off x="4316397" y="2867978"/>
              <a:ext cx="320707" cy="21336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050" b="1" dirty="0">
                  <a:solidFill>
                    <a:srgbClr val="0B4EA2"/>
                  </a:solidFill>
                  <a:latin typeface="Arial"/>
                  <a:ea typeface="Microsoft YaHei"/>
                  <a:cs typeface="Arial"/>
                </a:rPr>
                <a:t>背景</a:t>
              </a:r>
            </a:p>
          </p:txBody>
        </p:sp>
        <p:sp>
          <p:nvSpPr>
            <p:cNvPr id="39" name="TextBox 39"/>
            <p:cNvSpPr txBox="1"/>
            <p:nvPr/>
          </p:nvSpPr>
          <p:spPr>
            <a:xfrm>
              <a:off x="4994910" y="2851785"/>
              <a:ext cx="3254883" cy="24384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00" dirty="0">
                  <a:solidFill>
                    <a:srgbClr val="2B3648"/>
                  </a:solidFill>
                  <a:latin typeface="Arial"/>
                  <a:ea typeface="Microsoft YaHei"/>
                  <a:cs typeface="Arial"/>
                </a:rPr>
                <a:t>下周部门例会有 3 项议程，我手上有纪要草稿</a:t>
              </a:r>
            </a:p>
          </p:txBody>
        </p:sp>
        <p:sp>
          <p:nvSpPr>
            <p:cNvPr id="40" name="Rectangle 40"/>
            <p:cNvSpPr/>
            <p:nvPr/>
          </p:nvSpPr>
          <p:spPr>
            <a:xfrm>
              <a:off x="4133850" y="3162300"/>
              <a:ext cx="685800" cy="285750"/>
            </a:xfrm>
            <a:prstGeom prst="roundRect">
              <a:avLst>
                <a:gd name="adj" fmla="val 50000"/>
              </a:avLst>
            </a:prstGeom>
            <a:solidFill>
              <a:srgbClr val="D6E6F9"/>
            </a:solidFill>
            <a:ln>
              <a:noFill/>
            </a:ln>
          </p:spPr>
          <p:txBody>
            <a:bodyPr/>
            <a:p/>
          </p:txBody>
        </p:sp>
        <p:sp>
          <p:nvSpPr>
            <p:cNvPr id="41" name="TextBox 41"/>
            <p:cNvSpPr txBox="1"/>
            <p:nvPr/>
          </p:nvSpPr>
          <p:spPr>
            <a:xfrm>
              <a:off x="4316397" y="3248978"/>
              <a:ext cx="320707" cy="21336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050" b="1" dirty="0">
                  <a:solidFill>
                    <a:srgbClr val="0B4EA2"/>
                  </a:solidFill>
                  <a:latin typeface="Arial"/>
                  <a:ea typeface="Microsoft YaHei"/>
                  <a:cs typeface="Arial"/>
                </a:rPr>
                <a:t>任务</a:t>
              </a:r>
            </a:p>
          </p:txBody>
        </p:sp>
        <p:sp>
          <p:nvSpPr>
            <p:cNvPr id="42" name="TextBox 42"/>
            <p:cNvSpPr txBox="1"/>
            <p:nvPr/>
          </p:nvSpPr>
          <p:spPr>
            <a:xfrm>
              <a:off x="4994910" y="3232785"/>
              <a:ext cx="1950720" cy="24384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00" dirty="0">
                  <a:solidFill>
                    <a:srgbClr val="2B3648"/>
                  </a:solidFill>
                  <a:latin typeface="Arial"/>
                  <a:ea typeface="Microsoft YaHei"/>
                  <a:cs typeface="Arial"/>
                </a:rPr>
                <a:t>帮我写一条简洁的会议通知</a:t>
              </a:r>
            </a:p>
          </p:txBody>
        </p:sp>
        <p:sp>
          <p:nvSpPr>
            <p:cNvPr id="43" name="Rectangle 43"/>
            <p:cNvSpPr/>
            <p:nvPr/>
          </p:nvSpPr>
          <p:spPr>
            <a:xfrm>
              <a:off x="4133850" y="3543300"/>
              <a:ext cx="685800" cy="285750"/>
            </a:xfrm>
            <a:prstGeom prst="roundRect">
              <a:avLst>
                <a:gd name="adj" fmla="val 50000"/>
              </a:avLst>
            </a:prstGeom>
            <a:solidFill>
              <a:srgbClr val="D6E6F9"/>
            </a:solidFill>
            <a:ln>
              <a:noFill/>
            </a:ln>
          </p:spPr>
          <p:txBody>
            <a:bodyPr/>
            <a:p/>
          </p:txBody>
        </p:sp>
        <p:sp>
          <p:nvSpPr>
            <p:cNvPr id="44" name="TextBox 44"/>
            <p:cNvSpPr txBox="1"/>
            <p:nvPr/>
          </p:nvSpPr>
          <p:spPr>
            <a:xfrm>
              <a:off x="4316397" y="3629978"/>
              <a:ext cx="320707" cy="21336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050" b="1" dirty="0">
                  <a:solidFill>
                    <a:srgbClr val="0B4EA2"/>
                  </a:solidFill>
                  <a:latin typeface="Arial"/>
                  <a:ea typeface="Microsoft YaHei"/>
                  <a:cs typeface="Arial"/>
                </a:rPr>
                <a:t>约束</a:t>
              </a:r>
            </a:p>
          </p:txBody>
        </p:sp>
        <p:sp>
          <p:nvSpPr>
            <p:cNvPr id="45" name="TextBox 45"/>
            <p:cNvSpPr txBox="1"/>
            <p:nvPr/>
          </p:nvSpPr>
          <p:spPr>
            <a:xfrm>
              <a:off x="4994910" y="3613785"/>
              <a:ext cx="2582799" cy="24384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00" dirty="0">
                  <a:solidFill>
                    <a:srgbClr val="2B3648"/>
                  </a:solidFill>
                  <a:latin typeface="Arial"/>
                  <a:ea typeface="Microsoft YaHei"/>
                  <a:cs typeface="Arial"/>
                </a:rPr>
                <a:t>100 字内、语气正式、发给全体同事</a:t>
              </a:r>
            </a:p>
          </p:txBody>
        </p:sp>
        <p:sp>
          <p:nvSpPr>
            <p:cNvPr id="46" name="Rectangle 46"/>
            <p:cNvSpPr/>
            <p:nvPr/>
          </p:nvSpPr>
          <p:spPr>
            <a:xfrm>
              <a:off x="9372600" y="2400300"/>
              <a:ext cx="685800" cy="285750"/>
            </a:xfrm>
            <a:prstGeom prst="roundRect">
              <a:avLst>
                <a:gd name="adj" fmla="val 50000"/>
              </a:avLst>
            </a:prstGeom>
            <a:solidFill>
              <a:srgbClr val="D6E6F9"/>
            </a:solidFill>
            <a:ln>
              <a:noFill/>
            </a:ln>
          </p:spPr>
          <p:txBody>
            <a:bodyPr/>
            <a:p/>
          </p:txBody>
        </p:sp>
        <p:sp>
          <p:nvSpPr>
            <p:cNvPr id="47" name="TextBox 47"/>
            <p:cNvSpPr txBox="1"/>
            <p:nvPr/>
          </p:nvSpPr>
          <p:spPr>
            <a:xfrm>
              <a:off x="9555147" y="2486978"/>
              <a:ext cx="320707" cy="21336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050" b="1" dirty="0">
                  <a:solidFill>
                    <a:srgbClr val="0B4EA2"/>
                  </a:solidFill>
                  <a:latin typeface="Arial"/>
                  <a:ea typeface="Microsoft YaHei"/>
                  <a:cs typeface="Arial"/>
                </a:rPr>
                <a:t>格式</a:t>
              </a:r>
            </a:p>
          </p:txBody>
        </p:sp>
        <p:sp>
          <p:nvSpPr>
            <p:cNvPr id="48" name="TextBox 48"/>
            <p:cNvSpPr txBox="1"/>
            <p:nvPr/>
          </p:nvSpPr>
          <p:spPr>
            <a:xfrm>
              <a:off x="10214610" y="2727960"/>
              <a:ext cx="1150620" cy="24384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00" dirty="0">
                  <a:solidFill>
                    <a:srgbClr val="2B3648"/>
                  </a:solidFill>
                  <a:latin typeface="Arial"/>
                  <a:ea typeface="Microsoft YaHei"/>
                  <a:cs typeface="Arial"/>
                </a:rPr>
                <a:t>用邮件体，末尾</a:t>
              </a:r>
            </a:p>
          </p:txBody>
        </p:sp>
        <p:sp>
          <p:nvSpPr>
            <p:cNvPr id="49" name="TextBox 49"/>
            <p:cNvSpPr txBox="1"/>
            <p:nvPr/>
          </p:nvSpPr>
          <p:spPr>
            <a:xfrm>
              <a:off x="10214610" y="2975610"/>
              <a:ext cx="1014603" cy="24384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00" dirty="0">
                  <a:solidFill>
                    <a:srgbClr val="2B3648"/>
                  </a:solidFill>
                  <a:latin typeface="Arial"/>
                  <a:ea typeface="Microsoft YaHei"/>
                  <a:cs typeface="Arial"/>
                </a:rPr>
                <a:t>列出 2 条待办</a:t>
              </a:r>
            </a:p>
          </p:txBody>
        </p:sp>
      </p:grpSp>
      <p:grpSp>
        <p:nvGrpSpPr>
          <p:cNvPr id="57" name="Group 57"/>
          <p:cNvGrpSpPr/>
          <p:nvPr/>
        </p:nvGrpSpPr>
        <p:grpSpPr>
          <a:xfrm>
            <a:off x="3905250" y="4381500"/>
            <a:ext cx="9173908" cy="952500"/>
            <a:chOff x="3905250" y="4381500"/>
            <a:chExt cx="9173908" cy="952500"/>
          </a:xfrm>
        </p:grpSpPr>
        <p:sp>
          <p:nvSpPr>
            <p:cNvPr id="51" name="Rectangle 51"/>
            <p:cNvSpPr/>
            <p:nvPr/>
          </p:nvSpPr>
          <p:spPr>
            <a:xfrm>
              <a:off x="3905250" y="4381500"/>
              <a:ext cx="7715250" cy="952500"/>
            </a:xfrm>
            <a:prstGeom prst="roundRect">
              <a:avLst>
                <a:gd name="adj" fmla="val 16000"/>
              </a:avLst>
            </a:prstGeom>
            <a:solidFill>
              <a:srgbClr val="D6E6F9"/>
            </a:solidFill>
            <a:ln>
              <a:noFill/>
            </a:ln>
          </p:spPr>
          <p:txBody>
            <a:bodyPr/>
            <a:p/>
          </p:txBody>
        </p:sp>
        <p:grpSp>
          <p:nvGrpSpPr>
            <p:cNvPr id="54" name="Group 54"/>
            <p:cNvGrpSpPr/>
            <p:nvPr/>
          </p:nvGrpSpPr>
          <p:grpSpPr>
            <a:xfrm>
              <a:off x="4181475" y="4648200"/>
              <a:ext cx="133350" cy="114300"/>
              <a:chOff x="4181475" y="4648200"/>
              <a:chExt cx="133350" cy="114300"/>
            </a:xfrm>
          </p:grpSpPr>
          <p:sp>
            <p:nvSpPr>
              <p:cNvPr id="52" name="Freeform 52"/>
              <p:cNvSpPr/>
              <p:nvPr/>
            </p:nvSpPr>
            <p:spPr>
              <a:xfrm>
                <a:off x="4181475" y="4648200"/>
                <a:ext cx="47625" cy="114300"/>
              </a:xfrm>
              <a:custGeom>
                <a:avLst/>
                <a:gdLst/>
                <a:ahLst/>
                <a:cxnLst/>
                <a:rect l="l" t="t" r="r" b="b"/>
                <a:pathLst>
                  <a:path w="47625" h="114300">
                    <a:moveTo>
                      <a:pt x="47625" y="47625"/>
                    </a:moveTo>
                    <a:lnTo>
                      <a:pt x="9525" y="47625"/>
                    </a:lnTo>
                    <a:cubicBezTo>
                      <a:pt x="4264" y="47625"/>
                      <a:pt x="0" y="43361"/>
                      <a:pt x="0" y="38100"/>
                    </a:cubicBezTo>
                    <a:lnTo>
                      <a:pt x="0" y="9525"/>
                    </a:lnTo>
                    <a:cubicBezTo>
                      <a:pt x="0" y="4264"/>
                      <a:pt x="4264" y="0"/>
                      <a:pt x="9525" y="0"/>
                    </a:cubicBezTo>
                    <a:lnTo>
                      <a:pt x="38100" y="0"/>
                    </a:lnTo>
                    <a:cubicBezTo>
                      <a:pt x="43361" y="0"/>
                      <a:pt x="47625" y="4264"/>
                      <a:pt x="47625" y="9525"/>
                    </a:cubicBezTo>
                    <a:lnTo>
                      <a:pt x="47625" y="66675"/>
                    </a:lnTo>
                    <a:cubicBezTo>
                      <a:pt x="47625" y="92078"/>
                      <a:pt x="34928" y="107947"/>
                      <a:pt x="9525" y="114300"/>
                    </a:cubicBezTo>
                  </a:path>
                </a:pathLst>
              </a:custGeom>
              <a:noFill/>
              <a:ln w="19050">
                <a:solidFill>
                  <a:srgbClr val="1565D8"/>
                </a:solidFill>
              </a:ln>
            </p:spPr>
            <p:txBody>
              <a:bodyPr/>
              <a:p/>
            </p:txBody>
          </p:sp>
          <p:sp>
            <p:nvSpPr>
              <p:cNvPr id="53" name="Freeform 53"/>
              <p:cNvSpPr/>
              <p:nvPr/>
            </p:nvSpPr>
            <p:spPr>
              <a:xfrm>
                <a:off x="4267200" y="4648200"/>
                <a:ext cx="47625" cy="114300"/>
              </a:xfrm>
              <a:custGeom>
                <a:avLst/>
                <a:gdLst/>
                <a:ahLst/>
                <a:cxnLst/>
                <a:rect l="l" t="t" r="r" b="b"/>
                <a:pathLst>
                  <a:path w="47625" h="114300">
                    <a:moveTo>
                      <a:pt x="47625" y="47625"/>
                    </a:moveTo>
                    <a:lnTo>
                      <a:pt x="9525" y="47625"/>
                    </a:lnTo>
                    <a:cubicBezTo>
                      <a:pt x="4264" y="47625"/>
                      <a:pt x="0" y="43361"/>
                      <a:pt x="0" y="38100"/>
                    </a:cubicBezTo>
                    <a:lnTo>
                      <a:pt x="0" y="9525"/>
                    </a:lnTo>
                    <a:cubicBezTo>
                      <a:pt x="0" y="4264"/>
                      <a:pt x="4264" y="0"/>
                      <a:pt x="9525" y="0"/>
                    </a:cubicBezTo>
                    <a:lnTo>
                      <a:pt x="38100" y="0"/>
                    </a:lnTo>
                    <a:cubicBezTo>
                      <a:pt x="43361" y="0"/>
                      <a:pt x="47625" y="4264"/>
                      <a:pt x="47625" y="9525"/>
                    </a:cubicBezTo>
                    <a:lnTo>
                      <a:pt x="47625" y="66675"/>
                    </a:lnTo>
                    <a:cubicBezTo>
                      <a:pt x="47625" y="92078"/>
                      <a:pt x="34928" y="107947"/>
                      <a:pt x="9525" y="114300"/>
                    </a:cubicBezTo>
                  </a:path>
                </a:pathLst>
              </a:custGeom>
              <a:noFill/>
              <a:ln w="19050">
                <a:solidFill>
                  <a:srgbClr val="1565D8"/>
                </a:solidFill>
              </a:ln>
            </p:spPr>
            <p:txBody>
              <a:bodyPr/>
              <a:p/>
            </p:txBody>
          </p:sp>
        </p:grpSp>
        <p:sp>
          <p:nvSpPr>
            <p:cNvPr id="55" name="TextBox 55"/>
            <p:cNvSpPr txBox="1"/>
            <p:nvPr/>
          </p:nvSpPr>
          <p:spPr>
            <a:xfrm>
              <a:off x="4481512" y="4660106"/>
              <a:ext cx="8597646" cy="22860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5" b="1" dirty="0">
                  <a:solidFill>
                    <a:srgbClr val="0B4EA2"/>
                  </a:solidFill>
                  <a:latin typeface="Arial"/>
                  <a:ea typeface="Microsoft YaHei"/>
                  <a:cs typeface="Arial"/>
                </a:rPr>
                <a:t>「你是资深行政助理。下周部门例会有 3 项议程，我手上有纪要草稿。请写一条 100 字内、发给全体同事的正式会议通知，</a:t>
              </a:r>
            </a:p>
          </p:txBody>
        </p:sp>
        <p:sp>
          <p:nvSpPr>
            <p:cNvPr id="56" name="TextBox 56"/>
            <p:cNvSpPr txBox="1"/>
            <p:nvPr/>
          </p:nvSpPr>
          <p:spPr>
            <a:xfrm>
              <a:off x="4481512" y="4907756"/>
              <a:ext cx="2414998" cy="22860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5" b="1" dirty="0">
                  <a:solidFill>
                    <a:srgbClr val="0B4EA2"/>
                  </a:solidFill>
                  <a:latin typeface="Arial"/>
                  <a:ea typeface="Microsoft YaHei"/>
                  <a:cs typeface="Arial"/>
                </a:rPr>
                <a:t>用邮件体，末尾列出 2 条待办。」</a:t>
              </a:r>
            </a:p>
          </p:txBody>
        </p:sp>
      </p:grpSp>
      <p:grpSp>
        <p:nvGrpSpPr>
          <p:cNvPr id="64" name="Group 64"/>
          <p:cNvGrpSpPr/>
          <p:nvPr/>
        </p:nvGrpSpPr>
        <p:grpSpPr>
          <a:xfrm>
            <a:off x="571500" y="4381500"/>
            <a:ext cx="3143250" cy="952500"/>
            <a:chOff x="571500" y="4381500"/>
            <a:chExt cx="3143250" cy="952500"/>
          </a:xfrm>
        </p:grpSpPr>
        <p:sp>
          <p:nvSpPr>
            <p:cNvPr id="58" name="Rectangle 58"/>
            <p:cNvSpPr/>
            <p:nvPr/>
          </p:nvSpPr>
          <p:spPr>
            <a:xfrm>
              <a:off x="571500" y="4381500"/>
              <a:ext cx="3143250" cy="952500"/>
            </a:xfrm>
            <a:prstGeom prst="roundRect">
              <a:avLst>
                <a:gd name="adj" fmla="val 16000"/>
              </a:avLst>
            </a:prstGeom>
            <a:solidFill>
              <a:srgbClr val="D6E6F9"/>
            </a:solidFill>
            <a:ln>
              <a:noFill/>
            </a:ln>
          </p:spPr>
          <p:txBody>
            <a:bodyPr/>
            <a:p/>
          </p:txBody>
        </p:sp>
        <p:grpSp>
          <p:nvGrpSpPr>
            <p:cNvPr id="61" name="Group 61"/>
            <p:cNvGrpSpPr/>
            <p:nvPr/>
          </p:nvGrpSpPr>
          <p:grpSpPr>
            <a:xfrm>
              <a:off x="831056" y="4660106"/>
              <a:ext cx="185738" cy="185738"/>
              <a:chOff x="831056" y="4660106"/>
              <a:chExt cx="185738" cy="185738"/>
            </a:xfrm>
          </p:grpSpPr>
          <p:sp>
            <p:nvSpPr>
              <p:cNvPr id="59" name="Freeform 59"/>
              <p:cNvSpPr/>
              <p:nvPr/>
            </p:nvSpPr>
            <p:spPr>
              <a:xfrm>
                <a:off x="831056" y="4660106"/>
                <a:ext cx="185738" cy="185738"/>
              </a:xfrm>
              <a:custGeom>
                <a:avLst/>
                <a:gdLst/>
                <a:ahLst/>
                <a:cxnLst/>
                <a:rect l="l" t="t" r="r" b="b"/>
                <a:pathLst>
                  <a:path w="185738" h="185738">
                    <a:moveTo>
                      <a:pt x="0" y="92869"/>
                    </a:moveTo>
                    <a:cubicBezTo>
                      <a:pt x="0" y="144159"/>
                      <a:pt x="41579" y="185738"/>
                      <a:pt x="92869" y="185738"/>
                    </a:cubicBezTo>
                    <a:cubicBezTo>
                      <a:pt x="144159" y="185738"/>
                      <a:pt x="185738" y="144159"/>
                      <a:pt x="185738" y="92869"/>
                    </a:cubicBezTo>
                    <a:cubicBezTo>
                      <a:pt x="185738" y="41579"/>
                      <a:pt x="144159" y="0"/>
                      <a:pt x="92869" y="0"/>
                    </a:cubicBezTo>
                    <a:cubicBezTo>
                      <a:pt x="41579" y="0"/>
                      <a:pt x="0" y="41579"/>
                      <a:pt x="0" y="92869"/>
                    </a:cubicBezTo>
                  </a:path>
                </a:pathLst>
              </a:custGeom>
              <a:noFill/>
              <a:ln w="19050">
                <a:solidFill>
                  <a:srgbClr val="1565D8"/>
                </a:solidFill>
              </a:ln>
            </p:spPr>
            <p:txBody>
              <a:bodyPr/>
              <a:p/>
            </p:txBody>
          </p:sp>
          <p:sp>
            <p:nvSpPr>
              <p:cNvPr id="60" name="Freeform 60"/>
              <p:cNvSpPr/>
              <p:nvPr/>
            </p:nvSpPr>
            <p:spPr>
              <a:xfrm>
                <a:off x="892969" y="4732338"/>
                <a:ext cx="61912" cy="41275"/>
              </a:xfrm>
              <a:custGeom>
                <a:avLst/>
                <a:gdLst/>
                <a:ahLst/>
                <a:cxnLst/>
                <a:rect l="l" t="t" r="r" b="b"/>
                <a:pathLst>
                  <a:path w="61912" h="41275">
                    <a:moveTo>
                      <a:pt x="0" y="20638"/>
                    </a:moveTo>
                    <a:lnTo>
                      <a:pt x="20638" y="41275"/>
                    </a:lnTo>
                    <a:lnTo>
                      <a:pt x="61912" y="0"/>
                    </a:lnTo>
                  </a:path>
                </a:pathLst>
              </a:custGeom>
              <a:noFill/>
              <a:ln w="19050">
                <a:solidFill>
                  <a:srgbClr val="1565D8"/>
                </a:solidFill>
              </a:ln>
            </p:spPr>
            <p:txBody>
              <a:bodyPr/>
              <a:p/>
            </p:txBody>
          </p:sp>
        </p:grpSp>
        <p:sp>
          <p:nvSpPr>
            <p:cNvPr id="62" name="TextBox 62"/>
            <p:cNvSpPr txBox="1"/>
            <p:nvPr/>
          </p:nvSpPr>
          <p:spPr>
            <a:xfrm>
              <a:off x="1146810" y="4690110"/>
              <a:ext cx="870585" cy="24384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00" b="1" dirty="0">
                  <a:solidFill>
                    <a:srgbClr val="0B4EA2"/>
                  </a:solidFill>
                  <a:latin typeface="Arial"/>
                  <a:ea typeface="Microsoft YaHei"/>
                  <a:cs typeface="Arial"/>
                </a:rPr>
                <a:t>按五要素问</a:t>
              </a:r>
            </a:p>
          </p:txBody>
        </p:sp>
        <p:sp>
          <p:nvSpPr>
            <p:cNvPr id="63" name="TextBox 63"/>
            <p:cNvSpPr txBox="1"/>
            <p:nvPr/>
          </p:nvSpPr>
          <p:spPr>
            <a:xfrm>
              <a:off x="786765" y="5030152"/>
              <a:ext cx="1286828" cy="21336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050" dirty="0">
                  <a:solidFill>
                    <a:srgbClr val="0B4EA2"/>
                  </a:solidFill>
                  <a:latin typeface="Arial"/>
                  <a:ea typeface="Microsoft YaHei"/>
                  <a:cs typeface="Arial"/>
                </a:rPr>
                <a:t>一次到位，直接能用</a:t>
              </a:r>
            </a:p>
          </p:txBody>
        </p:sp>
      </p:grpSp>
      <p:grpSp>
        <p:nvGrpSpPr>
          <p:cNvPr id="67" name="Group 67"/>
          <p:cNvGrpSpPr/>
          <p:nvPr/>
        </p:nvGrpSpPr>
        <p:grpSpPr>
          <a:xfrm>
            <a:off x="560070" y="6341745"/>
            <a:ext cx="11071860" cy="182880"/>
            <a:chOff x="560070" y="6341745"/>
            <a:chExt cx="11071860" cy="182880"/>
          </a:xfrm>
        </p:grpSpPr>
        <p:sp>
          <p:nvSpPr>
            <p:cNvPr id="65" name="TextBox 65"/>
            <p:cNvSpPr txBox="1"/>
            <p:nvPr/>
          </p:nvSpPr>
          <p:spPr>
            <a:xfrm>
              <a:off x="560070" y="6341745"/>
              <a:ext cx="1054989" cy="18288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00" dirty="0">
                  <a:solidFill>
                    <a:srgbClr val="8B99AE"/>
                  </a:solidFill>
                  <a:latin typeface="Arial"/>
                  <a:ea typeface="Microsoft YaHei"/>
                  <a:cs typeface="Arial"/>
                </a:rPr>
                <a:t>大模型通识 · 企业版</a:t>
              </a:r>
            </a:p>
          </p:txBody>
        </p:sp>
        <p:sp>
          <p:nvSpPr>
            <p:cNvPr id="66" name="TextBox 66"/>
            <p:cNvSpPr txBox="1"/>
            <p:nvPr/>
          </p:nvSpPr>
          <p:spPr>
            <a:xfrm>
              <a:off x="11207020" y="6341745"/>
              <a:ext cx="424910" cy="18288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r"/>
              <a:r>
                <a:rPr lang="zh-CN" sz="900" dirty="0">
                  <a:solidFill>
                    <a:srgbClr val="8B99AE"/>
                  </a:solidFill>
                  <a:latin typeface="Arial"/>
                  <a:ea typeface="Microsoft YaHei"/>
                  <a:cs typeface="Arial"/>
                </a:rPr>
                <a:t>21 / 51</a:t>
              </a:r>
            </a:p>
          </p:txBody>
        </p:sp>
      </p:grpSp>
    </p:spTree>
  </p:cSld>
  <p:clrMapOvr>
    <a:masterClrMapping/>
  </p:clrMapOvr>
  <p:transition xmlns:p14="http://schemas.microsoft.com/office/powerpoint/2010/main" p14:dur="400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entr" presetSubtype="4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slide(fromBottom)">
                                      <p:cBhvr>
                                        <p:cTn id="7" dur="4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900"/>
                            </p:stCondLst>
                            <p:childTnLst>
                              <p:par>
                                <p:cTn id="9" presetID="2" presetClass="entr" presetSubtype="4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slide(fromBottom)">
                                      <p:cBhvr>
                                        <p:cTn id="11" dur="400"/>
                                        <p:tgtEl>
                                          <p:spTgt spid="5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2" fill="hold">
                            <p:stCondLst>
                              <p:cond delay="1800"/>
                            </p:stCondLst>
                            <p:childTnLst>
                              <p:par>
                                <p:cTn id="13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400"/>
                                        <p:tgtEl>
                                          <p:spTgt spid="5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6" fill="hold">
                            <p:stCondLst>
                              <p:cond delay="2700"/>
                            </p:stCondLst>
                            <p:childTnLst>
                              <p:par>
                                <p:cTn id="17" presetID="2" presetClass="entr" presetSubtype="4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slide(fromBottom)">
                                      <p:cBhvr>
                                        <p:cTn id="19" dur="400"/>
                                        <p:tgtEl>
                                          <p:spTgt spid="6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5" grpId="0"/>
      <p:bldP spid="50" grpId="0"/>
      <p:bldP spid="57" grpId="0"/>
      <p:bldP spid="64" grpId="0"/>
    </p:bldLst>
  </p:timing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5" name="Group 5"/>
          <p:cNvGrpSpPr/>
          <p:nvPr/>
        </p:nvGrpSpPr>
        <p:grpSpPr>
          <a:xfrm>
            <a:off x="0" y="0"/>
            <a:ext cx="14192250" cy="8953500"/>
            <a:chOff x="0" y="0"/>
            <a:chExt cx="14192250" cy="8953500"/>
          </a:xfrm>
        </p:grpSpPr>
        <p:sp>
          <p:nvSpPr>
            <p:cNvPr id="2" name="Rectangle 2"/>
            <p:cNvSpPr/>
            <p:nvPr/>
          </p:nvSpPr>
          <p:spPr>
            <a:xfrm>
              <a:off x="0" y="0"/>
              <a:ext cx="12192000" cy="6858000"/>
            </a:xfrm>
            <a:prstGeom prst="rect">
              <a:avLst/>
            </a:prstGeom>
            <a:solidFill>
              <a:srgbClr val="F5F7FA"/>
            </a:solidFill>
            <a:ln>
              <a:noFill/>
            </a:ln>
          </p:spPr>
          <p:txBody>
            <a:bodyPr/>
            <a:p/>
          </p:txBody>
        </p:sp>
        <p:sp>
          <p:nvSpPr>
            <p:cNvPr id="3" name="Rectangle 3"/>
            <p:cNvSpPr/>
            <p:nvPr/>
          </p:nvSpPr>
          <p:spPr>
            <a:xfrm>
              <a:off x="0" y="0"/>
              <a:ext cx="12192000" cy="6858000"/>
            </a:xfrm>
            <a:prstGeom prst="rect">
              <a:avLst/>
            </a:prstGeom>
            <a:gradFill>
              <a:gsLst>
                <a:gs pos="0">
                  <a:srgbClr val="1565D8">
                    <a:alpha val="6000"/>
                  </a:srgbClr>
                </a:gs>
                <a:gs pos="100000">
                  <a:srgbClr val="1565D8">
                    <a:alpha val="0"/>
                  </a:srgbClr>
                </a:gs>
              </a:gsLst>
              <a:path path="circle">
                <a:fillToRect l="50000" t="50000" r="50000" b="50000"/>
              </a:path>
            </a:gradFill>
            <a:ln>
              <a:noFill/>
            </a:ln>
          </p:spPr>
          <p:txBody>
            <a:bodyPr/>
            <a:p/>
          </p:txBody>
        </p:sp>
        <p:sp>
          <p:nvSpPr>
            <p:cNvPr id="4" name="Ellipse 4"/>
            <p:cNvSpPr/>
            <p:nvPr/>
          </p:nvSpPr>
          <p:spPr>
            <a:xfrm>
              <a:off x="9620250" y="4381500"/>
              <a:ext cx="4572000" cy="4572000"/>
            </a:xfrm>
            <a:prstGeom prst="ellipse">
              <a:avLst/>
            </a:prstGeom>
            <a:noFill/>
            <a:ln w="14288">
              <a:solidFill>
                <a:srgbClr val="D6E6F9">
                  <a:alpha val="80000"/>
                </a:srgbClr>
              </a:solidFill>
            </a:ln>
          </p:spPr>
          <p:txBody>
            <a:bodyPr/>
            <a:p/>
          </p:txBody>
        </p:sp>
      </p:grpSp>
      <p:grpSp>
        <p:nvGrpSpPr>
          <p:cNvPr id="9" name="Group 9"/>
          <p:cNvGrpSpPr/>
          <p:nvPr/>
        </p:nvGrpSpPr>
        <p:grpSpPr>
          <a:xfrm>
            <a:off x="571500" y="685800"/>
            <a:ext cx="4764310" cy="700088"/>
            <a:chOff x="571500" y="685800"/>
            <a:chExt cx="4764310" cy="700088"/>
          </a:xfrm>
        </p:grpSpPr>
        <p:sp>
          <p:nvSpPr>
            <p:cNvPr id="6" name="Rectangle 6"/>
            <p:cNvSpPr/>
            <p:nvPr/>
          </p:nvSpPr>
          <p:spPr>
            <a:xfrm>
              <a:off x="571500" y="685800"/>
              <a:ext cx="76200" cy="323850"/>
            </a:xfrm>
            <a:prstGeom prst="roundRect">
              <a:avLst>
                <a:gd name="adj" fmla="val 50000"/>
              </a:avLst>
            </a:prstGeom>
            <a:solidFill>
              <a:srgbClr val="1565D8"/>
            </a:solidFill>
            <a:ln>
              <a:noFill/>
            </a:ln>
          </p:spPr>
          <p:txBody>
            <a:bodyPr/>
            <a:p/>
          </p:txBody>
        </p:sp>
        <p:sp>
          <p:nvSpPr>
            <p:cNvPr id="7" name="TextBox 7"/>
            <p:cNvSpPr txBox="1"/>
            <p:nvPr/>
          </p:nvSpPr>
          <p:spPr>
            <a:xfrm>
              <a:off x="771525" y="700088"/>
              <a:ext cx="2939760" cy="45720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2250" b="1" dirty="0">
                  <a:solidFill>
                    <a:srgbClr val="2B3648"/>
                  </a:solidFill>
                  <a:latin typeface="Arial"/>
                  <a:ea typeface="Microsoft YaHei"/>
                  <a:cs typeface="Arial"/>
                </a:rPr>
                <a:t>好结果 = 迭代出来的</a:t>
              </a:r>
            </a:p>
          </p:txBody>
        </p:sp>
        <p:sp>
          <p:nvSpPr>
            <p:cNvPr id="8" name="TextBox 8"/>
            <p:cNvSpPr txBox="1"/>
            <p:nvPr/>
          </p:nvSpPr>
          <p:spPr>
            <a:xfrm>
              <a:off x="782955" y="1111568"/>
              <a:ext cx="4552855" cy="27432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5B6B82"/>
                  </a:solidFill>
                  <a:latin typeface="Arial"/>
                  <a:ea typeface="Microsoft YaHei"/>
                  <a:cs typeface="Arial"/>
                </a:rPr>
                <a:t>别指望一次成型——三轮对话，就能从「能用」到「好用」</a:t>
              </a:r>
            </a:p>
          </p:txBody>
        </p:sp>
      </p:grpSp>
      <p:grpSp>
        <p:nvGrpSpPr>
          <p:cNvPr id="12" name="Group 12"/>
          <p:cNvGrpSpPr/>
          <p:nvPr/>
        </p:nvGrpSpPr>
        <p:grpSpPr>
          <a:xfrm>
            <a:off x="4000500" y="1952625"/>
            <a:ext cx="4191000" cy="1"/>
            <a:chOff x="4000500" y="1952625"/>
            <a:chExt cx="4191000" cy="1"/>
          </a:xfrm>
        </p:grpSpPr>
        <p:sp>
          <p:nvSpPr>
            <p:cNvPr id="10" name="Line 10"/>
            <p:cNvSpPr/>
            <p:nvPr/>
          </p:nvSpPr>
          <p:spPr>
            <a:xfrm>
              <a:off x="4000500" y="1952625"/>
              <a:ext cx="285750" cy="1"/>
            </a:xfrm>
            <a:prstGeom prst="line">
              <a:avLst/>
            </a:prstGeom>
            <a:noFill/>
            <a:ln w="23812">
              <a:solidFill>
                <a:srgbClr val="1565D8"/>
              </a:solidFill>
              <a:tailEnd type="triangle" w="lg" len="lg"/>
            </a:ln>
          </p:spPr>
          <p:txBody>
            <a:bodyPr/>
            <a:p/>
          </p:txBody>
        </p:sp>
        <p:sp>
          <p:nvSpPr>
            <p:cNvPr id="11" name="Line 11"/>
            <p:cNvSpPr/>
            <p:nvPr/>
          </p:nvSpPr>
          <p:spPr>
            <a:xfrm>
              <a:off x="7905750" y="1952625"/>
              <a:ext cx="285750" cy="1"/>
            </a:xfrm>
            <a:prstGeom prst="line">
              <a:avLst/>
            </a:prstGeom>
            <a:noFill/>
            <a:ln w="23812">
              <a:solidFill>
                <a:srgbClr val="1565D8"/>
              </a:solidFill>
              <a:tailEnd type="triangle" w="lg" len="lg"/>
            </a:ln>
          </p:spPr>
          <p:txBody>
            <a:bodyPr/>
            <a:p/>
          </p:txBody>
        </p:sp>
      </p:grpSp>
      <p:grpSp>
        <p:nvGrpSpPr>
          <p:cNvPr id="19" name="Group 19"/>
          <p:cNvGrpSpPr/>
          <p:nvPr/>
        </p:nvGrpSpPr>
        <p:grpSpPr>
          <a:xfrm>
            <a:off x="571500" y="1685925"/>
            <a:ext cx="3429000" cy="2076450"/>
            <a:chOff x="571500" y="1685925"/>
            <a:chExt cx="3429000" cy="2076450"/>
          </a:xfrm>
        </p:grpSpPr>
        <p:sp>
          <p:nvSpPr>
            <p:cNvPr id="13" name="Ellipse 13"/>
            <p:cNvSpPr/>
            <p:nvPr/>
          </p:nvSpPr>
          <p:spPr>
            <a:xfrm>
              <a:off x="2019300" y="1685925"/>
              <a:ext cx="533400" cy="533400"/>
            </a:xfrm>
            <a:prstGeom prst="ellipse">
              <a:avLst/>
            </a:prstGeom>
            <a:solidFill>
              <a:srgbClr val="35A3E8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4" name="TextBox 14"/>
            <p:cNvSpPr txBox="1"/>
            <p:nvPr/>
          </p:nvSpPr>
          <p:spPr>
            <a:xfrm>
              <a:off x="2164892" y="1883092"/>
              <a:ext cx="242216" cy="27432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350" b="1" dirty="0">
                  <a:solidFill>
                    <a:srgbClr val="FFFFFF"/>
                  </a:solidFill>
                  <a:latin typeface="Arial"/>
                  <a:ea typeface="Microsoft YaHei"/>
                  <a:cs typeface="Arial"/>
                </a:rPr>
                <a:t>V1</a:t>
              </a:r>
            </a:p>
          </p:txBody>
        </p:sp>
        <p:sp>
          <p:nvSpPr>
            <p:cNvPr id="15" name="Rectangle 15"/>
            <p:cNvSpPr/>
            <p:nvPr/>
          </p:nvSpPr>
          <p:spPr>
            <a:xfrm>
              <a:off x="571500" y="2333625"/>
              <a:ext cx="3429000" cy="1428750"/>
            </a:xfrm>
            <a:prstGeom prst="roundRect">
              <a:avLst>
                <a:gd name="adj" fmla="val 10667"/>
              </a:avLst>
            </a:prstGeom>
            <a:solidFill>
              <a:srgbClr val="FFFFFF"/>
            </a:solidFill>
            <a:ln w="9525">
              <a:solidFill>
                <a:srgbClr val="D8E1EC"/>
              </a:solidFill>
            </a:ln>
          </p:spPr>
          <p:txBody>
            <a:bodyPr/>
            <a:p/>
          </p:txBody>
        </p:sp>
        <p:sp>
          <p:nvSpPr>
            <p:cNvPr id="16" name="TextBox 16"/>
            <p:cNvSpPr txBox="1"/>
            <p:nvPr/>
          </p:nvSpPr>
          <p:spPr>
            <a:xfrm>
              <a:off x="781050" y="2552700"/>
              <a:ext cx="458152" cy="30480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00" b="1" dirty="0">
                  <a:solidFill>
                    <a:srgbClr val="2B3648"/>
                  </a:solidFill>
                  <a:latin typeface="Arial"/>
                  <a:ea typeface="Microsoft YaHei"/>
                  <a:cs typeface="Arial"/>
                </a:rPr>
                <a:t>初稿</a:t>
              </a:r>
            </a:p>
          </p:txBody>
        </p:sp>
        <p:sp>
          <p:nvSpPr>
            <p:cNvPr id="17" name="TextBox 17"/>
            <p:cNvSpPr txBox="1"/>
            <p:nvPr/>
          </p:nvSpPr>
          <p:spPr>
            <a:xfrm>
              <a:off x="786765" y="2953702"/>
              <a:ext cx="1286828" cy="21336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050" dirty="0">
                  <a:solidFill>
                    <a:srgbClr val="5B6B82"/>
                  </a:solidFill>
                  <a:latin typeface="Arial"/>
                  <a:ea typeface="Microsoft YaHei"/>
                  <a:cs typeface="Arial"/>
                </a:rPr>
                <a:t>用五要素问出第一版</a:t>
              </a:r>
            </a:p>
          </p:txBody>
        </p:sp>
        <p:sp>
          <p:nvSpPr>
            <p:cNvPr id="18" name="TextBox 18"/>
            <p:cNvSpPr txBox="1"/>
            <p:nvPr/>
          </p:nvSpPr>
          <p:spPr>
            <a:xfrm>
              <a:off x="786765" y="3201352"/>
              <a:ext cx="1426845" cy="21336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050" dirty="0">
                  <a:solidFill>
                    <a:srgbClr val="5B6B82"/>
                  </a:solidFill>
                  <a:latin typeface="Arial"/>
                  <a:ea typeface="Microsoft YaHei"/>
                  <a:cs typeface="Arial"/>
                </a:rPr>
                <a:t>方向对了，但还不够贴</a:t>
              </a:r>
            </a:p>
          </p:txBody>
        </p:sp>
      </p:grpSp>
      <p:grpSp>
        <p:nvGrpSpPr>
          <p:cNvPr id="26" name="Group 26"/>
          <p:cNvGrpSpPr/>
          <p:nvPr/>
        </p:nvGrpSpPr>
        <p:grpSpPr>
          <a:xfrm>
            <a:off x="4381500" y="1685925"/>
            <a:ext cx="3429000" cy="2076450"/>
            <a:chOff x="4381500" y="1685925"/>
            <a:chExt cx="3429000" cy="2076450"/>
          </a:xfrm>
        </p:grpSpPr>
        <p:sp>
          <p:nvSpPr>
            <p:cNvPr id="20" name="Ellipse 20"/>
            <p:cNvSpPr/>
            <p:nvPr/>
          </p:nvSpPr>
          <p:spPr>
            <a:xfrm>
              <a:off x="5829300" y="1685925"/>
              <a:ext cx="533400" cy="533400"/>
            </a:xfrm>
            <a:prstGeom prst="ellipse">
              <a:avLst/>
            </a:prstGeom>
            <a:solidFill>
              <a:srgbClr val="1565D8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1" name="TextBox 21"/>
            <p:cNvSpPr txBox="1"/>
            <p:nvPr/>
          </p:nvSpPr>
          <p:spPr>
            <a:xfrm>
              <a:off x="5974892" y="1883092"/>
              <a:ext cx="242216" cy="27432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350" b="1" dirty="0">
                  <a:solidFill>
                    <a:srgbClr val="FFFFFF"/>
                  </a:solidFill>
                  <a:latin typeface="Arial"/>
                  <a:ea typeface="Microsoft YaHei"/>
                  <a:cs typeface="Arial"/>
                </a:rPr>
                <a:t>V2</a:t>
              </a:r>
            </a:p>
          </p:txBody>
        </p:sp>
        <p:sp>
          <p:nvSpPr>
            <p:cNvPr id="22" name="Rectangle 22"/>
            <p:cNvSpPr/>
            <p:nvPr/>
          </p:nvSpPr>
          <p:spPr>
            <a:xfrm>
              <a:off x="4381500" y="2333625"/>
              <a:ext cx="3429000" cy="1428750"/>
            </a:xfrm>
            <a:prstGeom prst="roundRect">
              <a:avLst>
                <a:gd name="adj" fmla="val 10667"/>
              </a:avLst>
            </a:prstGeom>
            <a:solidFill>
              <a:srgbClr val="FFFFFF"/>
            </a:solidFill>
            <a:ln w="9525">
              <a:solidFill>
                <a:srgbClr val="D8E1EC"/>
              </a:solidFill>
            </a:ln>
          </p:spPr>
          <p:txBody>
            <a:bodyPr/>
            <a:p/>
          </p:txBody>
        </p:sp>
        <p:sp>
          <p:nvSpPr>
            <p:cNvPr id="23" name="TextBox 23"/>
            <p:cNvSpPr txBox="1"/>
            <p:nvPr/>
          </p:nvSpPr>
          <p:spPr>
            <a:xfrm>
              <a:off x="4591050" y="2552700"/>
              <a:ext cx="1718310" cy="30480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00" b="1" dirty="0">
                  <a:solidFill>
                    <a:srgbClr val="2B3648"/>
                  </a:solidFill>
                  <a:latin typeface="Arial"/>
                  <a:ea typeface="Microsoft YaHei"/>
                  <a:cs typeface="Arial"/>
                </a:rPr>
                <a:t>指出问题，让它改</a:t>
              </a:r>
            </a:p>
          </p:txBody>
        </p:sp>
        <p:sp>
          <p:nvSpPr>
            <p:cNvPr id="24" name="TextBox 24"/>
            <p:cNvSpPr txBox="1"/>
            <p:nvPr/>
          </p:nvSpPr>
          <p:spPr>
            <a:xfrm>
              <a:off x="4596765" y="2953702"/>
              <a:ext cx="1566863" cy="21336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050" dirty="0">
                  <a:solidFill>
                    <a:srgbClr val="5B6B82"/>
                  </a:solidFill>
                  <a:latin typeface="Arial"/>
                  <a:ea typeface="Microsoft YaHei"/>
                  <a:cs typeface="Arial"/>
                </a:rPr>
                <a:t>「第二段太空，加上具体</a:t>
              </a:r>
            </a:p>
          </p:txBody>
        </p:sp>
        <p:sp>
          <p:nvSpPr>
            <p:cNvPr id="25" name="TextBox 25"/>
            <p:cNvSpPr txBox="1"/>
            <p:nvPr/>
          </p:nvSpPr>
          <p:spPr>
            <a:xfrm>
              <a:off x="4596765" y="3201352"/>
              <a:ext cx="866775" cy="21336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050" dirty="0">
                  <a:solidFill>
                    <a:srgbClr val="5B6B82"/>
                  </a:solidFill>
                  <a:latin typeface="Arial"/>
                  <a:ea typeface="Microsoft YaHei"/>
                  <a:cs typeface="Arial"/>
                </a:rPr>
                <a:t>数据和例子」</a:t>
              </a:r>
            </a:p>
          </p:txBody>
        </p:sp>
      </p:grpSp>
      <p:grpSp>
        <p:nvGrpSpPr>
          <p:cNvPr id="33" name="Group 33"/>
          <p:cNvGrpSpPr/>
          <p:nvPr/>
        </p:nvGrpSpPr>
        <p:grpSpPr>
          <a:xfrm>
            <a:off x="8191500" y="1685925"/>
            <a:ext cx="3429000" cy="2076450"/>
            <a:chOff x="8191500" y="1685925"/>
            <a:chExt cx="3429000" cy="2076450"/>
          </a:xfrm>
        </p:grpSpPr>
        <p:sp>
          <p:nvSpPr>
            <p:cNvPr id="27" name="Ellipse 27"/>
            <p:cNvSpPr/>
            <p:nvPr/>
          </p:nvSpPr>
          <p:spPr>
            <a:xfrm>
              <a:off x="9639300" y="1685925"/>
              <a:ext cx="533400" cy="533400"/>
            </a:xfrm>
            <a:prstGeom prst="ellipse">
              <a:avLst/>
            </a:prstGeom>
            <a:solidFill>
              <a:srgbClr val="0B4EA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8" name="TextBox 28"/>
            <p:cNvSpPr txBox="1"/>
            <p:nvPr/>
          </p:nvSpPr>
          <p:spPr>
            <a:xfrm>
              <a:off x="9784892" y="1883092"/>
              <a:ext cx="242216" cy="27432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350" b="1" dirty="0">
                  <a:solidFill>
                    <a:srgbClr val="FFFFFF"/>
                  </a:solidFill>
                  <a:latin typeface="Arial"/>
                  <a:ea typeface="Microsoft YaHei"/>
                  <a:cs typeface="Arial"/>
                </a:rPr>
                <a:t>V3</a:t>
              </a:r>
            </a:p>
          </p:txBody>
        </p:sp>
        <p:sp>
          <p:nvSpPr>
            <p:cNvPr id="29" name="Rectangle 29"/>
            <p:cNvSpPr/>
            <p:nvPr/>
          </p:nvSpPr>
          <p:spPr>
            <a:xfrm>
              <a:off x="8191500" y="2333625"/>
              <a:ext cx="3429000" cy="1428750"/>
            </a:xfrm>
            <a:prstGeom prst="roundRect">
              <a:avLst>
                <a:gd name="adj" fmla="val 10667"/>
              </a:avLst>
            </a:prstGeom>
            <a:solidFill>
              <a:srgbClr val="FFFFFF"/>
            </a:solidFill>
            <a:ln w="9525">
              <a:solidFill>
                <a:srgbClr val="D8E1EC"/>
              </a:solidFill>
            </a:ln>
          </p:spPr>
          <p:txBody>
            <a:bodyPr/>
            <a:p/>
          </p:txBody>
        </p:sp>
        <p:sp>
          <p:nvSpPr>
            <p:cNvPr id="30" name="TextBox 30"/>
            <p:cNvSpPr txBox="1"/>
            <p:nvPr/>
          </p:nvSpPr>
          <p:spPr>
            <a:xfrm>
              <a:off x="8401050" y="2552700"/>
              <a:ext cx="878205" cy="30480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00" b="1" dirty="0">
                  <a:solidFill>
                    <a:srgbClr val="2B3648"/>
                  </a:solidFill>
                  <a:latin typeface="Arial"/>
                  <a:ea typeface="Microsoft YaHei"/>
                  <a:cs typeface="Arial"/>
                </a:rPr>
                <a:t>微调定稿</a:t>
              </a:r>
            </a:p>
          </p:txBody>
        </p:sp>
        <p:sp>
          <p:nvSpPr>
            <p:cNvPr id="31" name="TextBox 31"/>
            <p:cNvSpPr txBox="1"/>
            <p:nvPr/>
          </p:nvSpPr>
          <p:spPr>
            <a:xfrm>
              <a:off x="8406765" y="2953702"/>
              <a:ext cx="1566863" cy="21336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050" dirty="0">
                  <a:solidFill>
                    <a:srgbClr val="5B6B82"/>
                  </a:solidFill>
                  <a:latin typeface="Arial"/>
                  <a:ea typeface="Microsoft YaHei"/>
                  <a:cs typeface="Arial"/>
                </a:rPr>
                <a:t>改格式、换语气、补细节</a:t>
              </a:r>
            </a:p>
          </p:txBody>
        </p:sp>
        <p:sp>
          <p:nvSpPr>
            <p:cNvPr id="32" name="TextBox 32"/>
            <p:cNvSpPr txBox="1"/>
            <p:nvPr/>
          </p:nvSpPr>
          <p:spPr>
            <a:xfrm>
              <a:off x="8406765" y="3201352"/>
              <a:ext cx="1482852" cy="21336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050" dirty="0">
                  <a:solidFill>
                    <a:srgbClr val="5B6B82"/>
                  </a:solidFill>
                  <a:latin typeface="Arial"/>
                  <a:ea typeface="Microsoft YaHei"/>
                  <a:cs typeface="Arial"/>
                </a:rPr>
                <a:t>—— 一般到这一版就能用</a:t>
              </a:r>
            </a:p>
          </p:txBody>
        </p:sp>
      </p:grpSp>
      <p:grpSp>
        <p:nvGrpSpPr>
          <p:cNvPr id="53" name="Group 53"/>
          <p:cNvGrpSpPr/>
          <p:nvPr/>
        </p:nvGrpSpPr>
        <p:grpSpPr>
          <a:xfrm>
            <a:off x="571500" y="4000500"/>
            <a:ext cx="5334000" cy="1485900"/>
            <a:chOff x="571500" y="4000500"/>
            <a:chExt cx="5334000" cy="1485900"/>
          </a:xfrm>
        </p:grpSpPr>
        <p:sp>
          <p:nvSpPr>
            <p:cNvPr id="34" name="Rectangle 34"/>
            <p:cNvSpPr/>
            <p:nvPr/>
          </p:nvSpPr>
          <p:spPr>
            <a:xfrm>
              <a:off x="571500" y="4000500"/>
              <a:ext cx="5334000" cy="1485900"/>
            </a:xfrm>
            <a:prstGeom prst="roundRect">
              <a:avLst>
                <a:gd name="adj" fmla="val 10256"/>
              </a:avLst>
            </a:prstGeom>
            <a:solidFill>
              <a:srgbClr val="FFFFFF"/>
            </a:solidFill>
            <a:ln w="9525">
              <a:solidFill>
                <a:srgbClr val="D8E1EC"/>
              </a:solidFill>
            </a:ln>
          </p:spPr>
          <p:txBody>
            <a:bodyPr/>
            <a:p/>
          </p:txBody>
        </p:sp>
        <p:sp>
          <p:nvSpPr>
            <p:cNvPr id="35" name="TextBox 35"/>
            <p:cNvSpPr txBox="1"/>
            <p:nvPr/>
          </p:nvSpPr>
          <p:spPr>
            <a:xfrm>
              <a:off x="782955" y="4159568"/>
              <a:ext cx="1055018" cy="27432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b="1" dirty="0">
                  <a:solidFill>
                    <a:srgbClr val="1565D8"/>
                  </a:solidFill>
                  <a:latin typeface="Arial"/>
                  <a:ea typeface="Microsoft YaHei"/>
                  <a:cs typeface="Arial"/>
                </a:rPr>
                <a:t>进阶技巧 ×2</a:t>
              </a:r>
            </a:p>
          </p:txBody>
        </p:sp>
        <p:sp>
          <p:nvSpPr>
            <p:cNvPr id="36" name="Ellipse 36"/>
            <p:cNvSpPr/>
            <p:nvPr/>
          </p:nvSpPr>
          <p:spPr>
            <a:xfrm>
              <a:off x="781050" y="4514850"/>
              <a:ext cx="304800" cy="304800"/>
            </a:xfrm>
            <a:prstGeom prst="ellipse">
              <a:avLst/>
            </a:prstGeom>
            <a:solidFill>
              <a:srgbClr val="D6E6F9"/>
            </a:solidFill>
            <a:ln>
              <a:noFill/>
            </a:ln>
          </p:spPr>
          <p:txBody>
            <a:bodyPr/>
            <a:p/>
          </p:txBody>
        </p:sp>
        <p:grpSp>
          <p:nvGrpSpPr>
            <p:cNvPr id="40" name="Group 40"/>
            <p:cNvGrpSpPr/>
            <p:nvPr/>
          </p:nvGrpSpPr>
          <p:grpSpPr>
            <a:xfrm>
              <a:off x="876300" y="4610100"/>
              <a:ext cx="114300" cy="114300"/>
              <a:chOff x="876300" y="4610100"/>
              <a:chExt cx="114300" cy="114300"/>
            </a:xfrm>
          </p:grpSpPr>
          <p:sp>
            <p:nvSpPr>
              <p:cNvPr id="37" name="Freeform 37"/>
              <p:cNvSpPr/>
              <p:nvPr/>
            </p:nvSpPr>
            <p:spPr>
              <a:xfrm>
                <a:off x="876300" y="4610100"/>
                <a:ext cx="114300" cy="57150"/>
              </a:xfrm>
              <a:custGeom>
                <a:avLst/>
                <a:gdLst/>
                <a:ahLst/>
                <a:cxnLst/>
                <a:rect l="l" t="t" r="r" b="b"/>
                <a:pathLst>
                  <a:path w="114300" h="57150">
                    <a:moveTo>
                      <a:pt x="0" y="57150"/>
                    </a:moveTo>
                    <a:lnTo>
                      <a:pt x="6350" y="57150"/>
                    </a:lnTo>
                    <a:moveTo>
                      <a:pt x="57150" y="0"/>
                    </a:moveTo>
                    <a:lnTo>
                      <a:pt x="57150" y="6350"/>
                    </a:lnTo>
                    <a:moveTo>
                      <a:pt x="107950" y="57150"/>
                    </a:moveTo>
                    <a:lnTo>
                      <a:pt x="114300" y="57150"/>
                    </a:lnTo>
                    <a:moveTo>
                      <a:pt x="16510" y="16510"/>
                    </a:moveTo>
                    <a:lnTo>
                      <a:pt x="20955" y="20955"/>
                    </a:lnTo>
                    <a:moveTo>
                      <a:pt x="97790" y="16510"/>
                    </a:moveTo>
                    <a:lnTo>
                      <a:pt x="93345" y="20955"/>
                    </a:lnTo>
                  </a:path>
                </a:pathLst>
              </a:custGeom>
              <a:noFill/>
              <a:ln w="19050">
                <a:solidFill>
                  <a:srgbClr val="1565D8"/>
                </a:solidFill>
              </a:ln>
            </p:spPr>
            <p:txBody>
              <a:bodyPr/>
              <a:p/>
            </p:txBody>
          </p:sp>
          <p:sp>
            <p:nvSpPr>
              <p:cNvPr id="38" name="Freeform 38"/>
              <p:cNvSpPr/>
              <p:nvPr/>
            </p:nvSpPr>
            <p:spPr>
              <a:xfrm>
                <a:off x="899008" y="4635500"/>
                <a:ext cx="68885" cy="88900"/>
              </a:xfrm>
              <a:custGeom>
                <a:avLst/>
                <a:gdLst/>
                <a:ahLst/>
                <a:cxnLst/>
                <a:rect l="l" t="t" r="r" b="b"/>
                <a:pathLst>
                  <a:path w="68885" h="88900">
                    <a:moveTo>
                      <a:pt x="15392" y="57150"/>
                    </a:moveTo>
                    <a:cubicBezTo>
                      <a:pt x="4459" y="48950"/>
                      <a:pt x="0" y="34675"/>
                      <a:pt x="4322" y="21710"/>
                    </a:cubicBezTo>
                    <a:cubicBezTo>
                      <a:pt x="8643" y="8745"/>
                      <a:pt x="20776" y="0"/>
                      <a:pt x="34442" y="0"/>
                    </a:cubicBezTo>
                    <a:cubicBezTo>
                      <a:pt x="48108" y="0"/>
                      <a:pt x="60241" y="8745"/>
                      <a:pt x="64563" y="21710"/>
                    </a:cubicBezTo>
                    <a:cubicBezTo>
                      <a:pt x="68885" y="34675"/>
                      <a:pt x="64425" y="48950"/>
                      <a:pt x="53492" y="57150"/>
                    </a:cubicBezTo>
                    <a:cubicBezTo>
                      <a:pt x="48464" y="62127"/>
                      <a:pt x="46106" y="69201"/>
                      <a:pt x="47142" y="76200"/>
                    </a:cubicBezTo>
                    <a:cubicBezTo>
                      <a:pt x="47142" y="83214"/>
                      <a:pt x="41456" y="88900"/>
                      <a:pt x="34442" y="88900"/>
                    </a:cubicBezTo>
                    <a:cubicBezTo>
                      <a:pt x="27428" y="88900"/>
                      <a:pt x="21742" y="83214"/>
                      <a:pt x="21742" y="76200"/>
                    </a:cubicBezTo>
                    <a:cubicBezTo>
                      <a:pt x="22778" y="69201"/>
                      <a:pt x="20420" y="62127"/>
                      <a:pt x="15392" y="57150"/>
                    </a:cubicBezTo>
                  </a:path>
                </a:pathLst>
              </a:custGeom>
              <a:noFill/>
              <a:ln w="19050">
                <a:solidFill>
                  <a:srgbClr val="1565D8"/>
                </a:solidFill>
              </a:ln>
            </p:spPr>
            <p:txBody>
              <a:bodyPr/>
              <a:p/>
            </p:txBody>
          </p:sp>
          <p:sp>
            <p:nvSpPr>
              <p:cNvPr id="39" name="Freeform 39"/>
              <p:cNvSpPr/>
              <p:nvPr/>
            </p:nvSpPr>
            <p:spPr>
              <a:xfrm>
                <a:off x="918845" y="4699000"/>
                <a:ext cx="29210" cy="9525"/>
              </a:xfrm>
              <a:custGeom>
                <a:avLst/>
                <a:gdLst/>
                <a:ahLst/>
                <a:cxnLst/>
                <a:rect l="l" t="t" r="r" b="b"/>
                <a:pathLst>
                  <a:path w="29210" h="9525">
                    <a:moveTo>
                      <a:pt x="0" y="0"/>
                    </a:moveTo>
                    <a:lnTo>
                      <a:pt x="29210" y="0"/>
                    </a:lnTo>
                  </a:path>
                </a:pathLst>
              </a:custGeom>
              <a:noFill/>
              <a:ln w="19050">
                <a:solidFill>
                  <a:srgbClr val="1565D8"/>
                </a:solidFill>
              </a:ln>
            </p:spPr>
            <p:txBody>
              <a:bodyPr/>
              <a:p/>
            </p:txBody>
          </p:sp>
        </p:grpSp>
        <p:sp>
          <p:nvSpPr>
            <p:cNvPr id="41" name="TextBox 41"/>
            <p:cNvSpPr txBox="1"/>
            <p:nvPr/>
          </p:nvSpPr>
          <p:spPr>
            <a:xfrm>
              <a:off x="1185862" y="4517231"/>
              <a:ext cx="501134" cy="22860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5" b="1" dirty="0">
                  <a:solidFill>
                    <a:srgbClr val="2B3648"/>
                  </a:solidFill>
                  <a:latin typeface="Arial"/>
                  <a:ea typeface="Microsoft YaHei"/>
                  <a:cs typeface="Arial"/>
                </a:rPr>
                <a:t>给例子</a:t>
              </a:r>
            </a:p>
          </p:txBody>
        </p:sp>
        <p:sp>
          <p:nvSpPr>
            <p:cNvPr id="42" name="TextBox 42"/>
            <p:cNvSpPr txBox="1"/>
            <p:nvPr/>
          </p:nvSpPr>
          <p:spPr>
            <a:xfrm>
              <a:off x="1186815" y="4744402"/>
              <a:ext cx="3163062" cy="21336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050" dirty="0">
                  <a:solidFill>
                    <a:srgbClr val="5B6B82"/>
                  </a:solidFill>
                  <a:latin typeface="Arial"/>
                  <a:ea typeface="Microsoft YaHei"/>
                  <a:cs typeface="Arial"/>
                </a:rPr>
                <a:t>「按上个月的格式写」—— 一个样例比一百句描述准</a:t>
              </a:r>
            </a:p>
          </p:txBody>
        </p:sp>
        <p:sp>
          <p:nvSpPr>
            <p:cNvPr id="43" name="Ellipse 43"/>
            <p:cNvSpPr/>
            <p:nvPr/>
          </p:nvSpPr>
          <p:spPr>
            <a:xfrm>
              <a:off x="781050" y="5010150"/>
              <a:ext cx="304800" cy="304800"/>
            </a:xfrm>
            <a:prstGeom prst="ellipse">
              <a:avLst/>
            </a:prstGeom>
            <a:solidFill>
              <a:srgbClr val="D6E6F9"/>
            </a:solidFill>
            <a:ln>
              <a:noFill/>
            </a:ln>
          </p:spPr>
          <p:txBody>
            <a:bodyPr/>
            <a:p/>
          </p:txBody>
        </p:sp>
        <p:grpSp>
          <p:nvGrpSpPr>
            <p:cNvPr id="50" name="Group 50"/>
            <p:cNvGrpSpPr/>
            <p:nvPr/>
          </p:nvGrpSpPr>
          <p:grpSpPr>
            <a:xfrm>
              <a:off x="876300" y="5105400"/>
              <a:ext cx="114300" cy="114300"/>
              <a:chOff x="876300" y="5105400"/>
              <a:chExt cx="114300" cy="114300"/>
            </a:xfrm>
          </p:grpSpPr>
          <p:sp>
            <p:nvSpPr>
              <p:cNvPr id="44" name="Freeform 44"/>
              <p:cNvSpPr/>
              <p:nvPr/>
            </p:nvSpPr>
            <p:spPr>
              <a:xfrm>
                <a:off x="933450" y="5168900"/>
                <a:ext cx="44450" cy="50800"/>
              </a:xfrm>
              <a:custGeom>
                <a:avLst/>
                <a:gdLst/>
                <a:ahLst/>
                <a:cxnLst/>
                <a:rect l="l" t="t" r="r" b="b"/>
                <a:pathLst>
                  <a:path w="44450" h="50800">
                    <a:moveTo>
                      <a:pt x="22225" y="0"/>
                    </a:moveTo>
                    <a:cubicBezTo>
                      <a:pt x="9950" y="0"/>
                      <a:pt x="0" y="9950"/>
                      <a:pt x="0" y="22225"/>
                    </a:cubicBezTo>
                    <a:lnTo>
                      <a:pt x="0" y="28575"/>
                    </a:lnTo>
                    <a:cubicBezTo>
                      <a:pt x="0" y="40850"/>
                      <a:pt x="9950" y="50800"/>
                      <a:pt x="22225" y="50800"/>
                    </a:cubicBezTo>
                    <a:cubicBezTo>
                      <a:pt x="34500" y="50800"/>
                      <a:pt x="44450" y="40850"/>
                      <a:pt x="44450" y="28575"/>
                    </a:cubicBezTo>
                    <a:lnTo>
                      <a:pt x="44450" y="17145"/>
                    </a:lnTo>
                  </a:path>
                </a:pathLst>
              </a:custGeom>
              <a:noFill/>
              <a:ln w="19050">
                <a:solidFill>
                  <a:srgbClr val="1565D8"/>
                </a:solidFill>
              </a:ln>
            </p:spPr>
            <p:txBody>
              <a:bodyPr/>
              <a:p/>
            </p:txBody>
          </p:sp>
          <p:sp>
            <p:nvSpPr>
              <p:cNvPr id="45" name="Freeform 45"/>
              <p:cNvSpPr/>
              <p:nvPr/>
            </p:nvSpPr>
            <p:spPr>
              <a:xfrm>
                <a:off x="889000" y="5168900"/>
                <a:ext cx="44450" cy="50800"/>
              </a:xfrm>
              <a:custGeom>
                <a:avLst/>
                <a:gdLst/>
                <a:ahLst/>
                <a:cxnLst/>
                <a:rect l="l" t="t" r="r" b="b"/>
                <a:pathLst>
                  <a:path w="44450" h="50800">
                    <a:moveTo>
                      <a:pt x="22225" y="0"/>
                    </a:moveTo>
                    <a:cubicBezTo>
                      <a:pt x="34500" y="0"/>
                      <a:pt x="44450" y="9950"/>
                      <a:pt x="44450" y="22225"/>
                    </a:cubicBezTo>
                    <a:lnTo>
                      <a:pt x="44450" y="28575"/>
                    </a:lnTo>
                    <a:cubicBezTo>
                      <a:pt x="44450" y="40850"/>
                      <a:pt x="34500" y="50800"/>
                      <a:pt x="22225" y="50800"/>
                    </a:cubicBezTo>
                    <a:cubicBezTo>
                      <a:pt x="9950" y="50800"/>
                      <a:pt x="0" y="40850"/>
                      <a:pt x="0" y="28575"/>
                    </a:cubicBezTo>
                    <a:lnTo>
                      <a:pt x="0" y="17145"/>
                    </a:lnTo>
                  </a:path>
                </a:pathLst>
              </a:custGeom>
              <a:noFill/>
              <a:ln w="19050">
                <a:solidFill>
                  <a:srgbClr val="1565D8"/>
                </a:solidFill>
              </a:ln>
            </p:spPr>
            <p:txBody>
              <a:bodyPr/>
              <a:p/>
            </p:txBody>
          </p:sp>
          <p:sp>
            <p:nvSpPr>
              <p:cNvPr id="46" name="Freeform 46"/>
              <p:cNvSpPr/>
              <p:nvPr/>
            </p:nvSpPr>
            <p:spPr>
              <a:xfrm>
                <a:off x="965200" y="5143500"/>
                <a:ext cx="25400" cy="44450"/>
              </a:xfrm>
              <a:custGeom>
                <a:avLst/>
                <a:gdLst/>
                <a:ahLst/>
                <a:cxnLst/>
                <a:rect l="l" t="t" r="r" b="b"/>
                <a:pathLst>
                  <a:path w="25400" h="44450">
                    <a:moveTo>
                      <a:pt x="3175" y="44450"/>
                    </a:moveTo>
                    <a:cubicBezTo>
                      <a:pt x="15450" y="44450"/>
                      <a:pt x="25400" y="34500"/>
                      <a:pt x="25400" y="22225"/>
                    </a:cubicBezTo>
                    <a:cubicBezTo>
                      <a:pt x="25400" y="9950"/>
                      <a:pt x="15450" y="0"/>
                      <a:pt x="3175" y="0"/>
                    </a:cubicBezTo>
                    <a:lnTo>
                      <a:pt x="0" y="0"/>
                    </a:lnTo>
                  </a:path>
                </a:pathLst>
              </a:custGeom>
              <a:noFill/>
              <a:ln w="19050">
                <a:solidFill>
                  <a:srgbClr val="1565D8"/>
                </a:solidFill>
              </a:ln>
            </p:spPr>
            <p:txBody>
              <a:bodyPr/>
              <a:p/>
            </p:txBody>
          </p:sp>
          <p:sp>
            <p:nvSpPr>
              <p:cNvPr id="47" name="Freeform 47"/>
              <p:cNvSpPr/>
              <p:nvPr/>
            </p:nvSpPr>
            <p:spPr>
              <a:xfrm>
                <a:off x="933450" y="5105400"/>
                <a:ext cx="44450" cy="40005"/>
              </a:xfrm>
              <a:custGeom>
                <a:avLst/>
                <a:gdLst/>
                <a:ahLst/>
                <a:cxnLst/>
                <a:rect l="l" t="t" r="r" b="b"/>
                <a:pathLst>
                  <a:path w="44450" h="40005">
                    <a:moveTo>
                      <a:pt x="44450" y="40005"/>
                    </a:moveTo>
                    <a:lnTo>
                      <a:pt x="44450" y="22225"/>
                    </a:lnTo>
                    <a:cubicBezTo>
                      <a:pt x="44450" y="9950"/>
                      <a:pt x="34500" y="0"/>
                      <a:pt x="22225" y="0"/>
                    </a:cubicBezTo>
                    <a:cubicBezTo>
                      <a:pt x="9950" y="0"/>
                      <a:pt x="0" y="9950"/>
                      <a:pt x="0" y="22225"/>
                    </a:cubicBezTo>
                  </a:path>
                </a:pathLst>
              </a:custGeom>
              <a:noFill/>
              <a:ln w="19050">
                <a:solidFill>
                  <a:srgbClr val="1565D8"/>
                </a:solidFill>
              </a:ln>
            </p:spPr>
            <p:txBody>
              <a:bodyPr/>
              <a:p/>
            </p:txBody>
          </p:sp>
          <p:sp>
            <p:nvSpPr>
              <p:cNvPr id="48" name="Freeform 48"/>
              <p:cNvSpPr/>
              <p:nvPr/>
            </p:nvSpPr>
            <p:spPr>
              <a:xfrm>
                <a:off x="876300" y="5143500"/>
                <a:ext cx="25400" cy="44450"/>
              </a:xfrm>
              <a:custGeom>
                <a:avLst/>
                <a:gdLst/>
                <a:ahLst/>
                <a:cxnLst/>
                <a:rect l="l" t="t" r="r" b="b"/>
                <a:pathLst>
                  <a:path w="25400" h="44450">
                    <a:moveTo>
                      <a:pt x="22225" y="44450"/>
                    </a:moveTo>
                    <a:cubicBezTo>
                      <a:pt x="9950" y="44450"/>
                      <a:pt x="0" y="34500"/>
                      <a:pt x="0" y="22225"/>
                    </a:cubicBezTo>
                    <a:cubicBezTo>
                      <a:pt x="0" y="9950"/>
                      <a:pt x="9950" y="0"/>
                      <a:pt x="22225" y="0"/>
                    </a:cubicBezTo>
                    <a:lnTo>
                      <a:pt x="25400" y="0"/>
                    </a:lnTo>
                  </a:path>
                </a:pathLst>
              </a:custGeom>
              <a:noFill/>
              <a:ln w="19050">
                <a:solidFill>
                  <a:srgbClr val="1565D8"/>
                </a:solidFill>
              </a:ln>
            </p:spPr>
            <p:txBody>
              <a:bodyPr/>
              <a:p/>
            </p:txBody>
          </p:sp>
          <p:sp>
            <p:nvSpPr>
              <p:cNvPr id="49" name="Freeform 49"/>
              <p:cNvSpPr/>
              <p:nvPr/>
            </p:nvSpPr>
            <p:spPr>
              <a:xfrm>
                <a:off x="889000" y="5105400"/>
                <a:ext cx="44450" cy="85725"/>
              </a:xfrm>
              <a:custGeom>
                <a:avLst/>
                <a:gdLst/>
                <a:ahLst/>
                <a:cxnLst/>
                <a:rect l="l" t="t" r="r" b="b"/>
                <a:pathLst>
                  <a:path w="44450" h="85725">
                    <a:moveTo>
                      <a:pt x="0" y="40005"/>
                    </a:moveTo>
                    <a:lnTo>
                      <a:pt x="0" y="22225"/>
                    </a:lnTo>
                    <a:cubicBezTo>
                      <a:pt x="0" y="9950"/>
                      <a:pt x="9950" y="0"/>
                      <a:pt x="22225" y="0"/>
                    </a:cubicBezTo>
                    <a:cubicBezTo>
                      <a:pt x="34500" y="0"/>
                      <a:pt x="44450" y="9950"/>
                      <a:pt x="44450" y="22225"/>
                    </a:cubicBezTo>
                    <a:lnTo>
                      <a:pt x="44450" y="85725"/>
                    </a:lnTo>
                  </a:path>
                </a:pathLst>
              </a:custGeom>
              <a:noFill/>
              <a:ln w="19050">
                <a:solidFill>
                  <a:srgbClr val="1565D8"/>
                </a:solidFill>
              </a:ln>
            </p:spPr>
            <p:txBody>
              <a:bodyPr/>
              <a:p/>
            </p:txBody>
          </p:sp>
        </p:grpSp>
        <p:sp>
          <p:nvSpPr>
            <p:cNvPr id="51" name="TextBox 51"/>
            <p:cNvSpPr txBox="1"/>
            <p:nvPr/>
          </p:nvSpPr>
          <p:spPr>
            <a:xfrm>
              <a:off x="1185862" y="5012531"/>
              <a:ext cx="973693" cy="22860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5" b="1" dirty="0">
                  <a:solidFill>
                    <a:srgbClr val="2B3648"/>
                  </a:solidFill>
                  <a:latin typeface="Arial"/>
                  <a:ea typeface="Microsoft YaHei"/>
                  <a:cs typeface="Arial"/>
                </a:rPr>
                <a:t>让它一步步想</a:t>
              </a:r>
            </a:p>
          </p:txBody>
        </p:sp>
        <p:sp>
          <p:nvSpPr>
            <p:cNvPr id="52" name="TextBox 52"/>
            <p:cNvSpPr txBox="1"/>
            <p:nvPr/>
          </p:nvSpPr>
          <p:spPr>
            <a:xfrm>
              <a:off x="1186815" y="5239702"/>
              <a:ext cx="3107055" cy="21336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050" dirty="0">
                  <a:solidFill>
                    <a:srgbClr val="5B6B82"/>
                  </a:solidFill>
                  <a:latin typeface="Arial"/>
                  <a:ea typeface="Microsoft YaHei"/>
                  <a:cs typeface="Arial"/>
                </a:rPr>
                <a:t>复杂问题加一句「请分步分析」，正确率明显更高</a:t>
              </a:r>
            </a:p>
          </p:txBody>
        </p:sp>
      </p:grpSp>
      <p:grpSp>
        <p:nvGrpSpPr>
          <p:cNvPr id="74" name="Group 74"/>
          <p:cNvGrpSpPr/>
          <p:nvPr/>
        </p:nvGrpSpPr>
        <p:grpSpPr>
          <a:xfrm>
            <a:off x="6286500" y="4000500"/>
            <a:ext cx="5334000" cy="1485900"/>
            <a:chOff x="6286500" y="4000500"/>
            <a:chExt cx="5334000" cy="1485900"/>
          </a:xfrm>
        </p:grpSpPr>
        <p:sp>
          <p:nvSpPr>
            <p:cNvPr id="54" name="Rectangle 54"/>
            <p:cNvSpPr/>
            <p:nvPr/>
          </p:nvSpPr>
          <p:spPr>
            <a:xfrm>
              <a:off x="6286500" y="4000500"/>
              <a:ext cx="5334000" cy="1485900"/>
            </a:xfrm>
            <a:prstGeom prst="roundRect">
              <a:avLst>
                <a:gd name="adj" fmla="val 10256"/>
              </a:avLst>
            </a:prstGeom>
            <a:solidFill>
              <a:srgbClr val="FFFFFF"/>
            </a:solidFill>
            <a:ln w="9525">
              <a:solidFill>
                <a:srgbClr val="D8E1EC"/>
              </a:solidFill>
            </a:ln>
          </p:spPr>
          <p:txBody>
            <a:bodyPr/>
            <a:p/>
          </p:txBody>
        </p:sp>
        <p:sp>
          <p:nvSpPr>
            <p:cNvPr id="55" name="TextBox 55"/>
            <p:cNvSpPr txBox="1"/>
            <p:nvPr/>
          </p:nvSpPr>
          <p:spPr>
            <a:xfrm>
              <a:off x="6497955" y="4159568"/>
              <a:ext cx="865994" cy="27432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b="1" dirty="0">
                  <a:solidFill>
                    <a:srgbClr val="D64545"/>
                  </a:solidFill>
                  <a:latin typeface="Arial"/>
                  <a:ea typeface="Microsoft YaHei"/>
                  <a:cs typeface="Arial"/>
                </a:rPr>
                <a:t>常见坑 ×3</a:t>
              </a:r>
            </a:p>
          </p:txBody>
        </p:sp>
        <p:grpSp>
          <p:nvGrpSpPr>
            <p:cNvPr id="59" name="Group 59"/>
            <p:cNvGrpSpPr/>
            <p:nvPr/>
          </p:nvGrpSpPr>
          <p:grpSpPr>
            <a:xfrm>
              <a:off x="6528779" y="4514858"/>
              <a:ext cx="144086" cy="123788"/>
              <a:chOff x="6528779" y="4514858"/>
              <a:chExt cx="144086" cy="123788"/>
            </a:xfrm>
          </p:grpSpPr>
          <p:sp>
            <p:nvSpPr>
              <p:cNvPr id="56" name="Freeform 56"/>
              <p:cNvSpPr/>
              <p:nvPr/>
            </p:nvSpPr>
            <p:spPr>
              <a:xfrm>
                <a:off x="6600825" y="4560094"/>
                <a:ext cx="9525" cy="28575"/>
              </a:xfrm>
              <a:custGeom>
                <a:avLst/>
                <a:gdLst/>
                <a:ahLst/>
                <a:cxnLst/>
                <a:rect l="l" t="t" r="r" b="b"/>
                <a:pathLst>
                  <a:path w="9525" h="28575">
                    <a:moveTo>
                      <a:pt x="0" y="0"/>
                    </a:moveTo>
                    <a:lnTo>
                      <a:pt x="0" y="28575"/>
                    </a:lnTo>
                  </a:path>
                </a:pathLst>
              </a:custGeom>
              <a:noFill/>
              <a:ln w="19050">
                <a:solidFill>
                  <a:srgbClr val="D64545"/>
                </a:solidFill>
              </a:ln>
            </p:spPr>
            <p:txBody>
              <a:bodyPr/>
              <a:p/>
            </p:txBody>
          </p:sp>
          <p:sp>
            <p:nvSpPr>
              <p:cNvPr id="57" name="Freeform 57"/>
              <p:cNvSpPr/>
              <p:nvPr/>
            </p:nvSpPr>
            <p:spPr>
              <a:xfrm>
                <a:off x="6528779" y="4514858"/>
                <a:ext cx="144086" cy="123788"/>
              </a:xfrm>
              <a:custGeom>
                <a:avLst/>
                <a:gdLst/>
                <a:ahLst/>
                <a:cxnLst/>
                <a:rect l="l" t="t" r="r" b="b"/>
                <a:pathLst>
                  <a:path w="144086" h="123788">
                    <a:moveTo>
                      <a:pt x="60351" y="6595"/>
                    </a:moveTo>
                    <a:lnTo>
                      <a:pt x="2444" y="103279"/>
                    </a:lnTo>
                    <a:cubicBezTo>
                      <a:pt x="15" y="107485"/>
                      <a:pt x="0" y="112665"/>
                      <a:pt x="2405" y="116886"/>
                    </a:cubicBezTo>
                    <a:cubicBezTo>
                      <a:pt x="4810" y="121106"/>
                      <a:pt x="9274" y="123734"/>
                      <a:pt x="14131" y="123788"/>
                    </a:cubicBezTo>
                    <a:lnTo>
                      <a:pt x="129960" y="123788"/>
                    </a:lnTo>
                    <a:cubicBezTo>
                      <a:pt x="134815" y="123732"/>
                      <a:pt x="139276" y="121106"/>
                      <a:pt x="141681" y="116888"/>
                    </a:cubicBezTo>
                    <a:cubicBezTo>
                      <a:pt x="144086" y="112669"/>
                      <a:pt x="144073" y="107492"/>
                      <a:pt x="141647" y="103286"/>
                    </a:cubicBezTo>
                    <a:lnTo>
                      <a:pt x="83740" y="6588"/>
                    </a:lnTo>
                    <a:cubicBezTo>
                      <a:pt x="81262" y="2498"/>
                      <a:pt x="76827" y="0"/>
                      <a:pt x="72046" y="0"/>
                    </a:cubicBezTo>
                    <a:cubicBezTo>
                      <a:pt x="67264" y="0"/>
                      <a:pt x="62829" y="2498"/>
                      <a:pt x="60351" y="6588"/>
                    </a:cubicBezTo>
                  </a:path>
                </a:pathLst>
              </a:custGeom>
              <a:noFill/>
              <a:ln w="19050">
                <a:solidFill>
                  <a:srgbClr val="D64545"/>
                </a:solidFill>
              </a:ln>
            </p:spPr>
            <p:txBody>
              <a:bodyPr/>
              <a:p/>
            </p:txBody>
          </p:sp>
          <p:sp>
            <p:nvSpPr>
              <p:cNvPr id="58" name="Freeform 58"/>
              <p:cNvSpPr/>
              <p:nvPr/>
            </p:nvSpPr>
            <p:spPr>
              <a:xfrm>
                <a:off x="6600825" y="4610100"/>
                <a:ext cx="9525" cy="9525"/>
              </a:xfrm>
              <a:custGeom>
                <a:avLst/>
                <a:gdLst/>
                <a:ahLst/>
                <a:cxnLst/>
                <a:rect l="l" t="t" r="r" b="b"/>
                <a:pathLst>
                  <a:path w="9525" h="9525">
                    <a:moveTo>
                      <a:pt x="0" y="0"/>
                    </a:moveTo>
                    <a:lnTo>
                      <a:pt x="71" y="0"/>
                    </a:lnTo>
                  </a:path>
                </a:pathLst>
              </a:custGeom>
              <a:noFill/>
              <a:ln w="19050">
                <a:solidFill>
                  <a:srgbClr val="D64545"/>
                </a:solidFill>
              </a:ln>
            </p:spPr>
            <p:txBody>
              <a:bodyPr/>
              <a:p/>
            </p:txBody>
          </p:sp>
        </p:grpSp>
        <p:sp>
          <p:nvSpPr>
            <p:cNvPr id="60" name="TextBox 60"/>
            <p:cNvSpPr txBox="1"/>
            <p:nvPr/>
          </p:nvSpPr>
          <p:spPr>
            <a:xfrm>
              <a:off x="6767512" y="4517231"/>
              <a:ext cx="658654" cy="22860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5" b="1" dirty="0">
                  <a:solidFill>
                    <a:srgbClr val="2B3648"/>
                  </a:solidFill>
                  <a:latin typeface="Arial"/>
                  <a:ea typeface="Microsoft YaHei"/>
                  <a:cs typeface="Arial"/>
                </a:rPr>
                <a:t>问题太大</a:t>
              </a:r>
            </a:p>
          </p:txBody>
        </p:sp>
        <p:sp>
          <p:nvSpPr>
            <p:cNvPr id="61" name="TextBox 61"/>
            <p:cNvSpPr txBox="1"/>
            <p:nvPr/>
          </p:nvSpPr>
          <p:spPr>
            <a:xfrm>
              <a:off x="7606665" y="4525328"/>
              <a:ext cx="1965912" cy="21336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050" dirty="0">
                  <a:solidFill>
                    <a:srgbClr val="5B6B82"/>
                  </a:solidFill>
                  <a:latin typeface="Arial"/>
                  <a:ea typeface="Microsoft YaHei"/>
                  <a:cs typeface="Arial"/>
                </a:rPr>
                <a:t>「写个方案」= 得到正确的废话</a:t>
              </a:r>
            </a:p>
          </p:txBody>
        </p:sp>
        <p:grpSp>
          <p:nvGrpSpPr>
            <p:cNvPr id="65" name="Group 65"/>
            <p:cNvGrpSpPr/>
            <p:nvPr/>
          </p:nvGrpSpPr>
          <p:grpSpPr>
            <a:xfrm>
              <a:off x="6528779" y="4857758"/>
              <a:ext cx="144086" cy="123788"/>
              <a:chOff x="6528779" y="4857758"/>
              <a:chExt cx="144086" cy="123788"/>
            </a:xfrm>
          </p:grpSpPr>
          <p:sp>
            <p:nvSpPr>
              <p:cNvPr id="62" name="Freeform 62"/>
              <p:cNvSpPr/>
              <p:nvPr/>
            </p:nvSpPr>
            <p:spPr>
              <a:xfrm>
                <a:off x="6600825" y="4902994"/>
                <a:ext cx="9525" cy="28575"/>
              </a:xfrm>
              <a:custGeom>
                <a:avLst/>
                <a:gdLst/>
                <a:ahLst/>
                <a:cxnLst/>
                <a:rect l="l" t="t" r="r" b="b"/>
                <a:pathLst>
                  <a:path w="9525" h="28575">
                    <a:moveTo>
                      <a:pt x="0" y="0"/>
                    </a:moveTo>
                    <a:lnTo>
                      <a:pt x="0" y="28575"/>
                    </a:lnTo>
                  </a:path>
                </a:pathLst>
              </a:custGeom>
              <a:noFill/>
              <a:ln w="19050">
                <a:solidFill>
                  <a:srgbClr val="D64545"/>
                </a:solidFill>
              </a:ln>
            </p:spPr>
            <p:txBody>
              <a:bodyPr/>
              <a:p/>
            </p:txBody>
          </p:sp>
          <p:sp>
            <p:nvSpPr>
              <p:cNvPr id="63" name="Freeform 63"/>
              <p:cNvSpPr/>
              <p:nvPr/>
            </p:nvSpPr>
            <p:spPr>
              <a:xfrm>
                <a:off x="6528779" y="4857758"/>
                <a:ext cx="144086" cy="123788"/>
              </a:xfrm>
              <a:custGeom>
                <a:avLst/>
                <a:gdLst/>
                <a:ahLst/>
                <a:cxnLst/>
                <a:rect l="l" t="t" r="r" b="b"/>
                <a:pathLst>
                  <a:path w="144086" h="123788">
                    <a:moveTo>
                      <a:pt x="60351" y="6595"/>
                    </a:moveTo>
                    <a:lnTo>
                      <a:pt x="2444" y="103279"/>
                    </a:lnTo>
                    <a:cubicBezTo>
                      <a:pt x="15" y="107485"/>
                      <a:pt x="0" y="112665"/>
                      <a:pt x="2405" y="116886"/>
                    </a:cubicBezTo>
                    <a:cubicBezTo>
                      <a:pt x="4810" y="121106"/>
                      <a:pt x="9274" y="123734"/>
                      <a:pt x="14131" y="123788"/>
                    </a:cubicBezTo>
                    <a:lnTo>
                      <a:pt x="129960" y="123788"/>
                    </a:lnTo>
                    <a:cubicBezTo>
                      <a:pt x="134815" y="123732"/>
                      <a:pt x="139276" y="121106"/>
                      <a:pt x="141681" y="116888"/>
                    </a:cubicBezTo>
                    <a:cubicBezTo>
                      <a:pt x="144086" y="112669"/>
                      <a:pt x="144073" y="107492"/>
                      <a:pt x="141647" y="103286"/>
                    </a:cubicBezTo>
                    <a:lnTo>
                      <a:pt x="83740" y="6588"/>
                    </a:lnTo>
                    <a:cubicBezTo>
                      <a:pt x="81262" y="2498"/>
                      <a:pt x="76827" y="0"/>
                      <a:pt x="72046" y="0"/>
                    </a:cubicBezTo>
                    <a:cubicBezTo>
                      <a:pt x="67264" y="0"/>
                      <a:pt x="62829" y="2498"/>
                      <a:pt x="60351" y="6588"/>
                    </a:cubicBezTo>
                  </a:path>
                </a:pathLst>
              </a:custGeom>
              <a:noFill/>
              <a:ln w="19050">
                <a:solidFill>
                  <a:srgbClr val="D64545"/>
                </a:solidFill>
              </a:ln>
            </p:spPr>
            <p:txBody>
              <a:bodyPr/>
              <a:p/>
            </p:txBody>
          </p:sp>
          <p:sp>
            <p:nvSpPr>
              <p:cNvPr id="64" name="Freeform 64"/>
              <p:cNvSpPr/>
              <p:nvPr/>
            </p:nvSpPr>
            <p:spPr>
              <a:xfrm>
                <a:off x="6600825" y="4953000"/>
                <a:ext cx="9525" cy="9525"/>
              </a:xfrm>
              <a:custGeom>
                <a:avLst/>
                <a:gdLst/>
                <a:ahLst/>
                <a:cxnLst/>
                <a:rect l="l" t="t" r="r" b="b"/>
                <a:pathLst>
                  <a:path w="9525" h="9525">
                    <a:moveTo>
                      <a:pt x="0" y="0"/>
                    </a:moveTo>
                    <a:lnTo>
                      <a:pt x="71" y="0"/>
                    </a:lnTo>
                  </a:path>
                </a:pathLst>
              </a:custGeom>
              <a:noFill/>
              <a:ln w="19050">
                <a:solidFill>
                  <a:srgbClr val="D64545"/>
                </a:solidFill>
              </a:ln>
            </p:spPr>
            <p:txBody>
              <a:bodyPr/>
              <a:p/>
            </p:txBody>
          </p:sp>
        </p:grpSp>
        <p:sp>
          <p:nvSpPr>
            <p:cNvPr id="66" name="TextBox 66"/>
            <p:cNvSpPr txBox="1"/>
            <p:nvPr/>
          </p:nvSpPr>
          <p:spPr>
            <a:xfrm>
              <a:off x="6767512" y="4860131"/>
              <a:ext cx="658654" cy="22860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5" b="1" dirty="0">
                  <a:solidFill>
                    <a:srgbClr val="2B3648"/>
                  </a:solidFill>
                  <a:latin typeface="Arial"/>
                  <a:ea typeface="Microsoft YaHei"/>
                  <a:cs typeface="Arial"/>
                </a:rPr>
                <a:t>不给背景</a:t>
              </a:r>
            </a:p>
          </p:txBody>
        </p:sp>
        <p:sp>
          <p:nvSpPr>
            <p:cNvPr id="67" name="TextBox 67"/>
            <p:cNvSpPr txBox="1"/>
            <p:nvPr/>
          </p:nvSpPr>
          <p:spPr>
            <a:xfrm>
              <a:off x="7606665" y="4868228"/>
              <a:ext cx="2266950" cy="21336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050" dirty="0">
                  <a:solidFill>
                    <a:srgbClr val="5B6B82"/>
                  </a:solidFill>
                  <a:latin typeface="Arial"/>
                  <a:ea typeface="Microsoft YaHei"/>
                  <a:cs typeface="Arial"/>
                </a:rPr>
                <a:t>不告诉它给谁看、干什么用，只能猜</a:t>
              </a:r>
            </a:p>
          </p:txBody>
        </p:sp>
        <p:grpSp>
          <p:nvGrpSpPr>
            <p:cNvPr id="71" name="Group 71"/>
            <p:cNvGrpSpPr/>
            <p:nvPr/>
          </p:nvGrpSpPr>
          <p:grpSpPr>
            <a:xfrm>
              <a:off x="6528779" y="5200658"/>
              <a:ext cx="144086" cy="123788"/>
              <a:chOff x="6528779" y="5200658"/>
              <a:chExt cx="144086" cy="123788"/>
            </a:xfrm>
          </p:grpSpPr>
          <p:sp>
            <p:nvSpPr>
              <p:cNvPr id="68" name="Freeform 68"/>
              <p:cNvSpPr/>
              <p:nvPr/>
            </p:nvSpPr>
            <p:spPr>
              <a:xfrm>
                <a:off x="6600825" y="5245894"/>
                <a:ext cx="9525" cy="28575"/>
              </a:xfrm>
              <a:custGeom>
                <a:avLst/>
                <a:gdLst/>
                <a:ahLst/>
                <a:cxnLst/>
                <a:rect l="l" t="t" r="r" b="b"/>
                <a:pathLst>
                  <a:path w="9525" h="28575">
                    <a:moveTo>
                      <a:pt x="0" y="0"/>
                    </a:moveTo>
                    <a:lnTo>
                      <a:pt x="0" y="28575"/>
                    </a:lnTo>
                  </a:path>
                </a:pathLst>
              </a:custGeom>
              <a:noFill/>
              <a:ln w="19050">
                <a:solidFill>
                  <a:srgbClr val="D64545"/>
                </a:solidFill>
              </a:ln>
            </p:spPr>
            <p:txBody>
              <a:bodyPr/>
              <a:p/>
            </p:txBody>
          </p:sp>
          <p:sp>
            <p:nvSpPr>
              <p:cNvPr id="69" name="Freeform 69"/>
              <p:cNvSpPr/>
              <p:nvPr/>
            </p:nvSpPr>
            <p:spPr>
              <a:xfrm>
                <a:off x="6528779" y="5200658"/>
                <a:ext cx="144086" cy="123788"/>
              </a:xfrm>
              <a:custGeom>
                <a:avLst/>
                <a:gdLst/>
                <a:ahLst/>
                <a:cxnLst/>
                <a:rect l="l" t="t" r="r" b="b"/>
                <a:pathLst>
                  <a:path w="144086" h="123788">
                    <a:moveTo>
                      <a:pt x="60351" y="6595"/>
                    </a:moveTo>
                    <a:lnTo>
                      <a:pt x="2444" y="103279"/>
                    </a:lnTo>
                    <a:cubicBezTo>
                      <a:pt x="15" y="107485"/>
                      <a:pt x="0" y="112665"/>
                      <a:pt x="2405" y="116886"/>
                    </a:cubicBezTo>
                    <a:cubicBezTo>
                      <a:pt x="4810" y="121106"/>
                      <a:pt x="9274" y="123734"/>
                      <a:pt x="14131" y="123788"/>
                    </a:cubicBezTo>
                    <a:lnTo>
                      <a:pt x="129960" y="123788"/>
                    </a:lnTo>
                    <a:cubicBezTo>
                      <a:pt x="134815" y="123732"/>
                      <a:pt x="139276" y="121106"/>
                      <a:pt x="141681" y="116888"/>
                    </a:cubicBezTo>
                    <a:cubicBezTo>
                      <a:pt x="144086" y="112669"/>
                      <a:pt x="144073" y="107492"/>
                      <a:pt x="141647" y="103286"/>
                    </a:cubicBezTo>
                    <a:lnTo>
                      <a:pt x="83740" y="6588"/>
                    </a:lnTo>
                    <a:cubicBezTo>
                      <a:pt x="81262" y="2498"/>
                      <a:pt x="76827" y="0"/>
                      <a:pt x="72046" y="0"/>
                    </a:cubicBezTo>
                    <a:cubicBezTo>
                      <a:pt x="67264" y="0"/>
                      <a:pt x="62829" y="2498"/>
                      <a:pt x="60351" y="6588"/>
                    </a:cubicBezTo>
                  </a:path>
                </a:pathLst>
              </a:custGeom>
              <a:noFill/>
              <a:ln w="19050">
                <a:solidFill>
                  <a:srgbClr val="D64545"/>
                </a:solidFill>
              </a:ln>
            </p:spPr>
            <p:txBody>
              <a:bodyPr/>
              <a:p/>
            </p:txBody>
          </p:sp>
          <p:sp>
            <p:nvSpPr>
              <p:cNvPr id="70" name="Freeform 70"/>
              <p:cNvSpPr/>
              <p:nvPr/>
            </p:nvSpPr>
            <p:spPr>
              <a:xfrm>
                <a:off x="6600825" y="5295900"/>
                <a:ext cx="9525" cy="9525"/>
              </a:xfrm>
              <a:custGeom>
                <a:avLst/>
                <a:gdLst/>
                <a:ahLst/>
                <a:cxnLst/>
                <a:rect l="l" t="t" r="r" b="b"/>
                <a:pathLst>
                  <a:path w="9525" h="9525">
                    <a:moveTo>
                      <a:pt x="0" y="0"/>
                    </a:moveTo>
                    <a:lnTo>
                      <a:pt x="71" y="0"/>
                    </a:lnTo>
                  </a:path>
                </a:pathLst>
              </a:custGeom>
              <a:noFill/>
              <a:ln w="19050">
                <a:solidFill>
                  <a:srgbClr val="D64545"/>
                </a:solidFill>
              </a:ln>
            </p:spPr>
            <p:txBody>
              <a:bodyPr/>
              <a:p/>
            </p:txBody>
          </p:sp>
        </p:grpSp>
        <p:sp>
          <p:nvSpPr>
            <p:cNvPr id="72" name="TextBox 72"/>
            <p:cNvSpPr txBox="1"/>
            <p:nvPr/>
          </p:nvSpPr>
          <p:spPr>
            <a:xfrm>
              <a:off x="6767512" y="5203031"/>
              <a:ext cx="816173" cy="22860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5" b="1" dirty="0">
                  <a:solidFill>
                    <a:srgbClr val="2B3648"/>
                  </a:solidFill>
                  <a:latin typeface="Arial"/>
                  <a:ea typeface="Microsoft YaHei"/>
                  <a:cs typeface="Arial"/>
                </a:rPr>
                <a:t>一次塞太多</a:t>
              </a:r>
            </a:p>
          </p:txBody>
        </p:sp>
        <p:sp>
          <p:nvSpPr>
            <p:cNvPr id="73" name="TextBox 73"/>
            <p:cNvSpPr txBox="1"/>
            <p:nvPr/>
          </p:nvSpPr>
          <p:spPr>
            <a:xfrm>
              <a:off x="7606665" y="5211128"/>
              <a:ext cx="2301954" cy="21336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050" dirty="0">
                  <a:solidFill>
                    <a:srgbClr val="5B6B82"/>
                  </a:solidFill>
                  <a:latin typeface="Arial"/>
                  <a:ea typeface="Microsoft YaHei"/>
                  <a:cs typeface="Arial"/>
                </a:rPr>
                <a:t>又要图又要视频还要翻译——拆成 3 问</a:t>
              </a:r>
            </a:p>
          </p:txBody>
        </p:sp>
      </p:grpSp>
      <p:grpSp>
        <p:nvGrpSpPr>
          <p:cNvPr id="78" name="Group 78"/>
          <p:cNvGrpSpPr/>
          <p:nvPr/>
        </p:nvGrpSpPr>
        <p:grpSpPr>
          <a:xfrm>
            <a:off x="571500" y="5676900"/>
            <a:ext cx="11049000" cy="457200"/>
            <a:chOff x="571500" y="5676900"/>
            <a:chExt cx="11049000" cy="457200"/>
          </a:xfrm>
        </p:grpSpPr>
        <p:sp>
          <p:nvSpPr>
            <p:cNvPr id="75" name="Rectangle 75"/>
            <p:cNvSpPr/>
            <p:nvPr/>
          </p:nvSpPr>
          <p:spPr>
            <a:xfrm>
              <a:off x="571500" y="5676900"/>
              <a:ext cx="11049000" cy="457200"/>
            </a:xfrm>
            <a:prstGeom prst="roundRect">
              <a:avLst>
                <a:gd name="adj" fmla="val 33333"/>
              </a:avLst>
            </a:prstGeom>
            <a:solidFill>
              <a:srgbClr val="D6E6F9"/>
            </a:solidFill>
            <a:ln>
              <a:noFill/>
            </a:ln>
          </p:spPr>
          <p:txBody>
            <a:bodyPr/>
            <a:p/>
          </p:txBody>
        </p:sp>
        <p:sp>
          <p:nvSpPr>
            <p:cNvPr id="76" name="Rectangle 76"/>
            <p:cNvSpPr/>
            <p:nvPr/>
          </p:nvSpPr>
          <p:spPr>
            <a:xfrm>
              <a:off x="571500" y="5676900"/>
              <a:ext cx="76200" cy="457200"/>
            </a:xfrm>
            <a:prstGeom prst="roundRect">
              <a:avLst>
                <a:gd name="adj" fmla="val 50000"/>
              </a:avLst>
            </a:prstGeom>
            <a:solidFill>
              <a:srgbClr val="1565D8"/>
            </a:solidFill>
            <a:ln>
              <a:noFill/>
            </a:ln>
          </p:spPr>
          <p:txBody>
            <a:bodyPr/>
            <a:p/>
          </p:txBody>
        </p:sp>
        <p:sp>
          <p:nvSpPr>
            <p:cNvPr id="77" name="TextBox 77"/>
            <p:cNvSpPr txBox="1"/>
            <p:nvPr/>
          </p:nvSpPr>
          <p:spPr>
            <a:xfrm>
              <a:off x="859155" y="5826442"/>
              <a:ext cx="2113550" cy="27432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b="1" dirty="0">
                  <a:solidFill>
                    <a:srgbClr val="0B4EA2"/>
                  </a:solidFill>
                  <a:latin typeface="Arial"/>
                  <a:ea typeface="Microsoft YaHei"/>
                  <a:cs typeface="Arial"/>
                </a:rPr>
                <a:t>口诀：一版像，三版好。</a:t>
              </a:r>
            </a:p>
          </p:txBody>
        </p:sp>
      </p:grpSp>
      <p:grpSp>
        <p:nvGrpSpPr>
          <p:cNvPr id="81" name="Group 81"/>
          <p:cNvGrpSpPr/>
          <p:nvPr/>
        </p:nvGrpSpPr>
        <p:grpSpPr>
          <a:xfrm>
            <a:off x="560070" y="6341745"/>
            <a:ext cx="11071860" cy="182880"/>
            <a:chOff x="560070" y="6341745"/>
            <a:chExt cx="11071860" cy="182880"/>
          </a:xfrm>
        </p:grpSpPr>
        <p:sp>
          <p:nvSpPr>
            <p:cNvPr id="79" name="TextBox 79"/>
            <p:cNvSpPr txBox="1"/>
            <p:nvPr/>
          </p:nvSpPr>
          <p:spPr>
            <a:xfrm>
              <a:off x="560070" y="6341745"/>
              <a:ext cx="1054989" cy="18288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00" dirty="0">
                  <a:solidFill>
                    <a:srgbClr val="8B99AE"/>
                  </a:solidFill>
                  <a:latin typeface="Arial"/>
                  <a:ea typeface="Microsoft YaHei"/>
                  <a:cs typeface="Arial"/>
                </a:rPr>
                <a:t>大模型通识 · 企业版</a:t>
              </a:r>
            </a:p>
          </p:txBody>
        </p:sp>
        <p:sp>
          <p:nvSpPr>
            <p:cNvPr id="80" name="TextBox 80"/>
            <p:cNvSpPr txBox="1"/>
            <p:nvPr/>
          </p:nvSpPr>
          <p:spPr>
            <a:xfrm>
              <a:off x="11207020" y="6341745"/>
              <a:ext cx="424910" cy="18288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r"/>
              <a:r>
                <a:rPr lang="zh-CN" sz="900" dirty="0">
                  <a:solidFill>
                    <a:srgbClr val="8B99AE"/>
                  </a:solidFill>
                  <a:latin typeface="Arial"/>
                  <a:ea typeface="Microsoft YaHei"/>
                  <a:cs typeface="Arial"/>
                </a:rPr>
                <a:t>22 / 51</a:t>
              </a:r>
            </a:p>
          </p:txBody>
        </p:sp>
      </p:grpSp>
    </p:spTree>
  </p:cSld>
  <p:clrMapOvr>
    <a:masterClrMapping/>
  </p:clrMapOvr>
  <p:transition xmlns:p14="http://schemas.microsoft.com/office/powerpoint/2010/main" p14:dur="400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3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image">
                                      <p:cBhvr>
                                        <p:cTn id="7" dur="4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900"/>
                            </p:stCondLst>
                            <p:childTnLst>
                              <p:par>
                                <p:cTn id="9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" dur="4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2" fill="hold">
                            <p:stCondLst>
                              <p:cond delay="1800"/>
                            </p:stCondLst>
                            <p:childTnLst>
                              <p:par>
                                <p:cTn id="13" presetID="22" presetClass="entr" presetSubtype="1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5" dur="4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6" fill="hold">
                            <p:stCondLst>
                              <p:cond delay="2700"/>
                            </p:stCondLst>
                            <p:childTnLst>
                              <p:par>
                                <p:cTn id="17" presetID="2" presetClass="entr" presetSubtype="4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slide(fromBottom)">
                                      <p:cBhvr>
                                        <p:cTn id="19" dur="40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0" fill="hold">
                            <p:stCondLst>
                              <p:cond delay="3600"/>
                            </p:stCondLst>
                            <p:childTnLst>
                              <p:par>
                                <p:cTn id="21" presetID="23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image">
                                      <p:cBhvr>
                                        <p:cTn id="23" dur="400"/>
                                        <p:tgtEl>
                                          <p:spTgt spid="5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4" fill="hold">
                            <p:stCondLst>
                              <p:cond delay="4500"/>
                            </p:stCondLst>
                            <p:childTnLst>
                              <p:par>
                                <p:cTn id="25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400"/>
                                        <p:tgtEl>
                                          <p:spTgt spid="7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8" fill="hold">
                            <p:stCondLst>
                              <p:cond delay="5400"/>
                            </p:stCondLst>
                            <p:childTnLst>
                              <p:par>
                                <p:cTn id="29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1" dur="400"/>
                                        <p:tgtEl>
                                          <p:spTgt spid="7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2" grpId="0"/>
      <p:bldP spid="19" grpId="0"/>
      <p:bldP spid="26" grpId="0"/>
      <p:bldP spid="33" grpId="0"/>
      <p:bldP spid="53" grpId="0"/>
      <p:bldP spid="74" grpId="0"/>
      <p:bldP spid="78" grpId="0"/>
    </p:bldLst>
  </p:timing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grpSp>
        <p:nvGrpSpPr>
          <p:cNvPr id="5" name="Group 5"/>
          <p:cNvGrpSpPr/>
          <p:nvPr/>
        </p:nvGrpSpPr>
        <p:grpSpPr>
          <a:xfrm>
            <a:off x="0" y="0"/>
            <a:ext cx="14192250" cy="8953500"/>
            <a:chOff x="0" y="0"/>
            <a:chExt cx="14192250" cy="8953500"/>
          </a:xfrm>
        </p:grpSpPr>
        <p:sp>
          <p:nvSpPr>
            <p:cNvPr id="2" name="Rectangle 2"/>
            <p:cNvSpPr/>
            <p:nvPr/>
          </p:nvSpPr>
          <p:spPr>
            <a:xfrm>
              <a:off x="0" y="0"/>
              <a:ext cx="12192000" cy="6858000"/>
            </a:xfrm>
            <a:prstGeom prst="rect">
              <a:avLst/>
            </a:prstGeom>
            <a:solidFill>
              <a:srgbClr val="F5F7FA"/>
            </a:solidFill>
            <a:ln>
              <a:noFill/>
            </a:ln>
          </p:spPr>
          <p:txBody>
            <a:bodyPr/>
            <a:p/>
          </p:txBody>
        </p:sp>
        <p:sp>
          <p:nvSpPr>
            <p:cNvPr id="3" name="Rectangle 3"/>
            <p:cNvSpPr/>
            <p:nvPr/>
          </p:nvSpPr>
          <p:spPr>
            <a:xfrm>
              <a:off x="0" y="0"/>
              <a:ext cx="12192000" cy="6858000"/>
            </a:xfrm>
            <a:prstGeom prst="rect">
              <a:avLst/>
            </a:prstGeom>
            <a:gradFill>
              <a:gsLst>
                <a:gs pos="0">
                  <a:srgbClr val="1565D8">
                    <a:alpha val="6000"/>
                  </a:srgbClr>
                </a:gs>
                <a:gs pos="100000">
                  <a:srgbClr val="1565D8">
                    <a:alpha val="0"/>
                  </a:srgbClr>
                </a:gs>
              </a:gsLst>
              <a:path path="circle">
                <a:fillToRect l="50000" t="50000" r="50000" b="50000"/>
              </a:path>
            </a:gradFill>
            <a:ln>
              <a:noFill/>
            </a:ln>
          </p:spPr>
          <p:txBody>
            <a:bodyPr/>
            <a:p/>
          </p:txBody>
        </p:sp>
        <p:sp>
          <p:nvSpPr>
            <p:cNvPr id="4" name="Ellipse 4"/>
            <p:cNvSpPr/>
            <p:nvPr/>
          </p:nvSpPr>
          <p:spPr>
            <a:xfrm>
              <a:off x="9620250" y="4381500"/>
              <a:ext cx="4572000" cy="4572000"/>
            </a:xfrm>
            <a:prstGeom prst="ellipse">
              <a:avLst/>
            </a:prstGeom>
            <a:noFill/>
            <a:ln w="14288">
              <a:solidFill>
                <a:srgbClr val="D6E6F9">
                  <a:alpha val="80000"/>
                </a:srgbClr>
              </a:solidFill>
            </a:ln>
          </p:spPr>
          <p:txBody>
            <a:bodyPr/>
            <a:p/>
          </p:txBody>
        </p:sp>
      </p:grpSp>
      <p:grpSp>
        <p:nvGrpSpPr>
          <p:cNvPr id="9" name="Group 9"/>
          <p:cNvGrpSpPr/>
          <p:nvPr/>
        </p:nvGrpSpPr>
        <p:grpSpPr>
          <a:xfrm>
            <a:off x="571500" y="685800"/>
            <a:ext cx="4764310" cy="700088"/>
            <a:chOff x="571500" y="685800"/>
            <a:chExt cx="4764310" cy="700088"/>
          </a:xfrm>
        </p:grpSpPr>
        <p:sp>
          <p:nvSpPr>
            <p:cNvPr id="6" name="Rectangle 6"/>
            <p:cNvSpPr/>
            <p:nvPr/>
          </p:nvSpPr>
          <p:spPr>
            <a:xfrm>
              <a:off x="571500" y="685800"/>
              <a:ext cx="76200" cy="323850"/>
            </a:xfrm>
            <a:prstGeom prst="roundRect">
              <a:avLst>
                <a:gd name="adj" fmla="val 50000"/>
              </a:avLst>
            </a:prstGeom>
            <a:solidFill>
              <a:srgbClr val="1565D8"/>
            </a:solidFill>
            <a:ln>
              <a:noFill/>
            </a:ln>
          </p:spPr>
          <p:txBody>
            <a:bodyPr/>
            <a:p/>
          </p:txBody>
        </p:sp>
        <p:sp>
          <p:nvSpPr>
            <p:cNvPr id="7" name="TextBox 7"/>
            <p:cNvSpPr txBox="1"/>
            <p:nvPr/>
          </p:nvSpPr>
          <p:spPr>
            <a:xfrm>
              <a:off x="771525" y="700088"/>
              <a:ext cx="2939760" cy="45720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2250" b="1" dirty="0">
                  <a:solidFill>
                    <a:srgbClr val="2B3648"/>
                  </a:solidFill>
                  <a:latin typeface="Arial"/>
                  <a:ea typeface="Microsoft YaHei"/>
                  <a:cs typeface="Arial"/>
                </a:rPr>
                <a:t>进阶：4 招更听话</a:t>
              </a:r>
            </a:p>
          </p:txBody>
        </p:sp>
        <p:sp>
          <p:nvSpPr>
            <p:cNvPr id="8" name="TextBox 8"/>
            <p:cNvSpPr txBox="1"/>
            <p:nvPr/>
          </p:nvSpPr>
          <p:spPr>
            <a:xfrm>
              <a:off x="782955" y="1111568"/>
              <a:ext cx="4552855" cy="27432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5B6B82"/>
                  </a:solidFill>
                  <a:latin typeface="Arial"/>
                  <a:ea typeface="Microsoft YaHei"/>
                  <a:cs typeface="Arial"/>
                </a:rPr>
                <a:t>五要素是及格线——这 4 招，从「能用」到「好用」</a:t>
              </a:r>
            </a:p>
          </p:txBody>
        </p:sp>
      </p:grpSp>
      <p:grpSp>
        <p:nvGrpSpPr>
          <p:cNvPr id="12" name="Group 12"/>
          <p:cNvGrpSpPr/>
          <p:nvPr/>
        </p:nvGrpSpPr>
        <p:grpSpPr>
          <a:xfrm>
            <a:off x="4000500" y="1952625"/>
            <a:ext cx="4191000" cy="1"/>
            <a:chOff x="4000500" y="1952625"/>
            <a:chExt cx="4191000" cy="1"/>
          </a:xfrm>
        </p:grpSpPr>
        <p:sp>
          <p:nvSpPr>
            <p:cNvPr id="10" name="Line 10"/>
            <p:cNvSpPr/>
            <p:nvPr/>
          </p:nvSpPr>
          <p:spPr>
            <a:xfrm>
              <a:off x="4000500" y="1952625"/>
              <a:ext cx="285750" cy="1"/>
            </a:xfrm>
            <a:prstGeom prst="line">
              <a:avLst/>
            </a:prstGeom>
            <a:noFill/>
            <a:ln w="23812">
              <a:solidFill>
                <a:srgbClr val="1565D8"/>
              </a:solidFill>
              <a:tailEnd type="triangle" w="lg" len="lg"/>
            </a:ln>
          </p:spPr>
          <p:txBody>
            <a:bodyPr/>
            <a:p/>
          </p:txBody>
        </p:sp>
        <p:sp>
          <p:nvSpPr>
            <p:cNvPr id="11" name="Line 11"/>
            <p:cNvSpPr/>
            <p:nvPr/>
          </p:nvSpPr>
          <p:spPr>
            <a:xfrm>
              <a:off x="7905750" y="1952625"/>
              <a:ext cx="285750" cy="1"/>
            </a:xfrm>
            <a:prstGeom prst="line">
              <a:avLst/>
            </a:prstGeom>
            <a:noFill/>
            <a:ln w="23812">
              <a:solidFill>
                <a:srgbClr val="1565D8"/>
              </a:solidFill>
              <a:tailEnd type="triangle" w="lg" len="lg"/>
            </a:ln>
          </p:spPr>
          <p:txBody>
            <a:bodyPr/>
            <a:p/>
          </p:txBody>
        </p:sp>
      </p:grpSp>
      <p:grpSp>
        <p:nvGrpSpPr>
          <p:cNvPr id="19" name="Group 19"/>
          <p:cNvGrpSpPr/>
          <p:nvPr/>
        </p:nvGrpSpPr>
        <p:grpSpPr>
          <a:xfrm>
            <a:off x="571500" y="1685925"/>
            <a:ext cx="3429000" cy="2076450"/>
            <a:chOff x="571500" y="1685925"/>
            <a:chExt cx="3429000" cy="2076450"/>
          </a:xfrm>
        </p:grpSpPr>
        <p:sp>
          <p:nvSpPr>
            <p:cNvPr id="13" name="Ellipse 13"/>
            <p:cNvSpPr/>
            <p:nvPr/>
          </p:nvSpPr>
          <p:spPr>
            <a:xfrm>
              <a:off x="2019300" y="1685925"/>
              <a:ext cx="533400" cy="533400"/>
            </a:xfrm>
            <a:prstGeom prst="ellipse">
              <a:avLst/>
            </a:prstGeom>
            <a:solidFill>
              <a:srgbClr val="35A3E8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4" name="TextBox 14"/>
            <p:cNvSpPr txBox="1"/>
            <p:nvPr/>
          </p:nvSpPr>
          <p:spPr>
            <a:xfrm>
              <a:off x="2164892" y="1883092"/>
              <a:ext cx="242216" cy="27432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350" b="1" dirty="0">
                  <a:solidFill>
                    <a:srgbClr val="FFFFFF"/>
                  </a:solidFill>
                  <a:latin typeface="Arial"/>
                  <a:ea typeface="Microsoft YaHei"/>
                  <a:cs typeface="Arial"/>
                </a:rPr>
                <a:t>招 1</a:t>
              </a:r>
            </a:p>
          </p:txBody>
        </p:sp>
        <p:sp>
          <p:nvSpPr>
            <p:cNvPr id="15" name="Rectangle 15"/>
            <p:cNvSpPr/>
            <p:nvPr/>
          </p:nvSpPr>
          <p:spPr>
            <a:xfrm>
              <a:off x="571500" y="2333625"/>
              <a:ext cx="3429000" cy="1428750"/>
            </a:xfrm>
            <a:prstGeom prst="roundRect">
              <a:avLst>
                <a:gd name="adj" fmla="val 10667"/>
              </a:avLst>
            </a:prstGeom>
            <a:solidFill>
              <a:srgbClr val="FFFFFF"/>
            </a:solidFill>
            <a:ln w="9525">
              <a:solidFill>
                <a:srgbClr val="D8E1EC"/>
              </a:solidFill>
            </a:ln>
          </p:spPr>
          <p:txBody>
            <a:bodyPr/>
            <a:p/>
          </p:txBody>
        </p:sp>
        <p:sp>
          <p:nvSpPr>
            <p:cNvPr id="16" name="TextBox 16"/>
            <p:cNvSpPr txBox="1"/>
            <p:nvPr/>
          </p:nvSpPr>
          <p:spPr>
            <a:xfrm>
              <a:off x="781050" y="2552700"/>
              <a:ext cx="458152" cy="30480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00" b="1" dirty="0">
                  <a:solidFill>
                    <a:srgbClr val="2B3648"/>
                  </a:solidFill>
                  <a:latin typeface="Arial"/>
                  <a:ea typeface="Microsoft YaHei"/>
                  <a:cs typeface="Arial"/>
                </a:rPr>
                <a:t>反问</a:t>
              </a:r>
            </a:p>
          </p:txBody>
        </p:sp>
        <p:sp>
          <p:nvSpPr>
            <p:cNvPr id="17" name="TextBox 17"/>
            <p:cNvSpPr txBox="1"/>
            <p:nvPr/>
          </p:nvSpPr>
          <p:spPr>
            <a:xfrm>
              <a:off x="786765" y="2953702"/>
              <a:ext cx="1286828" cy="21336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050" dirty="0">
                  <a:solidFill>
                    <a:srgbClr val="5B6B82"/>
                  </a:solidFill>
                  <a:latin typeface="Arial"/>
                  <a:ea typeface="Microsoft YaHei"/>
                  <a:cs typeface="Arial"/>
                </a:rPr>
                <a:t>先问我 3 个问题</a:t>
              </a:r>
            </a:p>
          </p:txBody>
        </p:sp>
        <p:sp>
          <p:nvSpPr>
            <p:cNvPr id="18" name="TextBox 18"/>
            <p:cNvSpPr txBox="1"/>
            <p:nvPr/>
          </p:nvSpPr>
          <p:spPr>
            <a:xfrm>
              <a:off x="786765" y="3201352"/>
              <a:ext cx="1426845" cy="21336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050" dirty="0">
                  <a:solidFill>
                    <a:srgbClr val="5B6B82"/>
                  </a:solidFill>
                  <a:latin typeface="Arial"/>
                  <a:ea typeface="Microsoft YaHei"/>
                  <a:cs typeface="Arial"/>
                </a:rPr>
                <a:t>真懂需求再动手</a:t>
              </a:r>
            </a:p>
          </p:txBody>
        </p:sp>
      </p:grpSp>
      <p:grpSp>
        <p:nvGrpSpPr>
          <p:cNvPr id="26" name="Group 26"/>
          <p:cNvGrpSpPr/>
          <p:nvPr/>
        </p:nvGrpSpPr>
        <p:grpSpPr>
          <a:xfrm>
            <a:off x="4381500" y="1685925"/>
            <a:ext cx="3429000" cy="2076450"/>
            <a:chOff x="4381500" y="1685925"/>
            <a:chExt cx="3429000" cy="2076450"/>
          </a:xfrm>
        </p:grpSpPr>
        <p:sp>
          <p:nvSpPr>
            <p:cNvPr id="20" name="Ellipse 20"/>
            <p:cNvSpPr/>
            <p:nvPr/>
          </p:nvSpPr>
          <p:spPr>
            <a:xfrm>
              <a:off x="5829300" y="1685925"/>
              <a:ext cx="533400" cy="533400"/>
            </a:xfrm>
            <a:prstGeom prst="ellipse">
              <a:avLst/>
            </a:prstGeom>
            <a:solidFill>
              <a:srgbClr val="1565D8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1" name="TextBox 21"/>
            <p:cNvSpPr txBox="1"/>
            <p:nvPr/>
          </p:nvSpPr>
          <p:spPr>
            <a:xfrm>
              <a:off x="5974892" y="1883092"/>
              <a:ext cx="242216" cy="27432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350" b="1" dirty="0">
                  <a:solidFill>
                    <a:srgbClr val="FFFFFF"/>
                  </a:solidFill>
                  <a:latin typeface="Arial"/>
                  <a:ea typeface="Microsoft YaHei"/>
                  <a:cs typeface="Arial"/>
                </a:rPr>
                <a:t>招 2</a:t>
              </a:r>
            </a:p>
          </p:txBody>
        </p:sp>
        <p:sp>
          <p:nvSpPr>
            <p:cNvPr id="22" name="Rectangle 22"/>
            <p:cNvSpPr/>
            <p:nvPr/>
          </p:nvSpPr>
          <p:spPr>
            <a:xfrm>
              <a:off x="4381500" y="2333625"/>
              <a:ext cx="3429000" cy="1428750"/>
            </a:xfrm>
            <a:prstGeom prst="roundRect">
              <a:avLst>
                <a:gd name="adj" fmla="val 10667"/>
              </a:avLst>
            </a:prstGeom>
            <a:solidFill>
              <a:srgbClr val="FFFFFF"/>
            </a:solidFill>
            <a:ln w="9525">
              <a:solidFill>
                <a:srgbClr val="D8E1EC"/>
              </a:solidFill>
            </a:ln>
          </p:spPr>
          <p:txBody>
            <a:bodyPr/>
            <a:p/>
          </p:txBody>
        </p:sp>
        <p:sp>
          <p:nvSpPr>
            <p:cNvPr id="23" name="TextBox 23"/>
            <p:cNvSpPr txBox="1"/>
            <p:nvPr/>
          </p:nvSpPr>
          <p:spPr>
            <a:xfrm>
              <a:off x="4591050" y="2552700"/>
              <a:ext cx="1718310" cy="30480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00" b="1" dirty="0">
                  <a:solidFill>
                    <a:srgbClr val="2B3648"/>
                  </a:solidFill>
                  <a:latin typeface="Arial"/>
                  <a:ea typeface="Microsoft YaHei"/>
                  <a:cs typeface="Arial"/>
                </a:rPr>
                <a:t>做成模板</a:t>
              </a:r>
            </a:p>
          </p:txBody>
        </p:sp>
        <p:sp>
          <p:nvSpPr>
            <p:cNvPr id="24" name="TextBox 24"/>
            <p:cNvSpPr txBox="1"/>
            <p:nvPr/>
          </p:nvSpPr>
          <p:spPr>
            <a:xfrm>
              <a:off x="4596765" y="2953702"/>
              <a:ext cx="1566863" cy="21336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050" dirty="0">
                  <a:solidFill>
                    <a:srgbClr val="5B6B82"/>
                  </a:solidFill>
                  <a:latin typeface="Arial"/>
                  <a:ea typeface="Microsoft YaHei"/>
                  <a:cs typeface="Arial"/>
                </a:rPr>
                <a:t>高频任务做成模板</a:t>
              </a:r>
            </a:p>
          </p:txBody>
        </p:sp>
        <p:sp>
          <p:nvSpPr>
            <p:cNvPr id="25" name="TextBox 25"/>
            <p:cNvSpPr txBox="1"/>
            <p:nvPr/>
          </p:nvSpPr>
          <p:spPr>
            <a:xfrm>
              <a:off x="4596765" y="3201352"/>
              <a:ext cx="866775" cy="21336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050" dirty="0">
                  <a:solidFill>
                    <a:srgbClr val="5B6B82"/>
                  </a:solidFill>
                  <a:latin typeface="Arial"/>
                  <a:ea typeface="Microsoft YaHei"/>
                  <a:cs typeface="Arial"/>
                </a:rPr>
                <a:t>越用越准</a:t>
              </a:r>
            </a:p>
          </p:txBody>
        </p:sp>
      </p:grpSp>
      <p:grpSp>
        <p:nvGrpSpPr>
          <p:cNvPr id="33" name="Group 33"/>
          <p:cNvGrpSpPr/>
          <p:nvPr/>
        </p:nvGrpSpPr>
        <p:grpSpPr>
          <a:xfrm>
            <a:off x="8191500" y="1685925"/>
            <a:ext cx="3429000" cy="2076450"/>
            <a:chOff x="8191500" y="1685925"/>
            <a:chExt cx="3429000" cy="2076450"/>
          </a:xfrm>
        </p:grpSpPr>
        <p:sp>
          <p:nvSpPr>
            <p:cNvPr id="27" name="Ellipse 27"/>
            <p:cNvSpPr/>
            <p:nvPr/>
          </p:nvSpPr>
          <p:spPr>
            <a:xfrm>
              <a:off x="9639300" y="1685925"/>
              <a:ext cx="533400" cy="533400"/>
            </a:xfrm>
            <a:prstGeom prst="ellipse">
              <a:avLst/>
            </a:prstGeom>
            <a:solidFill>
              <a:srgbClr val="0B4EA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8" name="TextBox 28"/>
            <p:cNvSpPr txBox="1"/>
            <p:nvPr/>
          </p:nvSpPr>
          <p:spPr>
            <a:xfrm>
              <a:off x="9784892" y="1883092"/>
              <a:ext cx="242216" cy="27432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350" b="1" dirty="0">
                  <a:solidFill>
                    <a:srgbClr val="FFFFFF"/>
                  </a:solidFill>
                  <a:latin typeface="Arial"/>
                  <a:ea typeface="Microsoft YaHei"/>
                  <a:cs typeface="Arial"/>
                </a:rPr>
                <a:t>招 3</a:t>
              </a:r>
            </a:p>
          </p:txBody>
        </p:sp>
        <p:sp>
          <p:nvSpPr>
            <p:cNvPr id="29" name="Rectangle 29"/>
            <p:cNvSpPr/>
            <p:nvPr/>
          </p:nvSpPr>
          <p:spPr>
            <a:xfrm>
              <a:off x="8191500" y="2333625"/>
              <a:ext cx="3429000" cy="1428750"/>
            </a:xfrm>
            <a:prstGeom prst="roundRect">
              <a:avLst>
                <a:gd name="adj" fmla="val 10667"/>
              </a:avLst>
            </a:prstGeom>
            <a:solidFill>
              <a:srgbClr val="FFFFFF"/>
            </a:solidFill>
            <a:ln w="9525">
              <a:solidFill>
                <a:srgbClr val="D8E1EC"/>
              </a:solidFill>
            </a:ln>
          </p:spPr>
          <p:txBody>
            <a:bodyPr/>
            <a:p/>
          </p:txBody>
        </p:sp>
        <p:sp>
          <p:nvSpPr>
            <p:cNvPr id="30" name="TextBox 30"/>
            <p:cNvSpPr txBox="1"/>
            <p:nvPr/>
          </p:nvSpPr>
          <p:spPr>
            <a:xfrm>
              <a:off x="8401050" y="2552700"/>
              <a:ext cx="878205" cy="30480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00" b="1" dirty="0">
                  <a:solidFill>
                    <a:srgbClr val="2B3648"/>
                  </a:solidFill>
                  <a:latin typeface="Arial"/>
                  <a:ea typeface="Microsoft YaHei"/>
                  <a:cs typeface="Arial"/>
                </a:rPr>
                <a:t>正向指令</a:t>
              </a:r>
            </a:p>
          </p:txBody>
        </p:sp>
        <p:sp>
          <p:nvSpPr>
            <p:cNvPr id="31" name="TextBox 31"/>
            <p:cNvSpPr txBox="1"/>
            <p:nvPr/>
          </p:nvSpPr>
          <p:spPr>
            <a:xfrm>
              <a:off x="8406765" y="2953702"/>
              <a:ext cx="1566863" cy="21336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050" dirty="0">
                  <a:solidFill>
                    <a:srgbClr val="5B6B82"/>
                  </a:solidFill>
                  <a:latin typeface="Arial"/>
                  <a:ea typeface="Microsoft YaHei"/>
                  <a:cs typeface="Arial"/>
                </a:rPr>
                <a:t>说「控制在 300 字内」</a:t>
              </a:r>
            </a:p>
          </p:txBody>
        </p:sp>
        <p:sp>
          <p:nvSpPr>
            <p:cNvPr id="32" name="TextBox 32"/>
            <p:cNvSpPr txBox="1"/>
            <p:nvPr/>
          </p:nvSpPr>
          <p:spPr>
            <a:xfrm>
              <a:off x="8406765" y="3201352"/>
              <a:ext cx="1482852" cy="21336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050" dirty="0">
                  <a:solidFill>
                    <a:srgbClr val="5B6B82"/>
                  </a:solidFill>
                  <a:latin typeface="Arial"/>
                  <a:ea typeface="Microsoft YaHei"/>
                  <a:cs typeface="Arial"/>
                </a:rPr>
                <a:t>别说「不要太长」</a:t>
              </a:r>
            </a:p>
          </p:txBody>
        </p:sp>
      </p:grpSp>
      <p:grpSp>
        <p:nvGrpSpPr>
          <p:cNvPr id="53" name="Group 53"/>
          <p:cNvGrpSpPr/>
          <p:nvPr/>
        </p:nvGrpSpPr>
        <p:grpSpPr>
          <a:xfrm>
            <a:off x="571500" y="4000500"/>
            <a:ext cx="5334000" cy="1485900"/>
            <a:chOff x="571500" y="4000500"/>
            <a:chExt cx="5334000" cy="1485900"/>
          </a:xfrm>
        </p:grpSpPr>
        <p:sp>
          <p:nvSpPr>
            <p:cNvPr id="34" name="Rectangle 34"/>
            <p:cNvSpPr/>
            <p:nvPr/>
          </p:nvSpPr>
          <p:spPr>
            <a:xfrm>
              <a:off x="571500" y="4000500"/>
              <a:ext cx="5334000" cy="1485900"/>
            </a:xfrm>
            <a:prstGeom prst="roundRect">
              <a:avLst>
                <a:gd name="adj" fmla="val 10256"/>
              </a:avLst>
            </a:prstGeom>
            <a:solidFill>
              <a:srgbClr val="FFFFFF"/>
            </a:solidFill>
            <a:ln w="9525">
              <a:solidFill>
                <a:srgbClr val="D8E1EC"/>
              </a:solidFill>
            </a:ln>
          </p:spPr>
          <p:txBody>
            <a:bodyPr/>
            <a:p/>
          </p:txBody>
        </p:sp>
        <p:sp>
          <p:nvSpPr>
            <p:cNvPr id="35" name="TextBox 35"/>
            <p:cNvSpPr txBox="1"/>
            <p:nvPr/>
          </p:nvSpPr>
          <p:spPr>
            <a:xfrm>
              <a:off x="782955" y="4159568"/>
              <a:ext cx="1055018" cy="27432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b="1" dirty="0">
                  <a:solidFill>
                    <a:srgbClr val="1565D8"/>
                  </a:solidFill>
                  <a:latin typeface="Arial"/>
                  <a:ea typeface="Microsoft YaHei"/>
                  <a:cs typeface="Arial"/>
                </a:rPr>
                <a:t>招 4 + 框架</a:t>
              </a:r>
            </a:p>
          </p:txBody>
        </p:sp>
        <p:sp>
          <p:nvSpPr>
            <p:cNvPr id="36" name="Ellipse 36"/>
            <p:cNvSpPr/>
            <p:nvPr/>
          </p:nvSpPr>
          <p:spPr>
            <a:xfrm>
              <a:off x="781050" y="4514850"/>
              <a:ext cx="304800" cy="304800"/>
            </a:xfrm>
            <a:prstGeom prst="ellipse">
              <a:avLst/>
            </a:prstGeom>
            <a:solidFill>
              <a:srgbClr val="D6E6F9"/>
            </a:solidFill>
            <a:ln>
              <a:noFill/>
            </a:ln>
          </p:spPr>
          <p:txBody>
            <a:bodyPr/>
            <a:p/>
          </p:txBody>
        </p:sp>
        <p:grpSp>
          <p:nvGrpSpPr>
            <p:cNvPr id="40" name="Group 40"/>
            <p:cNvGrpSpPr/>
            <p:nvPr/>
          </p:nvGrpSpPr>
          <p:grpSpPr>
            <a:xfrm>
              <a:off x="876300" y="4610100"/>
              <a:ext cx="114300" cy="114300"/>
              <a:chOff x="876300" y="4610100"/>
              <a:chExt cx="114300" cy="114300"/>
            </a:xfrm>
          </p:grpSpPr>
          <p:sp>
            <p:nvSpPr>
              <p:cNvPr id="37" name="Freeform 37"/>
              <p:cNvSpPr/>
              <p:nvPr/>
            </p:nvSpPr>
            <p:spPr>
              <a:xfrm>
                <a:off x="876300" y="4610100"/>
                <a:ext cx="114300" cy="57150"/>
              </a:xfrm>
              <a:custGeom>
                <a:avLst/>
                <a:gdLst/>
                <a:ahLst/>
                <a:cxnLst/>
                <a:rect l="l" t="t" r="r" b="b"/>
                <a:pathLst>
                  <a:path w="114300" h="57150">
                    <a:moveTo>
                      <a:pt x="0" y="57150"/>
                    </a:moveTo>
                    <a:lnTo>
                      <a:pt x="6350" y="57150"/>
                    </a:lnTo>
                    <a:moveTo>
                      <a:pt x="57150" y="0"/>
                    </a:moveTo>
                    <a:lnTo>
                      <a:pt x="57150" y="6350"/>
                    </a:lnTo>
                    <a:moveTo>
                      <a:pt x="107950" y="57150"/>
                    </a:moveTo>
                    <a:lnTo>
                      <a:pt x="114300" y="57150"/>
                    </a:lnTo>
                    <a:moveTo>
                      <a:pt x="16510" y="16510"/>
                    </a:moveTo>
                    <a:lnTo>
                      <a:pt x="20955" y="20955"/>
                    </a:lnTo>
                    <a:moveTo>
                      <a:pt x="97790" y="16510"/>
                    </a:moveTo>
                    <a:lnTo>
                      <a:pt x="93345" y="20955"/>
                    </a:lnTo>
                  </a:path>
                </a:pathLst>
              </a:custGeom>
              <a:noFill/>
              <a:ln w="19050">
                <a:solidFill>
                  <a:srgbClr val="1565D8"/>
                </a:solidFill>
              </a:ln>
            </p:spPr>
            <p:txBody>
              <a:bodyPr/>
              <a:p/>
            </p:txBody>
          </p:sp>
          <p:sp>
            <p:nvSpPr>
              <p:cNvPr id="38" name="Freeform 38"/>
              <p:cNvSpPr/>
              <p:nvPr/>
            </p:nvSpPr>
            <p:spPr>
              <a:xfrm>
                <a:off x="899008" y="4635500"/>
                <a:ext cx="68885" cy="88900"/>
              </a:xfrm>
              <a:custGeom>
                <a:avLst/>
                <a:gdLst/>
                <a:ahLst/>
                <a:cxnLst/>
                <a:rect l="l" t="t" r="r" b="b"/>
                <a:pathLst>
                  <a:path w="68885" h="88900">
                    <a:moveTo>
                      <a:pt x="15392" y="57150"/>
                    </a:moveTo>
                    <a:cubicBezTo>
                      <a:pt x="4459" y="48950"/>
                      <a:pt x="0" y="34675"/>
                      <a:pt x="4322" y="21710"/>
                    </a:cubicBezTo>
                    <a:cubicBezTo>
                      <a:pt x="8643" y="8745"/>
                      <a:pt x="20776" y="0"/>
                      <a:pt x="34442" y="0"/>
                    </a:cubicBezTo>
                    <a:cubicBezTo>
                      <a:pt x="48108" y="0"/>
                      <a:pt x="60241" y="8745"/>
                      <a:pt x="64563" y="21710"/>
                    </a:cubicBezTo>
                    <a:cubicBezTo>
                      <a:pt x="68885" y="34675"/>
                      <a:pt x="64425" y="48950"/>
                      <a:pt x="53492" y="57150"/>
                    </a:cubicBezTo>
                    <a:cubicBezTo>
                      <a:pt x="48464" y="62127"/>
                      <a:pt x="46106" y="69201"/>
                      <a:pt x="47142" y="76200"/>
                    </a:cubicBezTo>
                    <a:cubicBezTo>
                      <a:pt x="47142" y="83214"/>
                      <a:pt x="41456" y="88900"/>
                      <a:pt x="34442" y="88900"/>
                    </a:cubicBezTo>
                    <a:cubicBezTo>
                      <a:pt x="27428" y="88900"/>
                      <a:pt x="21742" y="83214"/>
                      <a:pt x="21742" y="76200"/>
                    </a:cubicBezTo>
                    <a:cubicBezTo>
                      <a:pt x="22778" y="69201"/>
                      <a:pt x="20420" y="62127"/>
                      <a:pt x="15392" y="57150"/>
                    </a:cubicBezTo>
                  </a:path>
                </a:pathLst>
              </a:custGeom>
              <a:noFill/>
              <a:ln w="19050">
                <a:solidFill>
                  <a:srgbClr val="1565D8"/>
                </a:solidFill>
              </a:ln>
            </p:spPr>
            <p:txBody>
              <a:bodyPr/>
              <a:p/>
            </p:txBody>
          </p:sp>
          <p:sp>
            <p:nvSpPr>
              <p:cNvPr id="39" name="Freeform 39"/>
              <p:cNvSpPr/>
              <p:nvPr/>
            </p:nvSpPr>
            <p:spPr>
              <a:xfrm>
                <a:off x="918845" y="4699000"/>
                <a:ext cx="29210" cy="9525"/>
              </a:xfrm>
              <a:custGeom>
                <a:avLst/>
                <a:gdLst/>
                <a:ahLst/>
                <a:cxnLst/>
                <a:rect l="l" t="t" r="r" b="b"/>
                <a:pathLst>
                  <a:path w="29210" h="9525">
                    <a:moveTo>
                      <a:pt x="0" y="0"/>
                    </a:moveTo>
                    <a:lnTo>
                      <a:pt x="29210" y="0"/>
                    </a:lnTo>
                  </a:path>
                </a:pathLst>
              </a:custGeom>
              <a:noFill/>
              <a:ln w="19050">
                <a:solidFill>
                  <a:srgbClr val="1565D8"/>
                </a:solidFill>
              </a:ln>
            </p:spPr>
            <p:txBody>
              <a:bodyPr/>
              <a:p/>
            </p:txBody>
          </p:sp>
        </p:grpSp>
        <p:sp>
          <p:nvSpPr>
            <p:cNvPr id="41" name="TextBox 41"/>
            <p:cNvSpPr txBox="1"/>
            <p:nvPr/>
          </p:nvSpPr>
          <p:spPr>
            <a:xfrm>
              <a:off x="1185862" y="4517231"/>
              <a:ext cx="501134" cy="22860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5" b="1" dirty="0">
                  <a:solidFill>
                    <a:srgbClr val="2B3648"/>
                  </a:solidFill>
                  <a:latin typeface="Arial"/>
                  <a:ea typeface="Microsoft YaHei"/>
                  <a:cs typeface="Arial"/>
                </a:rPr>
                <a:t>自查</a:t>
              </a:r>
            </a:p>
          </p:txBody>
        </p:sp>
        <p:sp>
          <p:nvSpPr>
            <p:cNvPr id="42" name="TextBox 42"/>
            <p:cNvSpPr txBox="1"/>
            <p:nvPr/>
          </p:nvSpPr>
          <p:spPr>
            <a:xfrm>
              <a:off x="1186815" y="4744402"/>
              <a:ext cx="3163062" cy="21336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050" dirty="0">
                  <a:solidFill>
                    <a:srgbClr val="5B6B82"/>
                  </a:solidFill>
                  <a:latin typeface="Arial"/>
                  <a:ea typeface="Microsoft YaHei"/>
                  <a:cs typeface="Arial"/>
                </a:rPr>
                <a:t>「先给答案，再检查错误并修正」</a:t>
              </a:r>
            </a:p>
          </p:txBody>
        </p:sp>
        <p:sp>
          <p:nvSpPr>
            <p:cNvPr id="43" name="Ellipse 43"/>
            <p:cNvSpPr/>
            <p:nvPr/>
          </p:nvSpPr>
          <p:spPr>
            <a:xfrm>
              <a:off x="781050" y="5010150"/>
              <a:ext cx="304800" cy="304800"/>
            </a:xfrm>
            <a:prstGeom prst="ellipse">
              <a:avLst/>
            </a:prstGeom>
            <a:solidFill>
              <a:srgbClr val="D6E6F9"/>
            </a:solidFill>
            <a:ln>
              <a:noFill/>
            </a:ln>
          </p:spPr>
          <p:txBody>
            <a:bodyPr/>
            <a:p/>
          </p:txBody>
        </p:sp>
        <p:grpSp>
          <p:nvGrpSpPr>
            <p:cNvPr id="50" name="Group 50"/>
            <p:cNvGrpSpPr/>
            <p:nvPr/>
          </p:nvGrpSpPr>
          <p:grpSpPr>
            <a:xfrm>
              <a:off x="876300" y="5105400"/>
              <a:ext cx="114300" cy="114300"/>
              <a:chOff x="876300" y="5105400"/>
              <a:chExt cx="114300" cy="114300"/>
            </a:xfrm>
          </p:grpSpPr>
          <p:sp>
            <p:nvSpPr>
              <p:cNvPr id="44" name="Freeform 44"/>
              <p:cNvSpPr/>
              <p:nvPr/>
            </p:nvSpPr>
            <p:spPr>
              <a:xfrm>
                <a:off x="933450" y="5168900"/>
                <a:ext cx="44450" cy="50800"/>
              </a:xfrm>
              <a:custGeom>
                <a:avLst/>
                <a:gdLst/>
                <a:ahLst/>
                <a:cxnLst/>
                <a:rect l="l" t="t" r="r" b="b"/>
                <a:pathLst>
                  <a:path w="44450" h="50800">
                    <a:moveTo>
                      <a:pt x="22225" y="0"/>
                    </a:moveTo>
                    <a:cubicBezTo>
                      <a:pt x="9950" y="0"/>
                      <a:pt x="0" y="9950"/>
                      <a:pt x="0" y="22225"/>
                    </a:cubicBezTo>
                    <a:lnTo>
                      <a:pt x="0" y="28575"/>
                    </a:lnTo>
                    <a:cubicBezTo>
                      <a:pt x="0" y="40850"/>
                      <a:pt x="9950" y="50800"/>
                      <a:pt x="22225" y="50800"/>
                    </a:cubicBezTo>
                    <a:cubicBezTo>
                      <a:pt x="34500" y="50800"/>
                      <a:pt x="44450" y="40850"/>
                      <a:pt x="44450" y="28575"/>
                    </a:cubicBezTo>
                    <a:lnTo>
                      <a:pt x="44450" y="17145"/>
                    </a:lnTo>
                  </a:path>
                </a:pathLst>
              </a:custGeom>
              <a:noFill/>
              <a:ln w="19050">
                <a:solidFill>
                  <a:srgbClr val="1565D8"/>
                </a:solidFill>
              </a:ln>
            </p:spPr>
            <p:txBody>
              <a:bodyPr/>
              <a:p/>
            </p:txBody>
          </p:sp>
          <p:sp>
            <p:nvSpPr>
              <p:cNvPr id="45" name="Freeform 45"/>
              <p:cNvSpPr/>
              <p:nvPr/>
            </p:nvSpPr>
            <p:spPr>
              <a:xfrm>
                <a:off x="889000" y="5168900"/>
                <a:ext cx="44450" cy="50800"/>
              </a:xfrm>
              <a:custGeom>
                <a:avLst/>
                <a:gdLst/>
                <a:ahLst/>
                <a:cxnLst/>
                <a:rect l="l" t="t" r="r" b="b"/>
                <a:pathLst>
                  <a:path w="44450" h="50800">
                    <a:moveTo>
                      <a:pt x="22225" y="0"/>
                    </a:moveTo>
                    <a:cubicBezTo>
                      <a:pt x="34500" y="0"/>
                      <a:pt x="44450" y="9950"/>
                      <a:pt x="44450" y="22225"/>
                    </a:cubicBezTo>
                    <a:lnTo>
                      <a:pt x="44450" y="28575"/>
                    </a:lnTo>
                    <a:cubicBezTo>
                      <a:pt x="44450" y="40850"/>
                      <a:pt x="34500" y="50800"/>
                      <a:pt x="22225" y="50800"/>
                    </a:cubicBezTo>
                    <a:cubicBezTo>
                      <a:pt x="9950" y="50800"/>
                      <a:pt x="0" y="40850"/>
                      <a:pt x="0" y="28575"/>
                    </a:cubicBezTo>
                    <a:lnTo>
                      <a:pt x="0" y="17145"/>
                    </a:lnTo>
                  </a:path>
                </a:pathLst>
              </a:custGeom>
              <a:noFill/>
              <a:ln w="19050">
                <a:solidFill>
                  <a:srgbClr val="1565D8"/>
                </a:solidFill>
              </a:ln>
            </p:spPr>
            <p:txBody>
              <a:bodyPr/>
              <a:p/>
            </p:txBody>
          </p:sp>
          <p:sp>
            <p:nvSpPr>
              <p:cNvPr id="46" name="Freeform 46"/>
              <p:cNvSpPr/>
              <p:nvPr/>
            </p:nvSpPr>
            <p:spPr>
              <a:xfrm>
                <a:off x="965200" y="5143500"/>
                <a:ext cx="25400" cy="44450"/>
              </a:xfrm>
              <a:custGeom>
                <a:avLst/>
                <a:gdLst/>
                <a:ahLst/>
                <a:cxnLst/>
                <a:rect l="l" t="t" r="r" b="b"/>
                <a:pathLst>
                  <a:path w="25400" h="44450">
                    <a:moveTo>
                      <a:pt x="3175" y="44450"/>
                    </a:moveTo>
                    <a:cubicBezTo>
                      <a:pt x="15450" y="44450"/>
                      <a:pt x="25400" y="34500"/>
                      <a:pt x="25400" y="22225"/>
                    </a:cubicBezTo>
                    <a:cubicBezTo>
                      <a:pt x="25400" y="9950"/>
                      <a:pt x="15450" y="0"/>
                      <a:pt x="3175" y="0"/>
                    </a:cubicBezTo>
                    <a:lnTo>
                      <a:pt x="0" y="0"/>
                    </a:lnTo>
                  </a:path>
                </a:pathLst>
              </a:custGeom>
              <a:noFill/>
              <a:ln w="19050">
                <a:solidFill>
                  <a:srgbClr val="1565D8"/>
                </a:solidFill>
              </a:ln>
            </p:spPr>
            <p:txBody>
              <a:bodyPr/>
              <a:p/>
            </p:txBody>
          </p:sp>
          <p:sp>
            <p:nvSpPr>
              <p:cNvPr id="47" name="Freeform 47"/>
              <p:cNvSpPr/>
              <p:nvPr/>
            </p:nvSpPr>
            <p:spPr>
              <a:xfrm>
                <a:off x="933450" y="5105400"/>
                <a:ext cx="44450" cy="40005"/>
              </a:xfrm>
              <a:custGeom>
                <a:avLst/>
                <a:gdLst/>
                <a:ahLst/>
                <a:cxnLst/>
                <a:rect l="l" t="t" r="r" b="b"/>
                <a:pathLst>
                  <a:path w="44450" h="40005">
                    <a:moveTo>
                      <a:pt x="44450" y="40005"/>
                    </a:moveTo>
                    <a:lnTo>
                      <a:pt x="44450" y="22225"/>
                    </a:lnTo>
                    <a:cubicBezTo>
                      <a:pt x="44450" y="9950"/>
                      <a:pt x="34500" y="0"/>
                      <a:pt x="22225" y="0"/>
                    </a:cubicBezTo>
                    <a:cubicBezTo>
                      <a:pt x="9950" y="0"/>
                      <a:pt x="0" y="9950"/>
                      <a:pt x="0" y="22225"/>
                    </a:cubicBezTo>
                  </a:path>
                </a:pathLst>
              </a:custGeom>
              <a:noFill/>
              <a:ln w="19050">
                <a:solidFill>
                  <a:srgbClr val="1565D8"/>
                </a:solidFill>
              </a:ln>
            </p:spPr>
            <p:txBody>
              <a:bodyPr/>
              <a:p/>
            </p:txBody>
          </p:sp>
          <p:sp>
            <p:nvSpPr>
              <p:cNvPr id="48" name="Freeform 48"/>
              <p:cNvSpPr/>
              <p:nvPr/>
            </p:nvSpPr>
            <p:spPr>
              <a:xfrm>
                <a:off x="876300" y="5143500"/>
                <a:ext cx="25400" cy="44450"/>
              </a:xfrm>
              <a:custGeom>
                <a:avLst/>
                <a:gdLst/>
                <a:ahLst/>
                <a:cxnLst/>
                <a:rect l="l" t="t" r="r" b="b"/>
                <a:pathLst>
                  <a:path w="25400" h="44450">
                    <a:moveTo>
                      <a:pt x="22225" y="44450"/>
                    </a:moveTo>
                    <a:cubicBezTo>
                      <a:pt x="9950" y="44450"/>
                      <a:pt x="0" y="34500"/>
                      <a:pt x="0" y="22225"/>
                    </a:cubicBezTo>
                    <a:cubicBezTo>
                      <a:pt x="0" y="9950"/>
                      <a:pt x="9950" y="0"/>
                      <a:pt x="22225" y="0"/>
                    </a:cubicBezTo>
                    <a:lnTo>
                      <a:pt x="25400" y="0"/>
                    </a:lnTo>
                  </a:path>
                </a:pathLst>
              </a:custGeom>
              <a:noFill/>
              <a:ln w="19050">
                <a:solidFill>
                  <a:srgbClr val="1565D8"/>
                </a:solidFill>
              </a:ln>
            </p:spPr>
            <p:txBody>
              <a:bodyPr/>
              <a:p/>
            </p:txBody>
          </p:sp>
          <p:sp>
            <p:nvSpPr>
              <p:cNvPr id="49" name="Freeform 49"/>
              <p:cNvSpPr/>
              <p:nvPr/>
            </p:nvSpPr>
            <p:spPr>
              <a:xfrm>
                <a:off x="889000" y="5105400"/>
                <a:ext cx="44450" cy="85725"/>
              </a:xfrm>
              <a:custGeom>
                <a:avLst/>
                <a:gdLst/>
                <a:ahLst/>
                <a:cxnLst/>
                <a:rect l="l" t="t" r="r" b="b"/>
                <a:pathLst>
                  <a:path w="44450" h="85725">
                    <a:moveTo>
                      <a:pt x="0" y="40005"/>
                    </a:moveTo>
                    <a:lnTo>
                      <a:pt x="0" y="22225"/>
                    </a:lnTo>
                    <a:cubicBezTo>
                      <a:pt x="0" y="9950"/>
                      <a:pt x="9950" y="0"/>
                      <a:pt x="22225" y="0"/>
                    </a:cubicBezTo>
                    <a:cubicBezTo>
                      <a:pt x="34500" y="0"/>
                      <a:pt x="44450" y="9950"/>
                      <a:pt x="44450" y="22225"/>
                    </a:cubicBezTo>
                    <a:lnTo>
                      <a:pt x="44450" y="85725"/>
                    </a:lnTo>
                  </a:path>
                </a:pathLst>
              </a:custGeom>
              <a:noFill/>
              <a:ln w="19050">
                <a:solidFill>
                  <a:srgbClr val="1565D8"/>
                </a:solidFill>
              </a:ln>
            </p:spPr>
            <p:txBody>
              <a:bodyPr/>
              <a:p/>
            </p:txBody>
          </p:sp>
        </p:grpSp>
        <p:sp>
          <p:nvSpPr>
            <p:cNvPr id="51" name="TextBox 51"/>
            <p:cNvSpPr txBox="1"/>
            <p:nvPr/>
          </p:nvSpPr>
          <p:spPr>
            <a:xfrm>
              <a:off x="1185862" y="5012531"/>
              <a:ext cx="973693" cy="22860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5" b="1" dirty="0">
                  <a:solidFill>
                    <a:srgbClr val="2B3648"/>
                  </a:solidFill>
                  <a:latin typeface="Arial"/>
                  <a:ea typeface="Microsoft YaHei"/>
                  <a:cs typeface="Arial"/>
                </a:rPr>
                <a:t>万能框架</a:t>
              </a:r>
            </a:p>
          </p:txBody>
        </p:sp>
        <p:sp>
          <p:nvSpPr>
            <p:cNvPr id="52" name="TextBox 52"/>
            <p:cNvSpPr txBox="1"/>
            <p:nvPr/>
          </p:nvSpPr>
          <p:spPr>
            <a:xfrm>
              <a:off x="1186815" y="5239702"/>
              <a:ext cx="3107055" cy="21336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050" dirty="0">
                  <a:solidFill>
                    <a:srgbClr val="5B6B82"/>
                  </a:solidFill>
                  <a:latin typeface="Arial"/>
                  <a:ea typeface="Microsoft YaHei"/>
                  <a:cs typeface="Arial"/>
                </a:rPr>
                <a:t>RTF / CO-STAR——记熟 1 个就够</a:t>
              </a:r>
            </a:p>
          </p:txBody>
        </p:sp>
      </p:grpSp>
      <p:grpSp>
        <p:nvGrpSpPr>
          <p:cNvPr id="74" name="Group 74"/>
          <p:cNvGrpSpPr/>
          <p:nvPr/>
        </p:nvGrpSpPr>
        <p:grpSpPr>
          <a:xfrm>
            <a:off x="6286500" y="4000500"/>
            <a:ext cx="5334000" cy="1485900"/>
            <a:chOff x="6286500" y="4000500"/>
            <a:chExt cx="5334000" cy="1485900"/>
          </a:xfrm>
        </p:grpSpPr>
        <p:sp>
          <p:nvSpPr>
            <p:cNvPr id="54" name="Rectangle 54"/>
            <p:cNvSpPr/>
            <p:nvPr/>
          </p:nvSpPr>
          <p:spPr>
            <a:xfrm>
              <a:off x="6286500" y="4000500"/>
              <a:ext cx="5334000" cy="1485900"/>
            </a:xfrm>
            <a:prstGeom prst="roundRect">
              <a:avLst>
                <a:gd name="adj" fmla="val 10256"/>
              </a:avLst>
            </a:prstGeom>
            <a:solidFill>
              <a:srgbClr val="FFFFFF"/>
            </a:solidFill>
            <a:ln w="9525">
              <a:solidFill>
                <a:srgbClr val="D8E1EC"/>
              </a:solidFill>
            </a:ln>
          </p:spPr>
          <p:txBody>
            <a:bodyPr/>
            <a:p/>
          </p:txBody>
        </p:sp>
        <p:sp>
          <p:nvSpPr>
            <p:cNvPr id="55" name="TextBox 55"/>
            <p:cNvSpPr txBox="1"/>
            <p:nvPr/>
          </p:nvSpPr>
          <p:spPr>
            <a:xfrm>
              <a:off x="6497955" y="4159568"/>
              <a:ext cx="865994" cy="27432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b="1" dirty="0">
                  <a:solidFill>
                    <a:srgbClr val="D64545"/>
                  </a:solidFill>
                  <a:latin typeface="Arial"/>
                  <a:ea typeface="Microsoft YaHei"/>
                  <a:cs typeface="Arial"/>
                </a:rPr>
                <a:t>常见坑 ×3</a:t>
              </a:r>
            </a:p>
          </p:txBody>
        </p:sp>
        <p:grpSp>
          <p:nvGrpSpPr>
            <p:cNvPr id="59" name="Group 59"/>
            <p:cNvGrpSpPr/>
            <p:nvPr/>
          </p:nvGrpSpPr>
          <p:grpSpPr>
            <a:xfrm>
              <a:off x="6528779" y="4514858"/>
              <a:ext cx="144086" cy="123788"/>
              <a:chOff x="6528779" y="4514858"/>
              <a:chExt cx="144086" cy="123788"/>
            </a:xfrm>
          </p:grpSpPr>
          <p:sp>
            <p:nvSpPr>
              <p:cNvPr id="56" name="Freeform 56"/>
              <p:cNvSpPr/>
              <p:nvPr/>
            </p:nvSpPr>
            <p:spPr>
              <a:xfrm>
                <a:off x="6600825" y="4560094"/>
                <a:ext cx="9525" cy="28575"/>
              </a:xfrm>
              <a:custGeom>
                <a:avLst/>
                <a:gdLst/>
                <a:ahLst/>
                <a:cxnLst/>
                <a:rect l="l" t="t" r="r" b="b"/>
                <a:pathLst>
                  <a:path w="9525" h="28575">
                    <a:moveTo>
                      <a:pt x="0" y="0"/>
                    </a:moveTo>
                    <a:lnTo>
                      <a:pt x="0" y="28575"/>
                    </a:lnTo>
                  </a:path>
                </a:pathLst>
              </a:custGeom>
              <a:noFill/>
              <a:ln w="19050">
                <a:solidFill>
                  <a:srgbClr val="D64545"/>
                </a:solidFill>
              </a:ln>
            </p:spPr>
            <p:txBody>
              <a:bodyPr/>
              <a:p/>
            </p:txBody>
          </p:sp>
          <p:sp>
            <p:nvSpPr>
              <p:cNvPr id="57" name="Freeform 57"/>
              <p:cNvSpPr/>
              <p:nvPr/>
            </p:nvSpPr>
            <p:spPr>
              <a:xfrm>
                <a:off x="6528779" y="4514858"/>
                <a:ext cx="144086" cy="123788"/>
              </a:xfrm>
              <a:custGeom>
                <a:avLst/>
                <a:gdLst/>
                <a:ahLst/>
                <a:cxnLst/>
                <a:rect l="l" t="t" r="r" b="b"/>
                <a:pathLst>
                  <a:path w="144086" h="123788">
                    <a:moveTo>
                      <a:pt x="60351" y="6595"/>
                    </a:moveTo>
                    <a:lnTo>
                      <a:pt x="2444" y="103279"/>
                    </a:lnTo>
                    <a:cubicBezTo>
                      <a:pt x="15" y="107485"/>
                      <a:pt x="0" y="112665"/>
                      <a:pt x="2405" y="116886"/>
                    </a:cubicBezTo>
                    <a:cubicBezTo>
                      <a:pt x="4810" y="121106"/>
                      <a:pt x="9274" y="123734"/>
                      <a:pt x="14131" y="123788"/>
                    </a:cubicBezTo>
                    <a:lnTo>
                      <a:pt x="129960" y="123788"/>
                    </a:lnTo>
                    <a:cubicBezTo>
                      <a:pt x="134815" y="123732"/>
                      <a:pt x="139276" y="121106"/>
                      <a:pt x="141681" y="116888"/>
                    </a:cubicBezTo>
                    <a:cubicBezTo>
                      <a:pt x="144086" y="112669"/>
                      <a:pt x="144073" y="107492"/>
                      <a:pt x="141647" y="103286"/>
                    </a:cubicBezTo>
                    <a:lnTo>
                      <a:pt x="83740" y="6588"/>
                    </a:lnTo>
                    <a:cubicBezTo>
                      <a:pt x="81262" y="2498"/>
                      <a:pt x="76827" y="0"/>
                      <a:pt x="72046" y="0"/>
                    </a:cubicBezTo>
                    <a:cubicBezTo>
                      <a:pt x="67264" y="0"/>
                      <a:pt x="62829" y="2498"/>
                      <a:pt x="60351" y="6588"/>
                    </a:cubicBezTo>
                  </a:path>
                </a:pathLst>
              </a:custGeom>
              <a:noFill/>
              <a:ln w="19050">
                <a:solidFill>
                  <a:srgbClr val="D64545"/>
                </a:solidFill>
              </a:ln>
            </p:spPr>
            <p:txBody>
              <a:bodyPr/>
              <a:p/>
            </p:txBody>
          </p:sp>
          <p:sp>
            <p:nvSpPr>
              <p:cNvPr id="58" name="Freeform 58"/>
              <p:cNvSpPr/>
              <p:nvPr/>
            </p:nvSpPr>
            <p:spPr>
              <a:xfrm>
                <a:off x="6600825" y="4610100"/>
                <a:ext cx="9525" cy="9525"/>
              </a:xfrm>
              <a:custGeom>
                <a:avLst/>
                <a:gdLst/>
                <a:ahLst/>
                <a:cxnLst/>
                <a:rect l="l" t="t" r="r" b="b"/>
                <a:pathLst>
                  <a:path w="9525" h="9525">
                    <a:moveTo>
                      <a:pt x="0" y="0"/>
                    </a:moveTo>
                    <a:lnTo>
                      <a:pt x="71" y="0"/>
                    </a:lnTo>
                  </a:path>
                </a:pathLst>
              </a:custGeom>
              <a:noFill/>
              <a:ln w="19050">
                <a:solidFill>
                  <a:srgbClr val="D64545"/>
                </a:solidFill>
              </a:ln>
            </p:spPr>
            <p:txBody>
              <a:bodyPr/>
              <a:p/>
            </p:txBody>
          </p:sp>
        </p:grpSp>
        <p:sp>
          <p:nvSpPr>
            <p:cNvPr id="60" name="TextBox 60"/>
            <p:cNvSpPr txBox="1"/>
            <p:nvPr/>
          </p:nvSpPr>
          <p:spPr>
            <a:xfrm>
              <a:off x="6767512" y="4517231"/>
              <a:ext cx="658654" cy="22860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5" b="1" dirty="0">
                  <a:solidFill>
                    <a:srgbClr val="2B3648"/>
                  </a:solidFill>
                  <a:latin typeface="Arial"/>
                  <a:ea typeface="Microsoft YaHei"/>
                  <a:cs typeface="Arial"/>
                </a:rPr>
                <a:t>太长</a:t>
              </a:r>
            </a:p>
          </p:txBody>
        </p:sp>
        <p:sp>
          <p:nvSpPr>
            <p:cNvPr id="61" name="TextBox 61"/>
            <p:cNvSpPr txBox="1"/>
            <p:nvPr/>
          </p:nvSpPr>
          <p:spPr>
            <a:xfrm>
              <a:off x="7606665" y="4525328"/>
              <a:ext cx="1965912" cy="21336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050" dirty="0">
                  <a:solidFill>
                    <a:srgbClr val="5B6B82"/>
                  </a:solidFill>
                  <a:latin typeface="Arial"/>
                  <a:ea typeface="Microsoft YaHei"/>
                  <a:cs typeface="Arial"/>
                </a:rPr>
                <a:t>关键信息被淹没</a:t>
              </a:r>
            </a:p>
          </p:txBody>
        </p:sp>
        <p:grpSp>
          <p:nvGrpSpPr>
            <p:cNvPr id="65" name="Group 65"/>
            <p:cNvGrpSpPr/>
            <p:nvPr/>
          </p:nvGrpSpPr>
          <p:grpSpPr>
            <a:xfrm>
              <a:off x="6528779" y="4857758"/>
              <a:ext cx="144086" cy="123788"/>
              <a:chOff x="6528779" y="4857758"/>
              <a:chExt cx="144086" cy="123788"/>
            </a:xfrm>
          </p:grpSpPr>
          <p:sp>
            <p:nvSpPr>
              <p:cNvPr id="62" name="Freeform 62"/>
              <p:cNvSpPr/>
              <p:nvPr/>
            </p:nvSpPr>
            <p:spPr>
              <a:xfrm>
                <a:off x="6600825" y="4902994"/>
                <a:ext cx="9525" cy="28575"/>
              </a:xfrm>
              <a:custGeom>
                <a:avLst/>
                <a:gdLst/>
                <a:ahLst/>
                <a:cxnLst/>
                <a:rect l="l" t="t" r="r" b="b"/>
                <a:pathLst>
                  <a:path w="9525" h="28575">
                    <a:moveTo>
                      <a:pt x="0" y="0"/>
                    </a:moveTo>
                    <a:lnTo>
                      <a:pt x="0" y="28575"/>
                    </a:lnTo>
                  </a:path>
                </a:pathLst>
              </a:custGeom>
              <a:noFill/>
              <a:ln w="19050">
                <a:solidFill>
                  <a:srgbClr val="D64545"/>
                </a:solidFill>
              </a:ln>
            </p:spPr>
            <p:txBody>
              <a:bodyPr/>
              <a:p/>
            </p:txBody>
          </p:sp>
          <p:sp>
            <p:nvSpPr>
              <p:cNvPr id="63" name="Freeform 63"/>
              <p:cNvSpPr/>
              <p:nvPr/>
            </p:nvSpPr>
            <p:spPr>
              <a:xfrm>
                <a:off x="6528779" y="4857758"/>
                <a:ext cx="144086" cy="123788"/>
              </a:xfrm>
              <a:custGeom>
                <a:avLst/>
                <a:gdLst/>
                <a:ahLst/>
                <a:cxnLst/>
                <a:rect l="l" t="t" r="r" b="b"/>
                <a:pathLst>
                  <a:path w="144086" h="123788">
                    <a:moveTo>
                      <a:pt x="60351" y="6595"/>
                    </a:moveTo>
                    <a:lnTo>
                      <a:pt x="2444" y="103279"/>
                    </a:lnTo>
                    <a:cubicBezTo>
                      <a:pt x="15" y="107485"/>
                      <a:pt x="0" y="112665"/>
                      <a:pt x="2405" y="116886"/>
                    </a:cubicBezTo>
                    <a:cubicBezTo>
                      <a:pt x="4810" y="121106"/>
                      <a:pt x="9274" y="123734"/>
                      <a:pt x="14131" y="123788"/>
                    </a:cubicBezTo>
                    <a:lnTo>
                      <a:pt x="129960" y="123788"/>
                    </a:lnTo>
                    <a:cubicBezTo>
                      <a:pt x="134815" y="123732"/>
                      <a:pt x="139276" y="121106"/>
                      <a:pt x="141681" y="116888"/>
                    </a:cubicBezTo>
                    <a:cubicBezTo>
                      <a:pt x="144086" y="112669"/>
                      <a:pt x="144073" y="107492"/>
                      <a:pt x="141647" y="103286"/>
                    </a:cubicBezTo>
                    <a:lnTo>
                      <a:pt x="83740" y="6588"/>
                    </a:lnTo>
                    <a:cubicBezTo>
                      <a:pt x="81262" y="2498"/>
                      <a:pt x="76827" y="0"/>
                      <a:pt x="72046" y="0"/>
                    </a:cubicBezTo>
                    <a:cubicBezTo>
                      <a:pt x="67264" y="0"/>
                      <a:pt x="62829" y="2498"/>
                      <a:pt x="60351" y="6588"/>
                    </a:cubicBezTo>
                  </a:path>
                </a:pathLst>
              </a:custGeom>
              <a:noFill/>
              <a:ln w="19050">
                <a:solidFill>
                  <a:srgbClr val="D64545"/>
                </a:solidFill>
              </a:ln>
            </p:spPr>
            <p:txBody>
              <a:bodyPr/>
              <a:p/>
            </p:txBody>
          </p:sp>
          <p:sp>
            <p:nvSpPr>
              <p:cNvPr id="64" name="Freeform 64"/>
              <p:cNvSpPr/>
              <p:nvPr/>
            </p:nvSpPr>
            <p:spPr>
              <a:xfrm>
                <a:off x="6600825" y="4953000"/>
                <a:ext cx="9525" cy="9525"/>
              </a:xfrm>
              <a:custGeom>
                <a:avLst/>
                <a:gdLst/>
                <a:ahLst/>
                <a:cxnLst/>
                <a:rect l="l" t="t" r="r" b="b"/>
                <a:pathLst>
                  <a:path w="9525" h="9525">
                    <a:moveTo>
                      <a:pt x="0" y="0"/>
                    </a:moveTo>
                    <a:lnTo>
                      <a:pt x="71" y="0"/>
                    </a:lnTo>
                  </a:path>
                </a:pathLst>
              </a:custGeom>
              <a:noFill/>
              <a:ln w="19050">
                <a:solidFill>
                  <a:srgbClr val="D64545"/>
                </a:solidFill>
              </a:ln>
            </p:spPr>
            <p:txBody>
              <a:bodyPr/>
              <a:p/>
            </p:txBody>
          </p:sp>
        </p:grpSp>
        <p:sp>
          <p:nvSpPr>
            <p:cNvPr id="66" name="TextBox 66"/>
            <p:cNvSpPr txBox="1"/>
            <p:nvPr/>
          </p:nvSpPr>
          <p:spPr>
            <a:xfrm>
              <a:off x="6767512" y="4860131"/>
              <a:ext cx="658654" cy="22860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5" b="1" dirty="0">
                  <a:solidFill>
                    <a:srgbClr val="2B3648"/>
                  </a:solidFill>
                  <a:latin typeface="Arial"/>
                  <a:ea typeface="Microsoft YaHei"/>
                  <a:cs typeface="Arial"/>
                </a:rPr>
                <a:t>指令矛盾</a:t>
              </a:r>
            </a:p>
          </p:txBody>
        </p:sp>
        <p:sp>
          <p:nvSpPr>
            <p:cNvPr id="67" name="TextBox 67"/>
            <p:cNvSpPr txBox="1"/>
            <p:nvPr/>
          </p:nvSpPr>
          <p:spPr>
            <a:xfrm>
              <a:off x="7606665" y="4868228"/>
              <a:ext cx="2266950" cy="21336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050" dirty="0">
                  <a:solidFill>
                    <a:srgbClr val="5B6B82"/>
                  </a:solidFill>
                  <a:latin typeface="Arial"/>
                  <a:ea typeface="Microsoft YaHei"/>
                  <a:cs typeface="Arial"/>
                </a:rPr>
                <a:t>「详细又简洁」——二选一</a:t>
              </a:r>
            </a:p>
          </p:txBody>
        </p:sp>
        <p:grpSp>
          <p:nvGrpSpPr>
            <p:cNvPr id="71" name="Group 71"/>
            <p:cNvGrpSpPr/>
            <p:nvPr/>
          </p:nvGrpSpPr>
          <p:grpSpPr>
            <a:xfrm>
              <a:off x="6528779" y="5200658"/>
              <a:ext cx="144086" cy="123788"/>
              <a:chOff x="6528779" y="5200658"/>
              <a:chExt cx="144086" cy="123788"/>
            </a:xfrm>
          </p:grpSpPr>
          <p:sp>
            <p:nvSpPr>
              <p:cNvPr id="68" name="Freeform 68"/>
              <p:cNvSpPr/>
              <p:nvPr/>
            </p:nvSpPr>
            <p:spPr>
              <a:xfrm>
                <a:off x="6600825" y="5245894"/>
                <a:ext cx="9525" cy="28575"/>
              </a:xfrm>
              <a:custGeom>
                <a:avLst/>
                <a:gdLst/>
                <a:ahLst/>
                <a:cxnLst/>
                <a:rect l="l" t="t" r="r" b="b"/>
                <a:pathLst>
                  <a:path w="9525" h="28575">
                    <a:moveTo>
                      <a:pt x="0" y="0"/>
                    </a:moveTo>
                    <a:lnTo>
                      <a:pt x="0" y="28575"/>
                    </a:lnTo>
                  </a:path>
                </a:pathLst>
              </a:custGeom>
              <a:noFill/>
              <a:ln w="19050">
                <a:solidFill>
                  <a:srgbClr val="D64545"/>
                </a:solidFill>
              </a:ln>
            </p:spPr>
            <p:txBody>
              <a:bodyPr/>
              <a:p/>
            </p:txBody>
          </p:sp>
          <p:sp>
            <p:nvSpPr>
              <p:cNvPr id="69" name="Freeform 69"/>
              <p:cNvSpPr/>
              <p:nvPr/>
            </p:nvSpPr>
            <p:spPr>
              <a:xfrm>
                <a:off x="6528779" y="5200658"/>
                <a:ext cx="144086" cy="123788"/>
              </a:xfrm>
              <a:custGeom>
                <a:avLst/>
                <a:gdLst/>
                <a:ahLst/>
                <a:cxnLst/>
                <a:rect l="l" t="t" r="r" b="b"/>
                <a:pathLst>
                  <a:path w="144086" h="123788">
                    <a:moveTo>
                      <a:pt x="60351" y="6595"/>
                    </a:moveTo>
                    <a:lnTo>
                      <a:pt x="2444" y="103279"/>
                    </a:lnTo>
                    <a:cubicBezTo>
                      <a:pt x="15" y="107485"/>
                      <a:pt x="0" y="112665"/>
                      <a:pt x="2405" y="116886"/>
                    </a:cubicBezTo>
                    <a:cubicBezTo>
                      <a:pt x="4810" y="121106"/>
                      <a:pt x="9274" y="123734"/>
                      <a:pt x="14131" y="123788"/>
                    </a:cubicBezTo>
                    <a:lnTo>
                      <a:pt x="129960" y="123788"/>
                    </a:lnTo>
                    <a:cubicBezTo>
                      <a:pt x="134815" y="123732"/>
                      <a:pt x="139276" y="121106"/>
                      <a:pt x="141681" y="116888"/>
                    </a:cubicBezTo>
                    <a:cubicBezTo>
                      <a:pt x="144086" y="112669"/>
                      <a:pt x="144073" y="107492"/>
                      <a:pt x="141647" y="103286"/>
                    </a:cubicBezTo>
                    <a:lnTo>
                      <a:pt x="83740" y="6588"/>
                    </a:lnTo>
                    <a:cubicBezTo>
                      <a:pt x="81262" y="2498"/>
                      <a:pt x="76827" y="0"/>
                      <a:pt x="72046" y="0"/>
                    </a:cubicBezTo>
                    <a:cubicBezTo>
                      <a:pt x="67264" y="0"/>
                      <a:pt x="62829" y="2498"/>
                      <a:pt x="60351" y="6588"/>
                    </a:cubicBezTo>
                  </a:path>
                </a:pathLst>
              </a:custGeom>
              <a:noFill/>
              <a:ln w="19050">
                <a:solidFill>
                  <a:srgbClr val="D64545"/>
                </a:solidFill>
              </a:ln>
            </p:spPr>
            <p:txBody>
              <a:bodyPr/>
              <a:p/>
            </p:txBody>
          </p:sp>
          <p:sp>
            <p:nvSpPr>
              <p:cNvPr id="70" name="Freeform 70"/>
              <p:cNvSpPr/>
              <p:nvPr/>
            </p:nvSpPr>
            <p:spPr>
              <a:xfrm>
                <a:off x="6600825" y="5295900"/>
                <a:ext cx="9525" cy="9525"/>
              </a:xfrm>
              <a:custGeom>
                <a:avLst/>
                <a:gdLst/>
                <a:ahLst/>
                <a:cxnLst/>
                <a:rect l="l" t="t" r="r" b="b"/>
                <a:pathLst>
                  <a:path w="9525" h="9525">
                    <a:moveTo>
                      <a:pt x="0" y="0"/>
                    </a:moveTo>
                    <a:lnTo>
                      <a:pt x="71" y="0"/>
                    </a:lnTo>
                  </a:path>
                </a:pathLst>
              </a:custGeom>
              <a:noFill/>
              <a:ln w="19050">
                <a:solidFill>
                  <a:srgbClr val="D64545"/>
                </a:solidFill>
              </a:ln>
            </p:spPr>
            <p:txBody>
              <a:bodyPr/>
              <a:p/>
            </p:txBody>
          </p:sp>
        </p:grpSp>
        <p:sp>
          <p:nvSpPr>
            <p:cNvPr id="72" name="TextBox 72"/>
            <p:cNvSpPr txBox="1"/>
            <p:nvPr/>
          </p:nvSpPr>
          <p:spPr>
            <a:xfrm>
              <a:off x="6767512" y="5203031"/>
              <a:ext cx="816173" cy="22860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5" b="1" dirty="0">
                  <a:solidFill>
                    <a:srgbClr val="2B3648"/>
                  </a:solidFill>
                  <a:latin typeface="Arial"/>
                  <a:ea typeface="Microsoft YaHei"/>
                  <a:cs typeface="Arial"/>
                </a:rPr>
                <a:t>想当然</a:t>
              </a:r>
            </a:p>
          </p:txBody>
        </p:sp>
        <p:sp>
          <p:nvSpPr>
            <p:cNvPr id="73" name="TextBox 73"/>
            <p:cNvSpPr txBox="1"/>
            <p:nvPr/>
          </p:nvSpPr>
          <p:spPr>
            <a:xfrm>
              <a:off x="7606665" y="5211128"/>
              <a:ext cx="2301954" cy="21336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050" dirty="0">
                  <a:solidFill>
                    <a:srgbClr val="5B6B82"/>
                  </a:solidFill>
                  <a:latin typeface="Arial"/>
                  <a:ea typeface="Microsoft YaHei"/>
                  <a:cs typeface="Arial"/>
                </a:rPr>
                <a:t>先说背景，再让它分析</a:t>
              </a:r>
            </a:p>
          </p:txBody>
        </p:sp>
      </p:grpSp>
      <p:grpSp>
        <p:nvGrpSpPr>
          <p:cNvPr id="78" name="Group 78"/>
          <p:cNvGrpSpPr/>
          <p:nvPr/>
        </p:nvGrpSpPr>
        <p:grpSpPr>
          <a:xfrm>
            <a:off x="571500" y="5676900"/>
            <a:ext cx="11049000" cy="457200"/>
            <a:chOff x="571500" y="5676900"/>
            <a:chExt cx="11049000" cy="457200"/>
          </a:xfrm>
        </p:grpSpPr>
        <p:sp>
          <p:nvSpPr>
            <p:cNvPr id="75" name="Rectangle 75"/>
            <p:cNvSpPr/>
            <p:nvPr/>
          </p:nvSpPr>
          <p:spPr>
            <a:xfrm>
              <a:off x="571500" y="5676900"/>
              <a:ext cx="11049000" cy="457200"/>
            </a:xfrm>
            <a:prstGeom prst="roundRect">
              <a:avLst>
                <a:gd name="adj" fmla="val 33333"/>
              </a:avLst>
            </a:prstGeom>
            <a:solidFill>
              <a:srgbClr val="D6E6F9"/>
            </a:solidFill>
            <a:ln>
              <a:noFill/>
            </a:ln>
          </p:spPr>
          <p:txBody>
            <a:bodyPr/>
            <a:p/>
          </p:txBody>
        </p:sp>
        <p:sp>
          <p:nvSpPr>
            <p:cNvPr id="76" name="Rectangle 76"/>
            <p:cNvSpPr/>
            <p:nvPr/>
          </p:nvSpPr>
          <p:spPr>
            <a:xfrm>
              <a:off x="571500" y="5676900"/>
              <a:ext cx="76200" cy="457200"/>
            </a:xfrm>
            <a:prstGeom prst="roundRect">
              <a:avLst>
                <a:gd name="adj" fmla="val 50000"/>
              </a:avLst>
            </a:prstGeom>
            <a:solidFill>
              <a:srgbClr val="1565D8"/>
            </a:solidFill>
            <a:ln>
              <a:noFill/>
            </a:ln>
          </p:spPr>
          <p:txBody>
            <a:bodyPr/>
            <a:p/>
          </p:txBody>
        </p:sp>
        <p:sp>
          <p:nvSpPr>
            <p:cNvPr id="77" name="TextBox 77"/>
            <p:cNvSpPr txBox="1"/>
            <p:nvPr/>
          </p:nvSpPr>
          <p:spPr>
            <a:xfrm>
              <a:off x="859155" y="5826442"/>
              <a:ext cx="2113550" cy="27432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b="1" dirty="0">
                  <a:solidFill>
                    <a:srgbClr val="0B4EA2"/>
                  </a:solidFill>
                  <a:latin typeface="Arial"/>
                  <a:ea typeface="Microsoft YaHei"/>
                  <a:cs typeface="Arial"/>
                </a:rPr>
                <a:t>口诀：反问、模板、正向、自查</a:t>
              </a:r>
            </a:p>
          </p:txBody>
        </p:sp>
      </p:grpSp>
      <p:grpSp>
        <p:nvGrpSpPr>
          <p:cNvPr id="81" name="Group 81"/>
          <p:cNvGrpSpPr/>
          <p:nvPr/>
        </p:nvGrpSpPr>
        <p:grpSpPr>
          <a:xfrm>
            <a:off x="560070" y="6341745"/>
            <a:ext cx="11071860" cy="182880"/>
            <a:chOff x="560070" y="6341745"/>
            <a:chExt cx="11071860" cy="182880"/>
          </a:xfrm>
        </p:grpSpPr>
        <p:sp>
          <p:nvSpPr>
            <p:cNvPr id="79" name="TextBox 79"/>
            <p:cNvSpPr txBox="1"/>
            <p:nvPr/>
          </p:nvSpPr>
          <p:spPr>
            <a:xfrm>
              <a:off x="560070" y="6341745"/>
              <a:ext cx="1054989" cy="18288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00" dirty="0">
                  <a:solidFill>
                    <a:srgbClr val="8B99AE"/>
                  </a:solidFill>
                  <a:latin typeface="Arial"/>
                  <a:ea typeface="Microsoft YaHei"/>
                  <a:cs typeface="Arial"/>
                </a:rPr>
                <a:t>大模型通识 · 企业版</a:t>
              </a:r>
            </a:p>
          </p:txBody>
        </p:sp>
        <p:sp>
          <p:nvSpPr>
            <p:cNvPr id="80" name="TextBox 80"/>
            <p:cNvSpPr txBox="1"/>
            <p:nvPr/>
          </p:nvSpPr>
          <p:spPr>
            <a:xfrm>
              <a:off x="11207020" y="6341745"/>
              <a:ext cx="424910" cy="18288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r"/>
              <a:r>
                <a:rPr lang="zh-CN" sz="900" dirty="0">
                  <a:solidFill>
                    <a:srgbClr val="8B99AE"/>
                  </a:solidFill>
                  <a:latin typeface="Arial"/>
                  <a:ea typeface="Microsoft YaHei"/>
                  <a:cs typeface="Arial"/>
                </a:rPr>
                <a:t>23 / 51</a:t>
              </a:r>
            </a:p>
          </p:txBody>
        </p:sp>
      </p:grp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grpSp>
        <p:nvGrpSpPr>
          <p:cNvPr id="5" name="Group 5"/>
          <p:cNvGrpSpPr/>
          <p:nvPr/>
        </p:nvGrpSpPr>
        <p:grpSpPr>
          <a:xfrm>
            <a:off x="-1619250" y="0"/>
            <a:ext cx="13811250" cy="8477250"/>
            <a:chOff x="-1619250" y="0"/>
            <a:chExt cx="13811250" cy="8477250"/>
          </a:xfrm>
        </p:grpSpPr>
        <p:sp>
          <p:nvSpPr>
            <p:cNvPr id="2" name="Rectangle 2"/>
            <p:cNvSpPr/>
            <p:nvPr/>
          </p:nvSpPr>
          <p:spPr>
            <a:xfrm>
              <a:off x="0" y="0"/>
              <a:ext cx="12192000" cy="6858000"/>
            </a:xfrm>
            <a:prstGeom prst="rect">
              <a:avLst/>
            </a:prstGeom>
            <a:solidFill>
              <a:srgbClr val="F5F7FA"/>
            </a:solidFill>
            <a:ln>
              <a:noFill/>
            </a:ln>
          </p:spPr>
          <p:txBody>
            <a:bodyPr/>
            <a:p/>
          </p:txBody>
        </p:sp>
        <p:sp>
          <p:nvSpPr>
            <p:cNvPr id="3" name="Rectangle 3"/>
            <p:cNvSpPr/>
            <p:nvPr/>
          </p:nvSpPr>
          <p:spPr>
            <a:xfrm>
              <a:off x="0" y="0"/>
              <a:ext cx="12192000" cy="6858000"/>
            </a:xfrm>
            <a:prstGeom prst="rect">
              <a:avLst/>
            </a:prstGeom>
            <a:gradFill>
              <a:gsLst>
                <a:gs pos="0">
                  <a:srgbClr val="1565D8">
                    <a:alpha val="6000"/>
                  </a:srgbClr>
                </a:gs>
                <a:gs pos="100000">
                  <a:srgbClr val="1565D8">
                    <a:alpha val="0"/>
                  </a:srgbClr>
                </a:gs>
              </a:gsLst>
              <a:path path="circle">
                <a:fillToRect l="50000" t="50000" r="50000" b="50000"/>
              </a:path>
            </a:gradFill>
            <a:ln>
              <a:noFill/>
            </a:ln>
          </p:spPr>
          <p:txBody>
            <a:bodyPr/>
            <a:p/>
          </p:txBody>
        </p:sp>
        <p:sp>
          <p:nvSpPr>
            <p:cNvPr id="4" name="Ellipse 4"/>
            <p:cNvSpPr/>
            <p:nvPr/>
          </p:nvSpPr>
          <p:spPr>
            <a:xfrm>
              <a:off x="-1619250" y="4667250"/>
              <a:ext cx="3810000" cy="3810000"/>
            </a:xfrm>
            <a:prstGeom prst="ellipse">
              <a:avLst/>
            </a:prstGeom>
            <a:noFill/>
            <a:ln w="14288">
              <a:solidFill>
                <a:srgbClr val="D6E6F9">
                  <a:alpha val="80000"/>
                </a:srgbClr>
              </a:solidFill>
            </a:ln>
          </p:spPr>
          <p:txBody>
            <a:bodyPr/>
            <a:p/>
          </p:txBody>
        </p:sp>
      </p:grpSp>
      <p:grpSp>
        <p:nvGrpSpPr>
          <p:cNvPr id="9" name="Group 9"/>
          <p:cNvGrpSpPr/>
          <p:nvPr/>
        </p:nvGrpSpPr>
        <p:grpSpPr>
          <a:xfrm>
            <a:off x="571500" y="685800"/>
            <a:ext cx="4818317" cy="700088"/>
            <a:chOff x="571500" y="685800"/>
            <a:chExt cx="4818317" cy="700088"/>
          </a:xfrm>
        </p:grpSpPr>
        <p:sp>
          <p:nvSpPr>
            <p:cNvPr id="6" name="Rectangle 6"/>
            <p:cNvSpPr/>
            <p:nvPr/>
          </p:nvSpPr>
          <p:spPr>
            <a:xfrm>
              <a:off x="571500" y="685800"/>
              <a:ext cx="76200" cy="323850"/>
            </a:xfrm>
            <a:prstGeom prst="roundRect">
              <a:avLst>
                <a:gd name="adj" fmla="val 50000"/>
              </a:avLst>
            </a:prstGeom>
            <a:solidFill>
              <a:srgbClr val="1565D8"/>
            </a:solidFill>
            <a:ln>
              <a:noFill/>
            </a:ln>
          </p:spPr>
          <p:txBody>
            <a:bodyPr/>
            <a:p/>
          </p:txBody>
        </p:sp>
        <p:sp>
          <p:nvSpPr>
            <p:cNvPr id="7" name="TextBox 7"/>
            <p:cNvSpPr txBox="1"/>
            <p:nvPr/>
          </p:nvSpPr>
          <p:spPr>
            <a:xfrm>
              <a:off x="771525" y="700088"/>
              <a:ext cx="1994642" cy="45720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2250" b="1" dirty="0">
                  <a:solidFill>
                    <a:srgbClr val="2B3648"/>
                  </a:solidFill>
                  <a:latin typeface="Arial"/>
                  <a:ea typeface="Microsoft YaHei"/>
                  <a:cs typeface="Arial"/>
                </a:rPr>
                <a:t>5 个办公模板，开干</a:t>
              </a:r>
            </a:p>
          </p:txBody>
        </p:sp>
        <p:sp>
          <p:nvSpPr>
            <p:cNvPr id="8" name="TextBox 8"/>
            <p:cNvSpPr txBox="1"/>
            <p:nvPr/>
          </p:nvSpPr>
          <p:spPr>
            <a:xfrm>
              <a:off x="782955" y="1111568"/>
              <a:ext cx="4606862" cy="27432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5B6B82"/>
                  </a:solidFill>
                  <a:latin typeface="Arial"/>
                  <a:ea typeface="Microsoft YaHei"/>
                  <a:cs typeface="Arial"/>
                </a:rPr>
                <a:t>最主流的五件事，照着念就行——今天学的，今天就用</a:t>
              </a:r>
            </a:p>
          </p:txBody>
        </p:sp>
      </p:grpSp>
      <p:grpSp>
        <p:nvGrpSpPr>
          <p:cNvPr id="57" name="Group 57"/>
          <p:cNvGrpSpPr/>
          <p:nvPr/>
        </p:nvGrpSpPr>
        <p:grpSpPr>
          <a:xfrm>
            <a:off x="571500" y="4762500"/>
            <a:ext cx="11049000" cy="457200"/>
            <a:chOff x="571500" y="4762500"/>
            <a:chExt cx="11049000" cy="457200"/>
          </a:xfrm>
        </p:grpSpPr>
        <p:sp>
          <p:nvSpPr>
            <p:cNvPr id="54" name="Rectangle 54"/>
            <p:cNvSpPr/>
            <p:nvPr/>
          </p:nvSpPr>
          <p:spPr>
            <a:xfrm>
              <a:off x="571500" y="4762500"/>
              <a:ext cx="11049000" cy="457200"/>
            </a:xfrm>
            <a:prstGeom prst="roundRect">
              <a:avLst>
                <a:gd name="adj" fmla="val 33333"/>
              </a:avLst>
            </a:prstGeom>
            <a:solidFill>
              <a:srgbClr val="D6E6F9"/>
            </a:solidFill>
            <a:ln>
              <a:noFill/>
            </a:ln>
          </p:spPr>
          <p:txBody>
            <a:bodyPr/>
            <a:p/>
          </p:txBody>
        </p:sp>
        <p:sp>
          <p:nvSpPr>
            <p:cNvPr id="55" name="Rectangle 55"/>
            <p:cNvSpPr/>
            <p:nvPr/>
          </p:nvSpPr>
          <p:spPr>
            <a:xfrm>
              <a:off x="571500" y="4762500"/>
              <a:ext cx="76200" cy="457200"/>
            </a:xfrm>
            <a:prstGeom prst="roundRect">
              <a:avLst>
                <a:gd name="adj" fmla="val 50000"/>
              </a:avLst>
            </a:prstGeom>
            <a:solidFill>
              <a:srgbClr val="1565D8"/>
            </a:solidFill>
            <a:ln>
              <a:noFill/>
            </a:ln>
          </p:spPr>
          <p:txBody>
            <a:bodyPr/>
            <a:p/>
          </p:txBody>
        </p:sp>
        <p:sp>
          <p:nvSpPr>
            <p:cNvPr id="56" name="TextBox 56"/>
            <p:cNvSpPr txBox="1"/>
            <p:nvPr/>
          </p:nvSpPr>
          <p:spPr>
            <a:xfrm>
              <a:off x="859155" y="4912042"/>
              <a:ext cx="1924526" cy="27432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b="1" dirty="0">
                  <a:solidFill>
                    <a:srgbClr val="0B4EA2"/>
                  </a:solidFill>
                  <a:latin typeface="Arial"/>
                  <a:ea typeface="Microsoft YaHei"/>
                  <a:cs typeface="Arial"/>
                </a:rPr>
                <a:t>提示词五要素 + 验证四步，这套课你全带得走。</a:t>
              </a:r>
            </a:p>
          </p:txBody>
        </p:sp>
      </p:grpSp>
      <p:grpSp>
        <p:nvGrpSpPr>
          <p:cNvPr id="60" name="Group 60"/>
          <p:cNvGrpSpPr/>
          <p:nvPr/>
        </p:nvGrpSpPr>
        <p:grpSpPr>
          <a:xfrm>
            <a:off x="560070" y="6341745"/>
            <a:ext cx="11071860" cy="182880"/>
            <a:chOff x="560070" y="6341745"/>
            <a:chExt cx="11071860" cy="182880"/>
          </a:xfrm>
        </p:grpSpPr>
        <p:sp>
          <p:nvSpPr>
            <p:cNvPr id="58" name="TextBox 58"/>
            <p:cNvSpPr txBox="1"/>
            <p:nvPr/>
          </p:nvSpPr>
          <p:spPr>
            <a:xfrm>
              <a:off x="560070" y="6341745"/>
              <a:ext cx="1054989" cy="18288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00" dirty="0">
                  <a:solidFill>
                    <a:srgbClr val="8B99AE"/>
                  </a:solidFill>
                  <a:latin typeface="Arial"/>
                  <a:ea typeface="Microsoft YaHei"/>
                  <a:cs typeface="Arial"/>
                </a:rPr>
                <a:t>大模型通识 · 企业版</a:t>
              </a:r>
            </a:p>
          </p:txBody>
        </p:sp>
        <p:sp>
          <p:nvSpPr>
            <p:cNvPr id="59" name="TextBox 59"/>
            <p:cNvSpPr txBox="1"/>
            <p:nvPr/>
          </p:nvSpPr>
          <p:spPr>
            <a:xfrm>
              <a:off x="11207020" y="6341745"/>
              <a:ext cx="424910" cy="18288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r"/>
              <a:r>
                <a:rPr lang="zh-CN" sz="900" dirty="0">
                  <a:solidFill>
                    <a:srgbClr val="8B99AE"/>
                  </a:solidFill>
                  <a:latin typeface="Arial"/>
                  <a:ea typeface="Microsoft YaHei"/>
                  <a:cs typeface="Arial"/>
                </a:rPr>
                <a:t>24 / 51</a:t>
              </a:r>
            </a:p>
          </p:txBody>
        </p:sp>
      </p:grpSp>
      <p:sp>
        <p:nvSpPr>
          <p:cNvPr id="11" name="Rectangle 11"/>
          <p:cNvSpPr/>
          <p:nvPr/>
        </p:nvSpPr>
        <p:spPr>
          <a:xfrm>
            <a:off x="566928" y="1618488"/>
            <a:ext cx="3566160" cy="2249424"/>
          </a:xfrm>
          <a:prstGeom prst="roundRect">
            <a:avLst>
              <a:gd name="adj" fmla="val 4324"/>
            </a:avLst>
          </a:prstGeom>
          <a:solidFill>
            <a:srgbClr val="FFFFFF"/>
          </a:solidFill>
          <a:ln w="9525">
            <a:solidFill>
              <a:srgbClr val="D8E1EC"/>
            </a:solidFill>
          </a:ln>
        </p:spPr>
        <p:txBody>
          <a:bodyPr/>
          <a:p/>
        </p:txBody>
      </p:sp>
      <p:sp>
        <p:nvSpPr>
          <p:cNvPr id="61" name="TextBox 60"/>
          <p:cNvSpPr txBox="1"/>
          <p:nvPr/>
        </p:nvSpPr>
        <p:spPr>
          <a:xfrm>
            <a:off x="786384" y="1801368"/>
            <a:ext cx="9144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500" b="1">
                <a:solidFill>
                  <a:srgbClr val="0B4EA2"/>
                </a:solidFill>
              </a:rPr>
              <a:t>01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786384" y="2093976"/>
            <a:ext cx="3127248" cy="31089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650" b="1">
                <a:solidFill>
                  <a:srgbClr val="2B3648"/>
                </a:solidFill>
              </a:rPr>
              <a:t>周报 3 分钟初稿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786384" y="2459736"/>
            <a:ext cx="3127248" cy="9601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950" b="0">
                <a:solidFill>
                  <a:srgbClr val="5B6B82"/>
                </a:solidFill>
              </a:rPr>
              <a:t>模板｜「你是部门周报助手，按这四点写：本周目标、进展和结果、数据和结论、下周计划。用我的要点：……」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786384" y="3557016"/>
            <a:ext cx="3127248" cy="23774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950" b="1">
                <a:solidFill>
                  <a:srgbClr val="0B4EA2"/>
                </a:solidFill>
              </a:rPr>
              <a:t>你终审 10 分钟，它 3 分钟出初稿</a:t>
            </a:r>
          </a:p>
        </p:txBody>
      </p:sp>
      <p:sp>
        <p:nvSpPr>
          <p:cNvPr id="11" name="Rectangle 11"/>
          <p:cNvSpPr/>
          <p:nvPr/>
        </p:nvSpPr>
        <p:spPr>
          <a:xfrm>
            <a:off x="4297680" y="1618488"/>
            <a:ext cx="3566160" cy="2249424"/>
          </a:xfrm>
          <a:prstGeom prst="roundRect">
            <a:avLst>
              <a:gd name="adj" fmla="val 4324"/>
            </a:avLst>
          </a:prstGeom>
          <a:solidFill>
            <a:srgbClr val="FFFFFF"/>
          </a:solidFill>
          <a:ln w="9525">
            <a:solidFill>
              <a:srgbClr val="D8E1EC"/>
            </a:solidFill>
          </a:ln>
        </p:spPr>
        <p:txBody>
          <a:bodyPr/>
          <a:p/>
        </p:txBody>
      </p:sp>
      <p:sp>
        <p:nvSpPr>
          <p:cNvPr id="65" name="TextBox 64"/>
          <p:cNvSpPr txBox="1"/>
          <p:nvPr/>
        </p:nvSpPr>
        <p:spPr>
          <a:xfrm>
            <a:off x="4517136" y="1801368"/>
            <a:ext cx="9144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500" b="1">
                <a:solidFill>
                  <a:srgbClr val="0B4EA2"/>
                </a:solidFill>
              </a:rPr>
              <a:t>02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517136" y="2093976"/>
            <a:ext cx="3127248" cy="31089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650" b="1">
                <a:solidFill>
                  <a:srgbClr val="2B3648"/>
                </a:solidFill>
              </a:rPr>
              <a:t>纪要 + 待办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4517136" y="2459736"/>
            <a:ext cx="3127248" cy="9601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950" b="0">
                <a:solidFill>
                  <a:srgbClr val="5B6B82"/>
                </a:solidFill>
              </a:rPr>
              <a:t>模板｜「把这段会议记录整理成纪要：结论、决定、待办（谁、做什么、什么时候）。」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4517136" y="3557016"/>
            <a:ext cx="3127248" cy="23774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950" b="1">
                <a:solidFill>
                  <a:srgbClr val="0B4EA2"/>
                </a:solidFill>
              </a:rPr>
              <a:t>待办自动带负责人，不漏事</a:t>
            </a:r>
          </a:p>
        </p:txBody>
      </p:sp>
      <p:sp>
        <p:nvSpPr>
          <p:cNvPr id="11" name="Rectangle 11"/>
          <p:cNvSpPr/>
          <p:nvPr/>
        </p:nvSpPr>
        <p:spPr>
          <a:xfrm>
            <a:off x="8028431" y="1618488"/>
            <a:ext cx="3566160" cy="2249424"/>
          </a:xfrm>
          <a:prstGeom prst="roundRect">
            <a:avLst>
              <a:gd name="adj" fmla="val 4324"/>
            </a:avLst>
          </a:prstGeom>
          <a:solidFill>
            <a:srgbClr val="FFFFFF"/>
          </a:solidFill>
          <a:ln w="9525">
            <a:solidFill>
              <a:srgbClr val="D8E1EC"/>
            </a:solidFill>
          </a:ln>
        </p:spPr>
        <p:txBody>
          <a:bodyPr/>
          <a:p/>
        </p:txBody>
      </p:sp>
      <p:sp>
        <p:nvSpPr>
          <p:cNvPr id="69" name="TextBox 68"/>
          <p:cNvSpPr txBox="1"/>
          <p:nvPr/>
        </p:nvSpPr>
        <p:spPr>
          <a:xfrm>
            <a:off x="8247888" y="1801368"/>
            <a:ext cx="9144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500" b="1">
                <a:solidFill>
                  <a:srgbClr val="0B4EA2"/>
                </a:solidFill>
              </a:rPr>
              <a:t>03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8247888" y="2093976"/>
            <a:ext cx="3127248" cy="31089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650" b="1">
                <a:solidFill>
                  <a:srgbClr val="2B3648"/>
                </a:solidFill>
              </a:rPr>
              <a:t>数据一页速读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8247888" y="2459736"/>
            <a:ext cx="3127248" cy="9601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950" b="0">
                <a:solidFill>
                  <a:srgbClr val="5B6B82"/>
                </a:solidFill>
              </a:rPr>
              <a:t>模板｜「看这份表：总量、占比、最高最低、异常值，5 句话说清，先给结论。」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247888" y="3557016"/>
            <a:ext cx="3127248" cy="23774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950" b="1">
                <a:solidFill>
                  <a:srgbClr val="0B4EA2"/>
                </a:solidFill>
              </a:rPr>
              <a:t>5 分钟看懂一张表，不用翻</a:t>
            </a:r>
          </a:p>
        </p:txBody>
      </p:sp>
      <p:sp>
        <p:nvSpPr>
          <p:cNvPr id="11" name="Rectangle 11"/>
          <p:cNvSpPr/>
          <p:nvPr/>
        </p:nvSpPr>
        <p:spPr>
          <a:xfrm>
            <a:off x="566928" y="4014216"/>
            <a:ext cx="3566160" cy="2249424"/>
          </a:xfrm>
          <a:prstGeom prst="roundRect">
            <a:avLst>
              <a:gd name="adj" fmla="val 4324"/>
            </a:avLst>
          </a:prstGeom>
          <a:solidFill>
            <a:srgbClr val="FFFFFF"/>
          </a:solidFill>
          <a:ln w="9525">
            <a:solidFill>
              <a:srgbClr val="D8E1EC"/>
            </a:solidFill>
          </a:ln>
        </p:spPr>
        <p:txBody>
          <a:bodyPr/>
          <a:p/>
        </p:txBody>
      </p:sp>
      <p:sp>
        <p:nvSpPr>
          <p:cNvPr id="73" name="TextBox 72"/>
          <p:cNvSpPr txBox="1"/>
          <p:nvPr/>
        </p:nvSpPr>
        <p:spPr>
          <a:xfrm>
            <a:off x="786384" y="4197096"/>
            <a:ext cx="9144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500" b="1">
                <a:solidFill>
                  <a:srgbClr val="0B4EA2"/>
                </a:solidFill>
              </a:rPr>
              <a:t>04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786384" y="4489704"/>
            <a:ext cx="3127248" cy="31089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650" b="1">
                <a:solidFill>
                  <a:srgbClr val="2B3648"/>
                </a:solidFill>
              </a:rPr>
              <a:t>邮件第一稿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786384" y="4855464"/>
            <a:ext cx="3127248" cy="9601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950" b="0">
                <a:solidFill>
                  <a:srgbClr val="5B6B82"/>
                </a:solidFill>
              </a:rPr>
              <a:t>模板｜「给（对象）写封邮件，说清（事），语气专业客气，300 字以内，先写初稿我改。」</a:t>
            </a:r>
          </a:p>
        </p:txBody>
      </p:sp>
      <p:sp>
        <p:nvSpPr>
          <p:cNvPr id="76" name="TextBox 75"/>
          <p:cNvSpPr txBox="1"/>
          <p:nvPr/>
        </p:nvSpPr>
        <p:spPr>
          <a:xfrm>
            <a:off x="786384" y="5952744"/>
            <a:ext cx="3127248" cy="23774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950" b="1">
                <a:solidFill>
                  <a:srgbClr val="0B4EA2"/>
                </a:solidFill>
              </a:rPr>
              <a:t>发出去前永远过一遍再发</a:t>
            </a:r>
          </a:p>
        </p:txBody>
      </p:sp>
      <p:sp>
        <p:nvSpPr>
          <p:cNvPr id="11" name="Rectangle 11"/>
          <p:cNvSpPr/>
          <p:nvPr/>
        </p:nvSpPr>
        <p:spPr>
          <a:xfrm>
            <a:off x="4297680" y="4014216"/>
            <a:ext cx="3566160" cy="2249424"/>
          </a:xfrm>
          <a:prstGeom prst="roundRect">
            <a:avLst>
              <a:gd name="adj" fmla="val 4324"/>
            </a:avLst>
          </a:prstGeom>
          <a:solidFill>
            <a:srgbClr val="FFFFFF"/>
          </a:solidFill>
          <a:ln w="9525">
            <a:solidFill>
              <a:srgbClr val="D8E1EC"/>
            </a:solidFill>
          </a:ln>
        </p:spPr>
        <p:txBody>
          <a:bodyPr/>
          <a:p/>
        </p:txBody>
      </p:sp>
      <p:sp>
        <p:nvSpPr>
          <p:cNvPr id="77" name="TextBox 76"/>
          <p:cNvSpPr txBox="1"/>
          <p:nvPr/>
        </p:nvSpPr>
        <p:spPr>
          <a:xfrm>
            <a:off x="4517136" y="4197096"/>
            <a:ext cx="9144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500" b="1">
                <a:solidFill>
                  <a:srgbClr val="0B4EA2"/>
                </a:solidFill>
              </a:rPr>
              <a:t>05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4517136" y="4489704"/>
            <a:ext cx="3127248" cy="31089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650" b="1">
                <a:solidFill>
                  <a:srgbClr val="2B3648"/>
                </a:solidFill>
              </a:rPr>
              <a:t>立项一页纸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4517136" y="4855464"/>
            <a:ext cx="3127248" cy="9601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950" b="0">
                <a:solidFill>
                  <a:srgbClr val="5B6B82"/>
                </a:solidFill>
              </a:rPr>
              <a:t>模板｜「把这事写成立项一页纸：问题、方案、要什么支持、预期收益，给部门总监看。」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4517136" y="5952744"/>
            <a:ext cx="3127248" cy="23774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950" b="1">
                <a:solidFill>
                  <a:srgbClr val="0B4EA2"/>
                </a:solidFill>
              </a:rPr>
              <a:t>给老板看的，就这一页</a:t>
            </a:r>
          </a:p>
        </p:txBody>
      </p:sp>
      <p:sp>
        <p:nvSpPr>
          <p:cNvPr id="11" name="Rectangle 11"/>
          <p:cNvSpPr/>
          <p:nvPr/>
        </p:nvSpPr>
        <p:spPr>
          <a:xfrm>
            <a:off x="8028431" y="4014216"/>
            <a:ext cx="3566160" cy="2249424"/>
          </a:xfrm>
          <a:prstGeom prst="roundRect">
            <a:avLst>
              <a:gd name="adj" fmla="val 4324"/>
            </a:avLst>
          </a:prstGeom>
          <a:solidFill>
            <a:srgbClr val="FFFFFF"/>
          </a:solidFill>
          <a:ln w="9525">
            <a:solidFill>
              <a:srgbClr val="D8E1EC"/>
            </a:solidFill>
          </a:ln>
        </p:spPr>
        <p:txBody>
          <a:bodyPr/>
          <a:p/>
        </p:txBody>
      </p:sp>
      <p:sp>
        <p:nvSpPr>
          <p:cNvPr id="81" name="TextBox 80"/>
          <p:cNvSpPr txBox="1"/>
          <p:nvPr/>
        </p:nvSpPr>
        <p:spPr>
          <a:xfrm>
            <a:off x="8247888" y="4197096"/>
            <a:ext cx="9144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500" b="1">
                <a:solidFill>
                  <a:srgbClr val="0B4EA2"/>
                </a:solidFill>
              </a:rPr>
              <a:t>带走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8247888" y="4489704"/>
            <a:ext cx="3127248" cy="31089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650" b="1">
                <a:solidFill>
                  <a:srgbClr val="2B3648"/>
                </a:solidFill>
              </a:rPr>
              <a:t>这堂课带走什么</a:t>
            </a:r>
          </a:p>
        </p:txBody>
      </p:sp>
      <p:sp>
        <p:nvSpPr>
          <p:cNvPr id="83" name="TextBox 82"/>
          <p:cNvSpPr txBox="1"/>
          <p:nvPr/>
        </p:nvSpPr>
        <p:spPr>
          <a:xfrm>
            <a:off x="8247888" y="4910328"/>
            <a:ext cx="3127248" cy="11887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400"/>
              </a:spcBef>
            </a:pPr>
            <a:r>
              <a:rPr sz="1000" b="0">
                <a:solidFill>
                  <a:srgbClr val="5B6B82"/>
                </a:solidFill>
              </a:rPr>
              <a:t>① 五要素提示词 —— 角色·任务·要求·背景·格式</a:t>
            </a:r>
          </a:p>
          <a:p>
            <a:pPr>
              <a:spcBef>
                <a:spcPts val="400"/>
              </a:spcBef>
            </a:pPr>
            <a:r>
              <a:rPr sz="1000" b="0">
                <a:solidFill>
                  <a:srgbClr val="5B6B82"/>
                </a:solidFill>
              </a:rPr>
              <a:t>② 四招让它别编 —— 给料·让它说不知道·要出处·交叉问</a:t>
            </a:r>
          </a:p>
          <a:p>
            <a:pPr>
              <a:spcBef>
                <a:spcPts val="400"/>
              </a:spcBef>
            </a:pPr>
            <a:r>
              <a:rPr sz="1000" b="0">
                <a:solidFill>
                  <a:srgbClr val="5B6B82"/>
                </a:solidFill>
              </a:rPr>
              <a:t>③ 验证四步 —— 查数据·查关键·交叉·标注</a:t>
            </a:r>
          </a:p>
          <a:p>
            <a:pPr>
              <a:spcBef>
                <a:spcPts val="400"/>
              </a:spcBef>
            </a:pPr>
            <a:r>
              <a:rPr sz="1000" b="0">
                <a:solidFill>
                  <a:srgbClr val="5B6B82"/>
                </a:solidFill>
              </a:rPr>
              <a:t>④ 三红线 —— 涉钱涉密先核实·验证码绝不给 AI</a:t>
            </a:r>
          </a:p>
        </p:txBody>
      </p:sp>
      <p:sp>
        <p:nvSpPr>
          <p:cNvPr id="84" name="TextBox 83"/>
          <p:cNvSpPr txBox="1"/>
          <p:nvPr/>
        </p:nvSpPr>
        <p:spPr>
          <a:xfrm>
            <a:off x="8247888" y="5952744"/>
            <a:ext cx="3127248" cy="23774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950" b="1">
                <a:solidFill>
                  <a:srgbClr val="0B4EA2"/>
                </a:solidFill>
              </a:rPr>
              <a:t>照着做，下周一就见效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9" name="Group 9"/>
          <p:cNvGrpSpPr/>
          <p:nvPr/>
        </p:nvGrpSpPr>
        <p:grpSpPr>
          <a:xfrm>
            <a:off x="-666750" y="-1238250"/>
            <a:ext cx="15144750" cy="10382250"/>
            <a:chOff x="-666750" y="-1238250"/>
            <a:chExt cx="15144750" cy="10382250"/>
          </a:xfrm>
        </p:grpSpPr>
        <p:sp>
          <p:nvSpPr>
            <p:cNvPr id="2" name="Rectangle 2"/>
            <p:cNvSpPr/>
            <p:nvPr/>
          </p:nvSpPr>
          <p:spPr>
            <a:xfrm>
              <a:off x="0" y="0"/>
              <a:ext cx="12192000" cy="6858000"/>
            </a:xfrm>
            <a:prstGeom prst="rect">
              <a:avLst/>
            </a:prstGeom>
            <a:gradFill>
              <a:gsLst>
                <a:gs pos="0">
                  <a:srgbClr val="0B4EA2"/>
                </a:gs>
                <a:gs pos="55000">
                  <a:srgbClr val="1565D8"/>
                </a:gs>
                <a:gs pos="100000">
                  <a:srgbClr val="35A3E8"/>
                </a:gs>
              </a:gsLst>
              <a:lin ang="2700000" scaled="1"/>
            </a:gradFill>
            <a:ln>
              <a:noFill/>
            </a:ln>
          </p:spPr>
          <p:txBody>
            <a:bodyPr/>
            <a:p/>
          </p:txBody>
        </p:sp>
        <p:sp>
          <p:nvSpPr>
            <p:cNvPr id="3" name="Ellipse 3"/>
            <p:cNvSpPr/>
            <p:nvPr/>
          </p:nvSpPr>
          <p:spPr>
            <a:xfrm>
              <a:off x="8382000" y="3048000"/>
              <a:ext cx="6096000" cy="6096000"/>
            </a:xfrm>
            <a:prstGeom prst="ellipse">
              <a:avLst/>
            </a:prstGeom>
            <a:noFill/>
            <a:ln w="14288">
              <a:solidFill>
                <a:srgbClr val="FFFFFF">
                  <a:alpha val="10000"/>
                </a:srgbClr>
              </a:solidFill>
            </a:ln>
          </p:spPr>
          <p:txBody>
            <a:bodyPr/>
            <a:p/>
          </p:txBody>
        </p:sp>
        <p:sp>
          <p:nvSpPr>
            <p:cNvPr id="4" name="Ellipse 4"/>
            <p:cNvSpPr/>
            <p:nvPr/>
          </p:nvSpPr>
          <p:spPr>
            <a:xfrm>
              <a:off x="9048750" y="3714750"/>
              <a:ext cx="4762500" cy="4762500"/>
            </a:xfrm>
            <a:prstGeom prst="ellipse">
              <a:avLst/>
            </a:prstGeom>
            <a:noFill/>
            <a:ln w="14288">
              <a:solidFill>
                <a:srgbClr val="FFFFFF">
                  <a:alpha val="14000"/>
                </a:srgbClr>
              </a:solidFill>
              <a:custDash>
                <a:ds d="266666" sp="533333"/>
              </a:custDash>
            </a:ln>
          </p:spPr>
          <p:txBody>
            <a:bodyPr/>
            <a:p/>
          </p:txBody>
        </p:sp>
        <p:sp>
          <p:nvSpPr>
            <p:cNvPr id="5" name="Ellipse 5"/>
            <p:cNvSpPr/>
            <p:nvPr/>
          </p:nvSpPr>
          <p:spPr>
            <a:xfrm>
              <a:off x="9715500" y="4381500"/>
              <a:ext cx="3429000" cy="3429000"/>
            </a:xfrm>
            <a:prstGeom prst="ellipse">
              <a:avLst/>
            </a:prstGeom>
            <a:noFill/>
            <a:ln w="14288">
              <a:solidFill>
                <a:srgbClr val="FFFFFF">
                  <a:alpha val="10000"/>
                </a:srgbClr>
              </a:solidFill>
            </a:ln>
          </p:spPr>
          <p:txBody>
            <a:bodyPr/>
            <a:p/>
          </p:txBody>
        </p:sp>
        <p:sp>
          <p:nvSpPr>
            <p:cNvPr id="6" name="Ellipse 6"/>
            <p:cNvSpPr/>
            <p:nvPr/>
          </p:nvSpPr>
          <p:spPr>
            <a:xfrm>
              <a:off x="-666750" y="-1238250"/>
              <a:ext cx="3619500" cy="3619500"/>
            </a:xfrm>
            <a:prstGeom prst="ellipse">
              <a:avLst/>
            </a:prstGeom>
            <a:noFill/>
            <a:ln w="14288">
              <a:solidFill>
                <a:srgbClr val="FFFFFF">
                  <a:alpha val="8000"/>
                </a:srgbClr>
              </a:solidFill>
            </a:ln>
          </p:spPr>
          <p:txBody>
            <a:bodyPr/>
            <a:p/>
          </p:txBody>
        </p:sp>
        <p:sp>
          <p:nvSpPr>
            <p:cNvPr id="7" name="Ellipse 7"/>
            <p:cNvSpPr/>
            <p:nvPr/>
          </p:nvSpPr>
          <p:spPr>
            <a:xfrm>
              <a:off x="11382375" y="1095375"/>
              <a:ext cx="95250" cy="95250"/>
            </a:xfrm>
            <a:prstGeom prst="ellipse">
              <a:avLst/>
            </a:prstGeom>
            <a:solidFill>
              <a:srgbClr val="FFFFFF">
                <a:alpha val="20000"/>
              </a:srgbClr>
            </a:solidFill>
            <a:ln>
              <a:noFill/>
            </a:ln>
          </p:spPr>
          <p:txBody>
            <a:bodyPr/>
            <a:p/>
          </p:txBody>
        </p:sp>
        <p:sp>
          <p:nvSpPr>
            <p:cNvPr id="8" name="Ellipse 8"/>
            <p:cNvSpPr/>
            <p:nvPr/>
          </p:nvSpPr>
          <p:spPr>
            <a:xfrm>
              <a:off x="10629900" y="723900"/>
              <a:ext cx="76200" cy="76200"/>
            </a:xfrm>
            <a:prstGeom prst="ellipse">
              <a:avLst/>
            </a:prstGeom>
            <a:solidFill>
              <a:srgbClr val="FFFFFF">
                <a:alpha val="16000"/>
              </a:srgbClr>
            </a:solidFill>
            <a:ln>
              <a:noFill/>
            </a:ln>
          </p:spPr>
          <p:txBody>
            <a:bodyPr/>
            <a:p/>
          </p:txBody>
        </p:sp>
      </p:grpSp>
      <p:sp>
        <p:nvSpPr>
          <p:cNvPr id="10" name="TextBox 10"/>
          <p:cNvSpPr txBox="1"/>
          <p:nvPr/>
        </p:nvSpPr>
        <p:spPr>
          <a:xfrm>
            <a:off x="9619869" y="4038600"/>
            <a:ext cx="2153031" cy="24384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r"/>
            <a:r>
              <a:rPr lang="zh-CN" sz="12000" b="1" dirty="0">
                <a:solidFill>
                  <a:srgbClr val="FFFFFF">
                    <a:alphaMod val="14000"/>
                  </a:srgbClr>
                </a:solidFill>
                <a:latin typeface="Arial"/>
                <a:ea typeface="Microsoft YaHei"/>
                <a:cs typeface="Arial"/>
              </a:rPr>
              <a:t>05</a:t>
            </a:r>
          </a:p>
        </p:txBody>
      </p:sp>
      <p:sp>
        <p:nvSpPr>
          <p:cNvPr id="11" name="TextBox 11"/>
          <p:cNvSpPr txBox="1"/>
          <p:nvPr/>
        </p:nvSpPr>
        <p:spPr>
          <a:xfrm>
            <a:off x="560070" y="474345"/>
            <a:ext cx="634937" cy="18288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900" dirty="0">
                <a:solidFill>
                  <a:srgbClr val="FFFFFF">
                    <a:alphaMod val="50000"/>
                  </a:srgbClr>
                </a:solidFill>
                <a:latin typeface="Arial"/>
                <a:ea typeface="Microsoft YaHei"/>
                <a:cs typeface="Arial"/>
              </a:rPr>
              <a:t>LOGO HERE</a:t>
            </a:r>
          </a:p>
        </p:txBody>
      </p:sp>
      <p:grpSp>
        <p:nvGrpSpPr>
          <p:cNvPr id="18" name="Group 18"/>
          <p:cNvGrpSpPr/>
          <p:nvPr/>
        </p:nvGrpSpPr>
        <p:grpSpPr>
          <a:xfrm>
            <a:off x="529590" y="2423160"/>
            <a:ext cx="3524488" cy="2258378"/>
            <a:chOff x="529590" y="2423160"/>
            <a:chExt cx="3524488" cy="2258378"/>
          </a:xfrm>
        </p:grpSpPr>
        <p:sp>
          <p:nvSpPr>
            <p:cNvPr id="12" name="TextBox 12"/>
            <p:cNvSpPr txBox="1"/>
            <p:nvPr/>
          </p:nvSpPr>
          <p:spPr>
            <a:xfrm>
              <a:off x="556260" y="2423160"/>
              <a:ext cx="1006602" cy="24384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00" dirty="0">
                  <a:solidFill>
                    <a:srgbClr val="FFFFFF">
                      <a:alphaMod val="70000"/>
                    </a:srgbClr>
                  </a:solidFill>
                  <a:latin typeface="Arial"/>
                  <a:ea typeface="Microsoft YaHei"/>
                  <a:cs typeface="Arial"/>
                </a:rPr>
                <a:t>CHAPTER FIVE</a:t>
              </a:r>
            </a:p>
          </p:txBody>
        </p:sp>
        <p:sp>
          <p:nvSpPr>
            <p:cNvPr id="13" name="Rectangle 13"/>
            <p:cNvSpPr/>
            <p:nvPr/>
          </p:nvSpPr>
          <p:spPr>
            <a:xfrm>
              <a:off x="571500" y="2781300"/>
              <a:ext cx="533400" cy="38100"/>
            </a:xfrm>
            <a:prstGeom prst="roundRect">
              <a:avLst>
                <a:gd name="adj" fmla="val 50000"/>
              </a:avLst>
            </a:prstGeom>
            <a:solidFill>
              <a:srgbClr val="FFFFFF">
                <a:alpha val="85000"/>
              </a:srgbClr>
            </a:solidFill>
            <a:ln>
              <a:noFill/>
            </a:ln>
          </p:spPr>
          <p:txBody>
            <a:bodyPr/>
            <a:p/>
          </p:txBody>
        </p:sp>
        <p:sp>
          <p:nvSpPr>
            <p:cNvPr id="14" name="TextBox 14"/>
            <p:cNvSpPr txBox="1"/>
            <p:nvPr/>
          </p:nvSpPr>
          <p:spPr>
            <a:xfrm>
              <a:off x="529590" y="2996565"/>
              <a:ext cx="3318224" cy="67056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3300" b="1" dirty="0">
                  <a:solidFill>
                    <a:srgbClr val="FFFFFF"/>
                  </a:solidFill>
                  <a:latin typeface="Arial"/>
                  <a:ea typeface="Microsoft YaHei"/>
                  <a:cs typeface="Arial"/>
                </a:rPr>
                <a:t>工具生态与实操</a:t>
              </a:r>
            </a:p>
          </p:txBody>
        </p:sp>
        <p:sp>
          <p:nvSpPr>
            <p:cNvPr id="15" name="TextBox 15"/>
            <p:cNvSpPr txBox="1"/>
            <p:nvPr/>
          </p:nvSpPr>
          <p:spPr>
            <a:xfrm>
              <a:off x="550545" y="3593782"/>
              <a:ext cx="2022158" cy="33528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650" dirty="0">
                  <a:solidFill>
                    <a:srgbClr val="FFFFFF">
                      <a:alphaMod val="85000"/>
                    </a:srgbClr>
                  </a:solidFill>
                  <a:latin typeface="Arial"/>
                  <a:ea typeface="Microsoft YaHei"/>
                  <a:cs typeface="Arial"/>
                </a:rPr>
                <a:t>挑对工具，马上动手</a:t>
              </a:r>
            </a:p>
          </p:txBody>
        </p:sp>
        <p:sp>
          <p:nvSpPr>
            <p:cNvPr id="16" name="TextBox 16"/>
            <p:cNvSpPr txBox="1"/>
            <p:nvPr/>
          </p:nvSpPr>
          <p:spPr>
            <a:xfrm>
              <a:off x="554355" y="4121468"/>
              <a:ext cx="3499723" cy="27432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FFFFFF">
                      <a:alphaMod val="75000"/>
                    </a:srgbClr>
                  </a:solidFill>
                  <a:latin typeface="Arial"/>
                  <a:ea typeface="Microsoft YaHei"/>
                  <a:cs typeface="Arial"/>
                </a:rPr>
                <a:t>AI 不只是聊天框——六大类工具、三步上手，</a:t>
              </a:r>
            </a:p>
          </p:txBody>
        </p:sp>
        <p:sp>
          <p:nvSpPr>
            <p:cNvPr id="17" name="TextBox 17"/>
            <p:cNvSpPr txBox="1"/>
            <p:nvPr/>
          </p:nvSpPr>
          <p:spPr>
            <a:xfrm>
              <a:off x="554355" y="4407218"/>
              <a:ext cx="2815638" cy="27432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FFFFFF">
                      <a:alphaMod val="75000"/>
                    </a:srgbClr>
                  </a:solidFill>
                  <a:latin typeface="Arial"/>
                  <a:ea typeface="Microsoft YaHei"/>
                  <a:cs typeface="Arial"/>
                </a:rPr>
                <a:t>WorkBuddy 现场演示，当场就会。</a:t>
              </a:r>
            </a:p>
          </p:txBody>
        </p:sp>
      </p:grpSp>
    </p:spTree>
  </p:cSld>
  <p:clrMapOvr>
    <a:masterClrMapping/>
  </p:clrMapOvr>
  <p:transition xmlns:p14="http://schemas.microsoft.com/office/powerpoint/2010/main" p14:dur="400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8" grpId="0"/>
    </p:bldLst>
  </p:timing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5" name="Group 5"/>
          <p:cNvGrpSpPr/>
          <p:nvPr/>
        </p:nvGrpSpPr>
        <p:grpSpPr>
          <a:xfrm>
            <a:off x="-1619250" y="0"/>
            <a:ext cx="13811250" cy="8477250"/>
            <a:chOff x="-1619250" y="0"/>
            <a:chExt cx="13811250" cy="8477250"/>
          </a:xfrm>
        </p:grpSpPr>
        <p:sp>
          <p:nvSpPr>
            <p:cNvPr id="2" name="Rectangle 2"/>
            <p:cNvSpPr/>
            <p:nvPr/>
          </p:nvSpPr>
          <p:spPr>
            <a:xfrm>
              <a:off x="0" y="0"/>
              <a:ext cx="12192000" cy="6858000"/>
            </a:xfrm>
            <a:prstGeom prst="rect">
              <a:avLst/>
            </a:prstGeom>
            <a:solidFill>
              <a:srgbClr val="F5F7FA"/>
            </a:solidFill>
            <a:ln>
              <a:noFill/>
            </a:ln>
          </p:spPr>
          <p:txBody>
            <a:bodyPr/>
            <a:p/>
          </p:txBody>
        </p:sp>
        <p:sp>
          <p:nvSpPr>
            <p:cNvPr id="3" name="Rectangle 3"/>
            <p:cNvSpPr/>
            <p:nvPr/>
          </p:nvSpPr>
          <p:spPr>
            <a:xfrm>
              <a:off x="0" y="0"/>
              <a:ext cx="12192000" cy="6858000"/>
            </a:xfrm>
            <a:prstGeom prst="rect">
              <a:avLst/>
            </a:prstGeom>
            <a:gradFill>
              <a:gsLst>
                <a:gs pos="0">
                  <a:srgbClr val="1565D8">
                    <a:alpha val="6000"/>
                  </a:srgbClr>
                </a:gs>
                <a:gs pos="100000">
                  <a:srgbClr val="1565D8">
                    <a:alpha val="0"/>
                  </a:srgbClr>
                </a:gs>
              </a:gsLst>
              <a:path path="circle">
                <a:fillToRect l="50000" t="50000" r="50000" b="50000"/>
              </a:path>
            </a:gradFill>
            <a:ln>
              <a:noFill/>
            </a:ln>
          </p:spPr>
          <p:txBody>
            <a:bodyPr/>
            <a:p/>
          </p:txBody>
        </p:sp>
        <p:sp>
          <p:nvSpPr>
            <p:cNvPr id="4" name="Ellipse 4"/>
            <p:cNvSpPr/>
            <p:nvPr/>
          </p:nvSpPr>
          <p:spPr>
            <a:xfrm>
              <a:off x="-1619250" y="4667250"/>
              <a:ext cx="3810000" cy="3810000"/>
            </a:xfrm>
            <a:prstGeom prst="ellipse">
              <a:avLst/>
            </a:prstGeom>
            <a:noFill/>
            <a:ln w="14288">
              <a:solidFill>
                <a:srgbClr val="D6E6F9">
                  <a:alpha val="80000"/>
                </a:srgbClr>
              </a:solidFill>
            </a:ln>
          </p:spPr>
          <p:txBody>
            <a:bodyPr/>
            <a:p/>
          </p:txBody>
        </p:sp>
      </p:grpSp>
      <p:grpSp>
        <p:nvGrpSpPr>
          <p:cNvPr id="9" name="Group 9"/>
          <p:cNvGrpSpPr/>
          <p:nvPr/>
        </p:nvGrpSpPr>
        <p:grpSpPr>
          <a:xfrm>
            <a:off x="571500" y="685800"/>
            <a:ext cx="4791313" cy="700088"/>
            <a:chOff x="571500" y="685800"/>
            <a:chExt cx="4791313" cy="700088"/>
          </a:xfrm>
        </p:grpSpPr>
        <p:sp>
          <p:nvSpPr>
            <p:cNvPr id="6" name="Rectangle 6"/>
            <p:cNvSpPr/>
            <p:nvPr/>
          </p:nvSpPr>
          <p:spPr>
            <a:xfrm>
              <a:off x="571500" y="685800"/>
              <a:ext cx="76200" cy="323850"/>
            </a:xfrm>
            <a:prstGeom prst="roundRect">
              <a:avLst>
                <a:gd name="adj" fmla="val 50000"/>
              </a:avLst>
            </a:prstGeom>
            <a:solidFill>
              <a:srgbClr val="1565D8"/>
            </a:solidFill>
            <a:ln>
              <a:noFill/>
            </a:ln>
          </p:spPr>
          <p:txBody>
            <a:bodyPr/>
            <a:p/>
          </p:txBody>
        </p:sp>
        <p:sp>
          <p:nvSpPr>
            <p:cNvPr id="7" name="TextBox 7"/>
            <p:cNvSpPr txBox="1"/>
            <p:nvPr/>
          </p:nvSpPr>
          <p:spPr>
            <a:xfrm>
              <a:off x="771525" y="700088"/>
              <a:ext cx="2089154" cy="45720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2250" b="1" dirty="0">
                  <a:solidFill>
                    <a:srgbClr val="2B3648"/>
                  </a:solidFill>
                  <a:latin typeface="Arial"/>
                  <a:ea typeface="Microsoft YaHei"/>
                  <a:cs typeface="Arial"/>
                </a:rPr>
                <a:t>六大类 AI 工具</a:t>
              </a:r>
            </a:p>
          </p:txBody>
        </p:sp>
        <p:sp>
          <p:nvSpPr>
            <p:cNvPr id="8" name="TextBox 8"/>
            <p:cNvSpPr txBox="1"/>
            <p:nvPr/>
          </p:nvSpPr>
          <p:spPr>
            <a:xfrm>
              <a:off x="782955" y="1111568"/>
              <a:ext cx="4579858" cy="27432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5B6B82"/>
                  </a:solidFill>
                  <a:latin typeface="Arial"/>
                  <a:ea typeface="Microsoft YaHei"/>
                  <a:cs typeface="Arial"/>
                </a:rPr>
                <a:t>地图，不是清单——每类挑 1 个入门，别的知道在哪找就行</a:t>
              </a:r>
            </a:p>
          </p:txBody>
        </p:sp>
      </p:grpSp>
      <p:grpSp>
        <p:nvGrpSpPr>
          <p:cNvPr id="87" name="Group 87"/>
          <p:cNvGrpSpPr/>
          <p:nvPr/>
        </p:nvGrpSpPr>
        <p:grpSpPr>
          <a:xfrm>
            <a:off x="571500" y="1619250"/>
            <a:ext cx="10991850" cy="3943350"/>
            <a:chOff x="571500" y="1619250"/>
            <a:chExt cx="10991850" cy="3943350"/>
          </a:xfrm>
        </p:grpSpPr>
        <p:grpSp>
          <p:nvGrpSpPr>
            <p:cNvPr id="18" name="Group 18"/>
            <p:cNvGrpSpPr/>
            <p:nvPr/>
          </p:nvGrpSpPr>
          <p:grpSpPr>
            <a:xfrm>
              <a:off x="571500" y="1619250"/>
              <a:ext cx="3524250" cy="1905000"/>
              <a:chOff x="571500" y="1619250"/>
              <a:chExt cx="3524250" cy="1905000"/>
            </a:xfrm>
          </p:grpSpPr>
          <p:sp>
            <p:nvSpPr>
              <p:cNvPr id="10" name="Rectangle 10"/>
              <p:cNvSpPr/>
              <p:nvPr/>
            </p:nvSpPr>
            <p:spPr>
              <a:xfrm>
                <a:off x="571500" y="1619250"/>
                <a:ext cx="3524250" cy="1905000"/>
              </a:xfrm>
              <a:prstGeom prst="roundRect">
                <a:avLst>
                  <a:gd name="adj" fmla="val 8000"/>
                </a:avLst>
              </a:prstGeom>
              <a:solidFill>
                <a:srgbClr val="FFFFFF"/>
              </a:solidFill>
              <a:ln w="9525">
                <a:solidFill>
                  <a:srgbClr val="D8E1EC"/>
                </a:solidFill>
              </a:ln>
            </p:spPr>
            <p:txBody>
              <a:bodyPr/>
              <a:p/>
            </p:txBody>
          </p:sp>
          <p:sp>
            <p:nvSpPr>
              <p:cNvPr id="11" name="Ellipse 11"/>
              <p:cNvSpPr/>
              <p:nvPr/>
            </p:nvSpPr>
            <p:spPr>
              <a:xfrm>
                <a:off x="628650" y="1790700"/>
                <a:ext cx="381000" cy="381000"/>
              </a:xfrm>
              <a:prstGeom prst="ellipse">
                <a:avLst/>
              </a:prstGeom>
              <a:solidFill>
                <a:srgbClr val="D6E6F9"/>
              </a:solidFill>
              <a:ln>
                <a:noFill/>
              </a:ln>
            </p:spPr>
            <p:txBody>
              <a:bodyPr/>
              <a:p/>
            </p:txBody>
          </p:sp>
          <p:sp>
            <p:nvSpPr>
              <p:cNvPr id="12" name="Freeform 12"/>
              <p:cNvSpPr/>
              <p:nvPr/>
            </p:nvSpPr>
            <p:spPr>
              <a:xfrm>
                <a:off x="723671" y="1897618"/>
                <a:ext cx="190157" cy="168564"/>
              </a:xfrm>
              <a:custGeom>
                <a:avLst/>
                <a:gdLst/>
                <a:ahLst/>
                <a:cxnLst/>
                <a:rect l="l" t="t" r="r" b="b"/>
                <a:pathLst>
                  <a:path w="190157" h="168564">
                    <a:moveTo>
                      <a:pt x="9754" y="159782"/>
                    </a:moveTo>
                    <a:lnTo>
                      <a:pt x="22136" y="122634"/>
                    </a:lnTo>
                    <a:cubicBezTo>
                      <a:pt x="0" y="89897"/>
                      <a:pt x="8553" y="47654"/>
                      <a:pt x="42139" y="23822"/>
                    </a:cubicBezTo>
                    <a:cubicBezTo>
                      <a:pt x="75724" y="0"/>
                      <a:pt x="123958" y="1953"/>
                      <a:pt x="154962" y="28394"/>
                    </a:cubicBezTo>
                    <a:cubicBezTo>
                      <a:pt x="185966" y="54845"/>
                      <a:pt x="190157" y="97603"/>
                      <a:pt x="164763" y="128416"/>
                    </a:cubicBezTo>
                    <a:cubicBezTo>
                      <a:pt x="139370" y="159229"/>
                      <a:pt x="92231" y="168564"/>
                      <a:pt x="54521" y="150257"/>
                    </a:cubicBezTo>
                    <a:lnTo>
                      <a:pt x="9754" y="159782"/>
                    </a:lnTo>
                  </a:path>
                </a:pathLst>
              </a:custGeom>
              <a:noFill/>
              <a:ln w="19050">
                <a:solidFill>
                  <a:srgbClr val="1565D8"/>
                </a:solidFill>
              </a:ln>
            </p:spPr>
            <p:txBody>
              <a:bodyPr/>
              <a:p/>
            </p:txBody>
          </p:sp>
          <p:sp>
            <p:nvSpPr>
              <p:cNvPr id="13" name="TextBox 13"/>
              <p:cNvSpPr txBox="1"/>
              <p:nvPr/>
            </p:nvSpPr>
            <p:spPr>
              <a:xfrm>
                <a:off x="1104900" y="1895475"/>
                <a:ext cx="1266754" cy="3048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l"/>
                <a:r>
                  <a:rPr lang="zh-CN" sz="1500" b="1" dirty="0">
                    <a:solidFill>
                      <a:srgbClr val="2B3648"/>
                    </a:solidFill>
                    <a:latin typeface="Arial"/>
                    <a:ea typeface="Microsoft YaHei"/>
                    <a:cs typeface="Arial"/>
                  </a:rPr>
                  <a:t>① 聊天大模型</a:t>
                </a:r>
              </a:p>
            </p:txBody>
          </p:sp>
          <p:sp>
            <p:nvSpPr>
              <p:cNvPr id="14" name="TextBox 14"/>
              <p:cNvSpPr txBox="1"/>
              <p:nvPr/>
            </p:nvSpPr>
            <p:spPr>
              <a:xfrm>
                <a:off x="786765" y="2306002"/>
                <a:ext cx="2581989" cy="21336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l"/>
                <a:r>
                  <a:rPr lang="zh-CN" sz="1050" dirty="0">
                    <a:solidFill>
                      <a:srgbClr val="5B6B82"/>
                    </a:solidFill>
                    <a:latin typeface="Arial"/>
                    <a:ea typeface="Microsoft YaHei"/>
                    <a:cs typeface="Arial"/>
                  </a:rPr>
                  <a:t>日常问答、写作、分析——你的「AI 助手」</a:t>
                </a:r>
              </a:p>
            </p:txBody>
          </p:sp>
          <p:sp>
            <p:nvSpPr>
              <p:cNvPr id="15" name="TextBox 15"/>
              <p:cNvSpPr txBox="1"/>
              <p:nvPr/>
            </p:nvSpPr>
            <p:spPr>
              <a:xfrm>
                <a:off x="786765" y="2553652"/>
                <a:ext cx="2729008" cy="21336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l"/>
                <a:r>
                  <a:rPr lang="zh-CN" sz="1050" dirty="0">
                    <a:solidFill>
                      <a:srgbClr val="5B6B82"/>
                    </a:solidFill>
                    <a:latin typeface="Arial"/>
                    <a:ea typeface="Microsoft YaHei"/>
                    <a:cs typeface="Arial"/>
                  </a:rPr>
                  <a:t>代表：DeepSeek、Kimi、豆包、通义千问、</a:t>
                </a:r>
              </a:p>
            </p:txBody>
          </p:sp>
          <p:sp>
            <p:nvSpPr>
              <p:cNvPr id="16" name="TextBox 16"/>
              <p:cNvSpPr txBox="1"/>
              <p:nvPr/>
            </p:nvSpPr>
            <p:spPr>
              <a:xfrm>
                <a:off x="786765" y="2763202"/>
                <a:ext cx="1286828" cy="21336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l"/>
                <a:r>
                  <a:rPr lang="zh-CN" sz="1050" dirty="0">
                    <a:solidFill>
                      <a:srgbClr val="5B6B82"/>
                    </a:solidFill>
                    <a:latin typeface="Arial"/>
                    <a:ea typeface="Microsoft YaHei"/>
                    <a:cs typeface="Arial"/>
                  </a:rPr>
                  <a:t>文心一言、GPT、Claude（国外）</a:t>
                </a:r>
              </a:p>
            </p:txBody>
          </p:sp>
          <p:sp>
            <p:nvSpPr>
              <p:cNvPr id="17" name="TextBox 17"/>
              <p:cNvSpPr txBox="1"/>
              <p:nvPr/>
            </p:nvSpPr>
            <p:spPr>
              <a:xfrm>
                <a:off x="786765" y="3144202"/>
                <a:ext cx="2540684" cy="21336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l"/>
                <a:r>
                  <a:rPr lang="zh-CN" sz="1050" b="1" dirty="0">
                    <a:solidFill>
                      <a:srgbClr val="0B4EA2"/>
                    </a:solidFill>
                    <a:latin typeface="Arial"/>
                    <a:ea typeface="Microsoft YaHei"/>
                    <a:cs typeface="Arial"/>
                  </a:rPr>
                  <a:t>入门：打开网页 / 装 App，注册就能问</a:t>
                </a:r>
              </a:p>
            </p:txBody>
          </p:sp>
        </p:grpSp>
        <p:grpSp>
          <p:nvGrpSpPr>
            <p:cNvPr id="31" name="Group 31"/>
            <p:cNvGrpSpPr/>
            <p:nvPr/>
          </p:nvGrpSpPr>
          <p:grpSpPr>
            <a:xfrm>
              <a:off x="4305300" y="1619250"/>
              <a:ext cx="3524250" cy="1905000"/>
              <a:chOff x="4305300" y="1619250"/>
              <a:chExt cx="3524250" cy="1905000"/>
            </a:xfrm>
          </p:grpSpPr>
          <p:sp>
            <p:nvSpPr>
              <p:cNvPr id="19" name="Rectangle 19"/>
              <p:cNvSpPr/>
              <p:nvPr/>
            </p:nvSpPr>
            <p:spPr>
              <a:xfrm>
                <a:off x="4305300" y="1619250"/>
                <a:ext cx="3524250" cy="1905000"/>
              </a:xfrm>
              <a:prstGeom prst="roundRect">
                <a:avLst>
                  <a:gd name="adj" fmla="val 8000"/>
                </a:avLst>
              </a:prstGeom>
              <a:solidFill>
                <a:srgbClr val="FFFFFF"/>
              </a:solidFill>
              <a:ln w="9525">
                <a:solidFill>
                  <a:srgbClr val="D8E1EC"/>
                </a:solidFill>
              </a:ln>
            </p:spPr>
            <p:txBody>
              <a:bodyPr/>
              <a:p/>
            </p:txBody>
          </p:sp>
          <p:sp>
            <p:nvSpPr>
              <p:cNvPr id="20" name="Ellipse 20"/>
              <p:cNvSpPr/>
              <p:nvPr/>
            </p:nvSpPr>
            <p:spPr>
              <a:xfrm>
                <a:off x="4362450" y="1790700"/>
                <a:ext cx="381000" cy="381000"/>
              </a:xfrm>
              <a:prstGeom prst="ellipse">
                <a:avLst/>
              </a:prstGeom>
              <a:solidFill>
                <a:srgbClr val="D6E6F9"/>
              </a:solidFill>
              <a:ln>
                <a:noFill/>
              </a:ln>
            </p:spPr>
            <p:txBody>
              <a:bodyPr/>
              <a:p/>
            </p:txBody>
          </p:sp>
          <p:grpSp>
            <p:nvGrpSpPr>
              <p:cNvPr id="25" name="Group 25"/>
              <p:cNvGrpSpPr/>
              <p:nvPr/>
            </p:nvGrpSpPr>
            <p:grpSpPr>
              <a:xfrm>
                <a:off x="4467225" y="1895475"/>
                <a:ext cx="171450" cy="161925"/>
                <a:chOff x="4467225" y="1895475"/>
                <a:chExt cx="171450" cy="161925"/>
              </a:xfrm>
            </p:grpSpPr>
            <p:sp>
              <p:nvSpPr>
                <p:cNvPr id="21" name="Freeform 21"/>
                <p:cNvSpPr/>
                <p:nvPr/>
              </p:nvSpPr>
              <p:spPr>
                <a:xfrm>
                  <a:off x="4467225" y="1933575"/>
                  <a:ext cx="171450" cy="123825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171450" h="123825">
                      <a:moveTo>
                        <a:pt x="0" y="19050"/>
                      </a:moveTo>
                      <a:cubicBezTo>
                        <a:pt x="0" y="8529"/>
                        <a:pt x="8529" y="0"/>
                        <a:pt x="19050" y="0"/>
                      </a:cubicBezTo>
                      <a:lnTo>
                        <a:pt x="152400" y="0"/>
                      </a:lnTo>
                      <a:cubicBezTo>
                        <a:pt x="162921" y="0"/>
                        <a:pt x="171450" y="8529"/>
                        <a:pt x="171450" y="19050"/>
                      </a:cubicBezTo>
                      <a:lnTo>
                        <a:pt x="171450" y="104775"/>
                      </a:lnTo>
                      <a:cubicBezTo>
                        <a:pt x="171450" y="115296"/>
                        <a:pt x="162921" y="123825"/>
                        <a:pt x="152400" y="123825"/>
                      </a:cubicBezTo>
                      <a:lnTo>
                        <a:pt x="19050" y="123825"/>
                      </a:lnTo>
                      <a:cubicBezTo>
                        <a:pt x="8529" y="123825"/>
                        <a:pt x="0" y="115296"/>
                        <a:pt x="0" y="104775"/>
                      </a:cubicBezTo>
                      <a:lnTo>
                        <a:pt x="0" y="19050"/>
                      </a:lnTo>
                    </a:path>
                  </a:pathLst>
                </a:custGeom>
                <a:noFill/>
                <a:ln w="19050">
                  <a:solidFill>
                    <a:srgbClr val="1565D8"/>
                  </a:solidFill>
                </a:ln>
              </p:spPr>
              <p:txBody>
                <a:bodyPr/>
                <a:p/>
              </p:txBody>
            </p:sp>
            <p:sp>
              <p:nvSpPr>
                <p:cNvPr id="22" name="Freeform 22"/>
                <p:cNvSpPr/>
                <p:nvPr/>
              </p:nvSpPr>
              <p:spPr>
                <a:xfrm>
                  <a:off x="4514850" y="1895475"/>
                  <a:ext cx="76200" cy="38100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76200" h="38100">
                      <a:moveTo>
                        <a:pt x="0" y="38100"/>
                      </a:moveTo>
                      <a:lnTo>
                        <a:pt x="0" y="19050"/>
                      </a:lnTo>
                      <a:cubicBezTo>
                        <a:pt x="0" y="8529"/>
                        <a:pt x="8529" y="0"/>
                        <a:pt x="19050" y="0"/>
                      </a:cubicBezTo>
                      <a:lnTo>
                        <a:pt x="57150" y="0"/>
                      </a:lnTo>
                      <a:cubicBezTo>
                        <a:pt x="67671" y="0"/>
                        <a:pt x="76200" y="8529"/>
                        <a:pt x="76200" y="19050"/>
                      </a:cubicBezTo>
                      <a:lnTo>
                        <a:pt x="76200" y="38100"/>
                      </a:lnTo>
                    </a:path>
                  </a:pathLst>
                </a:custGeom>
                <a:noFill/>
                <a:ln w="19050">
                  <a:solidFill>
                    <a:srgbClr val="1565D8"/>
                  </a:solidFill>
                </a:ln>
              </p:spPr>
              <p:txBody>
                <a:bodyPr/>
                <a:p/>
              </p:txBody>
            </p:sp>
            <p:sp>
              <p:nvSpPr>
                <p:cNvPr id="23" name="Freeform 23"/>
                <p:cNvSpPr/>
                <p:nvPr/>
              </p:nvSpPr>
              <p:spPr>
                <a:xfrm>
                  <a:off x="4552950" y="1981200"/>
                  <a:ext cx="9525" cy="9525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9525" h="9525">
                      <a:moveTo>
                        <a:pt x="0" y="0"/>
                      </a:moveTo>
                      <a:lnTo>
                        <a:pt x="0" y="95"/>
                      </a:lnTo>
                    </a:path>
                  </a:pathLst>
                </a:custGeom>
                <a:noFill/>
                <a:ln w="19050">
                  <a:solidFill>
                    <a:srgbClr val="1565D8"/>
                  </a:solidFill>
                </a:ln>
              </p:spPr>
              <p:txBody>
                <a:bodyPr/>
                <a:p/>
              </p:txBody>
            </p:sp>
            <p:sp>
              <p:nvSpPr>
                <p:cNvPr id="24" name="Freeform 24"/>
                <p:cNvSpPr/>
                <p:nvPr/>
              </p:nvSpPr>
              <p:spPr>
                <a:xfrm>
                  <a:off x="4467225" y="1990725"/>
                  <a:ext cx="171450" cy="27171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171450" h="27171">
                      <a:moveTo>
                        <a:pt x="0" y="0"/>
                      </a:moveTo>
                      <a:cubicBezTo>
                        <a:pt x="53921" y="27171"/>
                        <a:pt x="117529" y="27171"/>
                        <a:pt x="171450" y="0"/>
                      </a:cubicBezTo>
                    </a:path>
                  </a:pathLst>
                </a:custGeom>
                <a:noFill/>
                <a:ln w="19050">
                  <a:solidFill>
                    <a:srgbClr val="1565D8"/>
                  </a:solidFill>
                </a:ln>
              </p:spPr>
              <p:txBody>
                <a:bodyPr/>
                <a:p/>
              </p:txBody>
            </p:sp>
          </p:grpSp>
          <p:sp>
            <p:nvSpPr>
              <p:cNvPr id="26" name="TextBox 26"/>
              <p:cNvSpPr txBox="1"/>
              <p:nvPr/>
            </p:nvSpPr>
            <p:spPr>
              <a:xfrm>
                <a:off x="4838700" y="1895475"/>
                <a:ext cx="878205" cy="3048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l"/>
                <a:r>
                  <a:rPr lang="zh-CN" sz="1500" b="1" dirty="0">
                    <a:solidFill>
                      <a:srgbClr val="2B3648"/>
                    </a:solidFill>
                    <a:latin typeface="Arial"/>
                    <a:ea typeface="Microsoft YaHei"/>
                    <a:cs typeface="Arial"/>
                  </a:rPr>
                  <a:t>② 办公 AI</a:t>
                </a:r>
              </a:p>
            </p:txBody>
          </p:sp>
          <p:sp>
            <p:nvSpPr>
              <p:cNvPr id="27" name="TextBox 27"/>
              <p:cNvSpPr txBox="1"/>
              <p:nvPr/>
            </p:nvSpPr>
            <p:spPr>
              <a:xfrm>
                <a:off x="4520565" y="2306002"/>
                <a:ext cx="2266950" cy="21336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l"/>
                <a:r>
                  <a:rPr lang="zh-CN" sz="1050" dirty="0">
                    <a:solidFill>
                      <a:srgbClr val="5B6B82"/>
                    </a:solidFill>
                    <a:latin typeface="Arial"/>
                    <a:ea typeface="Microsoft YaHei"/>
                    <a:cs typeface="Arial"/>
                  </a:rPr>
                  <a:t>嵌在你天天用的软件里，上手最简单</a:t>
                </a:r>
              </a:p>
            </p:txBody>
          </p:sp>
          <p:sp>
            <p:nvSpPr>
              <p:cNvPr id="28" name="TextBox 28"/>
              <p:cNvSpPr txBox="1"/>
              <p:nvPr/>
            </p:nvSpPr>
            <p:spPr>
              <a:xfrm>
                <a:off x="4520565" y="2553652"/>
                <a:ext cx="2687002" cy="21336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l"/>
                <a:r>
                  <a:rPr lang="zh-CN" sz="1050" dirty="0">
                    <a:solidFill>
                      <a:srgbClr val="5B6B82"/>
                    </a:solidFill>
                    <a:latin typeface="Arial"/>
                    <a:ea typeface="Microsoft YaHei"/>
                    <a:cs typeface="Arial"/>
                  </a:rPr>
                  <a:t>代表：WPS AI、讯飞听见、飞书智能伙伴、</a:t>
                </a:r>
              </a:p>
            </p:txBody>
          </p:sp>
          <p:sp>
            <p:nvSpPr>
              <p:cNvPr id="29" name="TextBox 29"/>
              <p:cNvSpPr txBox="1"/>
              <p:nvPr/>
            </p:nvSpPr>
            <p:spPr>
              <a:xfrm>
                <a:off x="4520565" y="2763202"/>
                <a:ext cx="1713881" cy="21336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l"/>
                <a:r>
                  <a:rPr lang="zh-CN" sz="1050" dirty="0">
                    <a:solidFill>
                      <a:srgbClr val="5B6B82"/>
                    </a:solidFill>
                    <a:latin typeface="Arial"/>
                    <a:ea typeface="Microsoft YaHei"/>
                    <a:cs typeface="Arial"/>
                  </a:rPr>
                  <a:t>千问办公（公测）、M365 Copilot</a:t>
                </a:r>
              </a:p>
            </p:txBody>
          </p:sp>
          <p:sp>
            <p:nvSpPr>
              <p:cNvPr id="30" name="TextBox 30"/>
              <p:cNvSpPr txBox="1"/>
              <p:nvPr/>
            </p:nvSpPr>
            <p:spPr>
              <a:xfrm>
                <a:off x="4520565" y="3144202"/>
                <a:ext cx="2739159" cy="21336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l"/>
                <a:r>
                  <a:rPr lang="zh-CN" sz="1050" b="1" dirty="0">
                    <a:solidFill>
                      <a:srgbClr val="0B4EA2"/>
                    </a:solidFill>
                    <a:latin typeface="Arial"/>
                    <a:ea typeface="Microsoft YaHei"/>
                    <a:cs typeface="Arial"/>
                  </a:rPr>
                  <a:t>入门：在软件里找 AI 入口，对当前文档用</a:t>
                </a:r>
              </a:p>
            </p:txBody>
          </p:sp>
        </p:grpSp>
        <p:grpSp>
          <p:nvGrpSpPr>
            <p:cNvPr id="49" name="Group 49"/>
            <p:cNvGrpSpPr/>
            <p:nvPr/>
          </p:nvGrpSpPr>
          <p:grpSpPr>
            <a:xfrm>
              <a:off x="8039100" y="1619250"/>
              <a:ext cx="3524250" cy="1905000"/>
              <a:chOff x="8039100" y="1619250"/>
              <a:chExt cx="3524250" cy="1905000"/>
            </a:xfrm>
          </p:grpSpPr>
          <p:sp>
            <p:nvSpPr>
              <p:cNvPr id="32" name="Rectangle 32"/>
              <p:cNvSpPr/>
              <p:nvPr/>
            </p:nvSpPr>
            <p:spPr>
              <a:xfrm>
                <a:off x="8039100" y="1619250"/>
                <a:ext cx="3524250" cy="1905000"/>
              </a:xfrm>
              <a:prstGeom prst="roundRect">
                <a:avLst>
                  <a:gd name="adj" fmla="val 8000"/>
                </a:avLst>
              </a:prstGeom>
              <a:solidFill>
                <a:srgbClr val="FFFFFF"/>
              </a:solidFill>
              <a:ln w="9525">
                <a:solidFill>
                  <a:srgbClr val="D8E1EC"/>
                </a:solidFill>
              </a:ln>
            </p:spPr>
            <p:txBody>
              <a:bodyPr/>
              <a:p/>
            </p:txBody>
          </p:sp>
          <p:sp>
            <p:nvSpPr>
              <p:cNvPr id="33" name="Ellipse 33"/>
              <p:cNvSpPr/>
              <p:nvPr/>
            </p:nvSpPr>
            <p:spPr>
              <a:xfrm>
                <a:off x="8096250" y="1790700"/>
                <a:ext cx="381000" cy="381000"/>
              </a:xfrm>
              <a:prstGeom prst="ellipse">
                <a:avLst/>
              </a:prstGeom>
              <a:solidFill>
                <a:srgbClr val="D6E6F9"/>
              </a:solidFill>
              <a:ln>
                <a:noFill/>
              </a:ln>
            </p:spPr>
            <p:txBody>
              <a:bodyPr/>
              <a:p/>
            </p:txBody>
          </p:sp>
          <p:grpSp>
            <p:nvGrpSpPr>
              <p:cNvPr id="43" name="Group 43"/>
              <p:cNvGrpSpPr/>
              <p:nvPr/>
            </p:nvGrpSpPr>
            <p:grpSpPr>
              <a:xfrm>
                <a:off x="8220075" y="1885950"/>
                <a:ext cx="133350" cy="180975"/>
                <a:chOff x="8220075" y="1885950"/>
                <a:chExt cx="133350" cy="180975"/>
              </a:xfrm>
            </p:grpSpPr>
            <p:sp>
              <p:nvSpPr>
                <p:cNvPr id="34" name="Freeform 34"/>
                <p:cNvSpPr/>
                <p:nvPr/>
              </p:nvSpPr>
              <p:spPr>
                <a:xfrm>
                  <a:off x="8229600" y="1905000"/>
                  <a:ext cx="114300" cy="76200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114300" h="76200">
                      <a:moveTo>
                        <a:pt x="0" y="19050"/>
                      </a:moveTo>
                      <a:cubicBezTo>
                        <a:pt x="0" y="8529"/>
                        <a:pt x="8529" y="0"/>
                        <a:pt x="19050" y="0"/>
                      </a:cubicBezTo>
                      <a:lnTo>
                        <a:pt x="95250" y="0"/>
                      </a:lnTo>
                      <a:cubicBezTo>
                        <a:pt x="105771" y="0"/>
                        <a:pt x="114300" y="8529"/>
                        <a:pt x="114300" y="19050"/>
                      </a:cubicBezTo>
                      <a:lnTo>
                        <a:pt x="114300" y="57150"/>
                      </a:lnTo>
                      <a:cubicBezTo>
                        <a:pt x="114300" y="67671"/>
                        <a:pt x="105771" y="76200"/>
                        <a:pt x="95250" y="76200"/>
                      </a:cubicBezTo>
                      <a:lnTo>
                        <a:pt x="19050" y="76200"/>
                      </a:lnTo>
                      <a:cubicBezTo>
                        <a:pt x="8529" y="76200"/>
                        <a:pt x="0" y="67671"/>
                        <a:pt x="0" y="57150"/>
                      </a:cubicBezTo>
                      <a:lnTo>
                        <a:pt x="0" y="19050"/>
                      </a:lnTo>
                    </a:path>
                  </a:pathLst>
                </a:custGeom>
                <a:noFill/>
                <a:ln w="19050">
                  <a:solidFill>
                    <a:srgbClr val="1565D8"/>
                  </a:solidFill>
                </a:ln>
              </p:spPr>
              <p:txBody>
                <a:bodyPr/>
                <a:p/>
              </p:txBody>
            </p:sp>
            <p:sp>
              <p:nvSpPr>
                <p:cNvPr id="35" name="Freeform 35"/>
                <p:cNvSpPr/>
                <p:nvPr/>
              </p:nvSpPr>
              <p:spPr>
                <a:xfrm>
                  <a:off x="8286750" y="1885950"/>
                  <a:ext cx="9525" cy="19050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9525" h="19050">
                      <a:moveTo>
                        <a:pt x="0" y="0"/>
                      </a:moveTo>
                      <a:lnTo>
                        <a:pt x="0" y="19050"/>
                      </a:lnTo>
                    </a:path>
                  </a:pathLst>
                </a:custGeom>
                <a:noFill/>
                <a:ln w="19050">
                  <a:solidFill>
                    <a:srgbClr val="1565D8"/>
                  </a:solidFill>
                </a:ln>
              </p:spPr>
              <p:txBody>
                <a:bodyPr/>
                <a:p/>
              </p:txBody>
            </p:sp>
            <p:sp>
              <p:nvSpPr>
                <p:cNvPr id="36" name="Freeform 36"/>
                <p:cNvSpPr/>
                <p:nvPr/>
              </p:nvSpPr>
              <p:spPr>
                <a:xfrm>
                  <a:off x="8258175" y="1981200"/>
                  <a:ext cx="9525" cy="85725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9525" h="85725">
                      <a:moveTo>
                        <a:pt x="0" y="0"/>
                      </a:moveTo>
                      <a:lnTo>
                        <a:pt x="0" y="85725"/>
                      </a:lnTo>
                    </a:path>
                  </a:pathLst>
                </a:custGeom>
                <a:noFill/>
                <a:ln w="19050">
                  <a:solidFill>
                    <a:srgbClr val="1565D8"/>
                  </a:solidFill>
                </a:ln>
              </p:spPr>
              <p:txBody>
                <a:bodyPr/>
                <a:p/>
              </p:txBody>
            </p:sp>
            <p:sp>
              <p:nvSpPr>
                <p:cNvPr id="37" name="Freeform 37"/>
                <p:cNvSpPr/>
                <p:nvPr/>
              </p:nvSpPr>
              <p:spPr>
                <a:xfrm>
                  <a:off x="8315325" y="1981200"/>
                  <a:ext cx="9525" cy="85725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9525" h="85725">
                      <a:moveTo>
                        <a:pt x="0" y="0"/>
                      </a:moveTo>
                      <a:lnTo>
                        <a:pt x="0" y="85725"/>
                      </a:lnTo>
                    </a:path>
                  </a:pathLst>
                </a:custGeom>
                <a:noFill/>
                <a:ln w="19050">
                  <a:solidFill>
                    <a:srgbClr val="1565D8"/>
                  </a:solidFill>
                </a:ln>
              </p:spPr>
              <p:txBody>
                <a:bodyPr/>
                <a:p/>
              </p:txBody>
            </p:sp>
            <p:sp>
              <p:nvSpPr>
                <p:cNvPr id="38" name="Freeform 38"/>
                <p:cNvSpPr/>
                <p:nvPr/>
              </p:nvSpPr>
              <p:spPr>
                <a:xfrm>
                  <a:off x="8220075" y="2000250"/>
                  <a:ext cx="38100" cy="19050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38100" h="19050">
                      <a:moveTo>
                        <a:pt x="0" y="19050"/>
                      </a:moveTo>
                      <a:lnTo>
                        <a:pt x="38100" y="0"/>
                      </a:lnTo>
                    </a:path>
                  </a:pathLst>
                </a:custGeom>
                <a:noFill/>
                <a:ln w="19050">
                  <a:solidFill>
                    <a:srgbClr val="1565D8"/>
                  </a:solidFill>
                </a:ln>
              </p:spPr>
              <p:txBody>
                <a:bodyPr/>
                <a:p/>
              </p:txBody>
            </p:sp>
            <p:sp>
              <p:nvSpPr>
                <p:cNvPr id="39" name="Freeform 39"/>
                <p:cNvSpPr/>
                <p:nvPr/>
              </p:nvSpPr>
              <p:spPr>
                <a:xfrm>
                  <a:off x="8315325" y="2000250"/>
                  <a:ext cx="38100" cy="19050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38100" h="19050">
                      <a:moveTo>
                        <a:pt x="0" y="0"/>
                      </a:moveTo>
                      <a:lnTo>
                        <a:pt x="38100" y="19050"/>
                      </a:lnTo>
                    </a:path>
                  </a:pathLst>
                </a:custGeom>
                <a:noFill/>
                <a:ln w="19050">
                  <a:solidFill>
                    <a:srgbClr val="1565D8"/>
                  </a:solidFill>
                </a:ln>
              </p:spPr>
              <p:txBody>
                <a:bodyPr/>
                <a:p/>
              </p:txBody>
            </p:sp>
            <p:sp>
              <p:nvSpPr>
                <p:cNvPr id="40" name="Freeform 40"/>
                <p:cNvSpPr/>
                <p:nvPr/>
              </p:nvSpPr>
              <p:spPr>
                <a:xfrm>
                  <a:off x="8258175" y="2038350"/>
                  <a:ext cx="57150" cy="9525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57150" h="9525">
                      <a:moveTo>
                        <a:pt x="0" y="0"/>
                      </a:moveTo>
                      <a:lnTo>
                        <a:pt x="57150" y="0"/>
                      </a:lnTo>
                    </a:path>
                  </a:pathLst>
                </a:custGeom>
                <a:noFill/>
                <a:ln w="19050">
                  <a:solidFill>
                    <a:srgbClr val="1565D8"/>
                  </a:solidFill>
                </a:ln>
              </p:spPr>
              <p:txBody>
                <a:bodyPr/>
                <a:p/>
              </p:txBody>
            </p:sp>
            <p:sp>
              <p:nvSpPr>
                <p:cNvPr id="41" name="Freeform 41"/>
                <p:cNvSpPr/>
                <p:nvPr/>
              </p:nvSpPr>
              <p:spPr>
                <a:xfrm>
                  <a:off x="8267700" y="1943100"/>
                  <a:ext cx="9525" cy="9525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9525" h="9525">
                      <a:moveTo>
                        <a:pt x="0" y="0"/>
                      </a:moveTo>
                      <a:lnTo>
                        <a:pt x="0" y="95"/>
                      </a:lnTo>
                    </a:path>
                  </a:pathLst>
                </a:custGeom>
                <a:noFill/>
                <a:ln w="19050">
                  <a:solidFill>
                    <a:srgbClr val="1565D8"/>
                  </a:solidFill>
                </a:ln>
              </p:spPr>
              <p:txBody>
                <a:bodyPr/>
                <a:p/>
              </p:txBody>
            </p:sp>
            <p:sp>
              <p:nvSpPr>
                <p:cNvPr id="42" name="Freeform 42"/>
                <p:cNvSpPr/>
                <p:nvPr/>
              </p:nvSpPr>
              <p:spPr>
                <a:xfrm>
                  <a:off x="8305800" y="1943100"/>
                  <a:ext cx="9525" cy="9525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9525" h="9525">
                      <a:moveTo>
                        <a:pt x="0" y="0"/>
                      </a:moveTo>
                      <a:lnTo>
                        <a:pt x="0" y="95"/>
                      </a:lnTo>
                    </a:path>
                  </a:pathLst>
                </a:custGeom>
                <a:noFill/>
                <a:ln w="19050">
                  <a:solidFill>
                    <a:srgbClr val="1565D8"/>
                  </a:solidFill>
                </a:ln>
              </p:spPr>
              <p:txBody>
                <a:bodyPr/>
                <a:p/>
              </p:txBody>
            </p:sp>
          </p:grpSp>
          <p:sp>
            <p:nvSpPr>
              <p:cNvPr id="44" name="TextBox 44"/>
              <p:cNvSpPr txBox="1"/>
              <p:nvPr/>
            </p:nvSpPr>
            <p:spPr>
              <a:xfrm>
                <a:off x="8572500" y="1895475"/>
                <a:ext cx="1277255" cy="3048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l"/>
                <a:r>
                  <a:rPr lang="zh-CN" sz="1500" b="1" dirty="0">
                    <a:solidFill>
                      <a:srgbClr val="2B3648"/>
                    </a:solidFill>
                    <a:latin typeface="Arial"/>
                    <a:ea typeface="Microsoft YaHei"/>
                    <a:cs typeface="Arial"/>
                  </a:rPr>
                  <a:t>③ Agent 平台</a:t>
                </a:r>
              </a:p>
            </p:txBody>
          </p:sp>
          <p:sp>
            <p:nvSpPr>
              <p:cNvPr id="45" name="TextBox 45"/>
              <p:cNvSpPr txBox="1"/>
              <p:nvPr/>
            </p:nvSpPr>
            <p:spPr>
              <a:xfrm>
                <a:off x="8254365" y="2306002"/>
                <a:ext cx="2546985" cy="21336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l"/>
                <a:r>
                  <a:rPr lang="zh-CN" sz="1050" dirty="0">
                    <a:solidFill>
                      <a:srgbClr val="5B6B82"/>
                    </a:solidFill>
                    <a:latin typeface="Arial"/>
                    <a:ea typeface="Microsoft YaHei"/>
                    <a:cs typeface="Arial"/>
                  </a:rPr>
                  <a:t>自己搭「数字员工」，自动执行多步任务</a:t>
                </a:r>
              </a:p>
            </p:txBody>
          </p:sp>
          <p:sp>
            <p:nvSpPr>
              <p:cNvPr id="46" name="TextBox 46"/>
              <p:cNvSpPr txBox="1"/>
              <p:nvPr/>
            </p:nvSpPr>
            <p:spPr>
              <a:xfrm>
                <a:off x="8254365" y="2553652"/>
                <a:ext cx="2630995" cy="21336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l"/>
                <a:r>
                  <a:rPr lang="zh-CN" sz="1050" dirty="0">
                    <a:solidFill>
                      <a:srgbClr val="5B6B82"/>
                    </a:solidFill>
                    <a:latin typeface="Arial"/>
                    <a:ea typeface="Microsoft YaHei"/>
                    <a:cs typeface="Arial"/>
                  </a:rPr>
                  <a:t>代表：扣子 Coze、Manus、WorkBuddy、</a:t>
                </a:r>
              </a:p>
            </p:txBody>
          </p:sp>
          <p:sp>
            <p:nvSpPr>
              <p:cNvPr id="47" name="TextBox 47"/>
              <p:cNvSpPr txBox="1"/>
              <p:nvPr/>
            </p:nvSpPr>
            <p:spPr>
              <a:xfrm>
                <a:off x="8254365" y="2763202"/>
                <a:ext cx="299704" cy="21336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l"/>
                <a:r>
                  <a:rPr lang="zh-CN" sz="1050" dirty="0">
                    <a:solidFill>
                      <a:srgbClr val="5B6B82"/>
                    </a:solidFill>
                    <a:latin typeface="Arial"/>
                    <a:ea typeface="Microsoft YaHei"/>
                    <a:cs typeface="Arial"/>
                  </a:rPr>
                  <a:t>Dify</a:t>
                </a:r>
              </a:p>
            </p:txBody>
          </p:sp>
          <p:sp>
            <p:nvSpPr>
              <p:cNvPr id="48" name="TextBox 48"/>
              <p:cNvSpPr txBox="1"/>
              <p:nvPr/>
            </p:nvSpPr>
            <p:spPr>
              <a:xfrm>
                <a:off x="8254365" y="3144202"/>
                <a:ext cx="2981739" cy="21336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l"/>
                <a:r>
                  <a:rPr lang="zh-CN" sz="1050" b="1" dirty="0">
                    <a:solidFill>
                      <a:srgbClr val="0B4EA2"/>
                    </a:solidFill>
                    <a:latin typeface="Arial"/>
                    <a:ea typeface="Microsoft YaHei"/>
                    <a:cs typeface="Arial"/>
                  </a:rPr>
                  <a:t>入门：新建 Bot，喂资料 + 写指令，测完发布</a:t>
                </a:r>
              </a:p>
            </p:txBody>
          </p:sp>
        </p:grpSp>
        <p:grpSp>
          <p:nvGrpSpPr>
            <p:cNvPr id="61" name="Group 61"/>
            <p:cNvGrpSpPr/>
            <p:nvPr/>
          </p:nvGrpSpPr>
          <p:grpSpPr>
            <a:xfrm>
              <a:off x="571500" y="3657600"/>
              <a:ext cx="3524250" cy="1905000"/>
              <a:chOff x="571500" y="3657600"/>
              <a:chExt cx="3524250" cy="1905000"/>
            </a:xfrm>
          </p:grpSpPr>
          <p:sp>
            <p:nvSpPr>
              <p:cNvPr id="50" name="Rectangle 50"/>
              <p:cNvSpPr/>
              <p:nvPr/>
            </p:nvSpPr>
            <p:spPr>
              <a:xfrm>
                <a:off x="571500" y="3657600"/>
                <a:ext cx="3524250" cy="1905000"/>
              </a:xfrm>
              <a:prstGeom prst="roundRect">
                <a:avLst>
                  <a:gd name="adj" fmla="val 8000"/>
                </a:avLst>
              </a:prstGeom>
              <a:solidFill>
                <a:srgbClr val="FFFFFF"/>
              </a:solidFill>
              <a:ln w="9525">
                <a:solidFill>
                  <a:srgbClr val="D8E1EC"/>
                </a:solidFill>
              </a:ln>
            </p:spPr>
            <p:txBody>
              <a:bodyPr/>
              <a:p/>
            </p:txBody>
          </p:sp>
          <p:sp>
            <p:nvSpPr>
              <p:cNvPr id="51" name="Ellipse 51"/>
              <p:cNvSpPr/>
              <p:nvPr/>
            </p:nvSpPr>
            <p:spPr>
              <a:xfrm>
                <a:off x="628650" y="3829050"/>
                <a:ext cx="381000" cy="381000"/>
              </a:xfrm>
              <a:prstGeom prst="ellipse">
                <a:avLst/>
              </a:prstGeom>
              <a:solidFill>
                <a:srgbClr val="D6E6F9"/>
              </a:solidFill>
              <a:ln>
                <a:noFill/>
              </a:ln>
            </p:spPr>
            <p:txBody>
              <a:bodyPr/>
              <a:p/>
            </p:txBody>
          </p:sp>
          <p:grpSp>
            <p:nvGrpSpPr>
              <p:cNvPr id="55" name="Group 55"/>
              <p:cNvGrpSpPr/>
              <p:nvPr/>
            </p:nvGrpSpPr>
            <p:grpSpPr>
              <a:xfrm>
                <a:off x="742950" y="3933825"/>
                <a:ext cx="152400" cy="171450"/>
                <a:chOff x="742950" y="3933825"/>
                <a:chExt cx="152400" cy="171450"/>
              </a:xfrm>
            </p:grpSpPr>
            <p:sp>
              <p:nvSpPr>
                <p:cNvPr id="52" name="Freeform 52"/>
                <p:cNvSpPr/>
                <p:nvPr/>
              </p:nvSpPr>
              <p:spPr>
                <a:xfrm>
                  <a:off x="742950" y="3933825"/>
                  <a:ext cx="152400" cy="57150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152400" h="57150">
                      <a:moveTo>
                        <a:pt x="0" y="28575"/>
                      </a:moveTo>
                      <a:cubicBezTo>
                        <a:pt x="0" y="44357"/>
                        <a:pt x="34116" y="57150"/>
                        <a:pt x="76200" y="57150"/>
                      </a:cubicBezTo>
                      <a:cubicBezTo>
                        <a:pt x="118284" y="57150"/>
                        <a:pt x="152400" y="44357"/>
                        <a:pt x="152400" y="28575"/>
                      </a:cubicBezTo>
                      <a:cubicBezTo>
                        <a:pt x="152400" y="12793"/>
                        <a:pt x="118284" y="0"/>
                        <a:pt x="76200" y="0"/>
                      </a:cubicBezTo>
                      <a:cubicBezTo>
                        <a:pt x="34116" y="0"/>
                        <a:pt x="0" y="12793"/>
                        <a:pt x="0" y="28575"/>
                      </a:cubicBezTo>
                    </a:path>
                  </a:pathLst>
                </a:custGeom>
                <a:noFill/>
                <a:ln w="19050">
                  <a:solidFill>
                    <a:srgbClr val="1565D8"/>
                  </a:solidFill>
                </a:ln>
              </p:spPr>
              <p:txBody>
                <a:bodyPr/>
                <a:p/>
              </p:txBody>
            </p:sp>
            <p:sp>
              <p:nvSpPr>
                <p:cNvPr id="53" name="Freeform 53"/>
                <p:cNvSpPr/>
                <p:nvPr/>
              </p:nvSpPr>
              <p:spPr>
                <a:xfrm>
                  <a:off x="742950" y="3962400"/>
                  <a:ext cx="152400" cy="85725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152400" h="85725">
                      <a:moveTo>
                        <a:pt x="0" y="0"/>
                      </a:moveTo>
                      <a:lnTo>
                        <a:pt x="0" y="57150"/>
                      </a:lnTo>
                      <a:cubicBezTo>
                        <a:pt x="0" y="72932"/>
                        <a:pt x="34116" y="85725"/>
                        <a:pt x="76200" y="85725"/>
                      </a:cubicBezTo>
                      <a:cubicBezTo>
                        <a:pt x="118284" y="85725"/>
                        <a:pt x="152400" y="72932"/>
                        <a:pt x="152400" y="57150"/>
                      </a:cubicBezTo>
                      <a:lnTo>
                        <a:pt x="152400" y="0"/>
                      </a:lnTo>
                    </a:path>
                  </a:pathLst>
                </a:custGeom>
                <a:noFill/>
                <a:ln w="19050">
                  <a:solidFill>
                    <a:srgbClr val="1565D8"/>
                  </a:solidFill>
                </a:ln>
              </p:spPr>
              <p:txBody>
                <a:bodyPr/>
                <a:p/>
              </p:txBody>
            </p:sp>
            <p:sp>
              <p:nvSpPr>
                <p:cNvPr id="54" name="Freeform 54"/>
                <p:cNvSpPr/>
                <p:nvPr/>
              </p:nvSpPr>
              <p:spPr>
                <a:xfrm>
                  <a:off x="742950" y="4019550"/>
                  <a:ext cx="152400" cy="85725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152400" h="85725">
                      <a:moveTo>
                        <a:pt x="0" y="0"/>
                      </a:moveTo>
                      <a:lnTo>
                        <a:pt x="0" y="57150"/>
                      </a:lnTo>
                      <a:cubicBezTo>
                        <a:pt x="0" y="72932"/>
                        <a:pt x="34116" y="85725"/>
                        <a:pt x="76200" y="85725"/>
                      </a:cubicBezTo>
                      <a:cubicBezTo>
                        <a:pt x="118284" y="85725"/>
                        <a:pt x="152400" y="72932"/>
                        <a:pt x="152400" y="57150"/>
                      </a:cubicBezTo>
                      <a:lnTo>
                        <a:pt x="152400" y="0"/>
                      </a:lnTo>
                    </a:path>
                  </a:pathLst>
                </a:custGeom>
                <a:noFill/>
                <a:ln w="19050">
                  <a:solidFill>
                    <a:srgbClr val="1565D8"/>
                  </a:solidFill>
                </a:ln>
              </p:spPr>
              <p:txBody>
                <a:bodyPr/>
                <a:p/>
              </p:txBody>
            </p:sp>
          </p:grpSp>
          <p:sp>
            <p:nvSpPr>
              <p:cNvPr id="56" name="TextBox 56"/>
              <p:cNvSpPr txBox="1"/>
              <p:nvPr/>
            </p:nvSpPr>
            <p:spPr>
              <a:xfrm>
                <a:off x="1104900" y="3933825"/>
                <a:ext cx="1266754" cy="3048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l"/>
                <a:r>
                  <a:rPr lang="zh-CN" sz="1500" b="1" dirty="0">
                    <a:solidFill>
                      <a:srgbClr val="2B3648"/>
                    </a:solidFill>
                    <a:latin typeface="Arial"/>
                    <a:ea typeface="Microsoft YaHei"/>
                    <a:cs typeface="Arial"/>
                  </a:rPr>
                  <a:t>④ 知识库工具</a:t>
                </a:r>
              </a:p>
            </p:txBody>
          </p:sp>
          <p:sp>
            <p:nvSpPr>
              <p:cNvPr id="57" name="TextBox 57"/>
              <p:cNvSpPr txBox="1"/>
              <p:nvPr/>
            </p:nvSpPr>
            <p:spPr>
              <a:xfrm>
                <a:off x="786765" y="4344352"/>
                <a:ext cx="2427970" cy="21336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l"/>
                <a:r>
                  <a:rPr lang="zh-CN" sz="1050" dirty="0">
                    <a:solidFill>
                      <a:srgbClr val="5B6B82"/>
                    </a:solidFill>
                    <a:latin typeface="Arial"/>
                    <a:ea typeface="Microsoft YaHei"/>
                    <a:cs typeface="Arial"/>
                  </a:rPr>
                  <a:t>把公司资料喂给 AI，问它答它，少胡说</a:t>
                </a:r>
              </a:p>
            </p:txBody>
          </p:sp>
          <p:sp>
            <p:nvSpPr>
              <p:cNvPr id="58" name="TextBox 58"/>
              <p:cNvSpPr txBox="1"/>
              <p:nvPr/>
            </p:nvSpPr>
            <p:spPr>
              <a:xfrm>
                <a:off x="786765" y="4592002"/>
                <a:ext cx="2588990" cy="21336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l"/>
                <a:r>
                  <a:rPr lang="zh-CN" sz="1050" dirty="0">
                    <a:solidFill>
                      <a:srgbClr val="5B6B82"/>
                    </a:solidFill>
                    <a:latin typeface="Arial"/>
                    <a:ea typeface="Microsoft YaHei"/>
                    <a:cs typeface="Arial"/>
                  </a:rPr>
                  <a:t>代表：IMA、NotebookLM、扣子知识库、</a:t>
                </a:r>
              </a:p>
            </p:txBody>
          </p:sp>
          <p:sp>
            <p:nvSpPr>
              <p:cNvPr id="59" name="TextBox 59"/>
              <p:cNvSpPr txBox="1"/>
              <p:nvPr/>
            </p:nvSpPr>
            <p:spPr>
              <a:xfrm>
                <a:off x="786765" y="4801552"/>
                <a:ext cx="1209818" cy="21336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l"/>
                <a:r>
                  <a:rPr lang="zh-CN" sz="1050" dirty="0">
                    <a:solidFill>
                      <a:srgbClr val="5B6B82"/>
                    </a:solidFill>
                    <a:latin typeface="Arial"/>
                    <a:ea typeface="Microsoft YaHei"/>
                    <a:cs typeface="Arial"/>
                  </a:rPr>
                  <a:t>WorkBuddy 资料库</a:t>
                </a:r>
              </a:p>
            </p:txBody>
          </p:sp>
          <p:sp>
            <p:nvSpPr>
              <p:cNvPr id="60" name="TextBox 60"/>
              <p:cNvSpPr txBox="1"/>
              <p:nvPr/>
            </p:nvSpPr>
            <p:spPr>
              <a:xfrm>
                <a:off x="786765" y="5182552"/>
                <a:ext cx="2570088" cy="21336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l"/>
                <a:r>
                  <a:rPr lang="zh-CN" sz="1050" b="1" dirty="0">
                    <a:solidFill>
                      <a:srgbClr val="0B4EA2"/>
                    </a:solidFill>
                    <a:latin typeface="Arial"/>
                    <a:ea typeface="Microsoft YaHei"/>
                    <a:cs typeface="Arial"/>
                  </a:rPr>
                  <a:t>入门：传文档 → 等解析 → 对着文档提问</a:t>
                </a:r>
              </a:p>
            </p:txBody>
          </p:sp>
        </p:grpSp>
        <p:grpSp>
          <p:nvGrpSpPr>
            <p:cNvPr id="75" name="Group 75"/>
            <p:cNvGrpSpPr/>
            <p:nvPr/>
          </p:nvGrpSpPr>
          <p:grpSpPr>
            <a:xfrm>
              <a:off x="4305300" y="3657600"/>
              <a:ext cx="3524250" cy="1905000"/>
              <a:chOff x="4305300" y="3657600"/>
              <a:chExt cx="3524250" cy="1905000"/>
            </a:xfrm>
          </p:grpSpPr>
          <p:sp>
            <p:nvSpPr>
              <p:cNvPr id="62" name="Rectangle 62"/>
              <p:cNvSpPr/>
              <p:nvPr/>
            </p:nvSpPr>
            <p:spPr>
              <a:xfrm>
                <a:off x="4305300" y="3657600"/>
                <a:ext cx="3524250" cy="1905000"/>
              </a:xfrm>
              <a:prstGeom prst="roundRect">
                <a:avLst>
                  <a:gd name="adj" fmla="val 8000"/>
                </a:avLst>
              </a:prstGeom>
              <a:solidFill>
                <a:srgbClr val="FFFFFF"/>
              </a:solidFill>
              <a:ln w="9525">
                <a:solidFill>
                  <a:srgbClr val="D8E1EC"/>
                </a:solidFill>
              </a:ln>
            </p:spPr>
            <p:txBody>
              <a:bodyPr/>
              <a:p/>
            </p:txBody>
          </p:sp>
          <p:sp>
            <p:nvSpPr>
              <p:cNvPr id="63" name="Ellipse 63"/>
              <p:cNvSpPr/>
              <p:nvPr/>
            </p:nvSpPr>
            <p:spPr>
              <a:xfrm>
                <a:off x="4362450" y="3829050"/>
                <a:ext cx="381000" cy="381000"/>
              </a:xfrm>
              <a:prstGeom prst="ellipse">
                <a:avLst/>
              </a:prstGeom>
              <a:solidFill>
                <a:srgbClr val="D6E6F9"/>
              </a:solidFill>
              <a:ln>
                <a:noFill/>
              </a:ln>
            </p:spPr>
            <p:txBody>
              <a:bodyPr/>
              <a:p/>
            </p:txBody>
          </p:sp>
          <p:grpSp>
            <p:nvGrpSpPr>
              <p:cNvPr id="70" name="Group 70"/>
              <p:cNvGrpSpPr/>
              <p:nvPr/>
            </p:nvGrpSpPr>
            <p:grpSpPr>
              <a:xfrm>
                <a:off x="4467225" y="3933825"/>
                <a:ext cx="171450" cy="171450"/>
                <a:chOff x="4467225" y="3933825"/>
                <a:chExt cx="171450" cy="171450"/>
              </a:xfrm>
            </p:grpSpPr>
            <p:sp>
              <p:nvSpPr>
                <p:cNvPr id="64" name="Freeform 64"/>
                <p:cNvSpPr/>
                <p:nvPr/>
              </p:nvSpPr>
              <p:spPr>
                <a:xfrm>
                  <a:off x="4467225" y="4029075"/>
                  <a:ext cx="76200" cy="76200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76200" h="76200">
                      <a:moveTo>
                        <a:pt x="0" y="76200"/>
                      </a:moveTo>
                      <a:lnTo>
                        <a:pt x="0" y="38100"/>
                      </a:lnTo>
                      <a:cubicBezTo>
                        <a:pt x="0" y="17058"/>
                        <a:pt x="17058" y="0"/>
                        <a:pt x="38100" y="0"/>
                      </a:cubicBezTo>
                      <a:cubicBezTo>
                        <a:pt x="59142" y="0"/>
                        <a:pt x="76200" y="17058"/>
                        <a:pt x="76200" y="38100"/>
                      </a:cubicBezTo>
                      <a:cubicBezTo>
                        <a:pt x="76200" y="59142"/>
                        <a:pt x="59142" y="76200"/>
                        <a:pt x="38100" y="76200"/>
                      </a:cubicBezTo>
                      <a:lnTo>
                        <a:pt x="0" y="76200"/>
                      </a:lnTo>
                    </a:path>
                  </a:pathLst>
                </a:custGeom>
                <a:noFill/>
                <a:ln w="19050">
                  <a:solidFill>
                    <a:srgbClr val="1565D8"/>
                  </a:solidFill>
                </a:ln>
              </p:spPr>
              <p:txBody>
                <a:bodyPr/>
                <a:p/>
              </p:txBody>
            </p:sp>
            <p:sp>
              <p:nvSpPr>
                <p:cNvPr id="65" name="Freeform 65"/>
                <p:cNvSpPr/>
                <p:nvPr/>
              </p:nvSpPr>
              <p:spPr>
                <a:xfrm>
                  <a:off x="4516755" y="3933825"/>
                  <a:ext cx="121920" cy="97155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121920" h="97155">
                      <a:moveTo>
                        <a:pt x="121920" y="0"/>
                      </a:moveTo>
                      <a:cubicBezTo>
                        <a:pt x="66538" y="7575"/>
                        <a:pt x="19747" y="44862"/>
                        <a:pt x="0" y="97155"/>
                      </a:cubicBezTo>
                    </a:path>
                  </a:pathLst>
                </a:custGeom>
                <a:noFill/>
                <a:ln w="19050">
                  <a:solidFill>
                    <a:srgbClr val="1565D8"/>
                  </a:solidFill>
                </a:ln>
              </p:spPr>
              <p:txBody>
                <a:bodyPr/>
                <a:p/>
              </p:txBody>
            </p:sp>
            <p:sp>
              <p:nvSpPr>
                <p:cNvPr id="66" name="Freeform 66"/>
                <p:cNvSpPr/>
                <p:nvPr/>
              </p:nvSpPr>
              <p:spPr>
                <a:xfrm>
                  <a:off x="4541520" y="3933825"/>
                  <a:ext cx="97155" cy="121920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97155" h="121920">
                      <a:moveTo>
                        <a:pt x="97155" y="0"/>
                      </a:moveTo>
                      <a:cubicBezTo>
                        <a:pt x="89580" y="55382"/>
                        <a:pt x="52293" y="102173"/>
                        <a:pt x="0" y="121920"/>
                      </a:cubicBezTo>
                    </a:path>
                  </a:pathLst>
                </a:custGeom>
                <a:noFill/>
                <a:ln w="19050">
                  <a:solidFill>
                    <a:srgbClr val="1565D8"/>
                  </a:solidFill>
                </a:ln>
              </p:spPr>
              <p:txBody>
                <a:bodyPr/>
                <a:p/>
              </p:txBody>
            </p:sp>
            <p:sp>
              <p:nvSpPr>
                <p:cNvPr id="67" name="Freeform 67"/>
                <p:cNvSpPr/>
                <p:nvPr/>
              </p:nvSpPr>
              <p:spPr>
                <a:xfrm>
                  <a:off x="4539615" y="3990975"/>
                  <a:ext cx="41910" cy="41910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41910" h="41910">
                      <a:moveTo>
                        <a:pt x="0" y="0"/>
                      </a:moveTo>
                      <a:cubicBezTo>
                        <a:pt x="18509" y="8543"/>
                        <a:pt x="33367" y="23401"/>
                        <a:pt x="41910" y="41910"/>
                      </a:cubicBezTo>
                    </a:path>
                  </a:pathLst>
                </a:custGeom>
                <a:noFill/>
                <a:ln w="19050">
                  <a:solidFill>
                    <a:srgbClr val="1565D8"/>
                  </a:solidFill>
                </a:ln>
              </p:spPr>
              <p:txBody>
                <a:bodyPr/>
                <a:p/>
              </p:txBody>
            </p:sp>
            <p:sp>
              <p:nvSpPr>
                <p:cNvPr id="68" name="Freeform 68"/>
                <p:cNvSpPr/>
                <p:nvPr/>
              </p:nvSpPr>
              <p:spPr>
                <a:xfrm>
                  <a:off x="4600575" y="4067175"/>
                  <a:ext cx="38100" cy="38100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38100" h="38100">
                      <a:moveTo>
                        <a:pt x="0" y="19050"/>
                      </a:moveTo>
                      <a:cubicBezTo>
                        <a:pt x="10521" y="19050"/>
                        <a:pt x="19050" y="27579"/>
                        <a:pt x="19050" y="38100"/>
                      </a:cubicBezTo>
                      <a:cubicBezTo>
                        <a:pt x="19050" y="27579"/>
                        <a:pt x="27579" y="19050"/>
                        <a:pt x="38100" y="19050"/>
                      </a:cubicBezTo>
                      <a:cubicBezTo>
                        <a:pt x="27579" y="19050"/>
                        <a:pt x="19050" y="10521"/>
                        <a:pt x="19050" y="0"/>
                      </a:cubicBezTo>
                      <a:cubicBezTo>
                        <a:pt x="19050" y="10521"/>
                        <a:pt x="10521" y="19050"/>
                        <a:pt x="0" y="19050"/>
                      </a:cubicBezTo>
                    </a:path>
                  </a:pathLst>
                </a:custGeom>
                <a:noFill/>
                <a:ln w="19050">
                  <a:solidFill>
                    <a:srgbClr val="1565D8"/>
                  </a:solidFill>
                </a:ln>
              </p:spPr>
              <p:txBody>
                <a:bodyPr/>
                <a:p/>
              </p:txBody>
            </p:sp>
            <p:sp>
              <p:nvSpPr>
                <p:cNvPr id="69" name="Freeform 69"/>
                <p:cNvSpPr/>
                <p:nvPr/>
              </p:nvSpPr>
              <p:spPr>
                <a:xfrm>
                  <a:off x="4467225" y="3933825"/>
                  <a:ext cx="38100" cy="38100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38100" h="38100">
                      <a:moveTo>
                        <a:pt x="0" y="19050"/>
                      </a:moveTo>
                      <a:cubicBezTo>
                        <a:pt x="10521" y="19050"/>
                        <a:pt x="19050" y="27579"/>
                        <a:pt x="19050" y="38100"/>
                      </a:cubicBezTo>
                      <a:cubicBezTo>
                        <a:pt x="19050" y="27579"/>
                        <a:pt x="27579" y="19050"/>
                        <a:pt x="38100" y="19050"/>
                      </a:cubicBezTo>
                      <a:cubicBezTo>
                        <a:pt x="27579" y="19050"/>
                        <a:pt x="19050" y="10521"/>
                        <a:pt x="19050" y="0"/>
                      </a:cubicBezTo>
                      <a:cubicBezTo>
                        <a:pt x="19050" y="10521"/>
                        <a:pt x="10521" y="19050"/>
                        <a:pt x="0" y="19050"/>
                      </a:cubicBezTo>
                    </a:path>
                  </a:pathLst>
                </a:custGeom>
                <a:noFill/>
                <a:ln w="19050">
                  <a:solidFill>
                    <a:srgbClr val="1565D8"/>
                  </a:solidFill>
                </a:ln>
              </p:spPr>
              <p:txBody>
                <a:bodyPr/>
                <a:p/>
              </p:txBody>
            </p:sp>
          </p:grpSp>
          <p:sp>
            <p:nvSpPr>
              <p:cNvPr id="71" name="TextBox 71"/>
              <p:cNvSpPr txBox="1"/>
              <p:nvPr/>
            </p:nvSpPr>
            <p:spPr>
              <a:xfrm>
                <a:off x="4838700" y="3933825"/>
                <a:ext cx="1266754" cy="3048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l"/>
                <a:r>
                  <a:rPr lang="zh-CN" sz="1500" b="1" dirty="0">
                    <a:solidFill>
                      <a:srgbClr val="2B3648"/>
                    </a:solidFill>
                    <a:latin typeface="Arial"/>
                    <a:ea typeface="Microsoft YaHei"/>
                    <a:cs typeface="Arial"/>
                  </a:rPr>
                  <a:t>⑤ 生成式媒体</a:t>
                </a:r>
              </a:p>
            </p:txBody>
          </p:sp>
          <p:sp>
            <p:nvSpPr>
              <p:cNvPr id="72" name="TextBox 72"/>
              <p:cNvSpPr txBox="1"/>
              <p:nvPr/>
            </p:nvSpPr>
            <p:spPr>
              <a:xfrm>
                <a:off x="4520565" y="4344352"/>
                <a:ext cx="1629870" cy="21336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l"/>
                <a:r>
                  <a:rPr lang="zh-CN" sz="1050" dirty="0">
                    <a:solidFill>
                      <a:srgbClr val="5B6B82"/>
                    </a:solidFill>
                    <a:latin typeface="Arial"/>
                    <a:ea typeface="Microsoft YaHei"/>
                    <a:cs typeface="Arial"/>
                  </a:rPr>
                  <a:t>AI 出图 / 出视频 / 出声音</a:t>
                </a:r>
              </a:p>
            </p:txBody>
          </p:sp>
          <p:sp>
            <p:nvSpPr>
              <p:cNvPr id="73" name="TextBox 73"/>
              <p:cNvSpPr txBox="1"/>
              <p:nvPr/>
            </p:nvSpPr>
            <p:spPr>
              <a:xfrm>
                <a:off x="4520565" y="4592002"/>
                <a:ext cx="2140934" cy="21336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l"/>
                <a:r>
                  <a:rPr lang="zh-CN" sz="1050" dirty="0">
                    <a:solidFill>
                      <a:srgbClr val="5B6B82"/>
                    </a:solidFill>
                    <a:latin typeface="Arial"/>
                    <a:ea typeface="Microsoft YaHei"/>
                    <a:cs typeface="Arial"/>
                  </a:rPr>
                  <a:t>代表：即梦 AI、可灵、Vidu、海螺</a:t>
                </a:r>
              </a:p>
            </p:txBody>
          </p:sp>
          <p:sp>
            <p:nvSpPr>
              <p:cNvPr id="74" name="TextBox 74"/>
              <p:cNvSpPr txBox="1"/>
              <p:nvPr/>
            </p:nvSpPr>
            <p:spPr>
              <a:xfrm>
                <a:off x="4520565" y="5182552"/>
                <a:ext cx="2989090" cy="21336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l"/>
                <a:r>
                  <a:rPr lang="zh-CN" sz="1050" b="1" dirty="0">
                    <a:solidFill>
                      <a:srgbClr val="0B4EA2"/>
                    </a:solidFill>
                    <a:latin typeface="Arial"/>
                    <a:ea typeface="Microsoft YaHei"/>
                    <a:cs typeface="Arial"/>
                  </a:rPr>
                  <a:t>入门：写一句描述，选比例 / 时长，生成下载</a:t>
                </a:r>
              </a:p>
            </p:txBody>
          </p:sp>
        </p:grpSp>
        <p:grpSp>
          <p:nvGrpSpPr>
            <p:cNvPr id="86" name="Group 86"/>
            <p:cNvGrpSpPr/>
            <p:nvPr/>
          </p:nvGrpSpPr>
          <p:grpSpPr>
            <a:xfrm>
              <a:off x="8039100" y="3657600"/>
              <a:ext cx="3524250" cy="1905000"/>
              <a:chOff x="8039100" y="3657600"/>
              <a:chExt cx="3524250" cy="1905000"/>
            </a:xfrm>
          </p:grpSpPr>
          <p:sp>
            <p:nvSpPr>
              <p:cNvPr id="76" name="Rectangle 76"/>
              <p:cNvSpPr/>
              <p:nvPr/>
            </p:nvSpPr>
            <p:spPr>
              <a:xfrm>
                <a:off x="8039100" y="3657600"/>
                <a:ext cx="3524250" cy="1905000"/>
              </a:xfrm>
              <a:prstGeom prst="roundRect">
                <a:avLst>
                  <a:gd name="adj" fmla="val 8000"/>
                </a:avLst>
              </a:prstGeom>
              <a:solidFill>
                <a:srgbClr val="FFFFFF"/>
              </a:solidFill>
              <a:ln w="9525">
                <a:solidFill>
                  <a:srgbClr val="D8E1EC"/>
                </a:solidFill>
              </a:ln>
            </p:spPr>
            <p:txBody>
              <a:bodyPr/>
              <a:p/>
            </p:txBody>
          </p:sp>
          <p:sp>
            <p:nvSpPr>
              <p:cNvPr id="77" name="Ellipse 77"/>
              <p:cNvSpPr/>
              <p:nvPr/>
            </p:nvSpPr>
            <p:spPr>
              <a:xfrm>
                <a:off x="8096250" y="3829050"/>
                <a:ext cx="381000" cy="381000"/>
              </a:xfrm>
              <a:prstGeom prst="ellipse">
                <a:avLst/>
              </a:prstGeom>
              <a:solidFill>
                <a:srgbClr val="D6E6F9"/>
              </a:solidFill>
              <a:ln>
                <a:noFill/>
              </a:ln>
            </p:spPr>
            <p:txBody>
              <a:bodyPr/>
              <a:p/>
            </p:txBody>
          </p:sp>
          <p:grpSp>
            <p:nvGrpSpPr>
              <p:cNvPr id="81" name="Group 81"/>
              <p:cNvGrpSpPr/>
              <p:nvPr/>
            </p:nvGrpSpPr>
            <p:grpSpPr>
              <a:xfrm>
                <a:off x="8201025" y="3943350"/>
                <a:ext cx="171450" cy="152400"/>
                <a:chOff x="8201025" y="3943350"/>
                <a:chExt cx="171450" cy="152400"/>
              </a:xfrm>
            </p:grpSpPr>
            <p:sp>
              <p:nvSpPr>
                <p:cNvPr id="78" name="Freeform 78"/>
                <p:cNvSpPr/>
                <p:nvPr/>
              </p:nvSpPr>
              <p:spPr>
                <a:xfrm>
                  <a:off x="8201025" y="3981450"/>
                  <a:ext cx="38100" cy="76200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38100" h="76200">
                      <a:moveTo>
                        <a:pt x="38100" y="0"/>
                      </a:moveTo>
                      <a:lnTo>
                        <a:pt x="0" y="38100"/>
                      </a:lnTo>
                      <a:lnTo>
                        <a:pt x="38100" y="76200"/>
                      </a:lnTo>
                    </a:path>
                  </a:pathLst>
                </a:custGeom>
                <a:noFill/>
                <a:ln w="19050">
                  <a:solidFill>
                    <a:srgbClr val="1565D8"/>
                  </a:solidFill>
                </a:ln>
              </p:spPr>
              <p:txBody>
                <a:bodyPr/>
                <a:p/>
              </p:txBody>
            </p:sp>
            <p:sp>
              <p:nvSpPr>
                <p:cNvPr id="79" name="Freeform 79"/>
                <p:cNvSpPr/>
                <p:nvPr/>
              </p:nvSpPr>
              <p:spPr>
                <a:xfrm>
                  <a:off x="8334375" y="3981450"/>
                  <a:ext cx="38100" cy="76200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38100" h="76200">
                      <a:moveTo>
                        <a:pt x="0" y="0"/>
                      </a:moveTo>
                      <a:lnTo>
                        <a:pt x="38100" y="38100"/>
                      </a:lnTo>
                      <a:lnTo>
                        <a:pt x="0" y="76200"/>
                      </a:lnTo>
                    </a:path>
                  </a:pathLst>
                </a:custGeom>
                <a:noFill/>
                <a:ln w="19050">
                  <a:solidFill>
                    <a:srgbClr val="1565D8"/>
                  </a:solidFill>
                </a:ln>
              </p:spPr>
              <p:txBody>
                <a:bodyPr/>
                <a:p/>
              </p:txBody>
            </p:sp>
            <p:sp>
              <p:nvSpPr>
                <p:cNvPr id="80" name="Freeform 80"/>
                <p:cNvSpPr/>
                <p:nvPr/>
              </p:nvSpPr>
              <p:spPr>
                <a:xfrm>
                  <a:off x="8267700" y="3943350"/>
                  <a:ext cx="38100" cy="152400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38100" h="152400">
                      <a:moveTo>
                        <a:pt x="38100" y="0"/>
                      </a:moveTo>
                      <a:lnTo>
                        <a:pt x="0" y="152400"/>
                      </a:lnTo>
                    </a:path>
                  </a:pathLst>
                </a:custGeom>
                <a:noFill/>
                <a:ln w="19050">
                  <a:solidFill>
                    <a:srgbClr val="1565D8"/>
                  </a:solidFill>
                </a:ln>
              </p:spPr>
              <p:txBody>
                <a:bodyPr/>
                <a:p/>
              </p:txBody>
            </p:sp>
          </p:grpSp>
          <p:sp>
            <p:nvSpPr>
              <p:cNvPr id="82" name="TextBox 82"/>
              <p:cNvSpPr txBox="1"/>
              <p:nvPr/>
            </p:nvSpPr>
            <p:spPr>
              <a:xfrm>
                <a:off x="8572500" y="3933825"/>
                <a:ext cx="846701" cy="3048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l"/>
                <a:r>
                  <a:rPr lang="zh-CN" sz="1500" b="1" dirty="0">
                    <a:solidFill>
                      <a:srgbClr val="2B3648"/>
                    </a:solidFill>
                    <a:latin typeface="Arial"/>
                    <a:ea typeface="Microsoft YaHei"/>
                    <a:cs typeface="Arial"/>
                  </a:rPr>
                  <a:t>⑥ 编程类</a:t>
                </a:r>
              </a:p>
            </p:txBody>
          </p:sp>
          <p:sp>
            <p:nvSpPr>
              <p:cNvPr id="83" name="TextBox 83"/>
              <p:cNvSpPr txBox="1"/>
              <p:nvPr/>
            </p:nvSpPr>
            <p:spPr>
              <a:xfrm>
                <a:off x="8254365" y="4344352"/>
                <a:ext cx="1986915" cy="21336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l"/>
                <a:r>
                  <a:rPr lang="zh-CN" sz="1050" dirty="0">
                    <a:solidFill>
                      <a:srgbClr val="5B6B82"/>
                    </a:solidFill>
                    <a:latin typeface="Arial"/>
                    <a:ea typeface="Microsoft YaHei"/>
                    <a:cs typeface="Arial"/>
                  </a:rPr>
                  <a:t>会说话就会编程，效率 3-5 倍</a:t>
                </a:r>
              </a:p>
            </p:txBody>
          </p:sp>
          <p:sp>
            <p:nvSpPr>
              <p:cNvPr id="84" name="TextBox 84"/>
              <p:cNvSpPr txBox="1"/>
              <p:nvPr/>
            </p:nvSpPr>
            <p:spPr>
              <a:xfrm>
                <a:off x="8254365" y="4592002"/>
                <a:ext cx="2799016" cy="21336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l"/>
                <a:r>
                  <a:rPr lang="zh-CN" sz="1050" dirty="0">
                    <a:solidFill>
                      <a:srgbClr val="5B6B82"/>
                    </a:solidFill>
                    <a:latin typeface="Arial"/>
                    <a:ea typeface="Microsoft YaHei"/>
                    <a:cs typeface="Arial"/>
                  </a:rPr>
                  <a:t>代表：Codex、Claude Code、Cursor、Trae</a:t>
                </a:r>
              </a:p>
            </p:txBody>
          </p:sp>
          <p:sp>
            <p:nvSpPr>
              <p:cNvPr id="85" name="TextBox 85"/>
              <p:cNvSpPr txBox="1"/>
              <p:nvPr/>
            </p:nvSpPr>
            <p:spPr>
              <a:xfrm>
                <a:off x="8254365" y="5182552"/>
                <a:ext cx="2525982" cy="21336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l"/>
                <a:r>
                  <a:rPr lang="zh-CN" sz="1050" b="1" dirty="0">
                    <a:solidFill>
                      <a:srgbClr val="0B4EA2"/>
                    </a:solidFill>
                    <a:latin typeface="Arial"/>
                    <a:ea typeface="Microsoft YaHei"/>
                    <a:cs typeface="Arial"/>
                  </a:rPr>
                  <a:t>入门：技术同学必学，其他人知道有</a:t>
                </a:r>
              </a:p>
            </p:txBody>
          </p:sp>
        </p:grpSp>
      </p:grpSp>
      <p:grpSp>
        <p:nvGrpSpPr>
          <p:cNvPr id="91" name="Group 91"/>
          <p:cNvGrpSpPr/>
          <p:nvPr/>
        </p:nvGrpSpPr>
        <p:grpSpPr>
          <a:xfrm>
            <a:off x="571500" y="5753100"/>
            <a:ext cx="11049000" cy="419100"/>
            <a:chOff x="571500" y="5753100"/>
            <a:chExt cx="11049000" cy="419100"/>
          </a:xfrm>
        </p:grpSpPr>
        <p:sp>
          <p:nvSpPr>
            <p:cNvPr id="88" name="Rectangle 88"/>
            <p:cNvSpPr/>
            <p:nvPr/>
          </p:nvSpPr>
          <p:spPr>
            <a:xfrm>
              <a:off x="571500" y="5753100"/>
              <a:ext cx="11049000" cy="419100"/>
            </a:xfrm>
            <a:prstGeom prst="roundRect">
              <a:avLst>
                <a:gd name="adj" fmla="val 36364"/>
              </a:avLst>
            </a:prstGeom>
            <a:solidFill>
              <a:srgbClr val="D6E6F9"/>
            </a:solidFill>
            <a:ln>
              <a:noFill/>
            </a:ln>
          </p:spPr>
          <p:txBody>
            <a:bodyPr/>
            <a:p/>
          </p:txBody>
        </p:sp>
        <p:sp>
          <p:nvSpPr>
            <p:cNvPr id="89" name="Rectangle 89"/>
            <p:cNvSpPr/>
            <p:nvPr/>
          </p:nvSpPr>
          <p:spPr>
            <a:xfrm>
              <a:off x="571500" y="5753100"/>
              <a:ext cx="76200" cy="419100"/>
            </a:xfrm>
            <a:prstGeom prst="roundRect">
              <a:avLst>
                <a:gd name="adj" fmla="val 50000"/>
              </a:avLst>
            </a:prstGeom>
            <a:solidFill>
              <a:srgbClr val="1565D8"/>
            </a:solidFill>
            <a:ln>
              <a:noFill/>
            </a:ln>
          </p:spPr>
          <p:txBody>
            <a:bodyPr/>
            <a:p/>
          </p:txBody>
        </p:sp>
        <p:sp>
          <p:nvSpPr>
            <p:cNvPr id="90" name="TextBox 90"/>
            <p:cNvSpPr txBox="1"/>
            <p:nvPr/>
          </p:nvSpPr>
          <p:spPr>
            <a:xfrm>
              <a:off x="859155" y="5874068"/>
              <a:ext cx="5166281" cy="27432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b="1" dirty="0">
                  <a:solidFill>
                    <a:srgbClr val="0B4EA2"/>
                  </a:solidFill>
                  <a:latin typeface="Arial"/>
                  <a:ea typeface="Microsoft YaHei"/>
                  <a:cs typeface="Arial"/>
                </a:rPr>
                <a:t>教学点：地图不是清单。每类挑 1 个入门，其余知道在哪找。</a:t>
              </a:r>
            </a:p>
          </p:txBody>
        </p:sp>
      </p:grpSp>
      <p:grpSp>
        <p:nvGrpSpPr>
          <p:cNvPr id="94" name="Group 94"/>
          <p:cNvGrpSpPr/>
          <p:nvPr/>
        </p:nvGrpSpPr>
        <p:grpSpPr>
          <a:xfrm>
            <a:off x="560070" y="6341745"/>
            <a:ext cx="11071860" cy="182880"/>
            <a:chOff x="560070" y="6341745"/>
            <a:chExt cx="11071860" cy="182880"/>
          </a:xfrm>
        </p:grpSpPr>
        <p:sp>
          <p:nvSpPr>
            <p:cNvPr id="92" name="TextBox 92"/>
            <p:cNvSpPr txBox="1"/>
            <p:nvPr/>
          </p:nvSpPr>
          <p:spPr>
            <a:xfrm>
              <a:off x="560070" y="6341745"/>
              <a:ext cx="1054989" cy="18288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00" dirty="0">
                  <a:solidFill>
                    <a:srgbClr val="8B99AE"/>
                  </a:solidFill>
                  <a:latin typeface="Arial"/>
                  <a:ea typeface="Microsoft YaHei"/>
                  <a:cs typeface="Arial"/>
                </a:rPr>
                <a:t>大模型通识 · 企业版</a:t>
              </a:r>
            </a:p>
          </p:txBody>
        </p:sp>
        <p:sp>
          <p:nvSpPr>
            <p:cNvPr id="93" name="TextBox 93"/>
            <p:cNvSpPr txBox="1"/>
            <p:nvPr/>
          </p:nvSpPr>
          <p:spPr>
            <a:xfrm>
              <a:off x="11207020" y="6341745"/>
              <a:ext cx="424910" cy="18288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r"/>
              <a:r>
                <a:rPr lang="zh-CN" sz="900" dirty="0">
                  <a:solidFill>
                    <a:srgbClr val="8B99AE"/>
                  </a:solidFill>
                  <a:latin typeface="Arial"/>
                  <a:ea typeface="Microsoft YaHei"/>
                  <a:cs typeface="Arial"/>
                </a:rPr>
                <a:t>26 / 51</a:t>
              </a:r>
            </a:p>
          </p:txBody>
        </p:sp>
      </p:grpSp>
    </p:spTree>
  </p:cSld>
  <p:clrMapOvr>
    <a:masterClrMapping/>
  </p:clrMapOvr>
  <p:transition xmlns:p14="http://schemas.microsoft.com/office/powerpoint/2010/main" p14:dur="400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3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image">
                                      <p:cBhvr>
                                        <p:cTn id="7" dur="400"/>
                                        <p:tgtEl>
                                          <p:spTgt spid="8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900"/>
                            </p:stCondLst>
                            <p:childTnLst>
                              <p:par>
                                <p:cTn id="9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" dur="400"/>
                                        <p:tgtEl>
                                          <p:spTgt spid="9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7" grpId="0"/>
      <p:bldP spid="91" grpId="0"/>
    </p:bldLst>
  </p:timing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5" name="Group 5"/>
          <p:cNvGrpSpPr/>
          <p:nvPr/>
        </p:nvGrpSpPr>
        <p:grpSpPr>
          <a:xfrm>
            <a:off x="-1619250" y="0"/>
            <a:ext cx="13811250" cy="8477250"/>
            <a:chOff x="-1619250" y="0"/>
            <a:chExt cx="13811250" cy="8477250"/>
          </a:xfrm>
        </p:grpSpPr>
        <p:sp>
          <p:nvSpPr>
            <p:cNvPr id="2" name="Rectangle 2"/>
            <p:cNvSpPr/>
            <p:nvPr/>
          </p:nvSpPr>
          <p:spPr>
            <a:xfrm>
              <a:off x="0" y="0"/>
              <a:ext cx="12192000" cy="6858000"/>
            </a:xfrm>
            <a:prstGeom prst="rect">
              <a:avLst/>
            </a:prstGeom>
            <a:solidFill>
              <a:srgbClr val="F5F7FA"/>
            </a:solidFill>
            <a:ln>
              <a:noFill/>
            </a:ln>
          </p:spPr>
          <p:txBody>
            <a:bodyPr/>
            <a:p/>
          </p:txBody>
        </p:sp>
        <p:sp>
          <p:nvSpPr>
            <p:cNvPr id="3" name="Rectangle 3"/>
            <p:cNvSpPr/>
            <p:nvPr/>
          </p:nvSpPr>
          <p:spPr>
            <a:xfrm>
              <a:off x="0" y="0"/>
              <a:ext cx="12192000" cy="6858000"/>
            </a:xfrm>
            <a:prstGeom prst="rect">
              <a:avLst/>
            </a:prstGeom>
            <a:gradFill>
              <a:gsLst>
                <a:gs pos="0">
                  <a:srgbClr val="1565D8">
                    <a:alpha val="6000"/>
                  </a:srgbClr>
                </a:gs>
                <a:gs pos="100000">
                  <a:srgbClr val="1565D8">
                    <a:alpha val="0"/>
                  </a:srgbClr>
                </a:gs>
              </a:gsLst>
              <a:path path="circle">
                <a:fillToRect l="50000" t="50000" r="50000" b="50000"/>
              </a:path>
            </a:gradFill>
            <a:ln>
              <a:noFill/>
            </a:ln>
          </p:spPr>
          <p:txBody>
            <a:bodyPr/>
            <a:p/>
          </p:txBody>
        </p:sp>
        <p:sp>
          <p:nvSpPr>
            <p:cNvPr id="4" name="Ellipse 4"/>
            <p:cNvSpPr/>
            <p:nvPr/>
          </p:nvSpPr>
          <p:spPr>
            <a:xfrm>
              <a:off x="-1619250" y="4667250"/>
              <a:ext cx="3810000" cy="3810000"/>
            </a:xfrm>
            <a:prstGeom prst="ellipse">
              <a:avLst/>
            </a:prstGeom>
            <a:noFill/>
            <a:ln w="14288">
              <a:solidFill>
                <a:srgbClr val="D6E6F9">
                  <a:alpha val="80000"/>
                </a:srgbClr>
              </a:solidFill>
            </a:ln>
          </p:spPr>
          <p:txBody>
            <a:bodyPr/>
            <a:p/>
          </p:txBody>
        </p:sp>
      </p:grpSp>
      <p:grpSp>
        <p:nvGrpSpPr>
          <p:cNvPr id="9" name="Group 9"/>
          <p:cNvGrpSpPr/>
          <p:nvPr/>
        </p:nvGrpSpPr>
        <p:grpSpPr>
          <a:xfrm>
            <a:off x="571500" y="685800"/>
            <a:ext cx="4044220" cy="700088"/>
            <a:chOff x="571500" y="685800"/>
            <a:chExt cx="4044220" cy="700088"/>
          </a:xfrm>
        </p:grpSpPr>
        <p:sp>
          <p:nvSpPr>
            <p:cNvPr id="6" name="Rectangle 6"/>
            <p:cNvSpPr/>
            <p:nvPr/>
          </p:nvSpPr>
          <p:spPr>
            <a:xfrm>
              <a:off x="571500" y="685800"/>
              <a:ext cx="76200" cy="323850"/>
            </a:xfrm>
            <a:prstGeom prst="roundRect">
              <a:avLst>
                <a:gd name="adj" fmla="val 50000"/>
              </a:avLst>
            </a:prstGeom>
            <a:solidFill>
              <a:srgbClr val="1565D8"/>
            </a:solidFill>
            <a:ln>
              <a:noFill/>
            </a:ln>
          </p:spPr>
          <p:txBody>
            <a:bodyPr/>
            <a:p/>
          </p:txBody>
        </p:sp>
        <p:sp>
          <p:nvSpPr>
            <p:cNvPr id="7" name="TextBox 7"/>
            <p:cNvSpPr txBox="1"/>
            <p:nvPr/>
          </p:nvSpPr>
          <p:spPr>
            <a:xfrm>
              <a:off x="771525" y="700088"/>
              <a:ext cx="2262426" cy="45720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2250" b="1" dirty="0">
                  <a:solidFill>
                    <a:srgbClr val="2B3648"/>
                  </a:solidFill>
                  <a:latin typeface="Arial"/>
                  <a:ea typeface="Microsoft YaHei"/>
                  <a:cs typeface="Arial"/>
                </a:rPr>
                <a:t>主流大模型速览</a:t>
              </a:r>
            </a:p>
          </p:txBody>
        </p:sp>
        <p:sp>
          <p:nvSpPr>
            <p:cNvPr id="8" name="TextBox 8"/>
            <p:cNvSpPr txBox="1"/>
            <p:nvPr/>
          </p:nvSpPr>
          <p:spPr>
            <a:xfrm>
              <a:off x="782955" y="1111568"/>
              <a:ext cx="3832765" cy="27432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5B6B82"/>
                  </a:solidFill>
                  <a:latin typeface="Arial"/>
                  <a:ea typeface="Microsoft YaHei"/>
                  <a:cs typeface="Arial"/>
                </a:rPr>
                <a:t>2026 国产五强</a:t>
              </a:r>
            </a:p>
          </p:txBody>
        </p:sp>
      </p:grpSp>
      <p:grpSp>
        <p:nvGrpSpPr>
          <p:cNvPr id="50" name="Group 50"/>
          <p:cNvGrpSpPr/>
          <p:nvPr/>
        </p:nvGrpSpPr>
        <p:grpSpPr>
          <a:xfrm>
            <a:off x="484227" y="1619250"/>
            <a:ext cx="11136273" cy="2857500"/>
            <a:chOff x="484227" y="1619250"/>
            <a:chExt cx="11136273" cy="2857500"/>
          </a:xfrm>
        </p:grpSpPr>
        <p:grpSp>
          <p:nvGrpSpPr>
            <p:cNvPr id="17" name="Group 17"/>
            <p:cNvGrpSpPr/>
            <p:nvPr/>
          </p:nvGrpSpPr>
          <p:grpSpPr>
            <a:xfrm>
              <a:off x="484227" y="1619250"/>
              <a:ext cx="2231946" cy="2857500"/>
              <a:chOff x="484227" y="1619250"/>
              <a:chExt cx="2231946" cy="2857500"/>
            </a:xfrm>
          </p:grpSpPr>
          <p:sp>
            <p:nvSpPr>
              <p:cNvPr id="10" name="Rectangle 10"/>
              <p:cNvSpPr/>
              <p:nvPr/>
            </p:nvSpPr>
            <p:spPr>
              <a:xfrm>
                <a:off x="571500" y="1619250"/>
                <a:ext cx="2057400" cy="2857500"/>
              </a:xfrm>
              <a:prstGeom prst="roundRect">
                <a:avLst>
                  <a:gd name="adj" fmla="val 7407"/>
                </a:avLst>
              </a:prstGeom>
              <a:solidFill>
                <a:srgbClr val="FFFFFF"/>
              </a:solidFill>
              <a:ln w="9525">
                <a:solidFill>
                  <a:srgbClr val="D8E1EC"/>
                </a:solidFill>
              </a:ln>
            </p:spPr>
            <p:txBody>
              <a:bodyPr/>
              <a:p/>
            </p:txBody>
          </p:sp>
          <p:sp>
            <p:nvSpPr>
              <p:cNvPr id="11" name="TextBox 11"/>
              <p:cNvSpPr txBox="1"/>
              <p:nvPr/>
            </p:nvSpPr>
            <p:spPr>
              <a:xfrm>
                <a:off x="1119092" y="1895475"/>
                <a:ext cx="962216" cy="3048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ctr"/>
                <a:r>
                  <a:rPr lang="zh-CN" sz="1500" b="1" dirty="0">
                    <a:solidFill>
                      <a:srgbClr val="2B3648"/>
                    </a:solidFill>
                    <a:latin typeface="Arial"/>
                    <a:ea typeface="Microsoft YaHei"/>
                    <a:cs typeface="Arial"/>
                  </a:rPr>
                  <a:t>DeepSeek</a:t>
                </a:r>
              </a:p>
            </p:txBody>
          </p:sp>
          <p:sp>
            <p:nvSpPr>
              <p:cNvPr id="12" name="TextBox 12"/>
              <p:cNvSpPr txBox="1"/>
              <p:nvPr/>
            </p:nvSpPr>
            <p:spPr>
              <a:xfrm>
                <a:off x="1096804" y="2286952"/>
                <a:ext cx="1006792" cy="21336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ctr"/>
                <a:r>
                  <a:rPr lang="zh-CN" sz="1050" dirty="0">
                    <a:solidFill>
                      <a:srgbClr val="5B6B82"/>
                    </a:solidFill>
                    <a:latin typeface="Arial"/>
                    <a:ea typeface="Microsoft YaHei"/>
                    <a:cs typeface="Arial"/>
                  </a:rPr>
                  <a:t>推理逻辑强、</a:t>
                </a:r>
              </a:p>
            </p:txBody>
          </p:sp>
          <p:sp>
            <p:nvSpPr>
              <p:cNvPr id="13" name="TextBox 13"/>
              <p:cNvSpPr txBox="1"/>
              <p:nvPr/>
            </p:nvSpPr>
            <p:spPr>
              <a:xfrm>
                <a:off x="1166812" y="2515552"/>
                <a:ext cx="866775" cy="21336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ctr"/>
                <a:r>
                  <a:rPr lang="zh-CN" sz="1050" dirty="0">
                    <a:solidFill>
                      <a:srgbClr val="5B6B82"/>
                    </a:solidFill>
                    <a:latin typeface="Arial"/>
                    <a:ea typeface="Microsoft YaHei"/>
                    <a:cs typeface="Arial"/>
                  </a:rPr>
                  <a:t>峰谷定价省钱</a:t>
                </a:r>
              </a:p>
            </p:txBody>
          </p:sp>
          <p:sp>
            <p:nvSpPr>
              <p:cNvPr id="14" name="Rectangle 14"/>
              <p:cNvSpPr/>
              <p:nvPr/>
            </p:nvSpPr>
            <p:spPr>
              <a:xfrm>
                <a:off x="800100" y="2857500"/>
                <a:ext cx="1600200" cy="285750"/>
              </a:xfrm>
              <a:prstGeom prst="roundRect">
                <a:avLst>
                  <a:gd name="adj" fmla="val 50000"/>
                </a:avLst>
              </a:prstGeom>
              <a:solidFill>
                <a:srgbClr val="D6E6F9"/>
              </a:solidFill>
              <a:ln>
                <a:noFill/>
              </a:ln>
            </p:spPr>
            <p:txBody>
              <a:bodyPr/>
              <a:p/>
            </p:txBody>
          </p:sp>
          <p:sp>
            <p:nvSpPr>
              <p:cNvPr id="15" name="TextBox 15"/>
              <p:cNvSpPr txBox="1"/>
              <p:nvPr/>
            </p:nvSpPr>
            <p:spPr>
              <a:xfrm>
                <a:off x="484227" y="2944178"/>
                <a:ext cx="2231946" cy="21336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ctr"/>
                <a:r>
                  <a:rPr lang="zh-CN" sz="1050" b="1" dirty="0">
                    <a:solidFill>
                      <a:srgbClr val="0B4EA2"/>
                    </a:solidFill>
                    <a:latin typeface="Arial"/>
                    <a:ea typeface="Microsoft YaHei"/>
                    <a:cs typeface="Arial"/>
                  </a:rPr>
                  <a:t>擅长：逻辑分析、数学、代码</a:t>
                </a:r>
              </a:p>
            </p:txBody>
          </p:sp>
          <p:sp>
            <p:nvSpPr>
              <p:cNvPr id="16" name="TextBox 16"/>
              <p:cNvSpPr txBox="1"/>
              <p:nvPr/>
            </p:nvSpPr>
            <p:spPr>
              <a:xfrm>
                <a:off x="886778" y="3429952"/>
                <a:ext cx="1426845" cy="21336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ctr"/>
                <a:r>
                  <a:rPr lang="zh-CN" sz="1050" dirty="0">
                    <a:solidFill>
                      <a:srgbClr val="8B99AE"/>
                    </a:solidFill>
                    <a:latin typeface="Arial"/>
                    <a:ea typeface="Microsoft YaHei"/>
                    <a:cs typeface="Arial"/>
                  </a:rPr>
                  <a:t>1M 上下文，MIT 开源</a:t>
                </a:r>
              </a:p>
            </p:txBody>
          </p:sp>
        </p:grpSp>
        <p:grpSp>
          <p:nvGrpSpPr>
            <p:cNvPr id="25" name="Group 25"/>
            <p:cNvGrpSpPr/>
            <p:nvPr/>
          </p:nvGrpSpPr>
          <p:grpSpPr>
            <a:xfrm>
              <a:off x="2819400" y="1619250"/>
              <a:ext cx="2057400" cy="2857500"/>
              <a:chOff x="2819400" y="1619250"/>
              <a:chExt cx="2057400" cy="2857500"/>
            </a:xfrm>
          </p:grpSpPr>
          <p:sp>
            <p:nvSpPr>
              <p:cNvPr id="18" name="Rectangle 18"/>
              <p:cNvSpPr/>
              <p:nvPr/>
            </p:nvSpPr>
            <p:spPr>
              <a:xfrm>
                <a:off x="2819400" y="1619250"/>
                <a:ext cx="2057400" cy="2857500"/>
              </a:xfrm>
              <a:prstGeom prst="roundRect">
                <a:avLst>
                  <a:gd name="adj" fmla="val 7407"/>
                </a:avLst>
              </a:prstGeom>
              <a:solidFill>
                <a:srgbClr val="FFFFFF"/>
              </a:solidFill>
              <a:ln w="9525">
                <a:solidFill>
                  <a:srgbClr val="D8E1EC"/>
                </a:solidFill>
              </a:ln>
            </p:spPr>
            <p:txBody>
              <a:bodyPr/>
              <a:p/>
            </p:txBody>
          </p:sp>
          <p:sp>
            <p:nvSpPr>
              <p:cNvPr id="19" name="TextBox 19"/>
              <p:cNvSpPr txBox="1"/>
              <p:nvPr/>
            </p:nvSpPr>
            <p:spPr>
              <a:xfrm>
                <a:off x="3629525" y="1895475"/>
                <a:ext cx="437150" cy="3048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ctr"/>
                <a:r>
                  <a:rPr lang="zh-CN" sz="1500" b="1" dirty="0">
                    <a:solidFill>
                      <a:srgbClr val="2B3648"/>
                    </a:solidFill>
                    <a:latin typeface="Arial"/>
                    <a:ea typeface="Microsoft YaHei"/>
                    <a:cs typeface="Arial"/>
                  </a:rPr>
                  <a:t>Kimi K3</a:t>
                </a:r>
              </a:p>
            </p:txBody>
          </p:sp>
          <p:sp>
            <p:nvSpPr>
              <p:cNvPr id="20" name="TextBox 20"/>
              <p:cNvSpPr txBox="1"/>
              <p:nvPr/>
            </p:nvSpPr>
            <p:spPr>
              <a:xfrm>
                <a:off x="3274695" y="2286952"/>
                <a:ext cx="1146810" cy="21336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ctr"/>
                <a:r>
                  <a:rPr lang="zh-CN" sz="1050" dirty="0">
                    <a:solidFill>
                      <a:srgbClr val="5B6B82"/>
                    </a:solidFill>
                    <a:latin typeface="Arial"/>
                    <a:ea typeface="Microsoft YaHei"/>
                    <a:cs typeface="Arial"/>
                  </a:rPr>
                  <a:t>Agent 之王：</a:t>
                </a:r>
              </a:p>
            </p:txBody>
          </p:sp>
          <p:sp>
            <p:nvSpPr>
              <p:cNvPr id="21" name="TextBox 21"/>
              <p:cNvSpPr txBox="1"/>
              <p:nvPr/>
            </p:nvSpPr>
            <p:spPr>
              <a:xfrm>
                <a:off x="3190684" y="2515552"/>
                <a:ext cx="1314831" cy="21336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ctr"/>
                <a:r>
                  <a:rPr lang="zh-CN" sz="1050" dirty="0">
                    <a:solidFill>
                      <a:srgbClr val="5B6B82"/>
                    </a:solidFill>
                    <a:latin typeface="Arial"/>
                    <a:ea typeface="Microsoft YaHei"/>
                    <a:cs typeface="Arial"/>
                  </a:rPr>
                  <a:t>300 个子 Agent 并行</a:t>
                </a:r>
              </a:p>
            </p:txBody>
          </p:sp>
          <p:sp>
            <p:nvSpPr>
              <p:cNvPr id="22" name="Rectangle 22"/>
              <p:cNvSpPr/>
              <p:nvPr/>
            </p:nvSpPr>
            <p:spPr>
              <a:xfrm>
                <a:off x="3048000" y="2857500"/>
                <a:ext cx="1600200" cy="285750"/>
              </a:xfrm>
              <a:prstGeom prst="roundRect">
                <a:avLst>
                  <a:gd name="adj" fmla="val 50000"/>
                </a:avLst>
              </a:prstGeom>
              <a:solidFill>
                <a:srgbClr val="D6E6F9"/>
              </a:solidFill>
              <a:ln>
                <a:noFill/>
              </a:ln>
            </p:spPr>
            <p:txBody>
              <a:bodyPr/>
              <a:p/>
            </p:txBody>
          </p:sp>
          <p:sp>
            <p:nvSpPr>
              <p:cNvPr id="23" name="TextBox 23"/>
              <p:cNvSpPr txBox="1"/>
              <p:nvPr/>
            </p:nvSpPr>
            <p:spPr>
              <a:xfrm>
                <a:off x="2879146" y="2944178"/>
                <a:ext cx="1937909" cy="21336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ctr"/>
                <a:r>
                  <a:rPr lang="zh-CN" sz="1050" b="1" dirty="0">
                    <a:solidFill>
                      <a:srgbClr val="0B4EA2"/>
                    </a:solidFill>
                    <a:latin typeface="Arial"/>
                    <a:ea typeface="Microsoft YaHei"/>
                    <a:cs typeface="Arial"/>
                  </a:rPr>
                  <a:t>擅长：长文档、自主任务、前端</a:t>
                </a:r>
              </a:p>
            </p:txBody>
          </p:sp>
          <p:sp>
            <p:nvSpPr>
              <p:cNvPr id="24" name="TextBox 24"/>
              <p:cNvSpPr txBox="1"/>
              <p:nvPr/>
            </p:nvSpPr>
            <p:spPr>
              <a:xfrm>
                <a:off x="3064669" y="3429952"/>
                <a:ext cx="1566863" cy="21336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ctr"/>
                <a:r>
                  <a:rPr lang="zh-CN" sz="1050" dirty="0">
                    <a:solidFill>
                      <a:srgbClr val="8B99AE"/>
                    </a:solidFill>
                    <a:latin typeface="Arial"/>
                    <a:ea typeface="Microsoft YaHei"/>
                    <a:cs typeface="Arial"/>
                  </a:rPr>
                  <a:t>2.8T 参数已开源</a:t>
                </a:r>
              </a:p>
            </p:txBody>
          </p:sp>
        </p:grpSp>
        <p:grpSp>
          <p:nvGrpSpPr>
            <p:cNvPr id="33" name="Group 33"/>
            <p:cNvGrpSpPr/>
            <p:nvPr/>
          </p:nvGrpSpPr>
          <p:grpSpPr>
            <a:xfrm>
              <a:off x="5067300" y="1619250"/>
              <a:ext cx="2057400" cy="2857500"/>
              <a:chOff x="5067300" y="1619250"/>
              <a:chExt cx="2057400" cy="2857500"/>
            </a:xfrm>
          </p:grpSpPr>
          <p:sp>
            <p:nvSpPr>
              <p:cNvPr id="26" name="Rectangle 26"/>
              <p:cNvSpPr/>
              <p:nvPr/>
            </p:nvSpPr>
            <p:spPr>
              <a:xfrm>
                <a:off x="5067300" y="1619250"/>
                <a:ext cx="2057400" cy="2857500"/>
              </a:xfrm>
              <a:prstGeom prst="roundRect">
                <a:avLst>
                  <a:gd name="adj" fmla="val 7407"/>
                </a:avLst>
              </a:prstGeom>
              <a:solidFill>
                <a:srgbClr val="FFFFFF"/>
              </a:solidFill>
              <a:ln w="9525">
                <a:solidFill>
                  <a:srgbClr val="D8E1EC"/>
                </a:solidFill>
              </a:ln>
            </p:spPr>
            <p:txBody>
              <a:bodyPr/>
              <a:p/>
            </p:txBody>
          </p:sp>
          <p:sp>
            <p:nvSpPr>
              <p:cNvPr id="27" name="TextBox 27"/>
              <p:cNvSpPr txBox="1"/>
              <p:nvPr/>
            </p:nvSpPr>
            <p:spPr>
              <a:xfrm>
                <a:off x="5866924" y="1895475"/>
                <a:ext cx="458152" cy="3048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ctr"/>
                <a:r>
                  <a:rPr lang="zh-CN" sz="1500" b="1" dirty="0">
                    <a:solidFill>
                      <a:srgbClr val="2B3648"/>
                    </a:solidFill>
                    <a:latin typeface="Arial"/>
                    <a:ea typeface="Microsoft YaHei"/>
                    <a:cs typeface="Arial"/>
                  </a:rPr>
                  <a:t>通义</a:t>
                </a:r>
              </a:p>
            </p:txBody>
          </p:sp>
          <p:sp>
            <p:nvSpPr>
              <p:cNvPr id="28" name="TextBox 28"/>
              <p:cNvSpPr txBox="1"/>
              <p:nvPr/>
            </p:nvSpPr>
            <p:spPr>
              <a:xfrm>
                <a:off x="5442085" y="2286952"/>
                <a:ext cx="1307830" cy="21336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ctr"/>
                <a:r>
                  <a:rPr lang="zh-CN" sz="1050" dirty="0">
                    <a:solidFill>
                      <a:srgbClr val="5B6B82"/>
                    </a:solidFill>
                    <a:latin typeface="Arial"/>
                    <a:ea typeface="Microsoft YaHei"/>
                    <a:cs typeface="Arial"/>
                  </a:rPr>
                  <a:t>Qwen3.8-Max，</a:t>
                </a:r>
              </a:p>
            </p:txBody>
          </p:sp>
          <p:sp>
            <p:nvSpPr>
              <p:cNvPr id="29" name="TextBox 29"/>
              <p:cNvSpPr txBox="1"/>
              <p:nvPr/>
            </p:nvSpPr>
            <p:spPr>
              <a:xfrm>
                <a:off x="5802630" y="2515552"/>
                <a:ext cx="586740" cy="21336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ctr"/>
                <a:r>
                  <a:rPr lang="zh-CN" sz="1050" dirty="0">
                    <a:solidFill>
                      <a:srgbClr val="5B6B82"/>
                    </a:solidFill>
                    <a:latin typeface="Arial"/>
                    <a:ea typeface="Microsoft YaHei"/>
                    <a:cs typeface="Arial"/>
                  </a:rPr>
                  <a:t>多模态最全，</a:t>
                </a:r>
              </a:p>
            </p:txBody>
          </p:sp>
          <p:sp>
            <p:nvSpPr>
              <p:cNvPr id="30" name="Rectangle 30"/>
              <p:cNvSpPr/>
              <p:nvPr/>
            </p:nvSpPr>
            <p:spPr>
              <a:xfrm>
                <a:off x="5295900" y="2857500"/>
                <a:ext cx="1600200" cy="285750"/>
              </a:xfrm>
              <a:prstGeom prst="roundRect">
                <a:avLst>
                  <a:gd name="adj" fmla="val 50000"/>
                </a:avLst>
              </a:prstGeom>
              <a:solidFill>
                <a:srgbClr val="D6E6F9"/>
              </a:solidFill>
              <a:ln>
                <a:noFill/>
              </a:ln>
            </p:spPr>
            <p:txBody>
              <a:bodyPr/>
              <a:p/>
            </p:txBody>
          </p:sp>
          <p:sp>
            <p:nvSpPr>
              <p:cNvPr id="31" name="TextBox 31"/>
              <p:cNvSpPr txBox="1"/>
              <p:nvPr/>
            </p:nvSpPr>
            <p:spPr>
              <a:xfrm>
                <a:off x="5127046" y="2944178"/>
                <a:ext cx="1937909" cy="21336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ctr"/>
                <a:r>
                  <a:rPr lang="zh-CN" sz="1050" b="1" dirty="0">
                    <a:solidFill>
                      <a:srgbClr val="0B4EA2"/>
                    </a:solidFill>
                    <a:latin typeface="Arial"/>
                    <a:ea typeface="Microsoft YaHei"/>
                    <a:cs typeface="Arial"/>
                  </a:rPr>
                  <a:t>擅长：办公全家桶、长程编程</a:t>
                </a:r>
              </a:p>
            </p:txBody>
          </p:sp>
          <p:sp>
            <p:nvSpPr>
              <p:cNvPr id="32" name="TextBox 32"/>
              <p:cNvSpPr txBox="1"/>
              <p:nvPr/>
            </p:nvSpPr>
            <p:spPr>
              <a:xfrm>
                <a:off x="5316069" y="3429952"/>
                <a:ext cx="1559862" cy="21336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ctr"/>
                <a:r>
                  <a:rPr lang="zh-CN" sz="1050" dirty="0">
                    <a:solidFill>
                      <a:srgbClr val="8B99AE"/>
                    </a:solidFill>
                    <a:latin typeface="Arial"/>
                    <a:ea typeface="Microsoft YaHei"/>
                    <a:cs typeface="Arial"/>
                  </a:rPr>
                  <a:t>2.4T 参数已开源</a:t>
                </a:r>
              </a:p>
            </p:txBody>
          </p:sp>
        </p:grpSp>
        <p:grpSp>
          <p:nvGrpSpPr>
            <p:cNvPr id="41" name="Group 41"/>
            <p:cNvGrpSpPr/>
            <p:nvPr/>
          </p:nvGrpSpPr>
          <p:grpSpPr>
            <a:xfrm>
              <a:off x="7227927" y="1619250"/>
              <a:ext cx="2231946" cy="2857500"/>
              <a:chOff x="7227927" y="1619250"/>
              <a:chExt cx="2231946" cy="2857500"/>
            </a:xfrm>
          </p:grpSpPr>
          <p:sp>
            <p:nvSpPr>
              <p:cNvPr id="34" name="Rectangle 34"/>
              <p:cNvSpPr/>
              <p:nvPr/>
            </p:nvSpPr>
            <p:spPr>
              <a:xfrm>
                <a:off x="7315200" y="1619250"/>
                <a:ext cx="2057400" cy="2857500"/>
              </a:xfrm>
              <a:prstGeom prst="roundRect">
                <a:avLst>
                  <a:gd name="adj" fmla="val 7407"/>
                </a:avLst>
              </a:prstGeom>
              <a:solidFill>
                <a:srgbClr val="FFFFFF"/>
              </a:solidFill>
              <a:ln w="9525">
                <a:solidFill>
                  <a:srgbClr val="D8E1EC"/>
                </a:solidFill>
              </a:ln>
            </p:spPr>
            <p:txBody>
              <a:bodyPr/>
              <a:p/>
            </p:txBody>
          </p:sp>
          <p:sp>
            <p:nvSpPr>
              <p:cNvPr id="35" name="TextBox 35"/>
              <p:cNvSpPr txBox="1"/>
              <p:nvPr/>
            </p:nvSpPr>
            <p:spPr>
              <a:xfrm>
                <a:off x="7904798" y="1895475"/>
                <a:ext cx="878205" cy="3048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ctr"/>
                <a:r>
                  <a:rPr lang="zh-CN" sz="1500" b="1" dirty="0">
                    <a:solidFill>
                      <a:srgbClr val="2B3648"/>
                    </a:solidFill>
                    <a:latin typeface="Arial"/>
                    <a:ea typeface="Microsoft YaHei"/>
                    <a:cs typeface="Arial"/>
                  </a:rPr>
                  <a:t>豆包</a:t>
                </a:r>
              </a:p>
            </p:txBody>
          </p:sp>
          <p:sp>
            <p:nvSpPr>
              <p:cNvPr id="36" name="TextBox 36"/>
              <p:cNvSpPr txBox="1"/>
              <p:nvPr/>
            </p:nvSpPr>
            <p:spPr>
              <a:xfrm>
                <a:off x="7700486" y="2286952"/>
                <a:ext cx="1286828" cy="21336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ctr"/>
                <a:r>
                  <a:rPr lang="zh-CN" sz="1050" dirty="0">
                    <a:solidFill>
                      <a:srgbClr val="5B6B82"/>
                    </a:solidFill>
                    <a:latin typeface="Arial"/>
                    <a:ea typeface="Microsoft YaHei"/>
                    <a:cs typeface="Arial"/>
                  </a:rPr>
                  <a:t>语音最自然，</a:t>
                </a:r>
              </a:p>
            </p:txBody>
          </p:sp>
          <p:sp>
            <p:nvSpPr>
              <p:cNvPr id="37" name="TextBox 37"/>
              <p:cNvSpPr txBox="1"/>
              <p:nvPr/>
            </p:nvSpPr>
            <p:spPr>
              <a:xfrm>
                <a:off x="8050530" y="2515552"/>
                <a:ext cx="586740" cy="21336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ctr"/>
                <a:r>
                  <a:rPr lang="zh-CN" sz="1050" dirty="0">
                    <a:solidFill>
                      <a:srgbClr val="5B6B82"/>
                    </a:solidFill>
                    <a:latin typeface="Arial"/>
                    <a:ea typeface="Microsoft YaHei"/>
                    <a:cs typeface="Arial"/>
                  </a:rPr>
                  <a:t>门槛最低</a:t>
                </a:r>
              </a:p>
            </p:txBody>
          </p:sp>
          <p:sp>
            <p:nvSpPr>
              <p:cNvPr id="38" name="Rectangle 38"/>
              <p:cNvSpPr/>
              <p:nvPr/>
            </p:nvSpPr>
            <p:spPr>
              <a:xfrm>
                <a:off x="7543800" y="2857500"/>
                <a:ext cx="1600200" cy="285750"/>
              </a:xfrm>
              <a:prstGeom prst="roundRect">
                <a:avLst>
                  <a:gd name="adj" fmla="val 50000"/>
                </a:avLst>
              </a:prstGeom>
              <a:solidFill>
                <a:srgbClr val="D6E6F9"/>
              </a:solidFill>
              <a:ln>
                <a:noFill/>
              </a:ln>
            </p:spPr>
            <p:txBody>
              <a:bodyPr/>
              <a:p/>
            </p:txBody>
          </p:sp>
          <p:sp>
            <p:nvSpPr>
              <p:cNvPr id="39" name="TextBox 39"/>
              <p:cNvSpPr txBox="1"/>
              <p:nvPr/>
            </p:nvSpPr>
            <p:spPr>
              <a:xfrm>
                <a:off x="7227927" y="2944178"/>
                <a:ext cx="2231946" cy="21336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ctr"/>
                <a:r>
                  <a:rPr lang="zh-CN" sz="1050" b="1" dirty="0">
                    <a:solidFill>
                      <a:srgbClr val="0B4EA2"/>
                    </a:solidFill>
                    <a:latin typeface="Arial"/>
                    <a:ea typeface="Microsoft YaHei"/>
                    <a:cs typeface="Arial"/>
                  </a:rPr>
                  <a:t>擅长：日常问答、语音、出图</a:t>
                </a:r>
              </a:p>
            </p:txBody>
          </p:sp>
          <p:sp>
            <p:nvSpPr>
              <p:cNvPr id="40" name="TextBox 40"/>
              <p:cNvSpPr txBox="1"/>
              <p:nvPr/>
            </p:nvSpPr>
            <p:spPr>
              <a:xfrm>
                <a:off x="7630478" y="3429952"/>
                <a:ext cx="1426845" cy="21336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ctr"/>
                <a:r>
                  <a:rPr lang="zh-CN" sz="1050" dirty="0">
                    <a:solidFill>
                      <a:srgbClr val="8B99AE"/>
                    </a:solidFill>
                    <a:latin typeface="Arial"/>
                    <a:ea typeface="Microsoft YaHei"/>
                    <a:cs typeface="Arial"/>
                  </a:rPr>
                  <a:t>App 免费，飞书剪映顺手</a:t>
                </a:r>
              </a:p>
            </p:txBody>
          </p:sp>
        </p:grpSp>
        <p:grpSp>
          <p:nvGrpSpPr>
            <p:cNvPr id="49" name="Group 49"/>
            <p:cNvGrpSpPr/>
            <p:nvPr/>
          </p:nvGrpSpPr>
          <p:grpSpPr>
            <a:xfrm>
              <a:off x="9563100" y="1619250"/>
              <a:ext cx="2057400" cy="2857500"/>
              <a:chOff x="9563100" y="1619250"/>
              <a:chExt cx="2057400" cy="2857500"/>
            </a:xfrm>
          </p:grpSpPr>
          <p:sp>
            <p:nvSpPr>
              <p:cNvPr id="42" name="Rectangle 42"/>
              <p:cNvSpPr/>
              <p:nvPr/>
            </p:nvSpPr>
            <p:spPr>
              <a:xfrm>
                <a:off x="9563100" y="1619250"/>
                <a:ext cx="2057400" cy="2857500"/>
              </a:xfrm>
              <a:prstGeom prst="roundRect">
                <a:avLst>
                  <a:gd name="adj" fmla="val 7407"/>
                </a:avLst>
              </a:prstGeom>
              <a:solidFill>
                <a:srgbClr val="FFFFFF"/>
              </a:solidFill>
              <a:ln w="9525">
                <a:solidFill>
                  <a:srgbClr val="D8E1EC"/>
                </a:solidFill>
              </a:ln>
            </p:spPr>
            <p:txBody>
              <a:bodyPr/>
              <a:p/>
            </p:txBody>
          </p:sp>
          <p:sp>
            <p:nvSpPr>
              <p:cNvPr id="43" name="TextBox 43"/>
              <p:cNvSpPr txBox="1"/>
              <p:nvPr/>
            </p:nvSpPr>
            <p:spPr>
              <a:xfrm>
                <a:off x="10031932" y="1895475"/>
                <a:ext cx="1119735" cy="3048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ctr"/>
                <a:r>
                  <a:rPr lang="zh-CN" sz="1500" b="1" dirty="0">
                    <a:solidFill>
                      <a:srgbClr val="2B3648"/>
                    </a:solidFill>
                    <a:latin typeface="Arial"/>
                    <a:ea typeface="Microsoft YaHei"/>
                    <a:cs typeface="Arial"/>
                  </a:rPr>
                  <a:t>智谱</a:t>
                </a:r>
              </a:p>
            </p:txBody>
          </p:sp>
          <p:sp>
            <p:nvSpPr>
              <p:cNvPr id="44" name="TextBox 44"/>
              <p:cNvSpPr txBox="1"/>
              <p:nvPr/>
            </p:nvSpPr>
            <p:spPr>
              <a:xfrm>
                <a:off x="10228421" y="2286952"/>
                <a:ext cx="726758" cy="21336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ctr"/>
                <a:r>
                  <a:rPr lang="zh-CN" sz="1050" dirty="0">
                    <a:solidFill>
                      <a:srgbClr val="5B6B82"/>
                    </a:solidFill>
                    <a:latin typeface="Arial"/>
                    <a:ea typeface="Microsoft YaHei"/>
                    <a:cs typeface="Arial"/>
                  </a:rPr>
                  <a:t>GLM-5.2，</a:t>
                </a:r>
              </a:p>
            </p:txBody>
          </p:sp>
          <p:sp>
            <p:nvSpPr>
              <p:cNvPr id="45" name="TextBox 45"/>
              <p:cNvSpPr txBox="1"/>
              <p:nvPr/>
            </p:nvSpPr>
            <p:spPr>
              <a:xfrm>
                <a:off x="10088404" y="2515552"/>
                <a:ext cx="1006792" cy="21336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ctr"/>
                <a:r>
                  <a:rPr lang="zh-CN" sz="1050" dirty="0">
                    <a:solidFill>
                      <a:srgbClr val="5B6B82"/>
                    </a:solidFill>
                    <a:latin typeface="Arial"/>
                    <a:ea typeface="Microsoft YaHei"/>
                    <a:cs typeface="Arial"/>
                  </a:rPr>
                  <a:t>代码之王，</a:t>
                </a:r>
              </a:p>
            </p:txBody>
          </p:sp>
          <p:sp>
            <p:nvSpPr>
              <p:cNvPr id="46" name="Rectangle 46"/>
              <p:cNvSpPr/>
              <p:nvPr/>
            </p:nvSpPr>
            <p:spPr>
              <a:xfrm>
                <a:off x="9791700" y="2857500"/>
                <a:ext cx="1600200" cy="285750"/>
              </a:xfrm>
              <a:prstGeom prst="roundRect">
                <a:avLst>
                  <a:gd name="adj" fmla="val 50000"/>
                </a:avLst>
              </a:prstGeom>
              <a:solidFill>
                <a:srgbClr val="D6E6F9"/>
              </a:solidFill>
              <a:ln>
                <a:noFill/>
              </a:ln>
            </p:spPr>
            <p:txBody>
              <a:bodyPr/>
              <a:p/>
            </p:txBody>
          </p:sp>
          <p:sp>
            <p:nvSpPr>
              <p:cNvPr id="47" name="TextBox 47"/>
              <p:cNvSpPr txBox="1"/>
              <p:nvPr/>
            </p:nvSpPr>
            <p:spPr>
              <a:xfrm>
                <a:off x="9769864" y="2944178"/>
                <a:ext cx="1643872" cy="21336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ctr"/>
                <a:r>
                  <a:rPr lang="zh-CN" sz="1050" b="1" dirty="0">
                    <a:solidFill>
                      <a:srgbClr val="0B4EA2"/>
                    </a:solidFill>
                    <a:latin typeface="Arial"/>
                    <a:ea typeface="Microsoft YaHei"/>
                    <a:cs typeface="Arial"/>
                  </a:rPr>
                  <a:t>擅长：超长文档、仓库级代码</a:t>
                </a:r>
              </a:p>
            </p:txBody>
          </p:sp>
          <p:sp>
            <p:nvSpPr>
              <p:cNvPr id="48" name="TextBox 48"/>
              <p:cNvSpPr txBox="1"/>
              <p:nvPr/>
            </p:nvSpPr>
            <p:spPr>
              <a:xfrm>
                <a:off x="9948386" y="3429952"/>
                <a:ext cx="1286828" cy="21336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ctr"/>
                <a:r>
                  <a:rPr lang="zh-CN" sz="1050" dirty="0">
                    <a:solidFill>
                      <a:srgbClr val="8B99AE"/>
                    </a:solidFill>
                    <a:latin typeface="Arial"/>
                    <a:ea typeface="Microsoft YaHei"/>
                    <a:cs typeface="Arial"/>
                  </a:rPr>
                  <a:t>25GB 内存可本地跑</a:t>
                </a:r>
              </a:p>
            </p:txBody>
          </p:sp>
        </p:grpSp>
      </p:grpSp>
      <p:grpSp>
        <p:nvGrpSpPr>
          <p:cNvPr id="55" name="Group 55"/>
          <p:cNvGrpSpPr/>
          <p:nvPr/>
        </p:nvGrpSpPr>
        <p:grpSpPr>
          <a:xfrm>
            <a:off x="571500" y="4724400"/>
            <a:ext cx="11049000" cy="838200"/>
            <a:chOff x="571500" y="4724400"/>
            <a:chExt cx="11049000" cy="838200"/>
          </a:xfrm>
        </p:grpSpPr>
        <p:sp>
          <p:nvSpPr>
            <p:cNvPr id="51" name="Rectangle 51"/>
            <p:cNvSpPr/>
            <p:nvPr/>
          </p:nvSpPr>
          <p:spPr>
            <a:xfrm>
              <a:off x="571500" y="4724400"/>
              <a:ext cx="11049000" cy="838200"/>
            </a:xfrm>
            <a:prstGeom prst="roundRect">
              <a:avLst>
                <a:gd name="adj" fmla="val 18182"/>
              </a:avLst>
            </a:prstGeom>
            <a:solidFill>
              <a:srgbClr val="D6E6F9"/>
            </a:solidFill>
            <a:ln>
              <a:noFill/>
            </a:ln>
          </p:spPr>
          <p:txBody>
            <a:bodyPr/>
            <a:p/>
          </p:txBody>
        </p:sp>
        <p:sp>
          <p:nvSpPr>
            <p:cNvPr id="52" name="Rectangle 52"/>
            <p:cNvSpPr/>
            <p:nvPr/>
          </p:nvSpPr>
          <p:spPr>
            <a:xfrm>
              <a:off x="571500" y="4724400"/>
              <a:ext cx="76200" cy="838200"/>
            </a:xfrm>
            <a:prstGeom prst="roundRect">
              <a:avLst>
                <a:gd name="adj" fmla="val 50000"/>
              </a:avLst>
            </a:prstGeom>
            <a:solidFill>
              <a:srgbClr val="1565D8"/>
            </a:solidFill>
            <a:ln>
              <a:noFill/>
            </a:ln>
          </p:spPr>
          <p:txBody>
            <a:bodyPr/>
            <a:p/>
          </p:txBody>
        </p:sp>
        <p:sp>
          <p:nvSpPr>
            <p:cNvPr id="53" name="TextBox 53"/>
            <p:cNvSpPr txBox="1"/>
            <p:nvPr/>
          </p:nvSpPr>
          <p:spPr>
            <a:xfrm>
              <a:off x="859155" y="4902518"/>
              <a:ext cx="6527252" cy="27432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b="1" dirty="0">
                  <a:solidFill>
                    <a:srgbClr val="0B4EA2"/>
                  </a:solidFill>
                  <a:latin typeface="Arial"/>
                  <a:ea typeface="Microsoft YaHei"/>
                  <a:cs typeface="Arial"/>
                </a:rPr>
                <a:t>选模型一句话：别追最强、别追最新——先定 1-2 个主力用出手感，熟了再换。</a:t>
              </a:r>
            </a:p>
          </p:txBody>
        </p:sp>
        <p:sp>
          <p:nvSpPr>
            <p:cNvPr id="54" name="TextBox 54"/>
            <p:cNvSpPr txBox="1"/>
            <p:nvPr/>
          </p:nvSpPr>
          <p:spPr>
            <a:xfrm>
              <a:off x="861060" y="5223510"/>
              <a:ext cx="4719066" cy="24384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00" dirty="0">
                  <a:solidFill>
                    <a:srgbClr val="0B4EA2"/>
                  </a:solidFill>
                  <a:latin typeface="Arial"/>
                  <a:ea typeface="Microsoft YaHei"/>
                  <a:cs typeface="Arial"/>
                </a:rPr>
                <a:t>选型不玄学：场景合适 + 你用得顺手 + 团队都能用，就是好模型。</a:t>
              </a:r>
            </a:p>
          </p:txBody>
        </p:sp>
      </p:grpSp>
      <p:grpSp>
        <p:nvGrpSpPr>
          <p:cNvPr id="57" name="Group 57"/>
          <p:cNvGrpSpPr/>
          <p:nvPr/>
        </p:nvGrpSpPr>
        <p:grpSpPr>
          <a:xfrm>
            <a:off x="558165" y="5792152"/>
            <a:ext cx="2525982" cy="213360"/>
            <a:chOff x="558165" y="5792152"/>
            <a:chExt cx="2525982" cy="213360"/>
          </a:xfrm>
        </p:grpSpPr>
        <p:sp>
          <p:nvSpPr>
            <p:cNvPr id="56" name="TextBox 56"/>
            <p:cNvSpPr txBox="1"/>
            <p:nvPr/>
          </p:nvSpPr>
          <p:spPr>
            <a:xfrm>
              <a:off x="558165" y="5792152"/>
              <a:ext cx="2525982" cy="21336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050" dirty="0">
                  <a:solidFill>
                    <a:srgbClr val="8B99AE"/>
                  </a:solidFill>
                  <a:latin typeface="Arial"/>
                  <a:ea typeface="Microsoft YaHei"/>
                  <a:cs typeface="Arial"/>
                </a:rPr>
                <a:t>* 榜单每月在变，本表每季度核对一次。</a:t>
              </a:r>
            </a:p>
          </p:txBody>
        </p:sp>
      </p:grpSp>
      <p:grpSp>
        <p:nvGrpSpPr>
          <p:cNvPr id="60" name="Group 60"/>
          <p:cNvGrpSpPr/>
          <p:nvPr/>
        </p:nvGrpSpPr>
        <p:grpSpPr>
          <a:xfrm>
            <a:off x="560070" y="6341745"/>
            <a:ext cx="11071860" cy="182880"/>
            <a:chOff x="560070" y="6341745"/>
            <a:chExt cx="11071860" cy="182880"/>
          </a:xfrm>
        </p:grpSpPr>
        <p:sp>
          <p:nvSpPr>
            <p:cNvPr id="58" name="TextBox 58"/>
            <p:cNvSpPr txBox="1"/>
            <p:nvPr/>
          </p:nvSpPr>
          <p:spPr>
            <a:xfrm>
              <a:off x="560070" y="6341745"/>
              <a:ext cx="1054989" cy="18288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00" dirty="0">
                  <a:solidFill>
                    <a:srgbClr val="8B99AE"/>
                  </a:solidFill>
                  <a:latin typeface="Arial"/>
                  <a:ea typeface="Microsoft YaHei"/>
                  <a:cs typeface="Arial"/>
                </a:rPr>
                <a:t>大模型通识 · 企业版</a:t>
              </a:r>
            </a:p>
          </p:txBody>
        </p:sp>
        <p:sp>
          <p:nvSpPr>
            <p:cNvPr id="59" name="TextBox 59"/>
            <p:cNvSpPr txBox="1"/>
            <p:nvPr/>
          </p:nvSpPr>
          <p:spPr>
            <a:xfrm>
              <a:off x="11207020" y="6341745"/>
              <a:ext cx="424910" cy="18288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r"/>
              <a:r>
                <a:rPr lang="zh-CN" sz="900" dirty="0">
                  <a:solidFill>
                    <a:srgbClr val="8B99AE"/>
                  </a:solidFill>
                  <a:latin typeface="Arial"/>
                  <a:ea typeface="Microsoft YaHei"/>
                  <a:cs typeface="Arial"/>
                </a:rPr>
                <a:t>27 / 51</a:t>
              </a:r>
            </a:p>
          </p:txBody>
        </p:sp>
      </p:grpSp>
    </p:spTree>
  </p:cSld>
  <p:clrMapOvr>
    <a:masterClrMapping/>
  </p:clrMapOvr>
  <p:transition xmlns:p14="http://schemas.microsoft.com/office/powerpoint/2010/main" p14:dur="400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1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400"/>
                                        <p:tgtEl>
                                          <p:spTgt spid="5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900"/>
                            </p:stCondLst>
                            <p:childTnLst>
                              <p:par>
                                <p:cTn id="9" presetID="2" presetClass="entr" presetSubtype="4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slide(fromBottom)">
                                      <p:cBhvr>
                                        <p:cTn id="11" dur="400"/>
                                        <p:tgtEl>
                                          <p:spTgt spid="5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2" fill="hold">
                            <p:stCondLst>
                              <p:cond delay="1800"/>
                            </p:stCondLst>
                            <p:childTnLst>
                              <p:par>
                                <p:cTn id="13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400"/>
                                        <p:tgtEl>
                                          <p:spTgt spid="5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0" grpId="0"/>
      <p:bldP spid="55" grpId="0"/>
      <p:bldP spid="57" grpId="0"/>
    </p:bldLst>
  </p:timing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grpSp>
        <p:nvGrpSpPr>
          <p:cNvPr id="5" name="Group 5"/>
          <p:cNvGrpSpPr/>
          <p:nvPr/>
        </p:nvGrpSpPr>
        <p:grpSpPr>
          <a:xfrm>
            <a:off x="-1619250" y="0"/>
            <a:ext cx="13811250" cy="8477250"/>
            <a:chOff x="-1619250" y="0"/>
            <a:chExt cx="13811250" cy="8477250"/>
          </a:xfrm>
        </p:grpSpPr>
        <p:sp>
          <p:nvSpPr>
            <p:cNvPr id="2" name="Rectangle 2"/>
            <p:cNvSpPr/>
            <p:nvPr/>
          </p:nvSpPr>
          <p:spPr>
            <a:xfrm>
              <a:off x="0" y="0"/>
              <a:ext cx="12192000" cy="6858000"/>
            </a:xfrm>
            <a:prstGeom prst="rect">
              <a:avLst/>
            </a:prstGeom>
            <a:solidFill>
              <a:srgbClr val="F5F7FA"/>
            </a:solidFill>
            <a:ln>
              <a:noFill/>
            </a:ln>
          </p:spPr>
          <p:txBody>
            <a:bodyPr/>
            <a:p/>
          </p:txBody>
        </p:sp>
        <p:sp>
          <p:nvSpPr>
            <p:cNvPr id="3" name="Rectangle 3"/>
            <p:cNvSpPr/>
            <p:nvPr/>
          </p:nvSpPr>
          <p:spPr>
            <a:xfrm>
              <a:off x="0" y="0"/>
              <a:ext cx="12192000" cy="6858000"/>
            </a:xfrm>
            <a:prstGeom prst="rect">
              <a:avLst/>
            </a:prstGeom>
            <a:gradFill>
              <a:gsLst>
                <a:gs pos="0">
                  <a:srgbClr val="1565D8">
                    <a:alpha val="6000"/>
                  </a:srgbClr>
                </a:gs>
                <a:gs pos="100000">
                  <a:srgbClr val="1565D8">
                    <a:alpha val="0"/>
                  </a:srgbClr>
                </a:gs>
              </a:gsLst>
              <a:path path="circle">
                <a:fillToRect l="50000" t="50000" r="50000" b="50000"/>
              </a:path>
            </a:gradFill>
            <a:ln>
              <a:noFill/>
            </a:ln>
          </p:spPr>
          <p:txBody>
            <a:bodyPr/>
            <a:p/>
          </p:txBody>
        </p:sp>
        <p:sp>
          <p:nvSpPr>
            <p:cNvPr id="4" name="Ellipse 4"/>
            <p:cNvSpPr/>
            <p:nvPr/>
          </p:nvSpPr>
          <p:spPr>
            <a:xfrm>
              <a:off x="-1619250" y="4667250"/>
              <a:ext cx="3810000" cy="3810000"/>
            </a:xfrm>
            <a:prstGeom prst="ellipse">
              <a:avLst/>
            </a:prstGeom>
            <a:noFill/>
            <a:ln w="14288">
              <a:solidFill>
                <a:srgbClr val="D6E6F9">
                  <a:alpha val="80000"/>
                </a:srgbClr>
              </a:solidFill>
            </a:ln>
          </p:spPr>
          <p:txBody>
            <a:bodyPr/>
            <a:p/>
          </p:txBody>
        </p:sp>
      </p:grpSp>
      <p:grpSp>
        <p:nvGrpSpPr>
          <p:cNvPr id="9" name="Group 9"/>
          <p:cNvGrpSpPr/>
          <p:nvPr/>
        </p:nvGrpSpPr>
        <p:grpSpPr>
          <a:xfrm>
            <a:off x="571500" y="685800"/>
            <a:ext cx="4044220" cy="700088"/>
            <a:chOff x="571500" y="685800"/>
            <a:chExt cx="4044220" cy="700088"/>
          </a:xfrm>
        </p:grpSpPr>
        <p:sp>
          <p:nvSpPr>
            <p:cNvPr id="6" name="Rectangle 6"/>
            <p:cNvSpPr/>
            <p:nvPr/>
          </p:nvSpPr>
          <p:spPr>
            <a:xfrm>
              <a:off x="571500" y="685800"/>
              <a:ext cx="76200" cy="323850"/>
            </a:xfrm>
            <a:prstGeom prst="roundRect">
              <a:avLst>
                <a:gd name="adj" fmla="val 50000"/>
              </a:avLst>
            </a:prstGeom>
            <a:solidFill>
              <a:srgbClr val="1565D8"/>
            </a:solidFill>
            <a:ln>
              <a:noFill/>
            </a:ln>
          </p:spPr>
          <p:txBody>
            <a:bodyPr/>
            <a:p/>
          </p:txBody>
        </p:sp>
        <p:sp>
          <p:nvSpPr>
            <p:cNvPr id="7" name="TextBox 7"/>
            <p:cNvSpPr txBox="1"/>
            <p:nvPr/>
          </p:nvSpPr>
          <p:spPr>
            <a:xfrm>
              <a:off x="771525" y="700088"/>
              <a:ext cx="2262426" cy="45720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2250" b="1" dirty="0">
                  <a:solidFill>
                    <a:srgbClr val="2B3648"/>
                  </a:solidFill>
                  <a:latin typeface="Arial"/>
                  <a:ea typeface="Microsoft YaHei"/>
                  <a:cs typeface="Arial"/>
                </a:rPr>
                <a:t>国外标杆速览</a:t>
              </a:r>
            </a:p>
          </p:txBody>
        </p:sp>
        <p:sp>
          <p:nvSpPr>
            <p:cNvPr id="8" name="TextBox 8"/>
            <p:cNvSpPr txBox="1"/>
            <p:nvPr/>
          </p:nvSpPr>
          <p:spPr>
            <a:xfrm>
              <a:off x="782955" y="1111568"/>
              <a:ext cx="3832765" cy="27432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5B6B82"/>
                  </a:solidFill>
                  <a:latin typeface="Arial"/>
                  <a:ea typeface="Microsoft YaHei"/>
                  <a:cs typeface="Arial"/>
                </a:rPr>
                <a:t>2026 年 8-9 月，国外旗舰长这样——企业选型的「天花板参考」</a:t>
              </a:r>
            </a:p>
          </p:txBody>
        </p:sp>
      </p:grpSp>
      <p:grpSp>
        <p:nvGrpSpPr>
          <p:cNvPr id="50" name="Group 50"/>
          <p:cNvGrpSpPr/>
          <p:nvPr/>
        </p:nvGrpSpPr>
        <p:grpSpPr>
          <a:xfrm>
            <a:off x="484227" y="1619250"/>
            <a:ext cx="11136273" cy="2857500"/>
            <a:chOff x="484227" y="1619250"/>
            <a:chExt cx="11136273" cy="2857500"/>
          </a:xfrm>
        </p:grpSpPr>
        <p:grpSp>
          <p:nvGrpSpPr>
            <p:cNvPr id="17" name="Group 17"/>
            <p:cNvGrpSpPr/>
            <p:nvPr/>
          </p:nvGrpSpPr>
          <p:grpSpPr>
            <a:xfrm>
              <a:off x="484227" y="1619250"/>
              <a:ext cx="2231946" cy="2857500"/>
              <a:chOff x="484227" y="1619250"/>
              <a:chExt cx="2231946" cy="2857500"/>
            </a:xfrm>
          </p:grpSpPr>
          <p:sp>
            <p:nvSpPr>
              <p:cNvPr id="10" name="Rectangle 10"/>
              <p:cNvSpPr/>
              <p:nvPr/>
            </p:nvSpPr>
            <p:spPr>
              <a:xfrm>
                <a:off x="571500" y="1619250"/>
                <a:ext cx="2057400" cy="2857500"/>
              </a:xfrm>
              <a:prstGeom prst="roundRect">
                <a:avLst>
                  <a:gd name="adj" fmla="val 7407"/>
                </a:avLst>
              </a:prstGeom>
              <a:solidFill>
                <a:srgbClr val="FFFFFF"/>
              </a:solidFill>
              <a:ln w="9525">
                <a:solidFill>
                  <a:srgbClr val="D8E1EC"/>
                </a:solidFill>
              </a:ln>
            </p:spPr>
            <p:txBody>
              <a:bodyPr/>
              <a:p/>
            </p:txBody>
          </p:sp>
          <p:sp>
            <p:nvSpPr>
              <p:cNvPr id="11" name="TextBox 11"/>
              <p:cNvSpPr txBox="1"/>
              <p:nvPr/>
            </p:nvSpPr>
            <p:spPr>
              <a:xfrm>
                <a:off x="1119092" y="1895475"/>
                <a:ext cx="962216" cy="3048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ctr"/>
                <a:r>
                  <a:rPr lang="zh-CN" sz="1500" b="1" dirty="0">
                    <a:solidFill>
                      <a:srgbClr val="2B3648"/>
                    </a:solidFill>
                    <a:latin typeface="Arial"/>
                    <a:ea typeface="Microsoft YaHei"/>
                    <a:cs typeface="Arial"/>
                  </a:rPr>
                  <a:t>GPT-5.6</a:t>
                </a:r>
              </a:p>
            </p:txBody>
          </p:sp>
          <p:sp>
            <p:nvSpPr>
              <p:cNvPr id="12" name="TextBox 12"/>
              <p:cNvSpPr txBox="1"/>
              <p:nvPr/>
            </p:nvSpPr>
            <p:spPr>
              <a:xfrm>
                <a:off x="1096804" y="2286952"/>
                <a:ext cx="1006792" cy="21336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ctr"/>
                <a:r>
                  <a:rPr lang="zh-CN" sz="1050" dirty="0">
                    <a:solidFill>
                      <a:srgbClr val="5B6B82"/>
                    </a:solidFill>
                    <a:latin typeface="Arial"/>
                    <a:ea typeface="Microsoft YaHei"/>
                    <a:cs typeface="Arial"/>
                  </a:rPr>
                  <a:t>三档定位，</a:t>
                </a:r>
              </a:p>
            </p:txBody>
          </p:sp>
          <p:sp>
            <p:nvSpPr>
              <p:cNvPr id="13" name="TextBox 13"/>
              <p:cNvSpPr txBox="1"/>
              <p:nvPr/>
            </p:nvSpPr>
            <p:spPr>
              <a:xfrm>
                <a:off x="1166812" y="2515552"/>
                <a:ext cx="866775" cy="21336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ctr"/>
                <a:r>
                  <a:rPr lang="zh-CN" sz="1050" dirty="0">
                    <a:solidFill>
                      <a:srgbClr val="5B6B82"/>
                    </a:solidFill>
                    <a:latin typeface="Arial"/>
                    <a:ea typeface="Microsoft YaHei"/>
                    <a:cs typeface="Arial"/>
                  </a:rPr>
                  <a:t>Sol 旗舰、Luna 省钱</a:t>
                </a:r>
              </a:p>
            </p:txBody>
          </p:sp>
          <p:sp>
            <p:nvSpPr>
              <p:cNvPr id="14" name="Rectangle 14"/>
              <p:cNvSpPr/>
              <p:nvPr/>
            </p:nvSpPr>
            <p:spPr>
              <a:xfrm>
                <a:off x="800100" y="2857500"/>
                <a:ext cx="1600200" cy="285750"/>
              </a:xfrm>
              <a:prstGeom prst="roundRect">
                <a:avLst>
                  <a:gd name="adj" fmla="val 50000"/>
                </a:avLst>
              </a:prstGeom>
              <a:solidFill>
                <a:srgbClr val="D6E6F9"/>
              </a:solidFill>
              <a:ln>
                <a:noFill/>
              </a:ln>
            </p:spPr>
            <p:txBody>
              <a:bodyPr/>
              <a:p/>
            </p:txBody>
          </p:sp>
          <p:sp>
            <p:nvSpPr>
              <p:cNvPr id="15" name="TextBox 15"/>
              <p:cNvSpPr txBox="1"/>
              <p:nvPr/>
            </p:nvSpPr>
            <p:spPr>
              <a:xfrm>
                <a:off x="484227" y="2944178"/>
                <a:ext cx="2231946" cy="21336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ctr"/>
                <a:r>
                  <a:rPr lang="zh-CN" sz="1050" b="1" dirty="0">
                    <a:solidFill>
                      <a:srgbClr val="0B4EA2"/>
                    </a:solidFill>
                    <a:latin typeface="Arial"/>
                    <a:ea typeface="Microsoft YaHei"/>
                    <a:cs typeface="Arial"/>
                  </a:rPr>
                  <a:t>企业生态：ChatGPT Work 接入办公流</a:t>
                </a:r>
              </a:p>
            </p:txBody>
          </p:sp>
          <p:sp>
            <p:nvSpPr>
              <p:cNvPr id="16" name="TextBox 16"/>
              <p:cNvSpPr txBox="1"/>
              <p:nvPr/>
            </p:nvSpPr>
            <p:spPr>
              <a:xfrm>
                <a:off x="886778" y="3429952"/>
                <a:ext cx="1426845" cy="21336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ctr"/>
                <a:r>
                  <a:rPr lang="zh-CN" sz="1050" dirty="0">
                    <a:solidFill>
                      <a:srgbClr val="8B99AE"/>
                    </a:solidFill>
                    <a:latin typeface="Arial"/>
                    <a:ea typeface="Microsoft YaHei"/>
                    <a:cs typeface="Arial"/>
                  </a:rPr>
                  <a:t>Luna 比上代便宜 80%，错误率降 68%</a:t>
                </a:r>
              </a:p>
            </p:txBody>
          </p:sp>
        </p:grpSp>
        <p:grpSp>
          <p:nvGrpSpPr>
            <p:cNvPr id="25" name="Group 25"/>
            <p:cNvGrpSpPr/>
            <p:nvPr/>
          </p:nvGrpSpPr>
          <p:grpSpPr>
            <a:xfrm>
              <a:off x="2819400" y="1619250"/>
              <a:ext cx="2057400" cy="2857500"/>
              <a:chOff x="2819400" y="1619250"/>
              <a:chExt cx="2057400" cy="2857500"/>
            </a:xfrm>
          </p:grpSpPr>
          <p:sp>
            <p:nvSpPr>
              <p:cNvPr id="18" name="Rectangle 18"/>
              <p:cNvSpPr/>
              <p:nvPr/>
            </p:nvSpPr>
            <p:spPr>
              <a:xfrm>
                <a:off x="2819400" y="1619250"/>
                <a:ext cx="2057400" cy="2857500"/>
              </a:xfrm>
              <a:prstGeom prst="roundRect">
                <a:avLst>
                  <a:gd name="adj" fmla="val 7407"/>
                </a:avLst>
              </a:prstGeom>
              <a:solidFill>
                <a:srgbClr val="FFFFFF"/>
              </a:solidFill>
              <a:ln w="9525">
                <a:solidFill>
                  <a:srgbClr val="D8E1EC"/>
                </a:solidFill>
              </a:ln>
            </p:spPr>
            <p:txBody>
              <a:bodyPr/>
              <a:p/>
            </p:txBody>
          </p:sp>
          <p:sp>
            <p:nvSpPr>
              <p:cNvPr id="19" name="TextBox 19"/>
              <p:cNvSpPr txBox="1"/>
              <p:nvPr/>
            </p:nvSpPr>
            <p:spPr>
              <a:xfrm>
                <a:off x="3629525" y="1895475"/>
                <a:ext cx="437150" cy="3048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ctr"/>
                <a:r>
                  <a:rPr lang="zh-CN" sz="1500" b="1" dirty="0">
                    <a:solidFill>
                      <a:srgbClr val="2B3648"/>
                    </a:solidFill>
                    <a:latin typeface="Arial"/>
                    <a:ea typeface="Microsoft YaHei"/>
                    <a:cs typeface="Arial"/>
                  </a:rPr>
                  <a:t>Claude</a:t>
                </a:r>
              </a:p>
            </p:txBody>
          </p:sp>
          <p:sp>
            <p:nvSpPr>
              <p:cNvPr id="20" name="TextBox 20"/>
              <p:cNvSpPr txBox="1"/>
              <p:nvPr/>
            </p:nvSpPr>
            <p:spPr>
              <a:xfrm>
                <a:off x="3274695" y="2286952"/>
                <a:ext cx="1146810" cy="21336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ctr"/>
                <a:r>
                  <a:rPr lang="zh-CN" sz="1050" dirty="0">
                    <a:solidFill>
                      <a:srgbClr val="5B6B82"/>
                    </a:solidFill>
                    <a:latin typeface="Arial"/>
                    <a:ea typeface="Microsoft YaHei"/>
                    <a:cs typeface="Arial"/>
                  </a:rPr>
                  <a:t>Fable 5 编码王</a:t>
                </a:r>
              </a:p>
            </p:txBody>
          </p:sp>
          <p:sp>
            <p:nvSpPr>
              <p:cNvPr id="21" name="TextBox 21"/>
              <p:cNvSpPr txBox="1"/>
              <p:nvPr/>
            </p:nvSpPr>
            <p:spPr>
              <a:xfrm>
                <a:off x="3190684" y="2515552"/>
                <a:ext cx="1314831" cy="21336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ctr"/>
                <a:r>
                  <a:rPr lang="zh-CN" sz="1050" dirty="0">
                    <a:solidFill>
                      <a:srgbClr val="5B6B82"/>
                    </a:solidFill>
                    <a:latin typeface="Arial"/>
                    <a:ea typeface="Microsoft YaHei"/>
                    <a:cs typeface="Arial"/>
                  </a:rPr>
                  <a:t>SWE-Bench Pro 80.3%</a:t>
                </a:r>
              </a:p>
            </p:txBody>
          </p:sp>
          <p:sp>
            <p:nvSpPr>
              <p:cNvPr id="22" name="Rectangle 22"/>
              <p:cNvSpPr/>
              <p:nvPr/>
            </p:nvSpPr>
            <p:spPr>
              <a:xfrm>
                <a:off x="3048000" y="2857500"/>
                <a:ext cx="1600200" cy="285750"/>
              </a:xfrm>
              <a:prstGeom prst="roundRect">
                <a:avLst>
                  <a:gd name="adj" fmla="val 50000"/>
                </a:avLst>
              </a:prstGeom>
              <a:solidFill>
                <a:srgbClr val="D6E6F9"/>
              </a:solidFill>
              <a:ln>
                <a:noFill/>
              </a:ln>
            </p:spPr>
            <p:txBody>
              <a:bodyPr/>
              <a:p/>
            </p:txBody>
          </p:sp>
          <p:sp>
            <p:nvSpPr>
              <p:cNvPr id="23" name="TextBox 23"/>
              <p:cNvSpPr txBox="1"/>
              <p:nvPr/>
            </p:nvSpPr>
            <p:spPr>
              <a:xfrm>
                <a:off x="2879146" y="2944178"/>
                <a:ext cx="1937909" cy="21336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ctr"/>
                <a:r>
                  <a:rPr lang="zh-CN" sz="1050" b="1" dirty="0">
                    <a:solidFill>
                      <a:srgbClr val="0B4EA2"/>
                    </a:solidFill>
                    <a:latin typeface="Arial"/>
                    <a:ea typeface="Microsoft YaHei"/>
                    <a:cs typeface="Arial"/>
                  </a:rPr>
                  <a:t>隐形水印，欧盟 AI 合规</a:t>
                </a:r>
              </a:p>
            </p:txBody>
          </p:sp>
          <p:sp>
            <p:nvSpPr>
              <p:cNvPr id="24" name="TextBox 24"/>
              <p:cNvSpPr txBox="1"/>
              <p:nvPr/>
            </p:nvSpPr>
            <p:spPr>
              <a:xfrm>
                <a:off x="3064669" y="3429952"/>
                <a:ext cx="1566863" cy="21336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ctr"/>
                <a:r>
                  <a:rPr lang="zh-CN" sz="1050" dirty="0">
                    <a:solidFill>
                      <a:srgbClr val="8B99AE"/>
                    </a:solidFill>
                    <a:latin typeface="Arial"/>
                    <a:ea typeface="Microsoft YaHei"/>
                    <a:cs typeface="Arial"/>
                  </a:rPr>
                  <a:t>适合：代码迁移、高安全</a:t>
                </a:r>
              </a:p>
            </p:txBody>
          </p:sp>
        </p:grpSp>
        <p:grpSp>
          <p:nvGrpSpPr>
            <p:cNvPr id="33" name="Group 33"/>
            <p:cNvGrpSpPr/>
            <p:nvPr/>
          </p:nvGrpSpPr>
          <p:grpSpPr>
            <a:xfrm>
              <a:off x="5067300" y="1619250"/>
              <a:ext cx="2057400" cy="2857500"/>
              <a:chOff x="5067300" y="1619250"/>
              <a:chExt cx="2057400" cy="2857500"/>
            </a:xfrm>
          </p:grpSpPr>
          <p:sp>
            <p:nvSpPr>
              <p:cNvPr id="26" name="Rectangle 26"/>
              <p:cNvSpPr/>
              <p:nvPr/>
            </p:nvSpPr>
            <p:spPr>
              <a:xfrm>
                <a:off x="5067300" y="1619250"/>
                <a:ext cx="2057400" cy="2857500"/>
              </a:xfrm>
              <a:prstGeom prst="roundRect">
                <a:avLst>
                  <a:gd name="adj" fmla="val 7407"/>
                </a:avLst>
              </a:prstGeom>
              <a:solidFill>
                <a:srgbClr val="FFFFFF"/>
              </a:solidFill>
              <a:ln w="9525">
                <a:solidFill>
                  <a:srgbClr val="D8E1EC"/>
                </a:solidFill>
              </a:ln>
            </p:spPr>
            <p:txBody>
              <a:bodyPr/>
              <a:p/>
            </p:txBody>
          </p:sp>
          <p:sp>
            <p:nvSpPr>
              <p:cNvPr id="27" name="TextBox 27"/>
              <p:cNvSpPr txBox="1"/>
              <p:nvPr/>
            </p:nvSpPr>
            <p:spPr>
              <a:xfrm>
                <a:off x="5866924" y="1895475"/>
                <a:ext cx="458152" cy="3048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ctr"/>
                <a:r>
                  <a:rPr lang="zh-CN" sz="1500" b="1" dirty="0">
                    <a:solidFill>
                      <a:srgbClr val="2B3648"/>
                    </a:solidFill>
                    <a:latin typeface="Arial"/>
                    <a:ea typeface="Microsoft YaHei"/>
                    <a:cs typeface="Arial"/>
                  </a:rPr>
                  <a:t>Opus</a:t>
                </a:r>
              </a:p>
            </p:txBody>
          </p:sp>
          <p:sp>
            <p:nvSpPr>
              <p:cNvPr id="28" name="TextBox 28"/>
              <p:cNvSpPr txBox="1"/>
              <p:nvPr/>
            </p:nvSpPr>
            <p:spPr>
              <a:xfrm>
                <a:off x="5442085" y="2286952"/>
                <a:ext cx="1307830" cy="21336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ctr"/>
                <a:r>
                  <a:rPr lang="zh-CN" sz="1050" dirty="0">
                    <a:solidFill>
                      <a:srgbClr val="5B6B82"/>
                    </a:solidFill>
                    <a:latin typeface="Arial"/>
                    <a:ea typeface="Microsoft YaHei"/>
                    <a:cs typeface="Arial"/>
                  </a:rPr>
                  <a:t>8 月登顶全球第 1</a:t>
                </a:r>
              </a:p>
            </p:txBody>
          </p:sp>
          <p:sp>
            <p:nvSpPr>
              <p:cNvPr id="29" name="TextBox 29"/>
              <p:cNvSpPr txBox="1"/>
              <p:nvPr/>
            </p:nvSpPr>
            <p:spPr>
              <a:xfrm>
                <a:off x="5802630" y="2515552"/>
                <a:ext cx="586740" cy="21336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ctr"/>
                <a:r>
                  <a:rPr lang="zh-CN" sz="1050" dirty="0">
                    <a:solidFill>
                      <a:srgbClr val="5B6B82"/>
                    </a:solidFill>
                    <a:latin typeface="Arial"/>
                    <a:ea typeface="Microsoft YaHei"/>
                    <a:cs typeface="Arial"/>
                  </a:rPr>
                  <a:t>AA 指数 63 分</a:t>
                </a:r>
              </a:p>
            </p:txBody>
          </p:sp>
          <p:sp>
            <p:nvSpPr>
              <p:cNvPr id="30" name="Rectangle 30"/>
              <p:cNvSpPr/>
              <p:nvPr/>
            </p:nvSpPr>
            <p:spPr>
              <a:xfrm>
                <a:off x="5295900" y="2857500"/>
                <a:ext cx="1600200" cy="285750"/>
              </a:xfrm>
              <a:prstGeom prst="roundRect">
                <a:avLst>
                  <a:gd name="adj" fmla="val 50000"/>
                </a:avLst>
              </a:prstGeom>
              <a:solidFill>
                <a:srgbClr val="D6E6F9"/>
              </a:solidFill>
              <a:ln>
                <a:noFill/>
              </a:ln>
            </p:spPr>
            <p:txBody>
              <a:bodyPr/>
              <a:p/>
            </p:txBody>
          </p:sp>
          <p:sp>
            <p:nvSpPr>
              <p:cNvPr id="31" name="TextBox 31"/>
              <p:cNvSpPr txBox="1"/>
              <p:nvPr/>
            </p:nvSpPr>
            <p:spPr>
              <a:xfrm>
                <a:off x="5127046" y="2944178"/>
                <a:ext cx="1937909" cy="21336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ctr"/>
                <a:r>
                  <a:rPr lang="zh-CN" sz="1050" b="1" dirty="0">
                    <a:solidFill>
                      <a:srgbClr val="0B4EA2"/>
                    </a:solidFill>
                    <a:latin typeface="Arial"/>
                    <a:ea typeface="Microsoft YaHei"/>
                    <a:cs typeface="Arial"/>
                  </a:rPr>
                  <a:t>价格只有 Fable 5 的一半</a:t>
                </a:r>
              </a:p>
            </p:txBody>
          </p:sp>
          <p:sp>
            <p:nvSpPr>
              <p:cNvPr id="32" name="TextBox 32"/>
              <p:cNvSpPr txBox="1"/>
              <p:nvPr/>
            </p:nvSpPr>
            <p:spPr>
              <a:xfrm>
                <a:off x="5316069" y="3429952"/>
                <a:ext cx="1559862" cy="21336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ctr"/>
                <a:r>
                  <a:rPr lang="zh-CN" sz="1050" dirty="0">
                    <a:solidFill>
                      <a:srgbClr val="8B99AE"/>
                    </a:solidFill>
                    <a:latin typeface="Arial"/>
                    <a:ea typeface="Microsoft YaHei"/>
                    <a:cs typeface="Arial"/>
                  </a:rPr>
                  <a:t>企业性价比之选</a:t>
                </a:r>
              </a:p>
            </p:txBody>
          </p:sp>
        </p:grpSp>
        <p:grpSp>
          <p:nvGrpSpPr>
            <p:cNvPr id="41" name="Group 41"/>
            <p:cNvGrpSpPr/>
            <p:nvPr/>
          </p:nvGrpSpPr>
          <p:grpSpPr>
            <a:xfrm>
              <a:off x="7227927" y="1619250"/>
              <a:ext cx="2231946" cy="2857500"/>
              <a:chOff x="7227927" y="1619250"/>
              <a:chExt cx="2231946" cy="2857500"/>
            </a:xfrm>
          </p:grpSpPr>
          <p:sp>
            <p:nvSpPr>
              <p:cNvPr id="34" name="Rectangle 34"/>
              <p:cNvSpPr/>
              <p:nvPr/>
            </p:nvSpPr>
            <p:spPr>
              <a:xfrm>
                <a:off x="7315200" y="1619250"/>
                <a:ext cx="2057400" cy="2857500"/>
              </a:xfrm>
              <a:prstGeom prst="roundRect">
                <a:avLst>
                  <a:gd name="adj" fmla="val 7407"/>
                </a:avLst>
              </a:prstGeom>
              <a:solidFill>
                <a:srgbClr val="FFFFFF"/>
              </a:solidFill>
              <a:ln w="9525">
                <a:solidFill>
                  <a:srgbClr val="D8E1EC"/>
                </a:solidFill>
              </a:ln>
            </p:spPr>
            <p:txBody>
              <a:bodyPr/>
              <a:p/>
            </p:txBody>
          </p:sp>
          <p:sp>
            <p:nvSpPr>
              <p:cNvPr id="35" name="TextBox 35"/>
              <p:cNvSpPr txBox="1"/>
              <p:nvPr/>
            </p:nvSpPr>
            <p:spPr>
              <a:xfrm>
                <a:off x="7904798" y="1895475"/>
                <a:ext cx="878205" cy="3048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ctr"/>
                <a:r>
                  <a:rPr lang="zh-CN" sz="1500" b="1" dirty="0">
                    <a:solidFill>
                      <a:srgbClr val="2B3648"/>
                    </a:solidFill>
                    <a:latin typeface="Arial"/>
                    <a:ea typeface="Microsoft YaHei"/>
                    <a:cs typeface="Arial"/>
                  </a:rPr>
                  <a:t>Gemini</a:t>
                </a:r>
              </a:p>
            </p:txBody>
          </p:sp>
          <p:sp>
            <p:nvSpPr>
              <p:cNvPr id="36" name="TextBox 36"/>
              <p:cNvSpPr txBox="1"/>
              <p:nvPr/>
            </p:nvSpPr>
            <p:spPr>
              <a:xfrm>
                <a:off x="7700486" y="2286952"/>
                <a:ext cx="1286828" cy="21336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ctr"/>
                <a:r>
                  <a:rPr lang="zh-CN" sz="1050" dirty="0">
                    <a:solidFill>
                      <a:srgbClr val="5B6B82"/>
                    </a:solidFill>
                    <a:latin typeface="Arial"/>
                    <a:ea typeface="Microsoft YaHei"/>
                    <a:cs typeface="Arial"/>
                  </a:rPr>
                  <a:t>200 万上下文，</a:t>
                </a:r>
              </a:p>
            </p:txBody>
          </p:sp>
          <p:sp>
            <p:nvSpPr>
              <p:cNvPr id="37" name="TextBox 37"/>
              <p:cNvSpPr txBox="1"/>
              <p:nvPr/>
            </p:nvSpPr>
            <p:spPr>
              <a:xfrm>
                <a:off x="8050530" y="2515552"/>
                <a:ext cx="586740" cy="21336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ctr"/>
                <a:r>
                  <a:rPr lang="zh-CN" sz="1050" dirty="0">
                    <a:solidFill>
                      <a:srgbClr val="5B6B82"/>
                    </a:solidFill>
                    <a:latin typeface="Arial"/>
                    <a:ea typeface="Microsoft YaHei"/>
                    <a:cs typeface="Arial"/>
                  </a:rPr>
                  <a:t>全球最大</a:t>
                </a:r>
              </a:p>
            </p:txBody>
          </p:sp>
          <p:sp>
            <p:nvSpPr>
              <p:cNvPr id="38" name="Rectangle 38"/>
              <p:cNvSpPr/>
              <p:nvPr/>
            </p:nvSpPr>
            <p:spPr>
              <a:xfrm>
                <a:off x="7543800" y="2857500"/>
                <a:ext cx="1600200" cy="285750"/>
              </a:xfrm>
              <a:prstGeom prst="roundRect">
                <a:avLst>
                  <a:gd name="adj" fmla="val 50000"/>
                </a:avLst>
              </a:prstGeom>
              <a:solidFill>
                <a:srgbClr val="D6E6F9"/>
              </a:solidFill>
              <a:ln>
                <a:noFill/>
              </a:ln>
            </p:spPr>
            <p:txBody>
              <a:bodyPr/>
              <a:p/>
            </p:txBody>
          </p:sp>
          <p:sp>
            <p:nvSpPr>
              <p:cNvPr id="39" name="TextBox 39"/>
              <p:cNvSpPr txBox="1"/>
              <p:nvPr/>
            </p:nvSpPr>
            <p:spPr>
              <a:xfrm>
                <a:off x="7227927" y="2944178"/>
                <a:ext cx="2231946" cy="21336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ctr"/>
                <a:r>
                  <a:rPr lang="zh-CN" sz="1050" b="1" dirty="0">
                    <a:solidFill>
                      <a:srgbClr val="0B4EA2"/>
                    </a:solidFill>
                    <a:latin typeface="Arial"/>
                    <a:ea typeface="Microsoft YaHei"/>
                    <a:cs typeface="Arial"/>
                  </a:rPr>
                  <a:t>原生多模态：图影音一起懂</a:t>
                </a:r>
              </a:p>
            </p:txBody>
          </p:sp>
          <p:sp>
            <p:nvSpPr>
              <p:cNvPr id="40" name="TextBox 40"/>
              <p:cNvSpPr txBox="1"/>
              <p:nvPr/>
            </p:nvSpPr>
            <p:spPr>
              <a:xfrm>
                <a:off x="7630478" y="3429952"/>
                <a:ext cx="1426845" cy="21336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ctr"/>
                <a:r>
                  <a:rPr lang="zh-CN" sz="1050" dirty="0">
                    <a:solidFill>
                      <a:srgbClr val="8B99AE"/>
                    </a:solidFill>
                    <a:latin typeface="Arial"/>
                    <a:ea typeface="Microsoft YaHei"/>
                    <a:cs typeface="Arial"/>
                  </a:rPr>
                  <a:t>谷歌办公生态整合</a:t>
                </a:r>
              </a:p>
            </p:txBody>
          </p:sp>
        </p:grpSp>
        <p:grpSp>
          <p:nvGrpSpPr>
            <p:cNvPr id="49" name="Group 49"/>
            <p:cNvGrpSpPr/>
            <p:nvPr/>
          </p:nvGrpSpPr>
          <p:grpSpPr>
            <a:xfrm>
              <a:off x="9563100" y="1619250"/>
              <a:ext cx="2057400" cy="2857500"/>
              <a:chOff x="9563100" y="1619250"/>
              <a:chExt cx="2057400" cy="2857500"/>
            </a:xfrm>
          </p:grpSpPr>
          <p:sp>
            <p:nvSpPr>
              <p:cNvPr id="42" name="Rectangle 42"/>
              <p:cNvSpPr/>
              <p:nvPr/>
            </p:nvSpPr>
            <p:spPr>
              <a:xfrm>
                <a:off x="9563100" y="1619250"/>
                <a:ext cx="2057400" cy="2857500"/>
              </a:xfrm>
              <a:prstGeom prst="roundRect">
                <a:avLst>
                  <a:gd name="adj" fmla="val 7407"/>
                </a:avLst>
              </a:prstGeom>
              <a:solidFill>
                <a:srgbClr val="FFFFFF"/>
              </a:solidFill>
              <a:ln w="9525">
                <a:solidFill>
                  <a:srgbClr val="D8E1EC"/>
                </a:solidFill>
              </a:ln>
            </p:spPr>
            <p:txBody>
              <a:bodyPr/>
              <a:p/>
            </p:txBody>
          </p:sp>
          <p:sp>
            <p:nvSpPr>
              <p:cNvPr id="43" name="TextBox 43"/>
              <p:cNvSpPr txBox="1"/>
              <p:nvPr/>
            </p:nvSpPr>
            <p:spPr>
              <a:xfrm>
                <a:off x="10031932" y="1895475"/>
                <a:ext cx="1119735" cy="3048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ctr"/>
                <a:r>
                  <a:rPr lang="zh-CN" sz="1500" b="1" dirty="0">
                    <a:solidFill>
                      <a:srgbClr val="2B3648"/>
                    </a:solidFill>
                    <a:latin typeface="Arial"/>
                    <a:ea typeface="Microsoft YaHei"/>
                    <a:cs typeface="Arial"/>
                  </a:rPr>
                  <a:t>Grok 4.6</a:t>
                </a:r>
              </a:p>
            </p:txBody>
          </p:sp>
          <p:sp>
            <p:nvSpPr>
              <p:cNvPr id="44" name="TextBox 44"/>
              <p:cNvSpPr txBox="1"/>
              <p:nvPr/>
            </p:nvSpPr>
            <p:spPr>
              <a:xfrm>
                <a:off x="10228421" y="2286952"/>
                <a:ext cx="726758" cy="21336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ctr"/>
                <a:r>
                  <a:rPr lang="zh-CN" sz="1050" dirty="0">
                    <a:solidFill>
                      <a:srgbClr val="5B6B82"/>
                    </a:solidFill>
                    <a:latin typeface="Arial"/>
                    <a:ea typeface="Microsoft YaHei"/>
                    <a:cs typeface="Arial"/>
                  </a:rPr>
                  <a:t>懂时事</a:t>
                </a:r>
              </a:p>
            </p:txBody>
          </p:sp>
          <p:sp>
            <p:nvSpPr>
              <p:cNvPr id="45" name="TextBox 45"/>
              <p:cNvSpPr txBox="1"/>
              <p:nvPr/>
            </p:nvSpPr>
            <p:spPr>
              <a:xfrm>
                <a:off x="10088404" y="2515552"/>
                <a:ext cx="1006792" cy="21336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ctr"/>
                <a:r>
                  <a:rPr lang="zh-CN" sz="1050" dirty="0">
                    <a:solidFill>
                      <a:srgbClr val="5B6B82"/>
                    </a:solidFill>
                    <a:latin typeface="Arial"/>
                    <a:ea typeface="Microsoft YaHei"/>
                    <a:cs typeface="Arial"/>
                  </a:rPr>
                  <a:t>长 Agent 循环</a:t>
                </a:r>
              </a:p>
            </p:txBody>
          </p:sp>
          <p:sp>
            <p:nvSpPr>
              <p:cNvPr id="46" name="Rectangle 46"/>
              <p:cNvSpPr/>
              <p:nvPr/>
            </p:nvSpPr>
            <p:spPr>
              <a:xfrm>
                <a:off x="9791700" y="2857500"/>
                <a:ext cx="1600200" cy="285750"/>
              </a:xfrm>
              <a:prstGeom prst="roundRect">
                <a:avLst>
                  <a:gd name="adj" fmla="val 50000"/>
                </a:avLst>
              </a:prstGeom>
              <a:solidFill>
                <a:srgbClr val="D6E6F9"/>
              </a:solidFill>
              <a:ln>
                <a:noFill/>
              </a:ln>
            </p:spPr>
            <p:txBody>
              <a:bodyPr/>
              <a:p/>
            </p:txBody>
          </p:sp>
          <p:sp>
            <p:nvSpPr>
              <p:cNvPr id="47" name="TextBox 47"/>
              <p:cNvSpPr txBox="1"/>
              <p:nvPr/>
            </p:nvSpPr>
            <p:spPr>
              <a:xfrm>
                <a:off x="9769864" y="2944178"/>
                <a:ext cx="1643872" cy="21336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ctr"/>
                <a:r>
                  <a:rPr lang="zh-CN" sz="1050" b="1" dirty="0">
                    <a:solidFill>
                      <a:srgbClr val="0B4EA2"/>
                    </a:solidFill>
                    <a:latin typeface="Arial"/>
                    <a:ea typeface="Microsoft YaHei"/>
                    <a:cs typeface="Arial"/>
                  </a:rPr>
                  <a:t>擅长：实时时事、长程任务</a:t>
                </a:r>
              </a:p>
            </p:txBody>
          </p:sp>
          <p:sp>
            <p:nvSpPr>
              <p:cNvPr id="48" name="TextBox 48"/>
              <p:cNvSpPr txBox="1"/>
              <p:nvPr/>
            </p:nvSpPr>
            <p:spPr>
              <a:xfrm>
                <a:off x="9948386" y="3429952"/>
                <a:ext cx="1286828" cy="21336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ctr"/>
                <a:r>
                  <a:rPr lang="zh-CN" sz="1050" dirty="0">
                    <a:solidFill>
                      <a:srgbClr val="8B99AE"/>
                    </a:solidFill>
                    <a:latin typeface="Arial"/>
                    <a:ea typeface="Microsoft YaHei"/>
                    <a:cs typeface="Arial"/>
                  </a:rPr>
                  <a:t>性价比高于旗舰</a:t>
                </a:r>
              </a:p>
            </p:txBody>
          </p:sp>
        </p:grpSp>
      </p:grpSp>
      <p:grpSp>
        <p:nvGrpSpPr>
          <p:cNvPr id="55" name="Group 55"/>
          <p:cNvGrpSpPr/>
          <p:nvPr/>
        </p:nvGrpSpPr>
        <p:grpSpPr>
          <a:xfrm>
            <a:off x="571500" y="4724400"/>
            <a:ext cx="11049000" cy="838200"/>
            <a:chOff x="571500" y="4724400"/>
            <a:chExt cx="11049000" cy="838200"/>
          </a:xfrm>
        </p:grpSpPr>
        <p:sp>
          <p:nvSpPr>
            <p:cNvPr id="51" name="Rectangle 51"/>
            <p:cNvSpPr/>
            <p:nvPr/>
          </p:nvSpPr>
          <p:spPr>
            <a:xfrm>
              <a:off x="571500" y="4724400"/>
              <a:ext cx="11049000" cy="838200"/>
            </a:xfrm>
            <a:prstGeom prst="roundRect">
              <a:avLst>
                <a:gd name="adj" fmla="val 18182"/>
              </a:avLst>
            </a:prstGeom>
            <a:solidFill>
              <a:srgbClr val="D6E6F9"/>
            </a:solidFill>
            <a:ln>
              <a:noFill/>
            </a:ln>
          </p:spPr>
          <p:txBody>
            <a:bodyPr/>
            <a:p/>
          </p:txBody>
        </p:sp>
        <p:sp>
          <p:nvSpPr>
            <p:cNvPr id="52" name="Rectangle 52"/>
            <p:cNvSpPr/>
            <p:nvPr/>
          </p:nvSpPr>
          <p:spPr>
            <a:xfrm>
              <a:off x="571500" y="4724400"/>
              <a:ext cx="76200" cy="838200"/>
            </a:xfrm>
            <a:prstGeom prst="roundRect">
              <a:avLst>
                <a:gd name="adj" fmla="val 50000"/>
              </a:avLst>
            </a:prstGeom>
            <a:solidFill>
              <a:srgbClr val="1565D8"/>
            </a:solidFill>
            <a:ln>
              <a:noFill/>
            </a:ln>
          </p:spPr>
          <p:txBody>
            <a:bodyPr/>
            <a:p/>
          </p:txBody>
        </p:sp>
        <p:sp>
          <p:nvSpPr>
            <p:cNvPr id="53" name="TextBox 53"/>
            <p:cNvSpPr txBox="1"/>
            <p:nvPr/>
          </p:nvSpPr>
          <p:spPr>
            <a:xfrm>
              <a:off x="859155" y="4902518"/>
              <a:ext cx="6527252" cy="27432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b="1" dirty="0">
                  <a:solidFill>
                    <a:srgbClr val="0B4EA2"/>
                  </a:solidFill>
                  <a:latin typeface="Arial"/>
                  <a:ea typeface="Microsoft YaHei"/>
                  <a:cs typeface="Arial"/>
                </a:rPr>
                <a:t>一句话：国外强在生态与安全，国产强在价格与开源——按场景选，别站队。</a:t>
              </a:r>
            </a:p>
          </p:txBody>
        </p:sp>
        <p:sp>
          <p:nvSpPr>
            <p:cNvPr id="54" name="TextBox 54"/>
            <p:cNvSpPr txBox="1"/>
            <p:nvPr/>
          </p:nvSpPr>
          <p:spPr>
            <a:xfrm>
              <a:off x="861060" y="5223510"/>
              <a:ext cx="4719066" cy="24384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00" dirty="0">
                  <a:solidFill>
                    <a:srgbClr val="0B4EA2"/>
                  </a:solidFill>
                  <a:latin typeface="Arial"/>
                  <a:ea typeface="Microsoft YaHei"/>
                  <a:cs typeface="Arial"/>
                </a:rPr>
                <a:t>国内企业常见组合：国产主力 + 1 个国外旗舰做对照，够用就好。</a:t>
              </a:r>
            </a:p>
          </p:txBody>
        </p:sp>
      </p:grpSp>
      <p:grpSp>
        <p:nvGrpSpPr>
          <p:cNvPr id="57" name="Group 57"/>
          <p:cNvGrpSpPr/>
          <p:nvPr/>
        </p:nvGrpSpPr>
        <p:grpSpPr>
          <a:xfrm>
            <a:off x="558165" y="5792152"/>
            <a:ext cx="2525982" cy="213360"/>
            <a:chOff x="558165" y="5792152"/>
            <a:chExt cx="2525982" cy="213360"/>
          </a:xfrm>
        </p:grpSpPr>
        <p:sp>
          <p:nvSpPr>
            <p:cNvPr id="56" name="TextBox 56"/>
            <p:cNvSpPr txBox="1"/>
            <p:nvPr/>
          </p:nvSpPr>
          <p:spPr>
            <a:xfrm>
              <a:off x="558165" y="5792152"/>
              <a:ext cx="2525982" cy="21336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050" dirty="0">
                  <a:solidFill>
                    <a:srgbClr val="8B99AE"/>
                  </a:solidFill>
                  <a:latin typeface="Arial"/>
                  <a:ea typeface="Microsoft YaHei"/>
                  <a:cs typeface="Arial"/>
                </a:rPr>
                <a:t>* 榜单每月在变，本表每季度核对一次。</a:t>
              </a:r>
            </a:p>
          </p:txBody>
        </p:sp>
      </p:grpSp>
      <p:grpSp>
        <p:nvGrpSpPr>
          <p:cNvPr id="60" name="Group 60"/>
          <p:cNvGrpSpPr/>
          <p:nvPr/>
        </p:nvGrpSpPr>
        <p:grpSpPr>
          <a:xfrm>
            <a:off x="560070" y="6341745"/>
            <a:ext cx="11071860" cy="182880"/>
            <a:chOff x="560070" y="6341745"/>
            <a:chExt cx="11071860" cy="182880"/>
          </a:xfrm>
        </p:grpSpPr>
        <p:sp>
          <p:nvSpPr>
            <p:cNvPr id="58" name="TextBox 58"/>
            <p:cNvSpPr txBox="1"/>
            <p:nvPr/>
          </p:nvSpPr>
          <p:spPr>
            <a:xfrm>
              <a:off x="560070" y="6341745"/>
              <a:ext cx="1054989" cy="18288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00" dirty="0">
                  <a:solidFill>
                    <a:srgbClr val="8B99AE"/>
                  </a:solidFill>
                  <a:latin typeface="Arial"/>
                  <a:ea typeface="Microsoft YaHei"/>
                  <a:cs typeface="Arial"/>
                </a:rPr>
                <a:t>大模型通识 · 企业版</a:t>
              </a:r>
            </a:p>
          </p:txBody>
        </p:sp>
        <p:sp>
          <p:nvSpPr>
            <p:cNvPr id="59" name="TextBox 59"/>
            <p:cNvSpPr txBox="1"/>
            <p:nvPr/>
          </p:nvSpPr>
          <p:spPr>
            <a:xfrm>
              <a:off x="11207020" y="6341745"/>
              <a:ext cx="424910" cy="18288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r"/>
              <a:r>
                <a:rPr lang="zh-CN" sz="900" dirty="0">
                  <a:solidFill>
                    <a:srgbClr val="8B99AE"/>
                  </a:solidFill>
                  <a:latin typeface="Arial"/>
                  <a:ea typeface="Microsoft YaHei"/>
                  <a:cs typeface="Arial"/>
                </a:rPr>
                <a:t>28 / 51</a:t>
              </a:r>
            </a:p>
          </p:txBody>
        </p:sp>
      </p:grp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grpSp>
        <p:nvGrpSpPr>
          <p:cNvPr id="5" name="Group 5"/>
          <p:cNvGrpSpPr/>
          <p:nvPr/>
        </p:nvGrpSpPr>
        <p:grpSpPr>
          <a:xfrm>
            <a:off x="0" y="0"/>
            <a:ext cx="14192250" cy="8953500"/>
            <a:chOff x="0" y="0"/>
            <a:chExt cx="14192250" cy="8953500"/>
          </a:xfrm>
        </p:grpSpPr>
        <p:sp>
          <p:nvSpPr>
            <p:cNvPr id="2" name="Rectangle 2"/>
            <p:cNvSpPr/>
            <p:nvPr/>
          </p:nvSpPr>
          <p:spPr>
            <a:xfrm>
              <a:off x="0" y="0"/>
              <a:ext cx="12192000" cy="6858000"/>
            </a:xfrm>
            <a:prstGeom prst="rect">
              <a:avLst/>
            </a:prstGeom>
            <a:solidFill>
              <a:srgbClr val="F5F7FA"/>
            </a:solidFill>
            <a:ln>
              <a:noFill/>
            </a:ln>
          </p:spPr>
          <p:txBody>
            <a:bodyPr/>
            <a:p/>
          </p:txBody>
        </p:sp>
        <p:sp>
          <p:nvSpPr>
            <p:cNvPr id="3" name="Rectangle 3"/>
            <p:cNvSpPr/>
            <p:nvPr/>
          </p:nvSpPr>
          <p:spPr>
            <a:xfrm>
              <a:off x="0" y="0"/>
              <a:ext cx="12192000" cy="6858000"/>
            </a:xfrm>
            <a:prstGeom prst="rect">
              <a:avLst/>
            </a:prstGeom>
            <a:gradFill>
              <a:gsLst>
                <a:gs pos="0">
                  <a:srgbClr val="1565D8">
                    <a:alpha val="6000"/>
                  </a:srgbClr>
                </a:gs>
                <a:gs pos="100000">
                  <a:srgbClr val="1565D8">
                    <a:alpha val="0"/>
                  </a:srgbClr>
                </a:gs>
              </a:gsLst>
              <a:path path="circle">
                <a:fillToRect l="50000" t="50000" r="50000" b="50000"/>
              </a:path>
            </a:gradFill>
            <a:ln>
              <a:noFill/>
            </a:ln>
          </p:spPr>
          <p:txBody>
            <a:bodyPr/>
            <a:p/>
          </p:txBody>
        </p:sp>
        <p:sp>
          <p:nvSpPr>
            <p:cNvPr id="4" name="Ellipse 4"/>
            <p:cNvSpPr/>
            <p:nvPr/>
          </p:nvSpPr>
          <p:spPr>
            <a:xfrm>
              <a:off x="9620250" y="4381500"/>
              <a:ext cx="4572000" cy="4572000"/>
            </a:xfrm>
            <a:prstGeom prst="ellipse">
              <a:avLst/>
            </a:prstGeom>
            <a:noFill/>
            <a:ln w="14288">
              <a:solidFill>
                <a:srgbClr val="D6E6F9">
                  <a:alpha val="80000"/>
                </a:srgbClr>
              </a:solidFill>
            </a:ln>
          </p:spPr>
          <p:txBody>
            <a:bodyPr/>
            <a:p/>
          </p:txBody>
        </p:sp>
      </p:grpSp>
      <p:grpSp>
        <p:nvGrpSpPr>
          <p:cNvPr id="9" name="Group 9"/>
          <p:cNvGrpSpPr/>
          <p:nvPr/>
        </p:nvGrpSpPr>
        <p:grpSpPr>
          <a:xfrm>
            <a:off x="571500" y="685800"/>
            <a:ext cx="6924580" cy="700088"/>
            <a:chOff x="571500" y="685800"/>
            <a:chExt cx="6924580" cy="700088"/>
          </a:xfrm>
        </p:grpSpPr>
        <p:sp>
          <p:nvSpPr>
            <p:cNvPr id="6" name="Rectangle 6"/>
            <p:cNvSpPr/>
            <p:nvPr/>
          </p:nvSpPr>
          <p:spPr>
            <a:xfrm>
              <a:off x="571500" y="685800"/>
              <a:ext cx="76200" cy="323850"/>
            </a:xfrm>
            <a:prstGeom prst="roundRect">
              <a:avLst>
                <a:gd name="adj" fmla="val 50000"/>
              </a:avLst>
            </a:prstGeom>
            <a:solidFill>
              <a:srgbClr val="1565D8"/>
            </a:solidFill>
            <a:ln>
              <a:noFill/>
            </a:ln>
          </p:spPr>
          <p:txBody>
            <a:bodyPr/>
            <a:p/>
          </p:txBody>
        </p:sp>
        <p:sp>
          <p:nvSpPr>
            <p:cNvPr id="7" name="TextBox 7"/>
            <p:cNvSpPr txBox="1"/>
            <p:nvPr/>
          </p:nvSpPr>
          <p:spPr>
            <a:xfrm>
              <a:off x="771525" y="700088"/>
              <a:ext cx="4152662" cy="45720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2250" b="1" dirty="0">
                  <a:solidFill>
                    <a:srgbClr val="2B3648"/>
                  </a:solidFill>
                  <a:latin typeface="Arial"/>
                  <a:ea typeface="Microsoft YaHei"/>
                  <a:cs typeface="Arial"/>
                </a:rPr>
                <a:t>AI 到底花多少钱</a:t>
              </a:r>
            </a:p>
          </p:txBody>
        </p:sp>
        <p:sp>
          <p:nvSpPr>
            <p:cNvPr id="8" name="TextBox 8"/>
            <p:cNvSpPr txBox="1"/>
            <p:nvPr/>
          </p:nvSpPr>
          <p:spPr>
            <a:xfrm>
              <a:off x="782955" y="1111568"/>
              <a:ext cx="6713125" cy="27432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5B6B82"/>
                  </a:solidFill>
                  <a:latin typeface="Arial"/>
                  <a:ea typeface="Microsoft YaHei"/>
                  <a:cs typeface="Arial"/>
                </a:rPr>
                <a:t>按 token 计费——先算清账，再谈落地</a:t>
              </a:r>
            </a:p>
          </p:txBody>
        </p:sp>
      </p:grpSp>
      <p:grpSp>
        <p:nvGrpSpPr>
          <p:cNvPr id="14" name="Group 14"/>
          <p:cNvGrpSpPr/>
          <p:nvPr/>
        </p:nvGrpSpPr>
        <p:grpSpPr>
          <a:xfrm>
            <a:off x="2552700" y="2209800"/>
            <a:ext cx="6362700" cy="1"/>
            <a:chOff x="2552700" y="2209800"/>
            <a:chExt cx="6362700" cy="1"/>
          </a:xfrm>
        </p:grpSpPr>
        <p:sp>
          <p:nvSpPr>
            <p:cNvPr id="10" name="Line 10"/>
            <p:cNvSpPr/>
            <p:nvPr/>
          </p:nvSpPr>
          <p:spPr>
            <a:xfrm>
              <a:off x="2552700" y="2209800"/>
              <a:ext cx="190500" cy="1"/>
            </a:xfrm>
            <a:prstGeom prst="line">
              <a:avLst/>
            </a:prstGeom>
            <a:noFill/>
            <a:ln w="23812">
              <a:solidFill>
                <a:srgbClr val="1565D8"/>
              </a:solidFill>
              <a:tailEnd type="triangle" w="lg" len="lg"/>
            </a:ln>
          </p:spPr>
          <p:txBody>
            <a:bodyPr/>
            <a:p/>
          </p:txBody>
        </p:sp>
        <p:sp>
          <p:nvSpPr>
            <p:cNvPr id="11" name="Line 11"/>
            <p:cNvSpPr/>
            <p:nvPr/>
          </p:nvSpPr>
          <p:spPr>
            <a:xfrm>
              <a:off x="4610100" y="2209800"/>
              <a:ext cx="190500" cy="1"/>
            </a:xfrm>
            <a:prstGeom prst="line">
              <a:avLst/>
            </a:prstGeom>
            <a:noFill/>
            <a:ln w="23812">
              <a:solidFill>
                <a:srgbClr val="1565D8"/>
              </a:solidFill>
              <a:tailEnd type="triangle" w="lg" len="lg"/>
            </a:ln>
          </p:spPr>
          <p:txBody>
            <a:bodyPr/>
            <a:p/>
          </p:txBody>
        </p:sp>
        <p:sp>
          <p:nvSpPr>
            <p:cNvPr id="12" name="Line 12"/>
            <p:cNvSpPr/>
            <p:nvPr/>
          </p:nvSpPr>
          <p:spPr>
            <a:xfrm>
              <a:off x="6667500" y="2209800"/>
              <a:ext cx="190500" cy="1"/>
            </a:xfrm>
            <a:prstGeom prst="line">
              <a:avLst/>
            </a:prstGeom>
            <a:noFill/>
            <a:ln w="23812">
              <a:solidFill>
                <a:srgbClr val="1565D8"/>
              </a:solidFill>
              <a:tailEnd type="triangle" w="lg" len="lg"/>
            </a:ln>
          </p:spPr>
          <p:txBody>
            <a:bodyPr/>
            <a:p/>
          </p:txBody>
        </p:sp>
        <p:sp>
          <p:nvSpPr>
            <p:cNvPr id="13" name="Line 13"/>
            <p:cNvSpPr/>
            <p:nvPr/>
          </p:nvSpPr>
          <p:spPr>
            <a:xfrm>
              <a:off x="8724900" y="2209800"/>
              <a:ext cx="190500" cy="1"/>
            </a:xfrm>
            <a:prstGeom prst="line">
              <a:avLst/>
            </a:prstGeom>
            <a:noFill/>
            <a:ln w="23812">
              <a:solidFill>
                <a:srgbClr val="1565D8"/>
              </a:solidFill>
              <a:tailEnd type="triangle" w="lg" len="lg"/>
            </a:ln>
          </p:spPr>
          <p:txBody>
            <a:bodyPr/>
            <a:p/>
          </p:txBody>
        </p:sp>
      </p:grpSp>
      <p:grpSp>
        <p:nvGrpSpPr>
          <p:cNvPr id="26" name="Group 26"/>
          <p:cNvGrpSpPr/>
          <p:nvPr/>
        </p:nvGrpSpPr>
        <p:grpSpPr>
          <a:xfrm>
            <a:off x="571500" y="1962150"/>
            <a:ext cx="1905000" cy="1847850"/>
            <a:chOff x="571500" y="1962150"/>
            <a:chExt cx="1905000" cy="1847850"/>
          </a:xfrm>
        </p:grpSpPr>
        <p:sp>
          <p:nvSpPr>
            <p:cNvPr id="15" name="Ellipse 15"/>
            <p:cNvSpPr/>
            <p:nvPr/>
          </p:nvSpPr>
          <p:spPr>
            <a:xfrm>
              <a:off x="1333500" y="1962150"/>
              <a:ext cx="495300" cy="495300"/>
            </a:xfrm>
            <a:prstGeom prst="ellipse">
              <a:avLst/>
            </a:prstGeom>
            <a:solidFill>
              <a:srgbClr val="35A3E8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6" name="TextBox 16"/>
            <p:cNvSpPr txBox="1"/>
            <p:nvPr/>
          </p:nvSpPr>
          <p:spPr>
            <a:xfrm>
              <a:off x="1512024" y="2140268"/>
              <a:ext cx="138253" cy="27432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350" b="1" dirty="0">
                  <a:solidFill>
                    <a:srgbClr val="FFFFFF"/>
                  </a:solidFill>
                  <a:latin typeface="Arial"/>
                  <a:ea typeface="Microsoft YaHei"/>
                  <a:cs typeface="Arial"/>
                </a:rPr>
                <a:t>①</a:t>
              </a:r>
            </a:p>
          </p:txBody>
        </p:sp>
        <p:sp>
          <p:nvSpPr>
            <p:cNvPr id="17" name="Rectangle 17"/>
            <p:cNvSpPr/>
            <p:nvPr/>
          </p:nvSpPr>
          <p:spPr>
            <a:xfrm>
              <a:off x="571500" y="2571750"/>
              <a:ext cx="1905000" cy="1238250"/>
            </a:xfrm>
            <a:prstGeom prst="roundRect">
              <a:avLst>
                <a:gd name="adj" fmla="val 12308"/>
              </a:avLst>
            </a:prstGeom>
            <a:solidFill>
              <a:srgbClr val="FFFFFF"/>
            </a:solidFill>
            <a:ln w="9525">
              <a:solidFill>
                <a:srgbClr val="D8E1EC"/>
              </a:solidFill>
            </a:ln>
          </p:spPr>
          <p:txBody>
            <a:bodyPr/>
            <a:p/>
          </p:txBody>
        </p:sp>
        <p:sp>
          <p:nvSpPr>
            <p:cNvPr id="18" name="Ellipse 18"/>
            <p:cNvSpPr/>
            <p:nvPr/>
          </p:nvSpPr>
          <p:spPr>
            <a:xfrm>
              <a:off x="1352550" y="2762250"/>
              <a:ext cx="342900" cy="342900"/>
            </a:xfrm>
            <a:prstGeom prst="ellipse">
              <a:avLst/>
            </a:prstGeom>
            <a:solidFill>
              <a:srgbClr val="D6E6F9"/>
            </a:solidFill>
            <a:ln>
              <a:noFill/>
            </a:ln>
          </p:spPr>
          <p:txBody>
            <a:bodyPr/>
            <a:p/>
          </p:txBody>
        </p:sp>
        <p:grpSp>
          <p:nvGrpSpPr>
            <p:cNvPr id="23" name="Group 23"/>
            <p:cNvGrpSpPr/>
            <p:nvPr/>
          </p:nvGrpSpPr>
          <p:grpSpPr>
            <a:xfrm>
              <a:off x="1468438" y="2862262"/>
              <a:ext cx="111125" cy="142875"/>
              <a:chOff x="1468438" y="2862262"/>
              <a:chExt cx="111125" cy="142875"/>
            </a:xfrm>
          </p:grpSpPr>
          <p:sp>
            <p:nvSpPr>
              <p:cNvPr id="19" name="Freeform 19"/>
              <p:cNvSpPr/>
              <p:nvPr/>
            </p:nvSpPr>
            <p:spPr>
              <a:xfrm>
                <a:off x="1539875" y="2862262"/>
                <a:ext cx="39688" cy="39688"/>
              </a:xfrm>
              <a:custGeom>
                <a:avLst/>
                <a:gdLst/>
                <a:ahLst/>
                <a:cxnLst/>
                <a:rect l="l" t="t" r="r" b="b"/>
                <a:pathLst>
                  <a:path w="39688" h="39688">
                    <a:moveTo>
                      <a:pt x="0" y="0"/>
                    </a:moveTo>
                    <a:lnTo>
                      <a:pt x="0" y="31750"/>
                    </a:lnTo>
                    <a:cubicBezTo>
                      <a:pt x="0" y="36134"/>
                      <a:pt x="3554" y="39688"/>
                      <a:pt x="7938" y="39688"/>
                    </a:cubicBezTo>
                    <a:lnTo>
                      <a:pt x="39688" y="39688"/>
                    </a:lnTo>
                  </a:path>
                </a:pathLst>
              </a:custGeom>
              <a:noFill/>
              <a:ln w="19050">
                <a:solidFill>
                  <a:srgbClr val="1565D8"/>
                </a:solidFill>
              </a:ln>
            </p:spPr>
            <p:txBody>
              <a:bodyPr/>
              <a:p/>
            </p:txBody>
          </p:sp>
          <p:sp>
            <p:nvSpPr>
              <p:cNvPr id="20" name="Freeform 20"/>
              <p:cNvSpPr/>
              <p:nvPr/>
            </p:nvSpPr>
            <p:spPr>
              <a:xfrm>
                <a:off x="1468438" y="2862262"/>
                <a:ext cx="111125" cy="142875"/>
              </a:xfrm>
              <a:custGeom>
                <a:avLst/>
                <a:gdLst/>
                <a:ahLst/>
                <a:cxnLst/>
                <a:rect l="l" t="t" r="r" b="b"/>
                <a:pathLst>
                  <a:path w="111125" h="142875">
                    <a:moveTo>
                      <a:pt x="95250" y="142875"/>
                    </a:moveTo>
                    <a:lnTo>
                      <a:pt x="15875" y="142875"/>
                    </a:lnTo>
                    <a:cubicBezTo>
                      <a:pt x="7107" y="142875"/>
                      <a:pt x="0" y="135768"/>
                      <a:pt x="0" y="127000"/>
                    </a:cubicBezTo>
                    <a:lnTo>
                      <a:pt x="0" y="15875"/>
                    </a:lnTo>
                    <a:cubicBezTo>
                      <a:pt x="0" y="7107"/>
                      <a:pt x="7107" y="0"/>
                      <a:pt x="15875" y="0"/>
                    </a:cubicBezTo>
                    <a:lnTo>
                      <a:pt x="71438" y="0"/>
                    </a:lnTo>
                    <a:lnTo>
                      <a:pt x="111125" y="39688"/>
                    </a:lnTo>
                    <a:lnTo>
                      <a:pt x="111125" y="127000"/>
                    </a:lnTo>
                    <a:cubicBezTo>
                      <a:pt x="111125" y="135768"/>
                      <a:pt x="104018" y="142875"/>
                      <a:pt x="95250" y="142875"/>
                    </a:cubicBezTo>
                  </a:path>
                </a:pathLst>
              </a:custGeom>
              <a:noFill/>
              <a:ln w="19050">
                <a:solidFill>
                  <a:srgbClr val="1565D8"/>
                </a:solidFill>
              </a:ln>
            </p:spPr>
            <p:txBody>
              <a:bodyPr/>
              <a:p/>
            </p:txBody>
          </p:sp>
          <p:sp>
            <p:nvSpPr>
              <p:cNvPr id="21" name="Freeform 21"/>
              <p:cNvSpPr/>
              <p:nvPr/>
            </p:nvSpPr>
            <p:spPr>
              <a:xfrm>
                <a:off x="1524000" y="2925762"/>
                <a:ext cx="9525" cy="47625"/>
              </a:xfrm>
              <a:custGeom>
                <a:avLst/>
                <a:gdLst/>
                <a:ahLst/>
                <a:cxnLst/>
                <a:rect l="l" t="t" r="r" b="b"/>
                <a:pathLst>
                  <a:path w="9525" h="47625">
                    <a:moveTo>
                      <a:pt x="0" y="0"/>
                    </a:moveTo>
                    <a:lnTo>
                      <a:pt x="0" y="47625"/>
                    </a:lnTo>
                  </a:path>
                </a:pathLst>
              </a:custGeom>
              <a:noFill/>
              <a:ln w="19050">
                <a:solidFill>
                  <a:srgbClr val="1565D8"/>
                </a:solidFill>
              </a:ln>
            </p:spPr>
            <p:txBody>
              <a:bodyPr/>
              <a:p/>
            </p:txBody>
          </p:sp>
          <p:sp>
            <p:nvSpPr>
              <p:cNvPr id="22" name="Freeform 22"/>
              <p:cNvSpPr/>
              <p:nvPr/>
            </p:nvSpPr>
            <p:spPr>
              <a:xfrm>
                <a:off x="1504156" y="2925762"/>
                <a:ext cx="39688" cy="19844"/>
              </a:xfrm>
              <a:custGeom>
                <a:avLst/>
                <a:gdLst/>
                <a:ahLst/>
                <a:cxnLst/>
                <a:rect l="l" t="t" r="r" b="b"/>
                <a:pathLst>
                  <a:path w="39688" h="19844">
                    <a:moveTo>
                      <a:pt x="0" y="19844"/>
                    </a:moveTo>
                    <a:lnTo>
                      <a:pt x="19844" y="0"/>
                    </a:lnTo>
                    <a:lnTo>
                      <a:pt x="39688" y="19844"/>
                    </a:lnTo>
                  </a:path>
                </a:pathLst>
              </a:custGeom>
              <a:noFill/>
              <a:ln w="19050">
                <a:solidFill>
                  <a:srgbClr val="1565D8"/>
                </a:solidFill>
              </a:ln>
            </p:spPr>
            <p:txBody>
              <a:bodyPr/>
              <a:p/>
            </p:txBody>
          </p:sp>
        </p:grpSp>
        <p:sp>
          <p:nvSpPr>
            <p:cNvPr id="24" name="TextBox 24"/>
            <p:cNvSpPr txBox="1"/>
            <p:nvPr/>
          </p:nvSpPr>
          <p:spPr>
            <a:xfrm>
              <a:off x="1128808" y="3207068"/>
              <a:ext cx="790384" cy="27432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350" b="1" dirty="0">
                  <a:solidFill>
                    <a:srgbClr val="2B3648"/>
                  </a:solidFill>
                  <a:latin typeface="Arial"/>
                  <a:ea typeface="Microsoft YaHei"/>
                  <a:cs typeface="Arial"/>
                </a:rPr>
                <a:t>计费单位</a:t>
              </a:r>
            </a:p>
          </p:txBody>
        </p:sp>
        <p:sp>
          <p:nvSpPr>
            <p:cNvPr id="25" name="TextBox 25"/>
            <p:cNvSpPr txBox="1"/>
            <p:nvPr/>
          </p:nvSpPr>
          <p:spPr>
            <a:xfrm>
              <a:off x="972050" y="3514249"/>
              <a:ext cx="1103900" cy="19812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975" dirty="0">
                  <a:solidFill>
                    <a:srgbClr val="8B99AE"/>
                  </a:solidFill>
                  <a:latin typeface="Arial"/>
                  <a:ea typeface="Microsoft YaHei"/>
                  <a:cs typeface="Arial"/>
                </a:rPr>
                <a:t>100 万 token ≈ 70 万字</a:t>
              </a:r>
            </a:p>
          </p:txBody>
        </p:sp>
      </p:grpSp>
      <p:grpSp>
        <p:nvGrpSpPr>
          <p:cNvPr id="39" name="Group 39"/>
          <p:cNvGrpSpPr/>
          <p:nvPr/>
        </p:nvGrpSpPr>
        <p:grpSpPr>
          <a:xfrm>
            <a:off x="2628900" y="1962150"/>
            <a:ext cx="1905000" cy="1847850"/>
            <a:chOff x="2628900" y="1962150"/>
            <a:chExt cx="1905000" cy="1847850"/>
          </a:xfrm>
        </p:grpSpPr>
        <p:sp>
          <p:nvSpPr>
            <p:cNvPr id="27" name="Ellipse 27"/>
            <p:cNvSpPr/>
            <p:nvPr/>
          </p:nvSpPr>
          <p:spPr>
            <a:xfrm>
              <a:off x="3390900" y="1962150"/>
              <a:ext cx="495300" cy="495300"/>
            </a:xfrm>
            <a:prstGeom prst="ellipse">
              <a:avLst/>
            </a:prstGeom>
            <a:solidFill>
              <a:srgbClr val="1565D8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8" name="TextBox 28"/>
            <p:cNvSpPr txBox="1"/>
            <p:nvPr/>
          </p:nvSpPr>
          <p:spPr>
            <a:xfrm>
              <a:off x="3569424" y="2140268"/>
              <a:ext cx="138253" cy="27432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350" b="1" dirty="0">
                  <a:solidFill>
                    <a:srgbClr val="FFFFFF"/>
                  </a:solidFill>
                  <a:latin typeface="Arial"/>
                  <a:ea typeface="Microsoft YaHei"/>
                  <a:cs typeface="Arial"/>
                </a:rPr>
                <a:t>②</a:t>
              </a:r>
            </a:p>
          </p:txBody>
        </p:sp>
        <p:sp>
          <p:nvSpPr>
            <p:cNvPr id="29" name="Rectangle 29"/>
            <p:cNvSpPr/>
            <p:nvPr/>
          </p:nvSpPr>
          <p:spPr>
            <a:xfrm>
              <a:off x="2628900" y="2571750"/>
              <a:ext cx="1905000" cy="1238250"/>
            </a:xfrm>
            <a:prstGeom prst="roundRect">
              <a:avLst>
                <a:gd name="adj" fmla="val 12308"/>
              </a:avLst>
            </a:prstGeom>
            <a:solidFill>
              <a:srgbClr val="FFFFFF"/>
            </a:solidFill>
            <a:ln w="9525">
              <a:solidFill>
                <a:srgbClr val="D8E1EC"/>
              </a:solidFill>
            </a:ln>
          </p:spPr>
          <p:txBody>
            <a:bodyPr/>
            <a:p/>
          </p:txBody>
        </p:sp>
        <p:sp>
          <p:nvSpPr>
            <p:cNvPr id="30" name="Ellipse 30"/>
            <p:cNvSpPr/>
            <p:nvPr/>
          </p:nvSpPr>
          <p:spPr>
            <a:xfrm>
              <a:off x="3409950" y="2762250"/>
              <a:ext cx="342900" cy="342900"/>
            </a:xfrm>
            <a:prstGeom prst="ellipse">
              <a:avLst/>
            </a:prstGeom>
            <a:solidFill>
              <a:srgbClr val="D6E6F9"/>
            </a:solidFill>
            <a:ln>
              <a:noFill/>
            </a:ln>
          </p:spPr>
          <p:txBody>
            <a:bodyPr/>
            <a:p/>
          </p:txBody>
        </p:sp>
        <p:grpSp>
          <p:nvGrpSpPr>
            <p:cNvPr id="36" name="Group 36"/>
            <p:cNvGrpSpPr/>
            <p:nvPr/>
          </p:nvGrpSpPr>
          <p:grpSpPr>
            <a:xfrm>
              <a:off x="3509962" y="2873314"/>
              <a:ext cx="152401" cy="115948"/>
              <a:chOff x="3509962" y="2873314"/>
              <a:chExt cx="152401" cy="115948"/>
            </a:xfrm>
          </p:grpSpPr>
          <p:sp>
            <p:nvSpPr>
              <p:cNvPr id="31" name="Freeform 31"/>
              <p:cNvSpPr/>
              <p:nvPr/>
            </p:nvSpPr>
            <p:spPr>
              <a:xfrm>
                <a:off x="3509962" y="2976501"/>
                <a:ext cx="142875" cy="12761"/>
              </a:xfrm>
              <a:custGeom>
                <a:avLst/>
                <a:gdLst/>
                <a:ahLst/>
                <a:cxnLst/>
                <a:rect l="l" t="t" r="r" b="b"/>
                <a:pathLst>
                  <a:path w="142875" h="12761">
                    <a:moveTo>
                      <a:pt x="0" y="12761"/>
                    </a:moveTo>
                    <a:cubicBezTo>
                      <a:pt x="22103" y="0"/>
                      <a:pt x="49335" y="0"/>
                      <a:pt x="71438" y="12761"/>
                    </a:cubicBezTo>
                    <a:cubicBezTo>
                      <a:pt x="93540" y="0"/>
                      <a:pt x="120772" y="0"/>
                      <a:pt x="142875" y="12761"/>
                    </a:cubicBezTo>
                  </a:path>
                </a:pathLst>
              </a:custGeom>
              <a:noFill/>
              <a:ln w="19050">
                <a:solidFill>
                  <a:srgbClr val="1565D8"/>
                </a:solidFill>
              </a:ln>
            </p:spPr>
            <p:txBody>
              <a:bodyPr/>
              <a:p/>
            </p:txBody>
          </p:sp>
          <p:sp>
            <p:nvSpPr>
              <p:cNvPr id="32" name="Freeform 32"/>
              <p:cNvSpPr/>
              <p:nvPr/>
            </p:nvSpPr>
            <p:spPr>
              <a:xfrm>
                <a:off x="3509962" y="2873314"/>
                <a:ext cx="142875" cy="12761"/>
              </a:xfrm>
              <a:custGeom>
                <a:avLst/>
                <a:gdLst/>
                <a:ahLst/>
                <a:cxnLst/>
                <a:rect l="l" t="t" r="r" b="b"/>
                <a:pathLst>
                  <a:path w="142875" h="12761">
                    <a:moveTo>
                      <a:pt x="0" y="12761"/>
                    </a:moveTo>
                    <a:cubicBezTo>
                      <a:pt x="22103" y="0"/>
                      <a:pt x="49335" y="0"/>
                      <a:pt x="71438" y="12761"/>
                    </a:cubicBezTo>
                    <a:cubicBezTo>
                      <a:pt x="93540" y="0"/>
                      <a:pt x="120772" y="0"/>
                      <a:pt x="142875" y="12761"/>
                    </a:cubicBezTo>
                  </a:path>
                </a:pathLst>
              </a:custGeom>
              <a:noFill/>
              <a:ln w="19050">
                <a:solidFill>
                  <a:srgbClr val="1565D8"/>
                </a:solidFill>
              </a:ln>
            </p:spPr>
            <p:txBody>
              <a:bodyPr/>
              <a:p/>
            </p:txBody>
          </p:sp>
          <p:sp>
            <p:nvSpPr>
              <p:cNvPr id="33" name="Freeform 33"/>
              <p:cNvSpPr/>
              <p:nvPr/>
            </p:nvSpPr>
            <p:spPr>
              <a:xfrm>
                <a:off x="3509962" y="2886075"/>
                <a:ext cx="9525" cy="103187"/>
              </a:xfrm>
              <a:custGeom>
                <a:avLst/>
                <a:gdLst/>
                <a:ahLst/>
                <a:cxnLst/>
                <a:rect l="l" t="t" r="r" b="b"/>
                <a:pathLst>
                  <a:path w="9525" h="103187">
                    <a:moveTo>
                      <a:pt x="0" y="0"/>
                    </a:moveTo>
                    <a:lnTo>
                      <a:pt x="0" y="103187"/>
                    </a:lnTo>
                  </a:path>
                </a:pathLst>
              </a:custGeom>
              <a:noFill/>
              <a:ln w="19050">
                <a:solidFill>
                  <a:srgbClr val="1565D8"/>
                </a:solidFill>
              </a:ln>
            </p:spPr>
            <p:txBody>
              <a:bodyPr/>
              <a:p/>
            </p:txBody>
          </p:sp>
          <p:sp>
            <p:nvSpPr>
              <p:cNvPr id="34" name="Freeform 34"/>
              <p:cNvSpPr/>
              <p:nvPr/>
            </p:nvSpPr>
            <p:spPr>
              <a:xfrm>
                <a:off x="3581400" y="2886075"/>
                <a:ext cx="9525" cy="103187"/>
              </a:xfrm>
              <a:custGeom>
                <a:avLst/>
                <a:gdLst/>
                <a:ahLst/>
                <a:cxnLst/>
                <a:rect l="l" t="t" r="r" b="b"/>
                <a:pathLst>
                  <a:path w="9525" h="103187">
                    <a:moveTo>
                      <a:pt x="0" y="0"/>
                    </a:moveTo>
                    <a:lnTo>
                      <a:pt x="0" y="103187"/>
                    </a:lnTo>
                  </a:path>
                </a:pathLst>
              </a:custGeom>
              <a:noFill/>
              <a:ln w="19050">
                <a:solidFill>
                  <a:srgbClr val="1565D8"/>
                </a:solidFill>
              </a:ln>
            </p:spPr>
            <p:txBody>
              <a:bodyPr/>
              <a:p/>
            </p:txBody>
          </p:sp>
          <p:sp>
            <p:nvSpPr>
              <p:cNvPr id="35" name="Freeform 35"/>
              <p:cNvSpPr/>
              <p:nvPr/>
            </p:nvSpPr>
            <p:spPr>
              <a:xfrm>
                <a:off x="3652838" y="2886075"/>
                <a:ext cx="9525" cy="103187"/>
              </a:xfrm>
              <a:custGeom>
                <a:avLst/>
                <a:gdLst/>
                <a:ahLst/>
                <a:cxnLst/>
                <a:rect l="l" t="t" r="r" b="b"/>
                <a:pathLst>
                  <a:path w="9525" h="103187">
                    <a:moveTo>
                      <a:pt x="0" y="0"/>
                    </a:moveTo>
                    <a:lnTo>
                      <a:pt x="0" y="103187"/>
                    </a:lnTo>
                  </a:path>
                </a:pathLst>
              </a:custGeom>
              <a:noFill/>
              <a:ln w="19050">
                <a:solidFill>
                  <a:srgbClr val="1565D8"/>
                </a:solidFill>
              </a:ln>
            </p:spPr>
            <p:txBody>
              <a:bodyPr/>
              <a:p/>
            </p:txBody>
          </p:sp>
        </p:grpSp>
        <p:sp>
          <p:nvSpPr>
            <p:cNvPr id="37" name="TextBox 37"/>
            <p:cNvSpPr txBox="1"/>
            <p:nvPr/>
          </p:nvSpPr>
          <p:spPr>
            <a:xfrm>
              <a:off x="2997184" y="3207068"/>
              <a:ext cx="1168432" cy="27432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350" b="1" dirty="0">
                  <a:solidFill>
                    <a:srgbClr val="2B3648"/>
                  </a:solidFill>
                  <a:latin typeface="Arial"/>
                  <a:ea typeface="Microsoft YaHei"/>
                  <a:cs typeface="Arial"/>
                </a:rPr>
                <a:t>国产性价比</a:t>
              </a:r>
            </a:p>
          </p:txBody>
        </p:sp>
        <p:sp>
          <p:nvSpPr>
            <p:cNvPr id="38" name="TextBox 38"/>
            <p:cNvSpPr txBox="1"/>
            <p:nvPr/>
          </p:nvSpPr>
          <p:spPr>
            <a:xfrm>
              <a:off x="3243977" y="3514249"/>
              <a:ext cx="674846" cy="19812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975" dirty="0">
                  <a:solidFill>
                    <a:srgbClr val="8B99AE"/>
                  </a:solidFill>
                  <a:latin typeface="Arial"/>
                  <a:ea typeface="Microsoft YaHei"/>
                  <a:cs typeface="Arial"/>
                </a:rPr>
                <a:t>V4：$1.32 / $3.96</a:t>
              </a:r>
            </a:p>
          </p:txBody>
        </p:sp>
      </p:grpSp>
      <p:grpSp>
        <p:nvGrpSpPr>
          <p:cNvPr id="51" name="Group 51"/>
          <p:cNvGrpSpPr/>
          <p:nvPr/>
        </p:nvGrpSpPr>
        <p:grpSpPr>
          <a:xfrm>
            <a:off x="4686300" y="1962150"/>
            <a:ext cx="1905000" cy="1847850"/>
            <a:chOff x="4686300" y="1962150"/>
            <a:chExt cx="1905000" cy="1847850"/>
          </a:xfrm>
        </p:grpSpPr>
        <p:sp>
          <p:nvSpPr>
            <p:cNvPr id="40" name="Ellipse 40"/>
            <p:cNvSpPr/>
            <p:nvPr/>
          </p:nvSpPr>
          <p:spPr>
            <a:xfrm>
              <a:off x="5448300" y="1962150"/>
              <a:ext cx="495300" cy="495300"/>
            </a:xfrm>
            <a:prstGeom prst="ellipse">
              <a:avLst/>
            </a:prstGeom>
            <a:solidFill>
              <a:srgbClr val="1565D8"/>
            </a:solidFill>
            <a:ln>
              <a:noFill/>
            </a:ln>
          </p:spPr>
          <p:txBody>
            <a:bodyPr/>
            <a:p/>
          </p:txBody>
        </p:sp>
        <p:sp>
          <p:nvSpPr>
            <p:cNvPr id="41" name="TextBox 41"/>
            <p:cNvSpPr txBox="1"/>
            <p:nvPr/>
          </p:nvSpPr>
          <p:spPr>
            <a:xfrm>
              <a:off x="5626824" y="2140268"/>
              <a:ext cx="138253" cy="27432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350" b="1" dirty="0">
                  <a:solidFill>
                    <a:srgbClr val="FFFFFF"/>
                  </a:solidFill>
                  <a:latin typeface="Arial"/>
                  <a:ea typeface="Microsoft YaHei"/>
                  <a:cs typeface="Arial"/>
                </a:rPr>
                <a:t>③</a:t>
              </a:r>
            </a:p>
          </p:txBody>
        </p:sp>
        <p:sp>
          <p:nvSpPr>
            <p:cNvPr id="42" name="Rectangle 42"/>
            <p:cNvSpPr/>
            <p:nvPr/>
          </p:nvSpPr>
          <p:spPr>
            <a:xfrm>
              <a:off x="4686300" y="2571750"/>
              <a:ext cx="1905000" cy="1238250"/>
            </a:xfrm>
            <a:prstGeom prst="roundRect">
              <a:avLst>
                <a:gd name="adj" fmla="val 12308"/>
              </a:avLst>
            </a:prstGeom>
            <a:solidFill>
              <a:srgbClr val="FFFFFF"/>
            </a:solidFill>
            <a:ln w="9525">
              <a:solidFill>
                <a:srgbClr val="D8E1EC"/>
              </a:solidFill>
            </a:ln>
          </p:spPr>
          <p:txBody>
            <a:bodyPr/>
            <a:p/>
          </p:txBody>
        </p:sp>
        <p:sp>
          <p:nvSpPr>
            <p:cNvPr id="43" name="Ellipse 43"/>
            <p:cNvSpPr/>
            <p:nvPr/>
          </p:nvSpPr>
          <p:spPr>
            <a:xfrm>
              <a:off x="5467350" y="2762250"/>
              <a:ext cx="342900" cy="342900"/>
            </a:xfrm>
            <a:prstGeom prst="ellipse">
              <a:avLst/>
            </a:prstGeom>
            <a:solidFill>
              <a:srgbClr val="D6E6F9"/>
            </a:solidFill>
            <a:ln>
              <a:noFill/>
            </a:ln>
          </p:spPr>
          <p:txBody>
            <a:bodyPr/>
            <a:p/>
          </p:txBody>
        </p:sp>
        <p:grpSp>
          <p:nvGrpSpPr>
            <p:cNvPr id="48" name="Group 48"/>
            <p:cNvGrpSpPr/>
            <p:nvPr/>
          </p:nvGrpSpPr>
          <p:grpSpPr>
            <a:xfrm>
              <a:off x="5583238" y="2862262"/>
              <a:ext cx="127000" cy="150813"/>
              <a:chOff x="5583238" y="2862262"/>
              <a:chExt cx="127000" cy="150813"/>
            </a:xfrm>
          </p:grpSpPr>
          <p:sp>
            <p:nvSpPr>
              <p:cNvPr id="44" name="Freeform 44"/>
              <p:cNvSpPr/>
              <p:nvPr/>
            </p:nvSpPr>
            <p:spPr>
              <a:xfrm>
                <a:off x="5654675" y="2862262"/>
                <a:ext cx="39688" cy="39688"/>
              </a:xfrm>
              <a:custGeom>
                <a:avLst/>
                <a:gdLst/>
                <a:ahLst/>
                <a:cxnLst/>
                <a:rect l="l" t="t" r="r" b="b"/>
                <a:pathLst>
                  <a:path w="39688" h="39688">
                    <a:moveTo>
                      <a:pt x="0" y="0"/>
                    </a:moveTo>
                    <a:lnTo>
                      <a:pt x="0" y="31750"/>
                    </a:lnTo>
                    <a:cubicBezTo>
                      <a:pt x="0" y="36134"/>
                      <a:pt x="3554" y="39688"/>
                      <a:pt x="7938" y="39688"/>
                    </a:cubicBezTo>
                    <a:lnTo>
                      <a:pt x="39688" y="39688"/>
                    </a:lnTo>
                  </a:path>
                </a:pathLst>
              </a:custGeom>
              <a:noFill/>
              <a:ln w="19050">
                <a:solidFill>
                  <a:srgbClr val="1565D8"/>
                </a:solidFill>
              </a:ln>
            </p:spPr>
            <p:txBody>
              <a:bodyPr/>
              <a:p/>
            </p:txBody>
          </p:sp>
          <p:sp>
            <p:nvSpPr>
              <p:cNvPr id="45" name="Freeform 45"/>
              <p:cNvSpPr/>
              <p:nvPr/>
            </p:nvSpPr>
            <p:spPr>
              <a:xfrm>
                <a:off x="5583238" y="2862262"/>
                <a:ext cx="111125" cy="142875"/>
              </a:xfrm>
              <a:custGeom>
                <a:avLst/>
                <a:gdLst/>
                <a:ahLst/>
                <a:cxnLst/>
                <a:rect l="l" t="t" r="r" b="b"/>
                <a:pathLst>
                  <a:path w="111125" h="142875">
                    <a:moveTo>
                      <a:pt x="55563" y="142875"/>
                    </a:moveTo>
                    <a:lnTo>
                      <a:pt x="15875" y="142875"/>
                    </a:lnTo>
                    <a:cubicBezTo>
                      <a:pt x="7107" y="142875"/>
                      <a:pt x="0" y="135768"/>
                      <a:pt x="0" y="127000"/>
                    </a:cubicBezTo>
                    <a:lnTo>
                      <a:pt x="0" y="15875"/>
                    </a:lnTo>
                    <a:cubicBezTo>
                      <a:pt x="0" y="7107"/>
                      <a:pt x="7107" y="0"/>
                      <a:pt x="15875" y="0"/>
                    </a:cubicBezTo>
                    <a:lnTo>
                      <a:pt x="71438" y="0"/>
                    </a:lnTo>
                    <a:lnTo>
                      <a:pt x="111125" y="39688"/>
                    </a:lnTo>
                    <a:lnTo>
                      <a:pt x="111125" y="75406"/>
                    </a:lnTo>
                  </a:path>
                </a:pathLst>
              </a:custGeom>
              <a:noFill/>
              <a:ln w="19050">
                <a:solidFill>
                  <a:srgbClr val="1565D8"/>
                </a:solidFill>
              </a:ln>
            </p:spPr>
            <p:txBody>
              <a:bodyPr/>
              <a:p/>
            </p:txBody>
          </p:sp>
          <p:sp>
            <p:nvSpPr>
              <p:cNvPr id="46" name="Freeform 46"/>
              <p:cNvSpPr/>
              <p:nvPr/>
            </p:nvSpPr>
            <p:spPr>
              <a:xfrm>
                <a:off x="5654675" y="2957512"/>
                <a:ext cx="39688" cy="39688"/>
              </a:xfrm>
              <a:custGeom>
                <a:avLst/>
                <a:gdLst/>
                <a:ahLst/>
                <a:cxnLst/>
                <a:rect l="l" t="t" r="r" b="b"/>
                <a:pathLst>
                  <a:path w="39688" h="39688">
                    <a:moveTo>
                      <a:pt x="0" y="19844"/>
                    </a:moveTo>
                    <a:cubicBezTo>
                      <a:pt x="0" y="30803"/>
                      <a:pt x="8884" y="39688"/>
                      <a:pt x="19844" y="39688"/>
                    </a:cubicBezTo>
                    <a:cubicBezTo>
                      <a:pt x="30803" y="39688"/>
                      <a:pt x="39688" y="30803"/>
                      <a:pt x="39688" y="19844"/>
                    </a:cubicBezTo>
                    <a:cubicBezTo>
                      <a:pt x="39688" y="8884"/>
                      <a:pt x="30803" y="0"/>
                      <a:pt x="19844" y="0"/>
                    </a:cubicBezTo>
                    <a:cubicBezTo>
                      <a:pt x="8884" y="0"/>
                      <a:pt x="0" y="8884"/>
                      <a:pt x="0" y="19844"/>
                    </a:cubicBezTo>
                  </a:path>
                </a:pathLst>
              </a:custGeom>
              <a:noFill/>
              <a:ln w="19050">
                <a:solidFill>
                  <a:srgbClr val="1565D8"/>
                </a:solidFill>
              </a:ln>
            </p:spPr>
            <p:txBody>
              <a:bodyPr/>
              <a:p/>
            </p:txBody>
          </p:sp>
          <p:sp>
            <p:nvSpPr>
              <p:cNvPr id="47" name="Freeform 47"/>
              <p:cNvSpPr/>
              <p:nvPr/>
            </p:nvSpPr>
            <p:spPr>
              <a:xfrm>
                <a:off x="5690394" y="2993231"/>
                <a:ext cx="19844" cy="19844"/>
              </a:xfrm>
              <a:custGeom>
                <a:avLst/>
                <a:gdLst/>
                <a:ahLst/>
                <a:cxnLst/>
                <a:rect l="l" t="t" r="r" b="b"/>
                <a:pathLst>
                  <a:path w="19844" h="19844">
                    <a:moveTo>
                      <a:pt x="0" y="0"/>
                    </a:moveTo>
                    <a:lnTo>
                      <a:pt x="19844" y="19844"/>
                    </a:lnTo>
                  </a:path>
                </a:pathLst>
              </a:custGeom>
              <a:noFill/>
              <a:ln w="19050">
                <a:solidFill>
                  <a:srgbClr val="1565D8"/>
                </a:solidFill>
              </a:ln>
            </p:spPr>
            <p:txBody>
              <a:bodyPr/>
              <a:p/>
            </p:txBody>
          </p:sp>
        </p:grpSp>
        <p:sp>
          <p:nvSpPr>
            <p:cNvPr id="49" name="TextBox 49"/>
            <p:cNvSpPr txBox="1"/>
            <p:nvPr/>
          </p:nvSpPr>
          <p:spPr>
            <a:xfrm>
              <a:off x="5338120" y="3207068"/>
              <a:ext cx="601361" cy="27432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350" b="1" dirty="0">
                  <a:solidFill>
                    <a:srgbClr val="2B3648"/>
                  </a:solidFill>
                  <a:latin typeface="Arial"/>
                  <a:ea typeface="Microsoft YaHei"/>
                  <a:cs typeface="Arial"/>
                </a:rPr>
                <a:t>旗舰</a:t>
              </a:r>
            </a:p>
          </p:txBody>
        </p:sp>
        <p:sp>
          <p:nvSpPr>
            <p:cNvPr id="50" name="TextBox 50"/>
            <p:cNvSpPr txBox="1"/>
            <p:nvPr/>
          </p:nvSpPr>
          <p:spPr>
            <a:xfrm>
              <a:off x="5171361" y="3514249"/>
              <a:ext cx="934879" cy="19812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975" dirty="0">
                  <a:solidFill>
                    <a:srgbClr val="8B99AE"/>
                  </a:solidFill>
                  <a:latin typeface="Arial"/>
                  <a:ea typeface="Microsoft YaHei"/>
                  <a:cs typeface="Arial"/>
                </a:rPr>
                <a:t>Fable 5：$10 / $50</a:t>
              </a:r>
            </a:p>
          </p:txBody>
        </p:sp>
      </p:grpSp>
      <p:grpSp>
        <p:nvGrpSpPr>
          <p:cNvPr id="62" name="Group 62"/>
          <p:cNvGrpSpPr/>
          <p:nvPr/>
        </p:nvGrpSpPr>
        <p:grpSpPr>
          <a:xfrm>
            <a:off x="6743700" y="1962150"/>
            <a:ext cx="1905000" cy="1847850"/>
            <a:chOff x="6743700" y="1962150"/>
            <a:chExt cx="1905000" cy="1847850"/>
          </a:xfrm>
        </p:grpSpPr>
        <p:sp>
          <p:nvSpPr>
            <p:cNvPr id="52" name="Ellipse 52"/>
            <p:cNvSpPr/>
            <p:nvPr/>
          </p:nvSpPr>
          <p:spPr>
            <a:xfrm>
              <a:off x="7505700" y="1962150"/>
              <a:ext cx="495300" cy="495300"/>
            </a:xfrm>
            <a:prstGeom prst="ellipse">
              <a:avLst/>
            </a:prstGeom>
            <a:solidFill>
              <a:srgbClr val="1565D8"/>
            </a:solidFill>
            <a:ln>
              <a:noFill/>
            </a:ln>
          </p:spPr>
          <p:txBody>
            <a:bodyPr/>
            <a:p/>
          </p:txBody>
        </p:sp>
        <p:sp>
          <p:nvSpPr>
            <p:cNvPr id="53" name="TextBox 53"/>
            <p:cNvSpPr txBox="1"/>
            <p:nvPr/>
          </p:nvSpPr>
          <p:spPr>
            <a:xfrm>
              <a:off x="7684224" y="2140268"/>
              <a:ext cx="138253" cy="27432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350" b="1" dirty="0">
                  <a:solidFill>
                    <a:srgbClr val="FFFFFF"/>
                  </a:solidFill>
                  <a:latin typeface="Arial"/>
                  <a:ea typeface="Microsoft YaHei"/>
                  <a:cs typeface="Arial"/>
                </a:rPr>
                <a:t>④</a:t>
              </a:r>
            </a:p>
          </p:txBody>
        </p:sp>
        <p:sp>
          <p:nvSpPr>
            <p:cNvPr id="54" name="Rectangle 54"/>
            <p:cNvSpPr/>
            <p:nvPr/>
          </p:nvSpPr>
          <p:spPr>
            <a:xfrm>
              <a:off x="6743700" y="2571750"/>
              <a:ext cx="1905000" cy="1238250"/>
            </a:xfrm>
            <a:prstGeom prst="roundRect">
              <a:avLst>
                <a:gd name="adj" fmla="val 12308"/>
              </a:avLst>
            </a:prstGeom>
            <a:solidFill>
              <a:srgbClr val="FFFFFF"/>
            </a:solidFill>
            <a:ln w="9525">
              <a:solidFill>
                <a:srgbClr val="D8E1EC"/>
              </a:solidFill>
            </a:ln>
          </p:spPr>
          <p:txBody>
            <a:bodyPr/>
            <a:p/>
          </p:txBody>
        </p:sp>
        <p:sp>
          <p:nvSpPr>
            <p:cNvPr id="55" name="Ellipse 55"/>
            <p:cNvSpPr/>
            <p:nvPr/>
          </p:nvSpPr>
          <p:spPr>
            <a:xfrm>
              <a:off x="7524750" y="2762250"/>
              <a:ext cx="342900" cy="342900"/>
            </a:xfrm>
            <a:prstGeom prst="ellipse">
              <a:avLst/>
            </a:prstGeom>
            <a:solidFill>
              <a:srgbClr val="D6E6F9"/>
            </a:solidFill>
            <a:ln>
              <a:noFill/>
            </a:ln>
          </p:spPr>
          <p:txBody>
            <a:bodyPr/>
            <a:p/>
          </p:txBody>
        </p:sp>
        <p:grpSp>
          <p:nvGrpSpPr>
            <p:cNvPr id="59" name="Group 59"/>
            <p:cNvGrpSpPr/>
            <p:nvPr/>
          </p:nvGrpSpPr>
          <p:grpSpPr>
            <a:xfrm>
              <a:off x="7624762" y="2870200"/>
              <a:ext cx="142875" cy="134938"/>
              <a:chOff x="7624762" y="2870200"/>
              <a:chExt cx="142875" cy="134938"/>
            </a:xfrm>
          </p:grpSpPr>
          <p:sp>
            <p:nvSpPr>
              <p:cNvPr id="56" name="Freeform 56"/>
              <p:cNvSpPr/>
              <p:nvPr/>
            </p:nvSpPr>
            <p:spPr>
              <a:xfrm>
                <a:off x="7664450" y="2909888"/>
                <a:ext cx="63500" cy="9525"/>
              </a:xfrm>
              <a:custGeom>
                <a:avLst/>
                <a:gdLst/>
                <a:ahLst/>
                <a:cxnLst/>
                <a:rect l="l" t="t" r="r" b="b"/>
                <a:pathLst>
                  <a:path w="63500" h="9525">
                    <a:moveTo>
                      <a:pt x="0" y="0"/>
                    </a:moveTo>
                    <a:lnTo>
                      <a:pt x="63500" y="0"/>
                    </a:lnTo>
                  </a:path>
                </a:pathLst>
              </a:custGeom>
              <a:noFill/>
              <a:ln w="19050">
                <a:solidFill>
                  <a:srgbClr val="1565D8"/>
                </a:solidFill>
              </a:ln>
            </p:spPr>
            <p:txBody>
              <a:bodyPr/>
              <a:p/>
            </p:txBody>
          </p:sp>
          <p:sp>
            <p:nvSpPr>
              <p:cNvPr id="57" name="Freeform 57"/>
              <p:cNvSpPr/>
              <p:nvPr/>
            </p:nvSpPr>
            <p:spPr>
              <a:xfrm>
                <a:off x="7664450" y="2941638"/>
                <a:ext cx="47625" cy="9525"/>
              </a:xfrm>
              <a:custGeom>
                <a:avLst/>
                <a:gdLst/>
                <a:ahLst/>
                <a:cxnLst/>
                <a:rect l="l" t="t" r="r" b="b"/>
                <a:pathLst>
                  <a:path w="47625" h="9525">
                    <a:moveTo>
                      <a:pt x="0" y="0"/>
                    </a:moveTo>
                    <a:lnTo>
                      <a:pt x="47625" y="0"/>
                    </a:lnTo>
                  </a:path>
                </a:pathLst>
              </a:custGeom>
              <a:noFill/>
              <a:ln w="19050">
                <a:solidFill>
                  <a:srgbClr val="1565D8"/>
                </a:solidFill>
              </a:ln>
            </p:spPr>
            <p:txBody>
              <a:bodyPr/>
              <a:p/>
            </p:txBody>
          </p:sp>
          <p:sp>
            <p:nvSpPr>
              <p:cNvPr id="58" name="Freeform 58"/>
              <p:cNvSpPr/>
              <p:nvPr/>
            </p:nvSpPr>
            <p:spPr>
              <a:xfrm>
                <a:off x="7624762" y="2870200"/>
                <a:ext cx="142875" cy="134938"/>
              </a:xfrm>
              <a:custGeom>
                <a:avLst/>
                <a:gdLst/>
                <a:ahLst/>
                <a:cxnLst/>
                <a:rect l="l" t="t" r="r" b="b"/>
                <a:pathLst>
                  <a:path w="142875" h="134938">
                    <a:moveTo>
                      <a:pt x="47625" y="111125"/>
                    </a:moveTo>
                    <a:lnTo>
                      <a:pt x="23812" y="111125"/>
                    </a:lnTo>
                    <a:cubicBezTo>
                      <a:pt x="10661" y="111125"/>
                      <a:pt x="0" y="100464"/>
                      <a:pt x="0" y="87313"/>
                    </a:cubicBezTo>
                    <a:lnTo>
                      <a:pt x="0" y="23812"/>
                    </a:lnTo>
                    <a:cubicBezTo>
                      <a:pt x="0" y="10661"/>
                      <a:pt x="10661" y="0"/>
                      <a:pt x="23812" y="0"/>
                    </a:cubicBezTo>
                    <a:lnTo>
                      <a:pt x="119062" y="0"/>
                    </a:lnTo>
                    <a:cubicBezTo>
                      <a:pt x="132214" y="0"/>
                      <a:pt x="142875" y="10661"/>
                      <a:pt x="142875" y="23812"/>
                    </a:cubicBezTo>
                    <a:lnTo>
                      <a:pt x="142875" y="87313"/>
                    </a:lnTo>
                    <a:cubicBezTo>
                      <a:pt x="142875" y="100464"/>
                      <a:pt x="132214" y="111125"/>
                      <a:pt x="119062" y="111125"/>
                    </a:cubicBezTo>
                    <a:lnTo>
                      <a:pt x="95250" y="111125"/>
                    </a:lnTo>
                    <a:lnTo>
                      <a:pt x="71438" y="134938"/>
                    </a:lnTo>
                    <a:lnTo>
                      <a:pt x="47625" y="111125"/>
                    </a:lnTo>
                  </a:path>
                </a:pathLst>
              </a:custGeom>
              <a:noFill/>
              <a:ln w="19050">
                <a:solidFill>
                  <a:srgbClr val="1565D8"/>
                </a:solidFill>
              </a:ln>
            </p:spPr>
            <p:txBody>
              <a:bodyPr/>
              <a:p/>
            </p:txBody>
          </p:sp>
        </p:grpSp>
        <p:sp>
          <p:nvSpPr>
            <p:cNvPr id="60" name="TextBox 60"/>
            <p:cNvSpPr txBox="1"/>
            <p:nvPr/>
          </p:nvSpPr>
          <p:spPr>
            <a:xfrm>
              <a:off x="7395520" y="3207068"/>
              <a:ext cx="601361" cy="27432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350" b="1" dirty="0">
                  <a:solidFill>
                    <a:srgbClr val="2B3648"/>
                  </a:solidFill>
                  <a:latin typeface="Arial"/>
                  <a:ea typeface="Microsoft YaHei"/>
                  <a:cs typeface="Arial"/>
                </a:rPr>
                <a:t>免费档</a:t>
              </a:r>
            </a:p>
          </p:txBody>
        </p:sp>
        <p:sp>
          <p:nvSpPr>
            <p:cNvPr id="61" name="TextBox 61"/>
            <p:cNvSpPr txBox="1"/>
            <p:nvPr/>
          </p:nvSpPr>
          <p:spPr>
            <a:xfrm>
              <a:off x="7293769" y="3514249"/>
              <a:ext cx="804862" cy="19812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975" dirty="0">
                  <a:solidFill>
                    <a:srgbClr val="8B99AE"/>
                  </a:solidFill>
                  <a:latin typeface="Arial"/>
                  <a:ea typeface="Microsoft YaHei"/>
                  <a:cs typeface="Arial"/>
                </a:rPr>
                <a:t>豆包 App / Kimi / GLM</a:t>
              </a:r>
            </a:p>
          </p:txBody>
        </p:sp>
      </p:grpSp>
      <p:grpSp>
        <p:nvGrpSpPr>
          <p:cNvPr id="72" name="Group 72"/>
          <p:cNvGrpSpPr/>
          <p:nvPr/>
        </p:nvGrpSpPr>
        <p:grpSpPr>
          <a:xfrm>
            <a:off x="8801100" y="1962150"/>
            <a:ext cx="1905000" cy="1847850"/>
            <a:chOff x="8801100" y="1962150"/>
            <a:chExt cx="1905000" cy="1847850"/>
          </a:xfrm>
        </p:grpSpPr>
        <p:sp>
          <p:nvSpPr>
            <p:cNvPr id="63" name="Ellipse 63"/>
            <p:cNvSpPr/>
            <p:nvPr/>
          </p:nvSpPr>
          <p:spPr>
            <a:xfrm>
              <a:off x="9563100" y="1962150"/>
              <a:ext cx="495300" cy="495300"/>
            </a:xfrm>
            <a:prstGeom prst="ellipse">
              <a:avLst/>
            </a:prstGeom>
            <a:solidFill>
              <a:srgbClr val="0B4EA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64" name="TextBox 64"/>
            <p:cNvSpPr txBox="1"/>
            <p:nvPr/>
          </p:nvSpPr>
          <p:spPr>
            <a:xfrm>
              <a:off x="9741624" y="2140268"/>
              <a:ext cx="138253" cy="27432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350" b="1" dirty="0">
                  <a:solidFill>
                    <a:srgbClr val="FFFFFF"/>
                  </a:solidFill>
                  <a:latin typeface="Arial"/>
                  <a:ea typeface="Microsoft YaHei"/>
                  <a:cs typeface="Arial"/>
                </a:rPr>
                <a:t>⑤</a:t>
              </a:r>
            </a:p>
          </p:txBody>
        </p:sp>
        <p:sp>
          <p:nvSpPr>
            <p:cNvPr id="65" name="Rectangle 65"/>
            <p:cNvSpPr/>
            <p:nvPr/>
          </p:nvSpPr>
          <p:spPr>
            <a:xfrm>
              <a:off x="8801100" y="2571750"/>
              <a:ext cx="1905000" cy="1238250"/>
            </a:xfrm>
            <a:prstGeom prst="roundRect">
              <a:avLst>
                <a:gd name="adj" fmla="val 12308"/>
              </a:avLst>
            </a:prstGeom>
            <a:solidFill>
              <a:srgbClr val="FFFFFF"/>
            </a:solidFill>
            <a:ln w="9525">
              <a:solidFill>
                <a:srgbClr val="D8E1EC"/>
              </a:solidFill>
            </a:ln>
          </p:spPr>
          <p:txBody>
            <a:bodyPr/>
            <a:p/>
          </p:txBody>
        </p:sp>
        <p:sp>
          <p:nvSpPr>
            <p:cNvPr id="66" name="Ellipse 66"/>
            <p:cNvSpPr/>
            <p:nvPr/>
          </p:nvSpPr>
          <p:spPr>
            <a:xfrm>
              <a:off x="9582150" y="2762250"/>
              <a:ext cx="342900" cy="342900"/>
            </a:xfrm>
            <a:prstGeom prst="ellipse">
              <a:avLst/>
            </a:prstGeom>
            <a:solidFill>
              <a:srgbClr val="D6E6F9"/>
            </a:solidFill>
            <a:ln>
              <a:noFill/>
            </a:ln>
          </p:spPr>
          <p:txBody>
            <a:bodyPr/>
            <a:p/>
          </p:txBody>
        </p:sp>
        <p:grpSp>
          <p:nvGrpSpPr>
            <p:cNvPr id="69" name="Group 69"/>
            <p:cNvGrpSpPr/>
            <p:nvPr/>
          </p:nvGrpSpPr>
          <p:grpSpPr>
            <a:xfrm>
              <a:off x="9682162" y="2862262"/>
              <a:ext cx="142875" cy="142875"/>
              <a:chOff x="9682162" y="2862262"/>
              <a:chExt cx="142875" cy="142875"/>
            </a:xfrm>
          </p:grpSpPr>
          <p:sp>
            <p:nvSpPr>
              <p:cNvPr id="67" name="Freeform 67"/>
              <p:cNvSpPr/>
              <p:nvPr/>
            </p:nvSpPr>
            <p:spPr>
              <a:xfrm>
                <a:off x="9682162" y="2862262"/>
                <a:ext cx="142875" cy="142875"/>
              </a:xfrm>
              <a:custGeom>
                <a:avLst/>
                <a:gdLst/>
                <a:ahLst/>
                <a:cxnLst/>
                <a:rect l="l" t="t" r="r" b="b"/>
                <a:pathLst>
                  <a:path w="142875" h="142875">
                    <a:moveTo>
                      <a:pt x="0" y="71438"/>
                    </a:moveTo>
                    <a:cubicBezTo>
                      <a:pt x="0" y="110891"/>
                      <a:pt x="31984" y="142875"/>
                      <a:pt x="71438" y="142875"/>
                    </a:cubicBezTo>
                    <a:cubicBezTo>
                      <a:pt x="110891" y="142875"/>
                      <a:pt x="142875" y="110891"/>
                      <a:pt x="142875" y="71438"/>
                    </a:cubicBezTo>
                    <a:cubicBezTo>
                      <a:pt x="142875" y="31984"/>
                      <a:pt x="110891" y="0"/>
                      <a:pt x="71438" y="0"/>
                    </a:cubicBezTo>
                    <a:cubicBezTo>
                      <a:pt x="31984" y="0"/>
                      <a:pt x="0" y="31984"/>
                      <a:pt x="0" y="71438"/>
                    </a:cubicBezTo>
                  </a:path>
                </a:pathLst>
              </a:custGeom>
              <a:noFill/>
              <a:ln w="19050">
                <a:solidFill>
                  <a:srgbClr val="1565D8"/>
                </a:solidFill>
              </a:ln>
            </p:spPr>
            <p:txBody>
              <a:bodyPr/>
              <a:p/>
            </p:txBody>
          </p:sp>
          <p:sp>
            <p:nvSpPr>
              <p:cNvPr id="68" name="Freeform 68"/>
              <p:cNvSpPr/>
              <p:nvPr/>
            </p:nvSpPr>
            <p:spPr>
              <a:xfrm>
                <a:off x="9729788" y="2917825"/>
                <a:ext cx="47625" cy="31750"/>
              </a:xfrm>
              <a:custGeom>
                <a:avLst/>
                <a:gdLst/>
                <a:ahLst/>
                <a:cxnLst/>
                <a:rect l="l" t="t" r="r" b="b"/>
                <a:pathLst>
                  <a:path w="47625" h="31750">
                    <a:moveTo>
                      <a:pt x="0" y="15875"/>
                    </a:moveTo>
                    <a:lnTo>
                      <a:pt x="15875" y="31750"/>
                    </a:lnTo>
                    <a:lnTo>
                      <a:pt x="47625" y="0"/>
                    </a:lnTo>
                  </a:path>
                </a:pathLst>
              </a:custGeom>
              <a:noFill/>
              <a:ln w="19050">
                <a:solidFill>
                  <a:srgbClr val="1565D8"/>
                </a:solidFill>
              </a:ln>
            </p:spPr>
            <p:txBody>
              <a:bodyPr/>
              <a:p/>
            </p:txBody>
          </p:sp>
        </p:grpSp>
        <p:sp>
          <p:nvSpPr>
            <p:cNvPr id="70" name="TextBox 70"/>
            <p:cNvSpPr txBox="1"/>
            <p:nvPr/>
          </p:nvSpPr>
          <p:spPr>
            <a:xfrm>
              <a:off x="9452920" y="3207068"/>
              <a:ext cx="601361" cy="27432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350" b="1" dirty="0">
                  <a:solidFill>
                    <a:srgbClr val="2B3648"/>
                  </a:solidFill>
                  <a:latin typeface="Arial"/>
                  <a:ea typeface="Microsoft YaHei"/>
                  <a:cs typeface="Arial"/>
                </a:rPr>
                <a:t>算笔账</a:t>
              </a:r>
            </a:p>
          </p:txBody>
        </p:sp>
        <p:sp>
          <p:nvSpPr>
            <p:cNvPr id="71" name="TextBox 71"/>
            <p:cNvSpPr txBox="1"/>
            <p:nvPr/>
          </p:nvSpPr>
          <p:spPr>
            <a:xfrm>
              <a:off x="9416177" y="3514249"/>
              <a:ext cx="674846" cy="19812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975" dirty="0">
                  <a:solidFill>
                    <a:srgbClr val="8B99AE"/>
                  </a:solidFill>
                  <a:latin typeface="Arial"/>
                  <a:ea typeface="Microsoft YaHei"/>
                  <a:cs typeface="Arial"/>
                </a:rPr>
                <a:t>每天 1 小时 ≈ 少于一杯奶茶</a:t>
              </a:r>
            </a:p>
          </p:txBody>
        </p:sp>
      </p:grpSp>
      <p:grpSp>
        <p:nvGrpSpPr>
          <p:cNvPr id="84" name="Group 84"/>
          <p:cNvGrpSpPr/>
          <p:nvPr/>
        </p:nvGrpSpPr>
        <p:grpSpPr>
          <a:xfrm>
            <a:off x="571500" y="4076700"/>
            <a:ext cx="11049000" cy="1066800"/>
            <a:chOff x="571500" y="4076700"/>
            <a:chExt cx="11049000" cy="1066800"/>
          </a:xfrm>
        </p:grpSpPr>
        <p:sp>
          <p:nvSpPr>
            <p:cNvPr id="73" name="Rectangle 73"/>
            <p:cNvSpPr/>
            <p:nvPr/>
          </p:nvSpPr>
          <p:spPr>
            <a:xfrm>
              <a:off x="571500" y="4076700"/>
              <a:ext cx="11049000" cy="990600"/>
            </a:xfrm>
            <a:prstGeom prst="roundRect">
              <a:avLst>
                <a:gd name="adj" fmla="val 15385"/>
              </a:avLst>
            </a:prstGeom>
            <a:solidFill>
              <a:srgbClr val="FFFFFF"/>
            </a:solidFill>
            <a:ln w="9525">
              <a:solidFill>
                <a:srgbClr val="D8E1EC"/>
              </a:solidFill>
            </a:ln>
          </p:spPr>
          <p:txBody>
            <a:bodyPr/>
            <a:p/>
          </p:txBody>
        </p:sp>
        <p:sp>
          <p:nvSpPr>
            <p:cNvPr id="74" name="Ellipse 74"/>
            <p:cNvSpPr/>
            <p:nvPr/>
          </p:nvSpPr>
          <p:spPr>
            <a:xfrm>
              <a:off x="781050" y="4362450"/>
              <a:ext cx="419100" cy="419100"/>
            </a:xfrm>
            <a:prstGeom prst="ellipse">
              <a:avLst/>
            </a:prstGeom>
            <a:solidFill>
              <a:srgbClr val="D6E6F9"/>
            </a:solidFill>
            <a:ln>
              <a:noFill/>
            </a:ln>
          </p:spPr>
          <p:txBody>
            <a:bodyPr/>
            <a:p/>
          </p:txBody>
        </p:sp>
        <p:grpSp>
          <p:nvGrpSpPr>
            <p:cNvPr id="80" name="Group 80"/>
            <p:cNvGrpSpPr/>
            <p:nvPr/>
          </p:nvGrpSpPr>
          <p:grpSpPr>
            <a:xfrm>
              <a:off x="904875" y="4486275"/>
              <a:ext cx="171450" cy="171422"/>
              <a:chOff x="904875" y="4486275"/>
              <a:chExt cx="171450" cy="171422"/>
            </a:xfrm>
          </p:grpSpPr>
          <p:sp>
            <p:nvSpPr>
              <p:cNvPr id="75" name="Freeform 75"/>
              <p:cNvSpPr/>
              <p:nvPr/>
            </p:nvSpPr>
            <p:spPr>
              <a:xfrm>
                <a:off x="942975" y="4486275"/>
                <a:ext cx="133350" cy="133350"/>
              </a:xfrm>
              <a:custGeom>
                <a:avLst/>
                <a:gdLst/>
                <a:ahLst/>
                <a:cxnLst/>
                <a:rect l="l" t="t" r="r" b="b"/>
                <a:pathLst>
                  <a:path w="133350" h="133350">
                    <a:moveTo>
                      <a:pt x="0" y="25403"/>
                    </a:moveTo>
                    <a:cubicBezTo>
                      <a:pt x="0" y="11373"/>
                      <a:pt x="11373" y="0"/>
                      <a:pt x="25403" y="0"/>
                    </a:cubicBezTo>
                    <a:lnTo>
                      <a:pt x="107947" y="0"/>
                    </a:lnTo>
                    <a:cubicBezTo>
                      <a:pt x="114684" y="0"/>
                      <a:pt x="121146" y="2676"/>
                      <a:pt x="125910" y="7440"/>
                    </a:cubicBezTo>
                    <a:cubicBezTo>
                      <a:pt x="130674" y="12204"/>
                      <a:pt x="133350" y="18666"/>
                      <a:pt x="133350" y="25403"/>
                    </a:cubicBezTo>
                    <a:lnTo>
                      <a:pt x="133350" y="107947"/>
                    </a:lnTo>
                    <a:cubicBezTo>
                      <a:pt x="133350" y="114684"/>
                      <a:pt x="130674" y="121146"/>
                      <a:pt x="125910" y="125910"/>
                    </a:cubicBezTo>
                    <a:cubicBezTo>
                      <a:pt x="121146" y="130674"/>
                      <a:pt x="114684" y="133350"/>
                      <a:pt x="107947" y="133350"/>
                    </a:cubicBezTo>
                    <a:lnTo>
                      <a:pt x="25403" y="133350"/>
                    </a:lnTo>
                    <a:cubicBezTo>
                      <a:pt x="11373" y="133350"/>
                      <a:pt x="0" y="121977"/>
                      <a:pt x="0" y="107947"/>
                    </a:cubicBezTo>
                    <a:lnTo>
                      <a:pt x="0" y="25403"/>
                    </a:lnTo>
                  </a:path>
                </a:pathLst>
              </a:custGeom>
              <a:noFill/>
              <a:ln w="19050">
                <a:solidFill>
                  <a:srgbClr val="1565D8"/>
                </a:solidFill>
              </a:ln>
            </p:spPr>
            <p:txBody>
              <a:bodyPr/>
              <a:p/>
            </p:txBody>
          </p:sp>
          <p:sp>
            <p:nvSpPr>
              <p:cNvPr id="76" name="Freeform 76"/>
              <p:cNvSpPr/>
              <p:nvPr/>
            </p:nvSpPr>
            <p:spPr>
              <a:xfrm>
                <a:off x="904875" y="4526852"/>
                <a:ext cx="128588" cy="130845"/>
              </a:xfrm>
              <a:custGeom>
                <a:avLst/>
                <a:gdLst/>
                <a:ahLst/>
                <a:cxnLst/>
                <a:rect l="l" t="t" r="r" b="b"/>
                <a:pathLst>
                  <a:path w="128588" h="130845">
                    <a:moveTo>
                      <a:pt x="9639" y="0"/>
                    </a:moveTo>
                    <a:cubicBezTo>
                      <a:pt x="3694" y="3389"/>
                      <a:pt x="17" y="9701"/>
                      <a:pt x="0" y="16545"/>
                    </a:cubicBezTo>
                    <a:lnTo>
                      <a:pt x="0" y="111795"/>
                    </a:lnTo>
                    <a:cubicBezTo>
                      <a:pt x="0" y="122272"/>
                      <a:pt x="8573" y="130845"/>
                      <a:pt x="19050" y="130845"/>
                    </a:cubicBezTo>
                    <a:lnTo>
                      <a:pt x="114300" y="130845"/>
                    </a:lnTo>
                    <a:cubicBezTo>
                      <a:pt x="121444" y="130845"/>
                      <a:pt x="125330" y="127178"/>
                      <a:pt x="128588" y="121320"/>
                    </a:cubicBezTo>
                  </a:path>
                </a:pathLst>
              </a:custGeom>
              <a:noFill/>
              <a:ln w="19050">
                <a:solidFill>
                  <a:srgbClr val="1565D8"/>
                </a:solidFill>
              </a:ln>
            </p:spPr>
            <p:txBody>
              <a:bodyPr/>
              <a:p/>
            </p:txBody>
          </p:sp>
          <p:sp>
            <p:nvSpPr>
              <p:cNvPr id="77" name="Freeform 77"/>
              <p:cNvSpPr/>
              <p:nvPr/>
            </p:nvSpPr>
            <p:spPr>
              <a:xfrm>
                <a:off x="981075" y="4524375"/>
                <a:ext cx="47625" cy="9525"/>
              </a:xfrm>
              <a:custGeom>
                <a:avLst/>
                <a:gdLst/>
                <a:ahLst/>
                <a:cxnLst/>
                <a:rect l="l" t="t" r="r" b="b"/>
                <a:pathLst>
                  <a:path w="47625" h="9525">
                    <a:moveTo>
                      <a:pt x="0" y="0"/>
                    </a:moveTo>
                    <a:lnTo>
                      <a:pt x="47625" y="0"/>
                    </a:lnTo>
                  </a:path>
                </a:pathLst>
              </a:custGeom>
              <a:noFill/>
              <a:ln w="19050">
                <a:solidFill>
                  <a:srgbClr val="1565D8"/>
                </a:solidFill>
              </a:ln>
            </p:spPr>
            <p:txBody>
              <a:bodyPr/>
              <a:p/>
            </p:txBody>
          </p:sp>
          <p:sp>
            <p:nvSpPr>
              <p:cNvPr id="78" name="Freeform 78"/>
              <p:cNvSpPr/>
              <p:nvPr/>
            </p:nvSpPr>
            <p:spPr>
              <a:xfrm>
                <a:off x="981075" y="4552950"/>
                <a:ext cx="57150" cy="9525"/>
              </a:xfrm>
              <a:custGeom>
                <a:avLst/>
                <a:gdLst/>
                <a:ahLst/>
                <a:cxnLst/>
                <a:rect l="l" t="t" r="r" b="b"/>
                <a:pathLst>
                  <a:path w="57150" h="9525">
                    <a:moveTo>
                      <a:pt x="0" y="0"/>
                    </a:moveTo>
                    <a:lnTo>
                      <a:pt x="57150" y="0"/>
                    </a:lnTo>
                  </a:path>
                </a:pathLst>
              </a:custGeom>
              <a:noFill/>
              <a:ln w="19050">
                <a:solidFill>
                  <a:srgbClr val="1565D8"/>
                </a:solidFill>
              </a:ln>
            </p:spPr>
            <p:txBody>
              <a:bodyPr/>
              <a:p/>
            </p:txBody>
          </p:sp>
          <p:sp>
            <p:nvSpPr>
              <p:cNvPr id="79" name="Freeform 79"/>
              <p:cNvSpPr/>
              <p:nvPr/>
            </p:nvSpPr>
            <p:spPr>
              <a:xfrm>
                <a:off x="981075" y="4581525"/>
                <a:ext cx="28575" cy="9525"/>
              </a:xfrm>
              <a:custGeom>
                <a:avLst/>
                <a:gdLst/>
                <a:ahLst/>
                <a:cxnLst/>
                <a:rect l="l" t="t" r="r" b="b"/>
                <a:pathLst>
                  <a:path w="28575" h="9525">
                    <a:moveTo>
                      <a:pt x="0" y="0"/>
                    </a:moveTo>
                    <a:lnTo>
                      <a:pt x="28575" y="0"/>
                    </a:lnTo>
                  </a:path>
                </a:pathLst>
              </a:custGeom>
              <a:noFill/>
              <a:ln w="19050">
                <a:solidFill>
                  <a:srgbClr val="1565D8"/>
                </a:solidFill>
              </a:ln>
            </p:spPr>
            <p:txBody>
              <a:bodyPr/>
              <a:p/>
            </p:txBody>
          </p:sp>
        </p:grpSp>
        <p:sp>
          <p:nvSpPr>
            <p:cNvPr id="81" name="TextBox 81"/>
            <p:cNvSpPr txBox="1"/>
            <p:nvPr/>
          </p:nvSpPr>
          <p:spPr>
            <a:xfrm>
              <a:off x="1335405" y="4331018"/>
              <a:ext cx="979408" cy="27432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b="1" dirty="0">
                  <a:solidFill>
                    <a:srgbClr val="2B3648"/>
                  </a:solidFill>
                  <a:latin typeface="Arial"/>
                  <a:ea typeface="Microsoft YaHei"/>
                  <a:cs typeface="Arial"/>
                </a:rPr>
                <a:t>为何便宜</a:t>
              </a:r>
            </a:p>
          </p:txBody>
        </p:sp>
        <p:sp>
          <p:nvSpPr>
            <p:cNvPr id="82" name="TextBox 82"/>
            <p:cNvSpPr txBox="1"/>
            <p:nvPr/>
          </p:nvSpPr>
          <p:spPr>
            <a:xfrm>
              <a:off x="1337310" y="4652010"/>
              <a:ext cx="5831205" cy="24384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00" dirty="0">
                  <a:solidFill>
                    <a:srgbClr val="5B6B82"/>
                  </a:solidFill>
                  <a:latin typeface="Arial"/>
                  <a:ea typeface="Microsoft YaHei"/>
                  <a:cs typeface="Arial"/>
                </a:rPr>
                <a:t>MoE 架构 + 峰谷定价 + 开源竞争——三条合力，3 年价格跌去 90%。</a:t>
              </a:r>
            </a:p>
          </p:txBody>
        </p:sp>
        <p:sp>
          <p:nvSpPr>
            <p:cNvPr id="83" name="TextBox 83"/>
            <p:cNvSpPr txBox="1"/>
            <p:nvPr/>
          </p:nvSpPr>
          <p:spPr>
            <a:xfrm>
              <a:off x="1337310" y="4899660"/>
              <a:ext cx="1150620" cy="24384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00" dirty="0">
                  <a:solidFill>
                    <a:srgbClr val="5B6B82"/>
                  </a:solidFill>
                  <a:latin typeface="Arial"/>
                  <a:ea typeface="Microsoft YaHei"/>
                  <a:cs typeface="Arial"/>
                </a:rPr>
                <a:t>门槛已经很低了。</a:t>
              </a:r>
            </a:p>
          </p:txBody>
        </p:sp>
      </p:grpSp>
      <p:grpSp>
        <p:nvGrpSpPr>
          <p:cNvPr id="88" name="Group 88"/>
          <p:cNvGrpSpPr/>
          <p:nvPr/>
        </p:nvGrpSpPr>
        <p:grpSpPr>
          <a:xfrm>
            <a:off x="571500" y="5295900"/>
            <a:ext cx="11049000" cy="457200"/>
            <a:chOff x="571500" y="5295900"/>
            <a:chExt cx="11049000" cy="457200"/>
          </a:xfrm>
        </p:grpSpPr>
        <p:sp>
          <p:nvSpPr>
            <p:cNvPr id="85" name="Rectangle 85"/>
            <p:cNvSpPr/>
            <p:nvPr/>
          </p:nvSpPr>
          <p:spPr>
            <a:xfrm>
              <a:off x="571500" y="5295900"/>
              <a:ext cx="11049000" cy="457200"/>
            </a:xfrm>
            <a:prstGeom prst="roundRect">
              <a:avLst>
                <a:gd name="adj" fmla="val 33333"/>
              </a:avLst>
            </a:prstGeom>
            <a:solidFill>
              <a:srgbClr val="D6E6F9"/>
            </a:solidFill>
            <a:ln>
              <a:noFill/>
            </a:ln>
          </p:spPr>
          <p:txBody>
            <a:bodyPr/>
            <a:p/>
          </p:txBody>
        </p:sp>
        <p:sp>
          <p:nvSpPr>
            <p:cNvPr id="86" name="Rectangle 86"/>
            <p:cNvSpPr/>
            <p:nvPr/>
          </p:nvSpPr>
          <p:spPr>
            <a:xfrm>
              <a:off x="571500" y="5295900"/>
              <a:ext cx="76200" cy="457200"/>
            </a:xfrm>
            <a:prstGeom prst="roundRect">
              <a:avLst>
                <a:gd name="adj" fmla="val 50000"/>
              </a:avLst>
            </a:prstGeom>
            <a:solidFill>
              <a:srgbClr val="1565D8"/>
            </a:solidFill>
            <a:ln>
              <a:noFill/>
            </a:ln>
          </p:spPr>
          <p:txBody>
            <a:bodyPr/>
            <a:p/>
          </p:txBody>
        </p:sp>
        <p:sp>
          <p:nvSpPr>
            <p:cNvPr id="87" name="TextBox 87"/>
            <p:cNvSpPr txBox="1"/>
            <p:nvPr/>
          </p:nvSpPr>
          <p:spPr>
            <a:xfrm>
              <a:off x="859155" y="5445442"/>
              <a:ext cx="3625739" cy="27432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b="1" dirty="0">
                  <a:solidFill>
                    <a:srgbClr val="0B4EA2"/>
                  </a:solidFill>
                  <a:latin typeface="Arial"/>
                  <a:ea typeface="Microsoft YaHei"/>
                  <a:cs typeface="Arial"/>
                </a:rPr>
                <a:t>口诀：先用免费档练手，主力任务再上付费——先算账，再谈落地。</a:t>
              </a:r>
            </a:p>
          </p:txBody>
        </p:sp>
      </p:grpSp>
      <p:grpSp>
        <p:nvGrpSpPr>
          <p:cNvPr id="91" name="Group 91"/>
          <p:cNvGrpSpPr/>
          <p:nvPr/>
        </p:nvGrpSpPr>
        <p:grpSpPr>
          <a:xfrm>
            <a:off x="560070" y="6341745"/>
            <a:ext cx="11071860" cy="182880"/>
            <a:chOff x="560070" y="6341745"/>
            <a:chExt cx="11071860" cy="182880"/>
          </a:xfrm>
        </p:grpSpPr>
        <p:sp>
          <p:nvSpPr>
            <p:cNvPr id="89" name="TextBox 89"/>
            <p:cNvSpPr txBox="1"/>
            <p:nvPr/>
          </p:nvSpPr>
          <p:spPr>
            <a:xfrm>
              <a:off x="560070" y="6341745"/>
              <a:ext cx="1054989" cy="18288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00" dirty="0">
                  <a:solidFill>
                    <a:srgbClr val="8B99AE"/>
                  </a:solidFill>
                  <a:latin typeface="Arial"/>
                  <a:ea typeface="Microsoft YaHei"/>
                  <a:cs typeface="Arial"/>
                </a:rPr>
                <a:t>大模型通识 · 企业版</a:t>
              </a:r>
            </a:p>
          </p:txBody>
        </p:sp>
        <p:sp>
          <p:nvSpPr>
            <p:cNvPr id="90" name="TextBox 90"/>
            <p:cNvSpPr txBox="1"/>
            <p:nvPr/>
          </p:nvSpPr>
          <p:spPr>
            <a:xfrm>
              <a:off x="11207020" y="6341745"/>
              <a:ext cx="424910" cy="18288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r"/>
              <a:r>
                <a:rPr lang="zh-CN" sz="900" dirty="0">
                  <a:solidFill>
                    <a:srgbClr val="8B99AE"/>
                  </a:solidFill>
                  <a:latin typeface="Arial"/>
                  <a:ea typeface="Microsoft YaHei"/>
                  <a:cs typeface="Arial"/>
                </a:rPr>
                <a:t>29 / 51</a:t>
              </a:r>
            </a:p>
          </p:txBody>
        </p:sp>
      </p:grp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grpSp>
        <p:nvGrpSpPr>
          <p:cNvPr id="5" name="Group 5"/>
          <p:cNvGrpSpPr/>
          <p:nvPr/>
        </p:nvGrpSpPr>
        <p:grpSpPr>
          <a:xfrm>
            <a:off x="0" y="0"/>
            <a:ext cx="14192250" cy="8953500"/>
            <a:chOff x="0" y="0"/>
            <a:chExt cx="14192250" cy="8953500"/>
          </a:xfrm>
        </p:grpSpPr>
        <p:sp>
          <p:nvSpPr>
            <p:cNvPr id="2" name="Rectangle 2"/>
            <p:cNvSpPr/>
            <p:nvPr/>
          </p:nvSpPr>
          <p:spPr>
            <a:xfrm>
              <a:off x="0" y="0"/>
              <a:ext cx="12192000" cy="6858000"/>
            </a:xfrm>
            <a:prstGeom prst="rect">
              <a:avLst/>
            </a:prstGeom>
            <a:solidFill>
              <a:srgbClr val="F5F7FA"/>
            </a:solidFill>
            <a:ln>
              <a:noFill/>
            </a:ln>
          </p:spPr>
          <p:txBody>
            <a:bodyPr/>
            <a:p/>
          </p:txBody>
        </p:sp>
        <p:sp>
          <p:nvSpPr>
            <p:cNvPr id="3" name="Rectangle 3"/>
            <p:cNvSpPr/>
            <p:nvPr/>
          </p:nvSpPr>
          <p:spPr>
            <a:xfrm>
              <a:off x="0" y="0"/>
              <a:ext cx="12192000" cy="6858000"/>
            </a:xfrm>
            <a:prstGeom prst="rect">
              <a:avLst/>
            </a:prstGeom>
            <a:gradFill>
              <a:gsLst>
                <a:gs pos="0">
                  <a:srgbClr val="1565D8">
                    <a:alpha val="6000"/>
                  </a:srgbClr>
                </a:gs>
                <a:gs pos="100000">
                  <a:srgbClr val="1565D8">
                    <a:alpha val="0"/>
                  </a:srgbClr>
                </a:gs>
              </a:gsLst>
              <a:path path="circle">
                <a:fillToRect l="50000" t="50000" r="50000" b="50000"/>
              </a:path>
            </a:gradFill>
            <a:ln>
              <a:noFill/>
            </a:ln>
          </p:spPr>
          <p:txBody>
            <a:bodyPr/>
            <a:p/>
          </p:txBody>
        </p:sp>
        <p:sp>
          <p:nvSpPr>
            <p:cNvPr id="4" name="Ellipse 4"/>
            <p:cNvSpPr/>
            <p:nvPr/>
          </p:nvSpPr>
          <p:spPr>
            <a:xfrm>
              <a:off x="9620250" y="4381500"/>
              <a:ext cx="4572000" cy="4572000"/>
            </a:xfrm>
            <a:prstGeom prst="ellipse">
              <a:avLst/>
            </a:prstGeom>
            <a:noFill/>
            <a:ln w="14288">
              <a:solidFill>
                <a:srgbClr val="D6E6F9">
                  <a:alpha val="80000"/>
                </a:srgbClr>
              </a:solidFill>
            </a:ln>
          </p:spPr>
          <p:txBody>
            <a:bodyPr/>
            <a:p/>
          </p:txBody>
        </p:sp>
      </p:grpSp>
      <p:grpSp>
        <p:nvGrpSpPr>
          <p:cNvPr id="9" name="Group 9"/>
          <p:cNvGrpSpPr/>
          <p:nvPr/>
        </p:nvGrpSpPr>
        <p:grpSpPr>
          <a:xfrm>
            <a:off x="571500" y="685800"/>
            <a:ext cx="6924580" cy="700088"/>
            <a:chOff x="571500" y="685800"/>
            <a:chExt cx="6924580" cy="700088"/>
          </a:xfrm>
        </p:grpSpPr>
        <p:sp>
          <p:nvSpPr>
            <p:cNvPr id="6" name="Rectangle 6"/>
            <p:cNvSpPr/>
            <p:nvPr/>
          </p:nvSpPr>
          <p:spPr>
            <a:xfrm>
              <a:off x="571500" y="685800"/>
              <a:ext cx="76200" cy="323850"/>
            </a:xfrm>
            <a:prstGeom prst="roundRect">
              <a:avLst>
                <a:gd name="adj" fmla="val 50000"/>
              </a:avLst>
            </a:prstGeom>
            <a:solidFill>
              <a:srgbClr val="1565D8"/>
            </a:solidFill>
            <a:ln>
              <a:noFill/>
            </a:ln>
          </p:spPr>
          <p:txBody>
            <a:bodyPr/>
            <a:p/>
          </p:txBody>
        </p:sp>
        <p:sp>
          <p:nvSpPr>
            <p:cNvPr id="7" name="TextBox 7"/>
            <p:cNvSpPr txBox="1"/>
            <p:nvPr/>
          </p:nvSpPr>
          <p:spPr>
            <a:xfrm>
              <a:off x="771525" y="700088"/>
              <a:ext cx="4152662" cy="45720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2250" b="1" dirty="0">
                  <a:solidFill>
                    <a:srgbClr val="2B3648"/>
                  </a:solidFill>
                  <a:latin typeface="Arial"/>
                  <a:ea typeface="Microsoft YaHei"/>
                  <a:cs typeface="Arial"/>
                </a:rPr>
                <a:t>AI 到底省多少事</a:t>
              </a:r>
            </a:p>
          </p:txBody>
        </p:sp>
        <p:sp>
          <p:nvSpPr>
            <p:cNvPr id="8" name="TextBox 8"/>
            <p:cNvSpPr txBox="1"/>
            <p:nvPr/>
          </p:nvSpPr>
          <p:spPr>
            <a:xfrm>
              <a:off x="782955" y="1111568"/>
              <a:ext cx="6713125" cy="27432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5B6B82"/>
                  </a:solidFill>
                  <a:latin typeface="Arial"/>
                  <a:ea typeface="Microsoft YaHei"/>
                  <a:cs typeface="Arial"/>
                </a:rPr>
                <a:t>和算钱一样算账：省的是加班，赚的是时间</a:t>
              </a:r>
            </a:p>
          </p:txBody>
        </p:sp>
      </p:grpSp>
      <p:grpSp>
        <p:nvGrpSpPr>
          <p:cNvPr id="14" name="Group 14"/>
          <p:cNvGrpSpPr/>
          <p:nvPr/>
        </p:nvGrpSpPr>
        <p:grpSpPr>
          <a:xfrm>
            <a:off x="2552700" y="2209800"/>
            <a:ext cx="6362700" cy="1"/>
            <a:chOff x="2552700" y="2209800"/>
            <a:chExt cx="6362700" cy="1"/>
          </a:xfrm>
        </p:grpSpPr>
        <p:sp>
          <p:nvSpPr>
            <p:cNvPr id="10" name="Line 10"/>
            <p:cNvSpPr/>
            <p:nvPr/>
          </p:nvSpPr>
          <p:spPr>
            <a:xfrm>
              <a:off x="2552700" y="2209800"/>
              <a:ext cx="190500" cy="1"/>
            </a:xfrm>
            <a:prstGeom prst="line">
              <a:avLst/>
            </a:prstGeom>
            <a:noFill/>
            <a:ln w="23812">
              <a:solidFill>
                <a:srgbClr val="1565D8"/>
              </a:solidFill>
              <a:tailEnd type="triangle" w="lg" len="lg"/>
            </a:ln>
          </p:spPr>
          <p:txBody>
            <a:bodyPr/>
            <a:p/>
          </p:txBody>
        </p:sp>
        <p:sp>
          <p:nvSpPr>
            <p:cNvPr id="11" name="Line 11"/>
            <p:cNvSpPr/>
            <p:nvPr/>
          </p:nvSpPr>
          <p:spPr>
            <a:xfrm>
              <a:off x="4610100" y="2209800"/>
              <a:ext cx="190500" cy="1"/>
            </a:xfrm>
            <a:prstGeom prst="line">
              <a:avLst/>
            </a:prstGeom>
            <a:noFill/>
            <a:ln w="23812">
              <a:solidFill>
                <a:srgbClr val="1565D8"/>
              </a:solidFill>
              <a:tailEnd type="triangle" w="lg" len="lg"/>
            </a:ln>
          </p:spPr>
          <p:txBody>
            <a:bodyPr/>
            <a:p/>
          </p:txBody>
        </p:sp>
        <p:sp>
          <p:nvSpPr>
            <p:cNvPr id="12" name="Line 12"/>
            <p:cNvSpPr/>
            <p:nvPr/>
          </p:nvSpPr>
          <p:spPr>
            <a:xfrm>
              <a:off x="6667500" y="2209800"/>
              <a:ext cx="190500" cy="1"/>
            </a:xfrm>
            <a:prstGeom prst="line">
              <a:avLst/>
            </a:prstGeom>
            <a:noFill/>
            <a:ln w="23812">
              <a:solidFill>
                <a:srgbClr val="1565D8"/>
              </a:solidFill>
              <a:tailEnd type="triangle" w="lg" len="lg"/>
            </a:ln>
          </p:spPr>
          <p:txBody>
            <a:bodyPr/>
            <a:p/>
          </p:txBody>
        </p:sp>
        <p:sp>
          <p:nvSpPr>
            <p:cNvPr id="13" name="Line 13"/>
            <p:cNvSpPr/>
            <p:nvPr/>
          </p:nvSpPr>
          <p:spPr>
            <a:xfrm>
              <a:off x="8724900" y="2209800"/>
              <a:ext cx="190500" cy="1"/>
            </a:xfrm>
            <a:prstGeom prst="line">
              <a:avLst/>
            </a:prstGeom>
            <a:noFill/>
            <a:ln w="23812">
              <a:solidFill>
                <a:srgbClr val="1565D8"/>
              </a:solidFill>
              <a:tailEnd type="triangle" w="lg" len="lg"/>
            </a:ln>
          </p:spPr>
          <p:txBody>
            <a:bodyPr/>
            <a:p/>
          </p:txBody>
        </p:sp>
      </p:grpSp>
      <p:grpSp>
        <p:nvGrpSpPr>
          <p:cNvPr id="26" name="Group 26"/>
          <p:cNvGrpSpPr/>
          <p:nvPr/>
        </p:nvGrpSpPr>
        <p:grpSpPr>
          <a:xfrm>
            <a:off x="571500" y="1962150"/>
            <a:ext cx="1905000" cy="1847850"/>
            <a:chOff x="571500" y="1962150"/>
            <a:chExt cx="1905000" cy="1847850"/>
          </a:xfrm>
        </p:grpSpPr>
        <p:sp>
          <p:nvSpPr>
            <p:cNvPr id="15" name="Ellipse 15"/>
            <p:cNvSpPr/>
            <p:nvPr/>
          </p:nvSpPr>
          <p:spPr>
            <a:xfrm>
              <a:off x="1333500" y="1962150"/>
              <a:ext cx="495300" cy="495300"/>
            </a:xfrm>
            <a:prstGeom prst="ellipse">
              <a:avLst/>
            </a:prstGeom>
            <a:solidFill>
              <a:srgbClr val="35A3E8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6" name="TextBox 16"/>
            <p:cNvSpPr txBox="1"/>
            <p:nvPr/>
          </p:nvSpPr>
          <p:spPr>
            <a:xfrm>
              <a:off x="1512024" y="2140268"/>
              <a:ext cx="138253" cy="27432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350" b="1" dirty="0">
                  <a:solidFill>
                    <a:srgbClr val="FFFFFF"/>
                  </a:solidFill>
                  <a:latin typeface="Arial"/>
                  <a:ea typeface="Microsoft YaHei"/>
                  <a:cs typeface="Arial"/>
                </a:rPr>
                <a:t>①</a:t>
              </a:r>
            </a:p>
          </p:txBody>
        </p:sp>
        <p:sp>
          <p:nvSpPr>
            <p:cNvPr id="17" name="Rectangle 17"/>
            <p:cNvSpPr/>
            <p:nvPr/>
          </p:nvSpPr>
          <p:spPr>
            <a:xfrm>
              <a:off x="571500" y="2571750"/>
              <a:ext cx="1905000" cy="1238250"/>
            </a:xfrm>
            <a:prstGeom prst="roundRect">
              <a:avLst>
                <a:gd name="adj" fmla="val 12308"/>
              </a:avLst>
            </a:prstGeom>
            <a:solidFill>
              <a:srgbClr val="FFFFFF"/>
            </a:solidFill>
            <a:ln w="9525">
              <a:solidFill>
                <a:srgbClr val="D8E1EC"/>
              </a:solidFill>
            </a:ln>
          </p:spPr>
          <p:txBody>
            <a:bodyPr/>
            <a:p/>
          </p:txBody>
        </p:sp>
        <p:sp>
          <p:nvSpPr>
            <p:cNvPr id="18" name="Ellipse 18"/>
            <p:cNvSpPr/>
            <p:nvPr/>
          </p:nvSpPr>
          <p:spPr>
            <a:xfrm>
              <a:off x="1352550" y="2762250"/>
              <a:ext cx="342900" cy="342900"/>
            </a:xfrm>
            <a:prstGeom prst="ellipse">
              <a:avLst/>
            </a:prstGeom>
            <a:solidFill>
              <a:srgbClr val="D6E6F9"/>
            </a:solidFill>
            <a:ln>
              <a:noFill/>
            </a:ln>
          </p:spPr>
          <p:txBody>
            <a:bodyPr/>
            <a:p/>
          </p:txBody>
        </p:sp>
        <p:grpSp>
          <p:nvGrpSpPr>
            <p:cNvPr id="23" name="Group 23"/>
            <p:cNvGrpSpPr/>
            <p:nvPr/>
          </p:nvGrpSpPr>
          <p:grpSpPr>
            <a:xfrm>
              <a:off x="1468438" y="2862262"/>
              <a:ext cx="111125" cy="142875"/>
              <a:chOff x="1468438" y="2862262"/>
              <a:chExt cx="111125" cy="142875"/>
            </a:xfrm>
          </p:grpSpPr>
          <p:sp>
            <p:nvSpPr>
              <p:cNvPr id="19" name="Freeform 19"/>
              <p:cNvSpPr/>
              <p:nvPr/>
            </p:nvSpPr>
            <p:spPr>
              <a:xfrm>
                <a:off x="1539875" y="2862262"/>
                <a:ext cx="39688" cy="39688"/>
              </a:xfrm>
              <a:custGeom>
                <a:avLst/>
                <a:gdLst/>
                <a:ahLst/>
                <a:cxnLst/>
                <a:rect l="l" t="t" r="r" b="b"/>
                <a:pathLst>
                  <a:path w="39688" h="39688">
                    <a:moveTo>
                      <a:pt x="0" y="0"/>
                    </a:moveTo>
                    <a:lnTo>
                      <a:pt x="0" y="31750"/>
                    </a:lnTo>
                    <a:cubicBezTo>
                      <a:pt x="0" y="36134"/>
                      <a:pt x="3554" y="39688"/>
                      <a:pt x="7938" y="39688"/>
                    </a:cubicBezTo>
                    <a:lnTo>
                      <a:pt x="39688" y="39688"/>
                    </a:lnTo>
                  </a:path>
                </a:pathLst>
              </a:custGeom>
              <a:noFill/>
              <a:ln w="19050">
                <a:solidFill>
                  <a:srgbClr val="1565D8"/>
                </a:solidFill>
              </a:ln>
            </p:spPr>
            <p:txBody>
              <a:bodyPr/>
              <a:p/>
            </p:txBody>
          </p:sp>
          <p:sp>
            <p:nvSpPr>
              <p:cNvPr id="20" name="Freeform 20"/>
              <p:cNvSpPr/>
              <p:nvPr/>
            </p:nvSpPr>
            <p:spPr>
              <a:xfrm>
                <a:off x="1468438" y="2862262"/>
                <a:ext cx="111125" cy="142875"/>
              </a:xfrm>
              <a:custGeom>
                <a:avLst/>
                <a:gdLst/>
                <a:ahLst/>
                <a:cxnLst/>
                <a:rect l="l" t="t" r="r" b="b"/>
                <a:pathLst>
                  <a:path w="111125" h="142875">
                    <a:moveTo>
                      <a:pt x="95250" y="142875"/>
                    </a:moveTo>
                    <a:lnTo>
                      <a:pt x="15875" y="142875"/>
                    </a:lnTo>
                    <a:cubicBezTo>
                      <a:pt x="7107" y="142875"/>
                      <a:pt x="0" y="135768"/>
                      <a:pt x="0" y="127000"/>
                    </a:cubicBezTo>
                    <a:lnTo>
                      <a:pt x="0" y="15875"/>
                    </a:lnTo>
                    <a:cubicBezTo>
                      <a:pt x="0" y="7107"/>
                      <a:pt x="7107" y="0"/>
                      <a:pt x="15875" y="0"/>
                    </a:cubicBezTo>
                    <a:lnTo>
                      <a:pt x="71438" y="0"/>
                    </a:lnTo>
                    <a:lnTo>
                      <a:pt x="111125" y="39688"/>
                    </a:lnTo>
                    <a:lnTo>
                      <a:pt x="111125" y="127000"/>
                    </a:lnTo>
                    <a:cubicBezTo>
                      <a:pt x="111125" y="135768"/>
                      <a:pt x="104018" y="142875"/>
                      <a:pt x="95250" y="142875"/>
                    </a:cubicBezTo>
                  </a:path>
                </a:pathLst>
              </a:custGeom>
              <a:noFill/>
              <a:ln w="19050">
                <a:solidFill>
                  <a:srgbClr val="1565D8"/>
                </a:solidFill>
              </a:ln>
            </p:spPr>
            <p:txBody>
              <a:bodyPr/>
              <a:p/>
            </p:txBody>
          </p:sp>
          <p:sp>
            <p:nvSpPr>
              <p:cNvPr id="21" name="Freeform 21"/>
              <p:cNvSpPr/>
              <p:nvPr/>
            </p:nvSpPr>
            <p:spPr>
              <a:xfrm>
                <a:off x="1524000" y="2925762"/>
                <a:ext cx="9525" cy="47625"/>
              </a:xfrm>
              <a:custGeom>
                <a:avLst/>
                <a:gdLst/>
                <a:ahLst/>
                <a:cxnLst/>
                <a:rect l="l" t="t" r="r" b="b"/>
                <a:pathLst>
                  <a:path w="9525" h="47625">
                    <a:moveTo>
                      <a:pt x="0" y="0"/>
                    </a:moveTo>
                    <a:lnTo>
                      <a:pt x="0" y="47625"/>
                    </a:lnTo>
                  </a:path>
                </a:pathLst>
              </a:custGeom>
              <a:noFill/>
              <a:ln w="19050">
                <a:solidFill>
                  <a:srgbClr val="1565D8"/>
                </a:solidFill>
              </a:ln>
            </p:spPr>
            <p:txBody>
              <a:bodyPr/>
              <a:p/>
            </p:txBody>
          </p:sp>
          <p:sp>
            <p:nvSpPr>
              <p:cNvPr id="22" name="Freeform 22"/>
              <p:cNvSpPr/>
              <p:nvPr/>
            </p:nvSpPr>
            <p:spPr>
              <a:xfrm>
                <a:off x="1504156" y="2925762"/>
                <a:ext cx="39688" cy="19844"/>
              </a:xfrm>
              <a:custGeom>
                <a:avLst/>
                <a:gdLst/>
                <a:ahLst/>
                <a:cxnLst/>
                <a:rect l="l" t="t" r="r" b="b"/>
                <a:pathLst>
                  <a:path w="39688" h="19844">
                    <a:moveTo>
                      <a:pt x="0" y="19844"/>
                    </a:moveTo>
                    <a:lnTo>
                      <a:pt x="19844" y="0"/>
                    </a:lnTo>
                    <a:lnTo>
                      <a:pt x="39688" y="19844"/>
                    </a:lnTo>
                  </a:path>
                </a:pathLst>
              </a:custGeom>
              <a:noFill/>
              <a:ln w="19050">
                <a:solidFill>
                  <a:srgbClr val="1565D8"/>
                </a:solidFill>
              </a:ln>
            </p:spPr>
            <p:txBody>
              <a:bodyPr/>
              <a:p/>
            </p:txBody>
          </p:sp>
        </p:grpSp>
        <p:sp>
          <p:nvSpPr>
            <p:cNvPr id="24" name="TextBox 24"/>
            <p:cNvSpPr txBox="1"/>
            <p:nvPr/>
          </p:nvSpPr>
          <p:spPr>
            <a:xfrm>
              <a:off x="1128808" y="3207068"/>
              <a:ext cx="790384" cy="27432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350" b="1" dirty="0">
                  <a:solidFill>
                    <a:srgbClr val="2B3648"/>
                  </a:solidFill>
                  <a:latin typeface="Arial"/>
                  <a:ea typeface="Microsoft YaHei"/>
                  <a:cs typeface="Arial"/>
                </a:rPr>
                <a:t>行政 · 纪要</a:t>
              </a:r>
            </a:p>
          </p:txBody>
        </p:sp>
        <p:sp>
          <p:nvSpPr>
            <p:cNvPr id="25" name="TextBox 25"/>
            <p:cNvSpPr txBox="1"/>
            <p:nvPr/>
          </p:nvSpPr>
          <p:spPr>
            <a:xfrm>
              <a:off x="972050" y="3514249"/>
              <a:ext cx="1103900" cy="19812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975" dirty="0">
                  <a:solidFill>
                    <a:srgbClr val="8B99AE"/>
                  </a:solidFill>
                  <a:latin typeface="Arial"/>
                  <a:ea typeface="Microsoft YaHei"/>
                  <a:cs typeface="Arial"/>
                </a:rPr>
                <a:t>AI 出初稿 2 分钟，你 3 分钟终审——省 30 分钟/天</a:t>
              </a:r>
            </a:p>
          </p:txBody>
        </p:sp>
      </p:grpSp>
      <p:grpSp>
        <p:nvGrpSpPr>
          <p:cNvPr id="39" name="Group 39"/>
          <p:cNvGrpSpPr/>
          <p:nvPr/>
        </p:nvGrpSpPr>
        <p:grpSpPr>
          <a:xfrm>
            <a:off x="2628900" y="1962150"/>
            <a:ext cx="1905000" cy="1847850"/>
            <a:chOff x="2628900" y="1962150"/>
            <a:chExt cx="1905000" cy="1847850"/>
          </a:xfrm>
        </p:grpSpPr>
        <p:sp>
          <p:nvSpPr>
            <p:cNvPr id="27" name="Ellipse 27"/>
            <p:cNvSpPr/>
            <p:nvPr/>
          </p:nvSpPr>
          <p:spPr>
            <a:xfrm>
              <a:off x="3390900" y="1962150"/>
              <a:ext cx="495300" cy="495300"/>
            </a:xfrm>
            <a:prstGeom prst="ellipse">
              <a:avLst/>
            </a:prstGeom>
            <a:solidFill>
              <a:srgbClr val="1565D8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8" name="TextBox 28"/>
            <p:cNvSpPr txBox="1"/>
            <p:nvPr/>
          </p:nvSpPr>
          <p:spPr>
            <a:xfrm>
              <a:off x="3569424" y="2140268"/>
              <a:ext cx="138253" cy="27432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350" b="1" dirty="0">
                  <a:solidFill>
                    <a:srgbClr val="FFFFFF"/>
                  </a:solidFill>
                  <a:latin typeface="Arial"/>
                  <a:ea typeface="Microsoft YaHei"/>
                  <a:cs typeface="Arial"/>
                </a:rPr>
                <a:t>②</a:t>
              </a:r>
            </a:p>
          </p:txBody>
        </p:sp>
        <p:sp>
          <p:nvSpPr>
            <p:cNvPr id="29" name="Rectangle 29"/>
            <p:cNvSpPr/>
            <p:nvPr/>
          </p:nvSpPr>
          <p:spPr>
            <a:xfrm>
              <a:off x="2628900" y="2571750"/>
              <a:ext cx="1905000" cy="1238250"/>
            </a:xfrm>
            <a:prstGeom prst="roundRect">
              <a:avLst>
                <a:gd name="adj" fmla="val 12308"/>
              </a:avLst>
            </a:prstGeom>
            <a:solidFill>
              <a:srgbClr val="FFFFFF"/>
            </a:solidFill>
            <a:ln w="9525">
              <a:solidFill>
                <a:srgbClr val="D8E1EC"/>
              </a:solidFill>
            </a:ln>
          </p:spPr>
          <p:txBody>
            <a:bodyPr/>
            <a:p/>
          </p:txBody>
        </p:sp>
        <p:sp>
          <p:nvSpPr>
            <p:cNvPr id="30" name="Ellipse 30"/>
            <p:cNvSpPr/>
            <p:nvPr/>
          </p:nvSpPr>
          <p:spPr>
            <a:xfrm>
              <a:off x="3409950" y="2762250"/>
              <a:ext cx="342900" cy="342900"/>
            </a:xfrm>
            <a:prstGeom prst="ellipse">
              <a:avLst/>
            </a:prstGeom>
            <a:solidFill>
              <a:srgbClr val="D6E6F9"/>
            </a:solidFill>
            <a:ln>
              <a:noFill/>
            </a:ln>
          </p:spPr>
          <p:txBody>
            <a:bodyPr/>
            <a:p/>
          </p:txBody>
        </p:sp>
        <p:grpSp>
          <p:nvGrpSpPr>
            <p:cNvPr id="36" name="Group 36"/>
            <p:cNvGrpSpPr/>
            <p:nvPr/>
          </p:nvGrpSpPr>
          <p:grpSpPr>
            <a:xfrm>
              <a:off x="3509962" y="2873314"/>
              <a:ext cx="152401" cy="115948"/>
              <a:chOff x="3509962" y="2873314"/>
              <a:chExt cx="152401" cy="115948"/>
            </a:xfrm>
          </p:grpSpPr>
          <p:sp>
            <p:nvSpPr>
              <p:cNvPr id="31" name="Freeform 31"/>
              <p:cNvSpPr/>
              <p:nvPr/>
            </p:nvSpPr>
            <p:spPr>
              <a:xfrm>
                <a:off x="3509962" y="2976501"/>
                <a:ext cx="142875" cy="12761"/>
              </a:xfrm>
              <a:custGeom>
                <a:avLst/>
                <a:gdLst/>
                <a:ahLst/>
                <a:cxnLst/>
                <a:rect l="l" t="t" r="r" b="b"/>
                <a:pathLst>
                  <a:path w="142875" h="12761">
                    <a:moveTo>
                      <a:pt x="0" y="12761"/>
                    </a:moveTo>
                    <a:cubicBezTo>
                      <a:pt x="22103" y="0"/>
                      <a:pt x="49335" y="0"/>
                      <a:pt x="71438" y="12761"/>
                    </a:cubicBezTo>
                    <a:cubicBezTo>
                      <a:pt x="93540" y="0"/>
                      <a:pt x="120772" y="0"/>
                      <a:pt x="142875" y="12761"/>
                    </a:cubicBezTo>
                  </a:path>
                </a:pathLst>
              </a:custGeom>
              <a:noFill/>
              <a:ln w="19050">
                <a:solidFill>
                  <a:srgbClr val="1565D8"/>
                </a:solidFill>
              </a:ln>
            </p:spPr>
            <p:txBody>
              <a:bodyPr/>
              <a:p/>
            </p:txBody>
          </p:sp>
          <p:sp>
            <p:nvSpPr>
              <p:cNvPr id="32" name="Freeform 32"/>
              <p:cNvSpPr/>
              <p:nvPr/>
            </p:nvSpPr>
            <p:spPr>
              <a:xfrm>
                <a:off x="3509962" y="2873314"/>
                <a:ext cx="142875" cy="12761"/>
              </a:xfrm>
              <a:custGeom>
                <a:avLst/>
                <a:gdLst/>
                <a:ahLst/>
                <a:cxnLst/>
                <a:rect l="l" t="t" r="r" b="b"/>
                <a:pathLst>
                  <a:path w="142875" h="12761">
                    <a:moveTo>
                      <a:pt x="0" y="12761"/>
                    </a:moveTo>
                    <a:cubicBezTo>
                      <a:pt x="22103" y="0"/>
                      <a:pt x="49335" y="0"/>
                      <a:pt x="71438" y="12761"/>
                    </a:cubicBezTo>
                    <a:cubicBezTo>
                      <a:pt x="93540" y="0"/>
                      <a:pt x="120772" y="0"/>
                      <a:pt x="142875" y="12761"/>
                    </a:cubicBezTo>
                  </a:path>
                </a:pathLst>
              </a:custGeom>
              <a:noFill/>
              <a:ln w="19050">
                <a:solidFill>
                  <a:srgbClr val="1565D8"/>
                </a:solidFill>
              </a:ln>
            </p:spPr>
            <p:txBody>
              <a:bodyPr/>
              <a:p/>
            </p:txBody>
          </p:sp>
          <p:sp>
            <p:nvSpPr>
              <p:cNvPr id="33" name="Freeform 33"/>
              <p:cNvSpPr/>
              <p:nvPr/>
            </p:nvSpPr>
            <p:spPr>
              <a:xfrm>
                <a:off x="3509962" y="2886075"/>
                <a:ext cx="9525" cy="103187"/>
              </a:xfrm>
              <a:custGeom>
                <a:avLst/>
                <a:gdLst/>
                <a:ahLst/>
                <a:cxnLst/>
                <a:rect l="l" t="t" r="r" b="b"/>
                <a:pathLst>
                  <a:path w="9525" h="103187">
                    <a:moveTo>
                      <a:pt x="0" y="0"/>
                    </a:moveTo>
                    <a:lnTo>
                      <a:pt x="0" y="103187"/>
                    </a:lnTo>
                  </a:path>
                </a:pathLst>
              </a:custGeom>
              <a:noFill/>
              <a:ln w="19050">
                <a:solidFill>
                  <a:srgbClr val="1565D8"/>
                </a:solidFill>
              </a:ln>
            </p:spPr>
            <p:txBody>
              <a:bodyPr/>
              <a:p/>
            </p:txBody>
          </p:sp>
          <p:sp>
            <p:nvSpPr>
              <p:cNvPr id="34" name="Freeform 34"/>
              <p:cNvSpPr/>
              <p:nvPr/>
            </p:nvSpPr>
            <p:spPr>
              <a:xfrm>
                <a:off x="3581400" y="2886075"/>
                <a:ext cx="9525" cy="103187"/>
              </a:xfrm>
              <a:custGeom>
                <a:avLst/>
                <a:gdLst/>
                <a:ahLst/>
                <a:cxnLst/>
                <a:rect l="l" t="t" r="r" b="b"/>
                <a:pathLst>
                  <a:path w="9525" h="103187">
                    <a:moveTo>
                      <a:pt x="0" y="0"/>
                    </a:moveTo>
                    <a:lnTo>
                      <a:pt x="0" y="103187"/>
                    </a:lnTo>
                  </a:path>
                </a:pathLst>
              </a:custGeom>
              <a:noFill/>
              <a:ln w="19050">
                <a:solidFill>
                  <a:srgbClr val="1565D8"/>
                </a:solidFill>
              </a:ln>
            </p:spPr>
            <p:txBody>
              <a:bodyPr/>
              <a:p/>
            </p:txBody>
          </p:sp>
          <p:sp>
            <p:nvSpPr>
              <p:cNvPr id="35" name="Freeform 35"/>
              <p:cNvSpPr/>
              <p:nvPr/>
            </p:nvSpPr>
            <p:spPr>
              <a:xfrm>
                <a:off x="3652838" y="2886075"/>
                <a:ext cx="9525" cy="103187"/>
              </a:xfrm>
              <a:custGeom>
                <a:avLst/>
                <a:gdLst/>
                <a:ahLst/>
                <a:cxnLst/>
                <a:rect l="l" t="t" r="r" b="b"/>
                <a:pathLst>
                  <a:path w="9525" h="103187">
                    <a:moveTo>
                      <a:pt x="0" y="0"/>
                    </a:moveTo>
                    <a:lnTo>
                      <a:pt x="0" y="103187"/>
                    </a:lnTo>
                  </a:path>
                </a:pathLst>
              </a:custGeom>
              <a:noFill/>
              <a:ln w="19050">
                <a:solidFill>
                  <a:srgbClr val="1565D8"/>
                </a:solidFill>
              </a:ln>
            </p:spPr>
            <p:txBody>
              <a:bodyPr/>
              <a:p/>
            </p:txBody>
          </p:sp>
        </p:grpSp>
        <p:sp>
          <p:nvSpPr>
            <p:cNvPr id="37" name="TextBox 37"/>
            <p:cNvSpPr txBox="1"/>
            <p:nvPr/>
          </p:nvSpPr>
          <p:spPr>
            <a:xfrm>
              <a:off x="2997184" y="3207068"/>
              <a:ext cx="1168432" cy="27432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350" b="1" dirty="0">
                  <a:solidFill>
                    <a:srgbClr val="2B3648"/>
                  </a:solidFill>
                  <a:latin typeface="Arial"/>
                  <a:ea typeface="Microsoft YaHei"/>
                  <a:cs typeface="Arial"/>
                </a:rPr>
                <a:t>业务 · 跟进话术</a:t>
              </a:r>
            </a:p>
          </p:txBody>
        </p:sp>
        <p:sp>
          <p:nvSpPr>
            <p:cNvPr id="38" name="TextBox 38"/>
            <p:cNvSpPr txBox="1"/>
            <p:nvPr/>
          </p:nvSpPr>
          <p:spPr>
            <a:xfrm>
              <a:off x="3243977" y="3514249"/>
              <a:ext cx="674846" cy="19812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975" dirty="0">
                  <a:solidFill>
                    <a:srgbClr val="8B99AE"/>
                  </a:solidFill>
                  <a:latin typeface="Arial"/>
                  <a:ea typeface="Microsoft YaHei"/>
                  <a:cs typeface="Arial"/>
                </a:rPr>
                <a:t>10 条客户跟进，AI 出初稿——省 1 小时/天</a:t>
              </a:r>
            </a:p>
          </p:txBody>
        </p:sp>
      </p:grpSp>
      <p:grpSp>
        <p:nvGrpSpPr>
          <p:cNvPr id="51" name="Group 51"/>
          <p:cNvGrpSpPr/>
          <p:nvPr/>
        </p:nvGrpSpPr>
        <p:grpSpPr>
          <a:xfrm>
            <a:off x="4686300" y="1962150"/>
            <a:ext cx="1905000" cy="1847850"/>
            <a:chOff x="4686300" y="1962150"/>
            <a:chExt cx="1905000" cy="1847850"/>
          </a:xfrm>
        </p:grpSpPr>
        <p:sp>
          <p:nvSpPr>
            <p:cNvPr id="40" name="Ellipse 40"/>
            <p:cNvSpPr/>
            <p:nvPr/>
          </p:nvSpPr>
          <p:spPr>
            <a:xfrm>
              <a:off x="5448300" y="1962150"/>
              <a:ext cx="495300" cy="495300"/>
            </a:xfrm>
            <a:prstGeom prst="ellipse">
              <a:avLst/>
            </a:prstGeom>
            <a:solidFill>
              <a:srgbClr val="1565D8"/>
            </a:solidFill>
            <a:ln>
              <a:noFill/>
            </a:ln>
          </p:spPr>
          <p:txBody>
            <a:bodyPr/>
            <a:p/>
          </p:txBody>
        </p:sp>
        <p:sp>
          <p:nvSpPr>
            <p:cNvPr id="41" name="TextBox 41"/>
            <p:cNvSpPr txBox="1"/>
            <p:nvPr/>
          </p:nvSpPr>
          <p:spPr>
            <a:xfrm>
              <a:off x="5626824" y="2140268"/>
              <a:ext cx="138253" cy="27432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350" b="1" dirty="0">
                  <a:solidFill>
                    <a:srgbClr val="FFFFFF"/>
                  </a:solidFill>
                  <a:latin typeface="Arial"/>
                  <a:ea typeface="Microsoft YaHei"/>
                  <a:cs typeface="Arial"/>
                </a:rPr>
                <a:t>③</a:t>
              </a:r>
            </a:p>
          </p:txBody>
        </p:sp>
        <p:sp>
          <p:nvSpPr>
            <p:cNvPr id="42" name="Rectangle 42"/>
            <p:cNvSpPr/>
            <p:nvPr/>
          </p:nvSpPr>
          <p:spPr>
            <a:xfrm>
              <a:off x="4686300" y="2571750"/>
              <a:ext cx="1905000" cy="1238250"/>
            </a:xfrm>
            <a:prstGeom prst="roundRect">
              <a:avLst>
                <a:gd name="adj" fmla="val 12308"/>
              </a:avLst>
            </a:prstGeom>
            <a:solidFill>
              <a:srgbClr val="FFFFFF"/>
            </a:solidFill>
            <a:ln w="9525">
              <a:solidFill>
                <a:srgbClr val="D8E1EC"/>
              </a:solidFill>
            </a:ln>
          </p:spPr>
          <p:txBody>
            <a:bodyPr/>
            <a:p/>
          </p:txBody>
        </p:sp>
        <p:sp>
          <p:nvSpPr>
            <p:cNvPr id="43" name="Ellipse 43"/>
            <p:cNvSpPr/>
            <p:nvPr/>
          </p:nvSpPr>
          <p:spPr>
            <a:xfrm>
              <a:off x="5467350" y="2762250"/>
              <a:ext cx="342900" cy="342900"/>
            </a:xfrm>
            <a:prstGeom prst="ellipse">
              <a:avLst/>
            </a:prstGeom>
            <a:solidFill>
              <a:srgbClr val="D6E6F9"/>
            </a:solidFill>
            <a:ln>
              <a:noFill/>
            </a:ln>
          </p:spPr>
          <p:txBody>
            <a:bodyPr/>
            <a:p/>
          </p:txBody>
        </p:sp>
        <p:grpSp>
          <p:nvGrpSpPr>
            <p:cNvPr id="48" name="Group 48"/>
            <p:cNvGrpSpPr/>
            <p:nvPr/>
          </p:nvGrpSpPr>
          <p:grpSpPr>
            <a:xfrm>
              <a:off x="5583238" y="2862262"/>
              <a:ext cx="127000" cy="150813"/>
              <a:chOff x="5583238" y="2862262"/>
              <a:chExt cx="127000" cy="150813"/>
            </a:xfrm>
          </p:grpSpPr>
          <p:sp>
            <p:nvSpPr>
              <p:cNvPr id="44" name="Freeform 44"/>
              <p:cNvSpPr/>
              <p:nvPr/>
            </p:nvSpPr>
            <p:spPr>
              <a:xfrm>
                <a:off x="5654675" y="2862262"/>
                <a:ext cx="39688" cy="39688"/>
              </a:xfrm>
              <a:custGeom>
                <a:avLst/>
                <a:gdLst/>
                <a:ahLst/>
                <a:cxnLst/>
                <a:rect l="l" t="t" r="r" b="b"/>
                <a:pathLst>
                  <a:path w="39688" h="39688">
                    <a:moveTo>
                      <a:pt x="0" y="0"/>
                    </a:moveTo>
                    <a:lnTo>
                      <a:pt x="0" y="31750"/>
                    </a:lnTo>
                    <a:cubicBezTo>
                      <a:pt x="0" y="36134"/>
                      <a:pt x="3554" y="39688"/>
                      <a:pt x="7938" y="39688"/>
                    </a:cubicBezTo>
                    <a:lnTo>
                      <a:pt x="39688" y="39688"/>
                    </a:lnTo>
                  </a:path>
                </a:pathLst>
              </a:custGeom>
              <a:noFill/>
              <a:ln w="19050">
                <a:solidFill>
                  <a:srgbClr val="1565D8"/>
                </a:solidFill>
              </a:ln>
            </p:spPr>
            <p:txBody>
              <a:bodyPr/>
              <a:p/>
            </p:txBody>
          </p:sp>
          <p:sp>
            <p:nvSpPr>
              <p:cNvPr id="45" name="Freeform 45"/>
              <p:cNvSpPr/>
              <p:nvPr/>
            </p:nvSpPr>
            <p:spPr>
              <a:xfrm>
                <a:off x="5583238" y="2862262"/>
                <a:ext cx="111125" cy="142875"/>
              </a:xfrm>
              <a:custGeom>
                <a:avLst/>
                <a:gdLst/>
                <a:ahLst/>
                <a:cxnLst/>
                <a:rect l="l" t="t" r="r" b="b"/>
                <a:pathLst>
                  <a:path w="111125" h="142875">
                    <a:moveTo>
                      <a:pt x="55563" y="142875"/>
                    </a:moveTo>
                    <a:lnTo>
                      <a:pt x="15875" y="142875"/>
                    </a:lnTo>
                    <a:cubicBezTo>
                      <a:pt x="7107" y="142875"/>
                      <a:pt x="0" y="135768"/>
                      <a:pt x="0" y="127000"/>
                    </a:cubicBezTo>
                    <a:lnTo>
                      <a:pt x="0" y="15875"/>
                    </a:lnTo>
                    <a:cubicBezTo>
                      <a:pt x="0" y="7107"/>
                      <a:pt x="7107" y="0"/>
                      <a:pt x="15875" y="0"/>
                    </a:cubicBezTo>
                    <a:lnTo>
                      <a:pt x="71438" y="0"/>
                    </a:lnTo>
                    <a:lnTo>
                      <a:pt x="111125" y="39688"/>
                    </a:lnTo>
                    <a:lnTo>
                      <a:pt x="111125" y="75406"/>
                    </a:lnTo>
                  </a:path>
                </a:pathLst>
              </a:custGeom>
              <a:noFill/>
              <a:ln w="19050">
                <a:solidFill>
                  <a:srgbClr val="1565D8"/>
                </a:solidFill>
              </a:ln>
            </p:spPr>
            <p:txBody>
              <a:bodyPr/>
              <a:p/>
            </p:txBody>
          </p:sp>
          <p:sp>
            <p:nvSpPr>
              <p:cNvPr id="46" name="Freeform 46"/>
              <p:cNvSpPr/>
              <p:nvPr/>
            </p:nvSpPr>
            <p:spPr>
              <a:xfrm>
                <a:off x="5654675" y="2957512"/>
                <a:ext cx="39688" cy="39688"/>
              </a:xfrm>
              <a:custGeom>
                <a:avLst/>
                <a:gdLst/>
                <a:ahLst/>
                <a:cxnLst/>
                <a:rect l="l" t="t" r="r" b="b"/>
                <a:pathLst>
                  <a:path w="39688" h="39688">
                    <a:moveTo>
                      <a:pt x="0" y="19844"/>
                    </a:moveTo>
                    <a:cubicBezTo>
                      <a:pt x="0" y="30803"/>
                      <a:pt x="8884" y="39688"/>
                      <a:pt x="19844" y="39688"/>
                    </a:cubicBezTo>
                    <a:cubicBezTo>
                      <a:pt x="30803" y="39688"/>
                      <a:pt x="39688" y="30803"/>
                      <a:pt x="39688" y="19844"/>
                    </a:cubicBezTo>
                    <a:cubicBezTo>
                      <a:pt x="39688" y="8884"/>
                      <a:pt x="30803" y="0"/>
                      <a:pt x="19844" y="0"/>
                    </a:cubicBezTo>
                    <a:cubicBezTo>
                      <a:pt x="8884" y="0"/>
                      <a:pt x="0" y="8884"/>
                      <a:pt x="0" y="19844"/>
                    </a:cubicBezTo>
                  </a:path>
                </a:pathLst>
              </a:custGeom>
              <a:noFill/>
              <a:ln w="19050">
                <a:solidFill>
                  <a:srgbClr val="1565D8"/>
                </a:solidFill>
              </a:ln>
            </p:spPr>
            <p:txBody>
              <a:bodyPr/>
              <a:p/>
            </p:txBody>
          </p:sp>
          <p:sp>
            <p:nvSpPr>
              <p:cNvPr id="47" name="Freeform 47"/>
              <p:cNvSpPr/>
              <p:nvPr/>
            </p:nvSpPr>
            <p:spPr>
              <a:xfrm>
                <a:off x="5690394" y="2993231"/>
                <a:ext cx="19844" cy="19844"/>
              </a:xfrm>
              <a:custGeom>
                <a:avLst/>
                <a:gdLst/>
                <a:ahLst/>
                <a:cxnLst/>
                <a:rect l="l" t="t" r="r" b="b"/>
                <a:pathLst>
                  <a:path w="19844" h="19844">
                    <a:moveTo>
                      <a:pt x="0" y="0"/>
                    </a:moveTo>
                    <a:lnTo>
                      <a:pt x="19844" y="19844"/>
                    </a:lnTo>
                  </a:path>
                </a:pathLst>
              </a:custGeom>
              <a:noFill/>
              <a:ln w="19050">
                <a:solidFill>
                  <a:srgbClr val="1565D8"/>
                </a:solidFill>
              </a:ln>
            </p:spPr>
            <p:txBody>
              <a:bodyPr/>
              <a:p/>
            </p:txBody>
          </p:sp>
        </p:grpSp>
        <p:sp>
          <p:nvSpPr>
            <p:cNvPr id="49" name="TextBox 49"/>
            <p:cNvSpPr txBox="1"/>
            <p:nvPr/>
          </p:nvSpPr>
          <p:spPr>
            <a:xfrm>
              <a:off x="5338120" y="3207068"/>
              <a:ext cx="601361" cy="27432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350" b="1" dirty="0">
                  <a:solidFill>
                    <a:srgbClr val="2B3648"/>
                  </a:solidFill>
                  <a:latin typeface="Arial"/>
                  <a:ea typeface="Microsoft YaHei"/>
                  <a:cs typeface="Arial"/>
                </a:rPr>
                <a:t>技术 · 文档初稿</a:t>
              </a:r>
            </a:p>
          </p:txBody>
        </p:sp>
        <p:sp>
          <p:nvSpPr>
            <p:cNvPr id="50" name="TextBox 50"/>
            <p:cNvSpPr txBox="1"/>
            <p:nvPr/>
          </p:nvSpPr>
          <p:spPr>
            <a:xfrm>
              <a:off x="5171361" y="3514249"/>
              <a:ext cx="934879" cy="19812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975" dirty="0">
                  <a:solidFill>
                    <a:srgbClr val="8B99AE"/>
                  </a:solidFill>
                  <a:latin typeface="Arial"/>
                  <a:ea typeface="Microsoft YaHei"/>
                  <a:cs typeface="Arial"/>
                </a:rPr>
                <a:t>接口文档/纪要 AI 初稿+人终审——省 2 小时/天</a:t>
              </a:r>
            </a:p>
          </p:txBody>
        </p:sp>
      </p:grpSp>
      <p:grpSp>
        <p:nvGrpSpPr>
          <p:cNvPr id="62" name="Group 62"/>
          <p:cNvGrpSpPr/>
          <p:nvPr/>
        </p:nvGrpSpPr>
        <p:grpSpPr>
          <a:xfrm>
            <a:off x="6743700" y="1962150"/>
            <a:ext cx="1905000" cy="1847850"/>
            <a:chOff x="6743700" y="1962150"/>
            <a:chExt cx="1905000" cy="1847850"/>
          </a:xfrm>
        </p:grpSpPr>
        <p:sp>
          <p:nvSpPr>
            <p:cNvPr id="52" name="Ellipse 52"/>
            <p:cNvSpPr/>
            <p:nvPr/>
          </p:nvSpPr>
          <p:spPr>
            <a:xfrm>
              <a:off x="7505700" y="1962150"/>
              <a:ext cx="495300" cy="495300"/>
            </a:xfrm>
            <a:prstGeom prst="ellipse">
              <a:avLst/>
            </a:prstGeom>
            <a:solidFill>
              <a:srgbClr val="1565D8"/>
            </a:solidFill>
            <a:ln>
              <a:noFill/>
            </a:ln>
          </p:spPr>
          <p:txBody>
            <a:bodyPr/>
            <a:p/>
          </p:txBody>
        </p:sp>
        <p:sp>
          <p:nvSpPr>
            <p:cNvPr id="53" name="TextBox 53"/>
            <p:cNvSpPr txBox="1"/>
            <p:nvPr/>
          </p:nvSpPr>
          <p:spPr>
            <a:xfrm>
              <a:off x="7684224" y="2140268"/>
              <a:ext cx="138253" cy="27432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350" b="1" dirty="0">
                  <a:solidFill>
                    <a:srgbClr val="FFFFFF"/>
                  </a:solidFill>
                  <a:latin typeface="Arial"/>
                  <a:ea typeface="Microsoft YaHei"/>
                  <a:cs typeface="Arial"/>
                </a:rPr>
                <a:t>④</a:t>
              </a:r>
            </a:p>
          </p:txBody>
        </p:sp>
        <p:sp>
          <p:nvSpPr>
            <p:cNvPr id="54" name="Rectangle 54"/>
            <p:cNvSpPr/>
            <p:nvPr/>
          </p:nvSpPr>
          <p:spPr>
            <a:xfrm>
              <a:off x="6743700" y="2571750"/>
              <a:ext cx="1905000" cy="1238250"/>
            </a:xfrm>
            <a:prstGeom prst="roundRect">
              <a:avLst>
                <a:gd name="adj" fmla="val 12308"/>
              </a:avLst>
            </a:prstGeom>
            <a:solidFill>
              <a:srgbClr val="FFFFFF"/>
            </a:solidFill>
            <a:ln w="9525">
              <a:solidFill>
                <a:srgbClr val="D8E1EC"/>
              </a:solidFill>
            </a:ln>
          </p:spPr>
          <p:txBody>
            <a:bodyPr/>
            <a:p/>
          </p:txBody>
        </p:sp>
        <p:sp>
          <p:nvSpPr>
            <p:cNvPr id="55" name="Ellipse 55"/>
            <p:cNvSpPr/>
            <p:nvPr/>
          </p:nvSpPr>
          <p:spPr>
            <a:xfrm>
              <a:off x="7524750" y="2762250"/>
              <a:ext cx="342900" cy="342900"/>
            </a:xfrm>
            <a:prstGeom prst="ellipse">
              <a:avLst/>
            </a:prstGeom>
            <a:solidFill>
              <a:srgbClr val="D6E6F9"/>
            </a:solidFill>
            <a:ln>
              <a:noFill/>
            </a:ln>
          </p:spPr>
          <p:txBody>
            <a:bodyPr/>
            <a:p/>
          </p:txBody>
        </p:sp>
        <p:grpSp>
          <p:nvGrpSpPr>
            <p:cNvPr id="59" name="Group 59"/>
            <p:cNvGrpSpPr/>
            <p:nvPr/>
          </p:nvGrpSpPr>
          <p:grpSpPr>
            <a:xfrm>
              <a:off x="7624762" y="2870200"/>
              <a:ext cx="142875" cy="134938"/>
              <a:chOff x="7624762" y="2870200"/>
              <a:chExt cx="142875" cy="134938"/>
            </a:xfrm>
          </p:grpSpPr>
          <p:sp>
            <p:nvSpPr>
              <p:cNvPr id="56" name="Freeform 56"/>
              <p:cNvSpPr/>
              <p:nvPr/>
            </p:nvSpPr>
            <p:spPr>
              <a:xfrm>
                <a:off x="7664450" y="2909888"/>
                <a:ext cx="63500" cy="9525"/>
              </a:xfrm>
              <a:custGeom>
                <a:avLst/>
                <a:gdLst/>
                <a:ahLst/>
                <a:cxnLst/>
                <a:rect l="l" t="t" r="r" b="b"/>
                <a:pathLst>
                  <a:path w="63500" h="9525">
                    <a:moveTo>
                      <a:pt x="0" y="0"/>
                    </a:moveTo>
                    <a:lnTo>
                      <a:pt x="63500" y="0"/>
                    </a:lnTo>
                  </a:path>
                </a:pathLst>
              </a:custGeom>
              <a:noFill/>
              <a:ln w="19050">
                <a:solidFill>
                  <a:srgbClr val="1565D8"/>
                </a:solidFill>
              </a:ln>
            </p:spPr>
            <p:txBody>
              <a:bodyPr/>
              <a:p/>
            </p:txBody>
          </p:sp>
          <p:sp>
            <p:nvSpPr>
              <p:cNvPr id="57" name="Freeform 57"/>
              <p:cNvSpPr/>
              <p:nvPr/>
            </p:nvSpPr>
            <p:spPr>
              <a:xfrm>
                <a:off x="7664450" y="2941638"/>
                <a:ext cx="47625" cy="9525"/>
              </a:xfrm>
              <a:custGeom>
                <a:avLst/>
                <a:gdLst/>
                <a:ahLst/>
                <a:cxnLst/>
                <a:rect l="l" t="t" r="r" b="b"/>
                <a:pathLst>
                  <a:path w="47625" h="9525">
                    <a:moveTo>
                      <a:pt x="0" y="0"/>
                    </a:moveTo>
                    <a:lnTo>
                      <a:pt x="47625" y="0"/>
                    </a:lnTo>
                  </a:path>
                </a:pathLst>
              </a:custGeom>
              <a:noFill/>
              <a:ln w="19050">
                <a:solidFill>
                  <a:srgbClr val="1565D8"/>
                </a:solidFill>
              </a:ln>
            </p:spPr>
            <p:txBody>
              <a:bodyPr/>
              <a:p/>
            </p:txBody>
          </p:sp>
          <p:sp>
            <p:nvSpPr>
              <p:cNvPr id="58" name="Freeform 58"/>
              <p:cNvSpPr/>
              <p:nvPr/>
            </p:nvSpPr>
            <p:spPr>
              <a:xfrm>
                <a:off x="7624762" y="2870200"/>
                <a:ext cx="142875" cy="134938"/>
              </a:xfrm>
              <a:custGeom>
                <a:avLst/>
                <a:gdLst/>
                <a:ahLst/>
                <a:cxnLst/>
                <a:rect l="l" t="t" r="r" b="b"/>
                <a:pathLst>
                  <a:path w="142875" h="134938">
                    <a:moveTo>
                      <a:pt x="47625" y="111125"/>
                    </a:moveTo>
                    <a:lnTo>
                      <a:pt x="23812" y="111125"/>
                    </a:lnTo>
                    <a:cubicBezTo>
                      <a:pt x="10661" y="111125"/>
                      <a:pt x="0" y="100464"/>
                      <a:pt x="0" y="87313"/>
                    </a:cubicBezTo>
                    <a:lnTo>
                      <a:pt x="0" y="23812"/>
                    </a:lnTo>
                    <a:cubicBezTo>
                      <a:pt x="0" y="10661"/>
                      <a:pt x="10661" y="0"/>
                      <a:pt x="23812" y="0"/>
                    </a:cubicBezTo>
                    <a:lnTo>
                      <a:pt x="119062" y="0"/>
                    </a:lnTo>
                    <a:cubicBezTo>
                      <a:pt x="132214" y="0"/>
                      <a:pt x="142875" y="10661"/>
                      <a:pt x="142875" y="23812"/>
                    </a:cubicBezTo>
                    <a:lnTo>
                      <a:pt x="142875" y="87313"/>
                    </a:lnTo>
                    <a:cubicBezTo>
                      <a:pt x="142875" y="100464"/>
                      <a:pt x="132214" y="111125"/>
                      <a:pt x="119062" y="111125"/>
                    </a:cubicBezTo>
                    <a:lnTo>
                      <a:pt x="95250" y="111125"/>
                    </a:lnTo>
                    <a:lnTo>
                      <a:pt x="71438" y="134938"/>
                    </a:lnTo>
                    <a:lnTo>
                      <a:pt x="47625" y="111125"/>
                    </a:lnTo>
                  </a:path>
                </a:pathLst>
              </a:custGeom>
              <a:noFill/>
              <a:ln w="19050">
                <a:solidFill>
                  <a:srgbClr val="1565D8"/>
                </a:solidFill>
              </a:ln>
            </p:spPr>
            <p:txBody>
              <a:bodyPr/>
              <a:p/>
            </p:txBody>
          </p:sp>
        </p:grpSp>
        <p:sp>
          <p:nvSpPr>
            <p:cNvPr id="60" name="TextBox 60"/>
            <p:cNvSpPr txBox="1"/>
            <p:nvPr/>
          </p:nvSpPr>
          <p:spPr>
            <a:xfrm>
              <a:off x="7395520" y="3207068"/>
              <a:ext cx="601361" cy="27432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350" b="1" dirty="0">
                  <a:solidFill>
                    <a:srgbClr val="2B3648"/>
                  </a:solidFill>
                  <a:latin typeface="Arial"/>
                  <a:ea typeface="Microsoft YaHei"/>
                  <a:cs typeface="Arial"/>
                </a:rPr>
                <a:t>市场 · 文案变体</a:t>
              </a:r>
            </a:p>
          </p:txBody>
        </p:sp>
        <p:sp>
          <p:nvSpPr>
            <p:cNvPr id="61" name="TextBox 61"/>
            <p:cNvSpPr txBox="1"/>
            <p:nvPr/>
          </p:nvSpPr>
          <p:spPr>
            <a:xfrm>
              <a:off x="7293769" y="3514249"/>
              <a:ext cx="804862" cy="19812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975" dirty="0">
                  <a:solidFill>
                    <a:srgbClr val="8B99AE"/>
                  </a:solidFill>
                  <a:latin typeface="Arial"/>
                  <a:ea typeface="Microsoft YaHei"/>
                  <a:cs typeface="Arial"/>
                </a:rPr>
                <a:t>一次出 3 版文案挑最好的——省 1 小时/天</a:t>
              </a:r>
            </a:p>
          </p:txBody>
        </p:sp>
      </p:grpSp>
      <p:grpSp>
        <p:nvGrpSpPr>
          <p:cNvPr id="72" name="Group 72"/>
          <p:cNvGrpSpPr/>
          <p:nvPr/>
        </p:nvGrpSpPr>
        <p:grpSpPr>
          <a:xfrm>
            <a:off x="8801100" y="1962150"/>
            <a:ext cx="1905000" cy="1847850"/>
            <a:chOff x="8801100" y="1962150"/>
            <a:chExt cx="1905000" cy="1847850"/>
          </a:xfrm>
        </p:grpSpPr>
        <p:sp>
          <p:nvSpPr>
            <p:cNvPr id="63" name="Ellipse 63"/>
            <p:cNvSpPr/>
            <p:nvPr/>
          </p:nvSpPr>
          <p:spPr>
            <a:xfrm>
              <a:off x="9563100" y="1962150"/>
              <a:ext cx="495300" cy="495300"/>
            </a:xfrm>
            <a:prstGeom prst="ellipse">
              <a:avLst/>
            </a:prstGeom>
            <a:solidFill>
              <a:srgbClr val="0B4EA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64" name="TextBox 64"/>
            <p:cNvSpPr txBox="1"/>
            <p:nvPr/>
          </p:nvSpPr>
          <p:spPr>
            <a:xfrm>
              <a:off x="9741624" y="2140268"/>
              <a:ext cx="138253" cy="27432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350" b="1" dirty="0">
                  <a:solidFill>
                    <a:srgbClr val="FFFFFF"/>
                  </a:solidFill>
                  <a:latin typeface="Arial"/>
                  <a:ea typeface="Microsoft YaHei"/>
                  <a:cs typeface="Arial"/>
                </a:rPr>
                <a:t>⑤</a:t>
              </a:r>
            </a:p>
          </p:txBody>
        </p:sp>
        <p:sp>
          <p:nvSpPr>
            <p:cNvPr id="65" name="Rectangle 65"/>
            <p:cNvSpPr/>
            <p:nvPr/>
          </p:nvSpPr>
          <p:spPr>
            <a:xfrm>
              <a:off x="8801100" y="2571750"/>
              <a:ext cx="1905000" cy="1238250"/>
            </a:xfrm>
            <a:prstGeom prst="roundRect">
              <a:avLst>
                <a:gd name="adj" fmla="val 12308"/>
              </a:avLst>
            </a:prstGeom>
            <a:solidFill>
              <a:srgbClr val="FFFFFF"/>
            </a:solidFill>
            <a:ln w="9525">
              <a:solidFill>
                <a:srgbClr val="D8E1EC"/>
              </a:solidFill>
            </a:ln>
          </p:spPr>
          <p:txBody>
            <a:bodyPr/>
            <a:p/>
          </p:txBody>
        </p:sp>
        <p:sp>
          <p:nvSpPr>
            <p:cNvPr id="66" name="Ellipse 66"/>
            <p:cNvSpPr/>
            <p:nvPr/>
          </p:nvSpPr>
          <p:spPr>
            <a:xfrm>
              <a:off x="9582150" y="2762250"/>
              <a:ext cx="342900" cy="342900"/>
            </a:xfrm>
            <a:prstGeom prst="ellipse">
              <a:avLst/>
            </a:prstGeom>
            <a:solidFill>
              <a:srgbClr val="D6E6F9"/>
            </a:solidFill>
            <a:ln>
              <a:noFill/>
            </a:ln>
          </p:spPr>
          <p:txBody>
            <a:bodyPr/>
            <a:p/>
          </p:txBody>
        </p:sp>
        <p:grpSp>
          <p:nvGrpSpPr>
            <p:cNvPr id="69" name="Group 69"/>
            <p:cNvGrpSpPr/>
            <p:nvPr/>
          </p:nvGrpSpPr>
          <p:grpSpPr>
            <a:xfrm>
              <a:off x="9682162" y="2862262"/>
              <a:ext cx="142875" cy="142875"/>
              <a:chOff x="9682162" y="2862262"/>
              <a:chExt cx="142875" cy="142875"/>
            </a:xfrm>
          </p:grpSpPr>
          <p:sp>
            <p:nvSpPr>
              <p:cNvPr id="67" name="Freeform 67"/>
              <p:cNvSpPr/>
              <p:nvPr/>
            </p:nvSpPr>
            <p:spPr>
              <a:xfrm>
                <a:off x="9682162" y="2862262"/>
                <a:ext cx="142875" cy="142875"/>
              </a:xfrm>
              <a:custGeom>
                <a:avLst/>
                <a:gdLst/>
                <a:ahLst/>
                <a:cxnLst/>
                <a:rect l="l" t="t" r="r" b="b"/>
                <a:pathLst>
                  <a:path w="142875" h="142875">
                    <a:moveTo>
                      <a:pt x="0" y="71438"/>
                    </a:moveTo>
                    <a:cubicBezTo>
                      <a:pt x="0" y="110891"/>
                      <a:pt x="31984" y="142875"/>
                      <a:pt x="71438" y="142875"/>
                    </a:cubicBezTo>
                    <a:cubicBezTo>
                      <a:pt x="110891" y="142875"/>
                      <a:pt x="142875" y="110891"/>
                      <a:pt x="142875" y="71438"/>
                    </a:cubicBezTo>
                    <a:cubicBezTo>
                      <a:pt x="142875" y="31984"/>
                      <a:pt x="110891" y="0"/>
                      <a:pt x="71438" y="0"/>
                    </a:cubicBezTo>
                    <a:cubicBezTo>
                      <a:pt x="31984" y="0"/>
                      <a:pt x="0" y="31984"/>
                      <a:pt x="0" y="71438"/>
                    </a:cubicBezTo>
                  </a:path>
                </a:pathLst>
              </a:custGeom>
              <a:noFill/>
              <a:ln w="19050">
                <a:solidFill>
                  <a:srgbClr val="1565D8"/>
                </a:solidFill>
              </a:ln>
            </p:spPr>
            <p:txBody>
              <a:bodyPr/>
              <a:p/>
            </p:txBody>
          </p:sp>
          <p:sp>
            <p:nvSpPr>
              <p:cNvPr id="68" name="Freeform 68"/>
              <p:cNvSpPr/>
              <p:nvPr/>
            </p:nvSpPr>
            <p:spPr>
              <a:xfrm>
                <a:off x="9729788" y="2917825"/>
                <a:ext cx="47625" cy="31750"/>
              </a:xfrm>
              <a:custGeom>
                <a:avLst/>
                <a:gdLst/>
                <a:ahLst/>
                <a:cxnLst/>
                <a:rect l="l" t="t" r="r" b="b"/>
                <a:pathLst>
                  <a:path w="47625" h="31750">
                    <a:moveTo>
                      <a:pt x="0" y="15875"/>
                    </a:moveTo>
                    <a:lnTo>
                      <a:pt x="15875" y="31750"/>
                    </a:lnTo>
                    <a:lnTo>
                      <a:pt x="47625" y="0"/>
                    </a:lnTo>
                  </a:path>
                </a:pathLst>
              </a:custGeom>
              <a:noFill/>
              <a:ln w="19050">
                <a:solidFill>
                  <a:srgbClr val="1565D8"/>
                </a:solidFill>
              </a:ln>
            </p:spPr>
            <p:txBody>
              <a:bodyPr/>
              <a:p/>
            </p:txBody>
          </p:sp>
        </p:grpSp>
        <p:sp>
          <p:nvSpPr>
            <p:cNvPr id="70" name="TextBox 70"/>
            <p:cNvSpPr txBox="1"/>
            <p:nvPr/>
          </p:nvSpPr>
          <p:spPr>
            <a:xfrm>
              <a:off x="9452920" y="3207068"/>
              <a:ext cx="601361" cy="27432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350" b="1" dirty="0">
                  <a:solidFill>
                    <a:srgbClr val="2B3648"/>
                  </a:solidFill>
                  <a:latin typeface="Arial"/>
                  <a:ea typeface="Microsoft YaHei"/>
                  <a:cs typeface="Arial"/>
                </a:rPr>
                <a:t>加起来：30 分钟/天 × 22 天</a:t>
              </a:r>
            </a:p>
          </p:txBody>
        </p:sp>
        <p:sp>
          <p:nvSpPr>
            <p:cNvPr id="71" name="TextBox 71"/>
            <p:cNvSpPr txBox="1"/>
            <p:nvPr/>
          </p:nvSpPr>
          <p:spPr>
            <a:xfrm>
              <a:off x="9416177" y="3514249"/>
              <a:ext cx="674846" cy="19812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975" dirty="0">
                  <a:solidFill>
                    <a:srgbClr val="8B99AE"/>
                  </a:solidFill>
                  <a:latin typeface="Arial"/>
                  <a:ea typeface="Microsoft YaHei"/>
                  <a:cs typeface="Arial"/>
                </a:rPr>
                <a:t>≈ 每月 11 小时，一个人多出近一个工作日</a:t>
              </a:r>
            </a:p>
          </p:txBody>
        </p:sp>
      </p:grpSp>
      <p:grpSp>
        <p:nvGrpSpPr>
          <p:cNvPr id="84" name="Group 84"/>
          <p:cNvGrpSpPr/>
          <p:nvPr/>
        </p:nvGrpSpPr>
        <p:grpSpPr>
          <a:xfrm>
            <a:off x="571500" y="4076700"/>
            <a:ext cx="11049000" cy="1066800"/>
            <a:chOff x="571500" y="4076700"/>
            <a:chExt cx="11049000" cy="1066800"/>
          </a:xfrm>
        </p:grpSpPr>
        <p:sp>
          <p:nvSpPr>
            <p:cNvPr id="73" name="Rectangle 73"/>
            <p:cNvSpPr/>
            <p:nvPr/>
          </p:nvSpPr>
          <p:spPr>
            <a:xfrm>
              <a:off x="571500" y="4076700"/>
              <a:ext cx="11049000" cy="990600"/>
            </a:xfrm>
            <a:prstGeom prst="roundRect">
              <a:avLst>
                <a:gd name="adj" fmla="val 15385"/>
              </a:avLst>
            </a:prstGeom>
            <a:solidFill>
              <a:srgbClr val="FFFFFF"/>
            </a:solidFill>
            <a:ln w="9525">
              <a:solidFill>
                <a:srgbClr val="D8E1EC"/>
              </a:solidFill>
            </a:ln>
          </p:spPr>
          <p:txBody>
            <a:bodyPr/>
            <a:p/>
          </p:txBody>
        </p:sp>
        <p:sp>
          <p:nvSpPr>
            <p:cNvPr id="74" name="Ellipse 74"/>
            <p:cNvSpPr/>
            <p:nvPr/>
          </p:nvSpPr>
          <p:spPr>
            <a:xfrm>
              <a:off x="781050" y="4362450"/>
              <a:ext cx="419100" cy="419100"/>
            </a:xfrm>
            <a:prstGeom prst="ellipse">
              <a:avLst/>
            </a:prstGeom>
            <a:solidFill>
              <a:srgbClr val="D6E6F9"/>
            </a:solidFill>
            <a:ln>
              <a:noFill/>
            </a:ln>
          </p:spPr>
          <p:txBody>
            <a:bodyPr/>
            <a:p/>
          </p:txBody>
        </p:sp>
        <p:grpSp>
          <p:nvGrpSpPr>
            <p:cNvPr id="80" name="Group 80"/>
            <p:cNvGrpSpPr/>
            <p:nvPr/>
          </p:nvGrpSpPr>
          <p:grpSpPr>
            <a:xfrm>
              <a:off x="904875" y="4486275"/>
              <a:ext cx="171450" cy="171422"/>
              <a:chOff x="904875" y="4486275"/>
              <a:chExt cx="171450" cy="171422"/>
            </a:xfrm>
          </p:grpSpPr>
          <p:sp>
            <p:nvSpPr>
              <p:cNvPr id="75" name="Freeform 75"/>
              <p:cNvSpPr/>
              <p:nvPr/>
            </p:nvSpPr>
            <p:spPr>
              <a:xfrm>
                <a:off x="942975" y="4486275"/>
                <a:ext cx="133350" cy="133350"/>
              </a:xfrm>
              <a:custGeom>
                <a:avLst/>
                <a:gdLst/>
                <a:ahLst/>
                <a:cxnLst/>
                <a:rect l="l" t="t" r="r" b="b"/>
                <a:pathLst>
                  <a:path w="133350" h="133350">
                    <a:moveTo>
                      <a:pt x="0" y="25403"/>
                    </a:moveTo>
                    <a:cubicBezTo>
                      <a:pt x="0" y="11373"/>
                      <a:pt x="11373" y="0"/>
                      <a:pt x="25403" y="0"/>
                    </a:cubicBezTo>
                    <a:lnTo>
                      <a:pt x="107947" y="0"/>
                    </a:lnTo>
                    <a:cubicBezTo>
                      <a:pt x="114684" y="0"/>
                      <a:pt x="121146" y="2676"/>
                      <a:pt x="125910" y="7440"/>
                    </a:cubicBezTo>
                    <a:cubicBezTo>
                      <a:pt x="130674" y="12204"/>
                      <a:pt x="133350" y="18666"/>
                      <a:pt x="133350" y="25403"/>
                    </a:cubicBezTo>
                    <a:lnTo>
                      <a:pt x="133350" y="107947"/>
                    </a:lnTo>
                    <a:cubicBezTo>
                      <a:pt x="133350" y="114684"/>
                      <a:pt x="130674" y="121146"/>
                      <a:pt x="125910" y="125910"/>
                    </a:cubicBezTo>
                    <a:cubicBezTo>
                      <a:pt x="121146" y="130674"/>
                      <a:pt x="114684" y="133350"/>
                      <a:pt x="107947" y="133350"/>
                    </a:cubicBezTo>
                    <a:lnTo>
                      <a:pt x="25403" y="133350"/>
                    </a:lnTo>
                    <a:cubicBezTo>
                      <a:pt x="11373" y="133350"/>
                      <a:pt x="0" y="121977"/>
                      <a:pt x="0" y="107947"/>
                    </a:cubicBezTo>
                    <a:lnTo>
                      <a:pt x="0" y="25403"/>
                    </a:lnTo>
                  </a:path>
                </a:pathLst>
              </a:custGeom>
              <a:noFill/>
              <a:ln w="19050">
                <a:solidFill>
                  <a:srgbClr val="1565D8"/>
                </a:solidFill>
              </a:ln>
            </p:spPr>
            <p:txBody>
              <a:bodyPr/>
              <a:p/>
            </p:txBody>
          </p:sp>
          <p:sp>
            <p:nvSpPr>
              <p:cNvPr id="76" name="Freeform 76"/>
              <p:cNvSpPr/>
              <p:nvPr/>
            </p:nvSpPr>
            <p:spPr>
              <a:xfrm>
                <a:off x="904875" y="4526852"/>
                <a:ext cx="128588" cy="130845"/>
              </a:xfrm>
              <a:custGeom>
                <a:avLst/>
                <a:gdLst/>
                <a:ahLst/>
                <a:cxnLst/>
                <a:rect l="l" t="t" r="r" b="b"/>
                <a:pathLst>
                  <a:path w="128588" h="130845">
                    <a:moveTo>
                      <a:pt x="9639" y="0"/>
                    </a:moveTo>
                    <a:cubicBezTo>
                      <a:pt x="3694" y="3389"/>
                      <a:pt x="17" y="9701"/>
                      <a:pt x="0" y="16545"/>
                    </a:cubicBezTo>
                    <a:lnTo>
                      <a:pt x="0" y="111795"/>
                    </a:lnTo>
                    <a:cubicBezTo>
                      <a:pt x="0" y="122272"/>
                      <a:pt x="8573" y="130845"/>
                      <a:pt x="19050" y="130845"/>
                    </a:cubicBezTo>
                    <a:lnTo>
                      <a:pt x="114300" y="130845"/>
                    </a:lnTo>
                    <a:cubicBezTo>
                      <a:pt x="121444" y="130845"/>
                      <a:pt x="125330" y="127178"/>
                      <a:pt x="128588" y="121320"/>
                    </a:cubicBezTo>
                  </a:path>
                </a:pathLst>
              </a:custGeom>
              <a:noFill/>
              <a:ln w="19050">
                <a:solidFill>
                  <a:srgbClr val="1565D8"/>
                </a:solidFill>
              </a:ln>
            </p:spPr>
            <p:txBody>
              <a:bodyPr/>
              <a:p/>
            </p:txBody>
          </p:sp>
          <p:sp>
            <p:nvSpPr>
              <p:cNvPr id="77" name="Freeform 77"/>
              <p:cNvSpPr/>
              <p:nvPr/>
            </p:nvSpPr>
            <p:spPr>
              <a:xfrm>
                <a:off x="981075" y="4524375"/>
                <a:ext cx="47625" cy="9525"/>
              </a:xfrm>
              <a:custGeom>
                <a:avLst/>
                <a:gdLst/>
                <a:ahLst/>
                <a:cxnLst/>
                <a:rect l="l" t="t" r="r" b="b"/>
                <a:pathLst>
                  <a:path w="47625" h="9525">
                    <a:moveTo>
                      <a:pt x="0" y="0"/>
                    </a:moveTo>
                    <a:lnTo>
                      <a:pt x="47625" y="0"/>
                    </a:lnTo>
                  </a:path>
                </a:pathLst>
              </a:custGeom>
              <a:noFill/>
              <a:ln w="19050">
                <a:solidFill>
                  <a:srgbClr val="1565D8"/>
                </a:solidFill>
              </a:ln>
            </p:spPr>
            <p:txBody>
              <a:bodyPr/>
              <a:p/>
            </p:txBody>
          </p:sp>
          <p:sp>
            <p:nvSpPr>
              <p:cNvPr id="78" name="Freeform 78"/>
              <p:cNvSpPr/>
              <p:nvPr/>
            </p:nvSpPr>
            <p:spPr>
              <a:xfrm>
                <a:off x="981075" y="4552950"/>
                <a:ext cx="57150" cy="9525"/>
              </a:xfrm>
              <a:custGeom>
                <a:avLst/>
                <a:gdLst/>
                <a:ahLst/>
                <a:cxnLst/>
                <a:rect l="l" t="t" r="r" b="b"/>
                <a:pathLst>
                  <a:path w="57150" h="9525">
                    <a:moveTo>
                      <a:pt x="0" y="0"/>
                    </a:moveTo>
                    <a:lnTo>
                      <a:pt x="57150" y="0"/>
                    </a:lnTo>
                  </a:path>
                </a:pathLst>
              </a:custGeom>
              <a:noFill/>
              <a:ln w="19050">
                <a:solidFill>
                  <a:srgbClr val="1565D8"/>
                </a:solidFill>
              </a:ln>
            </p:spPr>
            <p:txBody>
              <a:bodyPr/>
              <a:p/>
            </p:txBody>
          </p:sp>
          <p:sp>
            <p:nvSpPr>
              <p:cNvPr id="79" name="Freeform 79"/>
              <p:cNvSpPr/>
              <p:nvPr/>
            </p:nvSpPr>
            <p:spPr>
              <a:xfrm>
                <a:off x="981075" y="4581525"/>
                <a:ext cx="28575" cy="9525"/>
              </a:xfrm>
              <a:custGeom>
                <a:avLst/>
                <a:gdLst/>
                <a:ahLst/>
                <a:cxnLst/>
                <a:rect l="l" t="t" r="r" b="b"/>
                <a:pathLst>
                  <a:path w="28575" h="9525">
                    <a:moveTo>
                      <a:pt x="0" y="0"/>
                    </a:moveTo>
                    <a:lnTo>
                      <a:pt x="28575" y="0"/>
                    </a:lnTo>
                  </a:path>
                </a:pathLst>
              </a:custGeom>
              <a:noFill/>
              <a:ln w="19050">
                <a:solidFill>
                  <a:srgbClr val="1565D8"/>
                </a:solidFill>
              </a:ln>
            </p:spPr>
            <p:txBody>
              <a:bodyPr/>
              <a:p/>
            </p:txBody>
          </p:sp>
        </p:grpSp>
        <p:sp>
          <p:nvSpPr>
            <p:cNvPr id="81" name="TextBox 81"/>
            <p:cNvSpPr txBox="1"/>
            <p:nvPr/>
          </p:nvSpPr>
          <p:spPr>
            <a:xfrm>
              <a:off x="1335405" y="4331018"/>
              <a:ext cx="979408" cy="27432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b="1" dirty="0">
                  <a:solidFill>
                    <a:srgbClr val="2B3648"/>
                  </a:solidFill>
                  <a:latin typeface="Arial"/>
                  <a:ea typeface="Microsoft YaHei"/>
                  <a:cs typeface="Arial"/>
                </a:rPr>
                <a:t>算给老板听</a:t>
              </a:r>
            </a:p>
          </p:txBody>
        </p:sp>
        <p:sp>
          <p:nvSpPr>
            <p:cNvPr id="82" name="TextBox 82"/>
            <p:cNvSpPr txBox="1"/>
            <p:nvPr/>
          </p:nvSpPr>
          <p:spPr>
            <a:xfrm>
              <a:off x="1337310" y="4652010"/>
              <a:ext cx="5831205" cy="24384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00" dirty="0">
                  <a:solidFill>
                    <a:srgbClr val="5B6B82"/>
                  </a:solidFill>
                  <a:latin typeface="Arial"/>
                  <a:ea typeface="Microsoft YaHei"/>
                  <a:cs typeface="Arial"/>
                </a:rPr>
                <a:t>1 人省 11 小时/月 ≈ 0.7 个工作日；10 人团队 ≈ 多出 1 个人的活——这就是 AI 立项的汇报口径。</a:t>
              </a:r>
            </a:p>
          </p:txBody>
        </p:sp>
        <p:sp>
          <p:nvSpPr>
            <p:cNvPr id="83" name="TextBox 83"/>
            <p:cNvSpPr txBox="1"/>
            <p:nvPr/>
          </p:nvSpPr>
          <p:spPr>
            <a:xfrm>
              <a:off x="1337310" y="4899660"/>
              <a:ext cx="1150620" cy="24384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00" dirty="0">
                  <a:solidFill>
                    <a:srgbClr val="5B6B82"/>
                  </a:solidFill>
                  <a:latin typeface="Arial"/>
                  <a:ea typeface="Microsoft YaHei"/>
                  <a:cs typeface="Arial"/>
                </a:rPr>
                <a:t>这笔账，就是回去跟老板讲的版本。</a:t>
              </a:r>
            </a:p>
          </p:txBody>
        </p:sp>
      </p:grpSp>
      <p:grpSp>
        <p:nvGrpSpPr>
          <p:cNvPr id="88" name="Group 88"/>
          <p:cNvGrpSpPr/>
          <p:nvPr/>
        </p:nvGrpSpPr>
        <p:grpSpPr>
          <a:xfrm>
            <a:off x="571500" y="5295900"/>
            <a:ext cx="11049000" cy="457200"/>
            <a:chOff x="571500" y="5295900"/>
            <a:chExt cx="11049000" cy="457200"/>
          </a:xfrm>
        </p:grpSpPr>
        <p:sp>
          <p:nvSpPr>
            <p:cNvPr id="85" name="Rectangle 85"/>
            <p:cNvSpPr/>
            <p:nvPr/>
          </p:nvSpPr>
          <p:spPr>
            <a:xfrm>
              <a:off x="571500" y="5295900"/>
              <a:ext cx="11049000" cy="457200"/>
            </a:xfrm>
            <a:prstGeom prst="roundRect">
              <a:avLst>
                <a:gd name="adj" fmla="val 33333"/>
              </a:avLst>
            </a:prstGeom>
            <a:solidFill>
              <a:srgbClr val="D6E6F9"/>
            </a:solidFill>
            <a:ln>
              <a:noFill/>
            </a:ln>
          </p:spPr>
          <p:txBody>
            <a:bodyPr/>
            <a:p/>
          </p:txBody>
        </p:sp>
        <p:sp>
          <p:nvSpPr>
            <p:cNvPr id="86" name="Rectangle 86"/>
            <p:cNvSpPr/>
            <p:nvPr/>
          </p:nvSpPr>
          <p:spPr>
            <a:xfrm>
              <a:off x="571500" y="5295900"/>
              <a:ext cx="76200" cy="457200"/>
            </a:xfrm>
            <a:prstGeom prst="roundRect">
              <a:avLst>
                <a:gd name="adj" fmla="val 50000"/>
              </a:avLst>
            </a:prstGeom>
            <a:solidFill>
              <a:srgbClr val="1565D8"/>
            </a:solidFill>
            <a:ln>
              <a:noFill/>
            </a:ln>
          </p:spPr>
          <p:txBody>
            <a:bodyPr/>
            <a:p/>
          </p:txBody>
        </p:sp>
        <p:sp>
          <p:nvSpPr>
            <p:cNvPr id="87" name="TextBox 87"/>
            <p:cNvSpPr txBox="1"/>
            <p:nvPr/>
          </p:nvSpPr>
          <p:spPr>
            <a:xfrm>
              <a:off x="859155" y="5445442"/>
              <a:ext cx="3625739" cy="27432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b="1" dirty="0">
                  <a:solidFill>
                    <a:srgbClr val="0B4EA2"/>
                  </a:solidFill>
                  <a:latin typeface="Arial"/>
                  <a:ea typeface="Microsoft YaHei"/>
                  <a:cs typeface="Arial"/>
                </a:rPr>
                <a:t>口诀：省的是加班，赚的是时间——先算账，再谈落地。</a:t>
              </a:r>
            </a:p>
          </p:txBody>
        </p:sp>
      </p:grpSp>
      <p:grpSp>
        <p:nvGrpSpPr>
          <p:cNvPr id="91" name="Group 91"/>
          <p:cNvGrpSpPr/>
          <p:nvPr/>
        </p:nvGrpSpPr>
        <p:grpSpPr>
          <a:xfrm>
            <a:off x="560070" y="6341745"/>
            <a:ext cx="11071860" cy="182880"/>
            <a:chOff x="560070" y="6341745"/>
            <a:chExt cx="11071860" cy="182880"/>
          </a:xfrm>
        </p:grpSpPr>
        <p:sp>
          <p:nvSpPr>
            <p:cNvPr id="89" name="TextBox 89"/>
            <p:cNvSpPr txBox="1"/>
            <p:nvPr/>
          </p:nvSpPr>
          <p:spPr>
            <a:xfrm>
              <a:off x="560070" y="6341745"/>
              <a:ext cx="1054989" cy="18288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00" dirty="0">
                  <a:solidFill>
                    <a:srgbClr val="8B99AE"/>
                  </a:solidFill>
                  <a:latin typeface="Arial"/>
                  <a:ea typeface="Microsoft YaHei"/>
                  <a:cs typeface="Arial"/>
                </a:rPr>
                <a:t>大模型通识 · 企业版</a:t>
              </a:r>
            </a:p>
          </p:txBody>
        </p:sp>
        <p:sp>
          <p:nvSpPr>
            <p:cNvPr id="90" name="TextBox 90"/>
            <p:cNvSpPr txBox="1"/>
            <p:nvPr/>
          </p:nvSpPr>
          <p:spPr>
            <a:xfrm>
              <a:off x="11207020" y="6341745"/>
              <a:ext cx="424910" cy="18288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r"/>
              <a:r>
                <a:rPr lang="zh-CN" sz="900" dirty="0">
                  <a:solidFill>
                    <a:srgbClr val="8B99AE"/>
                  </a:solidFill>
                  <a:latin typeface="Arial"/>
                  <a:ea typeface="Microsoft YaHei"/>
                  <a:cs typeface="Arial"/>
                </a:rPr>
                <a:t>30 / 51</a:t>
              </a:r>
            </a:p>
          </p:txBody>
        </p:sp>
      </p:grp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5" name="Group 5"/>
          <p:cNvGrpSpPr/>
          <p:nvPr/>
        </p:nvGrpSpPr>
        <p:grpSpPr>
          <a:xfrm>
            <a:off x="-1619250" y="0"/>
            <a:ext cx="13811250" cy="8477250"/>
            <a:chOff x="-1619250" y="0"/>
            <a:chExt cx="13811250" cy="8477250"/>
          </a:xfrm>
        </p:grpSpPr>
        <p:sp>
          <p:nvSpPr>
            <p:cNvPr id="2" name="Rectangle 2"/>
            <p:cNvSpPr/>
            <p:nvPr/>
          </p:nvSpPr>
          <p:spPr>
            <a:xfrm>
              <a:off x="0" y="0"/>
              <a:ext cx="12192000" cy="6858000"/>
            </a:xfrm>
            <a:prstGeom prst="rect">
              <a:avLst/>
            </a:prstGeom>
            <a:solidFill>
              <a:srgbClr val="F5F7FA"/>
            </a:solidFill>
            <a:ln>
              <a:noFill/>
            </a:ln>
          </p:spPr>
          <p:txBody>
            <a:bodyPr/>
            <a:p/>
          </p:txBody>
        </p:sp>
        <p:sp>
          <p:nvSpPr>
            <p:cNvPr id="3" name="Rectangle 3"/>
            <p:cNvSpPr/>
            <p:nvPr/>
          </p:nvSpPr>
          <p:spPr>
            <a:xfrm>
              <a:off x="0" y="0"/>
              <a:ext cx="12192000" cy="6858000"/>
            </a:xfrm>
            <a:prstGeom prst="rect">
              <a:avLst/>
            </a:prstGeom>
            <a:gradFill>
              <a:gsLst>
                <a:gs pos="0">
                  <a:srgbClr val="1565D8">
                    <a:alpha val="6000"/>
                  </a:srgbClr>
                </a:gs>
                <a:gs pos="100000">
                  <a:srgbClr val="1565D8">
                    <a:alpha val="0"/>
                  </a:srgbClr>
                </a:gs>
              </a:gsLst>
              <a:path path="circle">
                <a:fillToRect l="50000" t="50000" r="50000" b="50000"/>
              </a:path>
            </a:gradFill>
            <a:ln>
              <a:noFill/>
            </a:ln>
          </p:spPr>
          <p:txBody>
            <a:bodyPr/>
            <a:p/>
          </p:txBody>
        </p:sp>
        <p:sp>
          <p:nvSpPr>
            <p:cNvPr id="4" name="Ellipse 4"/>
            <p:cNvSpPr/>
            <p:nvPr/>
          </p:nvSpPr>
          <p:spPr>
            <a:xfrm>
              <a:off x="-1619250" y="4667250"/>
              <a:ext cx="3810000" cy="3810000"/>
            </a:xfrm>
            <a:prstGeom prst="ellipse">
              <a:avLst/>
            </a:prstGeom>
            <a:noFill/>
            <a:ln w="14288">
              <a:solidFill>
                <a:srgbClr val="D6E6F9">
                  <a:alpha val="80000"/>
                </a:srgbClr>
              </a:solidFill>
            </a:ln>
          </p:spPr>
          <p:txBody>
            <a:bodyPr/>
            <a:p/>
          </p:txBody>
        </p:sp>
      </p:grpSp>
      <p:grpSp>
        <p:nvGrpSpPr>
          <p:cNvPr id="9" name="Group 9"/>
          <p:cNvGrpSpPr/>
          <p:nvPr/>
        </p:nvGrpSpPr>
        <p:grpSpPr>
          <a:xfrm>
            <a:off x="571500" y="685800"/>
            <a:ext cx="3139785" cy="700088"/>
            <a:chOff x="571500" y="685800"/>
            <a:chExt cx="3139785" cy="700088"/>
          </a:xfrm>
        </p:grpSpPr>
        <p:sp>
          <p:nvSpPr>
            <p:cNvPr id="6" name="Rectangle 6"/>
            <p:cNvSpPr/>
            <p:nvPr/>
          </p:nvSpPr>
          <p:spPr>
            <a:xfrm>
              <a:off x="571500" y="685800"/>
              <a:ext cx="76200" cy="323850"/>
            </a:xfrm>
            <a:prstGeom prst="roundRect">
              <a:avLst>
                <a:gd name="adj" fmla="val 50000"/>
              </a:avLst>
            </a:prstGeom>
            <a:solidFill>
              <a:srgbClr val="1565D8"/>
            </a:solidFill>
            <a:ln>
              <a:noFill/>
            </a:ln>
          </p:spPr>
          <p:txBody>
            <a:bodyPr/>
            <a:p/>
          </p:txBody>
        </p:sp>
        <p:sp>
          <p:nvSpPr>
            <p:cNvPr id="7" name="TextBox 7"/>
            <p:cNvSpPr txBox="1"/>
            <p:nvPr/>
          </p:nvSpPr>
          <p:spPr>
            <a:xfrm>
              <a:off x="771525" y="700088"/>
              <a:ext cx="2939760" cy="45720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2250" b="1" dirty="0">
                  <a:solidFill>
                    <a:srgbClr val="2B3648"/>
                  </a:solidFill>
                  <a:latin typeface="Arial"/>
                  <a:ea typeface="Microsoft YaHei"/>
                  <a:cs typeface="Arial"/>
                </a:rPr>
                <a:t>三步上手 + 岗位场景</a:t>
              </a:r>
            </a:p>
          </p:txBody>
        </p:sp>
        <p:sp>
          <p:nvSpPr>
            <p:cNvPr id="8" name="TextBox 8"/>
            <p:cNvSpPr txBox="1"/>
            <p:nvPr/>
          </p:nvSpPr>
          <p:spPr>
            <a:xfrm>
              <a:off x="782955" y="1111568"/>
              <a:ext cx="1834515" cy="27432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5B6B82"/>
                  </a:solidFill>
                  <a:latin typeface="Arial"/>
                  <a:ea typeface="Microsoft YaHei"/>
                  <a:cs typeface="Arial"/>
                </a:rPr>
                <a:t>零代码：会打字就能用</a:t>
              </a:r>
            </a:p>
          </p:txBody>
        </p:sp>
      </p:grpSp>
      <p:grpSp>
        <p:nvGrpSpPr>
          <p:cNvPr id="12" name="Group 12"/>
          <p:cNvGrpSpPr/>
          <p:nvPr/>
        </p:nvGrpSpPr>
        <p:grpSpPr>
          <a:xfrm>
            <a:off x="3143250" y="2076450"/>
            <a:ext cx="2838450" cy="1"/>
            <a:chOff x="3143250" y="2076450"/>
            <a:chExt cx="2838450" cy="1"/>
          </a:xfrm>
        </p:grpSpPr>
        <p:sp>
          <p:nvSpPr>
            <p:cNvPr id="10" name="Line 10"/>
            <p:cNvSpPr/>
            <p:nvPr/>
          </p:nvSpPr>
          <p:spPr>
            <a:xfrm>
              <a:off x="3143250" y="2076450"/>
              <a:ext cx="209550" cy="1"/>
            </a:xfrm>
            <a:prstGeom prst="line">
              <a:avLst/>
            </a:prstGeom>
            <a:noFill/>
            <a:ln w="23812">
              <a:solidFill>
                <a:srgbClr val="1565D8"/>
              </a:solidFill>
              <a:tailEnd type="triangle" w="lg" len="lg"/>
            </a:ln>
          </p:spPr>
          <p:txBody>
            <a:bodyPr/>
            <a:p/>
          </p:txBody>
        </p:sp>
        <p:sp>
          <p:nvSpPr>
            <p:cNvPr id="11" name="Line 11"/>
            <p:cNvSpPr/>
            <p:nvPr/>
          </p:nvSpPr>
          <p:spPr>
            <a:xfrm>
              <a:off x="5772150" y="2076450"/>
              <a:ext cx="209550" cy="1"/>
            </a:xfrm>
            <a:prstGeom prst="line">
              <a:avLst/>
            </a:prstGeom>
            <a:noFill/>
            <a:ln w="23812">
              <a:solidFill>
                <a:srgbClr val="1565D8"/>
              </a:solidFill>
              <a:tailEnd type="triangle" w="lg" len="lg"/>
            </a:ln>
          </p:spPr>
          <p:txBody>
            <a:bodyPr/>
            <a:p/>
          </p:txBody>
        </p:sp>
      </p:grpSp>
      <p:grpSp>
        <p:nvGrpSpPr>
          <p:cNvPr id="17" name="Group 17"/>
          <p:cNvGrpSpPr/>
          <p:nvPr/>
        </p:nvGrpSpPr>
        <p:grpSpPr>
          <a:xfrm>
            <a:off x="571500" y="1600200"/>
            <a:ext cx="2514600" cy="952500"/>
            <a:chOff x="571500" y="1600200"/>
            <a:chExt cx="2514600" cy="952500"/>
          </a:xfrm>
        </p:grpSpPr>
        <p:sp>
          <p:nvSpPr>
            <p:cNvPr id="13" name="Rectangle 13"/>
            <p:cNvSpPr/>
            <p:nvPr/>
          </p:nvSpPr>
          <p:spPr>
            <a:xfrm>
              <a:off x="571500" y="1600200"/>
              <a:ext cx="2514600" cy="952500"/>
            </a:xfrm>
            <a:prstGeom prst="roundRect">
              <a:avLst>
                <a:gd name="adj" fmla="val 16000"/>
              </a:avLst>
            </a:prstGeom>
            <a:solidFill>
              <a:srgbClr val="FFFFFF"/>
            </a:solidFill>
            <a:ln w="9525">
              <a:solidFill>
                <a:srgbClr val="D8E1EC"/>
              </a:solidFill>
            </a:ln>
          </p:spPr>
          <p:txBody>
            <a:bodyPr/>
            <a:p/>
          </p:txBody>
        </p:sp>
        <p:sp>
          <p:nvSpPr>
            <p:cNvPr id="14" name="TextBox 14"/>
            <p:cNvSpPr txBox="1"/>
            <p:nvPr/>
          </p:nvSpPr>
          <p:spPr>
            <a:xfrm>
              <a:off x="786765" y="1772602"/>
              <a:ext cx="475076" cy="21336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050" b="1" dirty="0">
                  <a:solidFill>
                    <a:srgbClr val="1565D8"/>
                  </a:solidFill>
                  <a:latin typeface="Arial"/>
                  <a:ea typeface="Microsoft YaHei"/>
                  <a:cs typeface="Arial"/>
                </a:rPr>
                <a:t>STEP 1</a:t>
              </a:r>
            </a:p>
          </p:txBody>
        </p:sp>
        <p:sp>
          <p:nvSpPr>
            <p:cNvPr id="15" name="TextBox 15"/>
            <p:cNvSpPr txBox="1"/>
            <p:nvPr/>
          </p:nvSpPr>
          <p:spPr>
            <a:xfrm>
              <a:off x="782955" y="2025968"/>
              <a:ext cx="818738" cy="27432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b="1" dirty="0">
                  <a:solidFill>
                    <a:srgbClr val="2B3648"/>
                  </a:solidFill>
                  <a:latin typeface="Arial"/>
                  <a:ea typeface="Microsoft YaHei"/>
                  <a:cs typeface="Arial"/>
                </a:rPr>
                <a:t>装 / 注册</a:t>
              </a:r>
            </a:p>
          </p:txBody>
        </p:sp>
        <p:sp>
          <p:nvSpPr>
            <p:cNvPr id="16" name="TextBox 16"/>
            <p:cNvSpPr txBox="1"/>
            <p:nvPr/>
          </p:nvSpPr>
          <p:spPr>
            <a:xfrm>
              <a:off x="786765" y="2306002"/>
              <a:ext cx="1286828" cy="21336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050" dirty="0">
                  <a:solidFill>
                    <a:srgbClr val="5B6B82"/>
                  </a:solidFill>
                  <a:latin typeface="Arial"/>
                  <a:ea typeface="Microsoft YaHei"/>
                  <a:cs typeface="Arial"/>
                </a:rPr>
                <a:t>用工作号或公司账号</a:t>
              </a:r>
            </a:p>
          </p:txBody>
        </p:sp>
      </p:grpSp>
      <p:grpSp>
        <p:nvGrpSpPr>
          <p:cNvPr id="22" name="Group 22"/>
          <p:cNvGrpSpPr/>
          <p:nvPr/>
        </p:nvGrpSpPr>
        <p:grpSpPr>
          <a:xfrm>
            <a:off x="3371850" y="1600200"/>
            <a:ext cx="2514600" cy="952500"/>
            <a:chOff x="3371850" y="1600200"/>
            <a:chExt cx="2514600" cy="952500"/>
          </a:xfrm>
        </p:grpSpPr>
        <p:sp>
          <p:nvSpPr>
            <p:cNvPr id="18" name="Rectangle 18"/>
            <p:cNvSpPr/>
            <p:nvPr/>
          </p:nvSpPr>
          <p:spPr>
            <a:xfrm>
              <a:off x="3371850" y="1600200"/>
              <a:ext cx="2514600" cy="952500"/>
            </a:xfrm>
            <a:prstGeom prst="roundRect">
              <a:avLst>
                <a:gd name="adj" fmla="val 16000"/>
              </a:avLst>
            </a:prstGeom>
            <a:solidFill>
              <a:srgbClr val="FFFFFF"/>
            </a:solidFill>
            <a:ln w="9525">
              <a:solidFill>
                <a:srgbClr val="D8E1EC"/>
              </a:solidFill>
            </a:ln>
          </p:spPr>
          <p:txBody>
            <a:bodyPr/>
            <a:p/>
          </p:txBody>
        </p:sp>
        <p:sp>
          <p:nvSpPr>
            <p:cNvPr id="19" name="TextBox 19"/>
            <p:cNvSpPr txBox="1"/>
            <p:nvPr/>
          </p:nvSpPr>
          <p:spPr>
            <a:xfrm>
              <a:off x="3587115" y="1772602"/>
              <a:ext cx="475076" cy="21336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050" b="1" dirty="0">
                  <a:solidFill>
                    <a:srgbClr val="1565D8"/>
                  </a:solidFill>
                  <a:latin typeface="Arial"/>
                  <a:ea typeface="Microsoft YaHei"/>
                  <a:cs typeface="Arial"/>
                </a:rPr>
                <a:t>STEP 2</a:t>
              </a:r>
            </a:p>
          </p:txBody>
        </p:sp>
        <p:sp>
          <p:nvSpPr>
            <p:cNvPr id="20" name="TextBox 20"/>
            <p:cNvSpPr txBox="1"/>
            <p:nvPr/>
          </p:nvSpPr>
          <p:spPr>
            <a:xfrm>
              <a:off x="3583305" y="2025968"/>
              <a:ext cx="979408" cy="27432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b="1" dirty="0">
                  <a:solidFill>
                    <a:srgbClr val="2B3648"/>
                  </a:solidFill>
                  <a:latin typeface="Arial"/>
                  <a:ea typeface="Microsoft YaHei"/>
                  <a:cs typeface="Arial"/>
                </a:rPr>
                <a:t>第一次对话</a:t>
              </a:r>
            </a:p>
          </p:txBody>
        </p:sp>
        <p:sp>
          <p:nvSpPr>
            <p:cNvPr id="21" name="TextBox 21"/>
            <p:cNvSpPr txBox="1"/>
            <p:nvPr/>
          </p:nvSpPr>
          <p:spPr>
            <a:xfrm>
              <a:off x="3587115" y="2306002"/>
              <a:ext cx="1643872" cy="21336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050" dirty="0">
                  <a:solidFill>
                    <a:srgbClr val="5B6B82"/>
                  </a:solidFill>
                  <a:latin typeface="Arial"/>
                  <a:ea typeface="Microsoft YaHei"/>
                  <a:cs typeface="Arial"/>
                </a:rPr>
                <a:t>「帮我写份周报，我是…」</a:t>
              </a:r>
            </a:p>
          </p:txBody>
        </p:sp>
      </p:grpSp>
      <p:grpSp>
        <p:nvGrpSpPr>
          <p:cNvPr id="27" name="Group 27"/>
          <p:cNvGrpSpPr/>
          <p:nvPr/>
        </p:nvGrpSpPr>
        <p:grpSpPr>
          <a:xfrm>
            <a:off x="6000750" y="1600200"/>
            <a:ext cx="2514600" cy="952500"/>
            <a:chOff x="6000750" y="1600200"/>
            <a:chExt cx="2514600" cy="952500"/>
          </a:xfrm>
        </p:grpSpPr>
        <p:sp>
          <p:nvSpPr>
            <p:cNvPr id="23" name="Rectangle 23"/>
            <p:cNvSpPr/>
            <p:nvPr/>
          </p:nvSpPr>
          <p:spPr>
            <a:xfrm>
              <a:off x="6000750" y="1600200"/>
              <a:ext cx="2514600" cy="952500"/>
            </a:xfrm>
            <a:prstGeom prst="roundRect">
              <a:avLst>
                <a:gd name="adj" fmla="val 16000"/>
              </a:avLst>
            </a:prstGeom>
            <a:solidFill>
              <a:srgbClr val="FFFFFF"/>
            </a:solidFill>
            <a:ln w="9525">
              <a:solidFill>
                <a:srgbClr val="D8E1EC"/>
              </a:solidFill>
            </a:ln>
          </p:spPr>
          <p:txBody>
            <a:bodyPr/>
            <a:p/>
          </p:txBody>
        </p:sp>
        <p:sp>
          <p:nvSpPr>
            <p:cNvPr id="24" name="TextBox 24"/>
            <p:cNvSpPr txBox="1"/>
            <p:nvPr/>
          </p:nvSpPr>
          <p:spPr>
            <a:xfrm>
              <a:off x="6216015" y="1772602"/>
              <a:ext cx="475076" cy="21336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050" b="1" dirty="0">
                  <a:solidFill>
                    <a:srgbClr val="1565D8"/>
                  </a:solidFill>
                  <a:latin typeface="Arial"/>
                  <a:ea typeface="Microsoft YaHei"/>
                  <a:cs typeface="Arial"/>
                </a:rPr>
                <a:t>STEP 3</a:t>
              </a:r>
            </a:p>
          </p:txBody>
        </p:sp>
        <p:sp>
          <p:nvSpPr>
            <p:cNvPr id="25" name="TextBox 25"/>
            <p:cNvSpPr txBox="1"/>
            <p:nvPr/>
          </p:nvSpPr>
          <p:spPr>
            <a:xfrm>
              <a:off x="6212205" y="2025968"/>
              <a:ext cx="601361" cy="27432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b="1" dirty="0">
                  <a:solidFill>
                    <a:srgbClr val="2B3648"/>
                  </a:solidFill>
                  <a:latin typeface="Arial"/>
                  <a:ea typeface="Microsoft YaHei"/>
                  <a:cs typeface="Arial"/>
                </a:rPr>
                <a:t>改结果</a:t>
              </a:r>
            </a:p>
          </p:txBody>
        </p:sp>
        <p:sp>
          <p:nvSpPr>
            <p:cNvPr id="26" name="TextBox 26"/>
            <p:cNvSpPr txBox="1"/>
            <p:nvPr/>
          </p:nvSpPr>
          <p:spPr>
            <a:xfrm>
              <a:off x="6216015" y="2306002"/>
              <a:ext cx="1286828" cy="21336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050" dirty="0">
                  <a:solidFill>
                    <a:srgbClr val="5B6B82"/>
                  </a:solidFill>
                  <a:latin typeface="Arial"/>
                  <a:ea typeface="Microsoft YaHei"/>
                  <a:cs typeface="Arial"/>
                </a:rPr>
                <a:t>不满意？补条件再问</a:t>
              </a:r>
            </a:p>
          </p:txBody>
        </p:sp>
      </p:grpSp>
      <p:grpSp>
        <p:nvGrpSpPr>
          <p:cNvPr id="58" name="Group 58"/>
          <p:cNvGrpSpPr/>
          <p:nvPr/>
        </p:nvGrpSpPr>
        <p:grpSpPr>
          <a:xfrm>
            <a:off x="571500" y="2762250"/>
            <a:ext cx="7810500" cy="2895600"/>
            <a:chOff x="571500" y="2762250"/>
            <a:chExt cx="7810500" cy="2895600"/>
          </a:xfrm>
        </p:grpSpPr>
        <p:grpSp>
          <p:nvGrpSpPr>
            <p:cNvPr id="33" name="Group 33"/>
            <p:cNvGrpSpPr/>
            <p:nvPr/>
          </p:nvGrpSpPr>
          <p:grpSpPr>
            <a:xfrm>
              <a:off x="571500" y="2762250"/>
              <a:ext cx="7810500" cy="533400"/>
              <a:chOff x="571500" y="2762250"/>
              <a:chExt cx="7810500" cy="533400"/>
            </a:xfrm>
          </p:grpSpPr>
          <p:sp>
            <p:nvSpPr>
              <p:cNvPr id="28" name="Rectangle 28"/>
              <p:cNvSpPr/>
              <p:nvPr/>
            </p:nvSpPr>
            <p:spPr>
              <a:xfrm>
                <a:off x="571500" y="2762250"/>
                <a:ext cx="7810500" cy="533400"/>
              </a:xfrm>
              <a:prstGeom prst="roundRect">
                <a:avLst>
                  <a:gd name="adj" fmla="val 28571"/>
                </a:avLst>
              </a:prstGeom>
              <a:solidFill>
                <a:srgbClr val="FFFFFF"/>
              </a:solidFill>
              <a:ln w="9525">
                <a:solidFill>
                  <a:srgbClr val="D8E1EC"/>
                </a:solidFill>
              </a:ln>
            </p:spPr>
            <p:txBody>
              <a:bodyPr/>
              <a:p/>
            </p:txBody>
          </p:sp>
          <p:sp>
            <p:nvSpPr>
              <p:cNvPr id="29" name="Ellipse 29"/>
              <p:cNvSpPr/>
              <p:nvPr/>
            </p:nvSpPr>
            <p:spPr>
              <a:xfrm>
                <a:off x="733425" y="2886075"/>
                <a:ext cx="285750" cy="285750"/>
              </a:xfrm>
              <a:prstGeom prst="ellipse">
                <a:avLst/>
              </a:prstGeom>
              <a:solidFill>
                <a:srgbClr val="1565D8"/>
              </a:solidFill>
              <a:ln>
                <a:noFill/>
              </a:ln>
            </p:spPr>
            <p:txBody>
              <a:bodyPr/>
              <a:p/>
            </p:txBody>
          </p:sp>
          <p:sp>
            <p:nvSpPr>
              <p:cNvPr id="30" name="TextBox 30"/>
              <p:cNvSpPr txBox="1"/>
              <p:nvPr/>
            </p:nvSpPr>
            <p:spPr>
              <a:xfrm>
                <a:off x="822535" y="2972752"/>
                <a:ext cx="107530" cy="21336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ctr"/>
                <a:r>
                  <a:rPr lang="zh-CN" sz="1050" b="1" dirty="0">
                    <a:solidFill>
                      <a:srgbClr val="FFFFFF"/>
                    </a:solidFill>
                    <a:latin typeface="Arial"/>
                    <a:ea typeface="Microsoft YaHei"/>
                    <a:cs typeface="Arial"/>
                  </a:rPr>
                  <a:t>A</a:t>
                </a:r>
              </a:p>
            </p:txBody>
          </p:sp>
          <p:sp>
            <p:nvSpPr>
              <p:cNvPr id="31" name="TextBox 31"/>
              <p:cNvSpPr txBox="1"/>
              <p:nvPr/>
            </p:nvSpPr>
            <p:spPr>
              <a:xfrm>
                <a:off x="1128712" y="2859881"/>
                <a:ext cx="1312360" cy="2286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l"/>
                <a:r>
                  <a:rPr lang="zh-CN" sz="1125" b="1" dirty="0">
                    <a:solidFill>
                      <a:srgbClr val="2B3648"/>
                    </a:solidFill>
                    <a:latin typeface="Arial"/>
                    <a:ea typeface="Microsoft YaHei"/>
                    <a:cs typeface="Arial"/>
                  </a:rPr>
                  <a:t>行政 · 周报与纪要</a:t>
                </a:r>
              </a:p>
            </p:txBody>
          </p:sp>
          <p:sp>
            <p:nvSpPr>
              <p:cNvPr id="32" name="TextBox 32"/>
              <p:cNvSpPr txBox="1"/>
              <p:nvPr/>
            </p:nvSpPr>
            <p:spPr>
              <a:xfrm>
                <a:off x="1129665" y="3077528"/>
                <a:ext cx="3352086" cy="21336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l"/>
                <a:r>
                  <a:rPr lang="zh-CN" sz="1050" dirty="0">
                    <a:solidFill>
                      <a:srgbClr val="5B6B82"/>
                    </a:solidFill>
                    <a:latin typeface="Arial"/>
                    <a:ea typeface="Microsoft YaHei"/>
                    <a:cs typeface="Arial"/>
                  </a:rPr>
                  <a:t>五要素出周报 / 纪要初稿 → 人工核对 → 定稿</a:t>
                </a:r>
              </a:p>
            </p:txBody>
          </p:sp>
        </p:grpSp>
        <p:grpSp>
          <p:nvGrpSpPr>
            <p:cNvPr id="39" name="Group 39"/>
            <p:cNvGrpSpPr/>
            <p:nvPr/>
          </p:nvGrpSpPr>
          <p:grpSpPr>
            <a:xfrm>
              <a:off x="571500" y="3352800"/>
              <a:ext cx="7810500" cy="533400"/>
              <a:chOff x="571500" y="3352800"/>
              <a:chExt cx="7810500" cy="533400"/>
            </a:xfrm>
          </p:grpSpPr>
          <p:sp>
            <p:nvSpPr>
              <p:cNvPr id="34" name="Rectangle 34"/>
              <p:cNvSpPr/>
              <p:nvPr/>
            </p:nvSpPr>
            <p:spPr>
              <a:xfrm>
                <a:off x="571500" y="3352800"/>
                <a:ext cx="7810500" cy="533400"/>
              </a:xfrm>
              <a:prstGeom prst="roundRect">
                <a:avLst>
                  <a:gd name="adj" fmla="val 28571"/>
                </a:avLst>
              </a:prstGeom>
              <a:solidFill>
                <a:srgbClr val="FFFFFF"/>
              </a:solidFill>
              <a:ln w="9525">
                <a:solidFill>
                  <a:srgbClr val="D8E1EC"/>
                </a:solidFill>
              </a:ln>
            </p:spPr>
            <p:txBody>
              <a:bodyPr/>
              <a:p/>
            </p:txBody>
          </p:sp>
          <p:sp>
            <p:nvSpPr>
              <p:cNvPr id="35" name="Ellipse 35"/>
              <p:cNvSpPr/>
              <p:nvPr/>
            </p:nvSpPr>
            <p:spPr>
              <a:xfrm>
                <a:off x="733425" y="3476625"/>
                <a:ext cx="285750" cy="285750"/>
              </a:xfrm>
              <a:prstGeom prst="ellipse">
                <a:avLst/>
              </a:prstGeom>
              <a:solidFill>
                <a:srgbClr val="1565D8"/>
              </a:solidFill>
              <a:ln>
                <a:noFill/>
              </a:ln>
            </p:spPr>
            <p:txBody>
              <a:bodyPr/>
              <a:p/>
            </p:txBody>
          </p:sp>
          <p:sp>
            <p:nvSpPr>
              <p:cNvPr id="36" name="TextBox 36"/>
              <p:cNvSpPr txBox="1"/>
              <p:nvPr/>
            </p:nvSpPr>
            <p:spPr>
              <a:xfrm>
                <a:off x="822535" y="3563302"/>
                <a:ext cx="107530" cy="21336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ctr"/>
                <a:r>
                  <a:rPr lang="zh-CN" sz="1050" b="1" dirty="0">
                    <a:solidFill>
                      <a:srgbClr val="FFFFFF"/>
                    </a:solidFill>
                    <a:latin typeface="Arial"/>
                    <a:ea typeface="Microsoft YaHei"/>
                    <a:cs typeface="Arial"/>
                  </a:rPr>
                  <a:t>B</a:t>
                </a:r>
              </a:p>
            </p:txBody>
          </p:sp>
          <p:sp>
            <p:nvSpPr>
              <p:cNvPr id="37" name="TextBox 37"/>
              <p:cNvSpPr txBox="1"/>
              <p:nvPr/>
            </p:nvSpPr>
            <p:spPr>
              <a:xfrm>
                <a:off x="1128712" y="3450431"/>
                <a:ext cx="1312360" cy="2286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l"/>
                <a:r>
                  <a:rPr lang="zh-CN" sz="1125" b="1" dirty="0">
                    <a:solidFill>
                      <a:srgbClr val="2B3648"/>
                    </a:solidFill>
                    <a:latin typeface="Arial"/>
                    <a:ea typeface="Microsoft YaHei"/>
                    <a:cs typeface="Arial"/>
                  </a:rPr>
                  <a:t>业务 · 报表与数据</a:t>
                </a:r>
              </a:p>
            </p:txBody>
          </p:sp>
          <p:sp>
            <p:nvSpPr>
              <p:cNvPr id="38" name="TextBox 38"/>
              <p:cNvSpPr txBox="1"/>
              <p:nvPr/>
            </p:nvSpPr>
            <p:spPr>
              <a:xfrm>
                <a:off x="1129665" y="3668078"/>
                <a:ext cx="3548110" cy="21336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l"/>
                <a:r>
                  <a:rPr lang="zh-CN" sz="1050" dirty="0">
                    <a:solidFill>
                      <a:srgbClr val="5B6B82"/>
                    </a:solidFill>
                    <a:latin typeface="Arial"/>
                    <a:ea typeface="Microsoft YaHei"/>
                    <a:cs typeface="Arial"/>
                  </a:rPr>
                  <a:t>粘贴销售 / 生产表：找异常、出公式、给结论</a:t>
                </a:r>
              </a:p>
            </p:txBody>
          </p:sp>
        </p:grpSp>
        <p:grpSp>
          <p:nvGrpSpPr>
            <p:cNvPr id="45" name="Group 45"/>
            <p:cNvGrpSpPr/>
            <p:nvPr/>
          </p:nvGrpSpPr>
          <p:grpSpPr>
            <a:xfrm>
              <a:off x="571500" y="3943350"/>
              <a:ext cx="7810500" cy="533400"/>
              <a:chOff x="571500" y="3943350"/>
              <a:chExt cx="7810500" cy="533400"/>
            </a:xfrm>
          </p:grpSpPr>
          <p:sp>
            <p:nvSpPr>
              <p:cNvPr id="40" name="Rectangle 40"/>
              <p:cNvSpPr/>
              <p:nvPr/>
            </p:nvSpPr>
            <p:spPr>
              <a:xfrm>
                <a:off x="571500" y="3943350"/>
                <a:ext cx="7810500" cy="533400"/>
              </a:xfrm>
              <a:prstGeom prst="roundRect">
                <a:avLst>
                  <a:gd name="adj" fmla="val 28571"/>
                </a:avLst>
              </a:prstGeom>
              <a:solidFill>
                <a:srgbClr val="FFFFFF"/>
              </a:solidFill>
              <a:ln w="9525">
                <a:solidFill>
                  <a:srgbClr val="D8E1EC"/>
                </a:solidFill>
              </a:ln>
            </p:spPr>
            <p:txBody>
              <a:bodyPr/>
              <a:p/>
            </p:txBody>
          </p:sp>
          <p:sp>
            <p:nvSpPr>
              <p:cNvPr id="41" name="Ellipse 41"/>
              <p:cNvSpPr/>
              <p:nvPr/>
            </p:nvSpPr>
            <p:spPr>
              <a:xfrm>
                <a:off x="733425" y="4067175"/>
                <a:ext cx="285750" cy="285750"/>
              </a:xfrm>
              <a:prstGeom prst="ellipse">
                <a:avLst/>
              </a:prstGeom>
              <a:solidFill>
                <a:srgbClr val="1565D8"/>
              </a:solidFill>
              <a:ln>
                <a:noFill/>
              </a:ln>
            </p:spPr>
            <p:txBody>
              <a:bodyPr/>
              <a:p/>
            </p:txBody>
          </p:sp>
          <p:sp>
            <p:nvSpPr>
              <p:cNvPr id="42" name="TextBox 42"/>
              <p:cNvSpPr txBox="1"/>
              <p:nvPr/>
            </p:nvSpPr>
            <p:spPr>
              <a:xfrm>
                <a:off x="822535" y="4153852"/>
                <a:ext cx="107530" cy="21336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ctr"/>
                <a:r>
                  <a:rPr lang="zh-CN" sz="1050" b="1" dirty="0">
                    <a:solidFill>
                      <a:srgbClr val="FFFFFF"/>
                    </a:solidFill>
                    <a:latin typeface="Arial"/>
                    <a:ea typeface="Microsoft YaHei"/>
                    <a:cs typeface="Arial"/>
                  </a:rPr>
                  <a:t>C</a:t>
                </a:r>
              </a:p>
            </p:txBody>
          </p:sp>
          <p:sp>
            <p:nvSpPr>
              <p:cNvPr id="43" name="TextBox 43"/>
              <p:cNvSpPr txBox="1"/>
              <p:nvPr/>
            </p:nvSpPr>
            <p:spPr>
              <a:xfrm>
                <a:off x="1128712" y="4040981"/>
                <a:ext cx="1312360" cy="2286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l"/>
                <a:r>
                  <a:rPr lang="zh-CN" sz="1125" b="1" dirty="0">
                    <a:solidFill>
                      <a:srgbClr val="2B3648"/>
                    </a:solidFill>
                    <a:latin typeface="Arial"/>
                    <a:ea typeface="Microsoft YaHei"/>
                    <a:cs typeface="Arial"/>
                  </a:rPr>
                  <a:t>技术 · 文档与代码</a:t>
                </a:r>
              </a:p>
            </p:txBody>
          </p:sp>
          <p:sp>
            <p:nvSpPr>
              <p:cNvPr id="44" name="TextBox 44"/>
              <p:cNvSpPr txBox="1"/>
              <p:nvPr/>
            </p:nvSpPr>
            <p:spPr>
              <a:xfrm>
                <a:off x="1129665" y="4258628"/>
                <a:ext cx="3828145" cy="21336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l"/>
                <a:r>
                  <a:rPr lang="zh-CN" sz="1050" dirty="0">
                    <a:solidFill>
                      <a:srgbClr val="5B6B82"/>
                    </a:solidFill>
                    <a:latin typeface="Arial"/>
                    <a:ea typeface="Microsoft YaHei"/>
                    <a:cs typeface="Arial"/>
                  </a:rPr>
                  <a:t>长文档问答出要点；代码初稿（Cursor / Qoder）</a:t>
                </a:r>
              </a:p>
            </p:txBody>
          </p:sp>
        </p:grpSp>
        <p:grpSp>
          <p:nvGrpSpPr>
            <p:cNvPr id="51" name="Group 51"/>
            <p:cNvGrpSpPr/>
            <p:nvPr/>
          </p:nvGrpSpPr>
          <p:grpSpPr>
            <a:xfrm>
              <a:off x="571500" y="4533900"/>
              <a:ext cx="7810500" cy="533400"/>
              <a:chOff x="571500" y="4533900"/>
              <a:chExt cx="7810500" cy="533400"/>
            </a:xfrm>
          </p:grpSpPr>
          <p:sp>
            <p:nvSpPr>
              <p:cNvPr id="46" name="Rectangle 46"/>
              <p:cNvSpPr/>
              <p:nvPr/>
            </p:nvSpPr>
            <p:spPr>
              <a:xfrm>
                <a:off x="571500" y="4533900"/>
                <a:ext cx="7810500" cy="533400"/>
              </a:xfrm>
              <a:prstGeom prst="roundRect">
                <a:avLst>
                  <a:gd name="adj" fmla="val 28571"/>
                </a:avLst>
              </a:prstGeom>
              <a:solidFill>
                <a:srgbClr val="FFFFFF"/>
              </a:solidFill>
              <a:ln w="9525">
                <a:solidFill>
                  <a:srgbClr val="D8E1EC"/>
                </a:solidFill>
              </a:ln>
            </p:spPr>
            <p:txBody>
              <a:bodyPr/>
              <a:p/>
            </p:txBody>
          </p:sp>
          <p:sp>
            <p:nvSpPr>
              <p:cNvPr id="47" name="Ellipse 47"/>
              <p:cNvSpPr/>
              <p:nvPr/>
            </p:nvSpPr>
            <p:spPr>
              <a:xfrm>
                <a:off x="733425" y="4657725"/>
                <a:ext cx="285750" cy="285750"/>
              </a:xfrm>
              <a:prstGeom prst="ellipse">
                <a:avLst/>
              </a:prstGeom>
              <a:solidFill>
                <a:srgbClr val="1565D8"/>
              </a:solidFill>
              <a:ln>
                <a:noFill/>
              </a:ln>
            </p:spPr>
            <p:txBody>
              <a:bodyPr/>
              <a:p/>
            </p:txBody>
          </p:sp>
          <p:sp>
            <p:nvSpPr>
              <p:cNvPr id="48" name="TextBox 48"/>
              <p:cNvSpPr txBox="1"/>
              <p:nvPr/>
            </p:nvSpPr>
            <p:spPr>
              <a:xfrm>
                <a:off x="822535" y="4744402"/>
                <a:ext cx="107530" cy="21336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ctr"/>
                <a:r>
                  <a:rPr lang="zh-CN" sz="1050" b="1" dirty="0">
                    <a:solidFill>
                      <a:srgbClr val="FFFFFF"/>
                    </a:solidFill>
                    <a:latin typeface="Arial"/>
                    <a:ea typeface="Microsoft YaHei"/>
                    <a:cs typeface="Arial"/>
                  </a:rPr>
                  <a:t>D</a:t>
                </a:r>
              </a:p>
            </p:txBody>
          </p:sp>
          <p:sp>
            <p:nvSpPr>
              <p:cNvPr id="49" name="TextBox 49"/>
              <p:cNvSpPr txBox="1"/>
              <p:nvPr/>
            </p:nvSpPr>
            <p:spPr>
              <a:xfrm>
                <a:off x="1128712" y="4631531"/>
                <a:ext cx="1312360" cy="2286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l"/>
                <a:r>
                  <a:rPr lang="zh-CN" sz="1125" b="1" dirty="0">
                    <a:solidFill>
                      <a:srgbClr val="2B3648"/>
                    </a:solidFill>
                    <a:latin typeface="Arial"/>
                    <a:ea typeface="Microsoft YaHei"/>
                    <a:cs typeface="Arial"/>
                  </a:rPr>
                  <a:t>市场 · 材料与创意</a:t>
                </a:r>
              </a:p>
            </p:txBody>
          </p:sp>
          <p:sp>
            <p:nvSpPr>
              <p:cNvPr id="50" name="TextBox 50"/>
              <p:cNvSpPr txBox="1"/>
              <p:nvPr/>
            </p:nvSpPr>
            <p:spPr>
              <a:xfrm>
                <a:off x="1129665" y="4849178"/>
                <a:ext cx="3821144" cy="21336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l"/>
                <a:r>
                  <a:rPr lang="zh-CN" sz="1050" dirty="0">
                    <a:solidFill>
                      <a:srgbClr val="5B6B82"/>
                    </a:solidFill>
                    <a:latin typeface="Arial"/>
                    <a:ea typeface="Microsoft YaHei"/>
                    <a:cs typeface="Arial"/>
                  </a:rPr>
                  <a:t>海报 / 短视频 / 文案一句话生成，人来终审</a:t>
                </a:r>
              </a:p>
            </p:txBody>
          </p:sp>
        </p:grpSp>
        <p:grpSp>
          <p:nvGrpSpPr>
            <p:cNvPr id="57" name="Group 57"/>
            <p:cNvGrpSpPr/>
            <p:nvPr/>
          </p:nvGrpSpPr>
          <p:grpSpPr>
            <a:xfrm>
              <a:off x="571500" y="5124450"/>
              <a:ext cx="7810500" cy="533400"/>
              <a:chOff x="571500" y="5124450"/>
              <a:chExt cx="7810500" cy="533400"/>
            </a:xfrm>
          </p:grpSpPr>
          <p:sp>
            <p:nvSpPr>
              <p:cNvPr id="52" name="Rectangle 52"/>
              <p:cNvSpPr/>
              <p:nvPr/>
            </p:nvSpPr>
            <p:spPr>
              <a:xfrm>
                <a:off x="571500" y="5124450"/>
                <a:ext cx="7810500" cy="533400"/>
              </a:xfrm>
              <a:prstGeom prst="roundRect">
                <a:avLst>
                  <a:gd name="adj" fmla="val 28571"/>
                </a:avLst>
              </a:prstGeom>
              <a:solidFill>
                <a:srgbClr val="FFFFFF"/>
              </a:solidFill>
              <a:ln w="9525">
                <a:solidFill>
                  <a:srgbClr val="D8E1EC"/>
                </a:solidFill>
              </a:ln>
            </p:spPr>
            <p:txBody>
              <a:bodyPr/>
              <a:p/>
            </p:txBody>
          </p:sp>
          <p:sp>
            <p:nvSpPr>
              <p:cNvPr id="53" name="Ellipse 53"/>
              <p:cNvSpPr/>
              <p:nvPr/>
            </p:nvSpPr>
            <p:spPr>
              <a:xfrm>
                <a:off x="733425" y="5248275"/>
                <a:ext cx="285750" cy="285750"/>
              </a:xfrm>
              <a:prstGeom prst="ellipse">
                <a:avLst/>
              </a:prstGeom>
              <a:solidFill>
                <a:srgbClr val="1565D8"/>
              </a:solidFill>
              <a:ln>
                <a:noFill/>
              </a:ln>
            </p:spPr>
            <p:txBody>
              <a:bodyPr/>
              <a:p/>
            </p:txBody>
          </p:sp>
          <p:sp>
            <p:nvSpPr>
              <p:cNvPr id="54" name="TextBox 54"/>
              <p:cNvSpPr txBox="1"/>
              <p:nvPr/>
            </p:nvSpPr>
            <p:spPr>
              <a:xfrm>
                <a:off x="822535" y="5334952"/>
                <a:ext cx="107530" cy="21336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ctr"/>
                <a:r>
                  <a:rPr lang="zh-CN" sz="1050" b="1" dirty="0">
                    <a:solidFill>
                      <a:srgbClr val="FFFFFF"/>
                    </a:solidFill>
                    <a:latin typeface="Arial"/>
                    <a:ea typeface="Microsoft YaHei"/>
                    <a:cs typeface="Arial"/>
                  </a:rPr>
                  <a:t>E</a:t>
                </a:r>
              </a:p>
            </p:txBody>
          </p:sp>
          <p:sp>
            <p:nvSpPr>
              <p:cNvPr id="55" name="TextBox 55"/>
              <p:cNvSpPr txBox="1"/>
              <p:nvPr/>
            </p:nvSpPr>
            <p:spPr>
              <a:xfrm>
                <a:off x="1128712" y="5222081"/>
                <a:ext cx="1312360" cy="2286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l"/>
                <a:r>
                  <a:rPr lang="zh-CN" sz="1125" b="1" dirty="0">
                    <a:solidFill>
                      <a:srgbClr val="2B3648"/>
                    </a:solidFill>
                    <a:latin typeface="Arial"/>
                    <a:ea typeface="Microsoft YaHei"/>
                    <a:cs typeface="Arial"/>
                  </a:rPr>
                  <a:t>全员 · 长文档问答</a:t>
                </a:r>
              </a:p>
            </p:txBody>
          </p:sp>
          <p:sp>
            <p:nvSpPr>
              <p:cNvPr id="56" name="TextBox 56"/>
              <p:cNvSpPr txBox="1"/>
              <p:nvPr/>
            </p:nvSpPr>
            <p:spPr>
              <a:xfrm>
                <a:off x="1129665" y="5439728"/>
                <a:ext cx="3030045" cy="21336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l"/>
                <a:r>
                  <a:rPr lang="zh-CN" sz="1050" dirty="0">
                    <a:solidFill>
                      <a:srgbClr val="5B6B82"/>
                    </a:solidFill>
                    <a:latin typeface="Arial"/>
                    <a:ea typeface="Microsoft YaHei"/>
                    <a:cs typeface="Arial"/>
                  </a:rPr>
                  <a:t>100 页合同 / 制度直接丢给它问；录音转纪要</a:t>
                </a:r>
              </a:p>
            </p:txBody>
          </p:sp>
        </p:grpSp>
      </p:grpSp>
      <p:grpSp>
        <p:nvGrpSpPr>
          <p:cNvPr id="63" name="Group 63"/>
          <p:cNvGrpSpPr/>
          <p:nvPr/>
        </p:nvGrpSpPr>
        <p:grpSpPr>
          <a:xfrm>
            <a:off x="8610600" y="1619250"/>
            <a:ext cx="3009900" cy="4038600"/>
            <a:chOff x="8610600" y="1619250"/>
            <a:chExt cx="3009900" cy="4038600"/>
          </a:xfrm>
        </p:grpSpPr>
        <p:pic>
          <p:nvPicPr>
            <p:cNvPr id="59" name="Image 59"/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8610600" y="1619250"/>
              <a:ext cx="3009900" cy="3009900"/>
            </a:xfrm>
            <a:prstGeom prst="roundRect">
              <a:avLst>
                <a:gd name="adj" fmla="val 5063"/>
              </a:avLst>
            </a:prstGeom>
          </p:spPr>
        </p:pic>
        <p:sp>
          <p:nvSpPr>
            <p:cNvPr id="60" name="Rectangle 60"/>
            <p:cNvSpPr/>
            <p:nvPr/>
          </p:nvSpPr>
          <p:spPr>
            <a:xfrm>
              <a:off x="8610600" y="4781550"/>
              <a:ext cx="3009900" cy="876300"/>
            </a:xfrm>
            <a:prstGeom prst="roundRect">
              <a:avLst>
                <a:gd name="adj" fmla="val 17391"/>
              </a:avLst>
            </a:prstGeom>
            <a:solidFill>
              <a:srgbClr val="FFFFFF"/>
            </a:solidFill>
            <a:ln w="9525">
              <a:solidFill>
                <a:srgbClr val="D8E1EC"/>
              </a:solidFill>
            </a:ln>
          </p:spPr>
          <p:txBody>
            <a:bodyPr/>
            <a:p/>
          </p:txBody>
        </p:sp>
        <p:sp>
          <p:nvSpPr>
            <p:cNvPr id="61" name="TextBox 61"/>
            <p:cNvSpPr txBox="1"/>
            <p:nvPr/>
          </p:nvSpPr>
          <p:spPr>
            <a:xfrm>
              <a:off x="8824912" y="4983956"/>
              <a:ext cx="816173" cy="22860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5" b="1" dirty="0">
                  <a:solidFill>
                    <a:srgbClr val="0B4EA2"/>
                  </a:solidFill>
                  <a:latin typeface="Arial"/>
                  <a:ea typeface="Microsoft YaHei"/>
                  <a:cs typeface="Arial"/>
                </a:rPr>
                <a:t>新手三步：</a:t>
              </a:r>
            </a:p>
          </p:txBody>
        </p:sp>
        <p:sp>
          <p:nvSpPr>
            <p:cNvPr id="62" name="TextBox 62"/>
            <p:cNvSpPr txBox="1"/>
            <p:nvPr/>
          </p:nvSpPr>
          <p:spPr>
            <a:xfrm>
              <a:off x="8824912" y="5250656"/>
              <a:ext cx="1651028" cy="22860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5" b="1" dirty="0">
                  <a:solidFill>
                    <a:srgbClr val="0B4EA2"/>
                  </a:solidFill>
                  <a:latin typeface="Arial"/>
                  <a:ea typeface="Microsoft YaHei"/>
                  <a:cs typeface="Arial"/>
                </a:rPr>
                <a:t>注册 → 问一次 → 改一次</a:t>
              </a:r>
            </a:p>
          </p:txBody>
        </p:sp>
      </p:grpSp>
      <p:grpSp>
        <p:nvGrpSpPr>
          <p:cNvPr id="66" name="Group 66"/>
          <p:cNvGrpSpPr/>
          <p:nvPr/>
        </p:nvGrpSpPr>
        <p:grpSpPr>
          <a:xfrm>
            <a:off x="560070" y="6341745"/>
            <a:ext cx="11071860" cy="182880"/>
            <a:chOff x="560070" y="6341745"/>
            <a:chExt cx="11071860" cy="182880"/>
          </a:xfrm>
        </p:grpSpPr>
        <p:sp>
          <p:nvSpPr>
            <p:cNvPr id="64" name="TextBox 64"/>
            <p:cNvSpPr txBox="1"/>
            <p:nvPr/>
          </p:nvSpPr>
          <p:spPr>
            <a:xfrm>
              <a:off x="560070" y="6341745"/>
              <a:ext cx="1054989" cy="18288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00" dirty="0">
                  <a:solidFill>
                    <a:srgbClr val="8B99AE"/>
                  </a:solidFill>
                  <a:latin typeface="Arial"/>
                  <a:ea typeface="Microsoft YaHei"/>
                  <a:cs typeface="Arial"/>
                </a:rPr>
                <a:t>大模型通识 · 企业版</a:t>
              </a:r>
            </a:p>
          </p:txBody>
        </p:sp>
        <p:sp>
          <p:nvSpPr>
            <p:cNvPr id="65" name="TextBox 65"/>
            <p:cNvSpPr txBox="1"/>
            <p:nvPr/>
          </p:nvSpPr>
          <p:spPr>
            <a:xfrm>
              <a:off x="11207020" y="6341745"/>
              <a:ext cx="424910" cy="18288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r"/>
              <a:r>
                <a:rPr lang="zh-CN" sz="900" dirty="0">
                  <a:solidFill>
                    <a:srgbClr val="8B99AE"/>
                  </a:solidFill>
                  <a:latin typeface="Arial"/>
                  <a:ea typeface="Microsoft YaHei"/>
                  <a:cs typeface="Arial"/>
                </a:rPr>
                <a:t>31 / 51</a:t>
              </a:r>
            </a:p>
          </p:txBody>
        </p:sp>
      </p:grpSp>
    </p:spTree>
  </p:cSld>
  <p:clrMapOvr>
    <a:masterClrMapping/>
  </p:clrMapOvr>
  <p:transition xmlns:p14="http://schemas.microsoft.com/office/powerpoint/2010/main" p14:dur="400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900"/>
                            </p:stCondLst>
                            <p:childTnLst>
                              <p:par>
                                <p:cTn id="9" presetID="2" presetClass="entr" presetSubtype="4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slide(fromBottom)">
                                      <p:cBhvr>
                                        <p:cTn id="11" dur="4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2" fill="hold">
                            <p:stCondLst>
                              <p:cond delay="1800"/>
                            </p:stCondLst>
                            <p:childTnLst>
                              <p:par>
                                <p:cTn id="13" presetID="2" presetClass="entr" presetSubtype="4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slide(fromBottom)">
                                      <p:cBhvr>
                                        <p:cTn id="15" dur="4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6" fill="hold">
                            <p:stCondLst>
                              <p:cond delay="2700"/>
                            </p:stCondLst>
                            <p:childTnLst>
                              <p:par>
                                <p:cTn id="17" presetID="2" presetClass="entr" presetSubtype="4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slide(fromBottom)">
                                      <p:cBhvr>
                                        <p:cTn id="19" dur="4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0" fill="hold">
                            <p:stCondLst>
                              <p:cond delay="3600"/>
                            </p:stCondLst>
                            <p:childTnLst>
                              <p:par>
                                <p:cTn id="21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400"/>
                                        <p:tgtEl>
                                          <p:spTgt spid="5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4" fill="hold">
                            <p:stCondLst>
                              <p:cond delay="4500"/>
                            </p:stCondLst>
                            <p:childTnLst>
                              <p:par>
                                <p:cTn id="25" presetID="22" presetClass="entr" presetSubtype="1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7" dur="400"/>
                                        <p:tgtEl>
                                          <p:spTgt spid="6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2" grpId="0"/>
      <p:bldP spid="17" grpId="0"/>
      <p:bldP spid="22" grpId="0"/>
      <p:bldP spid="27" grpId="0"/>
      <p:bldP spid="58" grpId="0"/>
      <p:bldP spid="63" grpId="0"/>
    </p:bldLst>
  </p:timing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5" name="Group 5"/>
          <p:cNvGrpSpPr/>
          <p:nvPr/>
        </p:nvGrpSpPr>
        <p:grpSpPr>
          <a:xfrm>
            <a:off x="-1619250" y="0"/>
            <a:ext cx="13811250" cy="8477250"/>
            <a:chOff x="-1619250" y="0"/>
            <a:chExt cx="13811250" cy="8477250"/>
          </a:xfrm>
        </p:grpSpPr>
        <p:sp>
          <p:nvSpPr>
            <p:cNvPr id="2" name="Rectangle 2"/>
            <p:cNvSpPr/>
            <p:nvPr/>
          </p:nvSpPr>
          <p:spPr>
            <a:xfrm>
              <a:off x="0" y="0"/>
              <a:ext cx="12192000" cy="6858000"/>
            </a:xfrm>
            <a:prstGeom prst="rect">
              <a:avLst/>
            </a:prstGeom>
            <a:solidFill>
              <a:srgbClr val="F5F7FA"/>
            </a:solidFill>
            <a:ln>
              <a:noFill/>
            </a:ln>
          </p:spPr>
          <p:txBody>
            <a:bodyPr/>
            <a:p/>
          </p:txBody>
        </p:sp>
        <p:sp>
          <p:nvSpPr>
            <p:cNvPr id="3" name="Rectangle 3"/>
            <p:cNvSpPr/>
            <p:nvPr/>
          </p:nvSpPr>
          <p:spPr>
            <a:xfrm>
              <a:off x="0" y="0"/>
              <a:ext cx="12192000" cy="6858000"/>
            </a:xfrm>
            <a:prstGeom prst="rect">
              <a:avLst/>
            </a:prstGeom>
            <a:gradFill>
              <a:gsLst>
                <a:gs pos="0">
                  <a:srgbClr val="1565D8">
                    <a:alpha val="6000"/>
                  </a:srgbClr>
                </a:gs>
                <a:gs pos="100000">
                  <a:srgbClr val="1565D8">
                    <a:alpha val="0"/>
                  </a:srgbClr>
                </a:gs>
              </a:gsLst>
              <a:path path="circle">
                <a:fillToRect l="50000" t="50000" r="50000" b="50000"/>
              </a:path>
            </a:gradFill>
            <a:ln>
              <a:noFill/>
            </a:ln>
          </p:spPr>
          <p:txBody>
            <a:bodyPr/>
            <a:p/>
          </p:txBody>
        </p:sp>
        <p:sp>
          <p:nvSpPr>
            <p:cNvPr id="4" name="Ellipse 4"/>
            <p:cNvSpPr/>
            <p:nvPr/>
          </p:nvSpPr>
          <p:spPr>
            <a:xfrm>
              <a:off x="-1619250" y="4667250"/>
              <a:ext cx="3810000" cy="3810000"/>
            </a:xfrm>
            <a:prstGeom prst="ellipse">
              <a:avLst/>
            </a:prstGeom>
            <a:noFill/>
            <a:ln w="14288">
              <a:solidFill>
                <a:srgbClr val="D6E6F9">
                  <a:alpha val="80000"/>
                </a:srgbClr>
              </a:solidFill>
            </a:ln>
          </p:spPr>
          <p:txBody>
            <a:bodyPr/>
            <a:p/>
          </p:txBody>
        </p:sp>
      </p:grpSp>
      <p:grpSp>
        <p:nvGrpSpPr>
          <p:cNvPr id="9" name="Group 9"/>
          <p:cNvGrpSpPr/>
          <p:nvPr/>
        </p:nvGrpSpPr>
        <p:grpSpPr>
          <a:xfrm>
            <a:off x="571500" y="685800"/>
            <a:ext cx="4233243" cy="700088"/>
            <a:chOff x="571500" y="685800"/>
            <a:chExt cx="4233243" cy="700088"/>
          </a:xfrm>
        </p:grpSpPr>
        <p:sp>
          <p:nvSpPr>
            <p:cNvPr id="6" name="Rectangle 6"/>
            <p:cNvSpPr/>
            <p:nvPr/>
          </p:nvSpPr>
          <p:spPr>
            <a:xfrm>
              <a:off x="571500" y="685800"/>
              <a:ext cx="76200" cy="323850"/>
            </a:xfrm>
            <a:prstGeom prst="roundRect">
              <a:avLst>
                <a:gd name="adj" fmla="val 50000"/>
              </a:avLst>
            </a:prstGeom>
            <a:solidFill>
              <a:srgbClr val="1565D8"/>
            </a:solidFill>
            <a:ln>
              <a:noFill/>
            </a:ln>
          </p:spPr>
          <p:txBody>
            <a:bodyPr/>
            <a:p/>
          </p:txBody>
        </p:sp>
        <p:sp>
          <p:nvSpPr>
            <p:cNvPr id="7" name="TextBox 7"/>
            <p:cNvSpPr txBox="1"/>
            <p:nvPr/>
          </p:nvSpPr>
          <p:spPr>
            <a:xfrm>
              <a:off x="771525" y="700088"/>
              <a:ext cx="3664351" cy="45720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2250" b="1" dirty="0">
                  <a:solidFill>
                    <a:srgbClr val="2B3648"/>
                  </a:solidFill>
                  <a:latin typeface="Arial"/>
                  <a:ea typeface="Microsoft YaHei"/>
                  <a:cs typeface="Arial"/>
                </a:rPr>
                <a:t>WorkBuddy 六大核心能力</a:t>
              </a:r>
            </a:p>
          </p:txBody>
        </p:sp>
        <p:sp>
          <p:nvSpPr>
            <p:cNvPr id="8" name="TextBox 8"/>
            <p:cNvSpPr txBox="1"/>
            <p:nvPr/>
          </p:nvSpPr>
          <p:spPr>
            <a:xfrm>
              <a:off x="782955" y="1111568"/>
              <a:ext cx="4021788" cy="27432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5B6B82"/>
                  </a:solidFill>
                  <a:latin typeface="Arial"/>
                  <a:ea typeface="Microsoft YaHei"/>
                  <a:cs typeface="Arial"/>
                </a:rPr>
                <a:t>AI 工作助理：你说目标，它自动拆解、执行、交付</a:t>
              </a:r>
            </a:p>
          </p:txBody>
        </p:sp>
      </p:grpSp>
      <p:grpSp>
        <p:nvGrpSpPr>
          <p:cNvPr id="79" name="Group 79"/>
          <p:cNvGrpSpPr/>
          <p:nvPr/>
        </p:nvGrpSpPr>
        <p:grpSpPr>
          <a:xfrm>
            <a:off x="571500" y="1619250"/>
            <a:ext cx="10991850" cy="3943350"/>
            <a:chOff x="571500" y="1619250"/>
            <a:chExt cx="10991850" cy="3943350"/>
          </a:xfrm>
        </p:grpSpPr>
        <p:grpSp>
          <p:nvGrpSpPr>
            <p:cNvPr id="19" name="Group 19"/>
            <p:cNvGrpSpPr/>
            <p:nvPr/>
          </p:nvGrpSpPr>
          <p:grpSpPr>
            <a:xfrm>
              <a:off x="571500" y="1619250"/>
              <a:ext cx="3524250" cy="1905000"/>
              <a:chOff x="571500" y="1619250"/>
              <a:chExt cx="3524250" cy="1905000"/>
            </a:xfrm>
          </p:grpSpPr>
          <p:sp>
            <p:nvSpPr>
              <p:cNvPr id="10" name="Rectangle 10"/>
              <p:cNvSpPr/>
              <p:nvPr/>
            </p:nvSpPr>
            <p:spPr>
              <a:xfrm>
                <a:off x="571500" y="1619250"/>
                <a:ext cx="3524250" cy="1905000"/>
              </a:xfrm>
              <a:prstGeom prst="roundRect">
                <a:avLst>
                  <a:gd name="adj" fmla="val 8000"/>
                </a:avLst>
              </a:prstGeom>
              <a:solidFill>
                <a:srgbClr val="FFFFFF"/>
              </a:solidFill>
              <a:ln w="9525">
                <a:solidFill>
                  <a:srgbClr val="D8E1EC"/>
                </a:solidFill>
              </a:ln>
            </p:spPr>
            <p:txBody>
              <a:bodyPr/>
              <a:p/>
            </p:txBody>
          </p:sp>
          <p:sp>
            <p:nvSpPr>
              <p:cNvPr id="11" name="Ellipse 11"/>
              <p:cNvSpPr/>
              <p:nvPr/>
            </p:nvSpPr>
            <p:spPr>
              <a:xfrm>
                <a:off x="628650" y="1790700"/>
                <a:ext cx="381000" cy="381000"/>
              </a:xfrm>
              <a:prstGeom prst="ellipse">
                <a:avLst/>
              </a:prstGeom>
              <a:solidFill>
                <a:srgbClr val="D6E6F9"/>
              </a:solidFill>
              <a:ln>
                <a:noFill/>
              </a:ln>
            </p:spPr>
            <p:txBody>
              <a:bodyPr/>
              <a:p/>
            </p:txBody>
          </p:sp>
          <p:grpSp>
            <p:nvGrpSpPr>
              <p:cNvPr id="14" name="Group 14"/>
              <p:cNvGrpSpPr/>
              <p:nvPr/>
            </p:nvGrpSpPr>
            <p:grpSpPr>
              <a:xfrm>
                <a:off x="730369" y="1895475"/>
                <a:ext cx="174506" cy="174506"/>
                <a:chOff x="730369" y="1895475"/>
                <a:chExt cx="174506" cy="174506"/>
              </a:xfrm>
            </p:grpSpPr>
            <p:sp>
              <p:nvSpPr>
                <p:cNvPr id="12" name="Freeform 12"/>
                <p:cNvSpPr/>
                <p:nvPr/>
              </p:nvSpPr>
              <p:spPr>
                <a:xfrm>
                  <a:off x="800100" y="1895475"/>
                  <a:ext cx="104775" cy="104775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104775" h="104775">
                      <a:moveTo>
                        <a:pt x="0" y="104775"/>
                      </a:moveTo>
                      <a:lnTo>
                        <a:pt x="104775" y="0"/>
                      </a:lnTo>
                    </a:path>
                  </a:pathLst>
                </a:custGeom>
                <a:noFill/>
                <a:ln w="19050">
                  <a:solidFill>
                    <a:srgbClr val="1565D8"/>
                  </a:solidFill>
                </a:ln>
              </p:spPr>
              <p:txBody>
                <a:bodyPr/>
                <a:p/>
              </p:txBody>
            </p:sp>
            <p:sp>
              <p:nvSpPr>
                <p:cNvPr id="13" name="Freeform 13"/>
                <p:cNvSpPr/>
                <p:nvPr/>
              </p:nvSpPr>
              <p:spPr>
                <a:xfrm>
                  <a:off x="730369" y="1895475"/>
                  <a:ext cx="174506" cy="174506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174506" h="174506">
                      <a:moveTo>
                        <a:pt x="174506" y="0"/>
                      </a:moveTo>
                      <a:lnTo>
                        <a:pt x="112594" y="171450"/>
                      </a:lnTo>
                      <a:cubicBezTo>
                        <a:pt x="111740" y="173312"/>
                        <a:pt x="109880" y="174506"/>
                        <a:pt x="107831" y="174506"/>
                      </a:cubicBezTo>
                      <a:cubicBezTo>
                        <a:pt x="105783" y="174506"/>
                        <a:pt x="103922" y="173312"/>
                        <a:pt x="103069" y="171450"/>
                      </a:cubicBezTo>
                      <a:lnTo>
                        <a:pt x="69731" y="104775"/>
                      </a:lnTo>
                      <a:lnTo>
                        <a:pt x="3056" y="71438"/>
                      </a:lnTo>
                      <a:cubicBezTo>
                        <a:pt x="1194" y="70584"/>
                        <a:pt x="0" y="68724"/>
                        <a:pt x="0" y="66675"/>
                      </a:cubicBezTo>
                      <a:cubicBezTo>
                        <a:pt x="0" y="64626"/>
                        <a:pt x="1194" y="62766"/>
                        <a:pt x="3056" y="61912"/>
                      </a:cubicBezTo>
                      <a:lnTo>
                        <a:pt x="174506" y="0"/>
                      </a:lnTo>
                    </a:path>
                  </a:pathLst>
                </a:custGeom>
                <a:noFill/>
                <a:ln w="19050">
                  <a:solidFill>
                    <a:srgbClr val="1565D8"/>
                  </a:solidFill>
                </a:ln>
              </p:spPr>
              <p:txBody>
                <a:bodyPr/>
                <a:p/>
              </p:txBody>
            </p:sp>
          </p:grpSp>
          <p:sp>
            <p:nvSpPr>
              <p:cNvPr id="15" name="TextBox 15"/>
              <p:cNvSpPr txBox="1"/>
              <p:nvPr/>
            </p:nvSpPr>
            <p:spPr>
              <a:xfrm>
                <a:off x="1104900" y="1895475"/>
                <a:ext cx="1476780" cy="3048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l"/>
                <a:r>
                  <a:rPr lang="zh-CN" sz="1500" b="1" dirty="0">
                    <a:solidFill>
                      <a:srgbClr val="2B3648"/>
                    </a:solidFill>
                    <a:latin typeface="Arial"/>
                    <a:ea typeface="Microsoft YaHei"/>
                    <a:cs typeface="Arial"/>
                  </a:rPr>
                  <a:t>① 一句话办任务</a:t>
                </a:r>
              </a:p>
            </p:txBody>
          </p:sp>
          <p:sp>
            <p:nvSpPr>
              <p:cNvPr id="16" name="TextBox 16"/>
              <p:cNvSpPr txBox="1"/>
              <p:nvPr/>
            </p:nvSpPr>
            <p:spPr>
              <a:xfrm>
                <a:off x="786765" y="2306002"/>
                <a:ext cx="2266950" cy="21336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l"/>
                <a:r>
                  <a:rPr lang="zh-CN" sz="1050" dirty="0">
                    <a:solidFill>
                      <a:srgbClr val="5B6B82"/>
                    </a:solidFill>
                    <a:latin typeface="Arial"/>
                    <a:ea typeface="Microsoft YaHei"/>
                    <a:cs typeface="Arial"/>
                  </a:rPr>
                  <a:t>给目标，它自动拆解执行、直接交付</a:t>
                </a:r>
              </a:p>
            </p:txBody>
          </p:sp>
          <p:sp>
            <p:nvSpPr>
              <p:cNvPr id="17" name="Rectangle 17"/>
              <p:cNvSpPr/>
              <p:nvPr/>
            </p:nvSpPr>
            <p:spPr>
              <a:xfrm>
                <a:off x="800100" y="2628900"/>
                <a:ext cx="3067050" cy="419100"/>
              </a:xfrm>
              <a:prstGeom prst="roundRect">
                <a:avLst>
                  <a:gd name="adj" fmla="val 36364"/>
                </a:avLst>
              </a:prstGeom>
              <a:solidFill>
                <a:srgbClr val="E9EEF5"/>
              </a:solidFill>
              <a:ln>
                <a:noFill/>
              </a:ln>
            </p:spPr>
            <p:txBody>
              <a:bodyPr/>
              <a:p/>
            </p:txBody>
          </p:sp>
          <p:sp>
            <p:nvSpPr>
              <p:cNvPr id="18" name="TextBox 18"/>
              <p:cNvSpPr txBox="1"/>
              <p:nvPr/>
            </p:nvSpPr>
            <p:spPr>
              <a:xfrm>
                <a:off x="977265" y="2782252"/>
                <a:ext cx="2643597" cy="21336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l"/>
                <a:r>
                  <a:rPr lang="zh-CN" sz="1050" b="1" dirty="0">
                    <a:solidFill>
                      <a:srgbClr val="0B4EA2"/>
                    </a:solidFill>
                    <a:latin typeface="Arial"/>
                    <a:ea typeface="Microsoft YaHei"/>
                    <a:cs typeface="Arial"/>
                  </a:rPr>
                  <a:t>例：「把这 10 份资料整理成 1 份 PPT」</a:t>
                </a:r>
              </a:p>
            </p:txBody>
          </p:sp>
        </p:grpSp>
        <p:grpSp>
          <p:nvGrpSpPr>
            <p:cNvPr id="32" name="Group 32"/>
            <p:cNvGrpSpPr/>
            <p:nvPr/>
          </p:nvGrpSpPr>
          <p:grpSpPr>
            <a:xfrm>
              <a:off x="4305300" y="1619250"/>
              <a:ext cx="3524250" cy="1905000"/>
              <a:chOff x="4305300" y="1619250"/>
              <a:chExt cx="3524250" cy="1905000"/>
            </a:xfrm>
          </p:grpSpPr>
          <p:sp>
            <p:nvSpPr>
              <p:cNvPr id="20" name="Rectangle 20"/>
              <p:cNvSpPr/>
              <p:nvPr/>
            </p:nvSpPr>
            <p:spPr>
              <a:xfrm>
                <a:off x="4305300" y="1619250"/>
                <a:ext cx="3524250" cy="1905000"/>
              </a:xfrm>
              <a:prstGeom prst="roundRect">
                <a:avLst>
                  <a:gd name="adj" fmla="val 8000"/>
                </a:avLst>
              </a:prstGeom>
              <a:solidFill>
                <a:srgbClr val="FFFFFF"/>
              </a:solidFill>
              <a:ln w="9525">
                <a:solidFill>
                  <a:srgbClr val="D8E1EC"/>
                </a:solidFill>
              </a:ln>
            </p:spPr>
            <p:txBody>
              <a:bodyPr/>
              <a:p/>
            </p:txBody>
          </p:sp>
          <p:sp>
            <p:nvSpPr>
              <p:cNvPr id="21" name="Ellipse 21"/>
              <p:cNvSpPr/>
              <p:nvPr/>
            </p:nvSpPr>
            <p:spPr>
              <a:xfrm>
                <a:off x="4362450" y="1790700"/>
                <a:ext cx="381000" cy="381000"/>
              </a:xfrm>
              <a:prstGeom prst="ellipse">
                <a:avLst/>
              </a:prstGeom>
              <a:solidFill>
                <a:srgbClr val="D6E6F9"/>
              </a:solidFill>
              <a:ln>
                <a:noFill/>
              </a:ln>
            </p:spPr>
            <p:txBody>
              <a:bodyPr/>
              <a:p/>
            </p:txBody>
          </p:sp>
          <p:grpSp>
            <p:nvGrpSpPr>
              <p:cNvPr id="27" name="Group 27"/>
              <p:cNvGrpSpPr/>
              <p:nvPr/>
            </p:nvGrpSpPr>
            <p:grpSpPr>
              <a:xfrm>
                <a:off x="4467225" y="1905000"/>
                <a:ext cx="171450" cy="161925"/>
                <a:chOff x="4467225" y="1905000"/>
                <a:chExt cx="171450" cy="161925"/>
              </a:xfrm>
            </p:grpSpPr>
            <p:sp>
              <p:nvSpPr>
                <p:cNvPr id="22" name="Freeform 22"/>
                <p:cNvSpPr/>
                <p:nvPr/>
              </p:nvSpPr>
              <p:spPr>
                <a:xfrm>
                  <a:off x="4467225" y="1905000"/>
                  <a:ext cx="171450" cy="9525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171450" h="9525">
                      <a:moveTo>
                        <a:pt x="0" y="0"/>
                      </a:moveTo>
                      <a:lnTo>
                        <a:pt x="171450" y="0"/>
                      </a:lnTo>
                    </a:path>
                  </a:pathLst>
                </a:custGeom>
                <a:noFill/>
                <a:ln w="19050">
                  <a:solidFill>
                    <a:srgbClr val="1565D8"/>
                  </a:solidFill>
                </a:ln>
              </p:spPr>
              <p:txBody>
                <a:bodyPr/>
                <a:p/>
              </p:txBody>
            </p:sp>
            <p:sp>
              <p:nvSpPr>
                <p:cNvPr id="23" name="Freeform 23"/>
                <p:cNvSpPr/>
                <p:nvPr/>
              </p:nvSpPr>
              <p:spPr>
                <a:xfrm>
                  <a:off x="4476750" y="1905000"/>
                  <a:ext cx="152400" cy="114300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152400" h="114300">
                      <a:moveTo>
                        <a:pt x="0" y="0"/>
                      </a:moveTo>
                      <a:lnTo>
                        <a:pt x="0" y="95250"/>
                      </a:lnTo>
                      <a:cubicBezTo>
                        <a:pt x="0" y="105771"/>
                        <a:pt x="8529" y="114300"/>
                        <a:pt x="19050" y="114300"/>
                      </a:cubicBezTo>
                      <a:lnTo>
                        <a:pt x="133350" y="114300"/>
                      </a:lnTo>
                      <a:cubicBezTo>
                        <a:pt x="143871" y="114300"/>
                        <a:pt x="152400" y="105771"/>
                        <a:pt x="152400" y="95250"/>
                      </a:cubicBezTo>
                      <a:lnTo>
                        <a:pt x="152400" y="0"/>
                      </a:lnTo>
                    </a:path>
                  </a:pathLst>
                </a:custGeom>
                <a:noFill/>
                <a:ln w="19050">
                  <a:solidFill>
                    <a:srgbClr val="1565D8"/>
                  </a:solidFill>
                </a:ln>
              </p:spPr>
              <p:txBody>
                <a:bodyPr/>
                <a:p/>
              </p:txBody>
            </p:sp>
            <p:sp>
              <p:nvSpPr>
                <p:cNvPr id="24" name="Freeform 24"/>
                <p:cNvSpPr/>
                <p:nvPr/>
              </p:nvSpPr>
              <p:spPr>
                <a:xfrm>
                  <a:off x="4552950" y="2019300"/>
                  <a:ext cx="9525" cy="38100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9525" h="38100">
                      <a:moveTo>
                        <a:pt x="0" y="0"/>
                      </a:moveTo>
                      <a:lnTo>
                        <a:pt x="0" y="38100"/>
                      </a:lnTo>
                    </a:path>
                  </a:pathLst>
                </a:custGeom>
                <a:noFill/>
                <a:ln w="19050">
                  <a:solidFill>
                    <a:srgbClr val="1565D8"/>
                  </a:solidFill>
                </a:ln>
              </p:spPr>
              <p:txBody>
                <a:bodyPr/>
                <a:p/>
              </p:txBody>
            </p:sp>
            <p:sp>
              <p:nvSpPr>
                <p:cNvPr id="25" name="Freeform 25"/>
                <p:cNvSpPr/>
                <p:nvPr/>
              </p:nvSpPr>
              <p:spPr>
                <a:xfrm>
                  <a:off x="4524375" y="2057400"/>
                  <a:ext cx="57150" cy="9525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57150" h="9525">
                      <a:moveTo>
                        <a:pt x="0" y="0"/>
                      </a:moveTo>
                      <a:lnTo>
                        <a:pt x="57150" y="0"/>
                      </a:lnTo>
                    </a:path>
                  </a:pathLst>
                </a:custGeom>
                <a:noFill/>
                <a:ln w="19050">
                  <a:solidFill>
                    <a:srgbClr val="1565D8"/>
                  </a:solidFill>
                </a:ln>
              </p:spPr>
              <p:txBody>
                <a:bodyPr/>
                <a:p/>
              </p:txBody>
            </p:sp>
            <p:sp>
              <p:nvSpPr>
                <p:cNvPr id="26" name="Freeform 26"/>
                <p:cNvSpPr/>
                <p:nvPr/>
              </p:nvSpPr>
              <p:spPr>
                <a:xfrm>
                  <a:off x="4514850" y="1943100"/>
                  <a:ext cx="76200" cy="38100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76200" h="38100">
                      <a:moveTo>
                        <a:pt x="0" y="38100"/>
                      </a:moveTo>
                      <a:lnTo>
                        <a:pt x="28575" y="9525"/>
                      </a:lnTo>
                      <a:lnTo>
                        <a:pt x="47625" y="28575"/>
                      </a:lnTo>
                      <a:lnTo>
                        <a:pt x="76200" y="0"/>
                      </a:lnTo>
                    </a:path>
                  </a:pathLst>
                </a:custGeom>
                <a:noFill/>
                <a:ln w="19050">
                  <a:solidFill>
                    <a:srgbClr val="1565D8"/>
                  </a:solidFill>
                </a:ln>
              </p:spPr>
              <p:txBody>
                <a:bodyPr/>
                <a:p/>
              </p:txBody>
            </p:sp>
          </p:grpSp>
          <p:sp>
            <p:nvSpPr>
              <p:cNvPr id="28" name="TextBox 28"/>
              <p:cNvSpPr txBox="1"/>
              <p:nvPr/>
            </p:nvSpPr>
            <p:spPr>
              <a:xfrm>
                <a:off x="4838700" y="1895475"/>
                <a:ext cx="1466279" cy="3048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l"/>
                <a:r>
                  <a:rPr lang="zh-CN" sz="1500" b="1" dirty="0">
                    <a:solidFill>
                      <a:srgbClr val="2B3648"/>
                    </a:solidFill>
                    <a:latin typeface="Arial"/>
                    <a:ea typeface="Microsoft YaHei"/>
                    <a:cs typeface="Arial"/>
                  </a:rPr>
                  <a:t>② 做文档与 PPT</a:t>
                </a:r>
              </a:p>
            </p:txBody>
          </p:sp>
          <p:sp>
            <p:nvSpPr>
              <p:cNvPr id="29" name="TextBox 29"/>
              <p:cNvSpPr txBox="1"/>
              <p:nvPr/>
            </p:nvSpPr>
            <p:spPr>
              <a:xfrm>
                <a:off x="4520565" y="2306002"/>
                <a:ext cx="2217944" cy="21336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l"/>
                <a:r>
                  <a:rPr lang="zh-CN" sz="1050" dirty="0">
                    <a:solidFill>
                      <a:srgbClr val="5B6B82"/>
                    </a:solidFill>
                    <a:latin typeface="Arial"/>
                    <a:ea typeface="Microsoft YaHei"/>
                    <a:cs typeface="Arial"/>
                  </a:rPr>
                  <a:t>方案、报告、合同、PPT，直接产出</a:t>
                </a:r>
              </a:p>
            </p:txBody>
          </p:sp>
          <p:sp>
            <p:nvSpPr>
              <p:cNvPr id="30" name="Rectangle 30"/>
              <p:cNvSpPr/>
              <p:nvPr/>
            </p:nvSpPr>
            <p:spPr>
              <a:xfrm>
                <a:off x="4533900" y="2628900"/>
                <a:ext cx="3067050" cy="419100"/>
              </a:xfrm>
              <a:prstGeom prst="roundRect">
                <a:avLst>
                  <a:gd name="adj" fmla="val 36364"/>
                </a:avLst>
              </a:prstGeom>
              <a:solidFill>
                <a:srgbClr val="E9EEF5"/>
              </a:solidFill>
              <a:ln>
                <a:noFill/>
              </a:ln>
            </p:spPr>
            <p:txBody>
              <a:bodyPr/>
              <a:p/>
            </p:txBody>
          </p:sp>
          <p:sp>
            <p:nvSpPr>
              <p:cNvPr id="31" name="TextBox 31"/>
              <p:cNvSpPr txBox="1"/>
              <p:nvPr/>
            </p:nvSpPr>
            <p:spPr>
              <a:xfrm>
                <a:off x="4711065" y="2782252"/>
                <a:ext cx="2717106" cy="21336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l"/>
                <a:r>
                  <a:rPr lang="zh-CN" sz="1050" b="1" dirty="0">
                    <a:solidFill>
                      <a:srgbClr val="0B4EA2"/>
                    </a:solidFill>
                    <a:latin typeface="Arial"/>
                    <a:ea typeface="Microsoft YaHei"/>
                    <a:cs typeface="Arial"/>
                  </a:rPr>
                  <a:t>可编辑文件；页数 / 风格 / 结构都能指定</a:t>
                </a:r>
              </a:p>
            </p:txBody>
          </p:sp>
        </p:grpSp>
        <p:grpSp>
          <p:nvGrpSpPr>
            <p:cNvPr id="43" name="Group 43"/>
            <p:cNvGrpSpPr/>
            <p:nvPr/>
          </p:nvGrpSpPr>
          <p:grpSpPr>
            <a:xfrm>
              <a:off x="8039100" y="1619250"/>
              <a:ext cx="3524250" cy="1905000"/>
              <a:chOff x="8039100" y="1619250"/>
              <a:chExt cx="3524250" cy="1905000"/>
            </a:xfrm>
          </p:grpSpPr>
          <p:sp>
            <p:nvSpPr>
              <p:cNvPr id="33" name="Rectangle 33"/>
              <p:cNvSpPr/>
              <p:nvPr/>
            </p:nvSpPr>
            <p:spPr>
              <a:xfrm>
                <a:off x="8039100" y="1619250"/>
                <a:ext cx="3524250" cy="1905000"/>
              </a:xfrm>
              <a:prstGeom prst="roundRect">
                <a:avLst>
                  <a:gd name="adj" fmla="val 8000"/>
                </a:avLst>
              </a:prstGeom>
              <a:solidFill>
                <a:srgbClr val="FFFFFF"/>
              </a:solidFill>
              <a:ln w="9525">
                <a:solidFill>
                  <a:srgbClr val="D8E1EC"/>
                </a:solidFill>
              </a:ln>
            </p:spPr>
            <p:txBody>
              <a:bodyPr/>
              <a:p/>
            </p:txBody>
          </p:sp>
          <p:sp>
            <p:nvSpPr>
              <p:cNvPr id="34" name="Ellipse 34"/>
              <p:cNvSpPr/>
              <p:nvPr/>
            </p:nvSpPr>
            <p:spPr>
              <a:xfrm>
                <a:off x="8096250" y="1790700"/>
                <a:ext cx="381000" cy="381000"/>
              </a:xfrm>
              <a:prstGeom prst="ellipse">
                <a:avLst/>
              </a:prstGeom>
              <a:solidFill>
                <a:srgbClr val="D6E6F9"/>
              </a:solidFill>
              <a:ln>
                <a:noFill/>
              </a:ln>
            </p:spPr>
            <p:txBody>
              <a:bodyPr/>
              <a:p/>
            </p:txBody>
          </p:sp>
          <p:grpSp>
            <p:nvGrpSpPr>
              <p:cNvPr id="38" name="Group 38"/>
              <p:cNvGrpSpPr/>
              <p:nvPr/>
            </p:nvGrpSpPr>
            <p:grpSpPr>
              <a:xfrm>
                <a:off x="8201025" y="1895475"/>
                <a:ext cx="171450" cy="171450"/>
                <a:chOff x="8201025" y="1895475"/>
                <a:chExt cx="171450" cy="171450"/>
              </a:xfrm>
            </p:grpSpPr>
            <p:sp>
              <p:nvSpPr>
                <p:cNvPr id="35" name="Freeform 35"/>
                <p:cNvSpPr/>
                <p:nvPr/>
              </p:nvSpPr>
              <p:spPr>
                <a:xfrm>
                  <a:off x="8201025" y="1895475"/>
                  <a:ext cx="171450" cy="171450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171450" h="171450">
                      <a:moveTo>
                        <a:pt x="0" y="19050"/>
                      </a:moveTo>
                      <a:cubicBezTo>
                        <a:pt x="0" y="8529"/>
                        <a:pt x="8529" y="0"/>
                        <a:pt x="19050" y="0"/>
                      </a:cubicBezTo>
                      <a:lnTo>
                        <a:pt x="152400" y="0"/>
                      </a:lnTo>
                      <a:cubicBezTo>
                        <a:pt x="162921" y="0"/>
                        <a:pt x="171450" y="8529"/>
                        <a:pt x="171450" y="19050"/>
                      </a:cubicBezTo>
                      <a:lnTo>
                        <a:pt x="171450" y="152400"/>
                      </a:lnTo>
                      <a:cubicBezTo>
                        <a:pt x="171450" y="162921"/>
                        <a:pt x="162921" y="171450"/>
                        <a:pt x="152400" y="171450"/>
                      </a:cubicBezTo>
                      <a:lnTo>
                        <a:pt x="19050" y="171450"/>
                      </a:lnTo>
                      <a:cubicBezTo>
                        <a:pt x="8529" y="171450"/>
                        <a:pt x="0" y="162921"/>
                        <a:pt x="0" y="152400"/>
                      </a:cubicBezTo>
                      <a:lnTo>
                        <a:pt x="0" y="19050"/>
                      </a:lnTo>
                    </a:path>
                  </a:pathLst>
                </a:custGeom>
                <a:noFill/>
                <a:ln w="19050">
                  <a:solidFill>
                    <a:srgbClr val="1565D8"/>
                  </a:solidFill>
                </a:ln>
              </p:spPr>
              <p:txBody>
                <a:bodyPr/>
                <a:p/>
              </p:txBody>
            </p:sp>
            <p:sp>
              <p:nvSpPr>
                <p:cNvPr id="36" name="Freeform 36"/>
                <p:cNvSpPr/>
                <p:nvPr/>
              </p:nvSpPr>
              <p:spPr>
                <a:xfrm>
                  <a:off x="8201025" y="1962150"/>
                  <a:ext cx="171450" cy="9525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171450" h="9525">
                      <a:moveTo>
                        <a:pt x="0" y="0"/>
                      </a:moveTo>
                      <a:lnTo>
                        <a:pt x="171450" y="0"/>
                      </a:lnTo>
                    </a:path>
                  </a:pathLst>
                </a:custGeom>
                <a:noFill/>
                <a:ln w="19050">
                  <a:solidFill>
                    <a:srgbClr val="1565D8"/>
                  </a:solidFill>
                </a:ln>
              </p:spPr>
              <p:txBody>
                <a:bodyPr/>
                <a:p/>
              </p:txBody>
            </p:sp>
            <p:sp>
              <p:nvSpPr>
                <p:cNvPr id="37" name="Freeform 37"/>
                <p:cNvSpPr/>
                <p:nvPr/>
              </p:nvSpPr>
              <p:spPr>
                <a:xfrm>
                  <a:off x="8267700" y="1895475"/>
                  <a:ext cx="9525" cy="171450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9525" h="171450">
                      <a:moveTo>
                        <a:pt x="0" y="0"/>
                      </a:moveTo>
                      <a:lnTo>
                        <a:pt x="0" y="171450"/>
                      </a:lnTo>
                    </a:path>
                  </a:pathLst>
                </a:custGeom>
                <a:noFill/>
                <a:ln w="19050">
                  <a:solidFill>
                    <a:srgbClr val="1565D8"/>
                  </a:solidFill>
                </a:ln>
              </p:spPr>
              <p:txBody>
                <a:bodyPr/>
                <a:p/>
              </p:txBody>
            </p:sp>
          </p:grpSp>
          <p:sp>
            <p:nvSpPr>
              <p:cNvPr id="39" name="TextBox 39"/>
              <p:cNvSpPr txBox="1"/>
              <p:nvPr/>
            </p:nvSpPr>
            <p:spPr>
              <a:xfrm>
                <a:off x="8572500" y="1895475"/>
                <a:ext cx="1686806" cy="3048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l"/>
                <a:r>
                  <a:rPr lang="zh-CN" sz="1500" b="1" dirty="0">
                    <a:solidFill>
                      <a:srgbClr val="2B3648"/>
                    </a:solidFill>
                    <a:latin typeface="Arial"/>
                    <a:ea typeface="Microsoft YaHei"/>
                    <a:cs typeface="Arial"/>
                  </a:rPr>
                  <a:t>③ 整理与分析数据</a:t>
                </a:r>
              </a:p>
            </p:txBody>
          </p:sp>
          <p:sp>
            <p:nvSpPr>
              <p:cNvPr id="40" name="TextBox 40"/>
              <p:cNvSpPr txBox="1"/>
              <p:nvPr/>
            </p:nvSpPr>
            <p:spPr>
              <a:xfrm>
                <a:off x="8254365" y="2306002"/>
                <a:ext cx="2399967" cy="21336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l"/>
                <a:r>
                  <a:rPr lang="zh-CN" sz="1050" dirty="0">
                    <a:solidFill>
                      <a:srgbClr val="5B6B82"/>
                    </a:solidFill>
                    <a:latin typeface="Arial"/>
                    <a:ea typeface="Microsoft YaHei"/>
                    <a:cs typeface="Arial"/>
                  </a:rPr>
                  <a:t>表格 / Excel 丢进去：找异常、出结论</a:t>
                </a:r>
              </a:p>
            </p:txBody>
          </p:sp>
          <p:sp>
            <p:nvSpPr>
              <p:cNvPr id="41" name="Rectangle 41"/>
              <p:cNvSpPr/>
              <p:nvPr/>
            </p:nvSpPr>
            <p:spPr>
              <a:xfrm>
                <a:off x="8267700" y="2628900"/>
                <a:ext cx="3067050" cy="419100"/>
              </a:xfrm>
              <a:prstGeom prst="roundRect">
                <a:avLst>
                  <a:gd name="adj" fmla="val 36364"/>
                </a:avLst>
              </a:prstGeom>
              <a:solidFill>
                <a:srgbClr val="E9EEF5"/>
              </a:solidFill>
              <a:ln>
                <a:noFill/>
              </a:ln>
            </p:spPr>
            <p:txBody>
              <a:bodyPr/>
              <a:p/>
            </p:txBody>
          </p:sp>
          <p:sp>
            <p:nvSpPr>
              <p:cNvPr id="42" name="TextBox 42"/>
              <p:cNvSpPr txBox="1"/>
              <p:nvPr/>
            </p:nvSpPr>
            <p:spPr>
              <a:xfrm>
                <a:off x="8444865" y="2782252"/>
                <a:ext cx="1496854" cy="21336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l"/>
                <a:r>
                  <a:rPr lang="zh-CN" sz="1050" b="1" dirty="0">
                    <a:solidFill>
                      <a:srgbClr val="D64545"/>
                    </a:solidFill>
                    <a:latin typeface="Arial"/>
                    <a:ea typeface="Microsoft YaHei"/>
                    <a:cs typeface="Arial"/>
                  </a:rPr>
                  <a:t>数字必须自己核对原表</a:t>
                </a:r>
              </a:p>
            </p:txBody>
          </p:sp>
        </p:grpSp>
        <p:grpSp>
          <p:nvGrpSpPr>
            <p:cNvPr id="57" name="Group 57"/>
            <p:cNvGrpSpPr/>
            <p:nvPr/>
          </p:nvGrpSpPr>
          <p:grpSpPr>
            <a:xfrm>
              <a:off x="571500" y="3657600"/>
              <a:ext cx="3524250" cy="1905000"/>
              <a:chOff x="571500" y="3657600"/>
              <a:chExt cx="3524250" cy="1905000"/>
            </a:xfrm>
          </p:grpSpPr>
          <p:sp>
            <p:nvSpPr>
              <p:cNvPr id="44" name="Rectangle 44"/>
              <p:cNvSpPr/>
              <p:nvPr/>
            </p:nvSpPr>
            <p:spPr>
              <a:xfrm>
                <a:off x="571500" y="3657600"/>
                <a:ext cx="3524250" cy="1905000"/>
              </a:xfrm>
              <a:prstGeom prst="roundRect">
                <a:avLst>
                  <a:gd name="adj" fmla="val 8000"/>
                </a:avLst>
              </a:prstGeom>
              <a:solidFill>
                <a:srgbClr val="FFFFFF"/>
              </a:solidFill>
              <a:ln w="9525">
                <a:solidFill>
                  <a:srgbClr val="D8E1EC"/>
                </a:solidFill>
              </a:ln>
            </p:spPr>
            <p:txBody>
              <a:bodyPr/>
              <a:p/>
            </p:txBody>
          </p:sp>
          <p:sp>
            <p:nvSpPr>
              <p:cNvPr id="45" name="Ellipse 45"/>
              <p:cNvSpPr/>
              <p:nvPr/>
            </p:nvSpPr>
            <p:spPr>
              <a:xfrm>
                <a:off x="628650" y="3829050"/>
                <a:ext cx="381000" cy="381000"/>
              </a:xfrm>
              <a:prstGeom prst="ellipse">
                <a:avLst/>
              </a:prstGeom>
              <a:solidFill>
                <a:srgbClr val="D6E6F9"/>
              </a:solidFill>
              <a:ln>
                <a:noFill/>
              </a:ln>
            </p:spPr>
            <p:txBody>
              <a:bodyPr/>
              <a:p/>
            </p:txBody>
          </p:sp>
          <p:grpSp>
            <p:nvGrpSpPr>
              <p:cNvPr id="51" name="Group 51"/>
              <p:cNvGrpSpPr/>
              <p:nvPr/>
            </p:nvGrpSpPr>
            <p:grpSpPr>
              <a:xfrm>
                <a:off x="733425" y="3933825"/>
                <a:ext cx="171450" cy="171422"/>
                <a:chOff x="733425" y="3933825"/>
                <a:chExt cx="171450" cy="171422"/>
              </a:xfrm>
            </p:grpSpPr>
            <p:sp>
              <p:nvSpPr>
                <p:cNvPr id="46" name="Freeform 46"/>
                <p:cNvSpPr/>
                <p:nvPr/>
              </p:nvSpPr>
              <p:spPr>
                <a:xfrm>
                  <a:off x="771525" y="3933825"/>
                  <a:ext cx="133350" cy="133350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133350" h="133350">
                      <a:moveTo>
                        <a:pt x="0" y="25403"/>
                      </a:moveTo>
                      <a:cubicBezTo>
                        <a:pt x="0" y="11373"/>
                        <a:pt x="11373" y="0"/>
                        <a:pt x="25403" y="0"/>
                      </a:cubicBezTo>
                      <a:lnTo>
                        <a:pt x="107947" y="0"/>
                      </a:lnTo>
                      <a:cubicBezTo>
                        <a:pt x="114684" y="0"/>
                        <a:pt x="121146" y="2676"/>
                        <a:pt x="125910" y="7440"/>
                      </a:cubicBezTo>
                      <a:cubicBezTo>
                        <a:pt x="130674" y="12204"/>
                        <a:pt x="133350" y="18666"/>
                        <a:pt x="133350" y="25403"/>
                      </a:cubicBezTo>
                      <a:lnTo>
                        <a:pt x="133350" y="107947"/>
                      </a:lnTo>
                      <a:cubicBezTo>
                        <a:pt x="133350" y="114684"/>
                        <a:pt x="130674" y="121146"/>
                        <a:pt x="125910" y="125910"/>
                      </a:cubicBezTo>
                      <a:cubicBezTo>
                        <a:pt x="121146" y="130674"/>
                        <a:pt x="114684" y="133350"/>
                        <a:pt x="107947" y="133350"/>
                      </a:cubicBezTo>
                      <a:lnTo>
                        <a:pt x="25403" y="133350"/>
                      </a:lnTo>
                      <a:cubicBezTo>
                        <a:pt x="11373" y="133350"/>
                        <a:pt x="0" y="121977"/>
                        <a:pt x="0" y="107947"/>
                      </a:cubicBezTo>
                      <a:lnTo>
                        <a:pt x="0" y="25403"/>
                      </a:lnTo>
                    </a:path>
                  </a:pathLst>
                </a:custGeom>
                <a:noFill/>
                <a:ln w="19050">
                  <a:solidFill>
                    <a:srgbClr val="1565D8"/>
                  </a:solidFill>
                </a:ln>
              </p:spPr>
              <p:txBody>
                <a:bodyPr/>
                <a:p/>
              </p:txBody>
            </p:sp>
            <p:sp>
              <p:nvSpPr>
                <p:cNvPr id="47" name="Freeform 47"/>
                <p:cNvSpPr/>
                <p:nvPr/>
              </p:nvSpPr>
              <p:spPr>
                <a:xfrm>
                  <a:off x="733425" y="3974402"/>
                  <a:ext cx="128588" cy="130845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128588" h="130845">
                      <a:moveTo>
                        <a:pt x="9639" y="0"/>
                      </a:moveTo>
                      <a:cubicBezTo>
                        <a:pt x="3694" y="3389"/>
                        <a:pt x="17" y="9701"/>
                        <a:pt x="0" y="16545"/>
                      </a:cubicBezTo>
                      <a:lnTo>
                        <a:pt x="0" y="111795"/>
                      </a:lnTo>
                      <a:cubicBezTo>
                        <a:pt x="0" y="122272"/>
                        <a:pt x="8573" y="130845"/>
                        <a:pt x="19050" y="130845"/>
                      </a:cubicBezTo>
                      <a:lnTo>
                        <a:pt x="114300" y="130845"/>
                      </a:lnTo>
                      <a:cubicBezTo>
                        <a:pt x="121444" y="130845"/>
                        <a:pt x="125330" y="127178"/>
                        <a:pt x="128588" y="121320"/>
                      </a:cubicBezTo>
                    </a:path>
                  </a:pathLst>
                </a:custGeom>
                <a:noFill/>
                <a:ln w="19050">
                  <a:solidFill>
                    <a:srgbClr val="1565D8"/>
                  </a:solidFill>
                </a:ln>
              </p:spPr>
              <p:txBody>
                <a:bodyPr/>
                <a:p/>
              </p:txBody>
            </p:sp>
            <p:sp>
              <p:nvSpPr>
                <p:cNvPr id="48" name="Freeform 48"/>
                <p:cNvSpPr/>
                <p:nvPr/>
              </p:nvSpPr>
              <p:spPr>
                <a:xfrm>
                  <a:off x="809625" y="3971925"/>
                  <a:ext cx="47625" cy="9525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47625" h="9525">
                      <a:moveTo>
                        <a:pt x="0" y="0"/>
                      </a:moveTo>
                      <a:lnTo>
                        <a:pt x="47625" y="0"/>
                      </a:lnTo>
                    </a:path>
                  </a:pathLst>
                </a:custGeom>
                <a:noFill/>
                <a:ln w="19050">
                  <a:solidFill>
                    <a:srgbClr val="1565D8"/>
                  </a:solidFill>
                </a:ln>
              </p:spPr>
              <p:txBody>
                <a:bodyPr/>
                <a:p/>
              </p:txBody>
            </p:sp>
            <p:sp>
              <p:nvSpPr>
                <p:cNvPr id="49" name="Freeform 49"/>
                <p:cNvSpPr/>
                <p:nvPr/>
              </p:nvSpPr>
              <p:spPr>
                <a:xfrm>
                  <a:off x="809625" y="4000500"/>
                  <a:ext cx="57150" cy="9525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57150" h="9525">
                      <a:moveTo>
                        <a:pt x="0" y="0"/>
                      </a:moveTo>
                      <a:lnTo>
                        <a:pt x="57150" y="0"/>
                      </a:lnTo>
                    </a:path>
                  </a:pathLst>
                </a:custGeom>
                <a:noFill/>
                <a:ln w="19050">
                  <a:solidFill>
                    <a:srgbClr val="1565D8"/>
                  </a:solidFill>
                </a:ln>
              </p:spPr>
              <p:txBody>
                <a:bodyPr/>
                <a:p/>
              </p:txBody>
            </p:sp>
            <p:sp>
              <p:nvSpPr>
                <p:cNvPr id="50" name="Freeform 50"/>
                <p:cNvSpPr/>
                <p:nvPr/>
              </p:nvSpPr>
              <p:spPr>
                <a:xfrm>
                  <a:off x="809625" y="4029075"/>
                  <a:ext cx="28575" cy="9525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28575" h="9525">
                      <a:moveTo>
                        <a:pt x="0" y="0"/>
                      </a:moveTo>
                      <a:lnTo>
                        <a:pt x="28575" y="0"/>
                      </a:lnTo>
                    </a:path>
                  </a:pathLst>
                </a:custGeom>
                <a:noFill/>
                <a:ln w="19050">
                  <a:solidFill>
                    <a:srgbClr val="1565D8"/>
                  </a:solidFill>
                </a:ln>
              </p:spPr>
              <p:txBody>
                <a:bodyPr/>
                <a:p/>
              </p:txBody>
            </p:sp>
          </p:grpSp>
          <p:sp>
            <p:nvSpPr>
              <p:cNvPr id="52" name="TextBox 52"/>
              <p:cNvSpPr txBox="1"/>
              <p:nvPr/>
            </p:nvSpPr>
            <p:spPr>
              <a:xfrm>
                <a:off x="1104900" y="3933825"/>
                <a:ext cx="1686806" cy="3048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l"/>
                <a:r>
                  <a:rPr lang="zh-CN" sz="1500" b="1" dirty="0">
                    <a:solidFill>
                      <a:srgbClr val="2B3648"/>
                    </a:solidFill>
                    <a:latin typeface="Arial"/>
                    <a:ea typeface="Microsoft YaHei"/>
                    <a:cs typeface="Arial"/>
                  </a:rPr>
                  <a:t>④ 读长文档、问答</a:t>
                </a:r>
              </a:p>
            </p:txBody>
          </p:sp>
          <p:sp>
            <p:nvSpPr>
              <p:cNvPr id="53" name="TextBox 53"/>
              <p:cNvSpPr txBox="1"/>
              <p:nvPr/>
            </p:nvSpPr>
            <p:spPr>
              <a:xfrm>
                <a:off x="786765" y="4344352"/>
                <a:ext cx="2308955" cy="21336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l"/>
                <a:r>
                  <a:rPr lang="zh-CN" sz="1050" dirty="0">
                    <a:solidFill>
                      <a:srgbClr val="5B6B82"/>
                    </a:solidFill>
                    <a:latin typeface="Arial"/>
                    <a:ea typeface="Microsoft YaHei"/>
                    <a:cs typeface="Arial"/>
                  </a:rPr>
                  <a:t>喂进资料 / 制度 / 文献，问它答它，</a:t>
                </a:r>
              </a:p>
            </p:txBody>
          </p:sp>
          <p:sp>
            <p:nvSpPr>
              <p:cNvPr id="54" name="TextBox 54"/>
              <p:cNvSpPr txBox="1"/>
              <p:nvPr/>
            </p:nvSpPr>
            <p:spPr>
              <a:xfrm>
                <a:off x="786765" y="4553902"/>
                <a:ext cx="726758" cy="21336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l"/>
                <a:r>
                  <a:rPr lang="zh-CN" sz="1050" dirty="0">
                    <a:solidFill>
                      <a:srgbClr val="5B6B82"/>
                    </a:solidFill>
                    <a:latin typeface="Arial"/>
                    <a:ea typeface="Microsoft YaHei"/>
                    <a:cs typeface="Arial"/>
                  </a:rPr>
                  <a:t>答案带出处</a:t>
                </a:r>
              </a:p>
            </p:txBody>
          </p:sp>
          <p:sp>
            <p:nvSpPr>
              <p:cNvPr id="55" name="Rectangle 55"/>
              <p:cNvSpPr/>
              <p:nvPr/>
            </p:nvSpPr>
            <p:spPr>
              <a:xfrm>
                <a:off x="800100" y="4819650"/>
                <a:ext cx="3067050" cy="419100"/>
              </a:xfrm>
              <a:prstGeom prst="roundRect">
                <a:avLst>
                  <a:gd name="adj" fmla="val 36364"/>
                </a:avLst>
              </a:prstGeom>
              <a:solidFill>
                <a:srgbClr val="E9EEF5"/>
              </a:solidFill>
              <a:ln>
                <a:noFill/>
              </a:ln>
            </p:spPr>
            <p:txBody>
              <a:bodyPr/>
              <a:p/>
            </p:txBody>
          </p:sp>
          <p:sp>
            <p:nvSpPr>
              <p:cNvPr id="56" name="TextBox 56"/>
              <p:cNvSpPr txBox="1"/>
              <p:nvPr/>
            </p:nvSpPr>
            <p:spPr>
              <a:xfrm>
                <a:off x="977265" y="4973002"/>
                <a:ext cx="2084927" cy="21336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l"/>
                <a:r>
                  <a:rPr lang="zh-CN" sz="1050" b="1" dirty="0">
                    <a:solidFill>
                      <a:srgbClr val="0B4EA2"/>
                    </a:solidFill>
                    <a:latin typeface="Arial"/>
                    <a:ea typeface="Microsoft YaHei"/>
                    <a:cs typeface="Arial"/>
                  </a:rPr>
                  <a:t>制度问答、合同审查、文献整理</a:t>
                </a:r>
              </a:p>
            </p:txBody>
          </p:sp>
        </p:grpSp>
        <p:grpSp>
          <p:nvGrpSpPr>
            <p:cNvPr id="67" name="Group 67"/>
            <p:cNvGrpSpPr/>
            <p:nvPr/>
          </p:nvGrpSpPr>
          <p:grpSpPr>
            <a:xfrm>
              <a:off x="4305300" y="3657600"/>
              <a:ext cx="3524250" cy="1905000"/>
              <a:chOff x="4305300" y="3657600"/>
              <a:chExt cx="3524250" cy="1905000"/>
            </a:xfrm>
          </p:grpSpPr>
          <p:sp>
            <p:nvSpPr>
              <p:cNvPr id="58" name="Rectangle 58"/>
              <p:cNvSpPr/>
              <p:nvPr/>
            </p:nvSpPr>
            <p:spPr>
              <a:xfrm>
                <a:off x="4305300" y="3657600"/>
                <a:ext cx="3524250" cy="1905000"/>
              </a:xfrm>
              <a:prstGeom prst="roundRect">
                <a:avLst>
                  <a:gd name="adj" fmla="val 8000"/>
                </a:avLst>
              </a:prstGeom>
              <a:solidFill>
                <a:srgbClr val="FFFFFF"/>
              </a:solidFill>
              <a:ln w="9525">
                <a:solidFill>
                  <a:srgbClr val="D8E1EC"/>
                </a:solidFill>
              </a:ln>
            </p:spPr>
            <p:txBody>
              <a:bodyPr/>
              <a:p/>
            </p:txBody>
          </p:sp>
          <p:sp>
            <p:nvSpPr>
              <p:cNvPr id="59" name="Ellipse 59"/>
              <p:cNvSpPr/>
              <p:nvPr/>
            </p:nvSpPr>
            <p:spPr>
              <a:xfrm>
                <a:off x="4362450" y="3829050"/>
                <a:ext cx="381000" cy="381000"/>
              </a:xfrm>
              <a:prstGeom prst="ellipse">
                <a:avLst/>
              </a:prstGeom>
              <a:solidFill>
                <a:srgbClr val="D6E6F9"/>
              </a:solidFill>
              <a:ln>
                <a:noFill/>
              </a:ln>
            </p:spPr>
            <p:txBody>
              <a:bodyPr/>
              <a:p/>
            </p:txBody>
          </p:sp>
          <p:grpSp>
            <p:nvGrpSpPr>
              <p:cNvPr id="62" name="Group 62"/>
              <p:cNvGrpSpPr/>
              <p:nvPr/>
            </p:nvGrpSpPr>
            <p:grpSpPr>
              <a:xfrm>
                <a:off x="4467225" y="3933825"/>
                <a:ext cx="171450" cy="171450"/>
                <a:chOff x="4467225" y="3933825"/>
                <a:chExt cx="171450" cy="171450"/>
              </a:xfrm>
            </p:grpSpPr>
            <p:sp>
              <p:nvSpPr>
                <p:cNvPr id="60" name="Freeform 60"/>
                <p:cNvSpPr/>
                <p:nvPr/>
              </p:nvSpPr>
              <p:spPr>
                <a:xfrm>
                  <a:off x="4467225" y="3933825"/>
                  <a:ext cx="171450" cy="171450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171450" h="171450">
                      <a:moveTo>
                        <a:pt x="0" y="85725"/>
                      </a:moveTo>
                      <a:cubicBezTo>
                        <a:pt x="0" y="133070"/>
                        <a:pt x="38380" y="171450"/>
                        <a:pt x="85725" y="171450"/>
                      </a:cubicBezTo>
                      <a:cubicBezTo>
                        <a:pt x="133070" y="171450"/>
                        <a:pt x="171450" y="133070"/>
                        <a:pt x="171450" y="85725"/>
                      </a:cubicBezTo>
                      <a:cubicBezTo>
                        <a:pt x="171450" y="38380"/>
                        <a:pt x="133070" y="0"/>
                        <a:pt x="85725" y="0"/>
                      </a:cubicBezTo>
                      <a:cubicBezTo>
                        <a:pt x="38380" y="0"/>
                        <a:pt x="0" y="38380"/>
                        <a:pt x="0" y="85725"/>
                      </a:cubicBezTo>
                    </a:path>
                  </a:pathLst>
                </a:custGeom>
                <a:noFill/>
                <a:ln w="19050">
                  <a:solidFill>
                    <a:srgbClr val="1565D8"/>
                  </a:solidFill>
                </a:ln>
              </p:spPr>
              <p:txBody>
                <a:bodyPr/>
                <a:p/>
              </p:txBody>
            </p:sp>
            <p:sp>
              <p:nvSpPr>
                <p:cNvPr id="61" name="Freeform 61"/>
                <p:cNvSpPr/>
                <p:nvPr/>
              </p:nvSpPr>
              <p:spPr>
                <a:xfrm>
                  <a:off x="4552950" y="3971925"/>
                  <a:ext cx="28575" cy="76200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28575" h="76200">
                      <a:moveTo>
                        <a:pt x="0" y="0"/>
                      </a:moveTo>
                      <a:lnTo>
                        <a:pt x="0" y="47625"/>
                      </a:lnTo>
                      <a:lnTo>
                        <a:pt x="28575" y="76200"/>
                      </a:lnTo>
                    </a:path>
                  </a:pathLst>
                </a:custGeom>
                <a:noFill/>
                <a:ln w="19050">
                  <a:solidFill>
                    <a:srgbClr val="1565D8"/>
                  </a:solidFill>
                </a:ln>
              </p:spPr>
              <p:txBody>
                <a:bodyPr/>
                <a:p/>
              </p:txBody>
            </p:sp>
          </p:grpSp>
          <p:sp>
            <p:nvSpPr>
              <p:cNvPr id="63" name="TextBox 63"/>
              <p:cNvSpPr txBox="1"/>
              <p:nvPr/>
            </p:nvSpPr>
            <p:spPr>
              <a:xfrm>
                <a:off x="4838700" y="3933825"/>
                <a:ext cx="1686806" cy="3048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l"/>
                <a:r>
                  <a:rPr lang="zh-CN" sz="1500" b="1" dirty="0">
                    <a:solidFill>
                      <a:srgbClr val="2B3648"/>
                    </a:solidFill>
                    <a:latin typeface="Arial"/>
                    <a:ea typeface="Microsoft YaHei"/>
                    <a:cs typeface="Arial"/>
                  </a:rPr>
                  <a:t>⑤ 定时与重复任务</a:t>
                </a:r>
              </a:p>
            </p:txBody>
          </p:sp>
          <p:sp>
            <p:nvSpPr>
              <p:cNvPr id="64" name="TextBox 64"/>
              <p:cNvSpPr txBox="1"/>
              <p:nvPr/>
            </p:nvSpPr>
            <p:spPr>
              <a:xfrm>
                <a:off x="4520565" y="4344352"/>
                <a:ext cx="1566863" cy="21336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l"/>
                <a:r>
                  <a:rPr lang="zh-CN" sz="1050" dirty="0">
                    <a:solidFill>
                      <a:srgbClr val="5B6B82"/>
                    </a:solidFill>
                    <a:latin typeface="Arial"/>
                    <a:ea typeface="Microsoft YaHei"/>
                    <a:cs typeface="Arial"/>
                  </a:rPr>
                  <a:t>到点自动跑，不用人盯着</a:t>
                </a:r>
              </a:p>
            </p:txBody>
          </p:sp>
          <p:sp>
            <p:nvSpPr>
              <p:cNvPr id="65" name="Rectangle 65"/>
              <p:cNvSpPr/>
              <p:nvPr/>
            </p:nvSpPr>
            <p:spPr>
              <a:xfrm>
                <a:off x="4533900" y="4819650"/>
                <a:ext cx="3067050" cy="419100"/>
              </a:xfrm>
              <a:prstGeom prst="roundRect">
                <a:avLst>
                  <a:gd name="adj" fmla="val 36364"/>
                </a:avLst>
              </a:prstGeom>
              <a:solidFill>
                <a:srgbClr val="E9EEF5"/>
              </a:solidFill>
              <a:ln>
                <a:noFill/>
              </a:ln>
            </p:spPr>
            <p:txBody>
              <a:bodyPr/>
              <a:p/>
            </p:txBody>
          </p:sp>
          <p:sp>
            <p:nvSpPr>
              <p:cNvPr id="66" name="TextBox 66"/>
              <p:cNvSpPr txBox="1"/>
              <p:nvPr/>
            </p:nvSpPr>
            <p:spPr>
              <a:xfrm>
                <a:off x="4711065" y="4973002"/>
                <a:ext cx="2106980" cy="21336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l"/>
                <a:r>
                  <a:rPr lang="zh-CN" sz="1050" b="1" dirty="0">
                    <a:solidFill>
                      <a:srgbClr val="0B4EA2"/>
                    </a:solidFill>
                    <a:latin typeface="Arial"/>
                    <a:ea typeface="Microsoft YaHei"/>
                    <a:cs typeface="Arial"/>
                  </a:rPr>
                  <a:t>例：每天 8 点汇总昨日数据发我</a:t>
                </a:r>
              </a:p>
            </p:txBody>
          </p:sp>
        </p:grpSp>
        <p:grpSp>
          <p:nvGrpSpPr>
            <p:cNvPr id="78" name="Group 78"/>
            <p:cNvGrpSpPr/>
            <p:nvPr/>
          </p:nvGrpSpPr>
          <p:grpSpPr>
            <a:xfrm>
              <a:off x="8039100" y="3657600"/>
              <a:ext cx="3524250" cy="1905000"/>
              <a:chOff x="8039100" y="3657600"/>
              <a:chExt cx="3524250" cy="1905000"/>
            </a:xfrm>
          </p:grpSpPr>
          <p:sp>
            <p:nvSpPr>
              <p:cNvPr id="68" name="Rectangle 68"/>
              <p:cNvSpPr/>
              <p:nvPr/>
            </p:nvSpPr>
            <p:spPr>
              <a:xfrm>
                <a:off x="8039100" y="3657600"/>
                <a:ext cx="3524250" cy="1905000"/>
              </a:xfrm>
              <a:prstGeom prst="roundRect">
                <a:avLst>
                  <a:gd name="adj" fmla="val 8000"/>
                </a:avLst>
              </a:prstGeom>
              <a:solidFill>
                <a:srgbClr val="FFFFFF"/>
              </a:solidFill>
              <a:ln w="9525">
                <a:solidFill>
                  <a:srgbClr val="D8E1EC"/>
                </a:solidFill>
              </a:ln>
            </p:spPr>
            <p:txBody>
              <a:bodyPr/>
              <a:p/>
            </p:txBody>
          </p:sp>
          <p:sp>
            <p:nvSpPr>
              <p:cNvPr id="69" name="Ellipse 69"/>
              <p:cNvSpPr/>
              <p:nvPr/>
            </p:nvSpPr>
            <p:spPr>
              <a:xfrm>
                <a:off x="8096250" y="3829050"/>
                <a:ext cx="381000" cy="381000"/>
              </a:xfrm>
              <a:prstGeom prst="ellipse">
                <a:avLst/>
              </a:prstGeom>
              <a:solidFill>
                <a:srgbClr val="D6E6F9"/>
              </a:solidFill>
              <a:ln>
                <a:noFill/>
              </a:ln>
            </p:spPr>
            <p:txBody>
              <a:bodyPr/>
              <a:p/>
            </p:txBody>
          </p:sp>
          <p:grpSp>
            <p:nvGrpSpPr>
              <p:cNvPr id="73" name="Group 73"/>
              <p:cNvGrpSpPr/>
              <p:nvPr/>
            </p:nvGrpSpPr>
            <p:grpSpPr>
              <a:xfrm>
                <a:off x="8207541" y="3943350"/>
                <a:ext cx="155409" cy="155409"/>
                <a:chOff x="8207541" y="3943350"/>
                <a:chExt cx="155409" cy="155409"/>
              </a:xfrm>
            </p:grpSpPr>
            <p:sp>
              <p:nvSpPr>
                <p:cNvPr id="70" name="Freeform 70"/>
                <p:cNvSpPr/>
                <p:nvPr/>
              </p:nvSpPr>
              <p:spPr>
                <a:xfrm>
                  <a:off x="8210550" y="3943350"/>
                  <a:ext cx="152400" cy="152400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152400" h="152400">
                      <a:moveTo>
                        <a:pt x="0" y="85725"/>
                      </a:moveTo>
                      <a:cubicBezTo>
                        <a:pt x="34959" y="89880"/>
                        <a:pt x="62520" y="117441"/>
                        <a:pt x="66675" y="152400"/>
                      </a:cubicBezTo>
                      <a:cubicBezTo>
                        <a:pt x="83792" y="142532"/>
                        <a:pt x="94598" y="124522"/>
                        <a:pt x="95250" y="104775"/>
                      </a:cubicBezTo>
                      <a:cubicBezTo>
                        <a:pt x="127957" y="93269"/>
                        <a:pt x="150512" y="63195"/>
                        <a:pt x="152400" y="28575"/>
                      </a:cubicBezTo>
                      <a:cubicBezTo>
                        <a:pt x="152400" y="12793"/>
                        <a:pt x="139607" y="0"/>
                        <a:pt x="123825" y="0"/>
                      </a:cubicBezTo>
                      <a:cubicBezTo>
                        <a:pt x="89205" y="1888"/>
                        <a:pt x="59131" y="24443"/>
                        <a:pt x="47625" y="57150"/>
                      </a:cubicBezTo>
                      <a:cubicBezTo>
                        <a:pt x="27878" y="57802"/>
                        <a:pt x="9868" y="68608"/>
                        <a:pt x="0" y="85725"/>
                      </a:cubicBezTo>
                    </a:path>
                  </a:pathLst>
                </a:custGeom>
                <a:noFill/>
                <a:ln w="19050">
                  <a:solidFill>
                    <a:srgbClr val="1565D8"/>
                  </a:solidFill>
                </a:ln>
              </p:spPr>
              <p:txBody>
                <a:bodyPr/>
                <a:p/>
              </p:txBody>
            </p:sp>
            <p:sp>
              <p:nvSpPr>
                <p:cNvPr id="71" name="Freeform 71"/>
                <p:cNvSpPr/>
                <p:nvPr/>
              </p:nvSpPr>
              <p:spPr>
                <a:xfrm>
                  <a:off x="8207541" y="4038600"/>
                  <a:ext cx="60159" cy="60159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60159" h="60159">
                      <a:moveTo>
                        <a:pt x="31584" y="0"/>
                      </a:moveTo>
                      <a:cubicBezTo>
                        <a:pt x="11304" y="11449"/>
                        <a:pt x="0" y="34057"/>
                        <a:pt x="3009" y="57150"/>
                      </a:cubicBezTo>
                      <a:cubicBezTo>
                        <a:pt x="26101" y="60159"/>
                        <a:pt x="48710" y="48854"/>
                        <a:pt x="60159" y="28575"/>
                      </a:cubicBezTo>
                    </a:path>
                  </a:pathLst>
                </a:custGeom>
                <a:noFill/>
                <a:ln w="19050">
                  <a:solidFill>
                    <a:srgbClr val="1565D8"/>
                  </a:solidFill>
                </a:ln>
              </p:spPr>
              <p:txBody>
                <a:bodyPr/>
                <a:p/>
              </p:txBody>
            </p:sp>
            <p:sp>
              <p:nvSpPr>
                <p:cNvPr id="72" name="Freeform 72"/>
                <p:cNvSpPr/>
                <p:nvPr/>
              </p:nvSpPr>
              <p:spPr>
                <a:xfrm>
                  <a:off x="8305800" y="3981450"/>
                  <a:ext cx="19050" cy="19050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19050" h="19050">
                      <a:moveTo>
                        <a:pt x="0" y="9525"/>
                      </a:moveTo>
                      <a:cubicBezTo>
                        <a:pt x="0" y="14786"/>
                        <a:pt x="4264" y="19050"/>
                        <a:pt x="9525" y="19050"/>
                      </a:cubicBezTo>
                      <a:cubicBezTo>
                        <a:pt x="14786" y="19050"/>
                        <a:pt x="19050" y="14786"/>
                        <a:pt x="19050" y="9525"/>
                      </a:cubicBezTo>
                      <a:cubicBezTo>
                        <a:pt x="19050" y="4264"/>
                        <a:pt x="14786" y="0"/>
                        <a:pt x="9525" y="0"/>
                      </a:cubicBezTo>
                      <a:cubicBezTo>
                        <a:pt x="4264" y="0"/>
                        <a:pt x="0" y="4264"/>
                        <a:pt x="0" y="9525"/>
                      </a:cubicBezTo>
                    </a:path>
                  </a:pathLst>
                </a:custGeom>
                <a:noFill/>
                <a:ln w="19050">
                  <a:solidFill>
                    <a:srgbClr val="1565D8"/>
                  </a:solidFill>
                </a:ln>
              </p:spPr>
              <p:txBody>
                <a:bodyPr/>
                <a:p/>
              </p:txBody>
            </p:sp>
          </p:grpSp>
          <p:sp>
            <p:nvSpPr>
              <p:cNvPr id="74" name="TextBox 74"/>
              <p:cNvSpPr txBox="1"/>
              <p:nvPr/>
            </p:nvSpPr>
            <p:spPr>
              <a:xfrm>
                <a:off x="8572500" y="3933825"/>
                <a:ext cx="1056727" cy="3048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l"/>
                <a:r>
                  <a:rPr lang="zh-CN" sz="1500" b="1" dirty="0">
                    <a:solidFill>
                      <a:srgbClr val="2B3648"/>
                    </a:solidFill>
                    <a:latin typeface="Arial"/>
                    <a:ea typeface="Microsoft YaHei"/>
                    <a:cs typeface="Arial"/>
                  </a:rPr>
                  <a:t>⑥ 三步上手</a:t>
                </a:r>
              </a:p>
            </p:txBody>
          </p:sp>
          <p:sp>
            <p:nvSpPr>
              <p:cNvPr id="75" name="TextBox 75"/>
              <p:cNvSpPr txBox="1"/>
              <p:nvPr/>
            </p:nvSpPr>
            <p:spPr>
              <a:xfrm>
                <a:off x="8254365" y="4344352"/>
                <a:ext cx="1426845" cy="21336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l"/>
                <a:r>
                  <a:rPr lang="zh-CN" sz="1050" dirty="0">
                    <a:solidFill>
                      <a:srgbClr val="5B6B82"/>
                    </a:solidFill>
                    <a:latin typeface="Arial"/>
                    <a:ea typeface="Microsoft YaHei"/>
                    <a:cs typeface="Arial"/>
                  </a:rPr>
                  <a:t>零代码，会打字就能用</a:t>
                </a:r>
              </a:p>
            </p:txBody>
          </p:sp>
          <p:sp>
            <p:nvSpPr>
              <p:cNvPr id="76" name="Rectangle 76"/>
              <p:cNvSpPr/>
              <p:nvPr/>
            </p:nvSpPr>
            <p:spPr>
              <a:xfrm>
                <a:off x="8267700" y="4819650"/>
                <a:ext cx="3067050" cy="419100"/>
              </a:xfrm>
              <a:prstGeom prst="roundRect">
                <a:avLst>
                  <a:gd name="adj" fmla="val 36364"/>
                </a:avLst>
              </a:prstGeom>
              <a:solidFill>
                <a:srgbClr val="D6E6F9"/>
              </a:solidFill>
              <a:ln>
                <a:noFill/>
              </a:ln>
            </p:spPr>
            <p:txBody>
              <a:bodyPr/>
              <a:p/>
            </p:txBody>
          </p:sp>
          <p:sp>
            <p:nvSpPr>
              <p:cNvPr id="77" name="TextBox 77"/>
              <p:cNvSpPr txBox="1"/>
              <p:nvPr/>
            </p:nvSpPr>
            <p:spPr>
              <a:xfrm>
                <a:off x="8444865" y="4973002"/>
                <a:ext cx="2276051" cy="21336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l"/>
                <a:r>
                  <a:rPr lang="zh-CN" sz="1050" b="1" dirty="0">
                    <a:solidFill>
                      <a:srgbClr val="0B4EA2"/>
                    </a:solidFill>
                    <a:latin typeface="Arial"/>
                    <a:ea typeface="Microsoft YaHei"/>
                    <a:cs typeface="Arial"/>
                  </a:rPr>
                  <a:t>注册登录 → 上传资料 → 发第一句话</a:t>
                </a:r>
              </a:p>
            </p:txBody>
          </p:sp>
        </p:grpSp>
      </p:grpSp>
      <p:grpSp>
        <p:nvGrpSpPr>
          <p:cNvPr id="83" name="Group 83"/>
          <p:cNvGrpSpPr/>
          <p:nvPr/>
        </p:nvGrpSpPr>
        <p:grpSpPr>
          <a:xfrm>
            <a:off x="571500" y="5753100"/>
            <a:ext cx="11049000" cy="419100"/>
            <a:chOff x="571500" y="5753100"/>
            <a:chExt cx="11049000" cy="419100"/>
          </a:xfrm>
        </p:grpSpPr>
        <p:sp>
          <p:nvSpPr>
            <p:cNvPr id="80" name="Rectangle 80"/>
            <p:cNvSpPr/>
            <p:nvPr/>
          </p:nvSpPr>
          <p:spPr>
            <a:xfrm>
              <a:off x="571500" y="5753100"/>
              <a:ext cx="11049000" cy="419100"/>
            </a:xfrm>
            <a:prstGeom prst="roundRect">
              <a:avLst>
                <a:gd name="adj" fmla="val 36364"/>
              </a:avLst>
            </a:prstGeom>
            <a:solidFill>
              <a:srgbClr val="D6E6F9"/>
            </a:solidFill>
            <a:ln>
              <a:noFill/>
            </a:ln>
          </p:spPr>
          <p:txBody>
            <a:bodyPr/>
            <a:p/>
          </p:txBody>
        </p:sp>
        <p:sp>
          <p:nvSpPr>
            <p:cNvPr id="81" name="Rectangle 81"/>
            <p:cNvSpPr/>
            <p:nvPr/>
          </p:nvSpPr>
          <p:spPr>
            <a:xfrm>
              <a:off x="571500" y="5753100"/>
              <a:ext cx="76200" cy="419100"/>
            </a:xfrm>
            <a:prstGeom prst="roundRect">
              <a:avLst>
                <a:gd name="adj" fmla="val 50000"/>
              </a:avLst>
            </a:prstGeom>
            <a:solidFill>
              <a:srgbClr val="1565D8"/>
            </a:solidFill>
            <a:ln>
              <a:noFill/>
            </a:ln>
          </p:spPr>
          <p:txBody>
            <a:bodyPr/>
            <a:p/>
          </p:txBody>
        </p:sp>
        <p:sp>
          <p:nvSpPr>
            <p:cNvPr id="82" name="TextBox 82"/>
            <p:cNvSpPr txBox="1"/>
            <p:nvPr/>
          </p:nvSpPr>
          <p:spPr>
            <a:xfrm>
              <a:off x="859155" y="5874068"/>
              <a:ext cx="9296448" cy="27432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b="1" dirty="0">
                  <a:solidFill>
                    <a:srgbClr val="0B4EA2"/>
                  </a:solidFill>
                  <a:latin typeface="Arial"/>
                  <a:ea typeface="Microsoft YaHei"/>
                  <a:cs typeface="Arial"/>
                </a:rPr>
                <a:t>教学点：从「你用的工具」到「替你干活的数字同事」。关键不是会用几个功能，而是敢不敢派一个完整任务。</a:t>
              </a:r>
            </a:p>
          </p:txBody>
        </p:sp>
      </p:grpSp>
      <p:grpSp>
        <p:nvGrpSpPr>
          <p:cNvPr id="86" name="Group 86"/>
          <p:cNvGrpSpPr/>
          <p:nvPr/>
        </p:nvGrpSpPr>
        <p:grpSpPr>
          <a:xfrm>
            <a:off x="560070" y="6341745"/>
            <a:ext cx="11071860" cy="182880"/>
            <a:chOff x="560070" y="6341745"/>
            <a:chExt cx="11071860" cy="182880"/>
          </a:xfrm>
        </p:grpSpPr>
        <p:sp>
          <p:nvSpPr>
            <p:cNvPr id="84" name="TextBox 84"/>
            <p:cNvSpPr txBox="1"/>
            <p:nvPr/>
          </p:nvSpPr>
          <p:spPr>
            <a:xfrm>
              <a:off x="560070" y="6341745"/>
              <a:ext cx="1054989" cy="18288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00" dirty="0">
                  <a:solidFill>
                    <a:srgbClr val="8B99AE"/>
                  </a:solidFill>
                  <a:latin typeface="Arial"/>
                  <a:ea typeface="Microsoft YaHei"/>
                  <a:cs typeface="Arial"/>
                </a:rPr>
                <a:t>大模型通识 · 企业版</a:t>
              </a:r>
            </a:p>
          </p:txBody>
        </p:sp>
        <p:sp>
          <p:nvSpPr>
            <p:cNvPr id="85" name="TextBox 85"/>
            <p:cNvSpPr txBox="1"/>
            <p:nvPr/>
          </p:nvSpPr>
          <p:spPr>
            <a:xfrm>
              <a:off x="11207020" y="6341745"/>
              <a:ext cx="424910" cy="18288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r"/>
              <a:r>
                <a:rPr lang="zh-CN" sz="900" dirty="0">
                  <a:solidFill>
                    <a:srgbClr val="8B99AE"/>
                  </a:solidFill>
                  <a:latin typeface="Arial"/>
                  <a:ea typeface="Microsoft YaHei"/>
                  <a:cs typeface="Arial"/>
                </a:rPr>
                <a:t>32 / 51</a:t>
              </a:r>
            </a:p>
          </p:txBody>
        </p:sp>
      </p:grpSp>
    </p:spTree>
  </p:cSld>
  <p:clrMapOvr>
    <a:masterClrMapping/>
  </p:clrMapOvr>
  <p:transition xmlns:p14="http://schemas.microsoft.com/office/powerpoint/2010/main" p14:dur="400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entr" presetSubtype="4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slide(fromBottom)">
                                      <p:cBhvr>
                                        <p:cTn id="7" dur="400"/>
                                        <p:tgtEl>
                                          <p:spTgt spid="7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900"/>
                            </p:stCondLst>
                            <p:childTnLst>
                              <p:par>
                                <p:cTn id="9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" dur="400"/>
                                        <p:tgtEl>
                                          <p:spTgt spid="8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79" grpId="0"/>
      <p:bldP spid="83" grpId="0"/>
    </p:bldLst>
  </p:timing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5" name="Group 5"/>
          <p:cNvGrpSpPr/>
          <p:nvPr/>
        </p:nvGrpSpPr>
        <p:grpSpPr>
          <a:xfrm>
            <a:off x="0" y="0"/>
            <a:ext cx="14192250" cy="8953500"/>
            <a:chOff x="0" y="0"/>
            <a:chExt cx="14192250" cy="8953500"/>
          </a:xfrm>
        </p:grpSpPr>
        <p:sp>
          <p:nvSpPr>
            <p:cNvPr id="2" name="Rectangle 2"/>
            <p:cNvSpPr/>
            <p:nvPr/>
          </p:nvSpPr>
          <p:spPr>
            <a:xfrm>
              <a:off x="0" y="0"/>
              <a:ext cx="12192000" cy="6858000"/>
            </a:xfrm>
            <a:prstGeom prst="rect">
              <a:avLst/>
            </a:prstGeom>
            <a:solidFill>
              <a:srgbClr val="F5F7FA"/>
            </a:solidFill>
            <a:ln>
              <a:noFill/>
            </a:ln>
          </p:spPr>
          <p:txBody>
            <a:bodyPr/>
            <a:p/>
          </p:txBody>
        </p:sp>
        <p:sp>
          <p:nvSpPr>
            <p:cNvPr id="3" name="Rectangle 3"/>
            <p:cNvSpPr/>
            <p:nvPr/>
          </p:nvSpPr>
          <p:spPr>
            <a:xfrm>
              <a:off x="0" y="0"/>
              <a:ext cx="12192000" cy="6858000"/>
            </a:xfrm>
            <a:prstGeom prst="rect">
              <a:avLst/>
            </a:prstGeom>
            <a:gradFill>
              <a:gsLst>
                <a:gs pos="0">
                  <a:srgbClr val="1565D8">
                    <a:alpha val="6000"/>
                  </a:srgbClr>
                </a:gs>
                <a:gs pos="100000">
                  <a:srgbClr val="1565D8">
                    <a:alpha val="0"/>
                  </a:srgbClr>
                </a:gs>
              </a:gsLst>
              <a:path path="circle">
                <a:fillToRect l="50000" t="50000" r="50000" b="50000"/>
              </a:path>
            </a:gradFill>
            <a:ln>
              <a:noFill/>
            </a:ln>
          </p:spPr>
          <p:txBody>
            <a:bodyPr/>
            <a:p/>
          </p:txBody>
        </p:sp>
        <p:sp>
          <p:nvSpPr>
            <p:cNvPr id="4" name="Ellipse 4"/>
            <p:cNvSpPr/>
            <p:nvPr/>
          </p:nvSpPr>
          <p:spPr>
            <a:xfrm>
              <a:off x="9620250" y="4381500"/>
              <a:ext cx="4572000" cy="4572000"/>
            </a:xfrm>
            <a:prstGeom prst="ellipse">
              <a:avLst/>
            </a:prstGeom>
            <a:noFill/>
            <a:ln w="14288">
              <a:solidFill>
                <a:srgbClr val="D6E6F9">
                  <a:alpha val="80000"/>
                </a:srgbClr>
              </a:solidFill>
            </a:ln>
          </p:spPr>
          <p:txBody>
            <a:bodyPr/>
            <a:p/>
          </p:txBody>
        </p:sp>
      </p:grpSp>
      <p:grpSp>
        <p:nvGrpSpPr>
          <p:cNvPr id="9" name="Group 9"/>
          <p:cNvGrpSpPr/>
          <p:nvPr/>
        </p:nvGrpSpPr>
        <p:grpSpPr>
          <a:xfrm>
            <a:off x="571500" y="685800"/>
            <a:ext cx="4809494" cy="700088"/>
            <a:chOff x="571500" y="685800"/>
            <a:chExt cx="4809494" cy="700088"/>
          </a:xfrm>
        </p:grpSpPr>
        <p:sp>
          <p:nvSpPr>
            <p:cNvPr id="6" name="Rectangle 6"/>
            <p:cNvSpPr/>
            <p:nvPr/>
          </p:nvSpPr>
          <p:spPr>
            <a:xfrm>
              <a:off x="571500" y="685800"/>
              <a:ext cx="76200" cy="323850"/>
            </a:xfrm>
            <a:prstGeom prst="roundRect">
              <a:avLst>
                <a:gd name="adj" fmla="val 50000"/>
              </a:avLst>
            </a:prstGeom>
            <a:solidFill>
              <a:srgbClr val="1565D8"/>
            </a:solidFill>
            <a:ln>
              <a:noFill/>
            </a:ln>
          </p:spPr>
          <p:txBody>
            <a:bodyPr/>
            <a:p/>
          </p:txBody>
        </p:sp>
        <p:sp>
          <p:nvSpPr>
            <p:cNvPr id="7" name="TextBox 7"/>
            <p:cNvSpPr txBox="1"/>
            <p:nvPr/>
          </p:nvSpPr>
          <p:spPr>
            <a:xfrm>
              <a:off x="771525" y="700088"/>
              <a:ext cx="4609469" cy="45720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2250" b="1" dirty="0">
                  <a:solidFill>
                    <a:srgbClr val="2B3648"/>
                  </a:solidFill>
                  <a:latin typeface="Arial"/>
                  <a:ea typeface="Microsoft YaHei"/>
                  <a:cs typeface="Arial"/>
                </a:rPr>
                <a:t>现场演示：把活派给 WorkBuddy</a:t>
              </a:r>
            </a:p>
          </p:txBody>
        </p:sp>
        <p:sp>
          <p:nvSpPr>
            <p:cNvPr id="8" name="TextBox 8"/>
            <p:cNvSpPr txBox="1"/>
            <p:nvPr/>
          </p:nvSpPr>
          <p:spPr>
            <a:xfrm>
              <a:off x="782955" y="1111568"/>
              <a:ext cx="3652742" cy="27432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5B6B82"/>
                  </a:solidFill>
                  <a:latin typeface="Arial"/>
                  <a:ea typeface="Microsoft YaHei"/>
                  <a:cs typeface="Arial"/>
                </a:rPr>
                <a:t>讲师当场演示——你只需要看懂它是怎么干活的</a:t>
              </a:r>
            </a:p>
          </p:txBody>
        </p:sp>
      </p:grpSp>
      <p:grpSp>
        <p:nvGrpSpPr>
          <p:cNvPr id="23" name="Group 23"/>
          <p:cNvGrpSpPr/>
          <p:nvPr/>
        </p:nvGrpSpPr>
        <p:grpSpPr>
          <a:xfrm>
            <a:off x="571500" y="1619250"/>
            <a:ext cx="3524250" cy="3333750"/>
            <a:chOff x="571500" y="1619250"/>
            <a:chExt cx="3524250" cy="3333750"/>
          </a:xfrm>
        </p:grpSpPr>
        <p:sp>
          <p:nvSpPr>
            <p:cNvPr id="10" name="Rectangle 10"/>
            <p:cNvSpPr/>
            <p:nvPr/>
          </p:nvSpPr>
          <p:spPr>
            <a:xfrm>
              <a:off x="571500" y="1619250"/>
              <a:ext cx="3524250" cy="3333750"/>
            </a:xfrm>
            <a:prstGeom prst="roundRect">
              <a:avLst>
                <a:gd name="adj" fmla="val 4571"/>
              </a:avLst>
            </a:prstGeom>
            <a:solidFill>
              <a:srgbClr val="FFFFFF"/>
            </a:solidFill>
            <a:ln w="9525">
              <a:solidFill>
                <a:srgbClr val="D8E1EC"/>
              </a:solidFill>
            </a:ln>
          </p:spPr>
          <p:txBody>
            <a:bodyPr/>
            <a:p/>
          </p:txBody>
        </p:sp>
        <p:sp>
          <p:nvSpPr>
            <p:cNvPr id="11" name="Ellipse 11"/>
            <p:cNvSpPr/>
            <p:nvPr/>
          </p:nvSpPr>
          <p:spPr>
            <a:xfrm>
              <a:off x="762000" y="1847850"/>
              <a:ext cx="495300" cy="495300"/>
            </a:xfrm>
            <a:prstGeom prst="ellipse">
              <a:avLst/>
            </a:prstGeom>
            <a:solidFill>
              <a:srgbClr val="1565D8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2" name="TextBox 12"/>
            <p:cNvSpPr txBox="1"/>
            <p:nvPr/>
          </p:nvSpPr>
          <p:spPr>
            <a:xfrm>
              <a:off x="932843" y="2019300"/>
              <a:ext cx="153614" cy="30480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500" b="1" dirty="0">
                  <a:solidFill>
                    <a:srgbClr val="FFFFFF"/>
                  </a:solidFill>
                  <a:latin typeface="Arial"/>
                  <a:ea typeface="Microsoft YaHei"/>
                  <a:cs typeface="Arial"/>
                </a:rPr>
                <a:t>1</a:t>
              </a:r>
            </a:p>
          </p:txBody>
        </p:sp>
        <p:sp>
          <p:nvSpPr>
            <p:cNvPr id="13" name="Rectangle 13"/>
            <p:cNvSpPr/>
            <p:nvPr/>
          </p:nvSpPr>
          <p:spPr>
            <a:xfrm>
              <a:off x="3143250" y="1866900"/>
              <a:ext cx="800100" cy="304800"/>
            </a:xfrm>
            <a:prstGeom prst="roundRect">
              <a:avLst>
                <a:gd name="adj" fmla="val 50000"/>
              </a:avLst>
            </a:prstGeom>
            <a:solidFill>
              <a:srgbClr val="D6E6F9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4" name="TextBox 14"/>
            <p:cNvSpPr txBox="1"/>
            <p:nvPr/>
          </p:nvSpPr>
          <p:spPr>
            <a:xfrm>
              <a:off x="3110963" y="1953578"/>
              <a:ext cx="864675" cy="21336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050" b="1" dirty="0">
                  <a:solidFill>
                    <a:srgbClr val="0B4EA2"/>
                  </a:solidFill>
                  <a:latin typeface="Arial"/>
                  <a:ea typeface="Microsoft YaHei"/>
                  <a:cs typeface="Arial"/>
                </a:rPr>
                <a:t>现场 10 分钟</a:t>
              </a:r>
            </a:p>
          </p:txBody>
        </p:sp>
        <p:sp>
          <p:nvSpPr>
            <p:cNvPr id="15" name="Ellipse 15"/>
            <p:cNvSpPr/>
            <p:nvPr/>
          </p:nvSpPr>
          <p:spPr>
            <a:xfrm>
              <a:off x="800100" y="2571750"/>
              <a:ext cx="419100" cy="419100"/>
            </a:xfrm>
            <a:prstGeom prst="ellipse">
              <a:avLst/>
            </a:prstGeom>
            <a:solidFill>
              <a:srgbClr val="D6E6F9"/>
            </a:solidFill>
            <a:ln>
              <a:noFill/>
            </a:ln>
          </p:spPr>
          <p:txBody>
            <a:bodyPr/>
            <a:p/>
          </p:txBody>
        </p:sp>
        <p:grpSp>
          <p:nvGrpSpPr>
            <p:cNvPr id="18" name="Group 18"/>
            <p:cNvGrpSpPr/>
            <p:nvPr/>
          </p:nvGrpSpPr>
          <p:grpSpPr>
            <a:xfrm>
              <a:off x="920869" y="2695575"/>
              <a:ext cx="174506" cy="174506"/>
              <a:chOff x="920869" y="2695575"/>
              <a:chExt cx="174506" cy="174506"/>
            </a:xfrm>
          </p:grpSpPr>
          <p:sp>
            <p:nvSpPr>
              <p:cNvPr id="16" name="Freeform 16"/>
              <p:cNvSpPr/>
              <p:nvPr/>
            </p:nvSpPr>
            <p:spPr>
              <a:xfrm>
                <a:off x="990600" y="2695575"/>
                <a:ext cx="104775" cy="104775"/>
              </a:xfrm>
              <a:custGeom>
                <a:avLst/>
                <a:gdLst/>
                <a:ahLst/>
                <a:cxnLst/>
                <a:rect l="l" t="t" r="r" b="b"/>
                <a:pathLst>
                  <a:path w="104775" h="104775">
                    <a:moveTo>
                      <a:pt x="0" y="104775"/>
                    </a:moveTo>
                    <a:lnTo>
                      <a:pt x="104775" y="0"/>
                    </a:lnTo>
                  </a:path>
                </a:pathLst>
              </a:custGeom>
              <a:noFill/>
              <a:ln w="19050">
                <a:solidFill>
                  <a:srgbClr val="1565D8"/>
                </a:solidFill>
              </a:ln>
            </p:spPr>
            <p:txBody>
              <a:bodyPr/>
              <a:p/>
            </p:txBody>
          </p:sp>
          <p:sp>
            <p:nvSpPr>
              <p:cNvPr id="17" name="Freeform 17"/>
              <p:cNvSpPr/>
              <p:nvPr/>
            </p:nvSpPr>
            <p:spPr>
              <a:xfrm>
                <a:off x="920869" y="2695575"/>
                <a:ext cx="174506" cy="174506"/>
              </a:xfrm>
              <a:custGeom>
                <a:avLst/>
                <a:gdLst/>
                <a:ahLst/>
                <a:cxnLst/>
                <a:rect l="l" t="t" r="r" b="b"/>
                <a:pathLst>
                  <a:path w="174506" h="174506">
                    <a:moveTo>
                      <a:pt x="174506" y="0"/>
                    </a:moveTo>
                    <a:lnTo>
                      <a:pt x="112594" y="171450"/>
                    </a:lnTo>
                    <a:cubicBezTo>
                      <a:pt x="111740" y="173312"/>
                      <a:pt x="109880" y="174506"/>
                      <a:pt x="107831" y="174506"/>
                    </a:cubicBezTo>
                    <a:cubicBezTo>
                      <a:pt x="105783" y="174506"/>
                      <a:pt x="103922" y="173312"/>
                      <a:pt x="103069" y="171450"/>
                    </a:cubicBezTo>
                    <a:lnTo>
                      <a:pt x="69731" y="104775"/>
                    </a:lnTo>
                    <a:lnTo>
                      <a:pt x="3056" y="71438"/>
                    </a:lnTo>
                    <a:cubicBezTo>
                      <a:pt x="1194" y="70584"/>
                      <a:pt x="0" y="68724"/>
                      <a:pt x="0" y="66675"/>
                    </a:cubicBezTo>
                    <a:cubicBezTo>
                      <a:pt x="0" y="64626"/>
                      <a:pt x="1194" y="62766"/>
                      <a:pt x="3056" y="61912"/>
                    </a:cubicBezTo>
                    <a:lnTo>
                      <a:pt x="174506" y="0"/>
                    </a:lnTo>
                  </a:path>
                </a:pathLst>
              </a:custGeom>
              <a:noFill/>
              <a:ln w="19050">
                <a:solidFill>
                  <a:srgbClr val="1565D8"/>
                </a:solidFill>
              </a:ln>
            </p:spPr>
            <p:txBody>
              <a:bodyPr/>
              <a:p/>
            </p:txBody>
          </p:sp>
        </p:grpSp>
        <p:sp>
          <p:nvSpPr>
            <p:cNvPr id="19" name="TextBox 19"/>
            <p:cNvSpPr txBox="1"/>
            <p:nvPr/>
          </p:nvSpPr>
          <p:spPr>
            <a:xfrm>
              <a:off x="1331595" y="2679382"/>
              <a:ext cx="1197054" cy="33528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650" b="1" dirty="0">
                  <a:solidFill>
                    <a:srgbClr val="2B3648"/>
                  </a:solidFill>
                  <a:latin typeface="Arial"/>
                  <a:ea typeface="Microsoft YaHei"/>
                  <a:cs typeface="Arial"/>
                </a:rPr>
                <a:t>一句话派活</a:t>
              </a:r>
            </a:p>
          </p:txBody>
        </p:sp>
        <p:sp>
          <p:nvSpPr>
            <p:cNvPr id="20" name="TextBox 20"/>
            <p:cNvSpPr txBox="1"/>
            <p:nvPr/>
          </p:nvSpPr>
          <p:spPr>
            <a:xfrm>
              <a:off x="785812" y="3231356"/>
              <a:ext cx="2226350" cy="22860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5" dirty="0">
                  <a:solidFill>
                    <a:srgbClr val="5B6B82"/>
                  </a:solidFill>
                  <a:latin typeface="Arial"/>
                  <a:ea typeface="Microsoft YaHei"/>
                  <a:cs typeface="Arial"/>
                </a:rPr>
                <a:t>「把这些资料整理成 10 页 PPT，</a:t>
              </a:r>
            </a:p>
          </p:txBody>
        </p:sp>
        <p:sp>
          <p:nvSpPr>
            <p:cNvPr id="21" name="TextBox 21"/>
            <p:cNvSpPr txBox="1"/>
            <p:nvPr/>
          </p:nvSpPr>
          <p:spPr>
            <a:xfrm>
              <a:off x="785812" y="3479006"/>
              <a:ext cx="1551265" cy="22860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5" dirty="0">
                  <a:solidFill>
                    <a:srgbClr val="5B6B82"/>
                  </a:solidFill>
                  <a:latin typeface="Arial"/>
                  <a:ea typeface="Microsoft YaHei"/>
                  <a:cs typeface="Arial"/>
                </a:rPr>
                <a:t>再给我 1 页要点总结」</a:t>
              </a:r>
            </a:p>
          </p:txBody>
        </p:sp>
        <p:sp>
          <p:nvSpPr>
            <p:cNvPr id="22" name="TextBox 22"/>
            <p:cNvSpPr txBox="1"/>
            <p:nvPr/>
          </p:nvSpPr>
          <p:spPr>
            <a:xfrm>
              <a:off x="785812" y="3802856"/>
              <a:ext cx="1528762" cy="22860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5" dirty="0">
                  <a:solidFill>
                    <a:srgbClr val="5B6B82"/>
                  </a:solidFill>
                  <a:latin typeface="Arial"/>
                  <a:ea typeface="Microsoft YaHei"/>
                  <a:cs typeface="Arial"/>
                </a:rPr>
                <a:t>当场发出，看它干活。</a:t>
              </a:r>
            </a:p>
          </p:txBody>
        </p:sp>
      </p:grpSp>
      <p:grpSp>
        <p:nvGrpSpPr>
          <p:cNvPr id="37" name="Group 37"/>
          <p:cNvGrpSpPr/>
          <p:nvPr/>
        </p:nvGrpSpPr>
        <p:grpSpPr>
          <a:xfrm>
            <a:off x="4305300" y="1619250"/>
            <a:ext cx="3524250" cy="3333750"/>
            <a:chOff x="4305300" y="1619250"/>
            <a:chExt cx="3524250" cy="3333750"/>
          </a:xfrm>
        </p:grpSpPr>
        <p:sp>
          <p:nvSpPr>
            <p:cNvPr id="24" name="Rectangle 24"/>
            <p:cNvSpPr/>
            <p:nvPr/>
          </p:nvSpPr>
          <p:spPr>
            <a:xfrm>
              <a:off x="4305300" y="1619250"/>
              <a:ext cx="3524250" cy="3333750"/>
            </a:xfrm>
            <a:prstGeom prst="roundRect">
              <a:avLst>
                <a:gd name="adj" fmla="val 4571"/>
              </a:avLst>
            </a:prstGeom>
            <a:solidFill>
              <a:srgbClr val="FFFFFF"/>
            </a:solidFill>
            <a:ln w="9525">
              <a:solidFill>
                <a:srgbClr val="D8E1EC"/>
              </a:solidFill>
            </a:ln>
          </p:spPr>
          <p:txBody>
            <a:bodyPr/>
            <a:p/>
          </p:txBody>
        </p:sp>
        <p:sp>
          <p:nvSpPr>
            <p:cNvPr id="25" name="Ellipse 25"/>
            <p:cNvSpPr/>
            <p:nvPr/>
          </p:nvSpPr>
          <p:spPr>
            <a:xfrm>
              <a:off x="4495800" y="1847850"/>
              <a:ext cx="495300" cy="495300"/>
            </a:xfrm>
            <a:prstGeom prst="ellipse">
              <a:avLst/>
            </a:prstGeom>
            <a:solidFill>
              <a:srgbClr val="1565D8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6" name="TextBox 26"/>
            <p:cNvSpPr txBox="1"/>
            <p:nvPr/>
          </p:nvSpPr>
          <p:spPr>
            <a:xfrm>
              <a:off x="4666643" y="2019300"/>
              <a:ext cx="153614" cy="30480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500" b="1" dirty="0">
                  <a:solidFill>
                    <a:srgbClr val="FFFFFF"/>
                  </a:solidFill>
                  <a:latin typeface="Arial"/>
                  <a:ea typeface="Microsoft YaHei"/>
                  <a:cs typeface="Arial"/>
                </a:rPr>
                <a:t>2</a:t>
              </a:r>
            </a:p>
          </p:txBody>
        </p:sp>
        <p:sp>
          <p:nvSpPr>
            <p:cNvPr id="27" name="Rectangle 27"/>
            <p:cNvSpPr/>
            <p:nvPr/>
          </p:nvSpPr>
          <p:spPr>
            <a:xfrm>
              <a:off x="6877050" y="1866900"/>
              <a:ext cx="800100" cy="304800"/>
            </a:xfrm>
            <a:prstGeom prst="roundRect">
              <a:avLst>
                <a:gd name="adj" fmla="val 50000"/>
              </a:avLst>
            </a:prstGeom>
            <a:solidFill>
              <a:srgbClr val="D6E6F9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8" name="TextBox 28"/>
            <p:cNvSpPr txBox="1"/>
            <p:nvPr/>
          </p:nvSpPr>
          <p:spPr>
            <a:xfrm>
              <a:off x="6896219" y="1953578"/>
              <a:ext cx="761762" cy="21336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050" b="1" dirty="0">
                  <a:solidFill>
                    <a:srgbClr val="0B4EA2"/>
                  </a:solidFill>
                  <a:latin typeface="Arial"/>
                  <a:ea typeface="Microsoft YaHei"/>
                  <a:cs typeface="Arial"/>
                </a:rPr>
                <a:t>看懂怎么干</a:t>
              </a:r>
            </a:p>
          </p:txBody>
        </p:sp>
        <p:sp>
          <p:nvSpPr>
            <p:cNvPr id="29" name="Ellipse 29"/>
            <p:cNvSpPr/>
            <p:nvPr/>
          </p:nvSpPr>
          <p:spPr>
            <a:xfrm>
              <a:off x="4533900" y="2571750"/>
              <a:ext cx="419100" cy="419100"/>
            </a:xfrm>
            <a:prstGeom prst="ellipse">
              <a:avLst/>
            </a:prstGeom>
            <a:solidFill>
              <a:srgbClr val="D6E6F9"/>
            </a:solidFill>
            <a:ln>
              <a:noFill/>
            </a:ln>
          </p:spPr>
          <p:txBody>
            <a:bodyPr/>
            <a:p/>
          </p:txBody>
        </p:sp>
        <p:grpSp>
          <p:nvGrpSpPr>
            <p:cNvPr id="32" name="Group 32"/>
            <p:cNvGrpSpPr/>
            <p:nvPr/>
          </p:nvGrpSpPr>
          <p:grpSpPr>
            <a:xfrm>
              <a:off x="4657725" y="2724150"/>
              <a:ext cx="171450" cy="114300"/>
              <a:chOff x="4657725" y="2724150"/>
              <a:chExt cx="171450" cy="114300"/>
            </a:xfrm>
          </p:grpSpPr>
          <p:sp>
            <p:nvSpPr>
              <p:cNvPr id="30" name="Freeform 30"/>
              <p:cNvSpPr/>
              <p:nvPr/>
            </p:nvSpPr>
            <p:spPr>
              <a:xfrm>
                <a:off x="4724400" y="2762250"/>
                <a:ext cx="38100" cy="38100"/>
              </a:xfrm>
              <a:custGeom>
                <a:avLst/>
                <a:gdLst/>
                <a:ahLst/>
                <a:cxnLst/>
                <a:rect l="l" t="t" r="r" b="b"/>
                <a:pathLst>
                  <a:path w="38100" h="38100">
                    <a:moveTo>
                      <a:pt x="0" y="19050"/>
                    </a:moveTo>
                    <a:cubicBezTo>
                      <a:pt x="0" y="29571"/>
                      <a:pt x="8529" y="38100"/>
                      <a:pt x="19050" y="38100"/>
                    </a:cubicBezTo>
                    <a:cubicBezTo>
                      <a:pt x="29571" y="38100"/>
                      <a:pt x="38100" y="29571"/>
                      <a:pt x="38100" y="19050"/>
                    </a:cubicBezTo>
                    <a:cubicBezTo>
                      <a:pt x="38100" y="8529"/>
                      <a:pt x="29571" y="0"/>
                      <a:pt x="19050" y="0"/>
                    </a:cubicBezTo>
                    <a:cubicBezTo>
                      <a:pt x="8529" y="0"/>
                      <a:pt x="0" y="8529"/>
                      <a:pt x="0" y="19050"/>
                    </a:cubicBezTo>
                  </a:path>
                </a:pathLst>
              </a:custGeom>
              <a:noFill/>
              <a:ln w="19050">
                <a:solidFill>
                  <a:srgbClr val="1565D8"/>
                </a:solidFill>
              </a:ln>
            </p:spPr>
            <p:txBody>
              <a:bodyPr/>
              <a:p/>
            </p:txBody>
          </p:sp>
          <p:sp>
            <p:nvSpPr>
              <p:cNvPr id="31" name="Freeform 31"/>
              <p:cNvSpPr/>
              <p:nvPr/>
            </p:nvSpPr>
            <p:spPr>
              <a:xfrm>
                <a:off x="4657725" y="2724150"/>
                <a:ext cx="171450" cy="114300"/>
              </a:xfrm>
              <a:custGeom>
                <a:avLst/>
                <a:gdLst/>
                <a:ahLst/>
                <a:cxnLst/>
                <a:rect l="l" t="t" r="r" b="b"/>
                <a:pathLst>
                  <a:path w="171450" h="114300">
                    <a:moveTo>
                      <a:pt x="171450" y="57150"/>
                    </a:moveTo>
                    <a:cubicBezTo>
                      <a:pt x="148590" y="95250"/>
                      <a:pt x="120015" y="114300"/>
                      <a:pt x="85725" y="114300"/>
                    </a:cubicBezTo>
                    <a:cubicBezTo>
                      <a:pt x="51435" y="114300"/>
                      <a:pt x="22860" y="95250"/>
                      <a:pt x="0" y="57150"/>
                    </a:cubicBezTo>
                    <a:cubicBezTo>
                      <a:pt x="22860" y="19050"/>
                      <a:pt x="51435" y="0"/>
                      <a:pt x="85725" y="0"/>
                    </a:cubicBezTo>
                    <a:cubicBezTo>
                      <a:pt x="120015" y="0"/>
                      <a:pt x="148590" y="19050"/>
                      <a:pt x="171450" y="57150"/>
                    </a:cubicBezTo>
                  </a:path>
                </a:pathLst>
              </a:custGeom>
              <a:noFill/>
              <a:ln w="19050">
                <a:solidFill>
                  <a:srgbClr val="1565D8"/>
                </a:solidFill>
              </a:ln>
            </p:spPr>
            <p:txBody>
              <a:bodyPr/>
              <a:p/>
            </p:txBody>
          </p:sp>
        </p:grpSp>
        <p:sp>
          <p:nvSpPr>
            <p:cNvPr id="33" name="TextBox 33"/>
            <p:cNvSpPr txBox="1"/>
            <p:nvPr/>
          </p:nvSpPr>
          <p:spPr>
            <a:xfrm>
              <a:off x="5065395" y="2679382"/>
              <a:ext cx="1197054" cy="33528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650" b="1" dirty="0">
                  <a:solidFill>
                    <a:srgbClr val="2B3648"/>
                  </a:solidFill>
                  <a:latin typeface="Arial"/>
                  <a:ea typeface="Microsoft YaHei"/>
                  <a:cs typeface="Arial"/>
                </a:rPr>
                <a:t>看它干三处</a:t>
              </a:r>
            </a:p>
          </p:txBody>
        </p:sp>
        <p:sp>
          <p:nvSpPr>
            <p:cNvPr id="34" name="TextBox 34"/>
            <p:cNvSpPr txBox="1"/>
            <p:nvPr/>
          </p:nvSpPr>
          <p:spPr>
            <a:xfrm>
              <a:off x="4519612" y="3231356"/>
              <a:ext cx="1056203" cy="22860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5" dirty="0">
                  <a:solidFill>
                    <a:srgbClr val="5B6B82"/>
                  </a:solidFill>
                  <a:latin typeface="Arial"/>
                  <a:ea typeface="Microsoft YaHei"/>
                  <a:cs typeface="Arial"/>
                </a:rPr>
                <a:t>① 怎么拆解任务</a:t>
              </a:r>
            </a:p>
          </p:txBody>
        </p:sp>
        <p:sp>
          <p:nvSpPr>
            <p:cNvPr id="35" name="TextBox 35"/>
            <p:cNvSpPr txBox="1"/>
            <p:nvPr/>
          </p:nvSpPr>
          <p:spPr>
            <a:xfrm>
              <a:off x="4519612" y="3536156"/>
              <a:ext cx="2106335" cy="22860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5" dirty="0">
                  <a:solidFill>
                    <a:srgbClr val="5B6B82"/>
                  </a:solidFill>
                  <a:latin typeface="Arial"/>
                  <a:ea typeface="Microsoft YaHei"/>
                  <a:cs typeface="Arial"/>
                </a:rPr>
                <a:t>② 怎么调工具：读文件、建文档</a:t>
              </a:r>
            </a:p>
          </p:txBody>
        </p:sp>
        <p:sp>
          <p:nvSpPr>
            <p:cNvPr id="36" name="TextBox 36"/>
            <p:cNvSpPr txBox="1"/>
            <p:nvPr/>
          </p:nvSpPr>
          <p:spPr>
            <a:xfrm>
              <a:off x="4519612" y="3840956"/>
              <a:ext cx="2106335" cy="22860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5" dirty="0">
                  <a:solidFill>
                    <a:srgbClr val="5B6B82"/>
                  </a:solidFill>
                  <a:latin typeface="Arial"/>
                  <a:ea typeface="Microsoft YaHei"/>
                  <a:cs typeface="Arial"/>
                </a:rPr>
                <a:t>③ 交付物：是文件，不只是回答</a:t>
              </a:r>
            </a:p>
          </p:txBody>
        </p:sp>
      </p:grpSp>
      <p:grpSp>
        <p:nvGrpSpPr>
          <p:cNvPr id="53" name="Group 53"/>
          <p:cNvGrpSpPr/>
          <p:nvPr/>
        </p:nvGrpSpPr>
        <p:grpSpPr>
          <a:xfrm>
            <a:off x="8039100" y="1619250"/>
            <a:ext cx="3524250" cy="3333750"/>
            <a:chOff x="8039100" y="1619250"/>
            <a:chExt cx="3524250" cy="3333750"/>
          </a:xfrm>
        </p:grpSpPr>
        <p:sp>
          <p:nvSpPr>
            <p:cNvPr id="38" name="Rectangle 38"/>
            <p:cNvSpPr/>
            <p:nvPr/>
          </p:nvSpPr>
          <p:spPr>
            <a:xfrm>
              <a:off x="8039100" y="1619250"/>
              <a:ext cx="3524250" cy="3333750"/>
            </a:xfrm>
            <a:prstGeom prst="roundRect">
              <a:avLst>
                <a:gd name="adj" fmla="val 4571"/>
              </a:avLst>
            </a:prstGeom>
            <a:solidFill>
              <a:srgbClr val="FFFFFF"/>
            </a:solidFill>
            <a:ln w="9525">
              <a:solidFill>
                <a:srgbClr val="D8E1EC"/>
              </a:solidFill>
            </a:ln>
          </p:spPr>
          <p:txBody>
            <a:bodyPr/>
            <a:p/>
          </p:txBody>
        </p:sp>
        <p:sp>
          <p:nvSpPr>
            <p:cNvPr id="39" name="Ellipse 39"/>
            <p:cNvSpPr/>
            <p:nvPr/>
          </p:nvSpPr>
          <p:spPr>
            <a:xfrm>
              <a:off x="8229600" y="1847850"/>
              <a:ext cx="495300" cy="495300"/>
            </a:xfrm>
            <a:prstGeom prst="ellipse">
              <a:avLst/>
            </a:prstGeom>
            <a:solidFill>
              <a:srgbClr val="1565D8"/>
            </a:solidFill>
            <a:ln>
              <a:noFill/>
            </a:ln>
          </p:spPr>
          <p:txBody>
            <a:bodyPr/>
            <a:p/>
          </p:txBody>
        </p:sp>
        <p:sp>
          <p:nvSpPr>
            <p:cNvPr id="40" name="TextBox 40"/>
            <p:cNvSpPr txBox="1"/>
            <p:nvPr/>
          </p:nvSpPr>
          <p:spPr>
            <a:xfrm>
              <a:off x="8400443" y="2019300"/>
              <a:ext cx="153614" cy="30480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500" b="1" dirty="0">
                  <a:solidFill>
                    <a:srgbClr val="FFFFFF"/>
                  </a:solidFill>
                  <a:latin typeface="Arial"/>
                  <a:ea typeface="Microsoft YaHei"/>
                  <a:cs typeface="Arial"/>
                </a:rPr>
                <a:t>3</a:t>
              </a:r>
            </a:p>
          </p:txBody>
        </p:sp>
        <p:sp>
          <p:nvSpPr>
            <p:cNvPr id="41" name="Rectangle 41"/>
            <p:cNvSpPr/>
            <p:nvPr/>
          </p:nvSpPr>
          <p:spPr>
            <a:xfrm>
              <a:off x="10610850" y="1866900"/>
              <a:ext cx="800100" cy="304800"/>
            </a:xfrm>
            <a:prstGeom prst="roundRect">
              <a:avLst>
                <a:gd name="adj" fmla="val 50000"/>
              </a:avLst>
            </a:prstGeom>
            <a:solidFill>
              <a:srgbClr val="D6E6F9"/>
            </a:solidFill>
            <a:ln>
              <a:noFill/>
            </a:ln>
          </p:spPr>
          <p:txBody>
            <a:bodyPr/>
            <a:p/>
          </p:txBody>
        </p:sp>
        <p:sp>
          <p:nvSpPr>
            <p:cNvPr id="42" name="TextBox 42"/>
            <p:cNvSpPr txBox="1"/>
            <p:nvPr/>
          </p:nvSpPr>
          <p:spPr>
            <a:xfrm>
              <a:off x="10630019" y="1953578"/>
              <a:ext cx="761762" cy="21336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050" b="1" dirty="0">
                  <a:solidFill>
                    <a:srgbClr val="0B4EA2"/>
                  </a:solidFill>
                  <a:latin typeface="Arial"/>
                  <a:ea typeface="Microsoft YaHei"/>
                  <a:cs typeface="Arial"/>
                </a:rPr>
                <a:t>回去就能用</a:t>
              </a:r>
            </a:p>
          </p:txBody>
        </p:sp>
        <p:sp>
          <p:nvSpPr>
            <p:cNvPr id="43" name="Ellipse 43"/>
            <p:cNvSpPr/>
            <p:nvPr/>
          </p:nvSpPr>
          <p:spPr>
            <a:xfrm>
              <a:off x="8267700" y="2571750"/>
              <a:ext cx="419100" cy="419100"/>
            </a:xfrm>
            <a:prstGeom prst="ellipse">
              <a:avLst/>
            </a:prstGeom>
            <a:solidFill>
              <a:srgbClr val="D6E6F9"/>
            </a:solidFill>
            <a:ln>
              <a:noFill/>
            </a:ln>
          </p:spPr>
          <p:txBody>
            <a:bodyPr/>
            <a:p/>
          </p:txBody>
        </p:sp>
        <p:grpSp>
          <p:nvGrpSpPr>
            <p:cNvPr id="47" name="Group 47"/>
            <p:cNvGrpSpPr/>
            <p:nvPr/>
          </p:nvGrpSpPr>
          <p:grpSpPr>
            <a:xfrm>
              <a:off x="8398041" y="2705100"/>
              <a:ext cx="155409" cy="155409"/>
              <a:chOff x="8398041" y="2705100"/>
              <a:chExt cx="155409" cy="155409"/>
            </a:xfrm>
          </p:grpSpPr>
          <p:sp>
            <p:nvSpPr>
              <p:cNvPr id="44" name="Freeform 44"/>
              <p:cNvSpPr/>
              <p:nvPr/>
            </p:nvSpPr>
            <p:spPr>
              <a:xfrm>
                <a:off x="8401050" y="2705100"/>
                <a:ext cx="152400" cy="152400"/>
              </a:xfrm>
              <a:custGeom>
                <a:avLst/>
                <a:gdLst/>
                <a:ahLst/>
                <a:cxnLst/>
                <a:rect l="l" t="t" r="r" b="b"/>
                <a:pathLst>
                  <a:path w="152400" h="152400">
                    <a:moveTo>
                      <a:pt x="0" y="85725"/>
                    </a:moveTo>
                    <a:cubicBezTo>
                      <a:pt x="34959" y="89880"/>
                      <a:pt x="62520" y="117441"/>
                      <a:pt x="66675" y="152400"/>
                    </a:cubicBezTo>
                    <a:cubicBezTo>
                      <a:pt x="83792" y="142532"/>
                      <a:pt x="94598" y="124522"/>
                      <a:pt x="95250" y="104775"/>
                    </a:cubicBezTo>
                    <a:cubicBezTo>
                      <a:pt x="127957" y="93269"/>
                      <a:pt x="150512" y="63195"/>
                      <a:pt x="152400" y="28575"/>
                    </a:cubicBezTo>
                    <a:cubicBezTo>
                      <a:pt x="152400" y="12793"/>
                      <a:pt x="139607" y="0"/>
                      <a:pt x="123825" y="0"/>
                    </a:cubicBezTo>
                    <a:cubicBezTo>
                      <a:pt x="89205" y="1888"/>
                      <a:pt x="59131" y="24443"/>
                      <a:pt x="47625" y="57150"/>
                    </a:cubicBezTo>
                    <a:cubicBezTo>
                      <a:pt x="27878" y="57802"/>
                      <a:pt x="9868" y="68608"/>
                      <a:pt x="0" y="85725"/>
                    </a:cubicBezTo>
                  </a:path>
                </a:pathLst>
              </a:custGeom>
              <a:noFill/>
              <a:ln w="19050">
                <a:solidFill>
                  <a:srgbClr val="1565D8"/>
                </a:solidFill>
              </a:ln>
            </p:spPr>
            <p:txBody>
              <a:bodyPr/>
              <a:p/>
            </p:txBody>
          </p:sp>
          <p:sp>
            <p:nvSpPr>
              <p:cNvPr id="45" name="Freeform 45"/>
              <p:cNvSpPr/>
              <p:nvPr/>
            </p:nvSpPr>
            <p:spPr>
              <a:xfrm>
                <a:off x="8398041" y="2800350"/>
                <a:ext cx="60159" cy="60159"/>
              </a:xfrm>
              <a:custGeom>
                <a:avLst/>
                <a:gdLst/>
                <a:ahLst/>
                <a:cxnLst/>
                <a:rect l="l" t="t" r="r" b="b"/>
                <a:pathLst>
                  <a:path w="60159" h="60159">
                    <a:moveTo>
                      <a:pt x="31584" y="0"/>
                    </a:moveTo>
                    <a:cubicBezTo>
                      <a:pt x="11304" y="11449"/>
                      <a:pt x="0" y="34057"/>
                      <a:pt x="3009" y="57150"/>
                    </a:cubicBezTo>
                    <a:cubicBezTo>
                      <a:pt x="26101" y="60159"/>
                      <a:pt x="48710" y="48854"/>
                      <a:pt x="60159" y="28575"/>
                    </a:cubicBezTo>
                  </a:path>
                </a:pathLst>
              </a:custGeom>
              <a:noFill/>
              <a:ln w="19050">
                <a:solidFill>
                  <a:srgbClr val="1565D8"/>
                </a:solidFill>
              </a:ln>
            </p:spPr>
            <p:txBody>
              <a:bodyPr/>
              <a:p/>
            </p:txBody>
          </p:sp>
          <p:sp>
            <p:nvSpPr>
              <p:cNvPr id="46" name="Freeform 46"/>
              <p:cNvSpPr/>
              <p:nvPr/>
            </p:nvSpPr>
            <p:spPr>
              <a:xfrm>
                <a:off x="8496300" y="2743200"/>
                <a:ext cx="19050" cy="19050"/>
              </a:xfrm>
              <a:custGeom>
                <a:avLst/>
                <a:gdLst/>
                <a:ahLst/>
                <a:cxnLst/>
                <a:rect l="l" t="t" r="r" b="b"/>
                <a:pathLst>
                  <a:path w="19050" h="19050">
                    <a:moveTo>
                      <a:pt x="0" y="9525"/>
                    </a:moveTo>
                    <a:cubicBezTo>
                      <a:pt x="0" y="14786"/>
                      <a:pt x="4264" y="19050"/>
                      <a:pt x="9525" y="19050"/>
                    </a:cubicBezTo>
                    <a:cubicBezTo>
                      <a:pt x="14786" y="19050"/>
                      <a:pt x="19050" y="14786"/>
                      <a:pt x="19050" y="9525"/>
                    </a:cubicBezTo>
                    <a:cubicBezTo>
                      <a:pt x="19050" y="4264"/>
                      <a:pt x="14786" y="0"/>
                      <a:pt x="9525" y="0"/>
                    </a:cubicBezTo>
                    <a:cubicBezTo>
                      <a:pt x="4264" y="0"/>
                      <a:pt x="0" y="4264"/>
                      <a:pt x="0" y="9525"/>
                    </a:cubicBezTo>
                  </a:path>
                </a:pathLst>
              </a:custGeom>
              <a:noFill/>
              <a:ln w="19050">
                <a:solidFill>
                  <a:srgbClr val="1565D8"/>
                </a:solidFill>
              </a:ln>
            </p:spPr>
            <p:txBody>
              <a:bodyPr/>
              <a:p/>
            </p:txBody>
          </p:sp>
        </p:grpSp>
        <p:sp>
          <p:nvSpPr>
            <p:cNvPr id="48" name="TextBox 48"/>
            <p:cNvSpPr txBox="1"/>
            <p:nvPr/>
          </p:nvSpPr>
          <p:spPr>
            <a:xfrm>
              <a:off x="8799195" y="2679382"/>
              <a:ext cx="966026" cy="33528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650" b="1" dirty="0">
                  <a:solidFill>
                    <a:srgbClr val="2B3648"/>
                  </a:solidFill>
                  <a:latin typeface="Arial"/>
                  <a:ea typeface="Microsoft YaHei"/>
                  <a:cs typeface="Arial"/>
                </a:rPr>
                <a:t>三步上手</a:t>
              </a:r>
            </a:p>
          </p:txBody>
        </p:sp>
        <p:sp>
          <p:nvSpPr>
            <p:cNvPr id="49" name="TextBox 49"/>
            <p:cNvSpPr txBox="1"/>
            <p:nvPr/>
          </p:nvSpPr>
          <p:spPr>
            <a:xfrm>
              <a:off x="8253412" y="3231356"/>
              <a:ext cx="628650" cy="22860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5" dirty="0">
                  <a:solidFill>
                    <a:srgbClr val="5B6B82"/>
                  </a:solidFill>
                  <a:latin typeface="Arial"/>
                  <a:ea typeface="Microsoft YaHei"/>
                  <a:cs typeface="Arial"/>
                </a:rPr>
                <a:t>注册登录</a:t>
              </a:r>
            </a:p>
          </p:txBody>
        </p:sp>
        <p:sp>
          <p:nvSpPr>
            <p:cNvPr id="50" name="TextBox 50"/>
            <p:cNvSpPr txBox="1"/>
            <p:nvPr/>
          </p:nvSpPr>
          <p:spPr>
            <a:xfrm>
              <a:off x="8253412" y="3536156"/>
              <a:ext cx="1356241" cy="22860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5" dirty="0">
                  <a:solidFill>
                    <a:srgbClr val="5B6B82"/>
                  </a:solidFill>
                  <a:latin typeface="Arial"/>
                  <a:ea typeface="Microsoft YaHei"/>
                  <a:cs typeface="Arial"/>
                </a:rPr>
                <a:t>→ 把资料传进资料库</a:t>
              </a:r>
            </a:p>
          </p:txBody>
        </p:sp>
        <p:sp>
          <p:nvSpPr>
            <p:cNvPr id="51" name="TextBox 51"/>
            <p:cNvSpPr txBox="1"/>
            <p:nvPr/>
          </p:nvSpPr>
          <p:spPr>
            <a:xfrm>
              <a:off x="8253412" y="3840956"/>
              <a:ext cx="1056203" cy="22860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5" dirty="0">
                  <a:solidFill>
                    <a:srgbClr val="5B6B82"/>
                  </a:solidFill>
                  <a:latin typeface="Arial"/>
                  <a:ea typeface="Microsoft YaHei"/>
                  <a:cs typeface="Arial"/>
                </a:rPr>
                <a:t>→ 发出第一句话</a:t>
              </a:r>
            </a:p>
          </p:txBody>
        </p:sp>
        <p:sp>
          <p:nvSpPr>
            <p:cNvPr id="52" name="TextBox 52"/>
            <p:cNvSpPr txBox="1"/>
            <p:nvPr/>
          </p:nvSpPr>
          <p:spPr>
            <a:xfrm>
              <a:off x="8254365" y="4230052"/>
              <a:ext cx="1986915" cy="21336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050" dirty="0">
                  <a:solidFill>
                    <a:srgbClr val="8B99AE"/>
                  </a:solidFill>
                  <a:latin typeface="Arial"/>
                  <a:ea typeface="Microsoft YaHei"/>
                  <a:cs typeface="Arial"/>
                </a:rPr>
                <a:t>今天看完演示，回去就能照着做</a:t>
              </a:r>
            </a:p>
          </p:txBody>
        </p:sp>
      </p:grpSp>
      <p:grpSp>
        <p:nvGrpSpPr>
          <p:cNvPr id="62" name="Group 62"/>
          <p:cNvGrpSpPr/>
          <p:nvPr/>
        </p:nvGrpSpPr>
        <p:grpSpPr>
          <a:xfrm>
            <a:off x="571500" y="5219700"/>
            <a:ext cx="11049000" cy="685800"/>
            <a:chOff x="571500" y="5219700"/>
            <a:chExt cx="11049000" cy="685800"/>
          </a:xfrm>
        </p:grpSpPr>
        <p:sp>
          <p:nvSpPr>
            <p:cNvPr id="54" name="Rectangle 54"/>
            <p:cNvSpPr/>
            <p:nvPr/>
          </p:nvSpPr>
          <p:spPr>
            <a:xfrm>
              <a:off x="571500" y="5219700"/>
              <a:ext cx="11049000" cy="685800"/>
            </a:xfrm>
            <a:prstGeom prst="roundRect">
              <a:avLst>
                <a:gd name="adj" fmla="val 22222"/>
              </a:avLst>
            </a:prstGeom>
            <a:solidFill>
              <a:srgbClr val="FFFFFF"/>
            </a:solidFill>
            <a:ln w="9525">
              <a:solidFill>
                <a:srgbClr val="D8E1EC"/>
              </a:solidFill>
            </a:ln>
          </p:spPr>
          <p:txBody>
            <a:bodyPr/>
            <a:p/>
          </p:txBody>
        </p:sp>
        <p:sp>
          <p:nvSpPr>
            <p:cNvPr id="55" name="Ellipse 55"/>
            <p:cNvSpPr/>
            <p:nvPr/>
          </p:nvSpPr>
          <p:spPr>
            <a:xfrm>
              <a:off x="781050" y="5353050"/>
              <a:ext cx="419100" cy="419100"/>
            </a:xfrm>
            <a:prstGeom prst="ellipse">
              <a:avLst/>
            </a:prstGeom>
            <a:solidFill>
              <a:srgbClr val="E9EEF5"/>
            </a:solidFill>
            <a:ln>
              <a:noFill/>
            </a:ln>
          </p:spPr>
          <p:txBody>
            <a:bodyPr/>
            <a:p/>
          </p:txBody>
        </p:sp>
        <p:grpSp>
          <p:nvGrpSpPr>
            <p:cNvPr id="59" name="Group 59"/>
            <p:cNvGrpSpPr/>
            <p:nvPr/>
          </p:nvGrpSpPr>
          <p:grpSpPr>
            <a:xfrm>
              <a:off x="904875" y="5476875"/>
              <a:ext cx="171450" cy="171450"/>
              <a:chOff x="904875" y="5476875"/>
              <a:chExt cx="171450" cy="171450"/>
            </a:xfrm>
          </p:grpSpPr>
          <p:sp>
            <p:nvSpPr>
              <p:cNvPr id="56" name="Freeform 56"/>
              <p:cNvSpPr/>
              <p:nvPr/>
            </p:nvSpPr>
            <p:spPr>
              <a:xfrm>
                <a:off x="969684" y="5549141"/>
                <a:ext cx="34385" cy="34380"/>
              </a:xfrm>
              <a:custGeom>
                <a:avLst/>
                <a:gdLst/>
                <a:ahLst/>
                <a:cxnLst/>
                <a:rect l="l" t="t" r="r" b="b"/>
                <a:pathLst>
                  <a:path w="34385" h="34380">
                    <a:moveTo>
                      <a:pt x="7438" y="0"/>
                    </a:moveTo>
                    <a:cubicBezTo>
                      <a:pt x="0" y="7441"/>
                      <a:pt x="2" y="19503"/>
                      <a:pt x="7443" y="26941"/>
                    </a:cubicBezTo>
                    <a:cubicBezTo>
                      <a:pt x="14884" y="34380"/>
                      <a:pt x="26946" y="34378"/>
                      <a:pt x="34385" y="26937"/>
                    </a:cubicBezTo>
                  </a:path>
                </a:pathLst>
              </a:custGeom>
              <a:noFill/>
              <a:ln w="19050">
                <a:solidFill>
                  <a:srgbClr val="D64545"/>
                </a:solidFill>
              </a:ln>
            </p:spPr>
            <p:txBody>
              <a:bodyPr/>
              <a:p/>
            </p:txBody>
          </p:sp>
          <p:sp>
            <p:nvSpPr>
              <p:cNvPr id="57" name="Freeform 57"/>
              <p:cNvSpPr/>
              <p:nvPr/>
            </p:nvSpPr>
            <p:spPr>
              <a:xfrm>
                <a:off x="904875" y="5505435"/>
                <a:ext cx="171450" cy="114419"/>
              </a:xfrm>
              <a:custGeom>
                <a:avLst/>
                <a:gdLst/>
                <a:ahLst/>
                <a:cxnLst/>
                <a:rect l="l" t="t" r="r" b="b"/>
                <a:pathLst>
                  <a:path w="171450" h="114419">
                    <a:moveTo>
                      <a:pt x="130312" y="101675"/>
                    </a:moveTo>
                    <a:cubicBezTo>
                      <a:pt x="116950" y="110035"/>
                      <a:pt x="101486" y="114419"/>
                      <a:pt x="85725" y="114315"/>
                    </a:cubicBezTo>
                    <a:cubicBezTo>
                      <a:pt x="51435" y="114315"/>
                      <a:pt x="22860" y="95265"/>
                      <a:pt x="0" y="57165"/>
                    </a:cubicBezTo>
                    <a:cubicBezTo>
                      <a:pt x="12116" y="36972"/>
                      <a:pt x="25832" y="22132"/>
                      <a:pt x="41148" y="12645"/>
                    </a:cubicBezTo>
                    <a:moveTo>
                      <a:pt x="68390" y="1730"/>
                    </a:moveTo>
                    <a:cubicBezTo>
                      <a:pt x="74095" y="574"/>
                      <a:pt x="79903" y="0"/>
                      <a:pt x="85725" y="15"/>
                    </a:cubicBezTo>
                    <a:cubicBezTo>
                      <a:pt x="120015" y="15"/>
                      <a:pt x="148590" y="19065"/>
                      <a:pt x="171450" y="57165"/>
                    </a:cubicBezTo>
                    <a:cubicBezTo>
                      <a:pt x="165106" y="67738"/>
                      <a:pt x="158315" y="76853"/>
                      <a:pt x="151086" y="84502"/>
                    </a:cubicBezTo>
                  </a:path>
                </a:pathLst>
              </a:custGeom>
              <a:noFill/>
              <a:ln w="19050">
                <a:solidFill>
                  <a:srgbClr val="D64545"/>
                </a:solidFill>
              </a:ln>
            </p:spPr>
            <p:txBody>
              <a:bodyPr/>
              <a:p/>
            </p:txBody>
          </p:sp>
          <p:sp>
            <p:nvSpPr>
              <p:cNvPr id="58" name="Freeform 58"/>
              <p:cNvSpPr/>
              <p:nvPr/>
            </p:nvSpPr>
            <p:spPr>
              <a:xfrm>
                <a:off x="904875" y="5476875"/>
                <a:ext cx="171450" cy="171450"/>
              </a:xfrm>
              <a:custGeom>
                <a:avLst/>
                <a:gdLst/>
                <a:ahLst/>
                <a:cxnLst/>
                <a:rect l="l" t="t" r="r" b="b"/>
                <a:pathLst>
                  <a:path w="171450" h="171450">
                    <a:moveTo>
                      <a:pt x="0" y="0"/>
                    </a:moveTo>
                    <a:lnTo>
                      <a:pt x="171450" y="171450"/>
                    </a:lnTo>
                  </a:path>
                </a:pathLst>
              </a:custGeom>
              <a:noFill/>
              <a:ln w="19050">
                <a:solidFill>
                  <a:srgbClr val="D64545"/>
                </a:solidFill>
              </a:ln>
            </p:spPr>
            <p:txBody>
              <a:bodyPr/>
              <a:p/>
            </p:txBody>
          </p:sp>
        </p:grpSp>
        <p:sp>
          <p:nvSpPr>
            <p:cNvPr id="60" name="TextBox 60"/>
            <p:cNvSpPr txBox="1"/>
            <p:nvPr/>
          </p:nvSpPr>
          <p:spPr>
            <a:xfrm>
              <a:off x="1337310" y="5375910"/>
              <a:ext cx="702564" cy="24384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00" b="1" dirty="0">
                  <a:solidFill>
                    <a:srgbClr val="2B3648"/>
                  </a:solidFill>
                  <a:latin typeface="Arial"/>
                  <a:ea typeface="Microsoft YaHei"/>
                  <a:cs typeface="Arial"/>
                </a:rPr>
                <a:t>演示纪律</a:t>
              </a:r>
            </a:p>
          </p:txBody>
        </p:sp>
        <p:sp>
          <p:nvSpPr>
            <p:cNvPr id="61" name="TextBox 61"/>
            <p:cNvSpPr txBox="1"/>
            <p:nvPr/>
          </p:nvSpPr>
          <p:spPr>
            <a:xfrm>
              <a:off x="1339215" y="5639752"/>
              <a:ext cx="4948285" cy="21336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050" dirty="0">
                  <a:solidFill>
                    <a:srgbClr val="5B6B82"/>
                  </a:solidFill>
                  <a:latin typeface="Arial"/>
                  <a:ea typeface="Microsoft YaHei"/>
                  <a:cs typeface="Arial"/>
                </a:rPr>
                <a:t>全程用脱敏 / 虚构数据（不输入客户、公司的敏感信息）；重要产出，人终审。</a:t>
              </a:r>
            </a:p>
          </p:txBody>
        </p:sp>
      </p:grpSp>
      <p:grpSp>
        <p:nvGrpSpPr>
          <p:cNvPr id="65" name="Group 65"/>
          <p:cNvGrpSpPr/>
          <p:nvPr/>
        </p:nvGrpSpPr>
        <p:grpSpPr>
          <a:xfrm>
            <a:off x="560070" y="6341745"/>
            <a:ext cx="11071860" cy="182880"/>
            <a:chOff x="560070" y="6341745"/>
            <a:chExt cx="11071860" cy="182880"/>
          </a:xfrm>
        </p:grpSpPr>
        <p:sp>
          <p:nvSpPr>
            <p:cNvPr id="63" name="TextBox 63"/>
            <p:cNvSpPr txBox="1"/>
            <p:nvPr/>
          </p:nvSpPr>
          <p:spPr>
            <a:xfrm>
              <a:off x="560070" y="6341745"/>
              <a:ext cx="1054989" cy="18288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00" dirty="0">
                  <a:solidFill>
                    <a:srgbClr val="8B99AE"/>
                  </a:solidFill>
                  <a:latin typeface="Arial"/>
                  <a:ea typeface="Microsoft YaHei"/>
                  <a:cs typeface="Arial"/>
                </a:rPr>
                <a:t>大模型通识 · 企业版</a:t>
              </a:r>
            </a:p>
          </p:txBody>
        </p:sp>
        <p:sp>
          <p:nvSpPr>
            <p:cNvPr id="64" name="TextBox 64"/>
            <p:cNvSpPr txBox="1"/>
            <p:nvPr/>
          </p:nvSpPr>
          <p:spPr>
            <a:xfrm>
              <a:off x="11207020" y="6341745"/>
              <a:ext cx="424910" cy="18288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r"/>
              <a:r>
                <a:rPr lang="zh-CN" sz="900" dirty="0">
                  <a:solidFill>
                    <a:srgbClr val="8B99AE"/>
                  </a:solidFill>
                  <a:latin typeface="Arial"/>
                  <a:ea typeface="Microsoft YaHei"/>
                  <a:cs typeface="Arial"/>
                </a:rPr>
                <a:t>33 / 51</a:t>
              </a:r>
            </a:p>
          </p:txBody>
        </p:sp>
      </p:grpSp>
    </p:spTree>
  </p:cSld>
  <p:clrMapOvr>
    <a:masterClrMapping/>
  </p:clrMapOvr>
  <p:transition xmlns:p14="http://schemas.microsoft.com/office/powerpoint/2010/main" p14:dur="400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900"/>
                            </p:stCondLst>
                            <p:childTnLst>
                              <p:par>
                                <p:cTn id="9" presetID="22" presetClass="entr" presetSubtype="1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1" dur="400"/>
                                        <p:tgtEl>
                                          <p:spTgt spid="3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2" fill="hold">
                            <p:stCondLst>
                              <p:cond delay="1800"/>
                            </p:stCondLst>
                            <p:childTnLst>
                              <p:par>
                                <p:cTn id="13" presetID="2" presetClass="entr" presetSubtype="4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slide(fromBottom)">
                                      <p:cBhvr>
                                        <p:cTn id="15" dur="400"/>
                                        <p:tgtEl>
                                          <p:spTgt spid="5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6" fill="hold">
                            <p:stCondLst>
                              <p:cond delay="2700"/>
                            </p:stCondLst>
                            <p:childTnLst>
                              <p:par>
                                <p:cTn id="17" presetID="23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image">
                                      <p:cBhvr>
                                        <p:cTn id="19" dur="400"/>
                                        <p:tgtEl>
                                          <p:spTgt spid="6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3" grpId="0"/>
      <p:bldP spid="37" grpId="0"/>
      <p:bldP spid="53" grpId="0"/>
      <p:bldP spid="62" grpId="0"/>
    </p:bldLst>
  </p:timing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5" name="Group 5"/>
          <p:cNvGrpSpPr/>
          <p:nvPr/>
        </p:nvGrpSpPr>
        <p:grpSpPr>
          <a:xfrm>
            <a:off x="-1619250" y="0"/>
            <a:ext cx="13811250" cy="8477250"/>
            <a:chOff x="-1619250" y="0"/>
            <a:chExt cx="13811250" cy="8477250"/>
          </a:xfrm>
        </p:grpSpPr>
        <p:sp>
          <p:nvSpPr>
            <p:cNvPr id="2" name="Rectangle 2"/>
            <p:cNvSpPr/>
            <p:nvPr/>
          </p:nvSpPr>
          <p:spPr>
            <a:xfrm>
              <a:off x="0" y="0"/>
              <a:ext cx="12192000" cy="6858000"/>
            </a:xfrm>
            <a:prstGeom prst="rect">
              <a:avLst/>
            </a:prstGeom>
            <a:solidFill>
              <a:srgbClr val="F5F7FA"/>
            </a:solidFill>
            <a:ln>
              <a:noFill/>
            </a:ln>
          </p:spPr>
          <p:txBody>
            <a:bodyPr/>
            <a:p/>
          </p:txBody>
        </p:sp>
        <p:sp>
          <p:nvSpPr>
            <p:cNvPr id="3" name="Rectangle 3"/>
            <p:cNvSpPr/>
            <p:nvPr/>
          </p:nvSpPr>
          <p:spPr>
            <a:xfrm>
              <a:off x="0" y="0"/>
              <a:ext cx="12192000" cy="6858000"/>
            </a:xfrm>
            <a:prstGeom prst="rect">
              <a:avLst/>
            </a:prstGeom>
            <a:gradFill>
              <a:gsLst>
                <a:gs pos="0">
                  <a:srgbClr val="1565D8">
                    <a:alpha val="6000"/>
                  </a:srgbClr>
                </a:gs>
                <a:gs pos="100000">
                  <a:srgbClr val="1565D8">
                    <a:alpha val="0"/>
                  </a:srgbClr>
                </a:gs>
              </a:gsLst>
              <a:path path="circle">
                <a:fillToRect l="50000" t="50000" r="50000" b="50000"/>
              </a:path>
            </a:gradFill>
            <a:ln>
              <a:noFill/>
            </a:ln>
          </p:spPr>
          <p:txBody>
            <a:bodyPr/>
            <a:p/>
          </p:txBody>
        </p:sp>
        <p:sp>
          <p:nvSpPr>
            <p:cNvPr id="4" name="Ellipse 4"/>
            <p:cNvSpPr/>
            <p:nvPr/>
          </p:nvSpPr>
          <p:spPr>
            <a:xfrm>
              <a:off x="-1619250" y="4667250"/>
              <a:ext cx="3810000" cy="3810000"/>
            </a:xfrm>
            <a:prstGeom prst="ellipse">
              <a:avLst/>
            </a:prstGeom>
            <a:noFill/>
            <a:ln w="14288">
              <a:solidFill>
                <a:srgbClr val="D6E6F9">
                  <a:alpha val="80000"/>
                </a:srgbClr>
              </a:solidFill>
            </a:ln>
          </p:spPr>
          <p:txBody>
            <a:bodyPr/>
            <a:p/>
          </p:txBody>
        </p:sp>
      </p:grpSp>
      <p:grpSp>
        <p:nvGrpSpPr>
          <p:cNvPr id="9" name="Group 9"/>
          <p:cNvGrpSpPr/>
          <p:nvPr/>
        </p:nvGrpSpPr>
        <p:grpSpPr>
          <a:xfrm>
            <a:off x="571500" y="685800"/>
            <a:ext cx="3092529" cy="700088"/>
            <a:chOff x="571500" y="685800"/>
            <a:chExt cx="3092529" cy="700088"/>
          </a:xfrm>
        </p:grpSpPr>
        <p:sp>
          <p:nvSpPr>
            <p:cNvPr id="6" name="Rectangle 6"/>
            <p:cNvSpPr/>
            <p:nvPr/>
          </p:nvSpPr>
          <p:spPr>
            <a:xfrm>
              <a:off x="571500" y="685800"/>
              <a:ext cx="76200" cy="323850"/>
            </a:xfrm>
            <a:prstGeom prst="roundRect">
              <a:avLst>
                <a:gd name="adj" fmla="val 50000"/>
              </a:avLst>
            </a:prstGeom>
            <a:solidFill>
              <a:srgbClr val="1565D8"/>
            </a:solidFill>
            <a:ln>
              <a:noFill/>
            </a:ln>
          </p:spPr>
          <p:txBody>
            <a:bodyPr/>
            <a:p/>
          </p:txBody>
        </p:sp>
        <p:sp>
          <p:nvSpPr>
            <p:cNvPr id="7" name="TextBox 7"/>
            <p:cNvSpPr txBox="1"/>
            <p:nvPr/>
          </p:nvSpPr>
          <p:spPr>
            <a:xfrm>
              <a:off x="771525" y="700088"/>
              <a:ext cx="2892504" cy="45720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2250" b="1" dirty="0">
                  <a:solidFill>
                    <a:srgbClr val="2B3648"/>
                  </a:solidFill>
                  <a:latin typeface="Arial"/>
                  <a:ea typeface="Microsoft YaHei"/>
                  <a:cs typeface="Arial"/>
                </a:rPr>
                <a:t>数据红线：三条记牢</a:t>
              </a:r>
            </a:p>
          </p:txBody>
        </p:sp>
        <p:sp>
          <p:nvSpPr>
            <p:cNvPr id="8" name="TextBox 8"/>
            <p:cNvSpPr txBox="1"/>
            <p:nvPr/>
          </p:nvSpPr>
          <p:spPr>
            <a:xfrm>
              <a:off x="782955" y="1111568"/>
              <a:ext cx="2221563" cy="27432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5B6B82"/>
                  </a:solidFill>
                  <a:latin typeface="Arial"/>
                  <a:ea typeface="Microsoft YaHei"/>
                  <a:cs typeface="Arial"/>
                </a:rPr>
                <a:t>AI 是好同事，但底线得你守</a:t>
              </a:r>
            </a:p>
          </p:txBody>
        </p:sp>
      </p:grpSp>
      <p:grpSp>
        <p:nvGrpSpPr>
          <p:cNvPr id="62" name="Group 62"/>
          <p:cNvGrpSpPr/>
          <p:nvPr/>
        </p:nvGrpSpPr>
        <p:grpSpPr>
          <a:xfrm>
            <a:off x="571500" y="1619250"/>
            <a:ext cx="10991850" cy="3714750"/>
            <a:chOff x="571500" y="1619250"/>
            <a:chExt cx="10991850" cy="3714750"/>
          </a:xfrm>
        </p:grpSpPr>
        <p:grpSp>
          <p:nvGrpSpPr>
            <p:cNvPr id="26" name="Group 26"/>
            <p:cNvGrpSpPr/>
            <p:nvPr/>
          </p:nvGrpSpPr>
          <p:grpSpPr>
            <a:xfrm>
              <a:off x="571500" y="1619250"/>
              <a:ext cx="3524250" cy="3714750"/>
              <a:chOff x="571500" y="1619250"/>
              <a:chExt cx="3524250" cy="3714750"/>
            </a:xfrm>
          </p:grpSpPr>
          <p:sp>
            <p:nvSpPr>
              <p:cNvPr id="10" name="Rectangle 10"/>
              <p:cNvSpPr/>
              <p:nvPr/>
            </p:nvSpPr>
            <p:spPr>
              <a:xfrm>
                <a:off x="571500" y="1619250"/>
                <a:ext cx="3524250" cy="3714750"/>
              </a:xfrm>
              <a:prstGeom prst="roundRect">
                <a:avLst>
                  <a:gd name="adj" fmla="val 4324"/>
                </a:avLst>
              </a:prstGeom>
              <a:solidFill>
                <a:srgbClr val="FFFFFF"/>
              </a:solidFill>
              <a:ln w="9525">
                <a:solidFill>
                  <a:srgbClr val="D8E1EC"/>
                </a:solidFill>
              </a:ln>
            </p:spPr>
            <p:txBody>
              <a:bodyPr/>
              <a:p/>
            </p:txBody>
          </p:sp>
          <p:sp>
            <p:nvSpPr>
              <p:cNvPr id="11" name="Rectangle 11"/>
              <p:cNvSpPr/>
              <p:nvPr/>
            </p:nvSpPr>
            <p:spPr>
              <a:xfrm>
                <a:off x="571500" y="1619250"/>
                <a:ext cx="3524250" cy="914400"/>
              </a:xfrm>
              <a:prstGeom prst="roundRect">
                <a:avLst>
                  <a:gd name="adj" fmla="val 16667"/>
                </a:avLst>
              </a:prstGeom>
              <a:solidFill>
                <a:srgbClr val="D6E6F9"/>
              </a:solidFill>
              <a:ln>
                <a:noFill/>
              </a:ln>
            </p:spPr>
            <p:txBody>
              <a:bodyPr/>
              <a:p/>
            </p:txBody>
          </p:sp>
          <p:sp>
            <p:nvSpPr>
              <p:cNvPr id="12" name="Rectangle 12"/>
              <p:cNvSpPr/>
              <p:nvPr/>
            </p:nvSpPr>
            <p:spPr>
              <a:xfrm>
                <a:off x="571500" y="2190750"/>
                <a:ext cx="3524250" cy="342900"/>
              </a:xfrm>
              <a:prstGeom prst="rect">
                <a:avLst/>
              </a:prstGeom>
              <a:solidFill>
                <a:srgbClr val="D6E6F9"/>
              </a:solidFill>
              <a:ln>
                <a:noFill/>
              </a:ln>
            </p:spPr>
            <p:txBody>
              <a:bodyPr/>
              <a:p/>
            </p:txBody>
          </p:sp>
          <p:sp>
            <p:nvSpPr>
              <p:cNvPr id="13" name="TextBox 13"/>
              <p:cNvSpPr txBox="1"/>
              <p:nvPr/>
            </p:nvSpPr>
            <p:spPr>
              <a:xfrm>
                <a:off x="2066354" y="1889760"/>
                <a:ext cx="534543" cy="24384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ctr"/>
                <a:r>
                  <a:rPr lang="zh-CN" sz="1200" b="1" dirty="0">
                    <a:solidFill>
                      <a:srgbClr val="1565D8"/>
                    </a:solidFill>
                    <a:latin typeface="Arial"/>
                    <a:ea typeface="Microsoft YaHei"/>
                    <a:cs typeface="Arial"/>
                  </a:rPr>
                  <a:t>红线一</a:t>
                </a:r>
              </a:p>
            </p:txBody>
          </p:sp>
          <p:sp>
            <p:nvSpPr>
              <p:cNvPr id="14" name="TextBox 14"/>
              <p:cNvSpPr txBox="1"/>
              <p:nvPr/>
            </p:nvSpPr>
            <p:spPr>
              <a:xfrm>
                <a:off x="1248692" y="2200275"/>
                <a:ext cx="2169866" cy="3048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ctr"/>
                <a:r>
                  <a:rPr lang="zh-CN" sz="1500" b="1" dirty="0">
                    <a:solidFill>
                      <a:srgbClr val="0B4EA2"/>
                    </a:solidFill>
                    <a:latin typeface="Arial"/>
                    <a:ea typeface="Microsoft YaHei"/>
                    <a:cs typeface="Arial"/>
                  </a:rPr>
                  <a:t>敏感数据，不进公网 AI</a:t>
                </a:r>
              </a:p>
            </p:txBody>
          </p:sp>
          <p:sp>
            <p:nvSpPr>
              <p:cNvPr id="15" name="Ellipse 15"/>
              <p:cNvSpPr/>
              <p:nvPr/>
            </p:nvSpPr>
            <p:spPr>
              <a:xfrm>
                <a:off x="781050" y="2857500"/>
                <a:ext cx="419100" cy="419100"/>
              </a:xfrm>
              <a:prstGeom prst="ellipse">
                <a:avLst/>
              </a:prstGeom>
              <a:solidFill>
                <a:srgbClr val="E9EEF5"/>
              </a:solidFill>
              <a:ln>
                <a:noFill/>
              </a:ln>
            </p:spPr>
            <p:txBody>
              <a:bodyPr/>
              <a:p/>
            </p:txBody>
          </p:sp>
          <p:grpSp>
            <p:nvGrpSpPr>
              <p:cNvPr id="19" name="Group 19"/>
              <p:cNvGrpSpPr/>
              <p:nvPr/>
            </p:nvGrpSpPr>
            <p:grpSpPr>
              <a:xfrm>
                <a:off x="923925" y="2981325"/>
                <a:ext cx="133350" cy="171450"/>
                <a:chOff x="923925" y="2981325"/>
                <a:chExt cx="133350" cy="171450"/>
              </a:xfrm>
            </p:grpSpPr>
            <p:sp>
              <p:nvSpPr>
                <p:cNvPr id="16" name="Freeform 16"/>
                <p:cNvSpPr/>
                <p:nvPr/>
              </p:nvSpPr>
              <p:spPr>
                <a:xfrm>
                  <a:off x="923925" y="3057525"/>
                  <a:ext cx="133350" cy="95250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133350" h="95250">
                      <a:moveTo>
                        <a:pt x="0" y="19050"/>
                      </a:moveTo>
                      <a:cubicBezTo>
                        <a:pt x="0" y="8529"/>
                        <a:pt x="8529" y="0"/>
                        <a:pt x="19050" y="0"/>
                      </a:cubicBezTo>
                      <a:lnTo>
                        <a:pt x="114300" y="0"/>
                      </a:lnTo>
                      <a:cubicBezTo>
                        <a:pt x="124821" y="0"/>
                        <a:pt x="133350" y="8529"/>
                        <a:pt x="133350" y="19050"/>
                      </a:cubicBezTo>
                      <a:lnTo>
                        <a:pt x="133350" y="76200"/>
                      </a:lnTo>
                      <a:cubicBezTo>
                        <a:pt x="133350" y="86721"/>
                        <a:pt x="124821" y="95250"/>
                        <a:pt x="114300" y="95250"/>
                      </a:cubicBezTo>
                      <a:lnTo>
                        <a:pt x="19050" y="95250"/>
                      </a:lnTo>
                      <a:cubicBezTo>
                        <a:pt x="8529" y="95250"/>
                        <a:pt x="0" y="86721"/>
                        <a:pt x="0" y="76200"/>
                      </a:cubicBezTo>
                      <a:lnTo>
                        <a:pt x="0" y="19050"/>
                      </a:lnTo>
                    </a:path>
                  </a:pathLst>
                </a:custGeom>
                <a:noFill/>
                <a:ln w="19050">
                  <a:solidFill>
                    <a:srgbClr val="D64545"/>
                  </a:solidFill>
                </a:ln>
              </p:spPr>
              <p:txBody>
                <a:bodyPr/>
                <a:p/>
              </p:txBody>
            </p:sp>
            <p:sp>
              <p:nvSpPr>
                <p:cNvPr id="17" name="Freeform 17"/>
                <p:cNvSpPr/>
                <p:nvPr/>
              </p:nvSpPr>
              <p:spPr>
                <a:xfrm>
                  <a:off x="981075" y="3095625"/>
                  <a:ext cx="19050" cy="19050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19050" h="19050">
                      <a:moveTo>
                        <a:pt x="0" y="9525"/>
                      </a:moveTo>
                      <a:cubicBezTo>
                        <a:pt x="0" y="14786"/>
                        <a:pt x="4264" y="19050"/>
                        <a:pt x="9525" y="19050"/>
                      </a:cubicBezTo>
                      <a:cubicBezTo>
                        <a:pt x="14786" y="19050"/>
                        <a:pt x="19050" y="14786"/>
                        <a:pt x="19050" y="9525"/>
                      </a:cubicBezTo>
                      <a:cubicBezTo>
                        <a:pt x="19050" y="4264"/>
                        <a:pt x="14786" y="0"/>
                        <a:pt x="9525" y="0"/>
                      </a:cubicBezTo>
                      <a:cubicBezTo>
                        <a:pt x="4264" y="0"/>
                        <a:pt x="0" y="4264"/>
                        <a:pt x="0" y="9525"/>
                      </a:cubicBezTo>
                    </a:path>
                  </a:pathLst>
                </a:custGeom>
                <a:noFill/>
                <a:ln w="19050">
                  <a:solidFill>
                    <a:srgbClr val="D64545"/>
                  </a:solidFill>
                </a:ln>
              </p:spPr>
              <p:txBody>
                <a:bodyPr/>
                <a:p/>
              </p:txBody>
            </p:sp>
            <p:sp>
              <p:nvSpPr>
                <p:cNvPr id="18" name="Freeform 18"/>
                <p:cNvSpPr/>
                <p:nvPr/>
              </p:nvSpPr>
              <p:spPr>
                <a:xfrm>
                  <a:off x="952500" y="2981325"/>
                  <a:ext cx="76200" cy="76200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76200" h="76200">
                      <a:moveTo>
                        <a:pt x="0" y="76200"/>
                      </a:moveTo>
                      <a:lnTo>
                        <a:pt x="0" y="38100"/>
                      </a:lnTo>
                      <a:cubicBezTo>
                        <a:pt x="0" y="17058"/>
                        <a:pt x="17058" y="0"/>
                        <a:pt x="38100" y="0"/>
                      </a:cubicBezTo>
                      <a:cubicBezTo>
                        <a:pt x="59142" y="0"/>
                        <a:pt x="76200" y="17058"/>
                        <a:pt x="76200" y="38100"/>
                      </a:cubicBezTo>
                      <a:lnTo>
                        <a:pt x="76200" y="76200"/>
                      </a:lnTo>
                    </a:path>
                  </a:pathLst>
                </a:custGeom>
                <a:noFill/>
                <a:ln w="19050">
                  <a:solidFill>
                    <a:srgbClr val="D64545"/>
                  </a:solidFill>
                </a:ln>
              </p:spPr>
              <p:txBody>
                <a:bodyPr/>
                <a:p/>
              </p:txBody>
            </p:sp>
          </p:grpSp>
          <p:sp>
            <p:nvSpPr>
              <p:cNvPr id="20" name="Rectangle 20"/>
              <p:cNvSpPr/>
              <p:nvPr/>
            </p:nvSpPr>
            <p:spPr>
              <a:xfrm>
                <a:off x="1314450" y="2914650"/>
                <a:ext cx="1066800" cy="304800"/>
              </a:xfrm>
              <a:prstGeom prst="roundRect">
                <a:avLst>
                  <a:gd name="adj" fmla="val 50000"/>
                </a:avLst>
              </a:prstGeom>
              <a:solidFill>
                <a:srgbClr val="E9EEF5"/>
              </a:solidFill>
              <a:ln>
                <a:noFill/>
              </a:ln>
            </p:spPr>
            <p:txBody>
              <a:bodyPr/>
              <a:p/>
            </p:txBody>
          </p:sp>
          <p:sp>
            <p:nvSpPr>
              <p:cNvPr id="21" name="TextBox 21"/>
              <p:cNvSpPr txBox="1"/>
              <p:nvPr/>
            </p:nvSpPr>
            <p:spPr>
              <a:xfrm>
                <a:off x="1455943" y="3001328"/>
                <a:ext cx="783815" cy="21336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ctr"/>
                <a:r>
                  <a:rPr lang="zh-CN" sz="1050" b="1" dirty="0">
                    <a:solidFill>
                      <a:srgbClr val="5B6B82"/>
                    </a:solidFill>
                    <a:latin typeface="Arial"/>
                    <a:ea typeface="Microsoft YaHei"/>
                    <a:cs typeface="Arial"/>
                  </a:rPr>
                  <a:t>影子AI 红线</a:t>
                </a:r>
              </a:p>
            </p:txBody>
          </p:sp>
          <p:sp>
            <p:nvSpPr>
              <p:cNvPr id="22" name="TextBox 22"/>
              <p:cNvSpPr txBox="1"/>
              <p:nvPr/>
            </p:nvSpPr>
            <p:spPr>
              <a:xfrm>
                <a:off x="785812" y="3612356"/>
                <a:ext cx="1866305" cy="2286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l"/>
                <a:r>
                  <a:rPr lang="zh-CN" sz="1125" dirty="0">
                    <a:solidFill>
                      <a:srgbClr val="5B6B82"/>
                    </a:solidFill>
                    <a:latin typeface="Arial"/>
                    <a:ea typeface="Microsoft YaHei"/>
                    <a:cs typeface="Arial"/>
                  </a:rPr>
                  <a:t>公司的 / 客户的敏感数据——</a:t>
                </a:r>
              </a:p>
            </p:txBody>
          </p:sp>
          <p:sp>
            <p:nvSpPr>
              <p:cNvPr id="23" name="TextBox 23"/>
              <p:cNvSpPr txBox="1"/>
              <p:nvPr/>
            </p:nvSpPr>
            <p:spPr>
              <a:xfrm>
                <a:off x="785812" y="3860006"/>
                <a:ext cx="2278856" cy="2286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l"/>
                <a:r>
                  <a:rPr lang="zh-CN" sz="1125" dirty="0">
                    <a:solidFill>
                      <a:srgbClr val="5B6B82"/>
                    </a:solidFill>
                    <a:latin typeface="Arial"/>
                    <a:ea typeface="Microsoft YaHei"/>
                    <a:cs typeface="Arial"/>
                  </a:rPr>
                  <a:t>商业机密、客户隐私、财务信息、</a:t>
                </a:r>
              </a:p>
            </p:txBody>
          </p:sp>
          <p:sp>
            <p:nvSpPr>
              <p:cNvPr id="24" name="TextBox 24"/>
              <p:cNvSpPr txBox="1"/>
              <p:nvPr/>
            </p:nvSpPr>
            <p:spPr>
              <a:xfrm>
                <a:off x="785812" y="4107656"/>
                <a:ext cx="793671" cy="2286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l"/>
                <a:r>
                  <a:rPr lang="zh-CN" sz="1125" dirty="0">
                    <a:solidFill>
                      <a:srgbClr val="5B6B82"/>
                    </a:solidFill>
                    <a:latin typeface="Arial"/>
                    <a:ea typeface="Microsoft YaHei"/>
                    <a:cs typeface="Arial"/>
                  </a:rPr>
                  <a:t>证件照片——</a:t>
                </a:r>
              </a:p>
            </p:txBody>
          </p:sp>
          <p:sp>
            <p:nvSpPr>
              <p:cNvPr id="25" name="TextBox 25"/>
              <p:cNvSpPr txBox="1"/>
              <p:nvPr/>
            </p:nvSpPr>
            <p:spPr>
              <a:xfrm>
                <a:off x="785812" y="4412456"/>
                <a:ext cx="2099959" cy="2286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l"/>
                <a:r>
                  <a:rPr lang="zh-CN" sz="1125" b="1" dirty="0">
                    <a:solidFill>
                      <a:srgbClr val="D64545"/>
                    </a:solidFill>
                    <a:latin typeface="Arial"/>
                    <a:ea typeface="Microsoft YaHei"/>
                    <a:cs typeface="Arial"/>
                  </a:rPr>
                  <a:t>一律不进未经批准的外部 AI。</a:t>
                </a:r>
              </a:p>
            </p:txBody>
          </p:sp>
        </p:grpSp>
        <p:grpSp>
          <p:nvGrpSpPr>
            <p:cNvPr id="43" name="Group 43"/>
            <p:cNvGrpSpPr/>
            <p:nvPr/>
          </p:nvGrpSpPr>
          <p:grpSpPr>
            <a:xfrm>
              <a:off x="4305300" y="1619250"/>
              <a:ext cx="3524250" cy="3714750"/>
              <a:chOff x="4305300" y="1619250"/>
              <a:chExt cx="3524250" cy="3714750"/>
            </a:xfrm>
          </p:grpSpPr>
          <p:sp>
            <p:nvSpPr>
              <p:cNvPr id="27" name="Rectangle 27"/>
              <p:cNvSpPr/>
              <p:nvPr/>
            </p:nvSpPr>
            <p:spPr>
              <a:xfrm>
                <a:off x="4305300" y="1619250"/>
                <a:ext cx="3524250" cy="3714750"/>
              </a:xfrm>
              <a:prstGeom prst="roundRect">
                <a:avLst>
                  <a:gd name="adj" fmla="val 4324"/>
                </a:avLst>
              </a:prstGeom>
              <a:solidFill>
                <a:srgbClr val="FFFFFF"/>
              </a:solidFill>
              <a:ln w="9525">
                <a:solidFill>
                  <a:srgbClr val="D8E1EC"/>
                </a:solidFill>
              </a:ln>
            </p:spPr>
            <p:txBody>
              <a:bodyPr/>
              <a:p/>
            </p:txBody>
          </p:sp>
          <p:sp>
            <p:nvSpPr>
              <p:cNvPr id="28" name="Rectangle 28"/>
              <p:cNvSpPr/>
              <p:nvPr/>
            </p:nvSpPr>
            <p:spPr>
              <a:xfrm>
                <a:off x="4305300" y="1619250"/>
                <a:ext cx="3524250" cy="914400"/>
              </a:xfrm>
              <a:prstGeom prst="roundRect">
                <a:avLst>
                  <a:gd name="adj" fmla="val 16667"/>
                </a:avLst>
              </a:prstGeom>
              <a:solidFill>
                <a:srgbClr val="D6E6F9"/>
              </a:solidFill>
              <a:ln>
                <a:noFill/>
              </a:ln>
            </p:spPr>
            <p:txBody>
              <a:bodyPr/>
              <a:p/>
            </p:txBody>
          </p:sp>
          <p:sp>
            <p:nvSpPr>
              <p:cNvPr id="29" name="Rectangle 29"/>
              <p:cNvSpPr/>
              <p:nvPr/>
            </p:nvSpPr>
            <p:spPr>
              <a:xfrm>
                <a:off x="4305300" y="2190750"/>
                <a:ext cx="3524250" cy="342900"/>
              </a:xfrm>
              <a:prstGeom prst="rect">
                <a:avLst/>
              </a:prstGeom>
              <a:solidFill>
                <a:srgbClr val="D6E6F9"/>
              </a:solidFill>
              <a:ln>
                <a:noFill/>
              </a:ln>
            </p:spPr>
            <p:txBody>
              <a:bodyPr/>
              <a:p/>
            </p:txBody>
          </p:sp>
          <p:sp>
            <p:nvSpPr>
              <p:cNvPr id="30" name="TextBox 30"/>
              <p:cNvSpPr txBox="1"/>
              <p:nvPr/>
            </p:nvSpPr>
            <p:spPr>
              <a:xfrm>
                <a:off x="5800153" y="1889760"/>
                <a:ext cx="534543" cy="24384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ctr"/>
                <a:r>
                  <a:rPr lang="zh-CN" sz="1200" b="1" dirty="0">
                    <a:solidFill>
                      <a:srgbClr val="1565D8"/>
                    </a:solidFill>
                    <a:latin typeface="Arial"/>
                    <a:ea typeface="Microsoft YaHei"/>
                    <a:cs typeface="Arial"/>
                  </a:rPr>
                  <a:t>红线二</a:t>
                </a:r>
              </a:p>
            </p:txBody>
          </p:sp>
          <p:sp>
            <p:nvSpPr>
              <p:cNvPr id="31" name="TextBox 31"/>
              <p:cNvSpPr txBox="1"/>
              <p:nvPr/>
            </p:nvSpPr>
            <p:spPr>
              <a:xfrm>
                <a:off x="5103257" y="2200275"/>
                <a:ext cx="1928336" cy="3048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ctr"/>
                <a:r>
                  <a:rPr lang="zh-CN" sz="1500" b="1" dirty="0">
                    <a:solidFill>
                      <a:srgbClr val="0B4EA2"/>
                    </a:solidFill>
                    <a:latin typeface="Arial"/>
                    <a:ea typeface="Microsoft YaHei"/>
                    <a:cs typeface="Arial"/>
                  </a:rPr>
                  <a:t>先查数据政策，再用</a:t>
                </a:r>
              </a:p>
            </p:txBody>
          </p:sp>
          <p:sp>
            <p:nvSpPr>
              <p:cNvPr id="32" name="Ellipse 32"/>
              <p:cNvSpPr/>
              <p:nvPr/>
            </p:nvSpPr>
            <p:spPr>
              <a:xfrm>
                <a:off x="4514850" y="2857500"/>
                <a:ext cx="419100" cy="419100"/>
              </a:xfrm>
              <a:prstGeom prst="ellipse">
                <a:avLst/>
              </a:prstGeom>
              <a:solidFill>
                <a:srgbClr val="E9EEF5"/>
              </a:solidFill>
              <a:ln>
                <a:noFill/>
              </a:ln>
            </p:spPr>
            <p:txBody>
              <a:bodyPr/>
              <a:p/>
            </p:txBody>
          </p:sp>
          <p:grpSp>
            <p:nvGrpSpPr>
              <p:cNvPr id="36" name="Group 36"/>
              <p:cNvGrpSpPr/>
              <p:nvPr/>
            </p:nvGrpSpPr>
            <p:grpSpPr>
              <a:xfrm>
                <a:off x="4634708" y="2981325"/>
                <a:ext cx="176916" cy="190500"/>
                <a:chOff x="4634708" y="2981325"/>
                <a:chExt cx="176916" cy="190500"/>
              </a:xfrm>
            </p:grpSpPr>
            <p:sp>
              <p:nvSpPr>
                <p:cNvPr id="33" name="Freeform 33"/>
                <p:cNvSpPr/>
                <p:nvPr/>
              </p:nvSpPr>
              <p:spPr>
                <a:xfrm>
                  <a:off x="4634708" y="2981325"/>
                  <a:ext cx="176531" cy="171450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176531" h="171450">
                      <a:moveTo>
                        <a:pt x="118886" y="159372"/>
                      </a:moveTo>
                      <a:cubicBezTo>
                        <a:pt x="109837" y="164678"/>
                        <a:pt x="100026" y="168764"/>
                        <a:pt x="89692" y="171450"/>
                      </a:cubicBezTo>
                      <a:cubicBezTo>
                        <a:pt x="59732" y="163679"/>
                        <a:pt x="34205" y="144091"/>
                        <a:pt x="18946" y="117163"/>
                      </a:cubicBezTo>
                      <a:cubicBezTo>
                        <a:pt x="3686" y="90235"/>
                        <a:pt x="0" y="58269"/>
                        <a:pt x="8729" y="28575"/>
                      </a:cubicBezTo>
                      <a:cubicBezTo>
                        <a:pt x="38405" y="29933"/>
                        <a:pt x="67443" y="19684"/>
                        <a:pt x="89692" y="0"/>
                      </a:cubicBezTo>
                      <a:cubicBezTo>
                        <a:pt x="111940" y="19684"/>
                        <a:pt x="140979" y="29933"/>
                        <a:pt x="170654" y="28575"/>
                      </a:cubicBezTo>
                      <a:cubicBezTo>
                        <a:pt x="175512" y="45129"/>
                        <a:pt x="176531" y="62389"/>
                        <a:pt x="173826" y="79086"/>
                      </a:cubicBezTo>
                    </a:path>
                  </a:pathLst>
                </a:custGeom>
                <a:noFill/>
                <a:ln w="19050">
                  <a:solidFill>
                    <a:srgbClr val="D64545"/>
                  </a:solidFill>
                </a:ln>
              </p:spPr>
              <p:txBody>
                <a:bodyPr/>
                <a:p/>
              </p:txBody>
            </p:sp>
            <p:sp>
              <p:nvSpPr>
                <p:cNvPr id="34" name="Freeform 34"/>
                <p:cNvSpPr/>
                <p:nvPr/>
              </p:nvSpPr>
              <p:spPr>
                <a:xfrm>
                  <a:off x="4791075" y="3162300"/>
                  <a:ext cx="9525" cy="9525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9525" h="9525">
                      <a:moveTo>
                        <a:pt x="0" y="0"/>
                      </a:moveTo>
                      <a:lnTo>
                        <a:pt x="0" y="95"/>
                      </a:lnTo>
                    </a:path>
                  </a:pathLst>
                </a:custGeom>
                <a:noFill/>
                <a:ln w="19050">
                  <a:solidFill>
                    <a:srgbClr val="D64545"/>
                  </a:solidFill>
                </a:ln>
              </p:spPr>
              <p:txBody>
                <a:bodyPr/>
                <a:p/>
              </p:txBody>
            </p:sp>
            <p:sp>
              <p:nvSpPr>
                <p:cNvPr id="35" name="Freeform 35"/>
                <p:cNvSpPr/>
                <p:nvPr/>
              </p:nvSpPr>
              <p:spPr>
                <a:xfrm>
                  <a:off x="4776788" y="3093705"/>
                  <a:ext cx="34836" cy="40020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34836" h="40020">
                      <a:moveTo>
                        <a:pt x="14288" y="40020"/>
                      </a:moveTo>
                      <a:cubicBezTo>
                        <a:pt x="23075" y="39992"/>
                        <a:pt x="30707" y="33965"/>
                        <a:pt x="32771" y="25424"/>
                      </a:cubicBezTo>
                      <a:cubicBezTo>
                        <a:pt x="34836" y="16882"/>
                        <a:pt x="30798" y="8035"/>
                        <a:pt x="22993" y="3997"/>
                      </a:cubicBezTo>
                      <a:cubicBezTo>
                        <a:pt x="15191" y="0"/>
                        <a:pt x="5664" y="1906"/>
                        <a:pt x="0" y="8597"/>
                      </a:cubicBezTo>
                    </a:path>
                  </a:pathLst>
                </a:custGeom>
                <a:noFill/>
                <a:ln w="19050">
                  <a:solidFill>
                    <a:srgbClr val="D64545"/>
                  </a:solidFill>
                </a:ln>
              </p:spPr>
              <p:txBody>
                <a:bodyPr/>
                <a:p/>
              </p:txBody>
            </p:sp>
          </p:grpSp>
          <p:sp>
            <p:nvSpPr>
              <p:cNvPr id="37" name="Rectangle 37"/>
              <p:cNvSpPr/>
              <p:nvPr/>
            </p:nvSpPr>
            <p:spPr>
              <a:xfrm>
                <a:off x="5048250" y="2914650"/>
                <a:ext cx="1066800" cy="304800"/>
              </a:xfrm>
              <a:prstGeom prst="roundRect">
                <a:avLst>
                  <a:gd name="adj" fmla="val 50000"/>
                </a:avLst>
              </a:prstGeom>
              <a:solidFill>
                <a:srgbClr val="E9EEF5"/>
              </a:solidFill>
              <a:ln>
                <a:noFill/>
              </a:ln>
            </p:spPr>
            <p:txBody>
              <a:bodyPr/>
              <a:p/>
            </p:txBody>
          </p:sp>
          <p:sp>
            <p:nvSpPr>
              <p:cNvPr id="38" name="TextBox 38"/>
              <p:cNvSpPr txBox="1"/>
              <p:nvPr/>
            </p:nvSpPr>
            <p:spPr>
              <a:xfrm>
                <a:off x="5274278" y="3001328"/>
                <a:ext cx="614744" cy="21336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ctr"/>
                <a:r>
                  <a:rPr lang="zh-CN" sz="1050" b="1" dirty="0">
                    <a:solidFill>
                      <a:srgbClr val="5B6B82"/>
                    </a:solidFill>
                    <a:latin typeface="Arial"/>
                    <a:ea typeface="Microsoft YaHei"/>
                    <a:cs typeface="Arial"/>
                  </a:rPr>
                  <a:t>合规底线</a:t>
                </a:r>
              </a:p>
            </p:txBody>
          </p:sp>
          <p:sp>
            <p:nvSpPr>
              <p:cNvPr id="39" name="TextBox 39"/>
              <p:cNvSpPr txBox="1"/>
              <p:nvPr/>
            </p:nvSpPr>
            <p:spPr>
              <a:xfrm>
                <a:off x="4519612" y="3612356"/>
                <a:ext cx="1378744" cy="2286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l"/>
                <a:r>
                  <a:rPr lang="zh-CN" sz="1125" dirty="0">
                    <a:solidFill>
                      <a:srgbClr val="5B6B82"/>
                    </a:solidFill>
                    <a:latin typeface="Arial"/>
                    <a:ea typeface="Microsoft YaHei"/>
                    <a:cs typeface="Arial"/>
                  </a:rPr>
                  <a:t>用之前问三个问题：</a:t>
                </a:r>
              </a:p>
            </p:txBody>
          </p:sp>
          <p:sp>
            <p:nvSpPr>
              <p:cNvPr id="40" name="TextBox 40"/>
              <p:cNvSpPr txBox="1"/>
              <p:nvPr/>
            </p:nvSpPr>
            <p:spPr>
              <a:xfrm>
                <a:off x="4519612" y="3917156"/>
                <a:ext cx="1603772" cy="2286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l"/>
                <a:r>
                  <a:rPr lang="zh-CN" sz="1125" b="1" dirty="0">
                    <a:solidFill>
                      <a:srgbClr val="2B3648"/>
                    </a:solidFill>
                    <a:latin typeface="Arial"/>
                    <a:ea typeface="Microsoft YaHei"/>
                    <a:cs typeface="Arial"/>
                  </a:rPr>
                  <a:t>数据会被拿去训练吗？</a:t>
                </a:r>
              </a:p>
            </p:txBody>
          </p:sp>
          <p:sp>
            <p:nvSpPr>
              <p:cNvPr id="41" name="TextBox 41"/>
              <p:cNvSpPr txBox="1"/>
              <p:nvPr/>
            </p:nvSpPr>
            <p:spPr>
              <a:xfrm>
                <a:off x="4519612" y="4183856"/>
                <a:ext cx="1784920" cy="2286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l"/>
                <a:r>
                  <a:rPr lang="zh-CN" sz="1125" b="1" dirty="0">
                    <a:solidFill>
                      <a:srgbClr val="2B3648"/>
                    </a:solidFill>
                    <a:latin typeface="Arial"/>
                    <a:ea typeface="Microsoft YaHei"/>
                    <a:cs typeface="Arial"/>
                  </a:rPr>
                  <a:t>有没有企业版 / 私有化？</a:t>
                </a:r>
              </a:p>
            </p:txBody>
          </p:sp>
          <p:sp>
            <p:nvSpPr>
              <p:cNvPr id="42" name="TextBox 42"/>
              <p:cNvSpPr txBox="1"/>
              <p:nvPr/>
            </p:nvSpPr>
            <p:spPr>
              <a:xfrm>
                <a:off x="4519612" y="4450556"/>
                <a:ext cx="1446252" cy="2286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l"/>
                <a:r>
                  <a:rPr lang="zh-CN" sz="1125" b="1" dirty="0">
                    <a:solidFill>
                      <a:srgbClr val="2B3648"/>
                    </a:solidFill>
                    <a:latin typeface="Arial"/>
                    <a:ea typeface="Microsoft YaHei"/>
                    <a:cs typeface="Arial"/>
                  </a:rPr>
                  <a:t>谁能看到我的输入？</a:t>
                </a:r>
              </a:p>
            </p:txBody>
          </p:sp>
        </p:grpSp>
        <p:grpSp>
          <p:nvGrpSpPr>
            <p:cNvPr id="61" name="Group 61"/>
            <p:cNvGrpSpPr/>
            <p:nvPr/>
          </p:nvGrpSpPr>
          <p:grpSpPr>
            <a:xfrm>
              <a:off x="8039100" y="1619250"/>
              <a:ext cx="3524250" cy="3714750"/>
              <a:chOff x="8039100" y="1619250"/>
              <a:chExt cx="3524250" cy="3714750"/>
            </a:xfrm>
          </p:grpSpPr>
          <p:sp>
            <p:nvSpPr>
              <p:cNvPr id="44" name="Rectangle 44"/>
              <p:cNvSpPr/>
              <p:nvPr/>
            </p:nvSpPr>
            <p:spPr>
              <a:xfrm>
                <a:off x="8039100" y="1619250"/>
                <a:ext cx="3524250" cy="3714750"/>
              </a:xfrm>
              <a:prstGeom prst="roundRect">
                <a:avLst>
                  <a:gd name="adj" fmla="val 4324"/>
                </a:avLst>
              </a:prstGeom>
              <a:solidFill>
                <a:srgbClr val="FFFFFF"/>
              </a:solidFill>
              <a:ln w="9525">
                <a:solidFill>
                  <a:srgbClr val="D8E1EC"/>
                </a:solidFill>
              </a:ln>
            </p:spPr>
            <p:txBody>
              <a:bodyPr/>
              <a:p/>
            </p:txBody>
          </p:sp>
          <p:sp>
            <p:nvSpPr>
              <p:cNvPr id="45" name="Rectangle 45"/>
              <p:cNvSpPr/>
              <p:nvPr/>
            </p:nvSpPr>
            <p:spPr>
              <a:xfrm>
                <a:off x="8039100" y="1619250"/>
                <a:ext cx="3524250" cy="914400"/>
              </a:xfrm>
              <a:prstGeom prst="roundRect">
                <a:avLst>
                  <a:gd name="adj" fmla="val 16667"/>
                </a:avLst>
              </a:prstGeom>
              <a:solidFill>
                <a:srgbClr val="D6E6F9"/>
              </a:solidFill>
              <a:ln>
                <a:noFill/>
              </a:ln>
            </p:spPr>
            <p:txBody>
              <a:bodyPr/>
              <a:p/>
            </p:txBody>
          </p:sp>
          <p:sp>
            <p:nvSpPr>
              <p:cNvPr id="46" name="Rectangle 46"/>
              <p:cNvSpPr/>
              <p:nvPr/>
            </p:nvSpPr>
            <p:spPr>
              <a:xfrm>
                <a:off x="8039100" y="2190750"/>
                <a:ext cx="3524250" cy="342900"/>
              </a:xfrm>
              <a:prstGeom prst="rect">
                <a:avLst/>
              </a:prstGeom>
              <a:solidFill>
                <a:srgbClr val="D6E6F9"/>
              </a:solidFill>
              <a:ln>
                <a:noFill/>
              </a:ln>
            </p:spPr>
            <p:txBody>
              <a:bodyPr/>
              <a:p/>
            </p:txBody>
          </p:sp>
          <p:sp>
            <p:nvSpPr>
              <p:cNvPr id="47" name="TextBox 47"/>
              <p:cNvSpPr txBox="1"/>
              <p:nvPr/>
            </p:nvSpPr>
            <p:spPr>
              <a:xfrm>
                <a:off x="9533954" y="1889760"/>
                <a:ext cx="534543" cy="24384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ctr"/>
                <a:r>
                  <a:rPr lang="zh-CN" sz="1200" b="1" dirty="0">
                    <a:solidFill>
                      <a:srgbClr val="1565D8"/>
                    </a:solidFill>
                    <a:latin typeface="Arial"/>
                    <a:ea typeface="Microsoft YaHei"/>
                    <a:cs typeface="Arial"/>
                  </a:rPr>
                  <a:t>红线三</a:t>
                </a:r>
              </a:p>
            </p:txBody>
          </p:sp>
          <p:sp>
            <p:nvSpPr>
              <p:cNvPr id="48" name="TextBox 48"/>
              <p:cNvSpPr txBox="1"/>
              <p:nvPr/>
            </p:nvSpPr>
            <p:spPr>
              <a:xfrm>
                <a:off x="8942070" y="2200275"/>
                <a:ext cx="1718310" cy="3048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ctr"/>
                <a:r>
                  <a:rPr lang="zh-CN" sz="1500" b="1" dirty="0">
                    <a:solidFill>
                      <a:srgbClr val="0B4EA2"/>
                    </a:solidFill>
                    <a:latin typeface="Arial"/>
                    <a:ea typeface="Microsoft YaHei"/>
                    <a:cs typeface="Arial"/>
                  </a:rPr>
                  <a:t>关键结果，人终审</a:t>
                </a:r>
              </a:p>
            </p:txBody>
          </p:sp>
          <p:sp>
            <p:nvSpPr>
              <p:cNvPr id="49" name="Ellipse 49"/>
              <p:cNvSpPr/>
              <p:nvPr/>
            </p:nvSpPr>
            <p:spPr>
              <a:xfrm>
                <a:off x="8248650" y="2857500"/>
                <a:ext cx="419100" cy="419100"/>
              </a:xfrm>
              <a:prstGeom prst="ellipse">
                <a:avLst/>
              </a:prstGeom>
              <a:solidFill>
                <a:srgbClr val="E9EEF5"/>
              </a:solidFill>
              <a:ln>
                <a:noFill/>
              </a:ln>
            </p:spPr>
            <p:txBody>
              <a:bodyPr/>
              <a:p/>
            </p:txBody>
          </p:sp>
          <p:grpSp>
            <p:nvGrpSpPr>
              <p:cNvPr id="54" name="Group 54"/>
              <p:cNvGrpSpPr/>
              <p:nvPr/>
            </p:nvGrpSpPr>
            <p:grpSpPr>
              <a:xfrm>
                <a:off x="8375482" y="2971800"/>
                <a:ext cx="158918" cy="190503"/>
                <a:chOff x="8375482" y="2971800"/>
                <a:chExt cx="158918" cy="190503"/>
              </a:xfrm>
            </p:grpSpPr>
            <p:sp>
              <p:nvSpPr>
                <p:cNvPr id="50" name="Freeform 50"/>
                <p:cNvSpPr/>
                <p:nvPr/>
              </p:nvSpPr>
              <p:spPr>
                <a:xfrm>
                  <a:off x="8420100" y="2990850"/>
                  <a:ext cx="28575" cy="85725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28575" h="85725">
                      <a:moveTo>
                        <a:pt x="0" y="85725"/>
                      </a:moveTo>
                      <a:lnTo>
                        <a:pt x="0" y="14288"/>
                      </a:lnTo>
                      <a:cubicBezTo>
                        <a:pt x="0" y="6397"/>
                        <a:pt x="6397" y="0"/>
                        <a:pt x="14288" y="0"/>
                      </a:cubicBezTo>
                      <a:cubicBezTo>
                        <a:pt x="22178" y="0"/>
                        <a:pt x="28575" y="6397"/>
                        <a:pt x="28575" y="14288"/>
                      </a:cubicBezTo>
                      <a:lnTo>
                        <a:pt x="28575" y="76200"/>
                      </a:lnTo>
                    </a:path>
                  </a:pathLst>
                </a:custGeom>
                <a:noFill/>
                <a:ln w="19050">
                  <a:solidFill>
                    <a:srgbClr val="D64545"/>
                  </a:solidFill>
                </a:ln>
              </p:spPr>
              <p:txBody>
                <a:bodyPr/>
                <a:p/>
              </p:txBody>
            </p:sp>
            <p:sp>
              <p:nvSpPr>
                <p:cNvPr id="51" name="Freeform 51"/>
                <p:cNvSpPr/>
                <p:nvPr/>
              </p:nvSpPr>
              <p:spPr>
                <a:xfrm>
                  <a:off x="8448675" y="2971800"/>
                  <a:ext cx="28575" cy="95250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28575" h="95250">
                      <a:moveTo>
                        <a:pt x="0" y="33338"/>
                      </a:moveTo>
                      <a:lnTo>
                        <a:pt x="0" y="14288"/>
                      </a:lnTo>
                      <a:cubicBezTo>
                        <a:pt x="0" y="6397"/>
                        <a:pt x="6397" y="0"/>
                        <a:pt x="14288" y="0"/>
                      </a:cubicBezTo>
                      <a:cubicBezTo>
                        <a:pt x="22178" y="0"/>
                        <a:pt x="28575" y="6397"/>
                        <a:pt x="28575" y="14288"/>
                      </a:cubicBezTo>
                      <a:lnTo>
                        <a:pt x="28575" y="95250"/>
                      </a:lnTo>
                    </a:path>
                  </a:pathLst>
                </a:custGeom>
                <a:noFill/>
                <a:ln w="19050">
                  <a:solidFill>
                    <a:srgbClr val="D64545"/>
                  </a:solidFill>
                </a:ln>
              </p:spPr>
              <p:txBody>
                <a:bodyPr/>
                <a:p/>
              </p:txBody>
            </p:sp>
            <p:sp>
              <p:nvSpPr>
                <p:cNvPr id="52" name="Freeform 52"/>
                <p:cNvSpPr/>
                <p:nvPr/>
              </p:nvSpPr>
              <p:spPr>
                <a:xfrm>
                  <a:off x="8477250" y="2990850"/>
                  <a:ext cx="28575" cy="76200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28575" h="76200">
                      <a:moveTo>
                        <a:pt x="0" y="14288"/>
                      </a:moveTo>
                      <a:cubicBezTo>
                        <a:pt x="0" y="6397"/>
                        <a:pt x="6397" y="0"/>
                        <a:pt x="14288" y="0"/>
                      </a:cubicBezTo>
                      <a:cubicBezTo>
                        <a:pt x="22178" y="0"/>
                        <a:pt x="28575" y="6397"/>
                        <a:pt x="28575" y="14288"/>
                      </a:cubicBezTo>
                      <a:lnTo>
                        <a:pt x="28575" y="76200"/>
                      </a:lnTo>
                    </a:path>
                  </a:pathLst>
                </a:custGeom>
                <a:noFill/>
                <a:ln w="19050">
                  <a:solidFill>
                    <a:srgbClr val="D64545"/>
                  </a:solidFill>
                </a:ln>
              </p:spPr>
              <p:txBody>
                <a:bodyPr/>
                <a:p/>
              </p:txBody>
            </p:sp>
            <p:sp>
              <p:nvSpPr>
                <p:cNvPr id="53" name="Freeform 53"/>
                <p:cNvSpPr/>
                <p:nvPr/>
              </p:nvSpPr>
              <p:spPr>
                <a:xfrm>
                  <a:off x="8375482" y="3009900"/>
                  <a:ext cx="158918" cy="152403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158918" h="152403">
                      <a:moveTo>
                        <a:pt x="130343" y="14288"/>
                      </a:moveTo>
                      <a:cubicBezTo>
                        <a:pt x="130343" y="6397"/>
                        <a:pt x="136740" y="0"/>
                        <a:pt x="144630" y="0"/>
                      </a:cubicBezTo>
                      <a:cubicBezTo>
                        <a:pt x="152521" y="0"/>
                        <a:pt x="158918" y="6397"/>
                        <a:pt x="158918" y="14288"/>
                      </a:cubicBezTo>
                      <a:lnTo>
                        <a:pt x="158918" y="95250"/>
                      </a:lnTo>
                      <a:cubicBezTo>
                        <a:pt x="158918" y="126813"/>
                        <a:pt x="133331" y="152400"/>
                        <a:pt x="101768" y="152400"/>
                      </a:cubicBezTo>
                      <a:lnTo>
                        <a:pt x="82718" y="152400"/>
                      </a:lnTo>
                      <a:lnTo>
                        <a:pt x="84699" y="152400"/>
                      </a:lnTo>
                      <a:cubicBezTo>
                        <a:pt x="65473" y="152403"/>
                        <a:pt x="47534" y="142739"/>
                        <a:pt x="36960" y="126683"/>
                      </a:cubicBezTo>
                      <a:cubicBezTo>
                        <a:pt x="36335" y="125732"/>
                        <a:pt x="35713" y="124779"/>
                        <a:pt x="35093" y="123825"/>
                      </a:cubicBezTo>
                      <a:cubicBezTo>
                        <a:pt x="32121" y="119263"/>
                        <a:pt x="21691" y="101079"/>
                        <a:pt x="3794" y="69266"/>
                      </a:cubicBezTo>
                      <a:cubicBezTo>
                        <a:pt x="0" y="62523"/>
                        <a:pt x="2263" y="53985"/>
                        <a:pt x="8899" y="50006"/>
                      </a:cubicBezTo>
                      <a:cubicBezTo>
                        <a:pt x="15893" y="45810"/>
                        <a:pt x="24845" y="46909"/>
                        <a:pt x="30616" y="52673"/>
                      </a:cubicBezTo>
                      <a:lnTo>
                        <a:pt x="44618" y="66675"/>
                      </a:lnTo>
                    </a:path>
                  </a:pathLst>
                </a:custGeom>
                <a:noFill/>
                <a:ln w="19050">
                  <a:solidFill>
                    <a:srgbClr val="D64545"/>
                  </a:solidFill>
                </a:ln>
              </p:spPr>
              <p:txBody>
                <a:bodyPr/>
                <a:p/>
              </p:txBody>
            </p:sp>
          </p:grpSp>
          <p:sp>
            <p:nvSpPr>
              <p:cNvPr id="55" name="Rectangle 55"/>
              <p:cNvSpPr/>
              <p:nvPr/>
            </p:nvSpPr>
            <p:spPr>
              <a:xfrm>
                <a:off x="8782050" y="2914650"/>
                <a:ext cx="1066800" cy="304800"/>
              </a:xfrm>
              <a:prstGeom prst="roundRect">
                <a:avLst>
                  <a:gd name="adj" fmla="val 50000"/>
                </a:avLst>
              </a:prstGeom>
              <a:solidFill>
                <a:srgbClr val="E9EEF5"/>
              </a:solidFill>
              <a:ln>
                <a:noFill/>
              </a:ln>
            </p:spPr>
            <p:txBody>
              <a:bodyPr/>
              <a:p/>
            </p:txBody>
          </p:sp>
          <p:sp>
            <p:nvSpPr>
              <p:cNvPr id="56" name="TextBox 56"/>
              <p:cNvSpPr txBox="1"/>
              <p:nvPr/>
            </p:nvSpPr>
            <p:spPr>
              <a:xfrm>
                <a:off x="9008078" y="3001328"/>
                <a:ext cx="614744" cy="21336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ctr"/>
                <a:r>
                  <a:rPr lang="zh-CN" sz="1050" b="1" dirty="0">
                    <a:solidFill>
                      <a:srgbClr val="5B6B82"/>
                    </a:solidFill>
                    <a:latin typeface="Arial"/>
                    <a:ea typeface="Microsoft YaHei"/>
                    <a:cs typeface="Arial"/>
                  </a:rPr>
                  <a:t>责任底线</a:t>
                </a:r>
              </a:p>
            </p:txBody>
          </p:sp>
          <p:sp>
            <p:nvSpPr>
              <p:cNvPr id="57" name="TextBox 57"/>
              <p:cNvSpPr txBox="1"/>
              <p:nvPr/>
            </p:nvSpPr>
            <p:spPr>
              <a:xfrm>
                <a:off x="8253412" y="3612356"/>
                <a:ext cx="1528762" cy="2286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l"/>
                <a:r>
                  <a:rPr lang="zh-CN" sz="1125" dirty="0">
                    <a:solidFill>
                      <a:srgbClr val="5B6B82"/>
                    </a:solidFill>
                    <a:latin typeface="Arial"/>
                    <a:ea typeface="Microsoft YaHei"/>
                    <a:cs typeface="Arial"/>
                  </a:rPr>
                  <a:t>凡涉及钱、涉及合规、</a:t>
                </a:r>
              </a:p>
            </p:txBody>
          </p:sp>
          <p:sp>
            <p:nvSpPr>
              <p:cNvPr id="58" name="TextBox 58"/>
              <p:cNvSpPr txBox="1"/>
              <p:nvPr/>
            </p:nvSpPr>
            <p:spPr>
              <a:xfrm>
                <a:off x="8253412" y="3860006"/>
                <a:ext cx="1243727" cy="2286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l"/>
                <a:r>
                  <a:rPr lang="zh-CN" sz="1125" dirty="0">
                    <a:solidFill>
                      <a:srgbClr val="5B6B82"/>
                    </a:solidFill>
                    <a:latin typeface="Arial"/>
                    <a:ea typeface="Microsoft YaHei"/>
                    <a:cs typeface="Arial"/>
                  </a:rPr>
                  <a:t>对外发布的结果——</a:t>
                </a:r>
              </a:p>
            </p:txBody>
          </p:sp>
          <p:sp>
            <p:nvSpPr>
              <p:cNvPr id="59" name="TextBox 59"/>
              <p:cNvSpPr txBox="1"/>
              <p:nvPr/>
            </p:nvSpPr>
            <p:spPr>
              <a:xfrm>
                <a:off x="8253412" y="4164806"/>
                <a:ext cx="1446252" cy="2286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l"/>
                <a:r>
                  <a:rPr lang="zh-CN" sz="1125" b="1" dirty="0">
                    <a:solidFill>
                      <a:srgbClr val="2B3648"/>
                    </a:solidFill>
                    <a:latin typeface="Arial"/>
                    <a:ea typeface="Microsoft YaHei"/>
                    <a:cs typeface="Arial"/>
                  </a:rPr>
                  <a:t>最后一步一定是人：</a:t>
                </a:r>
              </a:p>
            </p:txBody>
          </p:sp>
          <p:sp>
            <p:nvSpPr>
              <p:cNvPr id="60" name="TextBox 60"/>
              <p:cNvSpPr txBox="1"/>
              <p:nvPr/>
            </p:nvSpPr>
            <p:spPr>
              <a:xfrm>
                <a:off x="8253412" y="4412456"/>
                <a:ext cx="1446252" cy="2286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l"/>
                <a:r>
                  <a:rPr lang="zh-CN" sz="1125" b="1" dirty="0">
                    <a:solidFill>
                      <a:srgbClr val="2B3648"/>
                    </a:solidFill>
                    <a:latin typeface="Arial"/>
                    <a:ea typeface="Microsoft YaHei"/>
                    <a:cs typeface="Arial"/>
                  </a:rPr>
                  <a:t>核对、拍板、负责。</a:t>
                </a:r>
              </a:p>
            </p:txBody>
          </p:sp>
        </p:grpSp>
      </p:grpSp>
      <p:grpSp>
        <p:nvGrpSpPr>
          <p:cNvPr id="71" name="Group 71"/>
          <p:cNvGrpSpPr/>
          <p:nvPr/>
        </p:nvGrpSpPr>
        <p:grpSpPr>
          <a:xfrm>
            <a:off x="571500" y="5638800"/>
            <a:ext cx="11049000" cy="457200"/>
            <a:chOff x="571500" y="5638800"/>
            <a:chExt cx="11049000" cy="457200"/>
          </a:xfrm>
        </p:grpSpPr>
        <p:sp>
          <p:nvSpPr>
            <p:cNvPr id="63" name="Rectangle 63"/>
            <p:cNvSpPr/>
            <p:nvPr/>
          </p:nvSpPr>
          <p:spPr>
            <a:xfrm>
              <a:off x="571500" y="5638800"/>
              <a:ext cx="11049000" cy="457200"/>
            </a:xfrm>
            <a:prstGeom prst="roundRect">
              <a:avLst>
                <a:gd name="adj" fmla="val 33333"/>
              </a:avLst>
            </a:prstGeom>
            <a:solidFill>
              <a:srgbClr val="D6E6F9"/>
            </a:solidFill>
            <a:ln>
              <a:noFill/>
            </a:ln>
          </p:spPr>
          <p:txBody>
            <a:bodyPr/>
            <a:p/>
          </p:txBody>
        </p:sp>
        <p:sp>
          <p:nvSpPr>
            <p:cNvPr id="64" name="Rectangle 64"/>
            <p:cNvSpPr/>
            <p:nvPr/>
          </p:nvSpPr>
          <p:spPr>
            <a:xfrm>
              <a:off x="571500" y="5638800"/>
              <a:ext cx="76200" cy="457200"/>
            </a:xfrm>
            <a:prstGeom prst="roundRect">
              <a:avLst>
                <a:gd name="adj" fmla="val 50000"/>
              </a:avLst>
            </a:prstGeom>
            <a:solidFill>
              <a:srgbClr val="1565D8"/>
            </a:solidFill>
            <a:ln>
              <a:noFill/>
            </a:ln>
          </p:spPr>
          <p:txBody>
            <a:bodyPr/>
            <a:p/>
          </p:txBody>
        </p:sp>
        <p:grpSp>
          <p:nvGrpSpPr>
            <p:cNvPr id="69" name="Group 69"/>
            <p:cNvGrpSpPr/>
            <p:nvPr/>
          </p:nvGrpSpPr>
          <p:grpSpPr>
            <a:xfrm>
              <a:off x="902618" y="5778500"/>
              <a:ext cx="132432" cy="158753"/>
              <a:chOff x="902618" y="5778500"/>
              <a:chExt cx="132432" cy="158753"/>
            </a:xfrm>
          </p:grpSpPr>
          <p:sp>
            <p:nvSpPr>
              <p:cNvPr id="65" name="Freeform 65"/>
              <p:cNvSpPr/>
              <p:nvPr/>
            </p:nvSpPr>
            <p:spPr>
              <a:xfrm>
                <a:off x="939800" y="5794375"/>
                <a:ext cx="23812" cy="71438"/>
              </a:xfrm>
              <a:custGeom>
                <a:avLst/>
                <a:gdLst/>
                <a:ahLst/>
                <a:cxnLst/>
                <a:rect l="l" t="t" r="r" b="b"/>
                <a:pathLst>
                  <a:path w="23812" h="71438">
                    <a:moveTo>
                      <a:pt x="0" y="71438"/>
                    </a:moveTo>
                    <a:lnTo>
                      <a:pt x="0" y="11906"/>
                    </a:lnTo>
                    <a:cubicBezTo>
                      <a:pt x="0" y="5331"/>
                      <a:pt x="5331" y="0"/>
                      <a:pt x="11906" y="0"/>
                    </a:cubicBezTo>
                    <a:cubicBezTo>
                      <a:pt x="18482" y="0"/>
                      <a:pt x="23812" y="5331"/>
                      <a:pt x="23812" y="11906"/>
                    </a:cubicBezTo>
                    <a:lnTo>
                      <a:pt x="23812" y="63500"/>
                    </a:lnTo>
                  </a:path>
                </a:pathLst>
              </a:custGeom>
              <a:noFill/>
              <a:ln w="19050">
                <a:solidFill>
                  <a:srgbClr val="1565D8"/>
                </a:solidFill>
              </a:ln>
            </p:spPr>
            <p:txBody>
              <a:bodyPr/>
              <a:p/>
            </p:txBody>
          </p:sp>
          <p:sp>
            <p:nvSpPr>
              <p:cNvPr id="66" name="Freeform 66"/>
              <p:cNvSpPr/>
              <p:nvPr/>
            </p:nvSpPr>
            <p:spPr>
              <a:xfrm>
                <a:off x="963612" y="5778500"/>
                <a:ext cx="23812" cy="79375"/>
              </a:xfrm>
              <a:custGeom>
                <a:avLst/>
                <a:gdLst/>
                <a:ahLst/>
                <a:cxnLst/>
                <a:rect l="l" t="t" r="r" b="b"/>
                <a:pathLst>
                  <a:path w="23812" h="79375">
                    <a:moveTo>
                      <a:pt x="0" y="27781"/>
                    </a:moveTo>
                    <a:lnTo>
                      <a:pt x="0" y="11906"/>
                    </a:lnTo>
                    <a:cubicBezTo>
                      <a:pt x="0" y="5331"/>
                      <a:pt x="5331" y="0"/>
                      <a:pt x="11906" y="0"/>
                    </a:cubicBezTo>
                    <a:cubicBezTo>
                      <a:pt x="18482" y="0"/>
                      <a:pt x="23812" y="5331"/>
                      <a:pt x="23812" y="11906"/>
                    </a:cubicBezTo>
                    <a:lnTo>
                      <a:pt x="23812" y="79375"/>
                    </a:lnTo>
                  </a:path>
                </a:pathLst>
              </a:custGeom>
              <a:noFill/>
              <a:ln w="19050">
                <a:solidFill>
                  <a:srgbClr val="1565D8"/>
                </a:solidFill>
              </a:ln>
            </p:spPr>
            <p:txBody>
              <a:bodyPr/>
              <a:p/>
            </p:txBody>
          </p:sp>
          <p:sp>
            <p:nvSpPr>
              <p:cNvPr id="67" name="Freeform 67"/>
              <p:cNvSpPr/>
              <p:nvPr/>
            </p:nvSpPr>
            <p:spPr>
              <a:xfrm>
                <a:off x="987425" y="5794375"/>
                <a:ext cx="23812" cy="63500"/>
              </a:xfrm>
              <a:custGeom>
                <a:avLst/>
                <a:gdLst/>
                <a:ahLst/>
                <a:cxnLst/>
                <a:rect l="l" t="t" r="r" b="b"/>
                <a:pathLst>
                  <a:path w="23812" h="63500">
                    <a:moveTo>
                      <a:pt x="0" y="11906"/>
                    </a:moveTo>
                    <a:cubicBezTo>
                      <a:pt x="0" y="5331"/>
                      <a:pt x="5331" y="0"/>
                      <a:pt x="11906" y="0"/>
                    </a:cubicBezTo>
                    <a:cubicBezTo>
                      <a:pt x="18482" y="0"/>
                      <a:pt x="23812" y="5331"/>
                      <a:pt x="23812" y="11906"/>
                    </a:cubicBezTo>
                    <a:lnTo>
                      <a:pt x="23812" y="63500"/>
                    </a:lnTo>
                  </a:path>
                </a:pathLst>
              </a:custGeom>
              <a:noFill/>
              <a:ln w="19050">
                <a:solidFill>
                  <a:srgbClr val="1565D8"/>
                </a:solidFill>
              </a:ln>
            </p:spPr>
            <p:txBody>
              <a:bodyPr/>
              <a:p/>
            </p:txBody>
          </p:sp>
          <p:sp>
            <p:nvSpPr>
              <p:cNvPr id="68" name="Freeform 68"/>
              <p:cNvSpPr/>
              <p:nvPr/>
            </p:nvSpPr>
            <p:spPr>
              <a:xfrm>
                <a:off x="902618" y="5810250"/>
                <a:ext cx="132432" cy="127003"/>
              </a:xfrm>
              <a:custGeom>
                <a:avLst/>
                <a:gdLst/>
                <a:ahLst/>
                <a:cxnLst/>
                <a:rect l="l" t="t" r="r" b="b"/>
                <a:pathLst>
                  <a:path w="132432" h="127003">
                    <a:moveTo>
                      <a:pt x="108619" y="11906"/>
                    </a:moveTo>
                    <a:cubicBezTo>
                      <a:pt x="108619" y="5331"/>
                      <a:pt x="113950" y="0"/>
                      <a:pt x="120525" y="0"/>
                    </a:cubicBezTo>
                    <a:cubicBezTo>
                      <a:pt x="127101" y="0"/>
                      <a:pt x="132432" y="5331"/>
                      <a:pt x="132432" y="11906"/>
                    </a:cubicBezTo>
                    <a:lnTo>
                      <a:pt x="132432" y="79375"/>
                    </a:lnTo>
                    <a:cubicBezTo>
                      <a:pt x="132432" y="105678"/>
                      <a:pt x="111109" y="127000"/>
                      <a:pt x="84807" y="127000"/>
                    </a:cubicBezTo>
                    <a:lnTo>
                      <a:pt x="68932" y="127000"/>
                    </a:lnTo>
                    <a:lnTo>
                      <a:pt x="70583" y="127000"/>
                    </a:lnTo>
                    <a:cubicBezTo>
                      <a:pt x="54561" y="127003"/>
                      <a:pt x="39612" y="118949"/>
                      <a:pt x="30800" y="105569"/>
                    </a:cubicBezTo>
                    <a:cubicBezTo>
                      <a:pt x="30279" y="104776"/>
                      <a:pt x="29761" y="103983"/>
                      <a:pt x="29244" y="103188"/>
                    </a:cubicBezTo>
                    <a:cubicBezTo>
                      <a:pt x="26768" y="99385"/>
                      <a:pt x="18076" y="84233"/>
                      <a:pt x="3161" y="57721"/>
                    </a:cubicBezTo>
                    <a:cubicBezTo>
                      <a:pt x="0" y="52102"/>
                      <a:pt x="1886" y="44987"/>
                      <a:pt x="7416" y="41672"/>
                    </a:cubicBezTo>
                    <a:cubicBezTo>
                      <a:pt x="13244" y="38175"/>
                      <a:pt x="20705" y="39091"/>
                      <a:pt x="25513" y="43894"/>
                    </a:cubicBezTo>
                    <a:lnTo>
                      <a:pt x="37182" y="55563"/>
                    </a:lnTo>
                  </a:path>
                </a:pathLst>
              </a:custGeom>
              <a:noFill/>
              <a:ln w="19050">
                <a:solidFill>
                  <a:srgbClr val="1565D8"/>
                </a:solidFill>
              </a:ln>
            </p:spPr>
            <p:txBody>
              <a:bodyPr/>
              <a:p/>
            </p:txBody>
          </p:sp>
        </p:grpSp>
        <p:sp>
          <p:nvSpPr>
            <p:cNvPr id="70" name="TextBox 70"/>
            <p:cNvSpPr txBox="1"/>
            <p:nvPr/>
          </p:nvSpPr>
          <p:spPr>
            <a:xfrm>
              <a:off x="1163955" y="5788342"/>
              <a:ext cx="5922376" cy="27432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b="1" dirty="0">
                  <a:solidFill>
                    <a:srgbClr val="0B4EA2"/>
                  </a:solidFill>
                  <a:latin typeface="Arial"/>
                  <a:ea typeface="Microsoft YaHei"/>
                  <a:cs typeface="Arial"/>
                </a:rPr>
                <a:t>课堂试一下：给你 6 个工具，哪些敢用在工作里，哪些不敢，为什么？</a:t>
              </a:r>
            </a:p>
          </p:txBody>
        </p:sp>
      </p:grpSp>
      <p:grpSp>
        <p:nvGrpSpPr>
          <p:cNvPr id="74" name="Group 74"/>
          <p:cNvGrpSpPr/>
          <p:nvPr/>
        </p:nvGrpSpPr>
        <p:grpSpPr>
          <a:xfrm>
            <a:off x="560070" y="6341745"/>
            <a:ext cx="11071860" cy="182880"/>
            <a:chOff x="560070" y="6341745"/>
            <a:chExt cx="11071860" cy="182880"/>
          </a:xfrm>
        </p:grpSpPr>
        <p:sp>
          <p:nvSpPr>
            <p:cNvPr id="72" name="TextBox 72"/>
            <p:cNvSpPr txBox="1"/>
            <p:nvPr/>
          </p:nvSpPr>
          <p:spPr>
            <a:xfrm>
              <a:off x="560070" y="6341745"/>
              <a:ext cx="1054989" cy="18288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00" dirty="0">
                  <a:solidFill>
                    <a:srgbClr val="8B99AE"/>
                  </a:solidFill>
                  <a:latin typeface="Arial"/>
                  <a:ea typeface="Microsoft YaHei"/>
                  <a:cs typeface="Arial"/>
                </a:rPr>
                <a:t>大模型通识 · 企业版</a:t>
              </a:r>
            </a:p>
          </p:txBody>
        </p:sp>
        <p:sp>
          <p:nvSpPr>
            <p:cNvPr id="73" name="TextBox 73"/>
            <p:cNvSpPr txBox="1"/>
            <p:nvPr/>
          </p:nvSpPr>
          <p:spPr>
            <a:xfrm>
              <a:off x="11207020" y="6341745"/>
              <a:ext cx="424910" cy="18288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r"/>
              <a:r>
                <a:rPr lang="zh-CN" sz="900" dirty="0">
                  <a:solidFill>
                    <a:srgbClr val="8B99AE"/>
                  </a:solidFill>
                  <a:latin typeface="Arial"/>
                  <a:ea typeface="Microsoft YaHei"/>
                  <a:cs typeface="Arial"/>
                </a:rPr>
                <a:t>34 / 51</a:t>
              </a:r>
            </a:p>
          </p:txBody>
        </p:sp>
      </p:grpSp>
    </p:spTree>
  </p:cSld>
  <p:clrMapOvr>
    <a:masterClrMapping/>
  </p:clrMapOvr>
  <p:transition xmlns:p14="http://schemas.microsoft.com/office/powerpoint/2010/main" p14:dur="400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00"/>
                                        <p:tgtEl>
                                          <p:spTgt spid="6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900"/>
                            </p:stCondLst>
                            <p:childTnLst>
                              <p:par>
                                <p:cTn id="9" presetID="22" presetClass="entr" presetSubtype="1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1" dur="400"/>
                                        <p:tgtEl>
                                          <p:spTgt spid="7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62" grpId="0"/>
      <p:bldP spid="71" grpId="0"/>
    </p:bldLst>
  </p:timing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5" name="Group 5"/>
          <p:cNvGrpSpPr/>
          <p:nvPr/>
        </p:nvGrpSpPr>
        <p:grpSpPr>
          <a:xfrm>
            <a:off x="-1619250" y="0"/>
            <a:ext cx="13811250" cy="8477250"/>
            <a:chOff x="-1619250" y="0"/>
            <a:chExt cx="13811250" cy="8477250"/>
          </a:xfrm>
        </p:grpSpPr>
        <p:sp>
          <p:nvSpPr>
            <p:cNvPr id="2" name="Rectangle 2"/>
            <p:cNvSpPr/>
            <p:nvPr/>
          </p:nvSpPr>
          <p:spPr>
            <a:xfrm>
              <a:off x="0" y="0"/>
              <a:ext cx="12192000" cy="6858000"/>
            </a:xfrm>
            <a:prstGeom prst="rect">
              <a:avLst/>
            </a:prstGeom>
            <a:solidFill>
              <a:srgbClr val="F5F7FA"/>
            </a:solidFill>
            <a:ln>
              <a:noFill/>
            </a:ln>
          </p:spPr>
          <p:txBody>
            <a:bodyPr/>
            <a:p/>
          </p:txBody>
        </p:sp>
        <p:sp>
          <p:nvSpPr>
            <p:cNvPr id="3" name="Rectangle 3"/>
            <p:cNvSpPr/>
            <p:nvPr/>
          </p:nvSpPr>
          <p:spPr>
            <a:xfrm>
              <a:off x="0" y="0"/>
              <a:ext cx="12192000" cy="6858000"/>
            </a:xfrm>
            <a:prstGeom prst="rect">
              <a:avLst/>
            </a:prstGeom>
            <a:gradFill>
              <a:gsLst>
                <a:gs pos="0">
                  <a:srgbClr val="1565D8">
                    <a:alpha val="6000"/>
                  </a:srgbClr>
                </a:gs>
                <a:gs pos="100000">
                  <a:srgbClr val="1565D8">
                    <a:alpha val="0"/>
                  </a:srgbClr>
                </a:gs>
              </a:gsLst>
              <a:path path="circle">
                <a:fillToRect l="50000" t="50000" r="50000" b="50000"/>
              </a:path>
            </a:gradFill>
            <a:ln>
              <a:noFill/>
            </a:ln>
          </p:spPr>
          <p:txBody>
            <a:bodyPr/>
            <a:p/>
          </p:txBody>
        </p:sp>
        <p:sp>
          <p:nvSpPr>
            <p:cNvPr id="4" name="Ellipse 4"/>
            <p:cNvSpPr/>
            <p:nvPr/>
          </p:nvSpPr>
          <p:spPr>
            <a:xfrm>
              <a:off x="-1619250" y="4667250"/>
              <a:ext cx="3810000" cy="3810000"/>
            </a:xfrm>
            <a:prstGeom prst="ellipse">
              <a:avLst/>
            </a:prstGeom>
            <a:noFill/>
            <a:ln w="14288">
              <a:solidFill>
                <a:srgbClr val="D6E6F9">
                  <a:alpha val="80000"/>
                </a:srgbClr>
              </a:solidFill>
            </a:ln>
          </p:spPr>
          <p:txBody>
            <a:bodyPr/>
            <a:p/>
          </p:txBody>
        </p:sp>
      </p:grpSp>
      <p:grpSp>
        <p:nvGrpSpPr>
          <p:cNvPr id="9" name="Group 9"/>
          <p:cNvGrpSpPr/>
          <p:nvPr/>
        </p:nvGrpSpPr>
        <p:grpSpPr>
          <a:xfrm>
            <a:off x="571500" y="685800"/>
            <a:ext cx="4638294" cy="700088"/>
            <a:chOff x="571500" y="685800"/>
            <a:chExt cx="4638294" cy="700088"/>
          </a:xfrm>
        </p:grpSpPr>
        <p:sp>
          <p:nvSpPr>
            <p:cNvPr id="6" name="Rectangle 6"/>
            <p:cNvSpPr/>
            <p:nvPr/>
          </p:nvSpPr>
          <p:spPr>
            <a:xfrm>
              <a:off x="571500" y="685800"/>
              <a:ext cx="76200" cy="323850"/>
            </a:xfrm>
            <a:prstGeom prst="roundRect">
              <a:avLst>
                <a:gd name="adj" fmla="val 50000"/>
              </a:avLst>
            </a:prstGeom>
            <a:solidFill>
              <a:srgbClr val="1565D8"/>
            </a:solidFill>
            <a:ln>
              <a:noFill/>
            </a:ln>
          </p:spPr>
          <p:txBody>
            <a:bodyPr/>
            <a:p/>
          </p:txBody>
        </p:sp>
        <p:sp>
          <p:nvSpPr>
            <p:cNvPr id="7" name="TextBox 7"/>
            <p:cNvSpPr txBox="1"/>
            <p:nvPr/>
          </p:nvSpPr>
          <p:spPr>
            <a:xfrm>
              <a:off x="771525" y="700088"/>
              <a:ext cx="2939760" cy="45720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2250" b="1" dirty="0">
                  <a:solidFill>
                    <a:srgbClr val="2B3648"/>
                  </a:solidFill>
                  <a:latin typeface="Arial"/>
                  <a:ea typeface="Microsoft YaHei"/>
                  <a:cs typeface="Arial"/>
                </a:rPr>
                <a:t>AI 还能「创造」什么</a:t>
              </a:r>
            </a:p>
          </p:txBody>
        </p:sp>
        <p:sp>
          <p:nvSpPr>
            <p:cNvPr id="8" name="TextBox 8"/>
            <p:cNvSpPr txBox="1"/>
            <p:nvPr/>
          </p:nvSpPr>
          <p:spPr>
            <a:xfrm>
              <a:off x="782955" y="1111568"/>
              <a:ext cx="4426839" cy="27432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5B6B82"/>
                  </a:solidFill>
                  <a:latin typeface="Arial"/>
                  <a:ea typeface="Microsoft YaHei"/>
                  <a:cs typeface="Arial"/>
                </a:rPr>
                <a:t>从「帮我写」到「帮我做」—— 图、视频、声音，都能出</a:t>
              </a:r>
            </a:p>
          </p:txBody>
        </p:sp>
      </p:grpSp>
      <p:grpSp>
        <p:nvGrpSpPr>
          <p:cNvPr id="16" name="Group 16"/>
          <p:cNvGrpSpPr/>
          <p:nvPr/>
        </p:nvGrpSpPr>
        <p:grpSpPr>
          <a:xfrm>
            <a:off x="571500" y="1447800"/>
            <a:ext cx="7505700" cy="309562"/>
            <a:chOff x="571500" y="1447800"/>
            <a:chExt cx="7505700" cy="309562"/>
          </a:xfrm>
        </p:grpSpPr>
        <p:sp>
          <p:nvSpPr>
            <p:cNvPr id="10" name="Rectangle 10"/>
            <p:cNvSpPr/>
            <p:nvPr/>
          </p:nvSpPr>
          <p:spPr>
            <a:xfrm>
              <a:off x="571500" y="1447800"/>
              <a:ext cx="7505700" cy="304800"/>
            </a:xfrm>
            <a:prstGeom prst="roundRect">
              <a:avLst>
                <a:gd name="adj" fmla="val 50000"/>
              </a:avLst>
            </a:prstGeom>
            <a:solidFill>
              <a:srgbClr val="FFFFFF"/>
            </a:solidFill>
            <a:ln w="9525">
              <a:solidFill>
                <a:srgbClr val="D64545"/>
              </a:solidFill>
            </a:ln>
          </p:spPr>
          <p:txBody>
            <a:bodyPr/>
            <a:p/>
          </p:txBody>
        </p:sp>
        <p:grpSp>
          <p:nvGrpSpPr>
            <p:cNvPr id="14" name="Group 14"/>
            <p:cNvGrpSpPr/>
            <p:nvPr/>
          </p:nvGrpSpPr>
          <p:grpSpPr>
            <a:xfrm>
              <a:off x="736060" y="1540940"/>
              <a:ext cx="128076" cy="110034"/>
              <a:chOff x="736060" y="1540940"/>
              <a:chExt cx="128076" cy="110034"/>
            </a:xfrm>
          </p:grpSpPr>
          <p:sp>
            <p:nvSpPr>
              <p:cNvPr id="11" name="Freeform 11"/>
              <p:cNvSpPr/>
              <p:nvPr/>
            </p:nvSpPr>
            <p:spPr>
              <a:xfrm>
                <a:off x="800100" y="1581150"/>
                <a:ext cx="9525" cy="25400"/>
              </a:xfrm>
              <a:custGeom>
                <a:avLst/>
                <a:gdLst/>
                <a:ahLst/>
                <a:cxnLst/>
                <a:rect l="l" t="t" r="r" b="b"/>
                <a:pathLst>
                  <a:path w="9525" h="25400">
                    <a:moveTo>
                      <a:pt x="0" y="0"/>
                    </a:moveTo>
                    <a:lnTo>
                      <a:pt x="0" y="25400"/>
                    </a:lnTo>
                  </a:path>
                </a:pathLst>
              </a:custGeom>
              <a:noFill/>
              <a:ln w="19050">
                <a:solidFill>
                  <a:srgbClr val="D64545"/>
                </a:solidFill>
              </a:ln>
            </p:spPr>
            <p:txBody>
              <a:bodyPr/>
              <a:p/>
            </p:txBody>
          </p:sp>
          <p:sp>
            <p:nvSpPr>
              <p:cNvPr id="12" name="Freeform 12"/>
              <p:cNvSpPr/>
              <p:nvPr/>
            </p:nvSpPr>
            <p:spPr>
              <a:xfrm>
                <a:off x="736060" y="1540940"/>
                <a:ext cx="128076" cy="110034"/>
              </a:xfrm>
              <a:custGeom>
                <a:avLst/>
                <a:gdLst/>
                <a:ahLst/>
                <a:cxnLst/>
                <a:rect l="l" t="t" r="r" b="b"/>
                <a:pathLst>
                  <a:path w="128076" h="110034">
                    <a:moveTo>
                      <a:pt x="53646" y="5862"/>
                    </a:moveTo>
                    <a:lnTo>
                      <a:pt x="2172" y="91803"/>
                    </a:lnTo>
                    <a:cubicBezTo>
                      <a:pt x="13" y="95543"/>
                      <a:pt x="0" y="100147"/>
                      <a:pt x="2138" y="103898"/>
                    </a:cubicBezTo>
                    <a:cubicBezTo>
                      <a:pt x="4276" y="107650"/>
                      <a:pt x="8243" y="109986"/>
                      <a:pt x="12561" y="110034"/>
                    </a:cubicBezTo>
                    <a:lnTo>
                      <a:pt x="115520" y="110034"/>
                    </a:lnTo>
                    <a:cubicBezTo>
                      <a:pt x="119836" y="109984"/>
                      <a:pt x="123801" y="107650"/>
                      <a:pt x="125939" y="103900"/>
                    </a:cubicBezTo>
                    <a:cubicBezTo>
                      <a:pt x="128076" y="100150"/>
                      <a:pt x="128065" y="95549"/>
                      <a:pt x="125909" y="91810"/>
                    </a:cubicBezTo>
                    <a:lnTo>
                      <a:pt x="74435" y="5856"/>
                    </a:lnTo>
                    <a:cubicBezTo>
                      <a:pt x="72233" y="2221"/>
                      <a:pt x="68291" y="0"/>
                      <a:pt x="64040" y="0"/>
                    </a:cubicBezTo>
                    <a:cubicBezTo>
                      <a:pt x="59790" y="0"/>
                      <a:pt x="55848" y="2221"/>
                      <a:pt x="53646" y="5856"/>
                    </a:cubicBezTo>
                  </a:path>
                </a:pathLst>
              </a:custGeom>
              <a:noFill/>
              <a:ln w="19050">
                <a:solidFill>
                  <a:srgbClr val="D64545"/>
                </a:solidFill>
              </a:ln>
            </p:spPr>
            <p:txBody>
              <a:bodyPr/>
              <a:p/>
            </p:txBody>
          </p:sp>
          <p:sp>
            <p:nvSpPr>
              <p:cNvPr id="13" name="Freeform 13"/>
              <p:cNvSpPr/>
              <p:nvPr/>
            </p:nvSpPr>
            <p:spPr>
              <a:xfrm>
                <a:off x="800100" y="1625600"/>
                <a:ext cx="9525" cy="9525"/>
              </a:xfrm>
              <a:custGeom>
                <a:avLst/>
                <a:gdLst/>
                <a:ahLst/>
                <a:cxnLst/>
                <a:rect l="l" t="t" r="r" b="b"/>
                <a:pathLst>
                  <a:path w="9525" h="9525">
                    <a:moveTo>
                      <a:pt x="0" y="0"/>
                    </a:moveTo>
                    <a:lnTo>
                      <a:pt x="63" y="0"/>
                    </a:lnTo>
                  </a:path>
                </a:pathLst>
              </a:custGeom>
              <a:noFill/>
              <a:ln w="19050">
                <a:solidFill>
                  <a:srgbClr val="D64545"/>
                </a:solidFill>
              </a:ln>
            </p:spPr>
            <p:txBody>
              <a:bodyPr/>
              <a:p/>
            </p:txBody>
          </p:sp>
        </p:grpSp>
        <p:sp>
          <p:nvSpPr>
            <p:cNvPr id="15" name="TextBox 15"/>
            <p:cNvSpPr txBox="1"/>
            <p:nvPr/>
          </p:nvSpPr>
          <p:spPr>
            <a:xfrm>
              <a:off x="939165" y="1544002"/>
              <a:ext cx="2842072" cy="21336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050" b="1" dirty="0">
                  <a:solidFill>
                    <a:srgbClr val="D64545"/>
                  </a:solidFill>
                  <a:latin typeface="Arial"/>
                  <a:ea typeface="Microsoft YaHei"/>
                  <a:cs typeface="Arial"/>
                </a:rPr>
                <a:t>红线：真人肖像 / 声音，未经同意不能用；AI 生成的内容对外要带标识（2025-09 施行）。</a:t>
              </a:r>
            </a:p>
          </p:txBody>
        </p:sp>
      </p:grpSp>
      <p:grpSp>
        <p:nvGrpSpPr>
          <p:cNvPr id="77" name="Group 77"/>
          <p:cNvGrpSpPr/>
          <p:nvPr/>
        </p:nvGrpSpPr>
        <p:grpSpPr>
          <a:xfrm>
            <a:off x="571500" y="1943100"/>
            <a:ext cx="7505700" cy="3390900"/>
            <a:chOff x="571500" y="1943100"/>
            <a:chExt cx="7505700" cy="3390900"/>
          </a:xfrm>
        </p:grpSpPr>
        <p:grpSp>
          <p:nvGrpSpPr>
            <p:cNvPr id="38" name="Group 38"/>
            <p:cNvGrpSpPr/>
            <p:nvPr/>
          </p:nvGrpSpPr>
          <p:grpSpPr>
            <a:xfrm>
              <a:off x="571500" y="1943100"/>
              <a:ext cx="2524220" cy="3390900"/>
              <a:chOff x="571500" y="1943100"/>
              <a:chExt cx="2524220" cy="3390900"/>
            </a:xfrm>
          </p:grpSpPr>
          <p:sp>
            <p:nvSpPr>
              <p:cNvPr id="17" name="Rectangle 17"/>
              <p:cNvSpPr/>
              <p:nvPr/>
            </p:nvSpPr>
            <p:spPr>
              <a:xfrm>
                <a:off x="571500" y="1943100"/>
                <a:ext cx="2400300" cy="3390900"/>
              </a:xfrm>
              <a:prstGeom prst="roundRect">
                <a:avLst>
                  <a:gd name="adj" fmla="val 6349"/>
                </a:avLst>
              </a:prstGeom>
              <a:solidFill>
                <a:srgbClr val="FFFFFF"/>
              </a:solidFill>
              <a:ln w="9525">
                <a:solidFill>
                  <a:srgbClr val="D8E1EC"/>
                </a:solidFill>
              </a:ln>
            </p:spPr>
            <p:txBody>
              <a:bodyPr/>
              <a:p/>
            </p:txBody>
          </p:sp>
          <p:sp>
            <p:nvSpPr>
              <p:cNvPr id="18" name="Rectangle 18"/>
              <p:cNvSpPr/>
              <p:nvPr/>
            </p:nvSpPr>
            <p:spPr>
              <a:xfrm>
                <a:off x="571500" y="1943100"/>
                <a:ext cx="2400300" cy="609600"/>
              </a:xfrm>
              <a:prstGeom prst="roundRect">
                <a:avLst>
                  <a:gd name="adj" fmla="val 25000"/>
                </a:avLst>
              </a:prstGeom>
              <a:solidFill>
                <a:srgbClr val="D6E6F9"/>
              </a:solidFill>
              <a:ln>
                <a:noFill/>
              </a:ln>
            </p:spPr>
            <p:txBody>
              <a:bodyPr/>
              <a:p/>
            </p:txBody>
          </p:sp>
          <p:sp>
            <p:nvSpPr>
              <p:cNvPr id="19" name="Rectangle 19"/>
              <p:cNvSpPr/>
              <p:nvPr/>
            </p:nvSpPr>
            <p:spPr>
              <a:xfrm>
                <a:off x="571500" y="2247900"/>
                <a:ext cx="2400300" cy="304800"/>
              </a:xfrm>
              <a:prstGeom prst="rect">
                <a:avLst/>
              </a:prstGeom>
              <a:solidFill>
                <a:srgbClr val="D6E6F9"/>
              </a:solidFill>
              <a:ln>
                <a:noFill/>
              </a:ln>
            </p:spPr>
            <p:txBody>
              <a:bodyPr/>
              <a:p/>
            </p:txBody>
          </p:sp>
          <p:grpSp>
            <p:nvGrpSpPr>
              <p:cNvPr id="26" name="Group 26"/>
              <p:cNvGrpSpPr/>
              <p:nvPr/>
            </p:nvGrpSpPr>
            <p:grpSpPr>
              <a:xfrm>
                <a:off x="1590675" y="2105025"/>
                <a:ext cx="171450" cy="171450"/>
                <a:chOff x="1590675" y="2105025"/>
                <a:chExt cx="171450" cy="171450"/>
              </a:xfrm>
            </p:grpSpPr>
            <p:sp>
              <p:nvSpPr>
                <p:cNvPr id="20" name="Freeform 20"/>
                <p:cNvSpPr/>
                <p:nvPr/>
              </p:nvSpPr>
              <p:spPr>
                <a:xfrm>
                  <a:off x="1590675" y="2200275"/>
                  <a:ext cx="76200" cy="76200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76200" h="76200">
                      <a:moveTo>
                        <a:pt x="0" y="76200"/>
                      </a:moveTo>
                      <a:lnTo>
                        <a:pt x="0" y="38100"/>
                      </a:lnTo>
                      <a:cubicBezTo>
                        <a:pt x="0" y="17058"/>
                        <a:pt x="17058" y="0"/>
                        <a:pt x="38100" y="0"/>
                      </a:cubicBezTo>
                      <a:cubicBezTo>
                        <a:pt x="59142" y="0"/>
                        <a:pt x="76200" y="17058"/>
                        <a:pt x="76200" y="38100"/>
                      </a:cubicBezTo>
                      <a:cubicBezTo>
                        <a:pt x="76200" y="59142"/>
                        <a:pt x="59142" y="76200"/>
                        <a:pt x="38100" y="76200"/>
                      </a:cubicBezTo>
                      <a:lnTo>
                        <a:pt x="0" y="76200"/>
                      </a:lnTo>
                    </a:path>
                  </a:pathLst>
                </a:custGeom>
                <a:noFill/>
                <a:ln w="19050">
                  <a:solidFill>
                    <a:srgbClr val="1565D8"/>
                  </a:solidFill>
                </a:ln>
              </p:spPr>
              <p:txBody>
                <a:bodyPr/>
                <a:p/>
              </p:txBody>
            </p:sp>
            <p:sp>
              <p:nvSpPr>
                <p:cNvPr id="21" name="Freeform 21"/>
                <p:cNvSpPr/>
                <p:nvPr/>
              </p:nvSpPr>
              <p:spPr>
                <a:xfrm>
                  <a:off x="1640205" y="2105025"/>
                  <a:ext cx="121920" cy="97155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121920" h="97155">
                      <a:moveTo>
                        <a:pt x="121920" y="0"/>
                      </a:moveTo>
                      <a:cubicBezTo>
                        <a:pt x="66538" y="7575"/>
                        <a:pt x="19747" y="44862"/>
                        <a:pt x="0" y="97155"/>
                      </a:cubicBezTo>
                    </a:path>
                  </a:pathLst>
                </a:custGeom>
                <a:noFill/>
                <a:ln w="19050">
                  <a:solidFill>
                    <a:srgbClr val="1565D8"/>
                  </a:solidFill>
                </a:ln>
              </p:spPr>
              <p:txBody>
                <a:bodyPr/>
                <a:p/>
              </p:txBody>
            </p:sp>
            <p:sp>
              <p:nvSpPr>
                <p:cNvPr id="22" name="Freeform 22"/>
                <p:cNvSpPr/>
                <p:nvPr/>
              </p:nvSpPr>
              <p:spPr>
                <a:xfrm>
                  <a:off x="1664970" y="2105025"/>
                  <a:ext cx="97155" cy="121920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97155" h="121920">
                      <a:moveTo>
                        <a:pt x="97155" y="0"/>
                      </a:moveTo>
                      <a:cubicBezTo>
                        <a:pt x="89580" y="55382"/>
                        <a:pt x="52293" y="102173"/>
                        <a:pt x="0" y="121920"/>
                      </a:cubicBezTo>
                    </a:path>
                  </a:pathLst>
                </a:custGeom>
                <a:noFill/>
                <a:ln w="19050">
                  <a:solidFill>
                    <a:srgbClr val="1565D8"/>
                  </a:solidFill>
                </a:ln>
              </p:spPr>
              <p:txBody>
                <a:bodyPr/>
                <a:p/>
              </p:txBody>
            </p:sp>
            <p:sp>
              <p:nvSpPr>
                <p:cNvPr id="23" name="Freeform 23"/>
                <p:cNvSpPr/>
                <p:nvPr/>
              </p:nvSpPr>
              <p:spPr>
                <a:xfrm>
                  <a:off x="1663065" y="2162175"/>
                  <a:ext cx="41910" cy="41910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41910" h="41910">
                      <a:moveTo>
                        <a:pt x="0" y="0"/>
                      </a:moveTo>
                      <a:cubicBezTo>
                        <a:pt x="18509" y="8543"/>
                        <a:pt x="33367" y="23401"/>
                        <a:pt x="41910" y="41910"/>
                      </a:cubicBezTo>
                    </a:path>
                  </a:pathLst>
                </a:custGeom>
                <a:noFill/>
                <a:ln w="19050">
                  <a:solidFill>
                    <a:srgbClr val="1565D8"/>
                  </a:solidFill>
                </a:ln>
              </p:spPr>
              <p:txBody>
                <a:bodyPr/>
                <a:p/>
              </p:txBody>
            </p:sp>
            <p:sp>
              <p:nvSpPr>
                <p:cNvPr id="24" name="Freeform 24"/>
                <p:cNvSpPr/>
                <p:nvPr/>
              </p:nvSpPr>
              <p:spPr>
                <a:xfrm>
                  <a:off x="1724025" y="2238375"/>
                  <a:ext cx="38100" cy="38100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38100" h="38100">
                      <a:moveTo>
                        <a:pt x="0" y="19050"/>
                      </a:moveTo>
                      <a:cubicBezTo>
                        <a:pt x="10521" y="19050"/>
                        <a:pt x="19050" y="27579"/>
                        <a:pt x="19050" y="38100"/>
                      </a:cubicBezTo>
                      <a:cubicBezTo>
                        <a:pt x="19050" y="27579"/>
                        <a:pt x="27579" y="19050"/>
                        <a:pt x="38100" y="19050"/>
                      </a:cubicBezTo>
                      <a:cubicBezTo>
                        <a:pt x="27579" y="19050"/>
                        <a:pt x="19050" y="10521"/>
                        <a:pt x="19050" y="0"/>
                      </a:cubicBezTo>
                      <a:cubicBezTo>
                        <a:pt x="19050" y="10521"/>
                        <a:pt x="10521" y="19050"/>
                        <a:pt x="0" y="19050"/>
                      </a:cubicBezTo>
                    </a:path>
                  </a:pathLst>
                </a:custGeom>
                <a:noFill/>
                <a:ln w="19050">
                  <a:solidFill>
                    <a:srgbClr val="1565D8"/>
                  </a:solidFill>
                </a:ln>
              </p:spPr>
              <p:txBody>
                <a:bodyPr/>
                <a:p/>
              </p:txBody>
            </p:sp>
            <p:sp>
              <p:nvSpPr>
                <p:cNvPr id="25" name="Freeform 25"/>
                <p:cNvSpPr/>
                <p:nvPr/>
              </p:nvSpPr>
              <p:spPr>
                <a:xfrm>
                  <a:off x="1590675" y="2105025"/>
                  <a:ext cx="38100" cy="38100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38100" h="38100">
                      <a:moveTo>
                        <a:pt x="0" y="19050"/>
                      </a:moveTo>
                      <a:cubicBezTo>
                        <a:pt x="10521" y="19050"/>
                        <a:pt x="19050" y="27579"/>
                        <a:pt x="19050" y="38100"/>
                      </a:cubicBezTo>
                      <a:cubicBezTo>
                        <a:pt x="19050" y="27579"/>
                        <a:pt x="27579" y="19050"/>
                        <a:pt x="38100" y="19050"/>
                      </a:cubicBezTo>
                      <a:cubicBezTo>
                        <a:pt x="27579" y="19050"/>
                        <a:pt x="19050" y="10521"/>
                        <a:pt x="19050" y="0"/>
                      </a:cubicBezTo>
                      <a:cubicBezTo>
                        <a:pt x="19050" y="10521"/>
                        <a:pt x="10521" y="19050"/>
                        <a:pt x="0" y="19050"/>
                      </a:cubicBezTo>
                    </a:path>
                  </a:pathLst>
                </a:custGeom>
                <a:noFill/>
                <a:ln w="19050">
                  <a:solidFill>
                    <a:srgbClr val="1565D8"/>
                  </a:solidFill>
                </a:ln>
              </p:spPr>
              <p:txBody>
                <a:bodyPr/>
                <a:p/>
              </p:txBody>
            </p:sp>
          </p:grpSp>
          <p:sp>
            <p:nvSpPr>
              <p:cNvPr id="27" name="TextBox 27"/>
              <p:cNvSpPr txBox="1"/>
              <p:nvPr/>
            </p:nvSpPr>
            <p:spPr>
              <a:xfrm>
                <a:off x="1604320" y="2197418"/>
                <a:ext cx="601361" cy="27432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ctr"/>
                <a:r>
                  <a:rPr lang="zh-CN" sz="1350" b="1" dirty="0">
                    <a:solidFill>
                      <a:srgbClr val="0B4EA2"/>
                    </a:solidFill>
                    <a:latin typeface="Arial"/>
                    <a:ea typeface="Microsoft YaHei"/>
                    <a:cs typeface="Arial"/>
                  </a:rPr>
                  <a:t>能出图</a:t>
                </a:r>
              </a:p>
            </p:txBody>
          </p:sp>
          <p:sp>
            <p:nvSpPr>
              <p:cNvPr id="28" name="TextBox 28"/>
              <p:cNvSpPr txBox="1"/>
              <p:nvPr/>
            </p:nvSpPr>
            <p:spPr>
              <a:xfrm>
                <a:off x="786765" y="2782252"/>
                <a:ext cx="320707" cy="21336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l"/>
                <a:r>
                  <a:rPr lang="zh-CN" sz="1050" b="1" dirty="0">
                    <a:solidFill>
                      <a:srgbClr val="2B3648"/>
                    </a:solidFill>
                    <a:latin typeface="Arial"/>
                    <a:ea typeface="Microsoft YaHei"/>
                    <a:cs typeface="Arial"/>
                  </a:rPr>
                  <a:t>用途</a:t>
                </a:r>
              </a:p>
            </p:txBody>
          </p:sp>
          <p:sp>
            <p:nvSpPr>
              <p:cNvPr id="29" name="TextBox 29"/>
              <p:cNvSpPr txBox="1"/>
              <p:nvPr/>
            </p:nvSpPr>
            <p:spPr>
              <a:xfrm>
                <a:off x="786765" y="3029902"/>
                <a:ext cx="1426845" cy="21336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l"/>
                <a:r>
                  <a:rPr lang="zh-CN" sz="1050" dirty="0">
                    <a:solidFill>
                      <a:srgbClr val="5B6B82"/>
                    </a:solidFill>
                    <a:latin typeface="Arial"/>
                    <a:ea typeface="Microsoft YaHei"/>
                    <a:cs typeface="Arial"/>
                  </a:rPr>
                  <a:t>产品海报 · 活动配图 ·</a:t>
                </a:r>
              </a:p>
            </p:txBody>
          </p:sp>
          <p:sp>
            <p:nvSpPr>
              <p:cNvPr id="30" name="TextBox 30"/>
              <p:cNvSpPr txBox="1"/>
              <p:nvPr/>
            </p:nvSpPr>
            <p:spPr>
              <a:xfrm>
                <a:off x="786765" y="3239452"/>
                <a:ext cx="586740" cy="21336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l"/>
                <a:r>
                  <a:rPr lang="zh-CN" sz="1050" dirty="0">
                    <a:solidFill>
                      <a:srgbClr val="5B6B82"/>
                    </a:solidFill>
                    <a:latin typeface="Arial"/>
                    <a:ea typeface="Microsoft YaHei"/>
                    <a:cs typeface="Arial"/>
                  </a:rPr>
                  <a:t>宣传图</a:t>
                </a:r>
              </a:p>
            </p:txBody>
          </p:sp>
          <p:sp>
            <p:nvSpPr>
              <p:cNvPr id="31" name="TextBox 31"/>
              <p:cNvSpPr txBox="1"/>
              <p:nvPr/>
            </p:nvSpPr>
            <p:spPr>
              <a:xfrm>
                <a:off x="786765" y="3582352"/>
                <a:ext cx="467725" cy="21336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l"/>
                <a:r>
                  <a:rPr lang="zh-CN" sz="1050" b="1" dirty="0">
                    <a:solidFill>
                      <a:srgbClr val="2B3648"/>
                    </a:solidFill>
                    <a:latin typeface="Arial"/>
                    <a:ea typeface="Microsoft YaHei"/>
                    <a:cs typeface="Arial"/>
                  </a:rPr>
                  <a:t>怎么要</a:t>
                </a:r>
              </a:p>
            </p:txBody>
          </p:sp>
          <p:sp>
            <p:nvSpPr>
              <p:cNvPr id="32" name="TextBox 32"/>
              <p:cNvSpPr txBox="1"/>
              <p:nvPr/>
            </p:nvSpPr>
            <p:spPr>
              <a:xfrm>
                <a:off x="786765" y="3830002"/>
                <a:ext cx="1566863" cy="21336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l"/>
                <a:r>
                  <a:rPr lang="zh-CN" sz="1050" dirty="0">
                    <a:solidFill>
                      <a:srgbClr val="5B6B82"/>
                    </a:solidFill>
                    <a:latin typeface="Arial"/>
                    <a:ea typeface="Microsoft YaHei"/>
                    <a:cs typeface="Arial"/>
                  </a:rPr>
                  <a:t>描述清楚：主体 + 风格 +</a:t>
                </a:r>
              </a:p>
            </p:txBody>
          </p:sp>
          <p:sp>
            <p:nvSpPr>
              <p:cNvPr id="33" name="TextBox 33"/>
              <p:cNvSpPr txBox="1"/>
              <p:nvPr/>
            </p:nvSpPr>
            <p:spPr>
              <a:xfrm>
                <a:off x="786765" y="4039552"/>
                <a:ext cx="446722" cy="21336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l"/>
                <a:r>
                  <a:rPr lang="zh-CN" sz="1050" dirty="0">
                    <a:solidFill>
                      <a:srgbClr val="5B6B82"/>
                    </a:solidFill>
                    <a:latin typeface="Arial"/>
                    <a:ea typeface="Microsoft YaHei"/>
                    <a:cs typeface="Arial"/>
                  </a:rPr>
                  <a:t>用途。</a:t>
                </a:r>
              </a:p>
            </p:txBody>
          </p:sp>
          <p:sp>
            <p:nvSpPr>
              <p:cNvPr id="34" name="Rectangle 34"/>
              <p:cNvSpPr/>
              <p:nvPr/>
            </p:nvSpPr>
            <p:spPr>
              <a:xfrm>
                <a:off x="800100" y="4324350"/>
                <a:ext cx="1943100" cy="419100"/>
              </a:xfrm>
              <a:prstGeom prst="roundRect">
                <a:avLst>
                  <a:gd name="adj" fmla="val 36364"/>
                </a:avLst>
              </a:prstGeom>
              <a:solidFill>
                <a:srgbClr val="E9EEF5"/>
              </a:solidFill>
              <a:ln>
                <a:noFill/>
              </a:ln>
            </p:spPr>
            <p:txBody>
              <a:bodyPr/>
              <a:p/>
            </p:txBody>
          </p:sp>
          <p:sp>
            <p:nvSpPr>
              <p:cNvPr id="35" name="TextBox 35"/>
              <p:cNvSpPr txBox="1"/>
              <p:nvPr/>
            </p:nvSpPr>
            <p:spPr>
              <a:xfrm>
                <a:off x="902018" y="4409599"/>
                <a:ext cx="1584960" cy="19812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l"/>
                <a:r>
                  <a:rPr lang="zh-CN" sz="975" dirty="0">
                    <a:solidFill>
                      <a:srgbClr val="2B3648"/>
                    </a:solidFill>
                    <a:latin typeface="Arial"/>
                    <a:ea typeface="Microsoft YaHei"/>
                    <a:cs typeface="Arial"/>
                  </a:rPr>
                  <a:t>「国潮风海报，产品上新，</a:t>
                </a:r>
              </a:p>
            </p:txBody>
          </p:sp>
          <p:sp>
            <p:nvSpPr>
              <p:cNvPr id="36" name="TextBox 36"/>
              <p:cNvSpPr txBox="1"/>
              <p:nvPr/>
            </p:nvSpPr>
            <p:spPr>
              <a:xfrm>
                <a:off x="902018" y="4581049"/>
                <a:ext cx="1227415" cy="19812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l"/>
                <a:r>
                  <a:rPr lang="zh-CN" sz="975" dirty="0">
                    <a:solidFill>
                      <a:srgbClr val="2B3648"/>
                    </a:solidFill>
                    <a:latin typeface="Arial"/>
                    <a:ea typeface="Microsoft YaHei"/>
                    <a:cs typeface="Arial"/>
                  </a:rPr>
                  <a:t>大气」—— 2 分钟出图</a:t>
                </a:r>
              </a:p>
            </p:txBody>
          </p:sp>
          <p:sp>
            <p:nvSpPr>
              <p:cNvPr id="37" name="TextBox 37"/>
              <p:cNvSpPr txBox="1"/>
              <p:nvPr/>
            </p:nvSpPr>
            <p:spPr>
              <a:xfrm>
                <a:off x="786765" y="4992052"/>
                <a:ext cx="2308955" cy="21336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l"/>
                <a:r>
                  <a:rPr lang="zh-CN" sz="1050" dirty="0">
                    <a:solidFill>
                      <a:srgbClr val="8B99AE"/>
                    </a:solidFill>
                    <a:latin typeface="Arial"/>
                    <a:ea typeface="Microsoft YaHei"/>
                    <a:cs typeface="Arial"/>
                  </a:rPr>
                  <a:t>工具：即梦 AI / 可灵（有免费额度）</a:t>
                </a:r>
              </a:p>
            </p:txBody>
          </p:sp>
        </p:grpSp>
        <p:grpSp>
          <p:nvGrpSpPr>
            <p:cNvPr id="56" name="Group 56"/>
            <p:cNvGrpSpPr/>
            <p:nvPr/>
          </p:nvGrpSpPr>
          <p:grpSpPr>
            <a:xfrm>
              <a:off x="3124200" y="1943100"/>
              <a:ext cx="2400300" cy="3390900"/>
              <a:chOff x="3124200" y="1943100"/>
              <a:chExt cx="2400300" cy="3390900"/>
            </a:xfrm>
          </p:grpSpPr>
          <p:sp>
            <p:nvSpPr>
              <p:cNvPr id="39" name="Rectangle 39"/>
              <p:cNvSpPr/>
              <p:nvPr/>
            </p:nvSpPr>
            <p:spPr>
              <a:xfrm>
                <a:off x="3124200" y="1943100"/>
                <a:ext cx="2400300" cy="3390900"/>
              </a:xfrm>
              <a:prstGeom prst="roundRect">
                <a:avLst>
                  <a:gd name="adj" fmla="val 6349"/>
                </a:avLst>
              </a:prstGeom>
              <a:solidFill>
                <a:srgbClr val="FFFFFF"/>
              </a:solidFill>
              <a:ln w="9525">
                <a:solidFill>
                  <a:srgbClr val="D8E1EC"/>
                </a:solidFill>
              </a:ln>
            </p:spPr>
            <p:txBody>
              <a:bodyPr/>
              <a:p/>
            </p:txBody>
          </p:sp>
          <p:sp>
            <p:nvSpPr>
              <p:cNvPr id="40" name="Rectangle 40"/>
              <p:cNvSpPr/>
              <p:nvPr/>
            </p:nvSpPr>
            <p:spPr>
              <a:xfrm>
                <a:off x="3124200" y="1943100"/>
                <a:ext cx="2400300" cy="609600"/>
              </a:xfrm>
              <a:prstGeom prst="roundRect">
                <a:avLst>
                  <a:gd name="adj" fmla="val 25000"/>
                </a:avLst>
              </a:prstGeom>
              <a:solidFill>
                <a:srgbClr val="D6E6F9"/>
              </a:solidFill>
              <a:ln>
                <a:noFill/>
              </a:ln>
            </p:spPr>
            <p:txBody>
              <a:bodyPr/>
              <a:p/>
            </p:txBody>
          </p:sp>
          <p:sp>
            <p:nvSpPr>
              <p:cNvPr id="41" name="Rectangle 41"/>
              <p:cNvSpPr/>
              <p:nvPr/>
            </p:nvSpPr>
            <p:spPr>
              <a:xfrm>
                <a:off x="3124200" y="2247900"/>
                <a:ext cx="2400300" cy="304800"/>
              </a:xfrm>
              <a:prstGeom prst="rect">
                <a:avLst/>
              </a:prstGeom>
              <a:solidFill>
                <a:srgbClr val="D6E6F9"/>
              </a:solidFill>
              <a:ln>
                <a:noFill/>
              </a:ln>
            </p:spPr>
            <p:txBody>
              <a:bodyPr/>
              <a:p/>
            </p:txBody>
          </p:sp>
          <p:grpSp>
            <p:nvGrpSpPr>
              <p:cNvPr id="44" name="Group 44"/>
              <p:cNvGrpSpPr/>
              <p:nvPr/>
            </p:nvGrpSpPr>
            <p:grpSpPr>
              <a:xfrm>
                <a:off x="4143375" y="2133600"/>
                <a:ext cx="171450" cy="114300"/>
                <a:chOff x="4143375" y="2133600"/>
                <a:chExt cx="171450" cy="114300"/>
              </a:xfrm>
            </p:grpSpPr>
            <p:sp>
              <p:nvSpPr>
                <p:cNvPr id="42" name="Freeform 42"/>
                <p:cNvSpPr/>
                <p:nvPr/>
              </p:nvSpPr>
              <p:spPr>
                <a:xfrm>
                  <a:off x="4257675" y="2148546"/>
                  <a:ext cx="57150" cy="84408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57150" h="84408">
                      <a:moveTo>
                        <a:pt x="0" y="23154"/>
                      </a:moveTo>
                      <a:lnTo>
                        <a:pt x="43367" y="1475"/>
                      </a:lnTo>
                      <a:cubicBezTo>
                        <a:pt x="46319" y="0"/>
                        <a:pt x="49824" y="158"/>
                        <a:pt x="52631" y="1892"/>
                      </a:cubicBezTo>
                      <a:cubicBezTo>
                        <a:pt x="55439" y="3627"/>
                        <a:pt x="57148" y="6691"/>
                        <a:pt x="57150" y="9990"/>
                      </a:cubicBezTo>
                      <a:lnTo>
                        <a:pt x="57150" y="74417"/>
                      </a:lnTo>
                      <a:cubicBezTo>
                        <a:pt x="57148" y="77717"/>
                        <a:pt x="55439" y="80781"/>
                        <a:pt x="52631" y="82516"/>
                      </a:cubicBezTo>
                      <a:cubicBezTo>
                        <a:pt x="49824" y="84250"/>
                        <a:pt x="46319" y="84408"/>
                        <a:pt x="43367" y="82933"/>
                      </a:cubicBezTo>
                      <a:lnTo>
                        <a:pt x="0" y="61254"/>
                      </a:lnTo>
                      <a:lnTo>
                        <a:pt x="0" y="23154"/>
                      </a:lnTo>
                    </a:path>
                  </a:pathLst>
                </a:custGeom>
                <a:noFill/>
                <a:ln w="19050">
                  <a:solidFill>
                    <a:srgbClr val="1565D8"/>
                  </a:solidFill>
                </a:ln>
              </p:spPr>
              <p:txBody>
                <a:bodyPr/>
                <a:p/>
              </p:txBody>
            </p:sp>
            <p:sp>
              <p:nvSpPr>
                <p:cNvPr id="43" name="Freeform 43"/>
                <p:cNvSpPr/>
                <p:nvPr/>
              </p:nvSpPr>
              <p:spPr>
                <a:xfrm>
                  <a:off x="4143375" y="2133600"/>
                  <a:ext cx="114300" cy="114300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114300" h="114300">
                      <a:moveTo>
                        <a:pt x="0" y="19050"/>
                      </a:moveTo>
                      <a:cubicBezTo>
                        <a:pt x="0" y="8529"/>
                        <a:pt x="8529" y="0"/>
                        <a:pt x="19050" y="0"/>
                      </a:cubicBezTo>
                      <a:lnTo>
                        <a:pt x="95250" y="0"/>
                      </a:lnTo>
                      <a:cubicBezTo>
                        <a:pt x="105771" y="0"/>
                        <a:pt x="114300" y="8529"/>
                        <a:pt x="114300" y="19050"/>
                      </a:cubicBezTo>
                      <a:lnTo>
                        <a:pt x="114300" y="95250"/>
                      </a:lnTo>
                      <a:cubicBezTo>
                        <a:pt x="114300" y="105771"/>
                        <a:pt x="105771" y="114300"/>
                        <a:pt x="95250" y="114300"/>
                      </a:cubicBezTo>
                      <a:lnTo>
                        <a:pt x="19050" y="114300"/>
                      </a:lnTo>
                      <a:cubicBezTo>
                        <a:pt x="8529" y="114300"/>
                        <a:pt x="0" y="105771"/>
                        <a:pt x="0" y="95250"/>
                      </a:cubicBezTo>
                      <a:lnTo>
                        <a:pt x="0" y="19050"/>
                      </a:lnTo>
                    </a:path>
                  </a:pathLst>
                </a:custGeom>
                <a:noFill/>
                <a:ln w="19050">
                  <a:solidFill>
                    <a:srgbClr val="1565D8"/>
                  </a:solidFill>
                </a:ln>
              </p:spPr>
              <p:txBody>
                <a:bodyPr/>
                <a:p/>
              </p:txBody>
            </p:sp>
          </p:grpSp>
          <p:sp>
            <p:nvSpPr>
              <p:cNvPr id="45" name="TextBox 45"/>
              <p:cNvSpPr txBox="1"/>
              <p:nvPr/>
            </p:nvSpPr>
            <p:spPr>
              <a:xfrm>
                <a:off x="4062508" y="2197418"/>
                <a:ext cx="790384" cy="27432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ctr"/>
                <a:r>
                  <a:rPr lang="zh-CN" sz="1350" b="1" dirty="0">
                    <a:solidFill>
                      <a:srgbClr val="0B4EA2"/>
                    </a:solidFill>
                    <a:latin typeface="Arial"/>
                    <a:ea typeface="Microsoft YaHei"/>
                    <a:cs typeface="Arial"/>
                  </a:rPr>
                  <a:t>能出视频</a:t>
                </a:r>
              </a:p>
            </p:txBody>
          </p:sp>
          <p:sp>
            <p:nvSpPr>
              <p:cNvPr id="46" name="TextBox 46"/>
              <p:cNvSpPr txBox="1"/>
              <p:nvPr/>
            </p:nvSpPr>
            <p:spPr>
              <a:xfrm>
                <a:off x="3339465" y="2782252"/>
                <a:ext cx="320707" cy="21336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l"/>
                <a:r>
                  <a:rPr lang="zh-CN" sz="1050" b="1" dirty="0">
                    <a:solidFill>
                      <a:srgbClr val="2B3648"/>
                    </a:solidFill>
                    <a:latin typeface="Arial"/>
                    <a:ea typeface="Microsoft YaHei"/>
                    <a:cs typeface="Arial"/>
                  </a:rPr>
                  <a:t>用途</a:t>
                </a:r>
              </a:p>
            </p:txBody>
          </p:sp>
          <p:sp>
            <p:nvSpPr>
              <p:cNvPr id="47" name="TextBox 47"/>
              <p:cNvSpPr txBox="1"/>
              <p:nvPr/>
            </p:nvSpPr>
            <p:spPr>
              <a:xfrm>
                <a:off x="3339465" y="3029902"/>
                <a:ext cx="1566863" cy="21336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l"/>
                <a:r>
                  <a:rPr lang="zh-CN" sz="1050" dirty="0">
                    <a:solidFill>
                      <a:srgbClr val="5B6B82"/>
                    </a:solidFill>
                    <a:latin typeface="Arial"/>
                    <a:ea typeface="Microsoft YaHei"/>
                    <a:cs typeface="Arial"/>
                  </a:rPr>
                  <a:t>产品预告 · 活动短视频 ·</a:t>
                </a:r>
              </a:p>
            </p:txBody>
          </p:sp>
          <p:sp>
            <p:nvSpPr>
              <p:cNvPr id="48" name="TextBox 48"/>
              <p:cNvSpPr txBox="1"/>
              <p:nvPr/>
            </p:nvSpPr>
            <p:spPr>
              <a:xfrm>
                <a:off x="3339465" y="3239452"/>
                <a:ext cx="586740" cy="21336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l"/>
                <a:r>
                  <a:rPr lang="zh-CN" sz="1050" dirty="0">
                    <a:solidFill>
                      <a:srgbClr val="5B6B82"/>
                    </a:solidFill>
                    <a:latin typeface="Arial"/>
                    <a:ea typeface="Microsoft YaHei"/>
                    <a:cs typeface="Arial"/>
                  </a:rPr>
                  <a:t>知识动画</a:t>
                </a:r>
              </a:p>
            </p:txBody>
          </p:sp>
          <p:sp>
            <p:nvSpPr>
              <p:cNvPr id="49" name="TextBox 49"/>
              <p:cNvSpPr txBox="1"/>
              <p:nvPr/>
            </p:nvSpPr>
            <p:spPr>
              <a:xfrm>
                <a:off x="3339465" y="3582352"/>
                <a:ext cx="467725" cy="21336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l"/>
                <a:r>
                  <a:rPr lang="zh-CN" sz="1050" b="1" dirty="0">
                    <a:solidFill>
                      <a:srgbClr val="2B3648"/>
                    </a:solidFill>
                    <a:latin typeface="Arial"/>
                    <a:ea typeface="Microsoft YaHei"/>
                    <a:cs typeface="Arial"/>
                  </a:rPr>
                  <a:t>怎么要</a:t>
                </a:r>
              </a:p>
            </p:txBody>
          </p:sp>
          <p:sp>
            <p:nvSpPr>
              <p:cNvPr id="50" name="TextBox 50"/>
              <p:cNvSpPr txBox="1"/>
              <p:nvPr/>
            </p:nvSpPr>
            <p:spPr>
              <a:xfrm>
                <a:off x="3339465" y="3830002"/>
                <a:ext cx="1307830" cy="21336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l"/>
                <a:r>
                  <a:rPr lang="zh-CN" sz="1050" dirty="0">
                    <a:solidFill>
                      <a:srgbClr val="5B6B82"/>
                    </a:solidFill>
                    <a:latin typeface="Arial"/>
                    <a:ea typeface="Microsoft YaHei"/>
                    <a:cs typeface="Arial"/>
                  </a:rPr>
                  <a:t>一句描述 + 一张图，</a:t>
                </a:r>
              </a:p>
            </p:txBody>
          </p:sp>
          <p:sp>
            <p:nvSpPr>
              <p:cNvPr id="51" name="TextBox 51"/>
              <p:cNvSpPr txBox="1"/>
              <p:nvPr/>
            </p:nvSpPr>
            <p:spPr>
              <a:xfrm>
                <a:off x="3339465" y="4039552"/>
                <a:ext cx="1258824" cy="21336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l"/>
                <a:r>
                  <a:rPr lang="zh-CN" sz="1050" dirty="0">
                    <a:solidFill>
                      <a:srgbClr val="5B6B82"/>
                    </a:solidFill>
                    <a:latin typeface="Arial"/>
                    <a:ea typeface="Microsoft YaHei"/>
                    <a:cs typeface="Arial"/>
                  </a:rPr>
                  <a:t>生成 5-15 秒短片。</a:t>
                </a:r>
              </a:p>
            </p:txBody>
          </p:sp>
          <p:sp>
            <p:nvSpPr>
              <p:cNvPr id="52" name="Rectangle 52"/>
              <p:cNvSpPr/>
              <p:nvPr/>
            </p:nvSpPr>
            <p:spPr>
              <a:xfrm>
                <a:off x="3352800" y="4324350"/>
                <a:ext cx="1943100" cy="419100"/>
              </a:xfrm>
              <a:prstGeom prst="roundRect">
                <a:avLst>
                  <a:gd name="adj" fmla="val 36364"/>
                </a:avLst>
              </a:prstGeom>
              <a:solidFill>
                <a:srgbClr val="E9EEF5"/>
              </a:solidFill>
              <a:ln>
                <a:noFill/>
              </a:ln>
            </p:spPr>
            <p:txBody>
              <a:bodyPr/>
              <a:p/>
            </p:txBody>
          </p:sp>
          <p:sp>
            <p:nvSpPr>
              <p:cNvPr id="53" name="TextBox 53"/>
              <p:cNvSpPr txBox="1"/>
              <p:nvPr/>
            </p:nvSpPr>
            <p:spPr>
              <a:xfrm>
                <a:off x="3454718" y="4409599"/>
                <a:ext cx="804862" cy="19812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l"/>
                <a:r>
                  <a:rPr lang="zh-CN" sz="975" dirty="0">
                    <a:solidFill>
                      <a:srgbClr val="2B3648"/>
                    </a:solidFill>
                    <a:latin typeface="Arial"/>
                    <a:ea typeface="Microsoft YaHei"/>
                    <a:cs typeface="Arial"/>
                  </a:rPr>
                  <a:t>模板化为主，</a:t>
                </a:r>
              </a:p>
            </p:txBody>
          </p:sp>
          <p:sp>
            <p:nvSpPr>
              <p:cNvPr id="54" name="TextBox 54"/>
              <p:cNvSpPr txBox="1"/>
              <p:nvPr/>
            </p:nvSpPr>
            <p:spPr>
              <a:xfrm>
                <a:off x="3454718" y="4581049"/>
                <a:ext cx="934879" cy="19812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l"/>
                <a:r>
                  <a:rPr lang="zh-CN" sz="975" dirty="0">
                    <a:solidFill>
                      <a:srgbClr val="2B3648"/>
                    </a:solidFill>
                    <a:latin typeface="Arial"/>
                    <a:ea typeface="Microsoft YaHei"/>
                    <a:cs typeface="Arial"/>
                  </a:rPr>
                  <a:t>别指望大片效果</a:t>
                </a:r>
              </a:p>
            </p:txBody>
          </p:sp>
          <p:sp>
            <p:nvSpPr>
              <p:cNvPr id="55" name="TextBox 55"/>
              <p:cNvSpPr txBox="1"/>
              <p:nvPr/>
            </p:nvSpPr>
            <p:spPr>
              <a:xfrm>
                <a:off x="3339465" y="4992052"/>
                <a:ext cx="1601867" cy="21336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l"/>
                <a:r>
                  <a:rPr lang="zh-CN" sz="1050" dirty="0">
                    <a:solidFill>
                      <a:srgbClr val="8B99AE"/>
                    </a:solidFill>
                    <a:latin typeface="Arial"/>
                    <a:ea typeface="Microsoft YaHei"/>
                    <a:cs typeface="Arial"/>
                  </a:rPr>
                  <a:t>工具：可灵 / 即梦 / Vidu</a:t>
                </a:r>
              </a:p>
            </p:txBody>
          </p:sp>
        </p:grpSp>
        <p:grpSp>
          <p:nvGrpSpPr>
            <p:cNvPr id="76" name="Group 76"/>
            <p:cNvGrpSpPr/>
            <p:nvPr/>
          </p:nvGrpSpPr>
          <p:grpSpPr>
            <a:xfrm>
              <a:off x="5676900" y="1943100"/>
              <a:ext cx="2400300" cy="3390900"/>
              <a:chOff x="5676900" y="1943100"/>
              <a:chExt cx="2400300" cy="3390900"/>
            </a:xfrm>
          </p:grpSpPr>
          <p:sp>
            <p:nvSpPr>
              <p:cNvPr id="57" name="Rectangle 57"/>
              <p:cNvSpPr/>
              <p:nvPr/>
            </p:nvSpPr>
            <p:spPr>
              <a:xfrm>
                <a:off x="5676900" y="1943100"/>
                <a:ext cx="2400300" cy="3390900"/>
              </a:xfrm>
              <a:prstGeom prst="roundRect">
                <a:avLst>
                  <a:gd name="adj" fmla="val 6349"/>
                </a:avLst>
              </a:prstGeom>
              <a:solidFill>
                <a:srgbClr val="FFFFFF"/>
              </a:solidFill>
              <a:ln w="9525">
                <a:solidFill>
                  <a:srgbClr val="D8E1EC"/>
                </a:solidFill>
              </a:ln>
            </p:spPr>
            <p:txBody>
              <a:bodyPr/>
              <a:p/>
            </p:txBody>
          </p:sp>
          <p:sp>
            <p:nvSpPr>
              <p:cNvPr id="58" name="Rectangle 58"/>
              <p:cNvSpPr/>
              <p:nvPr/>
            </p:nvSpPr>
            <p:spPr>
              <a:xfrm>
                <a:off x="5676900" y="1943100"/>
                <a:ext cx="2400300" cy="609600"/>
              </a:xfrm>
              <a:prstGeom prst="roundRect">
                <a:avLst>
                  <a:gd name="adj" fmla="val 25000"/>
                </a:avLst>
              </a:prstGeom>
              <a:solidFill>
                <a:srgbClr val="D6E6F9"/>
              </a:solidFill>
              <a:ln>
                <a:noFill/>
              </a:ln>
            </p:spPr>
            <p:txBody>
              <a:bodyPr/>
              <a:p/>
            </p:txBody>
          </p:sp>
          <p:sp>
            <p:nvSpPr>
              <p:cNvPr id="59" name="Rectangle 59"/>
              <p:cNvSpPr/>
              <p:nvPr/>
            </p:nvSpPr>
            <p:spPr>
              <a:xfrm>
                <a:off x="5676900" y="2247900"/>
                <a:ext cx="2400300" cy="304800"/>
              </a:xfrm>
              <a:prstGeom prst="rect">
                <a:avLst/>
              </a:prstGeom>
              <a:solidFill>
                <a:srgbClr val="D6E6F9"/>
              </a:solidFill>
              <a:ln>
                <a:noFill/>
              </a:ln>
            </p:spPr>
            <p:txBody>
              <a:bodyPr/>
              <a:p/>
            </p:txBody>
          </p:sp>
          <p:grpSp>
            <p:nvGrpSpPr>
              <p:cNvPr id="64" name="Group 64"/>
              <p:cNvGrpSpPr/>
              <p:nvPr/>
            </p:nvGrpSpPr>
            <p:grpSpPr>
              <a:xfrm>
                <a:off x="6696075" y="2114550"/>
                <a:ext cx="152400" cy="152400"/>
                <a:chOff x="6696075" y="2114550"/>
                <a:chExt cx="152400" cy="152400"/>
              </a:xfrm>
            </p:grpSpPr>
            <p:sp>
              <p:nvSpPr>
                <p:cNvPr id="60" name="Freeform 60"/>
                <p:cNvSpPr/>
                <p:nvPr/>
              </p:nvSpPr>
              <p:spPr>
                <a:xfrm>
                  <a:off x="6696075" y="2209800"/>
                  <a:ext cx="57150" cy="57150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57150" h="57150">
                      <a:moveTo>
                        <a:pt x="0" y="28575"/>
                      </a:moveTo>
                      <a:cubicBezTo>
                        <a:pt x="0" y="44357"/>
                        <a:pt x="12793" y="57150"/>
                        <a:pt x="28575" y="57150"/>
                      </a:cubicBezTo>
                      <a:cubicBezTo>
                        <a:pt x="44357" y="57150"/>
                        <a:pt x="57150" y="44357"/>
                        <a:pt x="57150" y="28575"/>
                      </a:cubicBezTo>
                      <a:cubicBezTo>
                        <a:pt x="57150" y="12793"/>
                        <a:pt x="44357" y="0"/>
                        <a:pt x="28575" y="0"/>
                      </a:cubicBezTo>
                      <a:cubicBezTo>
                        <a:pt x="12793" y="0"/>
                        <a:pt x="0" y="12793"/>
                        <a:pt x="0" y="28575"/>
                      </a:cubicBezTo>
                    </a:path>
                  </a:pathLst>
                </a:custGeom>
                <a:noFill/>
                <a:ln w="19050">
                  <a:solidFill>
                    <a:srgbClr val="1565D8"/>
                  </a:solidFill>
                </a:ln>
              </p:spPr>
              <p:txBody>
                <a:bodyPr/>
                <a:p/>
              </p:txBody>
            </p:sp>
            <p:sp>
              <p:nvSpPr>
                <p:cNvPr id="61" name="Freeform 61"/>
                <p:cNvSpPr/>
                <p:nvPr/>
              </p:nvSpPr>
              <p:spPr>
                <a:xfrm>
                  <a:off x="6791325" y="2209800"/>
                  <a:ext cx="57150" cy="57150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57150" h="57150">
                      <a:moveTo>
                        <a:pt x="0" y="28575"/>
                      </a:moveTo>
                      <a:cubicBezTo>
                        <a:pt x="0" y="44357"/>
                        <a:pt x="12793" y="57150"/>
                        <a:pt x="28575" y="57150"/>
                      </a:cubicBezTo>
                      <a:cubicBezTo>
                        <a:pt x="44357" y="57150"/>
                        <a:pt x="57150" y="44357"/>
                        <a:pt x="57150" y="28575"/>
                      </a:cubicBezTo>
                      <a:cubicBezTo>
                        <a:pt x="57150" y="12793"/>
                        <a:pt x="44357" y="0"/>
                        <a:pt x="28575" y="0"/>
                      </a:cubicBezTo>
                      <a:cubicBezTo>
                        <a:pt x="12793" y="0"/>
                        <a:pt x="0" y="12793"/>
                        <a:pt x="0" y="28575"/>
                      </a:cubicBezTo>
                    </a:path>
                  </a:pathLst>
                </a:custGeom>
                <a:noFill/>
                <a:ln w="19050">
                  <a:solidFill>
                    <a:srgbClr val="1565D8"/>
                  </a:solidFill>
                </a:ln>
              </p:spPr>
              <p:txBody>
                <a:bodyPr/>
                <a:p/>
              </p:txBody>
            </p:sp>
            <p:sp>
              <p:nvSpPr>
                <p:cNvPr id="62" name="Freeform 62"/>
                <p:cNvSpPr/>
                <p:nvPr/>
              </p:nvSpPr>
              <p:spPr>
                <a:xfrm>
                  <a:off x="6753225" y="2114550"/>
                  <a:ext cx="95250" cy="123825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95250" h="123825">
                      <a:moveTo>
                        <a:pt x="0" y="123825"/>
                      </a:moveTo>
                      <a:lnTo>
                        <a:pt x="0" y="0"/>
                      </a:lnTo>
                      <a:lnTo>
                        <a:pt x="95250" y="0"/>
                      </a:lnTo>
                      <a:lnTo>
                        <a:pt x="95250" y="123825"/>
                      </a:lnTo>
                    </a:path>
                  </a:pathLst>
                </a:custGeom>
                <a:noFill/>
                <a:ln w="19050">
                  <a:solidFill>
                    <a:srgbClr val="1565D8"/>
                  </a:solidFill>
                </a:ln>
              </p:spPr>
              <p:txBody>
                <a:bodyPr/>
                <a:p/>
              </p:txBody>
            </p:sp>
            <p:sp>
              <p:nvSpPr>
                <p:cNvPr id="63" name="Freeform 63"/>
                <p:cNvSpPr/>
                <p:nvPr/>
              </p:nvSpPr>
              <p:spPr>
                <a:xfrm>
                  <a:off x="6753225" y="2152650"/>
                  <a:ext cx="95250" cy="9525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95250" h="9525">
                      <a:moveTo>
                        <a:pt x="0" y="0"/>
                      </a:moveTo>
                      <a:lnTo>
                        <a:pt x="95250" y="0"/>
                      </a:lnTo>
                    </a:path>
                  </a:pathLst>
                </a:custGeom>
                <a:noFill/>
                <a:ln w="19050">
                  <a:solidFill>
                    <a:srgbClr val="1565D8"/>
                  </a:solidFill>
                </a:ln>
              </p:spPr>
              <p:txBody>
                <a:bodyPr/>
                <a:p/>
              </p:txBody>
            </p:sp>
          </p:grpSp>
          <p:sp>
            <p:nvSpPr>
              <p:cNvPr id="65" name="TextBox 65"/>
              <p:cNvSpPr txBox="1"/>
              <p:nvPr/>
            </p:nvSpPr>
            <p:spPr>
              <a:xfrm>
                <a:off x="6615208" y="2197418"/>
                <a:ext cx="790384" cy="27432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ctr"/>
                <a:r>
                  <a:rPr lang="zh-CN" sz="1350" b="1" dirty="0">
                    <a:solidFill>
                      <a:srgbClr val="0B4EA2"/>
                    </a:solidFill>
                    <a:latin typeface="Arial"/>
                    <a:ea typeface="Microsoft YaHei"/>
                    <a:cs typeface="Arial"/>
                  </a:rPr>
                  <a:t>能出声音</a:t>
                </a:r>
              </a:p>
            </p:txBody>
          </p:sp>
          <p:sp>
            <p:nvSpPr>
              <p:cNvPr id="66" name="TextBox 66"/>
              <p:cNvSpPr txBox="1"/>
              <p:nvPr/>
            </p:nvSpPr>
            <p:spPr>
              <a:xfrm>
                <a:off x="5892165" y="2782252"/>
                <a:ext cx="320707" cy="21336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l"/>
                <a:r>
                  <a:rPr lang="zh-CN" sz="1050" b="1" dirty="0">
                    <a:solidFill>
                      <a:srgbClr val="2B3648"/>
                    </a:solidFill>
                    <a:latin typeface="Arial"/>
                    <a:ea typeface="Microsoft YaHei"/>
                    <a:cs typeface="Arial"/>
                  </a:rPr>
                  <a:t>用途</a:t>
                </a:r>
              </a:p>
            </p:txBody>
          </p:sp>
          <p:sp>
            <p:nvSpPr>
              <p:cNvPr id="67" name="TextBox 67"/>
              <p:cNvSpPr txBox="1"/>
              <p:nvPr/>
            </p:nvSpPr>
            <p:spPr>
              <a:xfrm>
                <a:off x="5892165" y="3029902"/>
                <a:ext cx="1307830" cy="21336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l"/>
                <a:r>
                  <a:rPr lang="zh-CN" sz="1050" dirty="0">
                    <a:solidFill>
                      <a:srgbClr val="5B6B82"/>
                    </a:solidFill>
                    <a:latin typeface="Arial"/>
                    <a:ea typeface="Microsoft YaHei"/>
                    <a:cs typeface="Arial"/>
                  </a:rPr>
                  <a:t>AI 配音 · 音频课件 ·</a:t>
                </a:r>
              </a:p>
            </p:txBody>
          </p:sp>
          <p:sp>
            <p:nvSpPr>
              <p:cNvPr id="68" name="TextBox 68"/>
              <p:cNvSpPr txBox="1"/>
              <p:nvPr/>
            </p:nvSpPr>
            <p:spPr>
              <a:xfrm>
                <a:off x="5892165" y="3239452"/>
                <a:ext cx="446722" cy="21336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l"/>
                <a:r>
                  <a:rPr lang="zh-CN" sz="1050" dirty="0">
                    <a:solidFill>
                      <a:srgbClr val="5B6B82"/>
                    </a:solidFill>
                    <a:latin typeface="Arial"/>
                    <a:ea typeface="Microsoft YaHei"/>
                    <a:cs typeface="Arial"/>
                  </a:rPr>
                  <a:t>朗读稿</a:t>
                </a:r>
              </a:p>
            </p:txBody>
          </p:sp>
          <p:sp>
            <p:nvSpPr>
              <p:cNvPr id="69" name="TextBox 69"/>
              <p:cNvSpPr txBox="1"/>
              <p:nvPr/>
            </p:nvSpPr>
            <p:spPr>
              <a:xfrm>
                <a:off x="5892165" y="3582352"/>
                <a:ext cx="467725" cy="21336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l"/>
                <a:r>
                  <a:rPr lang="zh-CN" sz="1050" b="1" dirty="0">
                    <a:solidFill>
                      <a:srgbClr val="2B3648"/>
                    </a:solidFill>
                    <a:latin typeface="Arial"/>
                    <a:ea typeface="Microsoft YaHei"/>
                    <a:cs typeface="Arial"/>
                  </a:rPr>
                  <a:t>怎么要</a:t>
                </a:r>
              </a:p>
            </p:txBody>
          </p:sp>
          <p:sp>
            <p:nvSpPr>
              <p:cNvPr id="70" name="TextBox 70"/>
              <p:cNvSpPr txBox="1"/>
              <p:nvPr/>
            </p:nvSpPr>
            <p:spPr>
              <a:xfrm>
                <a:off x="5892165" y="3830002"/>
                <a:ext cx="1426845" cy="21336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l"/>
                <a:r>
                  <a:rPr lang="zh-CN" sz="1050" dirty="0">
                    <a:solidFill>
                      <a:srgbClr val="5B6B82"/>
                    </a:solidFill>
                    <a:latin typeface="Arial"/>
                    <a:ea typeface="Microsoft YaHei"/>
                    <a:cs typeface="Arial"/>
                  </a:rPr>
                  <a:t>粘贴朗读稿，选音色，</a:t>
                </a:r>
              </a:p>
            </p:txBody>
          </p:sp>
          <p:sp>
            <p:nvSpPr>
              <p:cNvPr id="71" name="TextBox 71"/>
              <p:cNvSpPr txBox="1"/>
              <p:nvPr/>
            </p:nvSpPr>
            <p:spPr>
              <a:xfrm>
                <a:off x="5892165" y="4039552"/>
                <a:ext cx="866775" cy="21336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l"/>
                <a:r>
                  <a:rPr lang="zh-CN" sz="1050" dirty="0">
                    <a:solidFill>
                      <a:srgbClr val="5B6B82"/>
                    </a:solidFill>
                    <a:latin typeface="Arial"/>
                    <a:ea typeface="Microsoft YaHei"/>
                    <a:cs typeface="Arial"/>
                  </a:rPr>
                  <a:t>直接出音频。</a:t>
                </a:r>
              </a:p>
            </p:txBody>
          </p:sp>
          <p:sp>
            <p:nvSpPr>
              <p:cNvPr id="72" name="Rectangle 72"/>
              <p:cNvSpPr/>
              <p:nvPr/>
            </p:nvSpPr>
            <p:spPr>
              <a:xfrm>
                <a:off x="5905500" y="4324350"/>
                <a:ext cx="1943100" cy="419100"/>
              </a:xfrm>
              <a:prstGeom prst="roundRect">
                <a:avLst>
                  <a:gd name="adj" fmla="val 36364"/>
                </a:avLst>
              </a:prstGeom>
              <a:solidFill>
                <a:srgbClr val="E9EEF5"/>
              </a:solidFill>
              <a:ln>
                <a:noFill/>
              </a:ln>
            </p:spPr>
            <p:txBody>
              <a:bodyPr/>
              <a:p/>
            </p:txBody>
          </p:sp>
          <p:sp>
            <p:nvSpPr>
              <p:cNvPr id="73" name="TextBox 73"/>
              <p:cNvSpPr txBox="1"/>
              <p:nvPr/>
            </p:nvSpPr>
            <p:spPr>
              <a:xfrm>
                <a:off x="6007418" y="4409599"/>
                <a:ext cx="1064895" cy="19812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l"/>
                <a:r>
                  <a:rPr lang="zh-CN" sz="975" dirty="0">
                    <a:solidFill>
                      <a:srgbClr val="2B3648"/>
                    </a:solidFill>
                    <a:latin typeface="Arial"/>
                    <a:ea typeface="Microsoft YaHei"/>
                    <a:cs typeface="Arial"/>
                  </a:rPr>
                  <a:t>产品、通知配音，</a:t>
                </a:r>
              </a:p>
            </p:txBody>
          </p:sp>
          <p:sp>
            <p:nvSpPr>
              <p:cNvPr id="74" name="TextBox 74"/>
              <p:cNvSpPr txBox="1"/>
              <p:nvPr/>
            </p:nvSpPr>
            <p:spPr>
              <a:xfrm>
                <a:off x="6007418" y="4581049"/>
                <a:ext cx="674846" cy="19812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l"/>
                <a:r>
                  <a:rPr lang="zh-CN" sz="975" dirty="0">
                    <a:solidFill>
                      <a:srgbClr val="2B3648"/>
                    </a:solidFill>
                    <a:latin typeface="Arial"/>
                    <a:ea typeface="Microsoft YaHei"/>
                    <a:cs typeface="Arial"/>
                  </a:rPr>
                  <a:t>省下录音棚</a:t>
                </a:r>
              </a:p>
            </p:txBody>
          </p:sp>
          <p:sp>
            <p:nvSpPr>
              <p:cNvPr id="75" name="TextBox 75"/>
              <p:cNvSpPr txBox="1"/>
              <p:nvPr/>
            </p:nvSpPr>
            <p:spPr>
              <a:xfrm>
                <a:off x="5892165" y="4992052"/>
                <a:ext cx="1447848" cy="21336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l"/>
                <a:r>
                  <a:rPr lang="zh-CN" sz="1050" dirty="0">
                    <a:solidFill>
                      <a:srgbClr val="8B99AE"/>
                    </a:solidFill>
                    <a:latin typeface="Arial"/>
                    <a:ea typeface="Microsoft YaHei"/>
                    <a:cs typeface="Arial"/>
                  </a:rPr>
                  <a:t>工具：讯飞配音 / 剪映</a:t>
                </a:r>
              </a:p>
            </p:txBody>
          </p:sp>
        </p:grpSp>
      </p:grpSp>
      <p:grpSp>
        <p:nvGrpSpPr>
          <p:cNvPr id="79" name="Group 79"/>
          <p:cNvGrpSpPr/>
          <p:nvPr/>
        </p:nvGrpSpPr>
        <p:grpSpPr>
          <a:xfrm>
            <a:off x="8324850" y="1943100"/>
            <a:ext cx="3295650" cy="3295650"/>
            <a:chOff x="8324850" y="1943100"/>
            <a:chExt cx="3295650" cy="3295650"/>
          </a:xfrm>
        </p:grpSpPr>
        <p:pic>
          <p:nvPicPr>
            <p:cNvPr id="78" name="Image 78"/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8324850" y="1943100"/>
              <a:ext cx="3295650" cy="3295650"/>
            </a:xfrm>
            <a:prstGeom prst="roundRect">
              <a:avLst>
                <a:gd name="adj" fmla="val 4624"/>
              </a:avLst>
            </a:prstGeom>
          </p:spPr>
        </p:pic>
      </p:grpSp>
      <p:grpSp>
        <p:nvGrpSpPr>
          <p:cNvPr id="82" name="Group 82"/>
          <p:cNvGrpSpPr/>
          <p:nvPr/>
        </p:nvGrpSpPr>
        <p:grpSpPr>
          <a:xfrm>
            <a:off x="560070" y="6341745"/>
            <a:ext cx="11071860" cy="182880"/>
            <a:chOff x="560070" y="6341745"/>
            <a:chExt cx="11071860" cy="182880"/>
          </a:xfrm>
        </p:grpSpPr>
        <p:sp>
          <p:nvSpPr>
            <p:cNvPr id="80" name="TextBox 80"/>
            <p:cNvSpPr txBox="1"/>
            <p:nvPr/>
          </p:nvSpPr>
          <p:spPr>
            <a:xfrm>
              <a:off x="560070" y="6341745"/>
              <a:ext cx="1054989" cy="18288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00" dirty="0">
                  <a:solidFill>
                    <a:srgbClr val="8B99AE"/>
                  </a:solidFill>
                  <a:latin typeface="Arial"/>
                  <a:ea typeface="Microsoft YaHei"/>
                  <a:cs typeface="Arial"/>
                </a:rPr>
                <a:t>大模型通识 · 企业版</a:t>
              </a:r>
            </a:p>
          </p:txBody>
        </p:sp>
        <p:sp>
          <p:nvSpPr>
            <p:cNvPr id="81" name="TextBox 81"/>
            <p:cNvSpPr txBox="1"/>
            <p:nvPr/>
          </p:nvSpPr>
          <p:spPr>
            <a:xfrm>
              <a:off x="11207020" y="6341745"/>
              <a:ext cx="424910" cy="18288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r"/>
              <a:r>
                <a:rPr lang="zh-CN" sz="900" dirty="0">
                  <a:solidFill>
                    <a:srgbClr val="8B99AE"/>
                  </a:solidFill>
                  <a:latin typeface="Arial"/>
                  <a:ea typeface="Microsoft YaHei"/>
                  <a:cs typeface="Arial"/>
                </a:rPr>
                <a:t>35 / 51</a:t>
              </a:r>
            </a:p>
          </p:txBody>
        </p:sp>
      </p:grpSp>
    </p:spTree>
  </p:cSld>
  <p:clrMapOvr>
    <a:masterClrMapping/>
  </p:clrMapOvr>
  <p:transition xmlns:p14="http://schemas.microsoft.com/office/powerpoint/2010/main" p14:dur="400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entr" presetSubtype="4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slide(fromBottom)">
                                      <p:cBhvr>
                                        <p:cTn id="7" dur="4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900"/>
                            </p:stCondLst>
                            <p:childTnLst>
                              <p:par>
                                <p:cTn id="9" presetID="23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image">
                                      <p:cBhvr>
                                        <p:cTn id="11" dur="400"/>
                                        <p:tgtEl>
                                          <p:spTgt spid="7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2" fill="hold">
                            <p:stCondLst>
                              <p:cond delay="1800"/>
                            </p:stCondLst>
                            <p:childTnLst>
                              <p:par>
                                <p:cTn id="13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400"/>
                                        <p:tgtEl>
                                          <p:spTgt spid="7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/>
      <p:bldP spid="77" grpId="0"/>
      <p:bldP spid="79" grpId="0"/>
    </p:bldLst>
  </p:timing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9" name="Group 9"/>
          <p:cNvGrpSpPr/>
          <p:nvPr/>
        </p:nvGrpSpPr>
        <p:grpSpPr>
          <a:xfrm>
            <a:off x="-666750" y="-1238250"/>
            <a:ext cx="15144750" cy="10382250"/>
            <a:chOff x="-666750" y="-1238250"/>
            <a:chExt cx="15144750" cy="10382250"/>
          </a:xfrm>
        </p:grpSpPr>
        <p:sp>
          <p:nvSpPr>
            <p:cNvPr id="2" name="Rectangle 2"/>
            <p:cNvSpPr/>
            <p:nvPr/>
          </p:nvSpPr>
          <p:spPr>
            <a:xfrm>
              <a:off x="0" y="0"/>
              <a:ext cx="12192000" cy="6858000"/>
            </a:xfrm>
            <a:prstGeom prst="rect">
              <a:avLst/>
            </a:prstGeom>
            <a:gradFill>
              <a:gsLst>
                <a:gs pos="0">
                  <a:srgbClr val="0B4EA2"/>
                </a:gs>
                <a:gs pos="55000">
                  <a:srgbClr val="1565D8"/>
                </a:gs>
                <a:gs pos="100000">
                  <a:srgbClr val="35A3E8"/>
                </a:gs>
              </a:gsLst>
              <a:lin ang="2700000" scaled="1"/>
            </a:gradFill>
            <a:ln>
              <a:noFill/>
            </a:ln>
          </p:spPr>
          <p:txBody>
            <a:bodyPr/>
            <a:p/>
          </p:txBody>
        </p:sp>
        <p:sp>
          <p:nvSpPr>
            <p:cNvPr id="3" name="Ellipse 3"/>
            <p:cNvSpPr/>
            <p:nvPr/>
          </p:nvSpPr>
          <p:spPr>
            <a:xfrm>
              <a:off x="8382000" y="3048000"/>
              <a:ext cx="6096000" cy="6096000"/>
            </a:xfrm>
            <a:prstGeom prst="ellipse">
              <a:avLst/>
            </a:prstGeom>
            <a:noFill/>
            <a:ln w="14288">
              <a:solidFill>
                <a:srgbClr val="FFFFFF">
                  <a:alpha val="10000"/>
                </a:srgbClr>
              </a:solidFill>
            </a:ln>
          </p:spPr>
          <p:txBody>
            <a:bodyPr/>
            <a:p/>
          </p:txBody>
        </p:sp>
        <p:sp>
          <p:nvSpPr>
            <p:cNvPr id="4" name="Ellipse 4"/>
            <p:cNvSpPr/>
            <p:nvPr/>
          </p:nvSpPr>
          <p:spPr>
            <a:xfrm>
              <a:off x="9048750" y="3714750"/>
              <a:ext cx="4762500" cy="4762500"/>
            </a:xfrm>
            <a:prstGeom prst="ellipse">
              <a:avLst/>
            </a:prstGeom>
            <a:noFill/>
            <a:ln w="14288">
              <a:solidFill>
                <a:srgbClr val="FFFFFF">
                  <a:alpha val="14000"/>
                </a:srgbClr>
              </a:solidFill>
              <a:custDash>
                <a:ds d="266666" sp="533333"/>
              </a:custDash>
            </a:ln>
          </p:spPr>
          <p:txBody>
            <a:bodyPr/>
            <a:p/>
          </p:txBody>
        </p:sp>
        <p:sp>
          <p:nvSpPr>
            <p:cNvPr id="5" name="Ellipse 5"/>
            <p:cNvSpPr/>
            <p:nvPr/>
          </p:nvSpPr>
          <p:spPr>
            <a:xfrm>
              <a:off x="9715500" y="4381500"/>
              <a:ext cx="3429000" cy="3429000"/>
            </a:xfrm>
            <a:prstGeom prst="ellipse">
              <a:avLst/>
            </a:prstGeom>
            <a:noFill/>
            <a:ln w="14288">
              <a:solidFill>
                <a:srgbClr val="FFFFFF">
                  <a:alpha val="10000"/>
                </a:srgbClr>
              </a:solidFill>
            </a:ln>
          </p:spPr>
          <p:txBody>
            <a:bodyPr/>
            <a:p/>
          </p:txBody>
        </p:sp>
        <p:sp>
          <p:nvSpPr>
            <p:cNvPr id="6" name="Ellipse 6"/>
            <p:cNvSpPr/>
            <p:nvPr/>
          </p:nvSpPr>
          <p:spPr>
            <a:xfrm>
              <a:off x="-666750" y="-1238250"/>
              <a:ext cx="3619500" cy="3619500"/>
            </a:xfrm>
            <a:prstGeom prst="ellipse">
              <a:avLst/>
            </a:prstGeom>
            <a:noFill/>
            <a:ln w="14288">
              <a:solidFill>
                <a:srgbClr val="FFFFFF">
                  <a:alpha val="8000"/>
                </a:srgbClr>
              </a:solidFill>
            </a:ln>
          </p:spPr>
          <p:txBody>
            <a:bodyPr/>
            <a:p/>
          </p:txBody>
        </p:sp>
        <p:sp>
          <p:nvSpPr>
            <p:cNvPr id="7" name="Ellipse 7"/>
            <p:cNvSpPr/>
            <p:nvPr/>
          </p:nvSpPr>
          <p:spPr>
            <a:xfrm>
              <a:off x="11382375" y="1095375"/>
              <a:ext cx="95250" cy="95250"/>
            </a:xfrm>
            <a:prstGeom prst="ellipse">
              <a:avLst/>
            </a:prstGeom>
            <a:solidFill>
              <a:srgbClr val="FFFFFF">
                <a:alpha val="20000"/>
              </a:srgbClr>
            </a:solidFill>
            <a:ln>
              <a:noFill/>
            </a:ln>
          </p:spPr>
          <p:txBody>
            <a:bodyPr/>
            <a:p/>
          </p:txBody>
        </p:sp>
        <p:sp>
          <p:nvSpPr>
            <p:cNvPr id="8" name="Ellipse 8"/>
            <p:cNvSpPr/>
            <p:nvPr/>
          </p:nvSpPr>
          <p:spPr>
            <a:xfrm>
              <a:off x="10629900" y="723900"/>
              <a:ext cx="76200" cy="76200"/>
            </a:xfrm>
            <a:prstGeom prst="ellipse">
              <a:avLst/>
            </a:prstGeom>
            <a:solidFill>
              <a:srgbClr val="FFFFFF">
                <a:alpha val="16000"/>
              </a:srgbClr>
            </a:solidFill>
            <a:ln>
              <a:noFill/>
            </a:ln>
          </p:spPr>
          <p:txBody>
            <a:bodyPr/>
            <a:p/>
          </p:txBody>
        </p:sp>
      </p:grpSp>
      <p:sp>
        <p:nvSpPr>
          <p:cNvPr id="10" name="TextBox 10"/>
          <p:cNvSpPr txBox="1"/>
          <p:nvPr/>
        </p:nvSpPr>
        <p:spPr>
          <a:xfrm>
            <a:off x="9619869" y="4038600"/>
            <a:ext cx="2153031" cy="24384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r"/>
            <a:r>
              <a:rPr lang="zh-CN" sz="12000" b="1" dirty="0">
                <a:solidFill>
                  <a:srgbClr val="FFFFFF">
                    <a:alphaMod val="14000"/>
                  </a:srgbClr>
                </a:solidFill>
                <a:latin typeface="Arial"/>
                <a:ea typeface="Microsoft YaHei"/>
                <a:cs typeface="Arial"/>
              </a:rPr>
              <a:t>06</a:t>
            </a:r>
          </a:p>
        </p:txBody>
      </p:sp>
      <p:sp>
        <p:nvSpPr>
          <p:cNvPr id="11" name="TextBox 11"/>
          <p:cNvSpPr txBox="1"/>
          <p:nvPr/>
        </p:nvSpPr>
        <p:spPr>
          <a:xfrm>
            <a:off x="560070" y="474345"/>
            <a:ext cx="634937" cy="18288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900" dirty="0">
                <a:solidFill>
                  <a:srgbClr val="FFFFFF">
                    <a:alphaMod val="50000"/>
                  </a:srgbClr>
                </a:solidFill>
                <a:latin typeface="Arial"/>
                <a:ea typeface="Microsoft YaHei"/>
                <a:cs typeface="Arial"/>
              </a:rPr>
              <a:t>LOGO HERE</a:t>
            </a:r>
          </a:p>
        </p:txBody>
      </p:sp>
      <p:grpSp>
        <p:nvGrpSpPr>
          <p:cNvPr id="18" name="Group 18"/>
          <p:cNvGrpSpPr/>
          <p:nvPr/>
        </p:nvGrpSpPr>
        <p:grpSpPr>
          <a:xfrm>
            <a:off x="529590" y="2423160"/>
            <a:ext cx="3884533" cy="2258378"/>
            <a:chOff x="529590" y="2423160"/>
            <a:chExt cx="3884533" cy="2258378"/>
          </a:xfrm>
        </p:grpSpPr>
        <p:sp>
          <p:nvSpPr>
            <p:cNvPr id="12" name="TextBox 12"/>
            <p:cNvSpPr txBox="1"/>
            <p:nvPr/>
          </p:nvSpPr>
          <p:spPr>
            <a:xfrm>
              <a:off x="556260" y="2423160"/>
              <a:ext cx="918591" cy="24384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00" dirty="0">
                  <a:solidFill>
                    <a:srgbClr val="FFFFFF">
                      <a:alphaMod val="70000"/>
                    </a:srgbClr>
                  </a:solidFill>
                  <a:latin typeface="Arial"/>
                  <a:ea typeface="Microsoft YaHei"/>
                  <a:cs typeface="Arial"/>
                </a:rPr>
                <a:t>CHAPTER SIX</a:t>
              </a:r>
            </a:p>
          </p:txBody>
        </p:sp>
        <p:sp>
          <p:nvSpPr>
            <p:cNvPr id="13" name="Rectangle 13"/>
            <p:cNvSpPr/>
            <p:nvPr/>
          </p:nvSpPr>
          <p:spPr>
            <a:xfrm>
              <a:off x="571500" y="2781300"/>
              <a:ext cx="533400" cy="38100"/>
            </a:xfrm>
            <a:prstGeom prst="roundRect">
              <a:avLst>
                <a:gd name="adj" fmla="val 50000"/>
              </a:avLst>
            </a:prstGeom>
            <a:solidFill>
              <a:srgbClr val="FFFFFF">
                <a:alpha val="85000"/>
              </a:srgbClr>
            </a:solidFill>
            <a:ln>
              <a:noFill/>
            </a:ln>
          </p:spPr>
          <p:txBody>
            <a:bodyPr/>
            <a:p/>
          </p:txBody>
        </p:sp>
        <p:sp>
          <p:nvSpPr>
            <p:cNvPr id="14" name="TextBox 14"/>
            <p:cNvSpPr txBox="1"/>
            <p:nvPr/>
          </p:nvSpPr>
          <p:spPr>
            <a:xfrm>
              <a:off x="529590" y="2996565"/>
              <a:ext cx="2001360" cy="67056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3300" b="1" dirty="0">
                  <a:solidFill>
                    <a:srgbClr val="FFFFFF"/>
                  </a:solidFill>
                  <a:latin typeface="Arial"/>
                  <a:ea typeface="Microsoft YaHei"/>
                  <a:cs typeface="Arial"/>
                </a:rPr>
                <a:t>新一代 AI</a:t>
              </a:r>
            </a:p>
          </p:txBody>
        </p:sp>
        <p:sp>
          <p:nvSpPr>
            <p:cNvPr id="15" name="TextBox 15"/>
            <p:cNvSpPr txBox="1"/>
            <p:nvPr/>
          </p:nvSpPr>
          <p:spPr>
            <a:xfrm>
              <a:off x="550545" y="3593782"/>
              <a:ext cx="2462212" cy="33528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650" dirty="0">
                  <a:solidFill>
                    <a:srgbClr val="FFFFFF">
                      <a:alphaMod val="85000"/>
                    </a:srgbClr>
                  </a:solidFill>
                  <a:latin typeface="Arial"/>
                  <a:ea typeface="Microsoft YaHei"/>
                  <a:cs typeface="Arial"/>
                </a:rPr>
                <a:t>从「能聊」到「能干活」</a:t>
              </a:r>
            </a:p>
          </p:txBody>
        </p:sp>
        <p:sp>
          <p:nvSpPr>
            <p:cNvPr id="16" name="TextBox 16"/>
            <p:cNvSpPr txBox="1"/>
            <p:nvPr/>
          </p:nvSpPr>
          <p:spPr>
            <a:xfrm>
              <a:off x="554355" y="4121468"/>
              <a:ext cx="3859768" cy="27432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FFFFFF">
                      <a:alphaMod val="75000"/>
                    </a:srgbClr>
                  </a:solidFill>
                  <a:latin typeface="Arial"/>
                  <a:ea typeface="Microsoft YaHei"/>
                  <a:cs typeface="Arial"/>
                </a:rPr>
                <a:t>AI 不只是会聊天——它能自己调工具、把活干完，</a:t>
              </a:r>
            </a:p>
          </p:txBody>
        </p:sp>
        <p:sp>
          <p:nvSpPr>
            <p:cNvPr id="17" name="TextBox 17"/>
            <p:cNvSpPr txBox="1"/>
            <p:nvPr/>
          </p:nvSpPr>
          <p:spPr>
            <a:xfrm>
              <a:off x="554355" y="4407218"/>
              <a:ext cx="2374582" cy="27432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FFFFFF">
                      <a:alphaMod val="75000"/>
                    </a:srgbClr>
                  </a:solidFill>
                  <a:latin typeface="Arial"/>
                  <a:ea typeface="Microsoft YaHei"/>
                  <a:cs typeface="Arial"/>
                </a:rPr>
                <a:t>还能「接上你单位的资料」。</a:t>
              </a:r>
            </a:p>
          </p:txBody>
        </p:sp>
      </p:grpSp>
    </p:spTree>
  </p:cSld>
  <p:clrMapOvr>
    <a:masterClrMapping/>
  </p:clrMapOvr>
  <p:transition xmlns:p14="http://schemas.microsoft.com/office/powerpoint/2010/main" p14:dur="400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8" grpId="0"/>
    </p:bldLst>
  </p:timing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5" name="Group 5"/>
          <p:cNvGrpSpPr/>
          <p:nvPr/>
        </p:nvGrpSpPr>
        <p:grpSpPr>
          <a:xfrm>
            <a:off x="-1619250" y="0"/>
            <a:ext cx="13811250" cy="8477250"/>
            <a:chOff x="-1619250" y="0"/>
            <a:chExt cx="13811250" cy="8477250"/>
          </a:xfrm>
        </p:grpSpPr>
        <p:sp>
          <p:nvSpPr>
            <p:cNvPr id="2" name="Rectangle 2"/>
            <p:cNvSpPr/>
            <p:nvPr/>
          </p:nvSpPr>
          <p:spPr>
            <a:xfrm>
              <a:off x="0" y="0"/>
              <a:ext cx="12192000" cy="6858000"/>
            </a:xfrm>
            <a:prstGeom prst="rect">
              <a:avLst/>
            </a:prstGeom>
            <a:solidFill>
              <a:srgbClr val="F5F7FA"/>
            </a:solidFill>
            <a:ln>
              <a:noFill/>
            </a:ln>
          </p:spPr>
          <p:txBody>
            <a:bodyPr/>
            <a:p/>
          </p:txBody>
        </p:sp>
        <p:sp>
          <p:nvSpPr>
            <p:cNvPr id="3" name="Rectangle 3"/>
            <p:cNvSpPr/>
            <p:nvPr/>
          </p:nvSpPr>
          <p:spPr>
            <a:xfrm>
              <a:off x="0" y="0"/>
              <a:ext cx="12192000" cy="6858000"/>
            </a:xfrm>
            <a:prstGeom prst="rect">
              <a:avLst/>
            </a:prstGeom>
            <a:gradFill>
              <a:gsLst>
                <a:gs pos="0">
                  <a:srgbClr val="1565D8">
                    <a:alpha val="6000"/>
                  </a:srgbClr>
                </a:gs>
                <a:gs pos="100000">
                  <a:srgbClr val="1565D8">
                    <a:alpha val="0"/>
                  </a:srgbClr>
                </a:gs>
              </a:gsLst>
              <a:path path="circle">
                <a:fillToRect l="50000" t="50000" r="50000" b="50000"/>
              </a:path>
            </a:gradFill>
            <a:ln>
              <a:noFill/>
            </a:ln>
          </p:spPr>
          <p:txBody>
            <a:bodyPr/>
            <a:p/>
          </p:txBody>
        </p:sp>
        <p:sp>
          <p:nvSpPr>
            <p:cNvPr id="4" name="Ellipse 4"/>
            <p:cNvSpPr/>
            <p:nvPr/>
          </p:nvSpPr>
          <p:spPr>
            <a:xfrm>
              <a:off x="-1619250" y="4667250"/>
              <a:ext cx="3810000" cy="3810000"/>
            </a:xfrm>
            <a:prstGeom prst="ellipse">
              <a:avLst/>
            </a:prstGeom>
            <a:noFill/>
            <a:ln w="14288">
              <a:solidFill>
                <a:srgbClr val="D6E6F9">
                  <a:alpha val="80000"/>
                </a:srgbClr>
              </a:solidFill>
            </a:ln>
          </p:spPr>
          <p:txBody>
            <a:bodyPr/>
            <a:p/>
          </p:txBody>
        </p:sp>
      </p:grpSp>
      <p:grpSp>
        <p:nvGrpSpPr>
          <p:cNvPr id="9" name="Group 9"/>
          <p:cNvGrpSpPr/>
          <p:nvPr/>
        </p:nvGrpSpPr>
        <p:grpSpPr>
          <a:xfrm>
            <a:off x="571500" y="685800"/>
            <a:ext cx="4107228" cy="700088"/>
            <a:chOff x="571500" y="685800"/>
            <a:chExt cx="4107228" cy="700088"/>
          </a:xfrm>
        </p:grpSpPr>
        <p:sp>
          <p:nvSpPr>
            <p:cNvPr id="6" name="Rectangle 6"/>
            <p:cNvSpPr/>
            <p:nvPr/>
          </p:nvSpPr>
          <p:spPr>
            <a:xfrm>
              <a:off x="571500" y="685800"/>
              <a:ext cx="76200" cy="323850"/>
            </a:xfrm>
            <a:prstGeom prst="roundRect">
              <a:avLst>
                <a:gd name="adj" fmla="val 50000"/>
              </a:avLst>
            </a:prstGeom>
            <a:solidFill>
              <a:srgbClr val="1565D8"/>
            </a:solidFill>
            <a:ln>
              <a:noFill/>
            </a:ln>
          </p:spPr>
          <p:txBody>
            <a:bodyPr/>
            <a:p/>
          </p:txBody>
        </p:sp>
        <p:sp>
          <p:nvSpPr>
            <p:cNvPr id="7" name="TextBox 7"/>
            <p:cNvSpPr txBox="1"/>
            <p:nvPr/>
          </p:nvSpPr>
          <p:spPr>
            <a:xfrm>
              <a:off x="771525" y="700088"/>
              <a:ext cx="3491079" cy="45720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2250" b="1" dirty="0">
                  <a:solidFill>
                    <a:srgbClr val="2B3648"/>
                  </a:solidFill>
                  <a:latin typeface="Arial"/>
                  <a:ea typeface="Microsoft YaHei"/>
                  <a:cs typeface="Arial"/>
                </a:rPr>
                <a:t>Agent：能自己干活的 AI</a:t>
              </a:r>
            </a:p>
          </p:txBody>
        </p:sp>
        <p:sp>
          <p:nvSpPr>
            <p:cNvPr id="8" name="TextBox 8"/>
            <p:cNvSpPr txBox="1"/>
            <p:nvPr/>
          </p:nvSpPr>
          <p:spPr>
            <a:xfrm>
              <a:off x="782955" y="1111568"/>
              <a:ext cx="3895773" cy="27432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5B6B82"/>
                  </a:solidFill>
                  <a:latin typeface="Arial"/>
                  <a:ea typeface="Microsoft YaHei"/>
                  <a:cs typeface="Arial"/>
                </a:rPr>
                <a:t>给它目标，它自己「想 → 做 → 看结果 → 再调整」</a:t>
              </a:r>
            </a:p>
          </p:txBody>
        </p:sp>
      </p:grpSp>
      <p:grpSp>
        <p:nvGrpSpPr>
          <p:cNvPr id="11" name="Group 11"/>
          <p:cNvGrpSpPr/>
          <p:nvPr/>
        </p:nvGrpSpPr>
        <p:grpSpPr>
          <a:xfrm>
            <a:off x="1619250" y="2381250"/>
            <a:ext cx="3048000" cy="3048000"/>
            <a:chOff x="1619250" y="2381250"/>
            <a:chExt cx="3048000" cy="3048000"/>
          </a:xfrm>
        </p:grpSpPr>
        <p:sp>
          <p:nvSpPr>
            <p:cNvPr id="10" name="Ellipse 10"/>
            <p:cNvSpPr/>
            <p:nvPr/>
          </p:nvSpPr>
          <p:spPr>
            <a:xfrm>
              <a:off x="1619250" y="2381250"/>
              <a:ext cx="3048000" cy="3048000"/>
            </a:xfrm>
            <a:prstGeom prst="ellipse">
              <a:avLst/>
            </a:prstGeom>
            <a:noFill/>
            <a:ln w="19050">
              <a:solidFill>
                <a:srgbClr val="D8E1EC"/>
              </a:solidFill>
              <a:custDash>
                <a:ds d="250000" sp="350000"/>
              </a:custDash>
            </a:ln>
          </p:spPr>
          <p:txBody>
            <a:bodyPr/>
            <a:p/>
          </p:txBody>
        </p:sp>
      </p:grpSp>
      <p:grpSp>
        <p:nvGrpSpPr>
          <p:cNvPr id="16" name="Group 16"/>
          <p:cNvGrpSpPr/>
          <p:nvPr/>
        </p:nvGrpSpPr>
        <p:grpSpPr>
          <a:xfrm>
            <a:off x="1823085" y="2585085"/>
            <a:ext cx="2640330" cy="2640330"/>
            <a:chOff x="1823085" y="2585085"/>
            <a:chExt cx="2640330" cy="2640330"/>
          </a:xfrm>
        </p:grpSpPr>
        <p:sp>
          <p:nvSpPr>
            <p:cNvPr id="12" name="Freeform 12"/>
            <p:cNvSpPr/>
            <p:nvPr/>
          </p:nvSpPr>
          <p:spPr>
            <a:xfrm>
              <a:off x="3905250" y="2585085"/>
              <a:ext cx="558165" cy="558165"/>
            </a:xfrm>
            <a:custGeom>
              <a:avLst/>
              <a:gdLst/>
              <a:ahLst/>
              <a:cxnLst/>
              <a:rect l="l" t="t" r="r" b="b"/>
              <a:pathLst>
                <a:path w="558165" h="558165">
                  <a:moveTo>
                    <a:pt x="0" y="0"/>
                  </a:moveTo>
                  <a:cubicBezTo>
                    <a:pt x="231846" y="133806"/>
                    <a:pt x="424359" y="326319"/>
                    <a:pt x="558165" y="558165"/>
                  </a:cubicBezTo>
                </a:path>
              </a:pathLst>
            </a:custGeom>
            <a:noFill/>
            <a:ln w="23812">
              <a:solidFill>
                <a:srgbClr val="1565D8"/>
              </a:solidFill>
              <a:tailEnd type="triangle" w="lg" len="lg"/>
            </a:ln>
          </p:spPr>
          <p:txBody>
            <a:bodyPr/>
            <a:p/>
          </p:txBody>
        </p:sp>
        <p:sp>
          <p:nvSpPr>
            <p:cNvPr id="13" name="Freeform 13"/>
            <p:cNvSpPr/>
            <p:nvPr/>
          </p:nvSpPr>
          <p:spPr>
            <a:xfrm>
              <a:off x="3905250" y="4667250"/>
              <a:ext cx="558165" cy="558165"/>
            </a:xfrm>
            <a:custGeom>
              <a:avLst/>
              <a:gdLst/>
              <a:ahLst/>
              <a:cxnLst/>
              <a:rect l="l" t="t" r="r" b="b"/>
              <a:pathLst>
                <a:path w="558165" h="558165">
                  <a:moveTo>
                    <a:pt x="558165" y="0"/>
                  </a:moveTo>
                  <a:cubicBezTo>
                    <a:pt x="424359" y="231846"/>
                    <a:pt x="231846" y="424359"/>
                    <a:pt x="0" y="558165"/>
                  </a:cubicBezTo>
                </a:path>
              </a:pathLst>
            </a:custGeom>
            <a:noFill/>
            <a:ln w="23812">
              <a:solidFill>
                <a:srgbClr val="1565D8"/>
              </a:solidFill>
              <a:tailEnd type="triangle" w="lg" len="lg"/>
            </a:ln>
          </p:spPr>
          <p:txBody>
            <a:bodyPr/>
            <a:p/>
          </p:txBody>
        </p:sp>
        <p:sp>
          <p:nvSpPr>
            <p:cNvPr id="14" name="Freeform 14"/>
            <p:cNvSpPr/>
            <p:nvPr/>
          </p:nvSpPr>
          <p:spPr>
            <a:xfrm>
              <a:off x="1823085" y="4667250"/>
              <a:ext cx="558165" cy="558165"/>
            </a:xfrm>
            <a:custGeom>
              <a:avLst/>
              <a:gdLst/>
              <a:ahLst/>
              <a:cxnLst/>
              <a:rect l="l" t="t" r="r" b="b"/>
              <a:pathLst>
                <a:path w="558165" h="558165">
                  <a:moveTo>
                    <a:pt x="558165" y="558165"/>
                  </a:moveTo>
                  <a:cubicBezTo>
                    <a:pt x="326319" y="424359"/>
                    <a:pt x="133806" y="231846"/>
                    <a:pt x="0" y="0"/>
                  </a:cubicBezTo>
                </a:path>
              </a:pathLst>
            </a:custGeom>
            <a:noFill/>
            <a:ln w="23812">
              <a:solidFill>
                <a:srgbClr val="1565D8"/>
              </a:solidFill>
              <a:tailEnd type="triangle" w="lg" len="lg"/>
            </a:ln>
          </p:spPr>
          <p:txBody>
            <a:bodyPr/>
            <a:p/>
          </p:txBody>
        </p:sp>
        <p:sp>
          <p:nvSpPr>
            <p:cNvPr id="15" name="Freeform 15"/>
            <p:cNvSpPr/>
            <p:nvPr/>
          </p:nvSpPr>
          <p:spPr>
            <a:xfrm>
              <a:off x="1823085" y="2585085"/>
              <a:ext cx="558165" cy="558165"/>
            </a:xfrm>
            <a:custGeom>
              <a:avLst/>
              <a:gdLst/>
              <a:ahLst/>
              <a:cxnLst/>
              <a:rect l="l" t="t" r="r" b="b"/>
              <a:pathLst>
                <a:path w="558165" h="558165">
                  <a:moveTo>
                    <a:pt x="0" y="558165"/>
                  </a:moveTo>
                  <a:cubicBezTo>
                    <a:pt x="133806" y="326319"/>
                    <a:pt x="326319" y="133806"/>
                    <a:pt x="558165" y="0"/>
                  </a:cubicBezTo>
                </a:path>
              </a:pathLst>
            </a:custGeom>
            <a:noFill/>
            <a:ln w="23812">
              <a:solidFill>
                <a:srgbClr val="1565D8"/>
              </a:solidFill>
              <a:tailEnd type="triangle" w="lg" len="lg"/>
            </a:ln>
          </p:spPr>
          <p:txBody>
            <a:bodyPr/>
            <a:p/>
          </p:txBody>
        </p:sp>
      </p:grpSp>
      <p:grpSp>
        <p:nvGrpSpPr>
          <p:cNvPr id="19" name="Group 19"/>
          <p:cNvGrpSpPr/>
          <p:nvPr/>
        </p:nvGrpSpPr>
        <p:grpSpPr>
          <a:xfrm>
            <a:off x="2639854" y="3634740"/>
            <a:ext cx="1006792" cy="561022"/>
            <a:chOff x="2639854" y="3634740"/>
            <a:chExt cx="1006792" cy="561022"/>
          </a:xfrm>
        </p:grpSpPr>
        <p:sp>
          <p:nvSpPr>
            <p:cNvPr id="17" name="TextBox 17"/>
            <p:cNvSpPr txBox="1"/>
            <p:nvPr/>
          </p:nvSpPr>
          <p:spPr>
            <a:xfrm>
              <a:off x="2773847" y="3634740"/>
              <a:ext cx="738807" cy="36576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800" b="1" dirty="0">
                  <a:solidFill>
                    <a:srgbClr val="0B4EA2"/>
                  </a:solidFill>
                  <a:latin typeface="Arial"/>
                  <a:ea typeface="Microsoft YaHei"/>
                  <a:cs typeface="Arial"/>
                </a:rPr>
                <a:t>Agent</a:t>
              </a:r>
            </a:p>
          </p:txBody>
        </p:sp>
        <p:sp>
          <p:nvSpPr>
            <p:cNvPr id="18" name="TextBox 18"/>
            <p:cNvSpPr txBox="1"/>
            <p:nvPr/>
          </p:nvSpPr>
          <p:spPr>
            <a:xfrm>
              <a:off x="2639854" y="3982402"/>
              <a:ext cx="1006792" cy="21336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050" dirty="0">
                  <a:solidFill>
                    <a:srgbClr val="5B6B82"/>
                  </a:solidFill>
                  <a:latin typeface="Arial"/>
                  <a:ea typeface="Microsoft YaHei"/>
                  <a:cs typeface="Arial"/>
                </a:rPr>
                <a:t>一轮轮逼近目标</a:t>
              </a:r>
            </a:p>
          </p:txBody>
        </p:sp>
      </p:grpSp>
      <p:grpSp>
        <p:nvGrpSpPr>
          <p:cNvPr id="23" name="Group 23"/>
          <p:cNvGrpSpPr/>
          <p:nvPr/>
        </p:nvGrpSpPr>
        <p:grpSpPr>
          <a:xfrm>
            <a:off x="2781300" y="2019300"/>
            <a:ext cx="723900" cy="723900"/>
            <a:chOff x="2781300" y="2019300"/>
            <a:chExt cx="723900" cy="723900"/>
          </a:xfrm>
        </p:grpSpPr>
        <p:sp>
          <p:nvSpPr>
            <p:cNvPr id="20" name="Ellipse 20"/>
            <p:cNvSpPr/>
            <p:nvPr/>
          </p:nvSpPr>
          <p:spPr>
            <a:xfrm>
              <a:off x="2781300" y="2019300"/>
              <a:ext cx="723900" cy="723900"/>
            </a:xfrm>
            <a:prstGeom prst="ellipse">
              <a:avLst/>
            </a:prstGeom>
            <a:solidFill>
              <a:srgbClr val="FFFFFF"/>
            </a:solidFill>
            <a:ln w="19050">
              <a:solidFill>
                <a:srgbClr val="1565D8"/>
              </a:solidFill>
            </a:ln>
          </p:spPr>
          <p:txBody>
            <a:bodyPr/>
            <a:p/>
          </p:txBody>
        </p:sp>
        <p:sp>
          <p:nvSpPr>
            <p:cNvPr id="21" name="TextBox 21"/>
            <p:cNvSpPr txBox="1"/>
            <p:nvPr/>
          </p:nvSpPr>
          <p:spPr>
            <a:xfrm>
              <a:off x="3074124" y="2197418"/>
              <a:ext cx="138253" cy="27432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350" b="1" dirty="0">
                  <a:solidFill>
                    <a:srgbClr val="1565D8"/>
                  </a:solidFill>
                  <a:latin typeface="Arial"/>
                  <a:ea typeface="Microsoft YaHei"/>
                  <a:cs typeface="Arial"/>
                </a:rPr>
                <a:t>1</a:t>
              </a:r>
            </a:p>
          </p:txBody>
        </p:sp>
        <p:sp>
          <p:nvSpPr>
            <p:cNvPr id="22" name="TextBox 22"/>
            <p:cNvSpPr txBox="1"/>
            <p:nvPr/>
          </p:nvSpPr>
          <p:spPr>
            <a:xfrm>
              <a:off x="2982897" y="2439352"/>
              <a:ext cx="320707" cy="21336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050" b="1" dirty="0">
                  <a:solidFill>
                    <a:srgbClr val="2B3648"/>
                  </a:solidFill>
                  <a:latin typeface="Arial"/>
                  <a:ea typeface="Microsoft YaHei"/>
                  <a:cs typeface="Arial"/>
                </a:rPr>
                <a:t>感知</a:t>
              </a:r>
            </a:p>
          </p:txBody>
        </p:sp>
      </p:grpSp>
      <p:grpSp>
        <p:nvGrpSpPr>
          <p:cNvPr id="27" name="Group 27"/>
          <p:cNvGrpSpPr/>
          <p:nvPr/>
        </p:nvGrpSpPr>
        <p:grpSpPr>
          <a:xfrm>
            <a:off x="4305300" y="3543300"/>
            <a:ext cx="723900" cy="723900"/>
            <a:chOff x="4305300" y="3543300"/>
            <a:chExt cx="723900" cy="723900"/>
          </a:xfrm>
        </p:grpSpPr>
        <p:sp>
          <p:nvSpPr>
            <p:cNvPr id="24" name="Ellipse 24"/>
            <p:cNvSpPr/>
            <p:nvPr/>
          </p:nvSpPr>
          <p:spPr>
            <a:xfrm>
              <a:off x="4305300" y="3543300"/>
              <a:ext cx="723900" cy="723900"/>
            </a:xfrm>
            <a:prstGeom prst="ellipse">
              <a:avLst/>
            </a:prstGeom>
            <a:solidFill>
              <a:srgbClr val="FFFFFF"/>
            </a:solidFill>
            <a:ln w="19050">
              <a:solidFill>
                <a:srgbClr val="1565D8"/>
              </a:solidFill>
            </a:ln>
          </p:spPr>
          <p:txBody>
            <a:bodyPr/>
            <a:p/>
          </p:txBody>
        </p:sp>
        <p:sp>
          <p:nvSpPr>
            <p:cNvPr id="25" name="TextBox 25"/>
            <p:cNvSpPr txBox="1"/>
            <p:nvPr/>
          </p:nvSpPr>
          <p:spPr>
            <a:xfrm>
              <a:off x="4598124" y="3721418"/>
              <a:ext cx="138253" cy="27432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350" b="1" dirty="0">
                  <a:solidFill>
                    <a:srgbClr val="1565D8"/>
                  </a:solidFill>
                  <a:latin typeface="Arial"/>
                  <a:ea typeface="Microsoft YaHei"/>
                  <a:cs typeface="Arial"/>
                </a:rPr>
                <a:t>2</a:t>
              </a:r>
            </a:p>
          </p:txBody>
        </p:sp>
        <p:sp>
          <p:nvSpPr>
            <p:cNvPr id="26" name="TextBox 26"/>
            <p:cNvSpPr txBox="1"/>
            <p:nvPr/>
          </p:nvSpPr>
          <p:spPr>
            <a:xfrm>
              <a:off x="4506897" y="3963352"/>
              <a:ext cx="320707" cy="21336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050" b="1" dirty="0">
                  <a:solidFill>
                    <a:srgbClr val="2B3648"/>
                  </a:solidFill>
                  <a:latin typeface="Arial"/>
                  <a:ea typeface="Microsoft YaHei"/>
                  <a:cs typeface="Arial"/>
                </a:rPr>
                <a:t>计划</a:t>
              </a:r>
            </a:p>
          </p:txBody>
        </p:sp>
      </p:grpSp>
      <p:grpSp>
        <p:nvGrpSpPr>
          <p:cNvPr id="31" name="Group 31"/>
          <p:cNvGrpSpPr/>
          <p:nvPr/>
        </p:nvGrpSpPr>
        <p:grpSpPr>
          <a:xfrm>
            <a:off x="2781300" y="5067300"/>
            <a:ext cx="723900" cy="723900"/>
            <a:chOff x="2781300" y="5067300"/>
            <a:chExt cx="723900" cy="723900"/>
          </a:xfrm>
        </p:grpSpPr>
        <p:sp>
          <p:nvSpPr>
            <p:cNvPr id="28" name="Ellipse 28"/>
            <p:cNvSpPr/>
            <p:nvPr/>
          </p:nvSpPr>
          <p:spPr>
            <a:xfrm>
              <a:off x="2781300" y="5067300"/>
              <a:ext cx="723900" cy="723900"/>
            </a:xfrm>
            <a:prstGeom prst="ellipse">
              <a:avLst/>
            </a:prstGeom>
            <a:solidFill>
              <a:srgbClr val="FFFFFF"/>
            </a:solidFill>
            <a:ln w="19050">
              <a:solidFill>
                <a:srgbClr val="1565D8"/>
              </a:solidFill>
            </a:ln>
          </p:spPr>
          <p:txBody>
            <a:bodyPr/>
            <a:p/>
          </p:txBody>
        </p:sp>
        <p:sp>
          <p:nvSpPr>
            <p:cNvPr id="29" name="TextBox 29"/>
            <p:cNvSpPr txBox="1"/>
            <p:nvPr/>
          </p:nvSpPr>
          <p:spPr>
            <a:xfrm>
              <a:off x="3074124" y="5245418"/>
              <a:ext cx="138253" cy="27432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350" b="1" dirty="0">
                  <a:solidFill>
                    <a:srgbClr val="1565D8"/>
                  </a:solidFill>
                  <a:latin typeface="Arial"/>
                  <a:ea typeface="Microsoft YaHei"/>
                  <a:cs typeface="Arial"/>
                </a:rPr>
                <a:t>3</a:t>
              </a:r>
            </a:p>
          </p:txBody>
        </p:sp>
        <p:sp>
          <p:nvSpPr>
            <p:cNvPr id="30" name="TextBox 30"/>
            <p:cNvSpPr txBox="1"/>
            <p:nvPr/>
          </p:nvSpPr>
          <p:spPr>
            <a:xfrm>
              <a:off x="2982897" y="5487352"/>
              <a:ext cx="320707" cy="21336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050" b="1" dirty="0">
                  <a:solidFill>
                    <a:srgbClr val="2B3648"/>
                  </a:solidFill>
                  <a:latin typeface="Arial"/>
                  <a:ea typeface="Microsoft YaHei"/>
                  <a:cs typeface="Arial"/>
                </a:rPr>
                <a:t>行动</a:t>
              </a:r>
            </a:p>
          </p:txBody>
        </p:sp>
      </p:grpSp>
      <p:grpSp>
        <p:nvGrpSpPr>
          <p:cNvPr id="35" name="Group 35"/>
          <p:cNvGrpSpPr/>
          <p:nvPr/>
        </p:nvGrpSpPr>
        <p:grpSpPr>
          <a:xfrm>
            <a:off x="1257300" y="3543300"/>
            <a:ext cx="723900" cy="723900"/>
            <a:chOff x="1257300" y="3543300"/>
            <a:chExt cx="723900" cy="723900"/>
          </a:xfrm>
        </p:grpSpPr>
        <p:sp>
          <p:nvSpPr>
            <p:cNvPr id="32" name="Ellipse 32"/>
            <p:cNvSpPr/>
            <p:nvPr/>
          </p:nvSpPr>
          <p:spPr>
            <a:xfrm>
              <a:off x="1257300" y="3543300"/>
              <a:ext cx="723900" cy="723900"/>
            </a:xfrm>
            <a:prstGeom prst="ellipse">
              <a:avLst/>
            </a:prstGeom>
            <a:solidFill>
              <a:srgbClr val="FFFFFF"/>
            </a:solidFill>
            <a:ln w="19050">
              <a:solidFill>
                <a:srgbClr val="1565D8"/>
              </a:solidFill>
            </a:ln>
          </p:spPr>
          <p:txBody>
            <a:bodyPr/>
            <a:p/>
          </p:txBody>
        </p:sp>
        <p:sp>
          <p:nvSpPr>
            <p:cNvPr id="33" name="TextBox 33"/>
            <p:cNvSpPr txBox="1"/>
            <p:nvPr/>
          </p:nvSpPr>
          <p:spPr>
            <a:xfrm>
              <a:off x="1550124" y="3721418"/>
              <a:ext cx="138253" cy="27432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350" b="1" dirty="0">
                  <a:solidFill>
                    <a:srgbClr val="1565D8"/>
                  </a:solidFill>
                  <a:latin typeface="Arial"/>
                  <a:ea typeface="Microsoft YaHei"/>
                  <a:cs typeface="Arial"/>
                </a:rPr>
                <a:t>4</a:t>
              </a:r>
            </a:p>
          </p:txBody>
        </p:sp>
        <p:sp>
          <p:nvSpPr>
            <p:cNvPr id="34" name="TextBox 34"/>
            <p:cNvSpPr txBox="1"/>
            <p:nvPr/>
          </p:nvSpPr>
          <p:spPr>
            <a:xfrm>
              <a:off x="1458897" y="3963352"/>
              <a:ext cx="320707" cy="21336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050" b="1" dirty="0">
                  <a:solidFill>
                    <a:srgbClr val="2B3648"/>
                  </a:solidFill>
                  <a:latin typeface="Arial"/>
                  <a:ea typeface="Microsoft YaHei"/>
                  <a:cs typeface="Arial"/>
                </a:rPr>
                <a:t>观察</a:t>
              </a:r>
            </a:p>
          </p:txBody>
        </p:sp>
      </p:grpSp>
      <p:grpSp>
        <p:nvGrpSpPr>
          <p:cNvPr id="51" name="Group 51"/>
          <p:cNvGrpSpPr/>
          <p:nvPr/>
        </p:nvGrpSpPr>
        <p:grpSpPr>
          <a:xfrm>
            <a:off x="5905500" y="1714500"/>
            <a:ext cx="5715000" cy="1143000"/>
            <a:chOff x="5905500" y="1714500"/>
            <a:chExt cx="5715000" cy="1143000"/>
          </a:xfrm>
        </p:grpSpPr>
        <p:sp>
          <p:nvSpPr>
            <p:cNvPr id="36" name="Rectangle 36"/>
            <p:cNvSpPr/>
            <p:nvPr/>
          </p:nvSpPr>
          <p:spPr>
            <a:xfrm>
              <a:off x="5905500" y="1714500"/>
              <a:ext cx="5715000" cy="1143000"/>
            </a:xfrm>
            <a:prstGeom prst="roundRect">
              <a:avLst>
                <a:gd name="adj" fmla="val 13333"/>
              </a:avLst>
            </a:prstGeom>
            <a:solidFill>
              <a:srgbClr val="FFFFFF"/>
            </a:solidFill>
            <a:ln w="9525">
              <a:solidFill>
                <a:srgbClr val="D8E1EC"/>
              </a:solidFill>
            </a:ln>
          </p:spPr>
          <p:txBody>
            <a:bodyPr/>
            <a:p/>
          </p:txBody>
        </p:sp>
        <p:sp>
          <p:nvSpPr>
            <p:cNvPr id="37" name="Ellipse 37"/>
            <p:cNvSpPr/>
            <p:nvPr/>
          </p:nvSpPr>
          <p:spPr>
            <a:xfrm>
              <a:off x="6115050" y="1981200"/>
              <a:ext cx="419100" cy="419100"/>
            </a:xfrm>
            <a:prstGeom prst="ellipse">
              <a:avLst/>
            </a:prstGeom>
            <a:solidFill>
              <a:srgbClr val="D6E6F9"/>
            </a:solidFill>
            <a:ln>
              <a:noFill/>
            </a:ln>
          </p:spPr>
          <p:txBody>
            <a:bodyPr/>
            <a:p/>
          </p:txBody>
        </p:sp>
        <p:grpSp>
          <p:nvGrpSpPr>
            <p:cNvPr id="47" name="Group 47"/>
            <p:cNvGrpSpPr/>
            <p:nvPr/>
          </p:nvGrpSpPr>
          <p:grpSpPr>
            <a:xfrm>
              <a:off x="6257925" y="2095500"/>
              <a:ext cx="133350" cy="180975"/>
              <a:chOff x="6257925" y="2095500"/>
              <a:chExt cx="133350" cy="180975"/>
            </a:xfrm>
          </p:grpSpPr>
          <p:sp>
            <p:nvSpPr>
              <p:cNvPr id="38" name="Freeform 38"/>
              <p:cNvSpPr/>
              <p:nvPr/>
            </p:nvSpPr>
            <p:spPr>
              <a:xfrm>
                <a:off x="6267450" y="2114550"/>
                <a:ext cx="114300" cy="76200"/>
              </a:xfrm>
              <a:custGeom>
                <a:avLst/>
                <a:gdLst/>
                <a:ahLst/>
                <a:cxnLst/>
                <a:rect l="l" t="t" r="r" b="b"/>
                <a:pathLst>
                  <a:path w="114300" h="76200">
                    <a:moveTo>
                      <a:pt x="0" y="19050"/>
                    </a:moveTo>
                    <a:cubicBezTo>
                      <a:pt x="0" y="8529"/>
                      <a:pt x="8529" y="0"/>
                      <a:pt x="19050" y="0"/>
                    </a:cubicBezTo>
                    <a:lnTo>
                      <a:pt x="95250" y="0"/>
                    </a:lnTo>
                    <a:cubicBezTo>
                      <a:pt x="105771" y="0"/>
                      <a:pt x="114300" y="8529"/>
                      <a:pt x="114300" y="19050"/>
                    </a:cubicBezTo>
                    <a:lnTo>
                      <a:pt x="114300" y="57150"/>
                    </a:lnTo>
                    <a:cubicBezTo>
                      <a:pt x="114300" y="67671"/>
                      <a:pt x="105771" y="76200"/>
                      <a:pt x="95250" y="76200"/>
                    </a:cubicBezTo>
                    <a:lnTo>
                      <a:pt x="19050" y="76200"/>
                    </a:lnTo>
                    <a:cubicBezTo>
                      <a:pt x="8529" y="76200"/>
                      <a:pt x="0" y="67671"/>
                      <a:pt x="0" y="57150"/>
                    </a:cubicBezTo>
                    <a:lnTo>
                      <a:pt x="0" y="19050"/>
                    </a:lnTo>
                  </a:path>
                </a:pathLst>
              </a:custGeom>
              <a:noFill/>
              <a:ln w="19050">
                <a:solidFill>
                  <a:srgbClr val="1565D8"/>
                </a:solidFill>
              </a:ln>
            </p:spPr>
            <p:txBody>
              <a:bodyPr/>
              <a:p/>
            </p:txBody>
          </p:sp>
          <p:sp>
            <p:nvSpPr>
              <p:cNvPr id="39" name="Freeform 39"/>
              <p:cNvSpPr/>
              <p:nvPr/>
            </p:nvSpPr>
            <p:spPr>
              <a:xfrm>
                <a:off x="6324600" y="2095500"/>
                <a:ext cx="9525" cy="19050"/>
              </a:xfrm>
              <a:custGeom>
                <a:avLst/>
                <a:gdLst/>
                <a:ahLst/>
                <a:cxnLst/>
                <a:rect l="l" t="t" r="r" b="b"/>
                <a:pathLst>
                  <a:path w="9525" h="19050">
                    <a:moveTo>
                      <a:pt x="0" y="0"/>
                    </a:moveTo>
                    <a:lnTo>
                      <a:pt x="0" y="19050"/>
                    </a:lnTo>
                  </a:path>
                </a:pathLst>
              </a:custGeom>
              <a:noFill/>
              <a:ln w="19050">
                <a:solidFill>
                  <a:srgbClr val="1565D8"/>
                </a:solidFill>
              </a:ln>
            </p:spPr>
            <p:txBody>
              <a:bodyPr/>
              <a:p/>
            </p:txBody>
          </p:sp>
          <p:sp>
            <p:nvSpPr>
              <p:cNvPr id="40" name="Freeform 40"/>
              <p:cNvSpPr/>
              <p:nvPr/>
            </p:nvSpPr>
            <p:spPr>
              <a:xfrm>
                <a:off x="6296025" y="2190750"/>
                <a:ext cx="9525" cy="85725"/>
              </a:xfrm>
              <a:custGeom>
                <a:avLst/>
                <a:gdLst/>
                <a:ahLst/>
                <a:cxnLst/>
                <a:rect l="l" t="t" r="r" b="b"/>
                <a:pathLst>
                  <a:path w="9525" h="85725">
                    <a:moveTo>
                      <a:pt x="0" y="0"/>
                    </a:moveTo>
                    <a:lnTo>
                      <a:pt x="0" y="85725"/>
                    </a:lnTo>
                  </a:path>
                </a:pathLst>
              </a:custGeom>
              <a:noFill/>
              <a:ln w="19050">
                <a:solidFill>
                  <a:srgbClr val="1565D8"/>
                </a:solidFill>
              </a:ln>
            </p:spPr>
            <p:txBody>
              <a:bodyPr/>
              <a:p/>
            </p:txBody>
          </p:sp>
          <p:sp>
            <p:nvSpPr>
              <p:cNvPr id="41" name="Freeform 41"/>
              <p:cNvSpPr/>
              <p:nvPr/>
            </p:nvSpPr>
            <p:spPr>
              <a:xfrm>
                <a:off x="6353175" y="2190750"/>
                <a:ext cx="9525" cy="85725"/>
              </a:xfrm>
              <a:custGeom>
                <a:avLst/>
                <a:gdLst/>
                <a:ahLst/>
                <a:cxnLst/>
                <a:rect l="l" t="t" r="r" b="b"/>
                <a:pathLst>
                  <a:path w="9525" h="85725">
                    <a:moveTo>
                      <a:pt x="0" y="0"/>
                    </a:moveTo>
                    <a:lnTo>
                      <a:pt x="0" y="85725"/>
                    </a:lnTo>
                  </a:path>
                </a:pathLst>
              </a:custGeom>
              <a:noFill/>
              <a:ln w="19050">
                <a:solidFill>
                  <a:srgbClr val="1565D8"/>
                </a:solidFill>
              </a:ln>
            </p:spPr>
            <p:txBody>
              <a:bodyPr/>
              <a:p/>
            </p:txBody>
          </p:sp>
          <p:sp>
            <p:nvSpPr>
              <p:cNvPr id="42" name="Freeform 42"/>
              <p:cNvSpPr/>
              <p:nvPr/>
            </p:nvSpPr>
            <p:spPr>
              <a:xfrm>
                <a:off x="6257925" y="2209800"/>
                <a:ext cx="38100" cy="19050"/>
              </a:xfrm>
              <a:custGeom>
                <a:avLst/>
                <a:gdLst/>
                <a:ahLst/>
                <a:cxnLst/>
                <a:rect l="l" t="t" r="r" b="b"/>
                <a:pathLst>
                  <a:path w="38100" h="19050">
                    <a:moveTo>
                      <a:pt x="0" y="19050"/>
                    </a:moveTo>
                    <a:lnTo>
                      <a:pt x="38100" y="0"/>
                    </a:lnTo>
                  </a:path>
                </a:pathLst>
              </a:custGeom>
              <a:noFill/>
              <a:ln w="19050">
                <a:solidFill>
                  <a:srgbClr val="1565D8"/>
                </a:solidFill>
              </a:ln>
            </p:spPr>
            <p:txBody>
              <a:bodyPr/>
              <a:p/>
            </p:txBody>
          </p:sp>
          <p:sp>
            <p:nvSpPr>
              <p:cNvPr id="43" name="Freeform 43"/>
              <p:cNvSpPr/>
              <p:nvPr/>
            </p:nvSpPr>
            <p:spPr>
              <a:xfrm>
                <a:off x="6353175" y="2209800"/>
                <a:ext cx="38100" cy="19050"/>
              </a:xfrm>
              <a:custGeom>
                <a:avLst/>
                <a:gdLst/>
                <a:ahLst/>
                <a:cxnLst/>
                <a:rect l="l" t="t" r="r" b="b"/>
                <a:pathLst>
                  <a:path w="38100" h="19050">
                    <a:moveTo>
                      <a:pt x="0" y="0"/>
                    </a:moveTo>
                    <a:lnTo>
                      <a:pt x="38100" y="19050"/>
                    </a:lnTo>
                  </a:path>
                </a:pathLst>
              </a:custGeom>
              <a:noFill/>
              <a:ln w="19050">
                <a:solidFill>
                  <a:srgbClr val="1565D8"/>
                </a:solidFill>
              </a:ln>
            </p:spPr>
            <p:txBody>
              <a:bodyPr/>
              <a:p/>
            </p:txBody>
          </p:sp>
          <p:sp>
            <p:nvSpPr>
              <p:cNvPr id="44" name="Freeform 44"/>
              <p:cNvSpPr/>
              <p:nvPr/>
            </p:nvSpPr>
            <p:spPr>
              <a:xfrm>
                <a:off x="6296025" y="2247900"/>
                <a:ext cx="57150" cy="9525"/>
              </a:xfrm>
              <a:custGeom>
                <a:avLst/>
                <a:gdLst/>
                <a:ahLst/>
                <a:cxnLst/>
                <a:rect l="l" t="t" r="r" b="b"/>
                <a:pathLst>
                  <a:path w="57150" h="9525">
                    <a:moveTo>
                      <a:pt x="0" y="0"/>
                    </a:moveTo>
                    <a:lnTo>
                      <a:pt x="57150" y="0"/>
                    </a:lnTo>
                  </a:path>
                </a:pathLst>
              </a:custGeom>
              <a:noFill/>
              <a:ln w="19050">
                <a:solidFill>
                  <a:srgbClr val="1565D8"/>
                </a:solidFill>
              </a:ln>
            </p:spPr>
            <p:txBody>
              <a:bodyPr/>
              <a:p/>
            </p:txBody>
          </p:sp>
          <p:sp>
            <p:nvSpPr>
              <p:cNvPr id="45" name="Freeform 45"/>
              <p:cNvSpPr/>
              <p:nvPr/>
            </p:nvSpPr>
            <p:spPr>
              <a:xfrm>
                <a:off x="6305550" y="2152650"/>
                <a:ext cx="9525" cy="9525"/>
              </a:xfrm>
              <a:custGeom>
                <a:avLst/>
                <a:gdLst/>
                <a:ahLst/>
                <a:cxnLst/>
                <a:rect l="l" t="t" r="r" b="b"/>
                <a:pathLst>
                  <a:path w="9525" h="9525">
                    <a:moveTo>
                      <a:pt x="0" y="0"/>
                    </a:moveTo>
                    <a:lnTo>
                      <a:pt x="0" y="95"/>
                    </a:lnTo>
                  </a:path>
                </a:pathLst>
              </a:custGeom>
              <a:noFill/>
              <a:ln w="19050">
                <a:solidFill>
                  <a:srgbClr val="1565D8"/>
                </a:solidFill>
              </a:ln>
            </p:spPr>
            <p:txBody>
              <a:bodyPr/>
              <a:p/>
            </p:txBody>
          </p:sp>
          <p:sp>
            <p:nvSpPr>
              <p:cNvPr id="46" name="Freeform 46"/>
              <p:cNvSpPr/>
              <p:nvPr/>
            </p:nvSpPr>
            <p:spPr>
              <a:xfrm>
                <a:off x="6343650" y="2152650"/>
                <a:ext cx="9525" cy="9525"/>
              </a:xfrm>
              <a:custGeom>
                <a:avLst/>
                <a:gdLst/>
                <a:ahLst/>
                <a:cxnLst/>
                <a:rect l="l" t="t" r="r" b="b"/>
                <a:pathLst>
                  <a:path w="9525" h="9525">
                    <a:moveTo>
                      <a:pt x="0" y="0"/>
                    </a:moveTo>
                    <a:lnTo>
                      <a:pt x="0" y="95"/>
                    </a:lnTo>
                  </a:path>
                </a:pathLst>
              </a:custGeom>
              <a:noFill/>
              <a:ln w="19050">
                <a:solidFill>
                  <a:srgbClr val="1565D8"/>
                </a:solidFill>
              </a:ln>
            </p:spPr>
            <p:txBody>
              <a:bodyPr/>
              <a:p/>
            </p:txBody>
          </p:sp>
        </p:grpSp>
        <p:sp>
          <p:nvSpPr>
            <p:cNvPr id="48" name="TextBox 48"/>
            <p:cNvSpPr txBox="1"/>
            <p:nvPr/>
          </p:nvSpPr>
          <p:spPr>
            <a:xfrm>
              <a:off x="6646545" y="1955482"/>
              <a:ext cx="1890141" cy="33528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650" b="1" dirty="0">
                  <a:solidFill>
                    <a:srgbClr val="2B3648"/>
                  </a:solidFill>
                  <a:latin typeface="Arial"/>
                  <a:ea typeface="Microsoft YaHei"/>
                  <a:cs typeface="Arial"/>
                </a:rPr>
                <a:t>不是聊天，是干活</a:t>
              </a:r>
            </a:p>
          </p:txBody>
        </p:sp>
        <p:sp>
          <p:nvSpPr>
            <p:cNvPr id="49" name="TextBox 49"/>
            <p:cNvSpPr txBox="1"/>
            <p:nvPr/>
          </p:nvSpPr>
          <p:spPr>
            <a:xfrm>
              <a:off x="6652260" y="2327910"/>
              <a:ext cx="4351020" cy="24384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00" dirty="0">
                  <a:solidFill>
                    <a:srgbClr val="5B6B82"/>
                  </a:solidFill>
                  <a:latin typeface="Arial"/>
                  <a:ea typeface="Microsoft YaHei"/>
                  <a:cs typeface="Arial"/>
                </a:rPr>
                <a:t>你给它目标，它自己拆解、自己执行、干完看结果、再调整，</a:t>
              </a:r>
            </a:p>
          </p:txBody>
        </p:sp>
        <p:sp>
          <p:nvSpPr>
            <p:cNvPr id="50" name="TextBox 50"/>
            <p:cNvSpPr txBox="1"/>
            <p:nvPr/>
          </p:nvSpPr>
          <p:spPr>
            <a:xfrm>
              <a:off x="6652260" y="2575560"/>
              <a:ext cx="1310640" cy="24384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00" dirty="0">
                  <a:solidFill>
                    <a:srgbClr val="5B6B82"/>
                  </a:solidFill>
                  <a:latin typeface="Arial"/>
                  <a:ea typeface="Microsoft YaHei"/>
                  <a:cs typeface="Arial"/>
                </a:rPr>
                <a:t>一轮轮逼近完成。</a:t>
              </a:r>
            </a:p>
          </p:txBody>
        </p:sp>
      </p:grpSp>
      <p:grpSp>
        <p:nvGrpSpPr>
          <p:cNvPr id="72" name="Group 72"/>
          <p:cNvGrpSpPr/>
          <p:nvPr/>
        </p:nvGrpSpPr>
        <p:grpSpPr>
          <a:xfrm>
            <a:off x="6000750" y="3314700"/>
            <a:ext cx="2702243" cy="1790700"/>
            <a:chOff x="6000750" y="3314700"/>
            <a:chExt cx="2702243" cy="1790700"/>
          </a:xfrm>
        </p:grpSpPr>
        <p:grpSp>
          <p:nvGrpSpPr>
            <p:cNvPr id="56" name="Group 56"/>
            <p:cNvGrpSpPr/>
            <p:nvPr/>
          </p:nvGrpSpPr>
          <p:grpSpPr>
            <a:xfrm>
              <a:off x="6000750" y="3314700"/>
              <a:ext cx="2702243" cy="304800"/>
              <a:chOff x="6000750" y="3314700"/>
              <a:chExt cx="2702243" cy="304800"/>
            </a:xfrm>
          </p:grpSpPr>
          <p:sp>
            <p:nvSpPr>
              <p:cNvPr id="52" name="Ellipse 52"/>
              <p:cNvSpPr/>
              <p:nvPr/>
            </p:nvSpPr>
            <p:spPr>
              <a:xfrm>
                <a:off x="6000750" y="3314700"/>
                <a:ext cx="266700" cy="266700"/>
              </a:xfrm>
              <a:prstGeom prst="ellipse">
                <a:avLst/>
              </a:prstGeom>
              <a:solidFill>
                <a:srgbClr val="1565D8"/>
              </a:solidFill>
              <a:ln>
                <a:noFill/>
              </a:ln>
            </p:spPr>
            <p:txBody>
              <a:bodyPr/>
              <a:p/>
            </p:txBody>
          </p:sp>
          <p:sp>
            <p:nvSpPr>
              <p:cNvPr id="53" name="TextBox 53"/>
              <p:cNvSpPr txBox="1"/>
              <p:nvPr/>
            </p:nvSpPr>
            <p:spPr>
              <a:xfrm>
                <a:off x="6080335" y="3382328"/>
                <a:ext cx="107530" cy="21336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ctr"/>
                <a:r>
                  <a:rPr lang="zh-CN" sz="1050" b="1" dirty="0">
                    <a:solidFill>
                      <a:srgbClr val="FFFFFF"/>
                    </a:solidFill>
                    <a:latin typeface="Arial"/>
                    <a:ea typeface="Microsoft YaHei"/>
                    <a:cs typeface="Arial"/>
                  </a:rPr>
                  <a:t>1</a:t>
                </a:r>
              </a:p>
            </p:txBody>
          </p:sp>
          <p:sp>
            <p:nvSpPr>
              <p:cNvPr id="54" name="TextBox 54"/>
              <p:cNvSpPr txBox="1"/>
              <p:nvPr/>
            </p:nvSpPr>
            <p:spPr>
              <a:xfrm>
                <a:off x="6385560" y="3375660"/>
                <a:ext cx="366522" cy="24384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l"/>
                <a:r>
                  <a:rPr lang="zh-CN" sz="1200" b="1" dirty="0">
                    <a:solidFill>
                      <a:srgbClr val="2B3648"/>
                    </a:solidFill>
                    <a:latin typeface="Arial"/>
                    <a:ea typeface="Microsoft YaHei"/>
                    <a:cs typeface="Arial"/>
                  </a:rPr>
                  <a:t>感知</a:t>
                </a:r>
              </a:p>
            </p:txBody>
          </p:sp>
          <p:sp>
            <p:nvSpPr>
              <p:cNvPr id="55" name="TextBox 55"/>
              <p:cNvSpPr txBox="1"/>
              <p:nvPr/>
            </p:nvSpPr>
            <p:spPr>
              <a:xfrm>
                <a:off x="7416165" y="3391852"/>
                <a:ext cx="1286828" cy="21336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l"/>
                <a:r>
                  <a:rPr lang="zh-CN" sz="1050" dirty="0">
                    <a:solidFill>
                      <a:srgbClr val="5B6B82"/>
                    </a:solidFill>
                    <a:latin typeface="Arial"/>
                    <a:ea typeface="Microsoft YaHei"/>
                    <a:cs typeface="Arial"/>
                  </a:rPr>
                  <a:t>理解目标和当前状态</a:t>
                </a:r>
              </a:p>
            </p:txBody>
          </p:sp>
        </p:grpSp>
        <p:grpSp>
          <p:nvGrpSpPr>
            <p:cNvPr id="61" name="Group 61"/>
            <p:cNvGrpSpPr/>
            <p:nvPr/>
          </p:nvGrpSpPr>
          <p:grpSpPr>
            <a:xfrm>
              <a:off x="6000750" y="3810000"/>
              <a:ext cx="2142173" cy="304800"/>
              <a:chOff x="6000750" y="3810000"/>
              <a:chExt cx="2142173" cy="304800"/>
            </a:xfrm>
          </p:grpSpPr>
          <p:sp>
            <p:nvSpPr>
              <p:cNvPr id="57" name="Ellipse 57"/>
              <p:cNvSpPr/>
              <p:nvPr/>
            </p:nvSpPr>
            <p:spPr>
              <a:xfrm>
                <a:off x="6000750" y="3810000"/>
                <a:ext cx="266700" cy="266700"/>
              </a:xfrm>
              <a:prstGeom prst="ellipse">
                <a:avLst/>
              </a:prstGeom>
              <a:solidFill>
                <a:srgbClr val="35A3E8"/>
              </a:solidFill>
              <a:ln>
                <a:noFill/>
              </a:ln>
            </p:spPr>
            <p:txBody>
              <a:bodyPr/>
              <a:p/>
            </p:txBody>
          </p:sp>
          <p:sp>
            <p:nvSpPr>
              <p:cNvPr id="58" name="TextBox 58"/>
              <p:cNvSpPr txBox="1"/>
              <p:nvPr/>
            </p:nvSpPr>
            <p:spPr>
              <a:xfrm>
                <a:off x="6080335" y="3877628"/>
                <a:ext cx="107530" cy="21336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ctr"/>
                <a:r>
                  <a:rPr lang="zh-CN" sz="1050" b="1" dirty="0">
                    <a:solidFill>
                      <a:srgbClr val="FFFFFF"/>
                    </a:solidFill>
                    <a:latin typeface="Arial"/>
                    <a:ea typeface="Microsoft YaHei"/>
                    <a:cs typeface="Arial"/>
                  </a:rPr>
                  <a:t>2</a:t>
                </a:r>
              </a:p>
            </p:txBody>
          </p:sp>
          <p:sp>
            <p:nvSpPr>
              <p:cNvPr id="59" name="TextBox 59"/>
              <p:cNvSpPr txBox="1"/>
              <p:nvPr/>
            </p:nvSpPr>
            <p:spPr>
              <a:xfrm>
                <a:off x="6385560" y="3870960"/>
                <a:ext cx="366522" cy="24384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l"/>
                <a:r>
                  <a:rPr lang="zh-CN" sz="1200" b="1" dirty="0">
                    <a:solidFill>
                      <a:srgbClr val="2B3648"/>
                    </a:solidFill>
                    <a:latin typeface="Arial"/>
                    <a:ea typeface="Microsoft YaHei"/>
                    <a:cs typeface="Arial"/>
                  </a:rPr>
                  <a:t>计划</a:t>
                </a:r>
              </a:p>
            </p:txBody>
          </p:sp>
          <p:sp>
            <p:nvSpPr>
              <p:cNvPr id="60" name="TextBox 60"/>
              <p:cNvSpPr txBox="1"/>
              <p:nvPr/>
            </p:nvSpPr>
            <p:spPr>
              <a:xfrm>
                <a:off x="7416165" y="3887152"/>
                <a:ext cx="726758" cy="21336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l"/>
                <a:r>
                  <a:rPr lang="zh-CN" sz="1050" dirty="0">
                    <a:solidFill>
                      <a:srgbClr val="5B6B82"/>
                    </a:solidFill>
                    <a:latin typeface="Arial"/>
                    <a:ea typeface="Microsoft YaHei"/>
                    <a:cs typeface="Arial"/>
                  </a:rPr>
                  <a:t>拆成一步步</a:t>
                </a:r>
              </a:p>
            </p:txBody>
          </p:sp>
        </p:grpSp>
        <p:grpSp>
          <p:nvGrpSpPr>
            <p:cNvPr id="66" name="Group 66"/>
            <p:cNvGrpSpPr/>
            <p:nvPr/>
          </p:nvGrpSpPr>
          <p:grpSpPr>
            <a:xfrm>
              <a:off x="6000750" y="4305300"/>
              <a:ext cx="2422207" cy="304800"/>
              <a:chOff x="6000750" y="4305300"/>
              <a:chExt cx="2422207" cy="304800"/>
            </a:xfrm>
          </p:grpSpPr>
          <p:sp>
            <p:nvSpPr>
              <p:cNvPr id="62" name="Ellipse 62"/>
              <p:cNvSpPr/>
              <p:nvPr/>
            </p:nvSpPr>
            <p:spPr>
              <a:xfrm>
                <a:off x="6000750" y="4305300"/>
                <a:ext cx="266700" cy="266700"/>
              </a:xfrm>
              <a:prstGeom prst="ellipse">
                <a:avLst/>
              </a:prstGeom>
              <a:solidFill>
                <a:srgbClr val="1565D8"/>
              </a:solidFill>
              <a:ln>
                <a:noFill/>
              </a:ln>
            </p:spPr>
            <p:txBody>
              <a:bodyPr/>
              <a:p/>
            </p:txBody>
          </p:sp>
          <p:sp>
            <p:nvSpPr>
              <p:cNvPr id="63" name="TextBox 63"/>
              <p:cNvSpPr txBox="1"/>
              <p:nvPr/>
            </p:nvSpPr>
            <p:spPr>
              <a:xfrm>
                <a:off x="6080335" y="4372928"/>
                <a:ext cx="107530" cy="21336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ctr"/>
                <a:r>
                  <a:rPr lang="zh-CN" sz="1050" b="1" dirty="0">
                    <a:solidFill>
                      <a:srgbClr val="FFFFFF"/>
                    </a:solidFill>
                    <a:latin typeface="Arial"/>
                    <a:ea typeface="Microsoft YaHei"/>
                    <a:cs typeface="Arial"/>
                  </a:rPr>
                  <a:t>3</a:t>
                </a:r>
              </a:p>
            </p:txBody>
          </p:sp>
          <p:sp>
            <p:nvSpPr>
              <p:cNvPr id="64" name="TextBox 64"/>
              <p:cNvSpPr txBox="1"/>
              <p:nvPr/>
            </p:nvSpPr>
            <p:spPr>
              <a:xfrm>
                <a:off x="6385560" y="4366260"/>
                <a:ext cx="366522" cy="24384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l"/>
                <a:r>
                  <a:rPr lang="zh-CN" sz="1200" b="1" dirty="0">
                    <a:solidFill>
                      <a:srgbClr val="2B3648"/>
                    </a:solidFill>
                    <a:latin typeface="Arial"/>
                    <a:ea typeface="Microsoft YaHei"/>
                    <a:cs typeface="Arial"/>
                  </a:rPr>
                  <a:t>行动</a:t>
                </a:r>
              </a:p>
            </p:txBody>
          </p:sp>
          <p:sp>
            <p:nvSpPr>
              <p:cNvPr id="65" name="TextBox 65"/>
              <p:cNvSpPr txBox="1"/>
              <p:nvPr/>
            </p:nvSpPr>
            <p:spPr>
              <a:xfrm>
                <a:off x="7416165" y="4382452"/>
                <a:ext cx="1006792" cy="21336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l"/>
                <a:r>
                  <a:rPr lang="zh-CN" sz="1050" dirty="0">
                    <a:solidFill>
                      <a:srgbClr val="5B6B82"/>
                    </a:solidFill>
                    <a:latin typeface="Arial"/>
                    <a:ea typeface="Microsoft YaHei"/>
                    <a:cs typeface="Arial"/>
                  </a:rPr>
                  <a:t>调工具把活干了</a:t>
                </a:r>
              </a:p>
            </p:txBody>
          </p:sp>
        </p:grpSp>
        <p:grpSp>
          <p:nvGrpSpPr>
            <p:cNvPr id="71" name="Group 71"/>
            <p:cNvGrpSpPr/>
            <p:nvPr/>
          </p:nvGrpSpPr>
          <p:grpSpPr>
            <a:xfrm>
              <a:off x="6000750" y="4800600"/>
              <a:ext cx="2422207" cy="304800"/>
              <a:chOff x="6000750" y="4800600"/>
              <a:chExt cx="2422207" cy="304800"/>
            </a:xfrm>
          </p:grpSpPr>
          <p:sp>
            <p:nvSpPr>
              <p:cNvPr id="67" name="Ellipse 67"/>
              <p:cNvSpPr/>
              <p:nvPr/>
            </p:nvSpPr>
            <p:spPr>
              <a:xfrm>
                <a:off x="6000750" y="4800600"/>
                <a:ext cx="266700" cy="266700"/>
              </a:xfrm>
              <a:prstGeom prst="ellipse">
                <a:avLst/>
              </a:prstGeom>
              <a:solidFill>
                <a:srgbClr val="0B4EA2"/>
              </a:solidFill>
              <a:ln>
                <a:noFill/>
              </a:ln>
            </p:spPr>
            <p:txBody>
              <a:bodyPr/>
              <a:p/>
            </p:txBody>
          </p:sp>
          <p:sp>
            <p:nvSpPr>
              <p:cNvPr id="68" name="TextBox 68"/>
              <p:cNvSpPr txBox="1"/>
              <p:nvPr/>
            </p:nvSpPr>
            <p:spPr>
              <a:xfrm>
                <a:off x="6080335" y="4868228"/>
                <a:ext cx="107530" cy="21336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ctr"/>
                <a:r>
                  <a:rPr lang="zh-CN" sz="1050" b="1" dirty="0">
                    <a:solidFill>
                      <a:srgbClr val="FFFFFF"/>
                    </a:solidFill>
                    <a:latin typeface="Arial"/>
                    <a:ea typeface="Microsoft YaHei"/>
                    <a:cs typeface="Arial"/>
                  </a:rPr>
                  <a:t>4</a:t>
                </a:r>
              </a:p>
            </p:txBody>
          </p:sp>
          <p:sp>
            <p:nvSpPr>
              <p:cNvPr id="69" name="TextBox 69"/>
              <p:cNvSpPr txBox="1"/>
              <p:nvPr/>
            </p:nvSpPr>
            <p:spPr>
              <a:xfrm>
                <a:off x="6385560" y="4861560"/>
                <a:ext cx="366522" cy="24384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l"/>
                <a:r>
                  <a:rPr lang="zh-CN" sz="1200" b="1" dirty="0">
                    <a:solidFill>
                      <a:srgbClr val="2B3648"/>
                    </a:solidFill>
                    <a:latin typeface="Arial"/>
                    <a:ea typeface="Microsoft YaHei"/>
                    <a:cs typeface="Arial"/>
                  </a:rPr>
                  <a:t>观察</a:t>
                </a:r>
              </a:p>
            </p:txBody>
          </p:sp>
          <p:sp>
            <p:nvSpPr>
              <p:cNvPr id="70" name="TextBox 70"/>
              <p:cNvSpPr txBox="1"/>
              <p:nvPr/>
            </p:nvSpPr>
            <p:spPr>
              <a:xfrm>
                <a:off x="7416165" y="4877752"/>
                <a:ext cx="1006792" cy="21336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l"/>
                <a:r>
                  <a:rPr lang="zh-CN" sz="1050" dirty="0">
                    <a:solidFill>
                      <a:srgbClr val="5B6B82"/>
                    </a:solidFill>
                    <a:latin typeface="Arial"/>
                    <a:ea typeface="Microsoft YaHei"/>
                    <a:cs typeface="Arial"/>
                  </a:rPr>
                  <a:t>看结果，再调整</a:t>
                </a:r>
              </a:p>
            </p:txBody>
          </p:sp>
        </p:grpSp>
      </p:grpSp>
      <p:grpSp>
        <p:nvGrpSpPr>
          <p:cNvPr id="76" name="Group 76"/>
          <p:cNvGrpSpPr/>
          <p:nvPr/>
        </p:nvGrpSpPr>
        <p:grpSpPr>
          <a:xfrm>
            <a:off x="571500" y="5905500"/>
            <a:ext cx="11049000" cy="419100"/>
            <a:chOff x="571500" y="5905500"/>
            <a:chExt cx="11049000" cy="419100"/>
          </a:xfrm>
        </p:grpSpPr>
        <p:sp>
          <p:nvSpPr>
            <p:cNvPr id="73" name="Rectangle 73"/>
            <p:cNvSpPr/>
            <p:nvPr/>
          </p:nvSpPr>
          <p:spPr>
            <a:xfrm>
              <a:off x="571500" y="5905500"/>
              <a:ext cx="11049000" cy="419100"/>
            </a:xfrm>
            <a:prstGeom prst="roundRect">
              <a:avLst>
                <a:gd name="adj" fmla="val 36364"/>
              </a:avLst>
            </a:prstGeom>
            <a:solidFill>
              <a:srgbClr val="D6E6F9"/>
            </a:solidFill>
            <a:ln>
              <a:noFill/>
            </a:ln>
          </p:spPr>
          <p:txBody>
            <a:bodyPr/>
            <a:p/>
          </p:txBody>
        </p:sp>
        <p:sp>
          <p:nvSpPr>
            <p:cNvPr id="74" name="Rectangle 74"/>
            <p:cNvSpPr/>
            <p:nvPr/>
          </p:nvSpPr>
          <p:spPr>
            <a:xfrm>
              <a:off x="571500" y="5905500"/>
              <a:ext cx="76200" cy="419100"/>
            </a:xfrm>
            <a:prstGeom prst="roundRect">
              <a:avLst>
                <a:gd name="adj" fmla="val 50000"/>
              </a:avLst>
            </a:prstGeom>
            <a:solidFill>
              <a:srgbClr val="1565D8"/>
            </a:solidFill>
            <a:ln>
              <a:noFill/>
            </a:ln>
          </p:spPr>
          <p:txBody>
            <a:bodyPr/>
            <a:p/>
          </p:txBody>
        </p:sp>
        <p:sp>
          <p:nvSpPr>
            <p:cNvPr id="75" name="TextBox 75"/>
            <p:cNvSpPr txBox="1"/>
            <p:nvPr/>
          </p:nvSpPr>
          <p:spPr>
            <a:xfrm>
              <a:off x="859155" y="6026468"/>
              <a:ext cx="4381833" cy="27432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b="1" dirty="0">
                  <a:solidFill>
                    <a:srgbClr val="0B4EA2"/>
                  </a:solidFill>
                  <a:latin typeface="Arial"/>
                  <a:ea typeface="Microsoft YaHei"/>
                  <a:cs typeface="Arial"/>
                </a:rPr>
                <a:t>一次能派 300 个子 Agent——2026，「派 AI 办事」</a:t>
              </a:r>
            </a:p>
          </p:txBody>
        </p:sp>
      </p:grpSp>
      <p:grpSp>
        <p:nvGrpSpPr>
          <p:cNvPr id="79" name="Group 79"/>
          <p:cNvGrpSpPr/>
          <p:nvPr/>
        </p:nvGrpSpPr>
        <p:grpSpPr>
          <a:xfrm>
            <a:off x="560070" y="6341745"/>
            <a:ext cx="11071860" cy="182880"/>
            <a:chOff x="560070" y="6341745"/>
            <a:chExt cx="11071860" cy="182880"/>
          </a:xfrm>
        </p:grpSpPr>
        <p:sp>
          <p:nvSpPr>
            <p:cNvPr id="77" name="TextBox 77"/>
            <p:cNvSpPr txBox="1"/>
            <p:nvPr/>
          </p:nvSpPr>
          <p:spPr>
            <a:xfrm>
              <a:off x="560070" y="6341745"/>
              <a:ext cx="1054989" cy="18288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00" dirty="0">
                  <a:solidFill>
                    <a:srgbClr val="8B99AE"/>
                  </a:solidFill>
                  <a:latin typeface="Arial"/>
                  <a:ea typeface="Microsoft YaHei"/>
                  <a:cs typeface="Arial"/>
                </a:rPr>
                <a:t>大模型通识 · 企业版</a:t>
              </a:r>
            </a:p>
          </p:txBody>
        </p:sp>
        <p:sp>
          <p:nvSpPr>
            <p:cNvPr id="78" name="TextBox 78"/>
            <p:cNvSpPr txBox="1"/>
            <p:nvPr/>
          </p:nvSpPr>
          <p:spPr>
            <a:xfrm>
              <a:off x="11207020" y="6341745"/>
              <a:ext cx="424910" cy="18288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r"/>
              <a:r>
                <a:rPr lang="zh-CN" sz="900" dirty="0">
                  <a:solidFill>
                    <a:srgbClr val="8B99AE"/>
                  </a:solidFill>
                  <a:latin typeface="Arial"/>
                  <a:ea typeface="Microsoft YaHei"/>
                  <a:cs typeface="Arial"/>
                </a:rPr>
                <a:t>37 / 51</a:t>
              </a:r>
            </a:p>
          </p:txBody>
        </p:sp>
      </p:grpSp>
    </p:spTree>
  </p:cSld>
  <p:clrMapOvr>
    <a:masterClrMapping/>
  </p:clrMapOvr>
  <p:transition xmlns:p14="http://schemas.microsoft.com/office/powerpoint/2010/main" p14:dur="400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entr" presetSubtype="4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slide(fromBottom)">
                                      <p:cBhvr>
                                        <p:cTn id="7" dur="4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900"/>
                            </p:stCondLst>
                            <p:childTnLst>
                              <p:par>
                                <p:cTn id="9" presetID="23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image">
                                      <p:cBhvr>
                                        <p:cTn id="11" dur="4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2" fill="hold">
                            <p:stCondLst>
                              <p:cond delay="1800"/>
                            </p:stCondLst>
                            <p:childTnLst>
                              <p:par>
                                <p:cTn id="13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4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6" fill="hold">
                            <p:stCondLst>
                              <p:cond delay="2700"/>
                            </p:stCondLst>
                            <p:childTnLst>
                              <p:par>
                                <p:cTn id="17" presetID="22" presetClass="entr" presetSubtype="1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9" dur="4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0" fill="hold">
                            <p:stCondLst>
                              <p:cond delay="3600"/>
                            </p:stCondLst>
                            <p:childTnLst>
                              <p:par>
                                <p:cTn id="21" presetID="2" presetClass="entr" presetSubtype="4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slide(fromBottom)">
                                      <p:cBhvr>
                                        <p:cTn id="23" dur="4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4" fill="hold">
                            <p:stCondLst>
                              <p:cond delay="4500"/>
                            </p:stCondLst>
                            <p:childTnLst>
                              <p:par>
                                <p:cTn id="25" presetID="23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image">
                                      <p:cBhvr>
                                        <p:cTn id="27" dur="4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8" fill="hold">
                            <p:stCondLst>
                              <p:cond delay="5400"/>
                            </p:stCondLst>
                            <p:childTnLst>
                              <p:par>
                                <p:cTn id="29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1" dur="40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2" fill="hold">
                            <p:stCondLst>
                              <p:cond delay="6300"/>
                            </p:stCondLst>
                            <p:childTnLst>
                              <p:par>
                                <p:cTn id="33" presetID="22" presetClass="entr" presetSubtype="1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5" dur="400"/>
                                        <p:tgtEl>
                                          <p:spTgt spid="5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6" fill="hold">
                            <p:stCondLst>
                              <p:cond delay="7200"/>
                            </p:stCondLst>
                            <p:childTnLst>
                              <p:par>
                                <p:cTn id="37" presetID="2" presetClass="entr" presetSubtype="4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slide(fromBottom)">
                                      <p:cBhvr>
                                        <p:cTn id="39" dur="400"/>
                                        <p:tgtEl>
                                          <p:spTgt spid="7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0" fill="hold">
                            <p:stCondLst>
                              <p:cond delay="8100"/>
                            </p:stCondLst>
                            <p:childTnLst>
                              <p:par>
                                <p:cTn id="41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3" dur="400"/>
                                        <p:tgtEl>
                                          <p:spTgt spid="7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1" grpId="0"/>
      <p:bldP spid="16" grpId="0"/>
      <p:bldP spid="19" grpId="0"/>
      <p:bldP spid="23" grpId="0"/>
      <p:bldP spid="27" grpId="0"/>
      <p:bldP spid="31" grpId="0"/>
      <p:bldP spid="35" grpId="0"/>
      <p:bldP spid="51" grpId="0"/>
      <p:bldP spid="72" grpId="0"/>
      <p:bldP spid="76" grpId="0"/>
    </p:bldLst>
  </p:timing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5" name="Group 5"/>
          <p:cNvGrpSpPr/>
          <p:nvPr/>
        </p:nvGrpSpPr>
        <p:grpSpPr>
          <a:xfrm>
            <a:off x="-1619250" y="0"/>
            <a:ext cx="13811250" cy="8477250"/>
            <a:chOff x="-1619250" y="0"/>
            <a:chExt cx="13811250" cy="8477250"/>
          </a:xfrm>
        </p:grpSpPr>
        <p:sp>
          <p:nvSpPr>
            <p:cNvPr id="2" name="Rectangle 2"/>
            <p:cNvSpPr/>
            <p:nvPr/>
          </p:nvSpPr>
          <p:spPr>
            <a:xfrm>
              <a:off x="0" y="0"/>
              <a:ext cx="12192000" cy="6858000"/>
            </a:xfrm>
            <a:prstGeom prst="rect">
              <a:avLst/>
            </a:prstGeom>
            <a:solidFill>
              <a:srgbClr val="F5F7FA"/>
            </a:solidFill>
            <a:ln>
              <a:noFill/>
            </a:ln>
          </p:spPr>
          <p:txBody>
            <a:bodyPr/>
            <a:p/>
          </p:txBody>
        </p:sp>
        <p:sp>
          <p:nvSpPr>
            <p:cNvPr id="3" name="Rectangle 3"/>
            <p:cNvSpPr/>
            <p:nvPr/>
          </p:nvSpPr>
          <p:spPr>
            <a:xfrm>
              <a:off x="0" y="0"/>
              <a:ext cx="12192000" cy="6858000"/>
            </a:xfrm>
            <a:prstGeom prst="rect">
              <a:avLst/>
            </a:prstGeom>
            <a:gradFill>
              <a:gsLst>
                <a:gs pos="0">
                  <a:srgbClr val="1565D8">
                    <a:alpha val="6000"/>
                  </a:srgbClr>
                </a:gs>
                <a:gs pos="100000">
                  <a:srgbClr val="1565D8">
                    <a:alpha val="0"/>
                  </a:srgbClr>
                </a:gs>
              </a:gsLst>
              <a:path path="circle">
                <a:fillToRect l="50000" t="50000" r="50000" b="50000"/>
              </a:path>
            </a:gradFill>
            <a:ln>
              <a:noFill/>
            </a:ln>
          </p:spPr>
          <p:txBody>
            <a:bodyPr/>
            <a:p/>
          </p:txBody>
        </p:sp>
        <p:sp>
          <p:nvSpPr>
            <p:cNvPr id="4" name="Ellipse 4"/>
            <p:cNvSpPr/>
            <p:nvPr/>
          </p:nvSpPr>
          <p:spPr>
            <a:xfrm>
              <a:off x="-1619250" y="4667250"/>
              <a:ext cx="3810000" cy="3810000"/>
            </a:xfrm>
            <a:prstGeom prst="ellipse">
              <a:avLst/>
            </a:prstGeom>
            <a:noFill/>
            <a:ln w="14288">
              <a:solidFill>
                <a:srgbClr val="D6E6F9">
                  <a:alpha val="80000"/>
                </a:srgbClr>
              </a:solidFill>
            </a:ln>
          </p:spPr>
          <p:txBody>
            <a:bodyPr/>
            <a:p/>
          </p:txBody>
        </p:sp>
      </p:grpSp>
      <p:grpSp>
        <p:nvGrpSpPr>
          <p:cNvPr id="9" name="Group 9"/>
          <p:cNvGrpSpPr/>
          <p:nvPr/>
        </p:nvGrpSpPr>
        <p:grpSpPr>
          <a:xfrm>
            <a:off x="571500" y="685800"/>
            <a:ext cx="3722608" cy="700088"/>
            <a:chOff x="571500" y="685800"/>
            <a:chExt cx="3722608" cy="700088"/>
          </a:xfrm>
        </p:grpSpPr>
        <p:sp>
          <p:nvSpPr>
            <p:cNvPr id="6" name="Rectangle 6"/>
            <p:cNvSpPr/>
            <p:nvPr/>
          </p:nvSpPr>
          <p:spPr>
            <a:xfrm>
              <a:off x="571500" y="685800"/>
              <a:ext cx="76200" cy="323850"/>
            </a:xfrm>
            <a:prstGeom prst="roundRect">
              <a:avLst>
                <a:gd name="adj" fmla="val 50000"/>
              </a:avLst>
            </a:prstGeom>
            <a:solidFill>
              <a:srgbClr val="1565D8"/>
            </a:solidFill>
            <a:ln>
              <a:noFill/>
            </a:ln>
          </p:spPr>
          <p:txBody>
            <a:bodyPr/>
            <a:p/>
          </p:txBody>
        </p:sp>
        <p:sp>
          <p:nvSpPr>
            <p:cNvPr id="7" name="TextBox 7"/>
            <p:cNvSpPr txBox="1"/>
            <p:nvPr/>
          </p:nvSpPr>
          <p:spPr>
            <a:xfrm>
              <a:off x="771525" y="700088"/>
              <a:ext cx="3522583" cy="45720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2250" b="1" dirty="0">
                  <a:solidFill>
                    <a:srgbClr val="2B3648"/>
                  </a:solidFill>
                  <a:latin typeface="Arial"/>
                  <a:ea typeface="Microsoft YaHei"/>
                  <a:cs typeface="Arial"/>
                </a:rPr>
                <a:t>Agent 与 Copilot 的区别</a:t>
              </a:r>
            </a:p>
          </p:txBody>
        </p:sp>
        <p:sp>
          <p:nvSpPr>
            <p:cNvPr id="8" name="TextBox 8"/>
            <p:cNvSpPr txBox="1"/>
            <p:nvPr/>
          </p:nvSpPr>
          <p:spPr>
            <a:xfrm>
              <a:off x="782955" y="1111568"/>
              <a:ext cx="2914650" cy="27432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5B6B82"/>
                  </a:solidFill>
                  <a:latin typeface="Arial"/>
                  <a:ea typeface="Microsoft YaHei"/>
                  <a:cs typeface="Arial"/>
                </a:rPr>
                <a:t>两种「干活方式」，安全等级不一样</a:t>
              </a:r>
            </a:p>
          </p:txBody>
        </p:sp>
      </p:grpSp>
      <p:grpSp>
        <p:nvGrpSpPr>
          <p:cNvPr id="28" name="Group 28"/>
          <p:cNvGrpSpPr/>
          <p:nvPr/>
        </p:nvGrpSpPr>
        <p:grpSpPr>
          <a:xfrm>
            <a:off x="571500" y="1619250"/>
            <a:ext cx="5334000" cy="3524250"/>
            <a:chOff x="571500" y="1619250"/>
            <a:chExt cx="5334000" cy="3524250"/>
          </a:xfrm>
        </p:grpSpPr>
        <p:sp>
          <p:nvSpPr>
            <p:cNvPr id="10" name="Rectangle 10"/>
            <p:cNvSpPr/>
            <p:nvPr/>
          </p:nvSpPr>
          <p:spPr>
            <a:xfrm>
              <a:off x="571500" y="1619250"/>
              <a:ext cx="5334000" cy="3524250"/>
            </a:xfrm>
            <a:prstGeom prst="roundRect">
              <a:avLst>
                <a:gd name="adj" fmla="val 4324"/>
              </a:avLst>
            </a:prstGeom>
            <a:solidFill>
              <a:srgbClr val="FFFFFF"/>
            </a:solidFill>
            <a:ln w="9525">
              <a:solidFill>
                <a:srgbClr val="D8E1EC"/>
              </a:solidFill>
            </a:ln>
          </p:spPr>
          <p:txBody>
            <a:bodyPr/>
            <a:p/>
          </p:txBody>
        </p:sp>
        <p:sp>
          <p:nvSpPr>
            <p:cNvPr id="11" name="Ellipse 11"/>
            <p:cNvSpPr/>
            <p:nvPr/>
          </p:nvSpPr>
          <p:spPr>
            <a:xfrm>
              <a:off x="857250" y="1905000"/>
              <a:ext cx="495300" cy="495300"/>
            </a:xfrm>
            <a:prstGeom prst="ellipse">
              <a:avLst/>
            </a:prstGeom>
            <a:solidFill>
              <a:srgbClr val="D6E6F9"/>
            </a:solidFill>
            <a:ln>
              <a:noFill/>
            </a:ln>
          </p:spPr>
          <p:txBody>
            <a:bodyPr/>
            <a:p/>
          </p:txBody>
        </p:sp>
        <p:grpSp>
          <p:nvGrpSpPr>
            <p:cNvPr id="15" name="Group 15"/>
            <p:cNvGrpSpPr/>
            <p:nvPr/>
          </p:nvGrpSpPr>
          <p:grpSpPr>
            <a:xfrm>
              <a:off x="1004888" y="2085975"/>
              <a:ext cx="200025" cy="144463"/>
              <a:chOff x="1004888" y="2085975"/>
              <a:chExt cx="200025" cy="144463"/>
            </a:xfrm>
          </p:grpSpPr>
          <p:sp>
            <p:nvSpPr>
              <p:cNvPr id="12" name="Freeform 12"/>
              <p:cNvSpPr/>
              <p:nvPr/>
            </p:nvSpPr>
            <p:spPr>
              <a:xfrm>
                <a:off x="1027112" y="2185988"/>
                <a:ext cx="44450" cy="44450"/>
              </a:xfrm>
              <a:custGeom>
                <a:avLst/>
                <a:gdLst/>
                <a:ahLst/>
                <a:cxnLst/>
                <a:rect l="l" t="t" r="r" b="b"/>
                <a:pathLst>
                  <a:path w="44450" h="44450">
                    <a:moveTo>
                      <a:pt x="0" y="22225"/>
                    </a:moveTo>
                    <a:cubicBezTo>
                      <a:pt x="0" y="34500"/>
                      <a:pt x="9950" y="44450"/>
                      <a:pt x="22225" y="44450"/>
                    </a:cubicBezTo>
                    <a:cubicBezTo>
                      <a:pt x="34500" y="44450"/>
                      <a:pt x="44450" y="34500"/>
                      <a:pt x="44450" y="22225"/>
                    </a:cubicBezTo>
                    <a:cubicBezTo>
                      <a:pt x="44450" y="9950"/>
                      <a:pt x="34500" y="0"/>
                      <a:pt x="22225" y="0"/>
                    </a:cubicBezTo>
                    <a:cubicBezTo>
                      <a:pt x="9950" y="0"/>
                      <a:pt x="0" y="9950"/>
                      <a:pt x="0" y="22225"/>
                    </a:cubicBezTo>
                  </a:path>
                </a:pathLst>
              </a:custGeom>
              <a:noFill/>
              <a:ln w="19050">
                <a:solidFill>
                  <a:srgbClr val="1565D8"/>
                </a:solidFill>
              </a:ln>
            </p:spPr>
            <p:txBody>
              <a:bodyPr/>
              <a:p/>
            </p:txBody>
          </p:sp>
          <p:sp>
            <p:nvSpPr>
              <p:cNvPr id="13" name="Freeform 13"/>
              <p:cNvSpPr/>
              <p:nvPr/>
            </p:nvSpPr>
            <p:spPr>
              <a:xfrm>
                <a:off x="1138238" y="2185988"/>
                <a:ext cx="44450" cy="44450"/>
              </a:xfrm>
              <a:custGeom>
                <a:avLst/>
                <a:gdLst/>
                <a:ahLst/>
                <a:cxnLst/>
                <a:rect l="l" t="t" r="r" b="b"/>
                <a:pathLst>
                  <a:path w="44450" h="44450">
                    <a:moveTo>
                      <a:pt x="0" y="22225"/>
                    </a:moveTo>
                    <a:cubicBezTo>
                      <a:pt x="0" y="34500"/>
                      <a:pt x="9950" y="44450"/>
                      <a:pt x="22225" y="44450"/>
                    </a:cubicBezTo>
                    <a:cubicBezTo>
                      <a:pt x="34500" y="44450"/>
                      <a:pt x="44450" y="34500"/>
                      <a:pt x="44450" y="22225"/>
                    </a:cubicBezTo>
                    <a:cubicBezTo>
                      <a:pt x="44450" y="9950"/>
                      <a:pt x="34500" y="0"/>
                      <a:pt x="22225" y="0"/>
                    </a:cubicBezTo>
                    <a:cubicBezTo>
                      <a:pt x="9950" y="0"/>
                      <a:pt x="0" y="9950"/>
                      <a:pt x="0" y="22225"/>
                    </a:cubicBezTo>
                  </a:path>
                </a:pathLst>
              </a:custGeom>
              <a:noFill/>
              <a:ln w="19050">
                <a:solidFill>
                  <a:srgbClr val="1565D8"/>
                </a:solidFill>
              </a:ln>
            </p:spPr>
            <p:txBody>
              <a:bodyPr/>
              <a:p/>
            </p:txBody>
          </p:sp>
          <p:sp>
            <p:nvSpPr>
              <p:cNvPr id="14" name="Freeform 14"/>
              <p:cNvSpPr/>
              <p:nvPr/>
            </p:nvSpPr>
            <p:spPr>
              <a:xfrm>
                <a:off x="1004888" y="2085975"/>
                <a:ext cx="200025" cy="122238"/>
              </a:xfrm>
              <a:custGeom>
                <a:avLst/>
                <a:gdLst/>
                <a:ahLst/>
                <a:cxnLst/>
                <a:rect l="l" t="t" r="r" b="b"/>
                <a:pathLst>
                  <a:path w="200025" h="122238">
                    <a:moveTo>
                      <a:pt x="22225" y="122238"/>
                    </a:moveTo>
                    <a:lnTo>
                      <a:pt x="0" y="122238"/>
                    </a:lnTo>
                    <a:lnTo>
                      <a:pt x="0" y="55563"/>
                    </a:lnTo>
                    <a:lnTo>
                      <a:pt x="22225" y="0"/>
                    </a:lnTo>
                    <a:lnTo>
                      <a:pt x="122238" y="0"/>
                    </a:lnTo>
                    <a:lnTo>
                      <a:pt x="166688" y="55563"/>
                    </a:lnTo>
                    <a:lnTo>
                      <a:pt x="177800" y="55563"/>
                    </a:lnTo>
                    <a:cubicBezTo>
                      <a:pt x="190075" y="55563"/>
                      <a:pt x="200025" y="65513"/>
                      <a:pt x="200025" y="77787"/>
                    </a:cubicBezTo>
                    <a:lnTo>
                      <a:pt x="200025" y="122238"/>
                    </a:lnTo>
                    <a:lnTo>
                      <a:pt x="177800" y="122238"/>
                    </a:lnTo>
                    <a:moveTo>
                      <a:pt x="133350" y="122238"/>
                    </a:moveTo>
                    <a:lnTo>
                      <a:pt x="66675" y="122238"/>
                    </a:lnTo>
                    <a:moveTo>
                      <a:pt x="0" y="55563"/>
                    </a:moveTo>
                    <a:lnTo>
                      <a:pt x="166688" y="55563"/>
                    </a:lnTo>
                    <a:moveTo>
                      <a:pt x="100012" y="55563"/>
                    </a:moveTo>
                    <a:lnTo>
                      <a:pt x="100012" y="0"/>
                    </a:lnTo>
                  </a:path>
                </a:pathLst>
              </a:custGeom>
              <a:noFill/>
              <a:ln w="19050">
                <a:solidFill>
                  <a:srgbClr val="1565D8"/>
                </a:solidFill>
              </a:ln>
            </p:spPr>
            <p:txBody>
              <a:bodyPr/>
              <a:p/>
            </p:txBody>
          </p:sp>
        </p:grpSp>
        <p:sp>
          <p:nvSpPr>
            <p:cNvPr id="16" name="TextBox 16"/>
            <p:cNvSpPr txBox="1"/>
            <p:nvPr/>
          </p:nvSpPr>
          <p:spPr>
            <a:xfrm>
              <a:off x="1483995" y="1955482"/>
              <a:ext cx="1670664" cy="33528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650" b="1" dirty="0">
                  <a:solidFill>
                    <a:srgbClr val="2B3648"/>
                  </a:solidFill>
                  <a:latin typeface="Arial"/>
                  <a:ea typeface="Microsoft YaHei"/>
                  <a:cs typeface="Arial"/>
                </a:rPr>
                <a:t>Agent 自动驾驶</a:t>
              </a:r>
            </a:p>
          </p:txBody>
        </p:sp>
        <p:sp>
          <p:nvSpPr>
            <p:cNvPr id="17" name="TextBox 17"/>
            <p:cNvSpPr txBox="1"/>
            <p:nvPr/>
          </p:nvSpPr>
          <p:spPr>
            <a:xfrm>
              <a:off x="1487805" y="2235518"/>
              <a:ext cx="1735503" cy="27432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b="1" dirty="0">
                  <a:solidFill>
                    <a:srgbClr val="1565D8"/>
                  </a:solidFill>
                  <a:latin typeface="Arial"/>
                  <a:ea typeface="Microsoft YaHei"/>
                  <a:cs typeface="Arial"/>
                </a:rPr>
                <a:t>它开，你在副驾看着</a:t>
              </a:r>
            </a:p>
          </p:txBody>
        </p:sp>
        <p:sp>
          <p:nvSpPr>
            <p:cNvPr id="18" name="Line 18"/>
            <p:cNvSpPr/>
            <p:nvPr/>
          </p:nvSpPr>
          <p:spPr>
            <a:xfrm>
              <a:off x="800100" y="2628900"/>
              <a:ext cx="4876800" cy="9525"/>
            </a:xfrm>
            <a:custGeom>
              <a:avLst/>
              <a:gdLst/>
              <a:ahLst/>
              <a:cxnLst/>
              <a:rect l="l" t="t" r="r" b="b"/>
              <a:pathLst>
                <a:path w="4876800" h="9525">
                  <a:moveTo>
                    <a:pt x="0" y="0"/>
                  </a:moveTo>
                  <a:lnTo>
                    <a:pt x="4876800" y="0"/>
                  </a:lnTo>
                </a:path>
              </a:pathLst>
            </a:custGeom>
            <a:noFill/>
            <a:ln w="9525">
              <a:solidFill>
                <a:srgbClr val="D8E1EC"/>
              </a:solidFill>
            </a:ln>
          </p:spPr>
          <p:txBody>
            <a:bodyPr/>
            <a:p/>
          </p:txBody>
        </p:sp>
        <p:sp>
          <p:nvSpPr>
            <p:cNvPr id="19" name="TextBox 19"/>
            <p:cNvSpPr txBox="1"/>
            <p:nvPr/>
          </p:nvSpPr>
          <p:spPr>
            <a:xfrm>
              <a:off x="782955" y="2883218"/>
              <a:ext cx="3094673" cy="27432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5B6B82"/>
                  </a:solidFill>
                  <a:latin typeface="Arial"/>
                  <a:ea typeface="Microsoft YaHei"/>
                  <a:cs typeface="Arial"/>
                </a:rPr>
                <a:t>它自己规划、自己执行，把任务干完；</a:t>
              </a:r>
            </a:p>
          </p:txBody>
        </p:sp>
        <p:sp>
          <p:nvSpPr>
            <p:cNvPr id="20" name="TextBox 20"/>
            <p:cNvSpPr txBox="1"/>
            <p:nvPr/>
          </p:nvSpPr>
          <p:spPr>
            <a:xfrm>
              <a:off x="782955" y="3149918"/>
              <a:ext cx="2914650" cy="27432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5B6B82"/>
                  </a:solidFill>
                  <a:latin typeface="Arial"/>
                  <a:ea typeface="Microsoft YaHei"/>
                  <a:cs typeface="Arial"/>
                </a:rPr>
                <a:t>你负责监督、把关，随时可以喊停。</a:t>
              </a:r>
            </a:p>
          </p:txBody>
        </p:sp>
        <p:sp>
          <p:nvSpPr>
            <p:cNvPr id="21" name="Rectangle 21"/>
            <p:cNvSpPr/>
            <p:nvPr/>
          </p:nvSpPr>
          <p:spPr>
            <a:xfrm>
              <a:off x="800100" y="3619500"/>
              <a:ext cx="4876800" cy="685800"/>
            </a:xfrm>
            <a:prstGeom prst="roundRect">
              <a:avLst>
                <a:gd name="adj" fmla="val 22222"/>
              </a:avLst>
            </a:prstGeom>
            <a:solidFill>
              <a:srgbClr val="D6E6F9"/>
            </a:solidFill>
            <a:ln>
              <a:noFill/>
            </a:ln>
          </p:spPr>
          <p:txBody>
            <a:bodyPr/>
            <a:p/>
          </p:txBody>
        </p:sp>
        <p:grpSp>
          <p:nvGrpSpPr>
            <p:cNvPr id="24" name="Group 24"/>
            <p:cNvGrpSpPr/>
            <p:nvPr/>
          </p:nvGrpSpPr>
          <p:grpSpPr>
            <a:xfrm>
              <a:off x="1016794" y="3862388"/>
              <a:ext cx="157162" cy="104775"/>
              <a:chOff x="1016794" y="3862388"/>
              <a:chExt cx="157162" cy="104775"/>
            </a:xfrm>
          </p:grpSpPr>
          <p:sp>
            <p:nvSpPr>
              <p:cNvPr id="22" name="Freeform 22"/>
              <p:cNvSpPr/>
              <p:nvPr/>
            </p:nvSpPr>
            <p:spPr>
              <a:xfrm>
                <a:off x="1077912" y="3897312"/>
                <a:ext cx="34925" cy="34925"/>
              </a:xfrm>
              <a:custGeom>
                <a:avLst/>
                <a:gdLst/>
                <a:ahLst/>
                <a:cxnLst/>
                <a:rect l="l" t="t" r="r" b="b"/>
                <a:pathLst>
                  <a:path w="34925" h="34925">
                    <a:moveTo>
                      <a:pt x="0" y="17462"/>
                    </a:moveTo>
                    <a:cubicBezTo>
                      <a:pt x="0" y="27107"/>
                      <a:pt x="7818" y="34925"/>
                      <a:pt x="17462" y="34925"/>
                    </a:cubicBezTo>
                    <a:cubicBezTo>
                      <a:pt x="27107" y="34925"/>
                      <a:pt x="34925" y="27107"/>
                      <a:pt x="34925" y="17462"/>
                    </a:cubicBezTo>
                    <a:cubicBezTo>
                      <a:pt x="34925" y="7818"/>
                      <a:pt x="27107" y="0"/>
                      <a:pt x="17462" y="0"/>
                    </a:cubicBezTo>
                    <a:cubicBezTo>
                      <a:pt x="7818" y="0"/>
                      <a:pt x="0" y="7818"/>
                      <a:pt x="0" y="17462"/>
                    </a:cubicBezTo>
                  </a:path>
                </a:pathLst>
              </a:custGeom>
              <a:noFill/>
              <a:ln w="19050">
                <a:solidFill>
                  <a:srgbClr val="1565D8"/>
                </a:solidFill>
              </a:ln>
            </p:spPr>
            <p:txBody>
              <a:bodyPr/>
              <a:p/>
            </p:txBody>
          </p:sp>
          <p:sp>
            <p:nvSpPr>
              <p:cNvPr id="23" name="Freeform 23"/>
              <p:cNvSpPr/>
              <p:nvPr/>
            </p:nvSpPr>
            <p:spPr>
              <a:xfrm>
                <a:off x="1016794" y="3862388"/>
                <a:ext cx="157162" cy="104775"/>
              </a:xfrm>
              <a:custGeom>
                <a:avLst/>
                <a:gdLst/>
                <a:ahLst/>
                <a:cxnLst/>
                <a:rect l="l" t="t" r="r" b="b"/>
                <a:pathLst>
                  <a:path w="157162" h="104775">
                    <a:moveTo>
                      <a:pt x="157162" y="52388"/>
                    </a:moveTo>
                    <a:cubicBezTo>
                      <a:pt x="136207" y="87313"/>
                      <a:pt x="110014" y="104775"/>
                      <a:pt x="78581" y="104775"/>
                    </a:cubicBezTo>
                    <a:cubicBezTo>
                      <a:pt x="47149" y="104775"/>
                      <a:pt x="20955" y="87313"/>
                      <a:pt x="0" y="52388"/>
                    </a:cubicBezTo>
                    <a:cubicBezTo>
                      <a:pt x="20955" y="17462"/>
                      <a:pt x="47149" y="0"/>
                      <a:pt x="78581" y="0"/>
                    </a:cubicBezTo>
                    <a:cubicBezTo>
                      <a:pt x="110014" y="0"/>
                      <a:pt x="136207" y="17462"/>
                      <a:pt x="157162" y="52388"/>
                    </a:cubicBezTo>
                  </a:path>
                </a:pathLst>
              </a:custGeom>
              <a:noFill/>
              <a:ln w="19050">
                <a:solidFill>
                  <a:srgbClr val="1565D8"/>
                </a:solidFill>
              </a:ln>
            </p:spPr>
            <p:txBody>
              <a:bodyPr/>
              <a:p/>
            </p:txBody>
          </p:sp>
        </p:grpSp>
        <p:sp>
          <p:nvSpPr>
            <p:cNvPr id="25" name="TextBox 25"/>
            <p:cNvSpPr txBox="1"/>
            <p:nvPr/>
          </p:nvSpPr>
          <p:spPr>
            <a:xfrm>
              <a:off x="1299210" y="3794760"/>
              <a:ext cx="2046732" cy="24384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00" b="1" dirty="0">
                  <a:solidFill>
                    <a:srgbClr val="0B4EA2"/>
                  </a:solidFill>
                  <a:latin typeface="Arial"/>
                  <a:ea typeface="Microsoft YaHei"/>
                  <a:cs typeface="Arial"/>
                </a:rPr>
                <a:t>自主性越高，越需要人盯着</a:t>
              </a:r>
            </a:p>
          </p:txBody>
        </p:sp>
        <p:sp>
          <p:nvSpPr>
            <p:cNvPr id="26" name="TextBox 26"/>
            <p:cNvSpPr txBox="1"/>
            <p:nvPr/>
          </p:nvSpPr>
          <p:spPr>
            <a:xfrm>
              <a:off x="1301115" y="4058602"/>
              <a:ext cx="2469975" cy="21336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050" dirty="0">
                  <a:solidFill>
                    <a:srgbClr val="0B4EA2"/>
                  </a:solidFill>
                  <a:latin typeface="Arial"/>
                  <a:ea typeface="Microsoft YaHei"/>
                  <a:cs typeface="Arial"/>
                </a:rPr>
                <a:t>例：WorkBuddy 独立完成一个整理任务</a:t>
              </a:r>
            </a:p>
          </p:txBody>
        </p:sp>
        <p:sp>
          <p:nvSpPr>
            <p:cNvPr id="27" name="TextBox 27"/>
            <p:cNvSpPr txBox="1"/>
            <p:nvPr/>
          </p:nvSpPr>
          <p:spPr>
            <a:xfrm>
              <a:off x="786765" y="4668202"/>
              <a:ext cx="1986915" cy="21336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050" dirty="0">
                  <a:solidFill>
                    <a:srgbClr val="8B99AE"/>
                  </a:solidFill>
                  <a:latin typeface="Arial"/>
                  <a:ea typeface="Microsoft YaHei"/>
                  <a:cs typeface="Arial"/>
                </a:rPr>
                <a:t>适合：流程清楚、可检查的任务</a:t>
              </a:r>
            </a:p>
          </p:txBody>
        </p:sp>
      </p:grpSp>
      <p:grpSp>
        <p:nvGrpSpPr>
          <p:cNvPr id="44" name="Group 44"/>
          <p:cNvGrpSpPr/>
          <p:nvPr/>
        </p:nvGrpSpPr>
        <p:grpSpPr>
          <a:xfrm>
            <a:off x="6286500" y="1619250"/>
            <a:ext cx="5334000" cy="3524250"/>
            <a:chOff x="6286500" y="1619250"/>
            <a:chExt cx="5334000" cy="3524250"/>
          </a:xfrm>
        </p:grpSpPr>
        <p:sp>
          <p:nvSpPr>
            <p:cNvPr id="29" name="Rectangle 29"/>
            <p:cNvSpPr/>
            <p:nvPr/>
          </p:nvSpPr>
          <p:spPr>
            <a:xfrm>
              <a:off x="6286500" y="1619250"/>
              <a:ext cx="5334000" cy="3524250"/>
            </a:xfrm>
            <a:prstGeom prst="roundRect">
              <a:avLst>
                <a:gd name="adj" fmla="val 4324"/>
              </a:avLst>
            </a:prstGeom>
            <a:solidFill>
              <a:srgbClr val="FFFFFF"/>
            </a:solidFill>
            <a:ln w="9525">
              <a:solidFill>
                <a:srgbClr val="D8E1EC"/>
              </a:solidFill>
            </a:ln>
          </p:spPr>
          <p:txBody>
            <a:bodyPr/>
            <a:p/>
          </p:txBody>
        </p:sp>
        <p:sp>
          <p:nvSpPr>
            <p:cNvPr id="30" name="Ellipse 30"/>
            <p:cNvSpPr/>
            <p:nvPr/>
          </p:nvSpPr>
          <p:spPr>
            <a:xfrm>
              <a:off x="6572250" y="1905000"/>
              <a:ext cx="495300" cy="495300"/>
            </a:xfrm>
            <a:prstGeom prst="ellipse">
              <a:avLst/>
            </a:prstGeom>
            <a:solidFill>
              <a:srgbClr val="D6E6F9"/>
            </a:solidFill>
            <a:ln>
              <a:noFill/>
            </a:ln>
          </p:spPr>
          <p:txBody>
            <a:bodyPr/>
            <a:p/>
          </p:txBody>
        </p:sp>
        <p:sp>
          <p:nvSpPr>
            <p:cNvPr id="31" name="Freeform 31"/>
            <p:cNvSpPr/>
            <p:nvPr/>
          </p:nvSpPr>
          <p:spPr>
            <a:xfrm>
              <a:off x="6730556" y="2052638"/>
              <a:ext cx="178677" cy="200470"/>
            </a:xfrm>
            <a:custGeom>
              <a:avLst/>
              <a:gdLst/>
              <a:ahLst/>
              <a:cxnLst/>
              <a:rect l="l" t="t" r="r" b="b"/>
              <a:pathLst>
                <a:path w="178677" h="200470">
                  <a:moveTo>
                    <a:pt x="89344" y="172244"/>
                  </a:moveTo>
                  <a:lnTo>
                    <a:pt x="170077" y="199614"/>
                  </a:lnTo>
                  <a:cubicBezTo>
                    <a:pt x="172255" y="200470"/>
                    <a:pt x="174744" y="199969"/>
                    <a:pt x="176411" y="198325"/>
                  </a:cubicBezTo>
                  <a:cubicBezTo>
                    <a:pt x="178097" y="196674"/>
                    <a:pt x="178677" y="194197"/>
                    <a:pt x="177900" y="191968"/>
                  </a:cubicBezTo>
                  <a:lnTo>
                    <a:pt x="89344" y="0"/>
                  </a:lnTo>
                  <a:lnTo>
                    <a:pt x="778" y="191968"/>
                  </a:lnTo>
                  <a:cubicBezTo>
                    <a:pt x="0" y="194191"/>
                    <a:pt x="589" y="196680"/>
                    <a:pt x="2278" y="198325"/>
                  </a:cubicBezTo>
                  <a:cubicBezTo>
                    <a:pt x="3945" y="199969"/>
                    <a:pt x="6434" y="200470"/>
                    <a:pt x="8612" y="199614"/>
                  </a:cubicBezTo>
                  <a:lnTo>
                    <a:pt x="89344" y="172244"/>
                  </a:lnTo>
                </a:path>
              </a:pathLst>
            </a:custGeom>
            <a:noFill/>
            <a:ln w="19050">
              <a:solidFill>
                <a:srgbClr val="1565D8"/>
              </a:solidFill>
            </a:ln>
          </p:spPr>
          <p:txBody>
            <a:bodyPr/>
            <a:p/>
          </p:txBody>
        </p:sp>
        <p:sp>
          <p:nvSpPr>
            <p:cNvPr id="32" name="TextBox 32"/>
            <p:cNvSpPr txBox="1"/>
            <p:nvPr/>
          </p:nvSpPr>
          <p:spPr>
            <a:xfrm>
              <a:off x="7198995" y="1955482"/>
              <a:ext cx="1578252" cy="33528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650" b="1" dirty="0">
                  <a:solidFill>
                    <a:srgbClr val="2B3648"/>
                  </a:solidFill>
                  <a:latin typeface="Arial"/>
                  <a:ea typeface="Microsoft YaHei"/>
                  <a:cs typeface="Arial"/>
                </a:rPr>
                <a:t>Copilot 副驾驶</a:t>
              </a:r>
            </a:p>
          </p:txBody>
        </p:sp>
        <p:sp>
          <p:nvSpPr>
            <p:cNvPr id="33" name="TextBox 33"/>
            <p:cNvSpPr txBox="1"/>
            <p:nvPr/>
          </p:nvSpPr>
          <p:spPr>
            <a:xfrm>
              <a:off x="7202805" y="2235518"/>
              <a:ext cx="1357455" cy="27432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b="1" dirty="0">
                  <a:solidFill>
                    <a:srgbClr val="1565D8"/>
                  </a:solidFill>
                  <a:latin typeface="Arial"/>
                  <a:ea typeface="Microsoft YaHei"/>
                  <a:cs typeface="Arial"/>
                </a:rPr>
                <a:t>你开，它给建议</a:t>
              </a:r>
            </a:p>
          </p:txBody>
        </p:sp>
        <p:sp>
          <p:nvSpPr>
            <p:cNvPr id="34" name="Line 34"/>
            <p:cNvSpPr/>
            <p:nvPr/>
          </p:nvSpPr>
          <p:spPr>
            <a:xfrm>
              <a:off x="6515100" y="2628900"/>
              <a:ext cx="4876800" cy="9525"/>
            </a:xfrm>
            <a:custGeom>
              <a:avLst/>
              <a:gdLst/>
              <a:ahLst/>
              <a:cxnLst/>
              <a:rect l="l" t="t" r="r" b="b"/>
              <a:pathLst>
                <a:path w="4876800" h="9525">
                  <a:moveTo>
                    <a:pt x="0" y="0"/>
                  </a:moveTo>
                  <a:lnTo>
                    <a:pt x="4876800" y="0"/>
                  </a:lnTo>
                </a:path>
              </a:pathLst>
            </a:custGeom>
            <a:noFill/>
            <a:ln w="9525">
              <a:solidFill>
                <a:srgbClr val="D8E1EC"/>
              </a:solidFill>
            </a:ln>
          </p:spPr>
          <p:txBody>
            <a:bodyPr/>
            <a:p/>
          </p:txBody>
        </p:sp>
        <p:sp>
          <p:nvSpPr>
            <p:cNvPr id="35" name="TextBox 35"/>
            <p:cNvSpPr txBox="1"/>
            <p:nvPr/>
          </p:nvSpPr>
          <p:spPr>
            <a:xfrm>
              <a:off x="6497955" y="2883218"/>
              <a:ext cx="3454718" cy="27432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5B6B82"/>
                  </a:solidFill>
                  <a:latin typeface="Arial"/>
                  <a:ea typeface="Microsoft YaHei"/>
                  <a:cs typeface="Arial"/>
                </a:rPr>
                <a:t>方向盘始终在你手里：它负责提示、补全、</a:t>
              </a:r>
            </a:p>
          </p:txBody>
        </p:sp>
        <p:sp>
          <p:nvSpPr>
            <p:cNvPr id="36" name="TextBox 36"/>
            <p:cNvSpPr txBox="1"/>
            <p:nvPr/>
          </p:nvSpPr>
          <p:spPr>
            <a:xfrm>
              <a:off x="6497955" y="3149918"/>
              <a:ext cx="2914650" cy="27432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5B6B82"/>
                  </a:solidFill>
                  <a:latin typeface="Arial"/>
                  <a:ea typeface="Microsoft YaHei"/>
                  <a:cs typeface="Arial"/>
                </a:rPr>
                <a:t>出主意，每一步由你确认、你来按。</a:t>
              </a:r>
            </a:p>
          </p:txBody>
        </p:sp>
        <p:sp>
          <p:nvSpPr>
            <p:cNvPr id="37" name="Rectangle 37"/>
            <p:cNvSpPr/>
            <p:nvPr/>
          </p:nvSpPr>
          <p:spPr>
            <a:xfrm>
              <a:off x="6515100" y="3619500"/>
              <a:ext cx="4876800" cy="685800"/>
            </a:xfrm>
            <a:prstGeom prst="roundRect">
              <a:avLst>
                <a:gd name="adj" fmla="val 22222"/>
              </a:avLst>
            </a:prstGeom>
            <a:solidFill>
              <a:srgbClr val="D6E6F9"/>
            </a:solidFill>
            <a:ln>
              <a:noFill/>
            </a:ln>
          </p:spPr>
          <p:txBody>
            <a:bodyPr/>
            <a:p/>
          </p:txBody>
        </p:sp>
        <p:grpSp>
          <p:nvGrpSpPr>
            <p:cNvPr id="40" name="Group 40"/>
            <p:cNvGrpSpPr/>
            <p:nvPr/>
          </p:nvGrpSpPr>
          <p:grpSpPr>
            <a:xfrm>
              <a:off x="6720010" y="3836194"/>
              <a:ext cx="170506" cy="157162"/>
              <a:chOff x="6720010" y="3836194"/>
              <a:chExt cx="170506" cy="157162"/>
            </a:xfrm>
          </p:grpSpPr>
          <p:sp>
            <p:nvSpPr>
              <p:cNvPr id="38" name="Freeform 38"/>
              <p:cNvSpPr/>
              <p:nvPr/>
            </p:nvSpPr>
            <p:spPr>
              <a:xfrm>
                <a:off x="6720010" y="3836194"/>
                <a:ext cx="170506" cy="155818"/>
              </a:xfrm>
              <a:custGeom>
                <a:avLst/>
                <a:gdLst/>
                <a:ahLst/>
                <a:cxnLst/>
                <a:rect l="l" t="t" r="r" b="b"/>
                <a:pathLst>
                  <a:path w="170506" h="155818">
                    <a:moveTo>
                      <a:pt x="85650" y="155818"/>
                    </a:moveTo>
                    <a:cubicBezTo>
                      <a:pt x="30952" y="138863"/>
                      <a:pt x="0" y="81134"/>
                      <a:pt x="16149" y="26194"/>
                    </a:cubicBezTo>
                    <a:cubicBezTo>
                      <a:pt x="43351" y="27439"/>
                      <a:pt x="69970" y="18044"/>
                      <a:pt x="90365" y="0"/>
                    </a:cubicBezTo>
                    <a:cubicBezTo>
                      <a:pt x="110759" y="18044"/>
                      <a:pt x="137378" y="27439"/>
                      <a:pt x="164580" y="26194"/>
                    </a:cubicBezTo>
                    <a:cubicBezTo>
                      <a:pt x="170506" y="46355"/>
                      <a:pt x="170232" y="67833"/>
                      <a:pt x="163794" y="87836"/>
                    </a:cubicBezTo>
                  </a:path>
                </a:pathLst>
              </a:custGeom>
              <a:noFill/>
              <a:ln w="19050">
                <a:solidFill>
                  <a:srgbClr val="1565D8"/>
                </a:solidFill>
              </a:ln>
            </p:spPr>
            <p:txBody>
              <a:bodyPr/>
              <a:p/>
            </p:txBody>
          </p:sp>
          <p:sp>
            <p:nvSpPr>
              <p:cNvPr id="39" name="Freeform 39"/>
              <p:cNvSpPr/>
              <p:nvPr/>
            </p:nvSpPr>
            <p:spPr>
              <a:xfrm>
                <a:off x="6836569" y="3958431"/>
                <a:ext cx="52388" cy="34925"/>
              </a:xfrm>
              <a:custGeom>
                <a:avLst/>
                <a:gdLst/>
                <a:ahLst/>
                <a:cxnLst/>
                <a:rect l="l" t="t" r="r" b="b"/>
                <a:pathLst>
                  <a:path w="52388" h="34925">
                    <a:moveTo>
                      <a:pt x="0" y="17463"/>
                    </a:moveTo>
                    <a:lnTo>
                      <a:pt x="17463" y="34925"/>
                    </a:lnTo>
                    <a:lnTo>
                      <a:pt x="52388" y="0"/>
                    </a:lnTo>
                  </a:path>
                </a:pathLst>
              </a:custGeom>
              <a:noFill/>
              <a:ln w="19050">
                <a:solidFill>
                  <a:srgbClr val="1565D8"/>
                </a:solidFill>
              </a:ln>
            </p:spPr>
            <p:txBody>
              <a:bodyPr/>
              <a:p/>
            </p:txBody>
          </p:sp>
        </p:grpSp>
        <p:sp>
          <p:nvSpPr>
            <p:cNvPr id="41" name="TextBox 41"/>
            <p:cNvSpPr txBox="1"/>
            <p:nvPr/>
          </p:nvSpPr>
          <p:spPr>
            <a:xfrm>
              <a:off x="7014210" y="3794760"/>
              <a:ext cx="1391450" cy="24384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00" b="1" dirty="0">
                  <a:solidFill>
                    <a:srgbClr val="0B4EA2"/>
                  </a:solidFill>
                  <a:latin typeface="Arial"/>
                  <a:ea typeface="Microsoft YaHei"/>
                  <a:cs typeface="Arial"/>
                </a:rPr>
                <a:t>安全可控——最主流</a:t>
              </a:r>
            </a:p>
          </p:txBody>
        </p:sp>
        <p:sp>
          <p:nvSpPr>
            <p:cNvPr id="42" name="TextBox 42"/>
            <p:cNvSpPr txBox="1"/>
            <p:nvPr/>
          </p:nvSpPr>
          <p:spPr>
            <a:xfrm>
              <a:off x="7016115" y="4058602"/>
              <a:ext cx="2189940" cy="21336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050" dirty="0">
                  <a:solidFill>
                    <a:srgbClr val="0B4EA2"/>
                  </a:solidFill>
                  <a:latin typeface="Arial"/>
                  <a:ea typeface="Microsoft YaHei"/>
                  <a:cs typeface="Arial"/>
                </a:rPr>
                <a:t>你平时用的 AI 助手，多数属于这类</a:t>
              </a:r>
            </a:p>
          </p:txBody>
        </p:sp>
        <p:sp>
          <p:nvSpPr>
            <p:cNvPr id="43" name="TextBox 43"/>
            <p:cNvSpPr txBox="1"/>
            <p:nvPr/>
          </p:nvSpPr>
          <p:spPr>
            <a:xfrm>
              <a:off x="6501765" y="4668202"/>
              <a:ext cx="1846898" cy="21336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050" dirty="0">
                  <a:solidFill>
                    <a:srgbClr val="8B99AE"/>
                  </a:solidFill>
                  <a:latin typeface="Arial"/>
                  <a:ea typeface="Microsoft YaHei"/>
                  <a:cs typeface="Arial"/>
                </a:rPr>
                <a:t>适合：日常写作、修改、答疑</a:t>
              </a:r>
            </a:p>
          </p:txBody>
        </p:sp>
      </p:grpSp>
      <p:grpSp>
        <p:nvGrpSpPr>
          <p:cNvPr id="53" name="Group 53"/>
          <p:cNvGrpSpPr/>
          <p:nvPr/>
        </p:nvGrpSpPr>
        <p:grpSpPr>
          <a:xfrm>
            <a:off x="571500" y="5486400"/>
            <a:ext cx="11049000" cy="457200"/>
            <a:chOff x="571500" y="5486400"/>
            <a:chExt cx="11049000" cy="457200"/>
          </a:xfrm>
        </p:grpSpPr>
        <p:sp>
          <p:nvSpPr>
            <p:cNvPr id="45" name="Rectangle 45"/>
            <p:cNvSpPr/>
            <p:nvPr/>
          </p:nvSpPr>
          <p:spPr>
            <a:xfrm>
              <a:off x="571500" y="5486400"/>
              <a:ext cx="11049000" cy="457200"/>
            </a:xfrm>
            <a:prstGeom prst="roundRect">
              <a:avLst>
                <a:gd name="adj" fmla="val 33333"/>
              </a:avLst>
            </a:prstGeom>
            <a:solidFill>
              <a:srgbClr val="D6E6F9"/>
            </a:solidFill>
            <a:ln>
              <a:noFill/>
            </a:ln>
          </p:spPr>
          <p:txBody>
            <a:bodyPr/>
            <a:p/>
          </p:txBody>
        </p:sp>
        <p:sp>
          <p:nvSpPr>
            <p:cNvPr id="46" name="Rectangle 46"/>
            <p:cNvSpPr/>
            <p:nvPr/>
          </p:nvSpPr>
          <p:spPr>
            <a:xfrm>
              <a:off x="571500" y="5486400"/>
              <a:ext cx="76200" cy="457200"/>
            </a:xfrm>
            <a:prstGeom prst="roundRect">
              <a:avLst>
                <a:gd name="adj" fmla="val 50000"/>
              </a:avLst>
            </a:prstGeom>
            <a:solidFill>
              <a:srgbClr val="1565D8"/>
            </a:solidFill>
            <a:ln>
              <a:noFill/>
            </a:ln>
          </p:spPr>
          <p:txBody>
            <a:bodyPr/>
            <a:p/>
          </p:txBody>
        </p:sp>
        <p:grpSp>
          <p:nvGrpSpPr>
            <p:cNvPr id="51" name="Group 51"/>
            <p:cNvGrpSpPr/>
            <p:nvPr/>
          </p:nvGrpSpPr>
          <p:grpSpPr>
            <a:xfrm>
              <a:off x="902618" y="5626100"/>
              <a:ext cx="132432" cy="158753"/>
              <a:chOff x="902618" y="5626100"/>
              <a:chExt cx="132432" cy="158753"/>
            </a:xfrm>
          </p:grpSpPr>
          <p:sp>
            <p:nvSpPr>
              <p:cNvPr id="47" name="Freeform 47"/>
              <p:cNvSpPr/>
              <p:nvPr/>
            </p:nvSpPr>
            <p:spPr>
              <a:xfrm>
                <a:off x="939800" y="5641975"/>
                <a:ext cx="23812" cy="71438"/>
              </a:xfrm>
              <a:custGeom>
                <a:avLst/>
                <a:gdLst/>
                <a:ahLst/>
                <a:cxnLst/>
                <a:rect l="l" t="t" r="r" b="b"/>
                <a:pathLst>
                  <a:path w="23812" h="71438">
                    <a:moveTo>
                      <a:pt x="0" y="71438"/>
                    </a:moveTo>
                    <a:lnTo>
                      <a:pt x="0" y="11906"/>
                    </a:lnTo>
                    <a:cubicBezTo>
                      <a:pt x="0" y="5331"/>
                      <a:pt x="5331" y="0"/>
                      <a:pt x="11906" y="0"/>
                    </a:cubicBezTo>
                    <a:cubicBezTo>
                      <a:pt x="18482" y="0"/>
                      <a:pt x="23812" y="5331"/>
                      <a:pt x="23812" y="11906"/>
                    </a:cubicBezTo>
                    <a:lnTo>
                      <a:pt x="23812" y="63500"/>
                    </a:lnTo>
                  </a:path>
                </a:pathLst>
              </a:custGeom>
              <a:noFill/>
              <a:ln w="19050">
                <a:solidFill>
                  <a:srgbClr val="1565D8"/>
                </a:solidFill>
              </a:ln>
            </p:spPr>
            <p:txBody>
              <a:bodyPr/>
              <a:p/>
            </p:txBody>
          </p:sp>
          <p:sp>
            <p:nvSpPr>
              <p:cNvPr id="48" name="Freeform 48"/>
              <p:cNvSpPr/>
              <p:nvPr/>
            </p:nvSpPr>
            <p:spPr>
              <a:xfrm>
                <a:off x="963612" y="5626100"/>
                <a:ext cx="23812" cy="79375"/>
              </a:xfrm>
              <a:custGeom>
                <a:avLst/>
                <a:gdLst/>
                <a:ahLst/>
                <a:cxnLst/>
                <a:rect l="l" t="t" r="r" b="b"/>
                <a:pathLst>
                  <a:path w="23812" h="79375">
                    <a:moveTo>
                      <a:pt x="0" y="27781"/>
                    </a:moveTo>
                    <a:lnTo>
                      <a:pt x="0" y="11906"/>
                    </a:lnTo>
                    <a:cubicBezTo>
                      <a:pt x="0" y="5331"/>
                      <a:pt x="5331" y="0"/>
                      <a:pt x="11906" y="0"/>
                    </a:cubicBezTo>
                    <a:cubicBezTo>
                      <a:pt x="18482" y="0"/>
                      <a:pt x="23812" y="5331"/>
                      <a:pt x="23812" y="11906"/>
                    </a:cubicBezTo>
                    <a:lnTo>
                      <a:pt x="23812" y="79375"/>
                    </a:lnTo>
                  </a:path>
                </a:pathLst>
              </a:custGeom>
              <a:noFill/>
              <a:ln w="19050">
                <a:solidFill>
                  <a:srgbClr val="1565D8"/>
                </a:solidFill>
              </a:ln>
            </p:spPr>
            <p:txBody>
              <a:bodyPr/>
              <a:p/>
            </p:txBody>
          </p:sp>
          <p:sp>
            <p:nvSpPr>
              <p:cNvPr id="49" name="Freeform 49"/>
              <p:cNvSpPr/>
              <p:nvPr/>
            </p:nvSpPr>
            <p:spPr>
              <a:xfrm>
                <a:off x="987425" y="5641975"/>
                <a:ext cx="23812" cy="63500"/>
              </a:xfrm>
              <a:custGeom>
                <a:avLst/>
                <a:gdLst/>
                <a:ahLst/>
                <a:cxnLst/>
                <a:rect l="l" t="t" r="r" b="b"/>
                <a:pathLst>
                  <a:path w="23812" h="63500">
                    <a:moveTo>
                      <a:pt x="0" y="11906"/>
                    </a:moveTo>
                    <a:cubicBezTo>
                      <a:pt x="0" y="5331"/>
                      <a:pt x="5331" y="0"/>
                      <a:pt x="11906" y="0"/>
                    </a:cubicBezTo>
                    <a:cubicBezTo>
                      <a:pt x="18482" y="0"/>
                      <a:pt x="23812" y="5331"/>
                      <a:pt x="23812" y="11906"/>
                    </a:cubicBezTo>
                    <a:lnTo>
                      <a:pt x="23812" y="63500"/>
                    </a:lnTo>
                  </a:path>
                </a:pathLst>
              </a:custGeom>
              <a:noFill/>
              <a:ln w="19050">
                <a:solidFill>
                  <a:srgbClr val="1565D8"/>
                </a:solidFill>
              </a:ln>
            </p:spPr>
            <p:txBody>
              <a:bodyPr/>
              <a:p/>
            </p:txBody>
          </p:sp>
          <p:sp>
            <p:nvSpPr>
              <p:cNvPr id="50" name="Freeform 50"/>
              <p:cNvSpPr/>
              <p:nvPr/>
            </p:nvSpPr>
            <p:spPr>
              <a:xfrm>
                <a:off x="902618" y="5657850"/>
                <a:ext cx="132432" cy="127003"/>
              </a:xfrm>
              <a:custGeom>
                <a:avLst/>
                <a:gdLst/>
                <a:ahLst/>
                <a:cxnLst/>
                <a:rect l="l" t="t" r="r" b="b"/>
                <a:pathLst>
                  <a:path w="132432" h="127003">
                    <a:moveTo>
                      <a:pt x="108619" y="11906"/>
                    </a:moveTo>
                    <a:cubicBezTo>
                      <a:pt x="108619" y="5331"/>
                      <a:pt x="113950" y="0"/>
                      <a:pt x="120525" y="0"/>
                    </a:cubicBezTo>
                    <a:cubicBezTo>
                      <a:pt x="127101" y="0"/>
                      <a:pt x="132432" y="5331"/>
                      <a:pt x="132432" y="11906"/>
                    </a:cubicBezTo>
                    <a:lnTo>
                      <a:pt x="132432" y="79375"/>
                    </a:lnTo>
                    <a:cubicBezTo>
                      <a:pt x="132432" y="105678"/>
                      <a:pt x="111109" y="127000"/>
                      <a:pt x="84807" y="127000"/>
                    </a:cubicBezTo>
                    <a:lnTo>
                      <a:pt x="68932" y="127000"/>
                    </a:lnTo>
                    <a:lnTo>
                      <a:pt x="70583" y="127000"/>
                    </a:lnTo>
                    <a:cubicBezTo>
                      <a:pt x="54561" y="127003"/>
                      <a:pt x="39612" y="118949"/>
                      <a:pt x="30800" y="105569"/>
                    </a:cubicBezTo>
                    <a:cubicBezTo>
                      <a:pt x="30279" y="104776"/>
                      <a:pt x="29761" y="103983"/>
                      <a:pt x="29244" y="103188"/>
                    </a:cubicBezTo>
                    <a:cubicBezTo>
                      <a:pt x="26768" y="99385"/>
                      <a:pt x="18076" y="84233"/>
                      <a:pt x="3161" y="57721"/>
                    </a:cubicBezTo>
                    <a:cubicBezTo>
                      <a:pt x="0" y="52102"/>
                      <a:pt x="1886" y="44987"/>
                      <a:pt x="7416" y="41672"/>
                    </a:cubicBezTo>
                    <a:cubicBezTo>
                      <a:pt x="13244" y="38175"/>
                      <a:pt x="20705" y="39091"/>
                      <a:pt x="25513" y="43894"/>
                    </a:cubicBezTo>
                    <a:lnTo>
                      <a:pt x="37182" y="55563"/>
                    </a:lnTo>
                  </a:path>
                </a:pathLst>
              </a:custGeom>
              <a:noFill/>
              <a:ln w="19050">
                <a:solidFill>
                  <a:srgbClr val="1565D8"/>
                </a:solidFill>
              </a:ln>
            </p:spPr>
            <p:txBody>
              <a:bodyPr/>
              <a:p/>
            </p:txBody>
          </p:sp>
        </p:grpSp>
        <p:sp>
          <p:nvSpPr>
            <p:cNvPr id="52" name="TextBox 52"/>
            <p:cNvSpPr txBox="1"/>
            <p:nvPr/>
          </p:nvSpPr>
          <p:spPr>
            <a:xfrm>
              <a:off x="1163955" y="5635942"/>
              <a:ext cx="2491597" cy="27432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b="1" dirty="0">
                  <a:solidFill>
                    <a:srgbClr val="0B4EA2"/>
                  </a:solidFill>
                  <a:latin typeface="Arial"/>
                  <a:ea typeface="Microsoft YaHei"/>
                  <a:cs typeface="Arial"/>
                </a:rPr>
                <a:t>自主性越高，越需要人盯着。</a:t>
              </a:r>
            </a:p>
          </p:txBody>
        </p:sp>
      </p:grpSp>
      <p:grpSp>
        <p:nvGrpSpPr>
          <p:cNvPr id="56" name="Group 56"/>
          <p:cNvGrpSpPr/>
          <p:nvPr/>
        </p:nvGrpSpPr>
        <p:grpSpPr>
          <a:xfrm>
            <a:off x="560070" y="6341745"/>
            <a:ext cx="11071860" cy="182880"/>
            <a:chOff x="560070" y="6341745"/>
            <a:chExt cx="11071860" cy="182880"/>
          </a:xfrm>
        </p:grpSpPr>
        <p:sp>
          <p:nvSpPr>
            <p:cNvPr id="54" name="TextBox 54"/>
            <p:cNvSpPr txBox="1"/>
            <p:nvPr/>
          </p:nvSpPr>
          <p:spPr>
            <a:xfrm>
              <a:off x="560070" y="6341745"/>
              <a:ext cx="1054989" cy="18288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00" dirty="0">
                  <a:solidFill>
                    <a:srgbClr val="8B99AE"/>
                  </a:solidFill>
                  <a:latin typeface="Arial"/>
                  <a:ea typeface="Microsoft YaHei"/>
                  <a:cs typeface="Arial"/>
                </a:rPr>
                <a:t>大模型通识 · 企业版</a:t>
              </a:r>
            </a:p>
          </p:txBody>
        </p:sp>
        <p:sp>
          <p:nvSpPr>
            <p:cNvPr id="55" name="TextBox 55"/>
            <p:cNvSpPr txBox="1"/>
            <p:nvPr/>
          </p:nvSpPr>
          <p:spPr>
            <a:xfrm>
              <a:off x="11207020" y="6341745"/>
              <a:ext cx="424910" cy="18288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r"/>
              <a:r>
                <a:rPr lang="zh-CN" sz="900" dirty="0">
                  <a:solidFill>
                    <a:srgbClr val="8B99AE"/>
                  </a:solidFill>
                  <a:latin typeface="Arial"/>
                  <a:ea typeface="Microsoft YaHei"/>
                  <a:cs typeface="Arial"/>
                </a:rPr>
                <a:t>38 / 51</a:t>
              </a:r>
            </a:p>
          </p:txBody>
        </p:sp>
      </p:grpSp>
    </p:spTree>
  </p:cSld>
  <p:clrMapOvr>
    <a:masterClrMapping/>
  </p:clrMapOvr>
  <p:transition xmlns:p14="http://schemas.microsoft.com/office/powerpoint/2010/main" p14:dur="400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entr" presetSubtype="4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slide(fromBottom)">
                                      <p:cBhvr>
                                        <p:cTn id="7" dur="4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900"/>
                            </p:stCondLst>
                            <p:childTnLst>
                              <p:par>
                                <p:cTn id="9" presetID="2" presetClass="entr" presetSubtype="4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slide(fromBottom)">
                                      <p:cBhvr>
                                        <p:cTn id="11" dur="400"/>
                                        <p:tgtEl>
                                          <p:spTgt spid="4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2" fill="hold">
                            <p:stCondLst>
                              <p:cond delay="1800"/>
                            </p:stCondLst>
                            <p:childTnLst>
                              <p:par>
                                <p:cTn id="13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400"/>
                                        <p:tgtEl>
                                          <p:spTgt spid="5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8" grpId="0"/>
      <p:bldP spid="44" grpId="0"/>
      <p:bldP spid="53" grpId="0"/>
    </p:bldLst>
  </p:timing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5" name="Group 5"/>
          <p:cNvGrpSpPr/>
          <p:nvPr/>
        </p:nvGrpSpPr>
        <p:grpSpPr>
          <a:xfrm>
            <a:off x="0" y="0"/>
            <a:ext cx="14192250" cy="8953500"/>
            <a:chOff x="0" y="0"/>
            <a:chExt cx="14192250" cy="8953500"/>
          </a:xfrm>
        </p:grpSpPr>
        <p:sp>
          <p:nvSpPr>
            <p:cNvPr id="2" name="Rectangle 2"/>
            <p:cNvSpPr/>
            <p:nvPr/>
          </p:nvSpPr>
          <p:spPr>
            <a:xfrm>
              <a:off x="0" y="0"/>
              <a:ext cx="12192000" cy="6858000"/>
            </a:xfrm>
            <a:prstGeom prst="rect">
              <a:avLst/>
            </a:prstGeom>
            <a:solidFill>
              <a:srgbClr val="F5F7FA"/>
            </a:solidFill>
            <a:ln>
              <a:noFill/>
            </a:ln>
          </p:spPr>
          <p:txBody>
            <a:bodyPr/>
            <a:p/>
          </p:txBody>
        </p:sp>
        <p:sp>
          <p:nvSpPr>
            <p:cNvPr id="3" name="Rectangle 3"/>
            <p:cNvSpPr/>
            <p:nvPr/>
          </p:nvSpPr>
          <p:spPr>
            <a:xfrm>
              <a:off x="0" y="0"/>
              <a:ext cx="12192000" cy="6858000"/>
            </a:xfrm>
            <a:prstGeom prst="rect">
              <a:avLst/>
            </a:prstGeom>
            <a:gradFill>
              <a:gsLst>
                <a:gs pos="0">
                  <a:srgbClr val="1565D8">
                    <a:alpha val="6000"/>
                  </a:srgbClr>
                </a:gs>
                <a:gs pos="100000">
                  <a:srgbClr val="1565D8">
                    <a:alpha val="0"/>
                  </a:srgbClr>
                </a:gs>
              </a:gsLst>
              <a:path path="circle">
                <a:fillToRect l="50000" t="50000" r="50000" b="50000"/>
              </a:path>
            </a:gradFill>
            <a:ln>
              <a:noFill/>
            </a:ln>
          </p:spPr>
          <p:txBody>
            <a:bodyPr/>
            <a:p/>
          </p:txBody>
        </p:sp>
        <p:sp>
          <p:nvSpPr>
            <p:cNvPr id="4" name="Ellipse 4"/>
            <p:cNvSpPr/>
            <p:nvPr/>
          </p:nvSpPr>
          <p:spPr>
            <a:xfrm>
              <a:off x="9620250" y="4381500"/>
              <a:ext cx="4572000" cy="4572000"/>
            </a:xfrm>
            <a:prstGeom prst="ellipse">
              <a:avLst/>
            </a:prstGeom>
            <a:noFill/>
            <a:ln w="14288">
              <a:solidFill>
                <a:srgbClr val="D6E6F9">
                  <a:alpha val="80000"/>
                </a:srgbClr>
              </a:solidFill>
            </a:ln>
          </p:spPr>
          <p:txBody>
            <a:bodyPr/>
            <a:p/>
          </p:txBody>
        </p:sp>
      </p:grpSp>
      <p:grpSp>
        <p:nvGrpSpPr>
          <p:cNvPr id="9" name="Group 9"/>
          <p:cNvGrpSpPr/>
          <p:nvPr/>
        </p:nvGrpSpPr>
        <p:grpSpPr>
          <a:xfrm>
            <a:off x="571500" y="685800"/>
            <a:ext cx="6924580" cy="700088"/>
            <a:chOff x="571500" y="685800"/>
            <a:chExt cx="6924580" cy="700088"/>
          </a:xfrm>
        </p:grpSpPr>
        <p:sp>
          <p:nvSpPr>
            <p:cNvPr id="6" name="Rectangle 6"/>
            <p:cNvSpPr/>
            <p:nvPr/>
          </p:nvSpPr>
          <p:spPr>
            <a:xfrm>
              <a:off x="571500" y="685800"/>
              <a:ext cx="76200" cy="323850"/>
            </a:xfrm>
            <a:prstGeom prst="roundRect">
              <a:avLst>
                <a:gd name="adj" fmla="val 50000"/>
              </a:avLst>
            </a:prstGeom>
            <a:solidFill>
              <a:srgbClr val="1565D8"/>
            </a:solidFill>
            <a:ln>
              <a:noFill/>
            </a:ln>
          </p:spPr>
          <p:txBody>
            <a:bodyPr/>
            <a:p/>
          </p:txBody>
        </p:sp>
        <p:sp>
          <p:nvSpPr>
            <p:cNvPr id="7" name="TextBox 7"/>
            <p:cNvSpPr txBox="1"/>
            <p:nvPr/>
          </p:nvSpPr>
          <p:spPr>
            <a:xfrm>
              <a:off x="771525" y="700088"/>
              <a:ext cx="4152662" cy="45720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2250" b="1" dirty="0">
                  <a:solidFill>
                    <a:srgbClr val="2B3648"/>
                  </a:solidFill>
                  <a:latin typeface="Arial"/>
                  <a:ea typeface="Microsoft YaHei"/>
                  <a:cs typeface="Arial"/>
                </a:rPr>
                <a:t>知识库：把「参考书」喂给它</a:t>
              </a:r>
            </a:p>
          </p:txBody>
        </p:sp>
        <p:sp>
          <p:nvSpPr>
            <p:cNvPr id="8" name="TextBox 8"/>
            <p:cNvSpPr txBox="1"/>
            <p:nvPr/>
          </p:nvSpPr>
          <p:spPr>
            <a:xfrm>
              <a:off x="782955" y="1111568"/>
              <a:ext cx="6713125" cy="27432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5B6B82"/>
                  </a:solidFill>
                  <a:latin typeface="Arial"/>
                  <a:ea typeface="Microsoft YaHei"/>
                  <a:cs typeface="Arial"/>
                </a:rPr>
                <a:t>大模型的两个短板：知识有截止日期、不懂你单位的内部资料——知识库就是补这两块</a:t>
              </a:r>
            </a:p>
          </p:txBody>
        </p:sp>
      </p:grpSp>
      <p:grpSp>
        <p:nvGrpSpPr>
          <p:cNvPr id="14" name="Group 14"/>
          <p:cNvGrpSpPr/>
          <p:nvPr/>
        </p:nvGrpSpPr>
        <p:grpSpPr>
          <a:xfrm>
            <a:off x="2552700" y="2209800"/>
            <a:ext cx="6362700" cy="1"/>
            <a:chOff x="2552700" y="2209800"/>
            <a:chExt cx="6362700" cy="1"/>
          </a:xfrm>
        </p:grpSpPr>
        <p:sp>
          <p:nvSpPr>
            <p:cNvPr id="10" name="Line 10"/>
            <p:cNvSpPr/>
            <p:nvPr/>
          </p:nvSpPr>
          <p:spPr>
            <a:xfrm>
              <a:off x="2552700" y="2209800"/>
              <a:ext cx="190500" cy="1"/>
            </a:xfrm>
            <a:prstGeom prst="line">
              <a:avLst/>
            </a:prstGeom>
            <a:noFill/>
            <a:ln w="23812">
              <a:solidFill>
                <a:srgbClr val="1565D8"/>
              </a:solidFill>
              <a:tailEnd type="triangle" w="lg" len="lg"/>
            </a:ln>
          </p:spPr>
          <p:txBody>
            <a:bodyPr/>
            <a:p/>
          </p:txBody>
        </p:sp>
        <p:sp>
          <p:nvSpPr>
            <p:cNvPr id="11" name="Line 11"/>
            <p:cNvSpPr/>
            <p:nvPr/>
          </p:nvSpPr>
          <p:spPr>
            <a:xfrm>
              <a:off x="4610100" y="2209800"/>
              <a:ext cx="190500" cy="1"/>
            </a:xfrm>
            <a:prstGeom prst="line">
              <a:avLst/>
            </a:prstGeom>
            <a:noFill/>
            <a:ln w="23812">
              <a:solidFill>
                <a:srgbClr val="1565D8"/>
              </a:solidFill>
              <a:tailEnd type="triangle" w="lg" len="lg"/>
            </a:ln>
          </p:spPr>
          <p:txBody>
            <a:bodyPr/>
            <a:p/>
          </p:txBody>
        </p:sp>
        <p:sp>
          <p:nvSpPr>
            <p:cNvPr id="12" name="Line 12"/>
            <p:cNvSpPr/>
            <p:nvPr/>
          </p:nvSpPr>
          <p:spPr>
            <a:xfrm>
              <a:off x="6667500" y="2209800"/>
              <a:ext cx="190500" cy="1"/>
            </a:xfrm>
            <a:prstGeom prst="line">
              <a:avLst/>
            </a:prstGeom>
            <a:noFill/>
            <a:ln w="23812">
              <a:solidFill>
                <a:srgbClr val="1565D8"/>
              </a:solidFill>
              <a:tailEnd type="triangle" w="lg" len="lg"/>
            </a:ln>
          </p:spPr>
          <p:txBody>
            <a:bodyPr/>
            <a:p/>
          </p:txBody>
        </p:sp>
        <p:sp>
          <p:nvSpPr>
            <p:cNvPr id="13" name="Line 13"/>
            <p:cNvSpPr/>
            <p:nvPr/>
          </p:nvSpPr>
          <p:spPr>
            <a:xfrm>
              <a:off x="8724900" y="2209800"/>
              <a:ext cx="190500" cy="1"/>
            </a:xfrm>
            <a:prstGeom prst="line">
              <a:avLst/>
            </a:prstGeom>
            <a:noFill/>
            <a:ln w="23812">
              <a:solidFill>
                <a:srgbClr val="1565D8"/>
              </a:solidFill>
              <a:tailEnd type="triangle" w="lg" len="lg"/>
            </a:ln>
          </p:spPr>
          <p:txBody>
            <a:bodyPr/>
            <a:p/>
          </p:txBody>
        </p:sp>
      </p:grpSp>
      <p:grpSp>
        <p:nvGrpSpPr>
          <p:cNvPr id="26" name="Group 26"/>
          <p:cNvGrpSpPr/>
          <p:nvPr/>
        </p:nvGrpSpPr>
        <p:grpSpPr>
          <a:xfrm>
            <a:off x="571500" y="1962150"/>
            <a:ext cx="1905000" cy="1847850"/>
            <a:chOff x="571500" y="1962150"/>
            <a:chExt cx="1905000" cy="1847850"/>
          </a:xfrm>
        </p:grpSpPr>
        <p:sp>
          <p:nvSpPr>
            <p:cNvPr id="15" name="Ellipse 15"/>
            <p:cNvSpPr/>
            <p:nvPr/>
          </p:nvSpPr>
          <p:spPr>
            <a:xfrm>
              <a:off x="1333500" y="1962150"/>
              <a:ext cx="495300" cy="495300"/>
            </a:xfrm>
            <a:prstGeom prst="ellipse">
              <a:avLst/>
            </a:prstGeom>
            <a:solidFill>
              <a:srgbClr val="35A3E8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6" name="TextBox 16"/>
            <p:cNvSpPr txBox="1"/>
            <p:nvPr/>
          </p:nvSpPr>
          <p:spPr>
            <a:xfrm>
              <a:off x="1512024" y="2140268"/>
              <a:ext cx="138253" cy="27432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350" b="1" dirty="0">
                  <a:solidFill>
                    <a:srgbClr val="FFFFFF"/>
                  </a:solidFill>
                  <a:latin typeface="Arial"/>
                  <a:ea typeface="Microsoft YaHei"/>
                  <a:cs typeface="Arial"/>
                </a:rPr>
                <a:t>1</a:t>
              </a:r>
            </a:p>
          </p:txBody>
        </p:sp>
        <p:sp>
          <p:nvSpPr>
            <p:cNvPr id="17" name="Rectangle 17"/>
            <p:cNvSpPr/>
            <p:nvPr/>
          </p:nvSpPr>
          <p:spPr>
            <a:xfrm>
              <a:off x="571500" y="2571750"/>
              <a:ext cx="1905000" cy="1238250"/>
            </a:xfrm>
            <a:prstGeom prst="roundRect">
              <a:avLst>
                <a:gd name="adj" fmla="val 12308"/>
              </a:avLst>
            </a:prstGeom>
            <a:solidFill>
              <a:srgbClr val="FFFFFF"/>
            </a:solidFill>
            <a:ln w="9525">
              <a:solidFill>
                <a:srgbClr val="D8E1EC"/>
              </a:solidFill>
            </a:ln>
          </p:spPr>
          <p:txBody>
            <a:bodyPr/>
            <a:p/>
          </p:txBody>
        </p:sp>
        <p:sp>
          <p:nvSpPr>
            <p:cNvPr id="18" name="Ellipse 18"/>
            <p:cNvSpPr/>
            <p:nvPr/>
          </p:nvSpPr>
          <p:spPr>
            <a:xfrm>
              <a:off x="1352550" y="2762250"/>
              <a:ext cx="342900" cy="342900"/>
            </a:xfrm>
            <a:prstGeom prst="ellipse">
              <a:avLst/>
            </a:prstGeom>
            <a:solidFill>
              <a:srgbClr val="D6E6F9"/>
            </a:solidFill>
            <a:ln>
              <a:noFill/>
            </a:ln>
          </p:spPr>
          <p:txBody>
            <a:bodyPr/>
            <a:p/>
          </p:txBody>
        </p:sp>
        <p:grpSp>
          <p:nvGrpSpPr>
            <p:cNvPr id="23" name="Group 23"/>
            <p:cNvGrpSpPr/>
            <p:nvPr/>
          </p:nvGrpSpPr>
          <p:grpSpPr>
            <a:xfrm>
              <a:off x="1468438" y="2862262"/>
              <a:ext cx="111125" cy="142875"/>
              <a:chOff x="1468438" y="2862262"/>
              <a:chExt cx="111125" cy="142875"/>
            </a:xfrm>
          </p:grpSpPr>
          <p:sp>
            <p:nvSpPr>
              <p:cNvPr id="19" name="Freeform 19"/>
              <p:cNvSpPr/>
              <p:nvPr/>
            </p:nvSpPr>
            <p:spPr>
              <a:xfrm>
                <a:off x="1539875" y="2862262"/>
                <a:ext cx="39688" cy="39688"/>
              </a:xfrm>
              <a:custGeom>
                <a:avLst/>
                <a:gdLst/>
                <a:ahLst/>
                <a:cxnLst/>
                <a:rect l="l" t="t" r="r" b="b"/>
                <a:pathLst>
                  <a:path w="39688" h="39688">
                    <a:moveTo>
                      <a:pt x="0" y="0"/>
                    </a:moveTo>
                    <a:lnTo>
                      <a:pt x="0" y="31750"/>
                    </a:lnTo>
                    <a:cubicBezTo>
                      <a:pt x="0" y="36134"/>
                      <a:pt x="3554" y="39688"/>
                      <a:pt x="7938" y="39688"/>
                    </a:cubicBezTo>
                    <a:lnTo>
                      <a:pt x="39688" y="39688"/>
                    </a:lnTo>
                  </a:path>
                </a:pathLst>
              </a:custGeom>
              <a:noFill/>
              <a:ln w="19050">
                <a:solidFill>
                  <a:srgbClr val="1565D8"/>
                </a:solidFill>
              </a:ln>
            </p:spPr>
            <p:txBody>
              <a:bodyPr/>
              <a:p/>
            </p:txBody>
          </p:sp>
          <p:sp>
            <p:nvSpPr>
              <p:cNvPr id="20" name="Freeform 20"/>
              <p:cNvSpPr/>
              <p:nvPr/>
            </p:nvSpPr>
            <p:spPr>
              <a:xfrm>
                <a:off x="1468438" y="2862262"/>
                <a:ext cx="111125" cy="142875"/>
              </a:xfrm>
              <a:custGeom>
                <a:avLst/>
                <a:gdLst/>
                <a:ahLst/>
                <a:cxnLst/>
                <a:rect l="l" t="t" r="r" b="b"/>
                <a:pathLst>
                  <a:path w="111125" h="142875">
                    <a:moveTo>
                      <a:pt x="95250" y="142875"/>
                    </a:moveTo>
                    <a:lnTo>
                      <a:pt x="15875" y="142875"/>
                    </a:lnTo>
                    <a:cubicBezTo>
                      <a:pt x="7107" y="142875"/>
                      <a:pt x="0" y="135768"/>
                      <a:pt x="0" y="127000"/>
                    </a:cubicBezTo>
                    <a:lnTo>
                      <a:pt x="0" y="15875"/>
                    </a:lnTo>
                    <a:cubicBezTo>
                      <a:pt x="0" y="7107"/>
                      <a:pt x="7107" y="0"/>
                      <a:pt x="15875" y="0"/>
                    </a:cubicBezTo>
                    <a:lnTo>
                      <a:pt x="71438" y="0"/>
                    </a:lnTo>
                    <a:lnTo>
                      <a:pt x="111125" y="39688"/>
                    </a:lnTo>
                    <a:lnTo>
                      <a:pt x="111125" y="127000"/>
                    </a:lnTo>
                    <a:cubicBezTo>
                      <a:pt x="111125" y="135768"/>
                      <a:pt x="104018" y="142875"/>
                      <a:pt x="95250" y="142875"/>
                    </a:cubicBezTo>
                  </a:path>
                </a:pathLst>
              </a:custGeom>
              <a:noFill/>
              <a:ln w="19050">
                <a:solidFill>
                  <a:srgbClr val="1565D8"/>
                </a:solidFill>
              </a:ln>
            </p:spPr>
            <p:txBody>
              <a:bodyPr/>
              <a:p/>
            </p:txBody>
          </p:sp>
          <p:sp>
            <p:nvSpPr>
              <p:cNvPr id="21" name="Freeform 21"/>
              <p:cNvSpPr/>
              <p:nvPr/>
            </p:nvSpPr>
            <p:spPr>
              <a:xfrm>
                <a:off x="1524000" y="2925762"/>
                <a:ext cx="9525" cy="47625"/>
              </a:xfrm>
              <a:custGeom>
                <a:avLst/>
                <a:gdLst/>
                <a:ahLst/>
                <a:cxnLst/>
                <a:rect l="l" t="t" r="r" b="b"/>
                <a:pathLst>
                  <a:path w="9525" h="47625">
                    <a:moveTo>
                      <a:pt x="0" y="0"/>
                    </a:moveTo>
                    <a:lnTo>
                      <a:pt x="0" y="47625"/>
                    </a:lnTo>
                  </a:path>
                </a:pathLst>
              </a:custGeom>
              <a:noFill/>
              <a:ln w="19050">
                <a:solidFill>
                  <a:srgbClr val="1565D8"/>
                </a:solidFill>
              </a:ln>
            </p:spPr>
            <p:txBody>
              <a:bodyPr/>
              <a:p/>
            </p:txBody>
          </p:sp>
          <p:sp>
            <p:nvSpPr>
              <p:cNvPr id="22" name="Freeform 22"/>
              <p:cNvSpPr/>
              <p:nvPr/>
            </p:nvSpPr>
            <p:spPr>
              <a:xfrm>
                <a:off x="1504156" y="2925762"/>
                <a:ext cx="39688" cy="19844"/>
              </a:xfrm>
              <a:custGeom>
                <a:avLst/>
                <a:gdLst/>
                <a:ahLst/>
                <a:cxnLst/>
                <a:rect l="l" t="t" r="r" b="b"/>
                <a:pathLst>
                  <a:path w="39688" h="19844">
                    <a:moveTo>
                      <a:pt x="0" y="19844"/>
                    </a:moveTo>
                    <a:lnTo>
                      <a:pt x="19844" y="0"/>
                    </a:lnTo>
                    <a:lnTo>
                      <a:pt x="39688" y="19844"/>
                    </a:lnTo>
                  </a:path>
                </a:pathLst>
              </a:custGeom>
              <a:noFill/>
              <a:ln w="19050">
                <a:solidFill>
                  <a:srgbClr val="1565D8"/>
                </a:solidFill>
              </a:ln>
            </p:spPr>
            <p:txBody>
              <a:bodyPr/>
              <a:p/>
            </p:txBody>
          </p:sp>
        </p:grpSp>
        <p:sp>
          <p:nvSpPr>
            <p:cNvPr id="24" name="TextBox 24"/>
            <p:cNvSpPr txBox="1"/>
            <p:nvPr/>
          </p:nvSpPr>
          <p:spPr>
            <a:xfrm>
              <a:off x="1128808" y="3207068"/>
              <a:ext cx="790384" cy="27432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350" b="1" dirty="0">
                  <a:solidFill>
                    <a:srgbClr val="2B3648"/>
                  </a:solidFill>
                  <a:latin typeface="Arial"/>
                  <a:ea typeface="Microsoft YaHei"/>
                  <a:cs typeface="Arial"/>
                </a:rPr>
                <a:t>资料上传</a:t>
              </a:r>
            </a:p>
          </p:txBody>
        </p:sp>
        <p:sp>
          <p:nvSpPr>
            <p:cNvPr id="25" name="TextBox 25"/>
            <p:cNvSpPr txBox="1"/>
            <p:nvPr/>
          </p:nvSpPr>
          <p:spPr>
            <a:xfrm>
              <a:off x="972050" y="3514249"/>
              <a:ext cx="1103900" cy="19812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975" dirty="0">
                  <a:solidFill>
                    <a:srgbClr val="8B99AE"/>
                  </a:solidFill>
                  <a:latin typeface="Arial"/>
                  <a:ea typeface="Microsoft YaHei"/>
                  <a:cs typeface="Arial"/>
                </a:rPr>
                <a:t>文档 / 表格 / 网页</a:t>
              </a:r>
            </a:p>
          </p:txBody>
        </p:sp>
      </p:grpSp>
      <p:grpSp>
        <p:nvGrpSpPr>
          <p:cNvPr id="39" name="Group 39"/>
          <p:cNvGrpSpPr/>
          <p:nvPr/>
        </p:nvGrpSpPr>
        <p:grpSpPr>
          <a:xfrm>
            <a:off x="2628900" y="1962150"/>
            <a:ext cx="1905000" cy="1847850"/>
            <a:chOff x="2628900" y="1962150"/>
            <a:chExt cx="1905000" cy="1847850"/>
          </a:xfrm>
        </p:grpSpPr>
        <p:sp>
          <p:nvSpPr>
            <p:cNvPr id="27" name="Ellipse 27"/>
            <p:cNvSpPr/>
            <p:nvPr/>
          </p:nvSpPr>
          <p:spPr>
            <a:xfrm>
              <a:off x="3390900" y="1962150"/>
              <a:ext cx="495300" cy="495300"/>
            </a:xfrm>
            <a:prstGeom prst="ellipse">
              <a:avLst/>
            </a:prstGeom>
            <a:solidFill>
              <a:srgbClr val="1565D8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8" name="TextBox 28"/>
            <p:cNvSpPr txBox="1"/>
            <p:nvPr/>
          </p:nvSpPr>
          <p:spPr>
            <a:xfrm>
              <a:off x="3569424" y="2140268"/>
              <a:ext cx="138253" cy="27432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350" b="1" dirty="0">
                  <a:solidFill>
                    <a:srgbClr val="FFFFFF"/>
                  </a:solidFill>
                  <a:latin typeface="Arial"/>
                  <a:ea typeface="Microsoft YaHei"/>
                  <a:cs typeface="Arial"/>
                </a:rPr>
                <a:t>2</a:t>
              </a:r>
            </a:p>
          </p:txBody>
        </p:sp>
        <p:sp>
          <p:nvSpPr>
            <p:cNvPr id="29" name="Rectangle 29"/>
            <p:cNvSpPr/>
            <p:nvPr/>
          </p:nvSpPr>
          <p:spPr>
            <a:xfrm>
              <a:off x="2628900" y="2571750"/>
              <a:ext cx="1905000" cy="1238250"/>
            </a:xfrm>
            <a:prstGeom prst="roundRect">
              <a:avLst>
                <a:gd name="adj" fmla="val 12308"/>
              </a:avLst>
            </a:prstGeom>
            <a:solidFill>
              <a:srgbClr val="FFFFFF"/>
            </a:solidFill>
            <a:ln w="9525">
              <a:solidFill>
                <a:srgbClr val="D8E1EC"/>
              </a:solidFill>
            </a:ln>
          </p:spPr>
          <p:txBody>
            <a:bodyPr/>
            <a:p/>
          </p:txBody>
        </p:sp>
        <p:sp>
          <p:nvSpPr>
            <p:cNvPr id="30" name="Ellipse 30"/>
            <p:cNvSpPr/>
            <p:nvPr/>
          </p:nvSpPr>
          <p:spPr>
            <a:xfrm>
              <a:off x="3409950" y="2762250"/>
              <a:ext cx="342900" cy="342900"/>
            </a:xfrm>
            <a:prstGeom prst="ellipse">
              <a:avLst/>
            </a:prstGeom>
            <a:solidFill>
              <a:srgbClr val="D6E6F9"/>
            </a:solidFill>
            <a:ln>
              <a:noFill/>
            </a:ln>
          </p:spPr>
          <p:txBody>
            <a:bodyPr/>
            <a:p/>
          </p:txBody>
        </p:sp>
        <p:grpSp>
          <p:nvGrpSpPr>
            <p:cNvPr id="36" name="Group 36"/>
            <p:cNvGrpSpPr/>
            <p:nvPr/>
          </p:nvGrpSpPr>
          <p:grpSpPr>
            <a:xfrm>
              <a:off x="3509962" y="2873314"/>
              <a:ext cx="152401" cy="115948"/>
              <a:chOff x="3509962" y="2873314"/>
              <a:chExt cx="152401" cy="115948"/>
            </a:xfrm>
          </p:grpSpPr>
          <p:sp>
            <p:nvSpPr>
              <p:cNvPr id="31" name="Freeform 31"/>
              <p:cNvSpPr/>
              <p:nvPr/>
            </p:nvSpPr>
            <p:spPr>
              <a:xfrm>
                <a:off x="3509962" y="2976501"/>
                <a:ext cx="142875" cy="12761"/>
              </a:xfrm>
              <a:custGeom>
                <a:avLst/>
                <a:gdLst/>
                <a:ahLst/>
                <a:cxnLst/>
                <a:rect l="l" t="t" r="r" b="b"/>
                <a:pathLst>
                  <a:path w="142875" h="12761">
                    <a:moveTo>
                      <a:pt x="0" y="12761"/>
                    </a:moveTo>
                    <a:cubicBezTo>
                      <a:pt x="22103" y="0"/>
                      <a:pt x="49335" y="0"/>
                      <a:pt x="71438" y="12761"/>
                    </a:cubicBezTo>
                    <a:cubicBezTo>
                      <a:pt x="93540" y="0"/>
                      <a:pt x="120772" y="0"/>
                      <a:pt x="142875" y="12761"/>
                    </a:cubicBezTo>
                  </a:path>
                </a:pathLst>
              </a:custGeom>
              <a:noFill/>
              <a:ln w="19050">
                <a:solidFill>
                  <a:srgbClr val="1565D8"/>
                </a:solidFill>
              </a:ln>
            </p:spPr>
            <p:txBody>
              <a:bodyPr/>
              <a:p/>
            </p:txBody>
          </p:sp>
          <p:sp>
            <p:nvSpPr>
              <p:cNvPr id="32" name="Freeform 32"/>
              <p:cNvSpPr/>
              <p:nvPr/>
            </p:nvSpPr>
            <p:spPr>
              <a:xfrm>
                <a:off x="3509962" y="2873314"/>
                <a:ext cx="142875" cy="12761"/>
              </a:xfrm>
              <a:custGeom>
                <a:avLst/>
                <a:gdLst/>
                <a:ahLst/>
                <a:cxnLst/>
                <a:rect l="l" t="t" r="r" b="b"/>
                <a:pathLst>
                  <a:path w="142875" h="12761">
                    <a:moveTo>
                      <a:pt x="0" y="12761"/>
                    </a:moveTo>
                    <a:cubicBezTo>
                      <a:pt x="22103" y="0"/>
                      <a:pt x="49335" y="0"/>
                      <a:pt x="71438" y="12761"/>
                    </a:cubicBezTo>
                    <a:cubicBezTo>
                      <a:pt x="93540" y="0"/>
                      <a:pt x="120772" y="0"/>
                      <a:pt x="142875" y="12761"/>
                    </a:cubicBezTo>
                  </a:path>
                </a:pathLst>
              </a:custGeom>
              <a:noFill/>
              <a:ln w="19050">
                <a:solidFill>
                  <a:srgbClr val="1565D8"/>
                </a:solidFill>
              </a:ln>
            </p:spPr>
            <p:txBody>
              <a:bodyPr/>
              <a:p/>
            </p:txBody>
          </p:sp>
          <p:sp>
            <p:nvSpPr>
              <p:cNvPr id="33" name="Freeform 33"/>
              <p:cNvSpPr/>
              <p:nvPr/>
            </p:nvSpPr>
            <p:spPr>
              <a:xfrm>
                <a:off x="3509962" y="2886075"/>
                <a:ext cx="9525" cy="103187"/>
              </a:xfrm>
              <a:custGeom>
                <a:avLst/>
                <a:gdLst/>
                <a:ahLst/>
                <a:cxnLst/>
                <a:rect l="l" t="t" r="r" b="b"/>
                <a:pathLst>
                  <a:path w="9525" h="103187">
                    <a:moveTo>
                      <a:pt x="0" y="0"/>
                    </a:moveTo>
                    <a:lnTo>
                      <a:pt x="0" y="103187"/>
                    </a:lnTo>
                  </a:path>
                </a:pathLst>
              </a:custGeom>
              <a:noFill/>
              <a:ln w="19050">
                <a:solidFill>
                  <a:srgbClr val="1565D8"/>
                </a:solidFill>
              </a:ln>
            </p:spPr>
            <p:txBody>
              <a:bodyPr/>
              <a:p/>
            </p:txBody>
          </p:sp>
          <p:sp>
            <p:nvSpPr>
              <p:cNvPr id="34" name="Freeform 34"/>
              <p:cNvSpPr/>
              <p:nvPr/>
            </p:nvSpPr>
            <p:spPr>
              <a:xfrm>
                <a:off x="3581400" y="2886075"/>
                <a:ext cx="9525" cy="103187"/>
              </a:xfrm>
              <a:custGeom>
                <a:avLst/>
                <a:gdLst/>
                <a:ahLst/>
                <a:cxnLst/>
                <a:rect l="l" t="t" r="r" b="b"/>
                <a:pathLst>
                  <a:path w="9525" h="103187">
                    <a:moveTo>
                      <a:pt x="0" y="0"/>
                    </a:moveTo>
                    <a:lnTo>
                      <a:pt x="0" y="103187"/>
                    </a:lnTo>
                  </a:path>
                </a:pathLst>
              </a:custGeom>
              <a:noFill/>
              <a:ln w="19050">
                <a:solidFill>
                  <a:srgbClr val="1565D8"/>
                </a:solidFill>
              </a:ln>
            </p:spPr>
            <p:txBody>
              <a:bodyPr/>
              <a:p/>
            </p:txBody>
          </p:sp>
          <p:sp>
            <p:nvSpPr>
              <p:cNvPr id="35" name="Freeform 35"/>
              <p:cNvSpPr/>
              <p:nvPr/>
            </p:nvSpPr>
            <p:spPr>
              <a:xfrm>
                <a:off x="3652838" y="2886075"/>
                <a:ext cx="9525" cy="103187"/>
              </a:xfrm>
              <a:custGeom>
                <a:avLst/>
                <a:gdLst/>
                <a:ahLst/>
                <a:cxnLst/>
                <a:rect l="l" t="t" r="r" b="b"/>
                <a:pathLst>
                  <a:path w="9525" h="103187">
                    <a:moveTo>
                      <a:pt x="0" y="0"/>
                    </a:moveTo>
                    <a:lnTo>
                      <a:pt x="0" y="103187"/>
                    </a:lnTo>
                  </a:path>
                </a:pathLst>
              </a:custGeom>
              <a:noFill/>
              <a:ln w="19050">
                <a:solidFill>
                  <a:srgbClr val="1565D8"/>
                </a:solidFill>
              </a:ln>
            </p:spPr>
            <p:txBody>
              <a:bodyPr/>
              <a:p/>
            </p:txBody>
          </p:sp>
        </p:grpSp>
        <p:sp>
          <p:nvSpPr>
            <p:cNvPr id="37" name="TextBox 37"/>
            <p:cNvSpPr txBox="1"/>
            <p:nvPr/>
          </p:nvSpPr>
          <p:spPr>
            <a:xfrm>
              <a:off x="2997184" y="3207068"/>
              <a:ext cx="1168432" cy="27432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350" b="1" dirty="0">
                  <a:solidFill>
                    <a:srgbClr val="2B3648"/>
                  </a:solidFill>
                  <a:latin typeface="Arial"/>
                  <a:ea typeface="Microsoft YaHei"/>
                  <a:cs typeface="Arial"/>
                </a:rPr>
                <a:t>「读书」学习</a:t>
              </a:r>
            </a:p>
          </p:txBody>
        </p:sp>
        <p:sp>
          <p:nvSpPr>
            <p:cNvPr id="38" name="TextBox 38"/>
            <p:cNvSpPr txBox="1"/>
            <p:nvPr/>
          </p:nvSpPr>
          <p:spPr>
            <a:xfrm>
              <a:off x="3243977" y="3514249"/>
              <a:ext cx="674846" cy="19812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975" dirty="0">
                  <a:solidFill>
                    <a:srgbClr val="8B99AE"/>
                  </a:solidFill>
                  <a:latin typeface="Arial"/>
                  <a:ea typeface="Microsoft YaHei"/>
                  <a:cs typeface="Arial"/>
                </a:rPr>
                <a:t>解析并存档</a:t>
              </a:r>
            </a:p>
          </p:txBody>
        </p:sp>
      </p:grpSp>
      <p:grpSp>
        <p:nvGrpSpPr>
          <p:cNvPr id="51" name="Group 51"/>
          <p:cNvGrpSpPr/>
          <p:nvPr/>
        </p:nvGrpSpPr>
        <p:grpSpPr>
          <a:xfrm>
            <a:off x="4686300" y="1962150"/>
            <a:ext cx="1905000" cy="1847850"/>
            <a:chOff x="4686300" y="1962150"/>
            <a:chExt cx="1905000" cy="1847850"/>
          </a:xfrm>
        </p:grpSpPr>
        <p:sp>
          <p:nvSpPr>
            <p:cNvPr id="40" name="Ellipse 40"/>
            <p:cNvSpPr/>
            <p:nvPr/>
          </p:nvSpPr>
          <p:spPr>
            <a:xfrm>
              <a:off x="5448300" y="1962150"/>
              <a:ext cx="495300" cy="495300"/>
            </a:xfrm>
            <a:prstGeom prst="ellipse">
              <a:avLst/>
            </a:prstGeom>
            <a:solidFill>
              <a:srgbClr val="1565D8"/>
            </a:solidFill>
            <a:ln>
              <a:noFill/>
            </a:ln>
          </p:spPr>
          <p:txBody>
            <a:bodyPr/>
            <a:p/>
          </p:txBody>
        </p:sp>
        <p:sp>
          <p:nvSpPr>
            <p:cNvPr id="41" name="TextBox 41"/>
            <p:cNvSpPr txBox="1"/>
            <p:nvPr/>
          </p:nvSpPr>
          <p:spPr>
            <a:xfrm>
              <a:off x="5626824" y="2140268"/>
              <a:ext cx="138253" cy="27432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350" b="1" dirty="0">
                  <a:solidFill>
                    <a:srgbClr val="FFFFFF"/>
                  </a:solidFill>
                  <a:latin typeface="Arial"/>
                  <a:ea typeface="Microsoft YaHei"/>
                  <a:cs typeface="Arial"/>
                </a:rPr>
                <a:t>3</a:t>
              </a:r>
            </a:p>
          </p:txBody>
        </p:sp>
        <p:sp>
          <p:nvSpPr>
            <p:cNvPr id="42" name="Rectangle 42"/>
            <p:cNvSpPr/>
            <p:nvPr/>
          </p:nvSpPr>
          <p:spPr>
            <a:xfrm>
              <a:off x="4686300" y="2571750"/>
              <a:ext cx="1905000" cy="1238250"/>
            </a:xfrm>
            <a:prstGeom prst="roundRect">
              <a:avLst>
                <a:gd name="adj" fmla="val 12308"/>
              </a:avLst>
            </a:prstGeom>
            <a:solidFill>
              <a:srgbClr val="FFFFFF"/>
            </a:solidFill>
            <a:ln w="9525">
              <a:solidFill>
                <a:srgbClr val="D8E1EC"/>
              </a:solidFill>
            </a:ln>
          </p:spPr>
          <p:txBody>
            <a:bodyPr/>
            <a:p/>
          </p:txBody>
        </p:sp>
        <p:sp>
          <p:nvSpPr>
            <p:cNvPr id="43" name="Ellipse 43"/>
            <p:cNvSpPr/>
            <p:nvPr/>
          </p:nvSpPr>
          <p:spPr>
            <a:xfrm>
              <a:off x="5467350" y="2762250"/>
              <a:ext cx="342900" cy="342900"/>
            </a:xfrm>
            <a:prstGeom prst="ellipse">
              <a:avLst/>
            </a:prstGeom>
            <a:solidFill>
              <a:srgbClr val="D6E6F9"/>
            </a:solidFill>
            <a:ln>
              <a:noFill/>
            </a:ln>
          </p:spPr>
          <p:txBody>
            <a:bodyPr/>
            <a:p/>
          </p:txBody>
        </p:sp>
        <p:grpSp>
          <p:nvGrpSpPr>
            <p:cNvPr id="48" name="Group 48"/>
            <p:cNvGrpSpPr/>
            <p:nvPr/>
          </p:nvGrpSpPr>
          <p:grpSpPr>
            <a:xfrm>
              <a:off x="5583238" y="2862262"/>
              <a:ext cx="127000" cy="150813"/>
              <a:chOff x="5583238" y="2862262"/>
              <a:chExt cx="127000" cy="150813"/>
            </a:xfrm>
          </p:grpSpPr>
          <p:sp>
            <p:nvSpPr>
              <p:cNvPr id="44" name="Freeform 44"/>
              <p:cNvSpPr/>
              <p:nvPr/>
            </p:nvSpPr>
            <p:spPr>
              <a:xfrm>
                <a:off x="5654675" y="2862262"/>
                <a:ext cx="39688" cy="39688"/>
              </a:xfrm>
              <a:custGeom>
                <a:avLst/>
                <a:gdLst/>
                <a:ahLst/>
                <a:cxnLst/>
                <a:rect l="l" t="t" r="r" b="b"/>
                <a:pathLst>
                  <a:path w="39688" h="39688">
                    <a:moveTo>
                      <a:pt x="0" y="0"/>
                    </a:moveTo>
                    <a:lnTo>
                      <a:pt x="0" y="31750"/>
                    </a:lnTo>
                    <a:cubicBezTo>
                      <a:pt x="0" y="36134"/>
                      <a:pt x="3554" y="39688"/>
                      <a:pt x="7938" y="39688"/>
                    </a:cubicBezTo>
                    <a:lnTo>
                      <a:pt x="39688" y="39688"/>
                    </a:lnTo>
                  </a:path>
                </a:pathLst>
              </a:custGeom>
              <a:noFill/>
              <a:ln w="19050">
                <a:solidFill>
                  <a:srgbClr val="1565D8"/>
                </a:solidFill>
              </a:ln>
            </p:spPr>
            <p:txBody>
              <a:bodyPr/>
              <a:p/>
            </p:txBody>
          </p:sp>
          <p:sp>
            <p:nvSpPr>
              <p:cNvPr id="45" name="Freeform 45"/>
              <p:cNvSpPr/>
              <p:nvPr/>
            </p:nvSpPr>
            <p:spPr>
              <a:xfrm>
                <a:off x="5583238" y="2862262"/>
                <a:ext cx="111125" cy="142875"/>
              </a:xfrm>
              <a:custGeom>
                <a:avLst/>
                <a:gdLst/>
                <a:ahLst/>
                <a:cxnLst/>
                <a:rect l="l" t="t" r="r" b="b"/>
                <a:pathLst>
                  <a:path w="111125" h="142875">
                    <a:moveTo>
                      <a:pt x="55563" y="142875"/>
                    </a:moveTo>
                    <a:lnTo>
                      <a:pt x="15875" y="142875"/>
                    </a:lnTo>
                    <a:cubicBezTo>
                      <a:pt x="7107" y="142875"/>
                      <a:pt x="0" y="135768"/>
                      <a:pt x="0" y="127000"/>
                    </a:cubicBezTo>
                    <a:lnTo>
                      <a:pt x="0" y="15875"/>
                    </a:lnTo>
                    <a:cubicBezTo>
                      <a:pt x="0" y="7107"/>
                      <a:pt x="7107" y="0"/>
                      <a:pt x="15875" y="0"/>
                    </a:cubicBezTo>
                    <a:lnTo>
                      <a:pt x="71438" y="0"/>
                    </a:lnTo>
                    <a:lnTo>
                      <a:pt x="111125" y="39688"/>
                    </a:lnTo>
                    <a:lnTo>
                      <a:pt x="111125" y="75406"/>
                    </a:lnTo>
                  </a:path>
                </a:pathLst>
              </a:custGeom>
              <a:noFill/>
              <a:ln w="19050">
                <a:solidFill>
                  <a:srgbClr val="1565D8"/>
                </a:solidFill>
              </a:ln>
            </p:spPr>
            <p:txBody>
              <a:bodyPr/>
              <a:p/>
            </p:txBody>
          </p:sp>
          <p:sp>
            <p:nvSpPr>
              <p:cNvPr id="46" name="Freeform 46"/>
              <p:cNvSpPr/>
              <p:nvPr/>
            </p:nvSpPr>
            <p:spPr>
              <a:xfrm>
                <a:off x="5654675" y="2957512"/>
                <a:ext cx="39688" cy="39688"/>
              </a:xfrm>
              <a:custGeom>
                <a:avLst/>
                <a:gdLst/>
                <a:ahLst/>
                <a:cxnLst/>
                <a:rect l="l" t="t" r="r" b="b"/>
                <a:pathLst>
                  <a:path w="39688" h="39688">
                    <a:moveTo>
                      <a:pt x="0" y="19844"/>
                    </a:moveTo>
                    <a:cubicBezTo>
                      <a:pt x="0" y="30803"/>
                      <a:pt x="8884" y="39688"/>
                      <a:pt x="19844" y="39688"/>
                    </a:cubicBezTo>
                    <a:cubicBezTo>
                      <a:pt x="30803" y="39688"/>
                      <a:pt x="39688" y="30803"/>
                      <a:pt x="39688" y="19844"/>
                    </a:cubicBezTo>
                    <a:cubicBezTo>
                      <a:pt x="39688" y="8884"/>
                      <a:pt x="30803" y="0"/>
                      <a:pt x="19844" y="0"/>
                    </a:cubicBezTo>
                    <a:cubicBezTo>
                      <a:pt x="8884" y="0"/>
                      <a:pt x="0" y="8884"/>
                      <a:pt x="0" y="19844"/>
                    </a:cubicBezTo>
                  </a:path>
                </a:pathLst>
              </a:custGeom>
              <a:noFill/>
              <a:ln w="19050">
                <a:solidFill>
                  <a:srgbClr val="1565D8"/>
                </a:solidFill>
              </a:ln>
            </p:spPr>
            <p:txBody>
              <a:bodyPr/>
              <a:p/>
            </p:txBody>
          </p:sp>
          <p:sp>
            <p:nvSpPr>
              <p:cNvPr id="47" name="Freeform 47"/>
              <p:cNvSpPr/>
              <p:nvPr/>
            </p:nvSpPr>
            <p:spPr>
              <a:xfrm>
                <a:off x="5690394" y="2993231"/>
                <a:ext cx="19844" cy="19844"/>
              </a:xfrm>
              <a:custGeom>
                <a:avLst/>
                <a:gdLst/>
                <a:ahLst/>
                <a:cxnLst/>
                <a:rect l="l" t="t" r="r" b="b"/>
                <a:pathLst>
                  <a:path w="19844" h="19844">
                    <a:moveTo>
                      <a:pt x="0" y="0"/>
                    </a:moveTo>
                    <a:lnTo>
                      <a:pt x="19844" y="19844"/>
                    </a:lnTo>
                  </a:path>
                </a:pathLst>
              </a:custGeom>
              <a:noFill/>
              <a:ln w="19050">
                <a:solidFill>
                  <a:srgbClr val="1565D8"/>
                </a:solidFill>
              </a:ln>
            </p:spPr>
            <p:txBody>
              <a:bodyPr/>
              <a:p/>
            </p:txBody>
          </p:sp>
        </p:grpSp>
        <p:sp>
          <p:nvSpPr>
            <p:cNvPr id="49" name="TextBox 49"/>
            <p:cNvSpPr txBox="1"/>
            <p:nvPr/>
          </p:nvSpPr>
          <p:spPr>
            <a:xfrm>
              <a:off x="5338120" y="3207068"/>
              <a:ext cx="601361" cy="27432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350" b="1" dirty="0">
                  <a:solidFill>
                    <a:srgbClr val="2B3648"/>
                  </a:solidFill>
                  <a:latin typeface="Arial"/>
                  <a:ea typeface="Microsoft YaHei"/>
                  <a:cs typeface="Arial"/>
                </a:rPr>
                <a:t>找相关</a:t>
              </a:r>
            </a:p>
          </p:txBody>
        </p:sp>
        <p:sp>
          <p:nvSpPr>
            <p:cNvPr id="50" name="TextBox 50"/>
            <p:cNvSpPr txBox="1"/>
            <p:nvPr/>
          </p:nvSpPr>
          <p:spPr>
            <a:xfrm>
              <a:off x="5171361" y="3514249"/>
              <a:ext cx="934879" cy="19812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975" dirty="0">
                  <a:solidFill>
                    <a:srgbClr val="8B99AE"/>
                  </a:solidFill>
                  <a:latin typeface="Arial"/>
                  <a:ea typeface="Microsoft YaHei"/>
                  <a:cs typeface="Arial"/>
                </a:rPr>
                <a:t>按问题检索段落</a:t>
              </a:r>
            </a:p>
          </p:txBody>
        </p:sp>
      </p:grpSp>
      <p:grpSp>
        <p:nvGrpSpPr>
          <p:cNvPr id="62" name="Group 62"/>
          <p:cNvGrpSpPr/>
          <p:nvPr/>
        </p:nvGrpSpPr>
        <p:grpSpPr>
          <a:xfrm>
            <a:off x="6743700" y="1962150"/>
            <a:ext cx="1905000" cy="1847850"/>
            <a:chOff x="6743700" y="1962150"/>
            <a:chExt cx="1905000" cy="1847850"/>
          </a:xfrm>
        </p:grpSpPr>
        <p:sp>
          <p:nvSpPr>
            <p:cNvPr id="52" name="Ellipse 52"/>
            <p:cNvSpPr/>
            <p:nvPr/>
          </p:nvSpPr>
          <p:spPr>
            <a:xfrm>
              <a:off x="7505700" y="1962150"/>
              <a:ext cx="495300" cy="495300"/>
            </a:xfrm>
            <a:prstGeom prst="ellipse">
              <a:avLst/>
            </a:prstGeom>
            <a:solidFill>
              <a:srgbClr val="1565D8"/>
            </a:solidFill>
            <a:ln>
              <a:noFill/>
            </a:ln>
          </p:spPr>
          <p:txBody>
            <a:bodyPr/>
            <a:p/>
          </p:txBody>
        </p:sp>
        <p:sp>
          <p:nvSpPr>
            <p:cNvPr id="53" name="TextBox 53"/>
            <p:cNvSpPr txBox="1"/>
            <p:nvPr/>
          </p:nvSpPr>
          <p:spPr>
            <a:xfrm>
              <a:off x="7684224" y="2140268"/>
              <a:ext cx="138253" cy="27432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350" b="1" dirty="0">
                  <a:solidFill>
                    <a:srgbClr val="FFFFFF"/>
                  </a:solidFill>
                  <a:latin typeface="Arial"/>
                  <a:ea typeface="Microsoft YaHei"/>
                  <a:cs typeface="Arial"/>
                </a:rPr>
                <a:t>4</a:t>
              </a:r>
            </a:p>
          </p:txBody>
        </p:sp>
        <p:sp>
          <p:nvSpPr>
            <p:cNvPr id="54" name="Rectangle 54"/>
            <p:cNvSpPr/>
            <p:nvPr/>
          </p:nvSpPr>
          <p:spPr>
            <a:xfrm>
              <a:off x="6743700" y="2571750"/>
              <a:ext cx="1905000" cy="1238250"/>
            </a:xfrm>
            <a:prstGeom prst="roundRect">
              <a:avLst>
                <a:gd name="adj" fmla="val 12308"/>
              </a:avLst>
            </a:prstGeom>
            <a:solidFill>
              <a:srgbClr val="FFFFFF"/>
            </a:solidFill>
            <a:ln w="9525">
              <a:solidFill>
                <a:srgbClr val="D8E1EC"/>
              </a:solidFill>
            </a:ln>
          </p:spPr>
          <p:txBody>
            <a:bodyPr/>
            <a:p/>
          </p:txBody>
        </p:sp>
        <p:sp>
          <p:nvSpPr>
            <p:cNvPr id="55" name="Ellipse 55"/>
            <p:cNvSpPr/>
            <p:nvPr/>
          </p:nvSpPr>
          <p:spPr>
            <a:xfrm>
              <a:off x="7524750" y="2762250"/>
              <a:ext cx="342900" cy="342900"/>
            </a:xfrm>
            <a:prstGeom prst="ellipse">
              <a:avLst/>
            </a:prstGeom>
            <a:solidFill>
              <a:srgbClr val="D6E6F9"/>
            </a:solidFill>
            <a:ln>
              <a:noFill/>
            </a:ln>
          </p:spPr>
          <p:txBody>
            <a:bodyPr/>
            <a:p/>
          </p:txBody>
        </p:sp>
        <p:grpSp>
          <p:nvGrpSpPr>
            <p:cNvPr id="59" name="Group 59"/>
            <p:cNvGrpSpPr/>
            <p:nvPr/>
          </p:nvGrpSpPr>
          <p:grpSpPr>
            <a:xfrm>
              <a:off x="7624762" y="2870200"/>
              <a:ext cx="142875" cy="134938"/>
              <a:chOff x="7624762" y="2870200"/>
              <a:chExt cx="142875" cy="134938"/>
            </a:xfrm>
          </p:grpSpPr>
          <p:sp>
            <p:nvSpPr>
              <p:cNvPr id="56" name="Freeform 56"/>
              <p:cNvSpPr/>
              <p:nvPr/>
            </p:nvSpPr>
            <p:spPr>
              <a:xfrm>
                <a:off x="7664450" y="2909888"/>
                <a:ext cx="63500" cy="9525"/>
              </a:xfrm>
              <a:custGeom>
                <a:avLst/>
                <a:gdLst/>
                <a:ahLst/>
                <a:cxnLst/>
                <a:rect l="l" t="t" r="r" b="b"/>
                <a:pathLst>
                  <a:path w="63500" h="9525">
                    <a:moveTo>
                      <a:pt x="0" y="0"/>
                    </a:moveTo>
                    <a:lnTo>
                      <a:pt x="63500" y="0"/>
                    </a:lnTo>
                  </a:path>
                </a:pathLst>
              </a:custGeom>
              <a:noFill/>
              <a:ln w="19050">
                <a:solidFill>
                  <a:srgbClr val="1565D8"/>
                </a:solidFill>
              </a:ln>
            </p:spPr>
            <p:txBody>
              <a:bodyPr/>
              <a:p/>
            </p:txBody>
          </p:sp>
          <p:sp>
            <p:nvSpPr>
              <p:cNvPr id="57" name="Freeform 57"/>
              <p:cNvSpPr/>
              <p:nvPr/>
            </p:nvSpPr>
            <p:spPr>
              <a:xfrm>
                <a:off x="7664450" y="2941638"/>
                <a:ext cx="47625" cy="9525"/>
              </a:xfrm>
              <a:custGeom>
                <a:avLst/>
                <a:gdLst/>
                <a:ahLst/>
                <a:cxnLst/>
                <a:rect l="l" t="t" r="r" b="b"/>
                <a:pathLst>
                  <a:path w="47625" h="9525">
                    <a:moveTo>
                      <a:pt x="0" y="0"/>
                    </a:moveTo>
                    <a:lnTo>
                      <a:pt x="47625" y="0"/>
                    </a:lnTo>
                  </a:path>
                </a:pathLst>
              </a:custGeom>
              <a:noFill/>
              <a:ln w="19050">
                <a:solidFill>
                  <a:srgbClr val="1565D8"/>
                </a:solidFill>
              </a:ln>
            </p:spPr>
            <p:txBody>
              <a:bodyPr/>
              <a:p/>
            </p:txBody>
          </p:sp>
          <p:sp>
            <p:nvSpPr>
              <p:cNvPr id="58" name="Freeform 58"/>
              <p:cNvSpPr/>
              <p:nvPr/>
            </p:nvSpPr>
            <p:spPr>
              <a:xfrm>
                <a:off x="7624762" y="2870200"/>
                <a:ext cx="142875" cy="134938"/>
              </a:xfrm>
              <a:custGeom>
                <a:avLst/>
                <a:gdLst/>
                <a:ahLst/>
                <a:cxnLst/>
                <a:rect l="l" t="t" r="r" b="b"/>
                <a:pathLst>
                  <a:path w="142875" h="134938">
                    <a:moveTo>
                      <a:pt x="47625" y="111125"/>
                    </a:moveTo>
                    <a:lnTo>
                      <a:pt x="23812" y="111125"/>
                    </a:lnTo>
                    <a:cubicBezTo>
                      <a:pt x="10661" y="111125"/>
                      <a:pt x="0" y="100464"/>
                      <a:pt x="0" y="87313"/>
                    </a:cubicBezTo>
                    <a:lnTo>
                      <a:pt x="0" y="23812"/>
                    </a:lnTo>
                    <a:cubicBezTo>
                      <a:pt x="0" y="10661"/>
                      <a:pt x="10661" y="0"/>
                      <a:pt x="23812" y="0"/>
                    </a:cubicBezTo>
                    <a:lnTo>
                      <a:pt x="119062" y="0"/>
                    </a:lnTo>
                    <a:cubicBezTo>
                      <a:pt x="132214" y="0"/>
                      <a:pt x="142875" y="10661"/>
                      <a:pt x="142875" y="23812"/>
                    </a:cubicBezTo>
                    <a:lnTo>
                      <a:pt x="142875" y="87313"/>
                    </a:lnTo>
                    <a:cubicBezTo>
                      <a:pt x="142875" y="100464"/>
                      <a:pt x="132214" y="111125"/>
                      <a:pt x="119062" y="111125"/>
                    </a:cubicBezTo>
                    <a:lnTo>
                      <a:pt x="95250" y="111125"/>
                    </a:lnTo>
                    <a:lnTo>
                      <a:pt x="71438" y="134938"/>
                    </a:lnTo>
                    <a:lnTo>
                      <a:pt x="47625" y="111125"/>
                    </a:lnTo>
                  </a:path>
                </a:pathLst>
              </a:custGeom>
              <a:noFill/>
              <a:ln w="19050">
                <a:solidFill>
                  <a:srgbClr val="1565D8"/>
                </a:solidFill>
              </a:ln>
            </p:spPr>
            <p:txBody>
              <a:bodyPr/>
              <a:p/>
            </p:txBody>
          </p:sp>
        </p:grpSp>
        <p:sp>
          <p:nvSpPr>
            <p:cNvPr id="60" name="TextBox 60"/>
            <p:cNvSpPr txBox="1"/>
            <p:nvPr/>
          </p:nvSpPr>
          <p:spPr>
            <a:xfrm>
              <a:off x="7395520" y="3207068"/>
              <a:ext cx="601361" cy="27432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350" b="1" dirty="0">
                  <a:solidFill>
                    <a:srgbClr val="2B3648"/>
                  </a:solidFill>
                  <a:latin typeface="Arial"/>
                  <a:ea typeface="Microsoft YaHei"/>
                  <a:cs typeface="Arial"/>
                </a:rPr>
                <a:t>照着答</a:t>
              </a:r>
            </a:p>
          </p:txBody>
        </p:sp>
        <p:sp>
          <p:nvSpPr>
            <p:cNvPr id="61" name="TextBox 61"/>
            <p:cNvSpPr txBox="1"/>
            <p:nvPr/>
          </p:nvSpPr>
          <p:spPr>
            <a:xfrm>
              <a:off x="7293769" y="3514249"/>
              <a:ext cx="804862" cy="19812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975" dirty="0">
                  <a:solidFill>
                    <a:srgbClr val="8B99AE"/>
                  </a:solidFill>
                  <a:latin typeface="Arial"/>
                  <a:ea typeface="Microsoft YaHei"/>
                  <a:cs typeface="Arial"/>
                </a:rPr>
                <a:t>基于资料生成</a:t>
              </a:r>
            </a:p>
          </p:txBody>
        </p:sp>
      </p:grpSp>
      <p:grpSp>
        <p:nvGrpSpPr>
          <p:cNvPr id="72" name="Group 72"/>
          <p:cNvGrpSpPr/>
          <p:nvPr/>
        </p:nvGrpSpPr>
        <p:grpSpPr>
          <a:xfrm>
            <a:off x="8801100" y="1962150"/>
            <a:ext cx="1905000" cy="1847850"/>
            <a:chOff x="8801100" y="1962150"/>
            <a:chExt cx="1905000" cy="1847850"/>
          </a:xfrm>
        </p:grpSpPr>
        <p:sp>
          <p:nvSpPr>
            <p:cNvPr id="63" name="Ellipse 63"/>
            <p:cNvSpPr/>
            <p:nvPr/>
          </p:nvSpPr>
          <p:spPr>
            <a:xfrm>
              <a:off x="9563100" y="1962150"/>
              <a:ext cx="495300" cy="495300"/>
            </a:xfrm>
            <a:prstGeom prst="ellipse">
              <a:avLst/>
            </a:prstGeom>
            <a:solidFill>
              <a:srgbClr val="0B4EA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64" name="TextBox 64"/>
            <p:cNvSpPr txBox="1"/>
            <p:nvPr/>
          </p:nvSpPr>
          <p:spPr>
            <a:xfrm>
              <a:off x="9741624" y="2140268"/>
              <a:ext cx="138253" cy="27432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350" b="1" dirty="0">
                  <a:solidFill>
                    <a:srgbClr val="FFFFFF"/>
                  </a:solidFill>
                  <a:latin typeface="Arial"/>
                  <a:ea typeface="Microsoft YaHei"/>
                  <a:cs typeface="Arial"/>
                </a:rPr>
                <a:t>5</a:t>
              </a:r>
            </a:p>
          </p:txBody>
        </p:sp>
        <p:sp>
          <p:nvSpPr>
            <p:cNvPr id="65" name="Rectangle 65"/>
            <p:cNvSpPr/>
            <p:nvPr/>
          </p:nvSpPr>
          <p:spPr>
            <a:xfrm>
              <a:off x="8801100" y="2571750"/>
              <a:ext cx="1905000" cy="1238250"/>
            </a:xfrm>
            <a:prstGeom prst="roundRect">
              <a:avLst>
                <a:gd name="adj" fmla="val 12308"/>
              </a:avLst>
            </a:prstGeom>
            <a:solidFill>
              <a:srgbClr val="FFFFFF"/>
            </a:solidFill>
            <a:ln w="9525">
              <a:solidFill>
                <a:srgbClr val="D8E1EC"/>
              </a:solidFill>
            </a:ln>
          </p:spPr>
          <p:txBody>
            <a:bodyPr/>
            <a:p/>
          </p:txBody>
        </p:sp>
        <p:sp>
          <p:nvSpPr>
            <p:cNvPr id="66" name="Ellipse 66"/>
            <p:cNvSpPr/>
            <p:nvPr/>
          </p:nvSpPr>
          <p:spPr>
            <a:xfrm>
              <a:off x="9582150" y="2762250"/>
              <a:ext cx="342900" cy="342900"/>
            </a:xfrm>
            <a:prstGeom prst="ellipse">
              <a:avLst/>
            </a:prstGeom>
            <a:solidFill>
              <a:srgbClr val="D6E6F9"/>
            </a:solidFill>
            <a:ln>
              <a:noFill/>
            </a:ln>
          </p:spPr>
          <p:txBody>
            <a:bodyPr/>
            <a:p/>
          </p:txBody>
        </p:sp>
        <p:grpSp>
          <p:nvGrpSpPr>
            <p:cNvPr id="69" name="Group 69"/>
            <p:cNvGrpSpPr/>
            <p:nvPr/>
          </p:nvGrpSpPr>
          <p:grpSpPr>
            <a:xfrm>
              <a:off x="9682162" y="2862262"/>
              <a:ext cx="142875" cy="142875"/>
              <a:chOff x="9682162" y="2862262"/>
              <a:chExt cx="142875" cy="142875"/>
            </a:xfrm>
          </p:grpSpPr>
          <p:sp>
            <p:nvSpPr>
              <p:cNvPr id="67" name="Freeform 67"/>
              <p:cNvSpPr/>
              <p:nvPr/>
            </p:nvSpPr>
            <p:spPr>
              <a:xfrm>
                <a:off x="9682162" y="2862262"/>
                <a:ext cx="142875" cy="142875"/>
              </a:xfrm>
              <a:custGeom>
                <a:avLst/>
                <a:gdLst/>
                <a:ahLst/>
                <a:cxnLst/>
                <a:rect l="l" t="t" r="r" b="b"/>
                <a:pathLst>
                  <a:path w="142875" h="142875">
                    <a:moveTo>
                      <a:pt x="0" y="71438"/>
                    </a:moveTo>
                    <a:cubicBezTo>
                      <a:pt x="0" y="110891"/>
                      <a:pt x="31984" y="142875"/>
                      <a:pt x="71438" y="142875"/>
                    </a:cubicBezTo>
                    <a:cubicBezTo>
                      <a:pt x="110891" y="142875"/>
                      <a:pt x="142875" y="110891"/>
                      <a:pt x="142875" y="71438"/>
                    </a:cubicBezTo>
                    <a:cubicBezTo>
                      <a:pt x="142875" y="31984"/>
                      <a:pt x="110891" y="0"/>
                      <a:pt x="71438" y="0"/>
                    </a:cubicBezTo>
                    <a:cubicBezTo>
                      <a:pt x="31984" y="0"/>
                      <a:pt x="0" y="31984"/>
                      <a:pt x="0" y="71438"/>
                    </a:cubicBezTo>
                  </a:path>
                </a:pathLst>
              </a:custGeom>
              <a:noFill/>
              <a:ln w="19050">
                <a:solidFill>
                  <a:srgbClr val="1565D8"/>
                </a:solidFill>
              </a:ln>
            </p:spPr>
            <p:txBody>
              <a:bodyPr/>
              <a:p/>
            </p:txBody>
          </p:sp>
          <p:sp>
            <p:nvSpPr>
              <p:cNvPr id="68" name="Freeform 68"/>
              <p:cNvSpPr/>
              <p:nvPr/>
            </p:nvSpPr>
            <p:spPr>
              <a:xfrm>
                <a:off x="9729788" y="2917825"/>
                <a:ext cx="47625" cy="31750"/>
              </a:xfrm>
              <a:custGeom>
                <a:avLst/>
                <a:gdLst/>
                <a:ahLst/>
                <a:cxnLst/>
                <a:rect l="l" t="t" r="r" b="b"/>
                <a:pathLst>
                  <a:path w="47625" h="31750">
                    <a:moveTo>
                      <a:pt x="0" y="15875"/>
                    </a:moveTo>
                    <a:lnTo>
                      <a:pt x="15875" y="31750"/>
                    </a:lnTo>
                    <a:lnTo>
                      <a:pt x="47625" y="0"/>
                    </a:lnTo>
                  </a:path>
                </a:pathLst>
              </a:custGeom>
              <a:noFill/>
              <a:ln w="19050">
                <a:solidFill>
                  <a:srgbClr val="1565D8"/>
                </a:solidFill>
              </a:ln>
            </p:spPr>
            <p:txBody>
              <a:bodyPr/>
              <a:p/>
            </p:txBody>
          </p:sp>
        </p:grpSp>
        <p:sp>
          <p:nvSpPr>
            <p:cNvPr id="70" name="TextBox 70"/>
            <p:cNvSpPr txBox="1"/>
            <p:nvPr/>
          </p:nvSpPr>
          <p:spPr>
            <a:xfrm>
              <a:off x="9452920" y="3207068"/>
              <a:ext cx="601361" cy="27432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350" b="1" dirty="0">
                  <a:solidFill>
                    <a:srgbClr val="2B3648"/>
                  </a:solidFill>
                  <a:latin typeface="Arial"/>
                  <a:ea typeface="Microsoft YaHei"/>
                  <a:cs typeface="Arial"/>
                </a:rPr>
                <a:t>带出处</a:t>
              </a:r>
            </a:p>
          </p:txBody>
        </p:sp>
        <p:sp>
          <p:nvSpPr>
            <p:cNvPr id="71" name="TextBox 71"/>
            <p:cNvSpPr txBox="1"/>
            <p:nvPr/>
          </p:nvSpPr>
          <p:spPr>
            <a:xfrm>
              <a:off x="9416177" y="3514249"/>
              <a:ext cx="674846" cy="19812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975" dirty="0">
                  <a:solidFill>
                    <a:srgbClr val="8B99AE"/>
                  </a:solidFill>
                  <a:latin typeface="Arial"/>
                  <a:ea typeface="Microsoft YaHei"/>
                  <a:cs typeface="Arial"/>
                </a:rPr>
                <a:t>可回溯核对</a:t>
              </a:r>
            </a:p>
          </p:txBody>
        </p:sp>
      </p:grpSp>
      <p:grpSp>
        <p:nvGrpSpPr>
          <p:cNvPr id="84" name="Group 84"/>
          <p:cNvGrpSpPr/>
          <p:nvPr/>
        </p:nvGrpSpPr>
        <p:grpSpPr>
          <a:xfrm>
            <a:off x="571500" y="4076700"/>
            <a:ext cx="11049000" cy="1066800"/>
            <a:chOff x="571500" y="4076700"/>
            <a:chExt cx="11049000" cy="1066800"/>
          </a:xfrm>
        </p:grpSpPr>
        <p:sp>
          <p:nvSpPr>
            <p:cNvPr id="73" name="Rectangle 73"/>
            <p:cNvSpPr/>
            <p:nvPr/>
          </p:nvSpPr>
          <p:spPr>
            <a:xfrm>
              <a:off x="571500" y="4076700"/>
              <a:ext cx="11049000" cy="990600"/>
            </a:xfrm>
            <a:prstGeom prst="roundRect">
              <a:avLst>
                <a:gd name="adj" fmla="val 15385"/>
              </a:avLst>
            </a:prstGeom>
            <a:solidFill>
              <a:srgbClr val="FFFFFF"/>
            </a:solidFill>
            <a:ln w="9525">
              <a:solidFill>
                <a:srgbClr val="D8E1EC"/>
              </a:solidFill>
            </a:ln>
          </p:spPr>
          <p:txBody>
            <a:bodyPr/>
            <a:p/>
          </p:txBody>
        </p:sp>
        <p:sp>
          <p:nvSpPr>
            <p:cNvPr id="74" name="Ellipse 74"/>
            <p:cNvSpPr/>
            <p:nvPr/>
          </p:nvSpPr>
          <p:spPr>
            <a:xfrm>
              <a:off x="781050" y="4362450"/>
              <a:ext cx="419100" cy="419100"/>
            </a:xfrm>
            <a:prstGeom prst="ellipse">
              <a:avLst/>
            </a:prstGeom>
            <a:solidFill>
              <a:srgbClr val="D6E6F9"/>
            </a:solidFill>
            <a:ln>
              <a:noFill/>
            </a:ln>
          </p:spPr>
          <p:txBody>
            <a:bodyPr/>
            <a:p/>
          </p:txBody>
        </p:sp>
        <p:grpSp>
          <p:nvGrpSpPr>
            <p:cNvPr id="80" name="Group 80"/>
            <p:cNvGrpSpPr/>
            <p:nvPr/>
          </p:nvGrpSpPr>
          <p:grpSpPr>
            <a:xfrm>
              <a:off x="904875" y="4486275"/>
              <a:ext cx="171450" cy="171422"/>
              <a:chOff x="904875" y="4486275"/>
              <a:chExt cx="171450" cy="171422"/>
            </a:xfrm>
          </p:grpSpPr>
          <p:sp>
            <p:nvSpPr>
              <p:cNvPr id="75" name="Freeform 75"/>
              <p:cNvSpPr/>
              <p:nvPr/>
            </p:nvSpPr>
            <p:spPr>
              <a:xfrm>
                <a:off x="942975" y="4486275"/>
                <a:ext cx="133350" cy="133350"/>
              </a:xfrm>
              <a:custGeom>
                <a:avLst/>
                <a:gdLst/>
                <a:ahLst/>
                <a:cxnLst/>
                <a:rect l="l" t="t" r="r" b="b"/>
                <a:pathLst>
                  <a:path w="133350" h="133350">
                    <a:moveTo>
                      <a:pt x="0" y="25403"/>
                    </a:moveTo>
                    <a:cubicBezTo>
                      <a:pt x="0" y="11373"/>
                      <a:pt x="11373" y="0"/>
                      <a:pt x="25403" y="0"/>
                    </a:cubicBezTo>
                    <a:lnTo>
                      <a:pt x="107947" y="0"/>
                    </a:lnTo>
                    <a:cubicBezTo>
                      <a:pt x="114684" y="0"/>
                      <a:pt x="121146" y="2676"/>
                      <a:pt x="125910" y="7440"/>
                    </a:cubicBezTo>
                    <a:cubicBezTo>
                      <a:pt x="130674" y="12204"/>
                      <a:pt x="133350" y="18666"/>
                      <a:pt x="133350" y="25403"/>
                    </a:cubicBezTo>
                    <a:lnTo>
                      <a:pt x="133350" y="107947"/>
                    </a:lnTo>
                    <a:cubicBezTo>
                      <a:pt x="133350" y="114684"/>
                      <a:pt x="130674" y="121146"/>
                      <a:pt x="125910" y="125910"/>
                    </a:cubicBezTo>
                    <a:cubicBezTo>
                      <a:pt x="121146" y="130674"/>
                      <a:pt x="114684" y="133350"/>
                      <a:pt x="107947" y="133350"/>
                    </a:cubicBezTo>
                    <a:lnTo>
                      <a:pt x="25403" y="133350"/>
                    </a:lnTo>
                    <a:cubicBezTo>
                      <a:pt x="11373" y="133350"/>
                      <a:pt x="0" y="121977"/>
                      <a:pt x="0" y="107947"/>
                    </a:cubicBezTo>
                    <a:lnTo>
                      <a:pt x="0" y="25403"/>
                    </a:lnTo>
                  </a:path>
                </a:pathLst>
              </a:custGeom>
              <a:noFill/>
              <a:ln w="19050">
                <a:solidFill>
                  <a:srgbClr val="1565D8"/>
                </a:solidFill>
              </a:ln>
            </p:spPr>
            <p:txBody>
              <a:bodyPr/>
              <a:p/>
            </p:txBody>
          </p:sp>
          <p:sp>
            <p:nvSpPr>
              <p:cNvPr id="76" name="Freeform 76"/>
              <p:cNvSpPr/>
              <p:nvPr/>
            </p:nvSpPr>
            <p:spPr>
              <a:xfrm>
                <a:off x="904875" y="4526852"/>
                <a:ext cx="128588" cy="130845"/>
              </a:xfrm>
              <a:custGeom>
                <a:avLst/>
                <a:gdLst/>
                <a:ahLst/>
                <a:cxnLst/>
                <a:rect l="l" t="t" r="r" b="b"/>
                <a:pathLst>
                  <a:path w="128588" h="130845">
                    <a:moveTo>
                      <a:pt x="9639" y="0"/>
                    </a:moveTo>
                    <a:cubicBezTo>
                      <a:pt x="3694" y="3389"/>
                      <a:pt x="17" y="9701"/>
                      <a:pt x="0" y="16545"/>
                    </a:cubicBezTo>
                    <a:lnTo>
                      <a:pt x="0" y="111795"/>
                    </a:lnTo>
                    <a:cubicBezTo>
                      <a:pt x="0" y="122272"/>
                      <a:pt x="8573" y="130845"/>
                      <a:pt x="19050" y="130845"/>
                    </a:cubicBezTo>
                    <a:lnTo>
                      <a:pt x="114300" y="130845"/>
                    </a:lnTo>
                    <a:cubicBezTo>
                      <a:pt x="121444" y="130845"/>
                      <a:pt x="125330" y="127178"/>
                      <a:pt x="128588" y="121320"/>
                    </a:cubicBezTo>
                  </a:path>
                </a:pathLst>
              </a:custGeom>
              <a:noFill/>
              <a:ln w="19050">
                <a:solidFill>
                  <a:srgbClr val="1565D8"/>
                </a:solidFill>
              </a:ln>
            </p:spPr>
            <p:txBody>
              <a:bodyPr/>
              <a:p/>
            </p:txBody>
          </p:sp>
          <p:sp>
            <p:nvSpPr>
              <p:cNvPr id="77" name="Freeform 77"/>
              <p:cNvSpPr/>
              <p:nvPr/>
            </p:nvSpPr>
            <p:spPr>
              <a:xfrm>
                <a:off x="981075" y="4524375"/>
                <a:ext cx="47625" cy="9525"/>
              </a:xfrm>
              <a:custGeom>
                <a:avLst/>
                <a:gdLst/>
                <a:ahLst/>
                <a:cxnLst/>
                <a:rect l="l" t="t" r="r" b="b"/>
                <a:pathLst>
                  <a:path w="47625" h="9525">
                    <a:moveTo>
                      <a:pt x="0" y="0"/>
                    </a:moveTo>
                    <a:lnTo>
                      <a:pt x="47625" y="0"/>
                    </a:lnTo>
                  </a:path>
                </a:pathLst>
              </a:custGeom>
              <a:noFill/>
              <a:ln w="19050">
                <a:solidFill>
                  <a:srgbClr val="1565D8"/>
                </a:solidFill>
              </a:ln>
            </p:spPr>
            <p:txBody>
              <a:bodyPr/>
              <a:p/>
            </p:txBody>
          </p:sp>
          <p:sp>
            <p:nvSpPr>
              <p:cNvPr id="78" name="Freeform 78"/>
              <p:cNvSpPr/>
              <p:nvPr/>
            </p:nvSpPr>
            <p:spPr>
              <a:xfrm>
                <a:off x="981075" y="4552950"/>
                <a:ext cx="57150" cy="9525"/>
              </a:xfrm>
              <a:custGeom>
                <a:avLst/>
                <a:gdLst/>
                <a:ahLst/>
                <a:cxnLst/>
                <a:rect l="l" t="t" r="r" b="b"/>
                <a:pathLst>
                  <a:path w="57150" h="9525">
                    <a:moveTo>
                      <a:pt x="0" y="0"/>
                    </a:moveTo>
                    <a:lnTo>
                      <a:pt x="57150" y="0"/>
                    </a:lnTo>
                  </a:path>
                </a:pathLst>
              </a:custGeom>
              <a:noFill/>
              <a:ln w="19050">
                <a:solidFill>
                  <a:srgbClr val="1565D8"/>
                </a:solidFill>
              </a:ln>
            </p:spPr>
            <p:txBody>
              <a:bodyPr/>
              <a:p/>
            </p:txBody>
          </p:sp>
          <p:sp>
            <p:nvSpPr>
              <p:cNvPr id="79" name="Freeform 79"/>
              <p:cNvSpPr/>
              <p:nvPr/>
            </p:nvSpPr>
            <p:spPr>
              <a:xfrm>
                <a:off x="981075" y="4581525"/>
                <a:ext cx="28575" cy="9525"/>
              </a:xfrm>
              <a:custGeom>
                <a:avLst/>
                <a:gdLst/>
                <a:ahLst/>
                <a:cxnLst/>
                <a:rect l="l" t="t" r="r" b="b"/>
                <a:pathLst>
                  <a:path w="28575" h="9525">
                    <a:moveTo>
                      <a:pt x="0" y="0"/>
                    </a:moveTo>
                    <a:lnTo>
                      <a:pt x="28575" y="0"/>
                    </a:lnTo>
                  </a:path>
                </a:pathLst>
              </a:custGeom>
              <a:noFill/>
              <a:ln w="19050">
                <a:solidFill>
                  <a:srgbClr val="1565D8"/>
                </a:solidFill>
              </a:ln>
            </p:spPr>
            <p:txBody>
              <a:bodyPr/>
              <a:p/>
            </p:txBody>
          </p:sp>
        </p:grpSp>
        <p:sp>
          <p:nvSpPr>
            <p:cNvPr id="81" name="TextBox 81"/>
            <p:cNvSpPr txBox="1"/>
            <p:nvPr/>
          </p:nvSpPr>
          <p:spPr>
            <a:xfrm>
              <a:off x="1335405" y="4331018"/>
              <a:ext cx="979408" cy="27432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b="1" dirty="0">
                  <a:solidFill>
                    <a:srgbClr val="2B3648"/>
                  </a:solidFill>
                  <a:latin typeface="Arial"/>
                  <a:ea typeface="Microsoft YaHei"/>
                  <a:cs typeface="Arial"/>
                </a:rPr>
                <a:t>原理一句话</a:t>
              </a:r>
            </a:p>
          </p:txBody>
        </p:sp>
        <p:sp>
          <p:nvSpPr>
            <p:cNvPr id="82" name="TextBox 82"/>
            <p:cNvSpPr txBox="1"/>
            <p:nvPr/>
          </p:nvSpPr>
          <p:spPr>
            <a:xfrm>
              <a:off x="1337310" y="4652010"/>
              <a:ext cx="5831205" cy="24384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00" dirty="0">
                  <a:solidFill>
                    <a:srgbClr val="5B6B82"/>
                  </a:solidFill>
                  <a:latin typeface="Arial"/>
                  <a:ea typeface="Microsoft YaHei"/>
                  <a:cs typeface="Arial"/>
                </a:rPr>
                <a:t>AI 回答前，先从你上传的资料里找出最相关的段落，照着答——答案有出处可回溯，</a:t>
              </a:r>
            </a:p>
          </p:txBody>
        </p:sp>
        <p:sp>
          <p:nvSpPr>
            <p:cNvPr id="83" name="TextBox 83"/>
            <p:cNvSpPr txBox="1"/>
            <p:nvPr/>
          </p:nvSpPr>
          <p:spPr>
            <a:xfrm>
              <a:off x="1337310" y="4899660"/>
              <a:ext cx="1150620" cy="24384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00" dirty="0">
                  <a:solidFill>
                    <a:srgbClr val="5B6B82"/>
                  </a:solidFill>
                  <a:latin typeface="Arial"/>
                  <a:ea typeface="Microsoft YaHei"/>
                  <a:cs typeface="Arial"/>
                </a:rPr>
                <a:t>幻觉明显减少。</a:t>
              </a:r>
            </a:p>
          </p:txBody>
        </p:sp>
      </p:grpSp>
      <p:grpSp>
        <p:nvGrpSpPr>
          <p:cNvPr id="88" name="Group 88"/>
          <p:cNvGrpSpPr/>
          <p:nvPr/>
        </p:nvGrpSpPr>
        <p:grpSpPr>
          <a:xfrm>
            <a:off x="571500" y="5295900"/>
            <a:ext cx="11049000" cy="457200"/>
            <a:chOff x="571500" y="5295900"/>
            <a:chExt cx="11049000" cy="457200"/>
          </a:xfrm>
        </p:grpSpPr>
        <p:sp>
          <p:nvSpPr>
            <p:cNvPr id="85" name="Rectangle 85"/>
            <p:cNvSpPr/>
            <p:nvPr/>
          </p:nvSpPr>
          <p:spPr>
            <a:xfrm>
              <a:off x="571500" y="5295900"/>
              <a:ext cx="11049000" cy="457200"/>
            </a:xfrm>
            <a:prstGeom prst="roundRect">
              <a:avLst>
                <a:gd name="adj" fmla="val 33333"/>
              </a:avLst>
            </a:prstGeom>
            <a:solidFill>
              <a:srgbClr val="D6E6F9"/>
            </a:solidFill>
            <a:ln>
              <a:noFill/>
            </a:ln>
          </p:spPr>
          <p:txBody>
            <a:bodyPr/>
            <a:p/>
          </p:txBody>
        </p:sp>
        <p:sp>
          <p:nvSpPr>
            <p:cNvPr id="86" name="Rectangle 86"/>
            <p:cNvSpPr/>
            <p:nvPr/>
          </p:nvSpPr>
          <p:spPr>
            <a:xfrm>
              <a:off x="571500" y="5295900"/>
              <a:ext cx="76200" cy="457200"/>
            </a:xfrm>
            <a:prstGeom prst="roundRect">
              <a:avLst>
                <a:gd name="adj" fmla="val 50000"/>
              </a:avLst>
            </a:prstGeom>
            <a:solidFill>
              <a:srgbClr val="1565D8"/>
            </a:solidFill>
            <a:ln>
              <a:noFill/>
            </a:ln>
          </p:spPr>
          <p:txBody>
            <a:bodyPr/>
            <a:p/>
          </p:txBody>
        </p:sp>
        <p:sp>
          <p:nvSpPr>
            <p:cNvPr id="87" name="TextBox 87"/>
            <p:cNvSpPr txBox="1"/>
            <p:nvPr/>
          </p:nvSpPr>
          <p:spPr>
            <a:xfrm>
              <a:off x="859155" y="5445442"/>
              <a:ext cx="3625739" cy="27432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b="1" dirty="0">
                  <a:solidFill>
                    <a:srgbClr val="0B4EA2"/>
                  </a:solidFill>
                  <a:latin typeface="Arial"/>
                  <a:ea typeface="Microsoft YaHei"/>
                  <a:cs typeface="Arial"/>
                </a:rPr>
                <a:t>一句话：从「闭卷瞎猜」到「开卷有据」。</a:t>
              </a:r>
            </a:p>
          </p:txBody>
        </p:sp>
      </p:grpSp>
      <p:grpSp>
        <p:nvGrpSpPr>
          <p:cNvPr id="91" name="Group 91"/>
          <p:cNvGrpSpPr/>
          <p:nvPr/>
        </p:nvGrpSpPr>
        <p:grpSpPr>
          <a:xfrm>
            <a:off x="560070" y="6341745"/>
            <a:ext cx="11071860" cy="182880"/>
            <a:chOff x="560070" y="6341745"/>
            <a:chExt cx="11071860" cy="182880"/>
          </a:xfrm>
        </p:grpSpPr>
        <p:sp>
          <p:nvSpPr>
            <p:cNvPr id="89" name="TextBox 89"/>
            <p:cNvSpPr txBox="1"/>
            <p:nvPr/>
          </p:nvSpPr>
          <p:spPr>
            <a:xfrm>
              <a:off x="560070" y="6341745"/>
              <a:ext cx="1054989" cy="18288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00" dirty="0">
                  <a:solidFill>
                    <a:srgbClr val="8B99AE"/>
                  </a:solidFill>
                  <a:latin typeface="Arial"/>
                  <a:ea typeface="Microsoft YaHei"/>
                  <a:cs typeface="Arial"/>
                </a:rPr>
                <a:t>大模型通识 · 企业版</a:t>
              </a:r>
            </a:p>
          </p:txBody>
        </p:sp>
        <p:sp>
          <p:nvSpPr>
            <p:cNvPr id="90" name="TextBox 90"/>
            <p:cNvSpPr txBox="1"/>
            <p:nvPr/>
          </p:nvSpPr>
          <p:spPr>
            <a:xfrm>
              <a:off x="11207020" y="6341745"/>
              <a:ext cx="424910" cy="18288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r"/>
              <a:r>
                <a:rPr lang="zh-CN" sz="900" dirty="0">
                  <a:solidFill>
                    <a:srgbClr val="8B99AE"/>
                  </a:solidFill>
                  <a:latin typeface="Arial"/>
                  <a:ea typeface="Microsoft YaHei"/>
                  <a:cs typeface="Arial"/>
                </a:rPr>
                <a:t>39 / 51</a:t>
              </a:r>
            </a:p>
          </p:txBody>
        </p:sp>
      </p:grpSp>
    </p:spTree>
  </p:cSld>
  <p:clrMapOvr>
    <a:masterClrMapping/>
  </p:clrMapOvr>
  <p:transition xmlns:p14="http://schemas.microsoft.com/office/powerpoint/2010/main" p14:dur="400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3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image">
                                      <p:cBhvr>
                                        <p:cTn id="7" dur="4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900"/>
                            </p:stCondLst>
                            <p:childTnLst>
                              <p:par>
                                <p:cTn id="9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" dur="4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2" fill="hold">
                            <p:stCondLst>
                              <p:cond delay="1800"/>
                            </p:stCondLst>
                            <p:childTnLst>
                              <p:par>
                                <p:cTn id="13" presetID="22" presetClass="entr" presetSubtype="1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5" dur="400"/>
                                        <p:tgtEl>
                                          <p:spTgt spid="3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6" fill="hold">
                            <p:stCondLst>
                              <p:cond delay="2700"/>
                            </p:stCondLst>
                            <p:childTnLst>
                              <p:par>
                                <p:cTn id="17" presetID="2" presetClass="entr" presetSubtype="4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slide(fromBottom)">
                                      <p:cBhvr>
                                        <p:cTn id="19" dur="400"/>
                                        <p:tgtEl>
                                          <p:spTgt spid="5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0" fill="hold">
                            <p:stCondLst>
                              <p:cond delay="3600"/>
                            </p:stCondLst>
                            <p:childTnLst>
                              <p:par>
                                <p:cTn id="21" presetID="23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image">
                                      <p:cBhvr>
                                        <p:cTn id="23" dur="400"/>
                                        <p:tgtEl>
                                          <p:spTgt spid="6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4" fill="hold">
                            <p:stCondLst>
                              <p:cond delay="4500"/>
                            </p:stCondLst>
                            <p:childTnLst>
                              <p:par>
                                <p:cTn id="25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400"/>
                                        <p:tgtEl>
                                          <p:spTgt spid="7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8" fill="hold">
                            <p:stCondLst>
                              <p:cond delay="5400"/>
                            </p:stCondLst>
                            <p:childTnLst>
                              <p:par>
                                <p:cTn id="29" presetID="22" presetClass="entr" presetSubtype="1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1" dur="400"/>
                                        <p:tgtEl>
                                          <p:spTgt spid="8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2" fill="hold">
                            <p:stCondLst>
                              <p:cond delay="6300"/>
                            </p:stCondLst>
                            <p:childTnLst>
                              <p:par>
                                <p:cTn id="33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400"/>
                                        <p:tgtEl>
                                          <p:spTgt spid="8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/>
      <p:bldP spid="26" grpId="0"/>
      <p:bldP spid="39" grpId="0"/>
      <p:bldP spid="51" grpId="0"/>
      <p:bldP spid="62" grpId="0"/>
      <p:bldP spid="72" grpId="0"/>
      <p:bldP spid="84" grpId="0"/>
      <p:bldP spid="88" grpId="0"/>
    </p:bldLst>
  </p:timing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9" name="Group 9"/>
          <p:cNvGrpSpPr/>
          <p:nvPr/>
        </p:nvGrpSpPr>
        <p:grpSpPr>
          <a:xfrm>
            <a:off x="-666750" y="-1238250"/>
            <a:ext cx="15144750" cy="10382250"/>
            <a:chOff x="-666750" y="-1238250"/>
            <a:chExt cx="15144750" cy="10382250"/>
          </a:xfrm>
        </p:grpSpPr>
        <p:sp>
          <p:nvSpPr>
            <p:cNvPr id="2" name="Rectangle 2"/>
            <p:cNvSpPr/>
            <p:nvPr/>
          </p:nvSpPr>
          <p:spPr>
            <a:xfrm>
              <a:off x="0" y="0"/>
              <a:ext cx="12192000" cy="6858000"/>
            </a:xfrm>
            <a:prstGeom prst="rect">
              <a:avLst/>
            </a:prstGeom>
            <a:gradFill>
              <a:gsLst>
                <a:gs pos="0">
                  <a:srgbClr val="0B4EA2"/>
                </a:gs>
                <a:gs pos="55000">
                  <a:srgbClr val="1565D8"/>
                </a:gs>
                <a:gs pos="100000">
                  <a:srgbClr val="35A3E8"/>
                </a:gs>
              </a:gsLst>
              <a:lin ang="2700000" scaled="1"/>
            </a:gradFill>
            <a:ln>
              <a:noFill/>
            </a:ln>
          </p:spPr>
          <p:txBody>
            <a:bodyPr/>
            <a:p/>
          </p:txBody>
        </p:sp>
        <p:sp>
          <p:nvSpPr>
            <p:cNvPr id="3" name="Ellipse 3"/>
            <p:cNvSpPr/>
            <p:nvPr/>
          </p:nvSpPr>
          <p:spPr>
            <a:xfrm>
              <a:off x="8382000" y="3048000"/>
              <a:ext cx="6096000" cy="6096000"/>
            </a:xfrm>
            <a:prstGeom prst="ellipse">
              <a:avLst/>
            </a:prstGeom>
            <a:noFill/>
            <a:ln w="14288">
              <a:solidFill>
                <a:srgbClr val="FFFFFF">
                  <a:alpha val="10000"/>
                </a:srgbClr>
              </a:solidFill>
            </a:ln>
          </p:spPr>
          <p:txBody>
            <a:bodyPr/>
            <a:p/>
          </p:txBody>
        </p:sp>
        <p:sp>
          <p:nvSpPr>
            <p:cNvPr id="4" name="Ellipse 4"/>
            <p:cNvSpPr/>
            <p:nvPr/>
          </p:nvSpPr>
          <p:spPr>
            <a:xfrm>
              <a:off x="9048750" y="3714750"/>
              <a:ext cx="4762500" cy="4762500"/>
            </a:xfrm>
            <a:prstGeom prst="ellipse">
              <a:avLst/>
            </a:prstGeom>
            <a:noFill/>
            <a:ln w="14288">
              <a:solidFill>
                <a:srgbClr val="FFFFFF">
                  <a:alpha val="14000"/>
                </a:srgbClr>
              </a:solidFill>
              <a:custDash>
                <a:ds d="266666" sp="533333"/>
              </a:custDash>
            </a:ln>
          </p:spPr>
          <p:txBody>
            <a:bodyPr/>
            <a:p/>
          </p:txBody>
        </p:sp>
        <p:sp>
          <p:nvSpPr>
            <p:cNvPr id="5" name="Ellipse 5"/>
            <p:cNvSpPr/>
            <p:nvPr/>
          </p:nvSpPr>
          <p:spPr>
            <a:xfrm>
              <a:off x="9715500" y="4381500"/>
              <a:ext cx="3429000" cy="3429000"/>
            </a:xfrm>
            <a:prstGeom prst="ellipse">
              <a:avLst/>
            </a:prstGeom>
            <a:noFill/>
            <a:ln w="14288">
              <a:solidFill>
                <a:srgbClr val="FFFFFF">
                  <a:alpha val="10000"/>
                </a:srgbClr>
              </a:solidFill>
            </a:ln>
          </p:spPr>
          <p:txBody>
            <a:bodyPr/>
            <a:p/>
          </p:txBody>
        </p:sp>
        <p:sp>
          <p:nvSpPr>
            <p:cNvPr id="6" name="Ellipse 6"/>
            <p:cNvSpPr/>
            <p:nvPr/>
          </p:nvSpPr>
          <p:spPr>
            <a:xfrm>
              <a:off x="-666750" y="-1238250"/>
              <a:ext cx="3619500" cy="3619500"/>
            </a:xfrm>
            <a:prstGeom prst="ellipse">
              <a:avLst/>
            </a:prstGeom>
            <a:noFill/>
            <a:ln w="14288">
              <a:solidFill>
                <a:srgbClr val="FFFFFF">
                  <a:alpha val="8000"/>
                </a:srgbClr>
              </a:solidFill>
            </a:ln>
          </p:spPr>
          <p:txBody>
            <a:bodyPr/>
            <a:p/>
          </p:txBody>
        </p:sp>
        <p:sp>
          <p:nvSpPr>
            <p:cNvPr id="7" name="Ellipse 7"/>
            <p:cNvSpPr/>
            <p:nvPr/>
          </p:nvSpPr>
          <p:spPr>
            <a:xfrm>
              <a:off x="11382375" y="1095375"/>
              <a:ext cx="95250" cy="95250"/>
            </a:xfrm>
            <a:prstGeom prst="ellipse">
              <a:avLst/>
            </a:prstGeom>
            <a:solidFill>
              <a:srgbClr val="FFFFFF">
                <a:alpha val="20000"/>
              </a:srgbClr>
            </a:solidFill>
            <a:ln>
              <a:noFill/>
            </a:ln>
          </p:spPr>
          <p:txBody>
            <a:bodyPr/>
            <a:p/>
          </p:txBody>
        </p:sp>
        <p:sp>
          <p:nvSpPr>
            <p:cNvPr id="8" name="Ellipse 8"/>
            <p:cNvSpPr/>
            <p:nvPr/>
          </p:nvSpPr>
          <p:spPr>
            <a:xfrm>
              <a:off x="10629900" y="723900"/>
              <a:ext cx="76200" cy="76200"/>
            </a:xfrm>
            <a:prstGeom prst="ellipse">
              <a:avLst/>
            </a:prstGeom>
            <a:solidFill>
              <a:srgbClr val="FFFFFF">
                <a:alpha val="16000"/>
              </a:srgbClr>
            </a:solidFill>
            <a:ln>
              <a:noFill/>
            </a:ln>
          </p:spPr>
          <p:txBody>
            <a:bodyPr/>
            <a:p/>
          </p:txBody>
        </p:sp>
      </p:grpSp>
      <p:sp>
        <p:nvSpPr>
          <p:cNvPr id="10" name="TextBox 10"/>
          <p:cNvSpPr txBox="1"/>
          <p:nvPr/>
        </p:nvSpPr>
        <p:spPr>
          <a:xfrm>
            <a:off x="9619869" y="4038600"/>
            <a:ext cx="2153031" cy="24384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r"/>
            <a:r>
              <a:rPr lang="zh-CN" sz="12000" b="1" dirty="0">
                <a:solidFill>
                  <a:srgbClr val="FFFFFF">
                    <a:alphaMod val="14000"/>
                  </a:srgbClr>
                </a:solidFill>
                <a:latin typeface="Arial"/>
                <a:ea typeface="Microsoft YaHei"/>
                <a:cs typeface="Arial"/>
              </a:rPr>
              <a:t>07</a:t>
            </a:r>
          </a:p>
        </p:txBody>
      </p:sp>
      <p:sp>
        <p:nvSpPr>
          <p:cNvPr id="11" name="TextBox 11"/>
          <p:cNvSpPr txBox="1"/>
          <p:nvPr/>
        </p:nvSpPr>
        <p:spPr>
          <a:xfrm>
            <a:off x="560070" y="474345"/>
            <a:ext cx="634937" cy="18288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900" dirty="0">
                <a:solidFill>
                  <a:srgbClr val="FFFFFF">
                    <a:alphaMod val="50000"/>
                  </a:srgbClr>
                </a:solidFill>
                <a:latin typeface="Arial"/>
                <a:ea typeface="Microsoft YaHei"/>
                <a:cs typeface="Arial"/>
              </a:rPr>
              <a:t>LOGO HERE</a:t>
            </a:r>
          </a:p>
        </p:txBody>
      </p:sp>
      <p:grpSp>
        <p:nvGrpSpPr>
          <p:cNvPr id="18" name="Group 18"/>
          <p:cNvGrpSpPr/>
          <p:nvPr/>
        </p:nvGrpSpPr>
        <p:grpSpPr>
          <a:xfrm>
            <a:off x="529590" y="2423160"/>
            <a:ext cx="3677507" cy="2258378"/>
            <a:chOff x="529590" y="2423160"/>
            <a:chExt cx="3677507" cy="2258378"/>
          </a:xfrm>
        </p:grpSpPr>
        <p:sp>
          <p:nvSpPr>
            <p:cNvPr id="12" name="TextBox 12"/>
            <p:cNvSpPr txBox="1"/>
            <p:nvPr/>
          </p:nvSpPr>
          <p:spPr>
            <a:xfrm>
              <a:off x="556260" y="2423160"/>
              <a:ext cx="1134618" cy="24384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00" dirty="0">
                  <a:solidFill>
                    <a:srgbClr val="FFFFFF">
                      <a:alphaMod val="70000"/>
                    </a:srgbClr>
                  </a:solidFill>
                  <a:latin typeface="Arial"/>
                  <a:ea typeface="Microsoft YaHei"/>
                  <a:cs typeface="Arial"/>
                </a:rPr>
                <a:t>CHAPTER SEVEN</a:t>
              </a:r>
            </a:p>
          </p:txBody>
        </p:sp>
        <p:sp>
          <p:nvSpPr>
            <p:cNvPr id="13" name="Rectangle 13"/>
            <p:cNvSpPr/>
            <p:nvPr/>
          </p:nvSpPr>
          <p:spPr>
            <a:xfrm>
              <a:off x="571500" y="2781300"/>
              <a:ext cx="533400" cy="38100"/>
            </a:xfrm>
            <a:prstGeom prst="roundRect">
              <a:avLst>
                <a:gd name="adj" fmla="val 50000"/>
              </a:avLst>
            </a:prstGeom>
            <a:solidFill>
              <a:srgbClr val="FFFFFF">
                <a:alpha val="85000"/>
              </a:srgbClr>
            </a:solidFill>
            <a:ln>
              <a:noFill/>
            </a:ln>
          </p:spPr>
          <p:txBody>
            <a:bodyPr/>
            <a:p/>
          </p:txBody>
        </p:sp>
        <p:sp>
          <p:nvSpPr>
            <p:cNvPr id="14" name="TextBox 14"/>
            <p:cNvSpPr txBox="1"/>
            <p:nvPr/>
          </p:nvSpPr>
          <p:spPr>
            <a:xfrm>
              <a:off x="529590" y="2996565"/>
              <a:ext cx="3318224" cy="67056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3300" b="1" dirty="0">
                  <a:solidFill>
                    <a:srgbClr val="FFFFFF"/>
                  </a:solidFill>
                  <a:latin typeface="Arial"/>
                  <a:ea typeface="Microsoft YaHei"/>
                  <a:cs typeface="Arial"/>
                </a:rPr>
                <a:t>安全用、用起来</a:t>
              </a:r>
            </a:p>
          </p:txBody>
        </p:sp>
        <p:sp>
          <p:nvSpPr>
            <p:cNvPr id="15" name="TextBox 15"/>
            <p:cNvSpPr txBox="1"/>
            <p:nvPr/>
          </p:nvSpPr>
          <p:spPr>
            <a:xfrm>
              <a:off x="550545" y="3593782"/>
              <a:ext cx="2022158" cy="33528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650" dirty="0">
                  <a:solidFill>
                    <a:srgbClr val="FFFFFF">
                      <a:alphaMod val="85000"/>
                    </a:srgbClr>
                  </a:solidFill>
                  <a:latin typeface="Arial"/>
                  <a:ea typeface="Microsoft YaHei"/>
                  <a:cs typeface="Arial"/>
                </a:rPr>
                <a:t>会用，更要守住底线</a:t>
              </a:r>
            </a:p>
          </p:txBody>
        </p:sp>
        <p:sp>
          <p:nvSpPr>
            <p:cNvPr id="16" name="TextBox 16"/>
            <p:cNvSpPr txBox="1"/>
            <p:nvPr/>
          </p:nvSpPr>
          <p:spPr>
            <a:xfrm>
              <a:off x="554355" y="4121468"/>
              <a:ext cx="3652742" cy="27432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FFFFFF">
                      <a:alphaMod val="75000"/>
                    </a:srgbClr>
                  </a:solidFill>
                  <a:latin typeface="Arial"/>
                  <a:ea typeface="Microsoft YaHei"/>
                  <a:cs typeface="Arial"/>
                </a:rPr>
                <a:t>风险不是让你别用，是告诉你怎么用得安全——</a:t>
              </a:r>
            </a:p>
          </p:txBody>
        </p:sp>
        <p:sp>
          <p:nvSpPr>
            <p:cNvPr id="17" name="TextBox 17"/>
            <p:cNvSpPr txBox="1"/>
            <p:nvPr/>
          </p:nvSpPr>
          <p:spPr>
            <a:xfrm>
              <a:off x="554355" y="4407218"/>
              <a:ext cx="2761631" cy="27432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FFFFFF">
                      <a:alphaMod val="75000"/>
                    </a:srgbClr>
                  </a:solidFill>
                  <a:latin typeface="Arial"/>
                  <a:ea typeface="Microsoft YaHei"/>
                  <a:cs typeface="Arial"/>
                </a:rPr>
                <a:t>然后，从 1 个小任务开始用起来。</a:t>
              </a:r>
            </a:p>
          </p:txBody>
        </p:sp>
      </p:grpSp>
    </p:spTree>
  </p:cSld>
  <p:clrMapOvr>
    <a:masterClrMapping/>
  </p:clrMapOvr>
  <p:transition xmlns:p14="http://schemas.microsoft.com/office/powerpoint/2010/main" p14:dur="400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8" grpId="0"/>
    </p:bldLst>
  </p:timing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5" name="Group 5"/>
          <p:cNvGrpSpPr/>
          <p:nvPr/>
        </p:nvGrpSpPr>
        <p:grpSpPr>
          <a:xfrm>
            <a:off x="-1619250" y="0"/>
            <a:ext cx="13811250" cy="8477250"/>
            <a:chOff x="-1619250" y="0"/>
            <a:chExt cx="13811250" cy="8477250"/>
          </a:xfrm>
        </p:grpSpPr>
        <p:sp>
          <p:nvSpPr>
            <p:cNvPr id="2" name="Rectangle 2"/>
            <p:cNvSpPr/>
            <p:nvPr/>
          </p:nvSpPr>
          <p:spPr>
            <a:xfrm>
              <a:off x="0" y="0"/>
              <a:ext cx="12192000" cy="6858000"/>
            </a:xfrm>
            <a:prstGeom prst="rect">
              <a:avLst/>
            </a:prstGeom>
            <a:solidFill>
              <a:srgbClr val="F5F7FA"/>
            </a:solidFill>
            <a:ln>
              <a:noFill/>
            </a:ln>
          </p:spPr>
          <p:txBody>
            <a:bodyPr/>
            <a:p/>
          </p:txBody>
        </p:sp>
        <p:sp>
          <p:nvSpPr>
            <p:cNvPr id="3" name="Rectangle 3"/>
            <p:cNvSpPr/>
            <p:nvPr/>
          </p:nvSpPr>
          <p:spPr>
            <a:xfrm>
              <a:off x="0" y="0"/>
              <a:ext cx="12192000" cy="6858000"/>
            </a:xfrm>
            <a:prstGeom prst="rect">
              <a:avLst/>
            </a:prstGeom>
            <a:gradFill>
              <a:gsLst>
                <a:gs pos="0">
                  <a:srgbClr val="1565D8">
                    <a:alpha val="6000"/>
                  </a:srgbClr>
                </a:gs>
                <a:gs pos="100000">
                  <a:srgbClr val="1565D8">
                    <a:alpha val="0"/>
                  </a:srgbClr>
                </a:gs>
              </a:gsLst>
              <a:path path="circle">
                <a:fillToRect l="50000" t="50000" r="50000" b="50000"/>
              </a:path>
            </a:gradFill>
            <a:ln>
              <a:noFill/>
            </a:ln>
          </p:spPr>
          <p:txBody>
            <a:bodyPr/>
            <a:p/>
          </p:txBody>
        </p:sp>
        <p:sp>
          <p:nvSpPr>
            <p:cNvPr id="4" name="Ellipse 4"/>
            <p:cNvSpPr/>
            <p:nvPr/>
          </p:nvSpPr>
          <p:spPr>
            <a:xfrm>
              <a:off x="-1619250" y="4667250"/>
              <a:ext cx="3810000" cy="3810000"/>
            </a:xfrm>
            <a:prstGeom prst="ellipse">
              <a:avLst/>
            </a:prstGeom>
            <a:noFill/>
            <a:ln w="14288">
              <a:solidFill>
                <a:srgbClr val="D6E6F9">
                  <a:alpha val="80000"/>
                </a:srgbClr>
              </a:solidFill>
            </a:ln>
          </p:spPr>
          <p:txBody>
            <a:bodyPr/>
            <a:p/>
          </p:txBody>
        </p:sp>
      </p:grpSp>
      <p:grpSp>
        <p:nvGrpSpPr>
          <p:cNvPr id="9" name="Group 9"/>
          <p:cNvGrpSpPr/>
          <p:nvPr/>
        </p:nvGrpSpPr>
        <p:grpSpPr>
          <a:xfrm>
            <a:off x="571500" y="685800"/>
            <a:ext cx="4818317" cy="700088"/>
            <a:chOff x="571500" y="685800"/>
            <a:chExt cx="4818317" cy="700088"/>
          </a:xfrm>
        </p:grpSpPr>
        <p:sp>
          <p:nvSpPr>
            <p:cNvPr id="6" name="Rectangle 6"/>
            <p:cNvSpPr/>
            <p:nvPr/>
          </p:nvSpPr>
          <p:spPr>
            <a:xfrm>
              <a:off x="571500" y="685800"/>
              <a:ext cx="76200" cy="323850"/>
            </a:xfrm>
            <a:prstGeom prst="roundRect">
              <a:avLst>
                <a:gd name="adj" fmla="val 50000"/>
              </a:avLst>
            </a:prstGeom>
            <a:solidFill>
              <a:srgbClr val="1565D8"/>
            </a:solidFill>
            <a:ln>
              <a:noFill/>
            </a:ln>
          </p:spPr>
          <p:txBody>
            <a:bodyPr/>
            <a:p/>
          </p:txBody>
        </p:sp>
        <p:sp>
          <p:nvSpPr>
            <p:cNvPr id="7" name="TextBox 7"/>
            <p:cNvSpPr txBox="1"/>
            <p:nvPr/>
          </p:nvSpPr>
          <p:spPr>
            <a:xfrm>
              <a:off x="771525" y="700088"/>
              <a:ext cx="1994642" cy="45720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2250" b="1" dirty="0">
                  <a:solidFill>
                    <a:srgbClr val="2B3648"/>
                  </a:solidFill>
                  <a:latin typeface="Arial"/>
                  <a:ea typeface="Microsoft YaHei"/>
                  <a:cs typeface="Arial"/>
                </a:rPr>
                <a:t>AI 的四大风险</a:t>
              </a:r>
            </a:p>
          </p:txBody>
        </p:sp>
        <p:sp>
          <p:nvSpPr>
            <p:cNvPr id="8" name="TextBox 8"/>
            <p:cNvSpPr txBox="1"/>
            <p:nvPr/>
          </p:nvSpPr>
          <p:spPr>
            <a:xfrm>
              <a:off x="782955" y="1111568"/>
              <a:ext cx="4606862" cy="27432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5B6B82"/>
                  </a:solidFill>
                  <a:latin typeface="Arial"/>
                  <a:ea typeface="Microsoft YaHei"/>
                  <a:cs typeface="Arial"/>
                </a:rPr>
                <a:t>AI 好用，但也有 4 个坑——认得出来，你就比大多数人安全</a:t>
              </a:r>
            </a:p>
          </p:txBody>
        </p:sp>
      </p:grpSp>
      <p:grpSp>
        <p:nvGrpSpPr>
          <p:cNvPr id="53" name="Group 53"/>
          <p:cNvGrpSpPr/>
          <p:nvPr/>
        </p:nvGrpSpPr>
        <p:grpSpPr>
          <a:xfrm>
            <a:off x="571500" y="1714500"/>
            <a:ext cx="11029950" cy="2667000"/>
            <a:chOff x="571500" y="1714500"/>
            <a:chExt cx="11029950" cy="2667000"/>
          </a:xfrm>
        </p:grpSpPr>
        <p:grpSp>
          <p:nvGrpSpPr>
            <p:cNvPr id="19" name="Group 19"/>
            <p:cNvGrpSpPr/>
            <p:nvPr/>
          </p:nvGrpSpPr>
          <p:grpSpPr>
            <a:xfrm>
              <a:off x="571500" y="1714500"/>
              <a:ext cx="2600325" cy="2667000"/>
              <a:chOff x="571500" y="1714500"/>
              <a:chExt cx="2600325" cy="2667000"/>
            </a:xfrm>
          </p:grpSpPr>
          <p:sp>
            <p:nvSpPr>
              <p:cNvPr id="10" name="Rectangle 10"/>
              <p:cNvSpPr/>
              <p:nvPr/>
            </p:nvSpPr>
            <p:spPr>
              <a:xfrm>
                <a:off x="571500" y="1714500"/>
                <a:ext cx="2600325" cy="2667000"/>
              </a:xfrm>
              <a:prstGeom prst="roundRect">
                <a:avLst>
                  <a:gd name="adj" fmla="val 5861"/>
                </a:avLst>
              </a:prstGeom>
              <a:solidFill>
                <a:srgbClr val="FFFFFF"/>
              </a:solidFill>
              <a:ln w="9525">
                <a:solidFill>
                  <a:srgbClr val="D8E1EC"/>
                </a:solidFill>
              </a:ln>
            </p:spPr>
            <p:txBody>
              <a:bodyPr/>
              <a:p/>
            </p:txBody>
          </p:sp>
          <p:sp>
            <p:nvSpPr>
              <p:cNvPr id="11" name="Ellipse 11"/>
              <p:cNvSpPr/>
              <p:nvPr/>
            </p:nvSpPr>
            <p:spPr>
              <a:xfrm>
                <a:off x="1619250" y="2019300"/>
                <a:ext cx="495300" cy="495300"/>
              </a:xfrm>
              <a:prstGeom prst="ellipse">
                <a:avLst/>
              </a:prstGeom>
              <a:solidFill>
                <a:srgbClr val="E9EEF5"/>
              </a:solidFill>
              <a:ln>
                <a:noFill/>
              </a:ln>
            </p:spPr>
            <p:txBody>
              <a:bodyPr/>
              <a:p/>
            </p:txBody>
          </p:sp>
          <p:grpSp>
            <p:nvGrpSpPr>
              <p:cNvPr id="15" name="Group 15"/>
              <p:cNvGrpSpPr/>
              <p:nvPr/>
            </p:nvGrpSpPr>
            <p:grpSpPr>
              <a:xfrm>
                <a:off x="1766888" y="2166938"/>
                <a:ext cx="200025" cy="200025"/>
                <a:chOff x="1766888" y="2166938"/>
                <a:chExt cx="200025" cy="200025"/>
              </a:xfrm>
            </p:grpSpPr>
            <p:sp>
              <p:nvSpPr>
                <p:cNvPr id="12" name="Freeform 12"/>
                <p:cNvSpPr/>
                <p:nvPr/>
              </p:nvSpPr>
              <p:spPr>
                <a:xfrm>
                  <a:off x="1766888" y="2166938"/>
                  <a:ext cx="200025" cy="200025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200025" h="200025">
                      <a:moveTo>
                        <a:pt x="0" y="100012"/>
                      </a:moveTo>
                      <a:cubicBezTo>
                        <a:pt x="0" y="155248"/>
                        <a:pt x="44777" y="200025"/>
                        <a:pt x="100012" y="200025"/>
                      </a:cubicBezTo>
                      <a:cubicBezTo>
                        <a:pt x="155248" y="200025"/>
                        <a:pt x="200025" y="155248"/>
                        <a:pt x="200025" y="100012"/>
                      </a:cubicBezTo>
                      <a:cubicBezTo>
                        <a:pt x="200025" y="44777"/>
                        <a:pt x="155248" y="0"/>
                        <a:pt x="100012" y="0"/>
                      </a:cubicBezTo>
                      <a:cubicBezTo>
                        <a:pt x="44777" y="0"/>
                        <a:pt x="0" y="44777"/>
                        <a:pt x="0" y="100012"/>
                      </a:cubicBezTo>
                    </a:path>
                  </a:pathLst>
                </a:custGeom>
                <a:noFill/>
                <a:ln w="19050">
                  <a:solidFill>
                    <a:srgbClr val="D64545"/>
                  </a:solidFill>
                </a:ln>
              </p:spPr>
              <p:txBody>
                <a:bodyPr/>
                <a:p/>
              </p:txBody>
            </p:sp>
            <p:sp>
              <p:nvSpPr>
                <p:cNvPr id="13" name="Freeform 13"/>
                <p:cNvSpPr/>
                <p:nvPr/>
              </p:nvSpPr>
              <p:spPr>
                <a:xfrm>
                  <a:off x="1866900" y="2222500"/>
                  <a:ext cx="9525" cy="44450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9525" h="44450">
                      <a:moveTo>
                        <a:pt x="0" y="0"/>
                      </a:moveTo>
                      <a:lnTo>
                        <a:pt x="0" y="44450"/>
                      </a:lnTo>
                    </a:path>
                  </a:pathLst>
                </a:custGeom>
                <a:noFill/>
                <a:ln w="19050">
                  <a:solidFill>
                    <a:srgbClr val="D64545"/>
                  </a:solidFill>
                </a:ln>
              </p:spPr>
              <p:txBody>
                <a:bodyPr/>
                <a:p/>
              </p:txBody>
            </p:sp>
            <p:sp>
              <p:nvSpPr>
                <p:cNvPr id="14" name="Freeform 14"/>
                <p:cNvSpPr/>
                <p:nvPr/>
              </p:nvSpPr>
              <p:spPr>
                <a:xfrm>
                  <a:off x="1866900" y="2311400"/>
                  <a:ext cx="9525" cy="9525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9525" h="9525">
                      <a:moveTo>
                        <a:pt x="0" y="0"/>
                      </a:moveTo>
                      <a:lnTo>
                        <a:pt x="111" y="0"/>
                      </a:lnTo>
                    </a:path>
                  </a:pathLst>
                </a:custGeom>
                <a:noFill/>
                <a:ln w="19050">
                  <a:solidFill>
                    <a:srgbClr val="D64545"/>
                  </a:solidFill>
                </a:ln>
              </p:spPr>
              <p:txBody>
                <a:bodyPr/>
                <a:p/>
              </p:txBody>
            </p:sp>
          </p:grpSp>
          <p:sp>
            <p:nvSpPr>
              <p:cNvPr id="16" name="TextBox 16"/>
              <p:cNvSpPr txBox="1"/>
              <p:nvPr/>
            </p:nvSpPr>
            <p:spPr>
              <a:xfrm>
                <a:off x="1614916" y="2736532"/>
                <a:ext cx="503968" cy="33528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ctr"/>
                <a:r>
                  <a:rPr lang="zh-CN" sz="1650" b="1" dirty="0">
                    <a:solidFill>
                      <a:srgbClr val="2B3648"/>
                    </a:solidFill>
                    <a:latin typeface="Arial"/>
                    <a:ea typeface="Microsoft YaHei"/>
                    <a:cs typeface="Arial"/>
                  </a:rPr>
                  <a:t>幻觉</a:t>
                </a:r>
              </a:p>
            </p:txBody>
          </p:sp>
          <p:sp>
            <p:nvSpPr>
              <p:cNvPr id="17" name="TextBox 17"/>
              <p:cNvSpPr txBox="1"/>
              <p:nvPr/>
            </p:nvSpPr>
            <p:spPr>
              <a:xfrm>
                <a:off x="1363504" y="3239452"/>
                <a:ext cx="1006792" cy="21336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ctr"/>
                <a:r>
                  <a:rPr lang="zh-CN" sz="1050" dirty="0">
                    <a:solidFill>
                      <a:srgbClr val="5B6B82"/>
                    </a:solidFill>
                    <a:latin typeface="Arial"/>
                    <a:ea typeface="Microsoft YaHei"/>
                    <a:cs typeface="Arial"/>
                  </a:rPr>
                  <a:t>一本正经地编造</a:t>
                </a:r>
              </a:p>
            </p:txBody>
          </p:sp>
          <p:sp>
            <p:nvSpPr>
              <p:cNvPr id="18" name="TextBox 18"/>
              <p:cNvSpPr txBox="1"/>
              <p:nvPr/>
            </p:nvSpPr>
            <p:spPr>
              <a:xfrm>
                <a:off x="1573530" y="3468052"/>
                <a:ext cx="586740" cy="21336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ctr"/>
                <a:r>
                  <a:rPr lang="zh-CN" sz="1050" dirty="0">
                    <a:solidFill>
                      <a:srgbClr val="5B6B82"/>
                    </a:solidFill>
                    <a:latin typeface="Arial"/>
                    <a:ea typeface="Microsoft YaHei"/>
                    <a:cs typeface="Arial"/>
                  </a:rPr>
                  <a:t>错误信息</a:t>
                </a:r>
              </a:p>
            </p:txBody>
          </p:sp>
        </p:grpSp>
        <p:grpSp>
          <p:nvGrpSpPr>
            <p:cNvPr id="31" name="Group 31"/>
            <p:cNvGrpSpPr/>
            <p:nvPr/>
          </p:nvGrpSpPr>
          <p:grpSpPr>
            <a:xfrm>
              <a:off x="3381375" y="1714500"/>
              <a:ext cx="2600325" cy="2667000"/>
              <a:chOff x="3381375" y="1714500"/>
              <a:chExt cx="2600325" cy="2667000"/>
            </a:xfrm>
          </p:grpSpPr>
          <p:sp>
            <p:nvSpPr>
              <p:cNvPr id="20" name="Rectangle 20"/>
              <p:cNvSpPr/>
              <p:nvPr/>
            </p:nvSpPr>
            <p:spPr>
              <a:xfrm>
                <a:off x="3381375" y="1714500"/>
                <a:ext cx="2600325" cy="2667000"/>
              </a:xfrm>
              <a:prstGeom prst="roundRect">
                <a:avLst>
                  <a:gd name="adj" fmla="val 5861"/>
                </a:avLst>
              </a:prstGeom>
              <a:solidFill>
                <a:srgbClr val="FFFFFF"/>
              </a:solidFill>
              <a:ln w="9525">
                <a:solidFill>
                  <a:srgbClr val="D8E1EC"/>
                </a:solidFill>
              </a:ln>
            </p:spPr>
            <p:txBody>
              <a:bodyPr/>
              <a:p/>
            </p:txBody>
          </p:sp>
          <p:sp>
            <p:nvSpPr>
              <p:cNvPr id="21" name="Ellipse 21"/>
              <p:cNvSpPr/>
              <p:nvPr/>
            </p:nvSpPr>
            <p:spPr>
              <a:xfrm>
                <a:off x="4429125" y="2019300"/>
                <a:ext cx="495300" cy="495300"/>
              </a:xfrm>
              <a:prstGeom prst="ellipse">
                <a:avLst/>
              </a:prstGeom>
              <a:solidFill>
                <a:srgbClr val="E9EEF5"/>
              </a:solidFill>
              <a:ln>
                <a:noFill/>
              </a:ln>
            </p:spPr>
            <p:txBody>
              <a:bodyPr/>
              <a:p/>
            </p:txBody>
          </p:sp>
          <p:grpSp>
            <p:nvGrpSpPr>
              <p:cNvPr id="27" name="Group 27"/>
              <p:cNvGrpSpPr/>
              <p:nvPr/>
            </p:nvGrpSpPr>
            <p:grpSpPr>
              <a:xfrm>
                <a:off x="4576762" y="2166938"/>
                <a:ext cx="200025" cy="198437"/>
                <a:chOff x="4576762" y="2166938"/>
                <a:chExt cx="200025" cy="198437"/>
              </a:xfrm>
            </p:grpSpPr>
            <p:sp>
              <p:nvSpPr>
                <p:cNvPr id="22" name="Freeform 22"/>
                <p:cNvSpPr/>
                <p:nvPr/>
              </p:nvSpPr>
              <p:spPr>
                <a:xfrm>
                  <a:off x="4621212" y="2355850"/>
                  <a:ext cx="111125" cy="9525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111125" h="9525">
                      <a:moveTo>
                        <a:pt x="0" y="0"/>
                      </a:moveTo>
                      <a:lnTo>
                        <a:pt x="111125" y="0"/>
                      </a:lnTo>
                    </a:path>
                  </a:pathLst>
                </a:custGeom>
                <a:noFill/>
                <a:ln w="19050">
                  <a:solidFill>
                    <a:srgbClr val="D64545"/>
                  </a:solidFill>
                </a:ln>
              </p:spPr>
              <p:txBody>
                <a:bodyPr/>
                <a:p/>
              </p:txBody>
            </p:sp>
            <p:sp>
              <p:nvSpPr>
                <p:cNvPr id="23" name="Freeform 23"/>
                <p:cNvSpPr/>
                <p:nvPr/>
              </p:nvSpPr>
              <p:spPr>
                <a:xfrm>
                  <a:off x="4610100" y="2189162"/>
                  <a:ext cx="133350" cy="11112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133350" h="11112">
                      <a:moveTo>
                        <a:pt x="0" y="11112"/>
                      </a:moveTo>
                      <a:lnTo>
                        <a:pt x="66675" y="0"/>
                      </a:lnTo>
                      <a:lnTo>
                        <a:pt x="133350" y="11112"/>
                      </a:lnTo>
                    </a:path>
                  </a:pathLst>
                </a:custGeom>
                <a:noFill/>
                <a:ln w="19050">
                  <a:solidFill>
                    <a:srgbClr val="D64545"/>
                  </a:solidFill>
                </a:ln>
              </p:spPr>
              <p:txBody>
                <a:bodyPr/>
                <a:p/>
              </p:txBody>
            </p:sp>
            <p:sp>
              <p:nvSpPr>
                <p:cNvPr id="24" name="Freeform 24"/>
                <p:cNvSpPr/>
                <p:nvPr/>
              </p:nvSpPr>
              <p:spPr>
                <a:xfrm>
                  <a:off x="4676775" y="2166938"/>
                  <a:ext cx="9525" cy="188913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9525" h="188913">
                      <a:moveTo>
                        <a:pt x="0" y="0"/>
                      </a:moveTo>
                      <a:lnTo>
                        <a:pt x="0" y="188913"/>
                      </a:lnTo>
                    </a:path>
                  </a:pathLst>
                </a:custGeom>
                <a:noFill/>
                <a:ln w="19050">
                  <a:solidFill>
                    <a:srgbClr val="D64545"/>
                  </a:solidFill>
                </a:ln>
              </p:spPr>
              <p:txBody>
                <a:bodyPr/>
                <a:p/>
              </p:txBody>
            </p:sp>
            <p:sp>
              <p:nvSpPr>
                <p:cNvPr id="25" name="Freeform 25"/>
                <p:cNvSpPr/>
                <p:nvPr/>
              </p:nvSpPr>
              <p:spPr>
                <a:xfrm>
                  <a:off x="4576762" y="2200275"/>
                  <a:ext cx="66675" cy="100012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66675" h="100012">
                      <a:moveTo>
                        <a:pt x="66675" y="66675"/>
                      </a:moveTo>
                      <a:lnTo>
                        <a:pt x="33338" y="0"/>
                      </a:lnTo>
                      <a:lnTo>
                        <a:pt x="0" y="66675"/>
                      </a:lnTo>
                      <a:cubicBezTo>
                        <a:pt x="0" y="85087"/>
                        <a:pt x="14926" y="100012"/>
                        <a:pt x="33338" y="100012"/>
                      </a:cubicBezTo>
                      <a:cubicBezTo>
                        <a:pt x="51749" y="100012"/>
                        <a:pt x="66675" y="85087"/>
                        <a:pt x="66675" y="66675"/>
                      </a:cubicBezTo>
                    </a:path>
                  </a:pathLst>
                </a:custGeom>
                <a:noFill/>
                <a:ln w="19050">
                  <a:solidFill>
                    <a:srgbClr val="D64545"/>
                  </a:solidFill>
                </a:ln>
              </p:spPr>
              <p:txBody>
                <a:bodyPr/>
                <a:p/>
              </p:txBody>
            </p:sp>
            <p:sp>
              <p:nvSpPr>
                <p:cNvPr id="26" name="Freeform 26"/>
                <p:cNvSpPr/>
                <p:nvPr/>
              </p:nvSpPr>
              <p:spPr>
                <a:xfrm>
                  <a:off x="4710112" y="2200275"/>
                  <a:ext cx="66675" cy="100012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66675" h="100012">
                      <a:moveTo>
                        <a:pt x="66675" y="66675"/>
                      </a:moveTo>
                      <a:lnTo>
                        <a:pt x="33338" y="0"/>
                      </a:lnTo>
                      <a:lnTo>
                        <a:pt x="0" y="66675"/>
                      </a:lnTo>
                      <a:cubicBezTo>
                        <a:pt x="0" y="85087"/>
                        <a:pt x="14926" y="100012"/>
                        <a:pt x="33338" y="100012"/>
                      </a:cubicBezTo>
                      <a:cubicBezTo>
                        <a:pt x="51749" y="100012"/>
                        <a:pt x="66675" y="85087"/>
                        <a:pt x="66675" y="66675"/>
                      </a:cubicBezTo>
                    </a:path>
                  </a:pathLst>
                </a:custGeom>
                <a:noFill/>
                <a:ln w="19050">
                  <a:solidFill>
                    <a:srgbClr val="D64545"/>
                  </a:solidFill>
                </a:ln>
              </p:spPr>
              <p:txBody>
                <a:bodyPr/>
                <a:p/>
              </p:txBody>
            </p:sp>
          </p:grpSp>
          <p:sp>
            <p:nvSpPr>
              <p:cNvPr id="28" name="TextBox 28"/>
              <p:cNvSpPr txBox="1"/>
              <p:nvPr/>
            </p:nvSpPr>
            <p:spPr>
              <a:xfrm>
                <a:off x="4424791" y="2736532"/>
                <a:ext cx="503968" cy="33528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ctr"/>
                <a:r>
                  <a:rPr lang="zh-CN" sz="1650" b="1" dirty="0">
                    <a:solidFill>
                      <a:srgbClr val="2B3648"/>
                    </a:solidFill>
                    <a:latin typeface="Arial"/>
                    <a:ea typeface="Microsoft YaHei"/>
                    <a:cs typeface="Arial"/>
                  </a:rPr>
                  <a:t>偏见</a:t>
                </a:r>
              </a:p>
            </p:txBody>
          </p:sp>
          <p:sp>
            <p:nvSpPr>
              <p:cNvPr id="29" name="TextBox 29"/>
              <p:cNvSpPr txBox="1"/>
              <p:nvPr/>
            </p:nvSpPr>
            <p:spPr>
              <a:xfrm>
                <a:off x="4173379" y="3239452"/>
                <a:ext cx="1006792" cy="21336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ctr"/>
                <a:r>
                  <a:rPr lang="zh-CN" sz="1050" dirty="0">
                    <a:solidFill>
                      <a:srgbClr val="5B6B82"/>
                    </a:solidFill>
                    <a:latin typeface="Arial"/>
                    <a:ea typeface="Microsoft YaHei"/>
                    <a:cs typeface="Arial"/>
                  </a:rPr>
                  <a:t>把数据里的偏见</a:t>
                </a:r>
              </a:p>
            </p:txBody>
          </p:sp>
          <p:sp>
            <p:nvSpPr>
              <p:cNvPr id="30" name="TextBox 30"/>
              <p:cNvSpPr txBox="1"/>
              <p:nvPr/>
            </p:nvSpPr>
            <p:spPr>
              <a:xfrm>
                <a:off x="4313396" y="3468052"/>
                <a:ext cx="726758" cy="21336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ctr"/>
                <a:r>
                  <a:rPr lang="zh-CN" sz="1050" dirty="0">
                    <a:solidFill>
                      <a:srgbClr val="5B6B82"/>
                    </a:solidFill>
                    <a:latin typeface="Arial"/>
                    <a:ea typeface="Microsoft YaHei"/>
                    <a:cs typeface="Arial"/>
                  </a:rPr>
                  <a:t>原样带出来</a:t>
                </a:r>
              </a:p>
            </p:txBody>
          </p:sp>
        </p:grpSp>
        <p:grpSp>
          <p:nvGrpSpPr>
            <p:cNvPr id="42" name="Group 42"/>
            <p:cNvGrpSpPr/>
            <p:nvPr/>
          </p:nvGrpSpPr>
          <p:grpSpPr>
            <a:xfrm>
              <a:off x="6191250" y="1714500"/>
              <a:ext cx="2600325" cy="2667000"/>
              <a:chOff x="6191250" y="1714500"/>
              <a:chExt cx="2600325" cy="2667000"/>
            </a:xfrm>
          </p:grpSpPr>
          <p:sp>
            <p:nvSpPr>
              <p:cNvPr id="32" name="Rectangle 32"/>
              <p:cNvSpPr/>
              <p:nvPr/>
            </p:nvSpPr>
            <p:spPr>
              <a:xfrm>
                <a:off x="6191250" y="1714500"/>
                <a:ext cx="2600325" cy="2667000"/>
              </a:xfrm>
              <a:prstGeom prst="roundRect">
                <a:avLst>
                  <a:gd name="adj" fmla="val 5861"/>
                </a:avLst>
              </a:prstGeom>
              <a:solidFill>
                <a:srgbClr val="FFFFFF"/>
              </a:solidFill>
              <a:ln w="9525">
                <a:solidFill>
                  <a:srgbClr val="D8E1EC"/>
                </a:solidFill>
              </a:ln>
            </p:spPr>
            <p:txBody>
              <a:bodyPr/>
              <a:p/>
            </p:txBody>
          </p:sp>
          <p:sp>
            <p:nvSpPr>
              <p:cNvPr id="33" name="Ellipse 33"/>
              <p:cNvSpPr/>
              <p:nvPr/>
            </p:nvSpPr>
            <p:spPr>
              <a:xfrm>
                <a:off x="7239000" y="2019300"/>
                <a:ext cx="495300" cy="495300"/>
              </a:xfrm>
              <a:prstGeom prst="ellipse">
                <a:avLst/>
              </a:prstGeom>
              <a:solidFill>
                <a:srgbClr val="E9EEF5"/>
              </a:solidFill>
              <a:ln>
                <a:noFill/>
              </a:ln>
            </p:spPr>
            <p:txBody>
              <a:bodyPr/>
              <a:p/>
            </p:txBody>
          </p:sp>
          <p:grpSp>
            <p:nvGrpSpPr>
              <p:cNvPr id="38" name="Group 38"/>
              <p:cNvGrpSpPr/>
              <p:nvPr/>
            </p:nvGrpSpPr>
            <p:grpSpPr>
              <a:xfrm>
                <a:off x="7407784" y="2178050"/>
                <a:ext cx="157732" cy="179632"/>
                <a:chOff x="7407784" y="2178050"/>
                <a:chExt cx="157732" cy="179632"/>
              </a:xfrm>
            </p:grpSpPr>
            <p:sp>
              <p:nvSpPr>
                <p:cNvPr id="34" name="Freeform 34"/>
                <p:cNvSpPr/>
                <p:nvPr/>
              </p:nvSpPr>
              <p:spPr>
                <a:xfrm>
                  <a:off x="7407784" y="2178050"/>
                  <a:ext cx="157732" cy="179632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157732" h="179632">
                      <a:moveTo>
                        <a:pt x="1079" y="77788"/>
                      </a:moveTo>
                      <a:cubicBezTo>
                        <a:pt x="1079" y="34827"/>
                        <a:pt x="35905" y="0"/>
                        <a:pt x="78866" y="0"/>
                      </a:cubicBezTo>
                      <a:cubicBezTo>
                        <a:pt x="121827" y="0"/>
                        <a:pt x="156654" y="34827"/>
                        <a:pt x="156654" y="77788"/>
                      </a:cubicBezTo>
                      <a:lnTo>
                        <a:pt x="156654" y="155575"/>
                      </a:lnTo>
                      <a:cubicBezTo>
                        <a:pt x="157732" y="164184"/>
                        <a:pt x="153075" y="172490"/>
                        <a:pt x="145168" y="176061"/>
                      </a:cubicBezTo>
                      <a:cubicBezTo>
                        <a:pt x="137261" y="179632"/>
                        <a:pt x="127950" y="177634"/>
                        <a:pt x="122205" y="171133"/>
                      </a:cubicBezTo>
                      <a:cubicBezTo>
                        <a:pt x="118730" y="166687"/>
                        <a:pt x="113401" y="164089"/>
                        <a:pt x="107759" y="164089"/>
                      </a:cubicBezTo>
                      <a:cubicBezTo>
                        <a:pt x="102116" y="164089"/>
                        <a:pt x="96787" y="166687"/>
                        <a:pt x="93312" y="171133"/>
                      </a:cubicBezTo>
                      <a:cubicBezTo>
                        <a:pt x="89837" y="175578"/>
                        <a:pt x="84509" y="178176"/>
                        <a:pt x="78866" y="178176"/>
                      </a:cubicBezTo>
                      <a:cubicBezTo>
                        <a:pt x="73223" y="178176"/>
                        <a:pt x="67895" y="175578"/>
                        <a:pt x="64420" y="171133"/>
                      </a:cubicBezTo>
                      <a:cubicBezTo>
                        <a:pt x="60945" y="166687"/>
                        <a:pt x="55616" y="164089"/>
                        <a:pt x="49974" y="164089"/>
                      </a:cubicBezTo>
                      <a:cubicBezTo>
                        <a:pt x="44331" y="164089"/>
                        <a:pt x="39002" y="166687"/>
                        <a:pt x="35527" y="171133"/>
                      </a:cubicBezTo>
                      <a:cubicBezTo>
                        <a:pt x="29782" y="177634"/>
                        <a:pt x="20471" y="179632"/>
                        <a:pt x="12564" y="176061"/>
                      </a:cubicBezTo>
                      <a:cubicBezTo>
                        <a:pt x="4657" y="172490"/>
                        <a:pt x="0" y="164184"/>
                        <a:pt x="1079" y="155575"/>
                      </a:cubicBezTo>
                      <a:lnTo>
                        <a:pt x="1079" y="77788"/>
                      </a:lnTo>
                    </a:path>
                  </a:pathLst>
                </a:custGeom>
                <a:noFill/>
                <a:ln w="19050">
                  <a:solidFill>
                    <a:srgbClr val="D64545"/>
                  </a:solidFill>
                </a:ln>
              </p:spPr>
              <p:txBody>
                <a:bodyPr/>
                <a:p/>
              </p:txBody>
            </p:sp>
            <p:sp>
              <p:nvSpPr>
                <p:cNvPr id="35" name="Freeform 35"/>
                <p:cNvSpPr/>
                <p:nvPr/>
              </p:nvSpPr>
              <p:spPr>
                <a:xfrm>
                  <a:off x="7464425" y="2244725"/>
                  <a:ext cx="9525" cy="9525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9525" h="9525">
                      <a:moveTo>
                        <a:pt x="0" y="0"/>
                      </a:moveTo>
                      <a:lnTo>
                        <a:pt x="111" y="0"/>
                      </a:lnTo>
                    </a:path>
                  </a:pathLst>
                </a:custGeom>
                <a:noFill/>
                <a:ln w="19050">
                  <a:solidFill>
                    <a:srgbClr val="D64545"/>
                  </a:solidFill>
                </a:ln>
              </p:spPr>
              <p:txBody>
                <a:bodyPr/>
                <a:p/>
              </p:txBody>
            </p:sp>
            <p:sp>
              <p:nvSpPr>
                <p:cNvPr id="36" name="Freeform 36"/>
                <p:cNvSpPr/>
                <p:nvPr/>
              </p:nvSpPr>
              <p:spPr>
                <a:xfrm>
                  <a:off x="7508875" y="2244725"/>
                  <a:ext cx="9525" cy="9525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9525" h="9525">
                      <a:moveTo>
                        <a:pt x="0" y="0"/>
                      </a:moveTo>
                      <a:lnTo>
                        <a:pt x="111" y="0"/>
                      </a:lnTo>
                    </a:path>
                  </a:pathLst>
                </a:custGeom>
                <a:noFill/>
                <a:ln w="19050">
                  <a:solidFill>
                    <a:srgbClr val="D64545"/>
                  </a:solidFill>
                </a:ln>
              </p:spPr>
              <p:txBody>
                <a:bodyPr/>
                <a:p/>
              </p:txBody>
            </p:sp>
            <p:sp>
              <p:nvSpPr>
                <p:cNvPr id="37" name="Freeform 37"/>
                <p:cNvSpPr/>
                <p:nvPr/>
              </p:nvSpPr>
              <p:spPr>
                <a:xfrm>
                  <a:off x="7464425" y="2289175"/>
                  <a:ext cx="44450" cy="9525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44450" h="9525">
                      <a:moveTo>
                        <a:pt x="0" y="0"/>
                      </a:moveTo>
                      <a:cubicBezTo>
                        <a:pt x="13357" y="9301"/>
                        <a:pt x="31093" y="9301"/>
                        <a:pt x="44450" y="0"/>
                      </a:cubicBezTo>
                    </a:path>
                  </a:pathLst>
                </a:custGeom>
                <a:noFill/>
                <a:ln w="19050">
                  <a:solidFill>
                    <a:srgbClr val="D64545"/>
                  </a:solidFill>
                </a:ln>
              </p:spPr>
              <p:txBody>
                <a:bodyPr/>
                <a:p/>
              </p:txBody>
            </p:sp>
          </p:grpSp>
          <p:sp>
            <p:nvSpPr>
              <p:cNvPr id="39" name="TextBox 39"/>
              <p:cNvSpPr txBox="1"/>
              <p:nvPr/>
            </p:nvSpPr>
            <p:spPr>
              <a:xfrm>
                <a:off x="7101825" y="2736532"/>
                <a:ext cx="769651" cy="33528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ctr"/>
                <a:r>
                  <a:rPr lang="zh-CN" sz="1650" b="1" dirty="0">
                    <a:solidFill>
                      <a:srgbClr val="2B3648"/>
                    </a:solidFill>
                    <a:latin typeface="Arial"/>
                    <a:ea typeface="Microsoft YaHei"/>
                    <a:cs typeface="Arial"/>
                  </a:rPr>
                  <a:t>影子 AI</a:t>
                </a:r>
              </a:p>
            </p:txBody>
          </p:sp>
          <p:sp>
            <p:nvSpPr>
              <p:cNvPr id="40" name="TextBox 40"/>
              <p:cNvSpPr txBox="1"/>
              <p:nvPr/>
            </p:nvSpPr>
            <p:spPr>
              <a:xfrm>
                <a:off x="6983254" y="3239452"/>
                <a:ext cx="1006792" cy="21336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ctr"/>
                <a:r>
                  <a:rPr lang="zh-CN" sz="1050" dirty="0">
                    <a:solidFill>
                      <a:srgbClr val="5B6B82"/>
                    </a:solidFill>
                    <a:latin typeface="Arial"/>
                    <a:ea typeface="Microsoft YaHei"/>
                    <a:cs typeface="Arial"/>
                  </a:rPr>
                  <a:t>乱用未经批准的</a:t>
                </a:r>
              </a:p>
            </p:txBody>
          </p:sp>
          <p:sp>
            <p:nvSpPr>
              <p:cNvPr id="41" name="TextBox 41"/>
              <p:cNvSpPr txBox="1"/>
              <p:nvPr/>
            </p:nvSpPr>
            <p:spPr>
              <a:xfrm>
                <a:off x="6983254" y="3468052"/>
                <a:ext cx="1006792" cy="21336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ctr"/>
                <a:r>
                  <a:rPr lang="zh-CN" sz="1050" dirty="0">
                    <a:solidFill>
                      <a:srgbClr val="5B6B82"/>
                    </a:solidFill>
                    <a:latin typeface="Arial"/>
                    <a:ea typeface="Microsoft YaHei"/>
                    <a:cs typeface="Arial"/>
                  </a:rPr>
                  <a:t>工具，数据泄露</a:t>
                </a:r>
              </a:p>
            </p:txBody>
          </p:sp>
        </p:grpSp>
        <p:grpSp>
          <p:nvGrpSpPr>
            <p:cNvPr id="52" name="Group 52"/>
            <p:cNvGrpSpPr/>
            <p:nvPr/>
          </p:nvGrpSpPr>
          <p:grpSpPr>
            <a:xfrm>
              <a:off x="9001125" y="1714500"/>
              <a:ext cx="2600325" cy="2667000"/>
              <a:chOff x="9001125" y="1714500"/>
              <a:chExt cx="2600325" cy="2667000"/>
            </a:xfrm>
          </p:grpSpPr>
          <p:sp>
            <p:nvSpPr>
              <p:cNvPr id="43" name="Rectangle 43"/>
              <p:cNvSpPr/>
              <p:nvPr/>
            </p:nvSpPr>
            <p:spPr>
              <a:xfrm>
                <a:off x="9001125" y="1714500"/>
                <a:ext cx="2600325" cy="2667000"/>
              </a:xfrm>
              <a:prstGeom prst="roundRect">
                <a:avLst>
                  <a:gd name="adj" fmla="val 5861"/>
                </a:avLst>
              </a:prstGeom>
              <a:solidFill>
                <a:srgbClr val="FFFFFF"/>
              </a:solidFill>
              <a:ln w="9525">
                <a:solidFill>
                  <a:srgbClr val="D8E1EC"/>
                </a:solidFill>
              </a:ln>
            </p:spPr>
            <p:txBody>
              <a:bodyPr/>
              <a:p/>
            </p:txBody>
          </p:sp>
          <p:sp>
            <p:nvSpPr>
              <p:cNvPr id="44" name="Ellipse 44"/>
              <p:cNvSpPr/>
              <p:nvPr/>
            </p:nvSpPr>
            <p:spPr>
              <a:xfrm>
                <a:off x="10048875" y="2019300"/>
                <a:ext cx="495300" cy="495300"/>
              </a:xfrm>
              <a:prstGeom prst="ellipse">
                <a:avLst/>
              </a:prstGeom>
              <a:solidFill>
                <a:srgbClr val="E9EEF5"/>
              </a:solidFill>
              <a:ln>
                <a:noFill/>
              </a:ln>
            </p:spPr>
            <p:txBody>
              <a:bodyPr/>
              <a:p/>
            </p:txBody>
          </p:sp>
          <p:grpSp>
            <p:nvGrpSpPr>
              <p:cNvPr id="48" name="Group 48"/>
              <p:cNvGrpSpPr/>
              <p:nvPr/>
            </p:nvGrpSpPr>
            <p:grpSpPr>
              <a:xfrm>
                <a:off x="10218738" y="2155825"/>
                <a:ext cx="155575" cy="211138"/>
                <a:chOff x="10218738" y="2155825"/>
                <a:chExt cx="155575" cy="211138"/>
              </a:xfrm>
            </p:grpSpPr>
            <p:sp>
              <p:nvSpPr>
                <p:cNvPr id="45" name="Freeform 45"/>
                <p:cNvSpPr/>
                <p:nvPr/>
              </p:nvSpPr>
              <p:spPr>
                <a:xfrm>
                  <a:off x="10218738" y="2255838"/>
                  <a:ext cx="155575" cy="111125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155575" h="111125">
                      <a:moveTo>
                        <a:pt x="0" y="22225"/>
                      </a:moveTo>
                      <a:cubicBezTo>
                        <a:pt x="0" y="9950"/>
                        <a:pt x="9950" y="0"/>
                        <a:pt x="22225" y="0"/>
                      </a:cubicBezTo>
                      <a:lnTo>
                        <a:pt x="133350" y="0"/>
                      </a:lnTo>
                      <a:cubicBezTo>
                        <a:pt x="145625" y="0"/>
                        <a:pt x="155575" y="9950"/>
                        <a:pt x="155575" y="22225"/>
                      </a:cubicBezTo>
                      <a:lnTo>
                        <a:pt x="155575" y="88900"/>
                      </a:lnTo>
                      <a:cubicBezTo>
                        <a:pt x="155575" y="101175"/>
                        <a:pt x="145625" y="111125"/>
                        <a:pt x="133350" y="111125"/>
                      </a:cubicBezTo>
                      <a:lnTo>
                        <a:pt x="22225" y="111125"/>
                      </a:lnTo>
                      <a:cubicBezTo>
                        <a:pt x="9950" y="111125"/>
                        <a:pt x="0" y="101175"/>
                        <a:pt x="0" y="88900"/>
                      </a:cubicBezTo>
                      <a:lnTo>
                        <a:pt x="0" y="22225"/>
                      </a:lnTo>
                    </a:path>
                  </a:pathLst>
                </a:custGeom>
                <a:noFill/>
                <a:ln w="19050">
                  <a:solidFill>
                    <a:srgbClr val="D64545"/>
                  </a:solidFill>
                </a:ln>
              </p:spPr>
              <p:txBody>
                <a:bodyPr/>
                <a:p/>
              </p:txBody>
            </p:sp>
            <p:sp>
              <p:nvSpPr>
                <p:cNvPr id="46" name="Freeform 46"/>
                <p:cNvSpPr/>
                <p:nvPr/>
              </p:nvSpPr>
              <p:spPr>
                <a:xfrm>
                  <a:off x="10285412" y="2300288"/>
                  <a:ext cx="22225" cy="22225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22225" h="22225">
                      <a:moveTo>
                        <a:pt x="0" y="11112"/>
                      </a:moveTo>
                      <a:cubicBezTo>
                        <a:pt x="0" y="17250"/>
                        <a:pt x="4975" y="22225"/>
                        <a:pt x="11113" y="22225"/>
                      </a:cubicBezTo>
                      <a:cubicBezTo>
                        <a:pt x="17250" y="22225"/>
                        <a:pt x="22225" y="17250"/>
                        <a:pt x="22225" y="11112"/>
                      </a:cubicBezTo>
                      <a:cubicBezTo>
                        <a:pt x="22225" y="4975"/>
                        <a:pt x="17250" y="0"/>
                        <a:pt x="11113" y="0"/>
                      </a:cubicBezTo>
                      <a:cubicBezTo>
                        <a:pt x="4975" y="0"/>
                        <a:pt x="0" y="4975"/>
                        <a:pt x="0" y="11112"/>
                      </a:cubicBezTo>
                    </a:path>
                  </a:pathLst>
                </a:custGeom>
                <a:noFill/>
                <a:ln w="19050">
                  <a:solidFill>
                    <a:srgbClr val="D64545"/>
                  </a:solidFill>
                </a:ln>
              </p:spPr>
              <p:txBody>
                <a:bodyPr/>
                <a:p/>
              </p:txBody>
            </p:sp>
            <p:sp>
              <p:nvSpPr>
                <p:cNvPr id="47" name="Freeform 47"/>
                <p:cNvSpPr/>
                <p:nvPr/>
              </p:nvSpPr>
              <p:spPr>
                <a:xfrm>
                  <a:off x="10252075" y="2155825"/>
                  <a:ext cx="88900" cy="100012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88900" h="100012">
                      <a:moveTo>
                        <a:pt x="0" y="100012"/>
                      </a:moveTo>
                      <a:lnTo>
                        <a:pt x="0" y="44450"/>
                      </a:lnTo>
                      <a:cubicBezTo>
                        <a:pt x="0" y="19901"/>
                        <a:pt x="19901" y="0"/>
                        <a:pt x="44450" y="0"/>
                      </a:cubicBezTo>
                      <a:cubicBezTo>
                        <a:pt x="68999" y="0"/>
                        <a:pt x="88900" y="19901"/>
                        <a:pt x="88900" y="44450"/>
                      </a:cubicBezTo>
                    </a:path>
                  </a:pathLst>
                </a:custGeom>
                <a:noFill/>
                <a:ln w="19050">
                  <a:solidFill>
                    <a:srgbClr val="D64545"/>
                  </a:solidFill>
                </a:ln>
              </p:spPr>
              <p:txBody>
                <a:bodyPr/>
                <a:p/>
              </p:txBody>
            </p:sp>
          </p:grpSp>
          <p:sp>
            <p:nvSpPr>
              <p:cNvPr id="49" name="TextBox 49"/>
              <p:cNvSpPr txBox="1"/>
              <p:nvPr/>
            </p:nvSpPr>
            <p:spPr>
              <a:xfrm>
                <a:off x="9813512" y="2736532"/>
                <a:ext cx="966026" cy="33528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ctr"/>
                <a:r>
                  <a:rPr lang="zh-CN" sz="1650" b="1" dirty="0">
                    <a:solidFill>
                      <a:srgbClr val="2B3648"/>
                    </a:solidFill>
                    <a:latin typeface="Arial"/>
                    <a:ea typeface="Microsoft YaHei"/>
                    <a:cs typeface="Arial"/>
                  </a:rPr>
                  <a:t>数据泄露</a:t>
                </a:r>
              </a:p>
            </p:txBody>
          </p:sp>
          <p:sp>
            <p:nvSpPr>
              <p:cNvPr id="50" name="TextBox 50"/>
              <p:cNvSpPr txBox="1"/>
              <p:nvPr/>
            </p:nvSpPr>
            <p:spPr>
              <a:xfrm>
                <a:off x="9863138" y="3239452"/>
                <a:ext cx="866775" cy="21336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ctr"/>
                <a:r>
                  <a:rPr lang="zh-CN" sz="1050" dirty="0">
                    <a:solidFill>
                      <a:srgbClr val="5B6B82"/>
                    </a:solidFill>
                    <a:latin typeface="Arial"/>
                    <a:ea typeface="Microsoft YaHei"/>
                    <a:cs typeface="Arial"/>
                  </a:rPr>
                  <a:t>把公司机密、</a:t>
                </a:r>
              </a:p>
            </p:txBody>
          </p:sp>
          <p:sp>
            <p:nvSpPr>
              <p:cNvPr id="51" name="TextBox 51"/>
              <p:cNvSpPr txBox="1"/>
              <p:nvPr/>
            </p:nvSpPr>
            <p:spPr>
              <a:xfrm>
                <a:off x="9642610" y="3468052"/>
                <a:ext cx="1307830" cy="21336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ctr"/>
                <a:r>
                  <a:rPr lang="zh-CN" sz="1050" dirty="0">
                    <a:solidFill>
                      <a:srgbClr val="5B6B82"/>
                    </a:solidFill>
                    <a:latin typeface="Arial"/>
                    <a:ea typeface="Microsoft YaHei"/>
                    <a:cs typeface="Arial"/>
                  </a:rPr>
                  <a:t>个人信息喂给外部 AI</a:t>
                </a:r>
              </a:p>
            </p:txBody>
          </p:sp>
        </p:grpSp>
      </p:grpSp>
      <p:grpSp>
        <p:nvGrpSpPr>
          <p:cNvPr id="57" name="Group 57"/>
          <p:cNvGrpSpPr/>
          <p:nvPr/>
        </p:nvGrpSpPr>
        <p:grpSpPr>
          <a:xfrm>
            <a:off x="571500" y="4762500"/>
            <a:ext cx="11049000" cy="457200"/>
            <a:chOff x="571500" y="4762500"/>
            <a:chExt cx="11049000" cy="457200"/>
          </a:xfrm>
        </p:grpSpPr>
        <p:sp>
          <p:nvSpPr>
            <p:cNvPr id="54" name="Rectangle 54"/>
            <p:cNvSpPr/>
            <p:nvPr/>
          </p:nvSpPr>
          <p:spPr>
            <a:xfrm>
              <a:off x="571500" y="4762500"/>
              <a:ext cx="11049000" cy="457200"/>
            </a:xfrm>
            <a:prstGeom prst="roundRect">
              <a:avLst>
                <a:gd name="adj" fmla="val 33333"/>
              </a:avLst>
            </a:prstGeom>
            <a:solidFill>
              <a:srgbClr val="D6E6F9"/>
            </a:solidFill>
            <a:ln>
              <a:noFill/>
            </a:ln>
          </p:spPr>
          <p:txBody>
            <a:bodyPr/>
            <a:p/>
          </p:txBody>
        </p:sp>
        <p:sp>
          <p:nvSpPr>
            <p:cNvPr id="55" name="Rectangle 55"/>
            <p:cNvSpPr/>
            <p:nvPr/>
          </p:nvSpPr>
          <p:spPr>
            <a:xfrm>
              <a:off x="571500" y="4762500"/>
              <a:ext cx="76200" cy="457200"/>
            </a:xfrm>
            <a:prstGeom prst="roundRect">
              <a:avLst>
                <a:gd name="adj" fmla="val 50000"/>
              </a:avLst>
            </a:prstGeom>
            <a:solidFill>
              <a:srgbClr val="1565D8"/>
            </a:solidFill>
            <a:ln>
              <a:noFill/>
            </a:ln>
          </p:spPr>
          <p:txBody>
            <a:bodyPr/>
            <a:p/>
          </p:txBody>
        </p:sp>
        <p:sp>
          <p:nvSpPr>
            <p:cNvPr id="56" name="TextBox 56"/>
            <p:cNvSpPr txBox="1"/>
            <p:nvPr/>
          </p:nvSpPr>
          <p:spPr>
            <a:xfrm>
              <a:off x="859155" y="4912042"/>
              <a:ext cx="1924526" cy="27432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b="1" dirty="0">
                  <a:solidFill>
                    <a:srgbClr val="0B4EA2"/>
                  </a:solidFill>
                  <a:latin typeface="Arial"/>
                  <a:ea typeface="Microsoft YaHei"/>
                  <a:cs typeface="Arial"/>
                </a:rPr>
                <a:t>会防守，才敢放手用。</a:t>
              </a:r>
            </a:p>
          </p:txBody>
        </p:sp>
      </p:grpSp>
      <p:grpSp>
        <p:nvGrpSpPr>
          <p:cNvPr id="60" name="Group 60"/>
          <p:cNvGrpSpPr/>
          <p:nvPr/>
        </p:nvGrpSpPr>
        <p:grpSpPr>
          <a:xfrm>
            <a:off x="560070" y="6341745"/>
            <a:ext cx="11071860" cy="182880"/>
            <a:chOff x="560070" y="6341745"/>
            <a:chExt cx="11071860" cy="182880"/>
          </a:xfrm>
        </p:grpSpPr>
        <p:sp>
          <p:nvSpPr>
            <p:cNvPr id="58" name="TextBox 58"/>
            <p:cNvSpPr txBox="1"/>
            <p:nvPr/>
          </p:nvSpPr>
          <p:spPr>
            <a:xfrm>
              <a:off x="560070" y="6341745"/>
              <a:ext cx="1054989" cy="18288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00" dirty="0">
                  <a:solidFill>
                    <a:srgbClr val="8B99AE"/>
                  </a:solidFill>
                  <a:latin typeface="Arial"/>
                  <a:ea typeface="Microsoft YaHei"/>
                  <a:cs typeface="Arial"/>
                </a:rPr>
                <a:t>大模型通识 · 企业版</a:t>
              </a:r>
            </a:p>
          </p:txBody>
        </p:sp>
        <p:sp>
          <p:nvSpPr>
            <p:cNvPr id="59" name="TextBox 59"/>
            <p:cNvSpPr txBox="1"/>
            <p:nvPr/>
          </p:nvSpPr>
          <p:spPr>
            <a:xfrm>
              <a:off x="11207020" y="6341745"/>
              <a:ext cx="424910" cy="18288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r"/>
              <a:r>
                <a:rPr lang="zh-CN" sz="900" dirty="0">
                  <a:solidFill>
                    <a:srgbClr val="8B99AE"/>
                  </a:solidFill>
                  <a:latin typeface="Arial"/>
                  <a:ea typeface="Microsoft YaHei"/>
                  <a:cs typeface="Arial"/>
                </a:rPr>
                <a:t>41 / 51</a:t>
              </a:r>
            </a:p>
          </p:txBody>
        </p:sp>
      </p:grpSp>
    </p:spTree>
  </p:cSld>
  <p:clrMapOvr>
    <a:masterClrMapping/>
  </p:clrMapOvr>
  <p:transition xmlns:p14="http://schemas.microsoft.com/office/powerpoint/2010/main" p14:dur="400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00"/>
                                        <p:tgtEl>
                                          <p:spTgt spid="5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900"/>
                            </p:stCondLst>
                            <p:childTnLst>
                              <p:par>
                                <p:cTn id="9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" dur="400"/>
                                        <p:tgtEl>
                                          <p:spTgt spid="5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3" grpId="0"/>
      <p:bldP spid="57" grpId="0"/>
    </p:bldLst>
  </p:timing>
</p:sld>
</file>

<file path=ppt/slides/slide4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grpSp>
        <p:nvGrpSpPr>
          <p:cNvPr id="5" name="Group 5"/>
          <p:cNvGrpSpPr/>
          <p:nvPr/>
        </p:nvGrpSpPr>
        <p:grpSpPr>
          <a:xfrm>
            <a:off x="-1619250" y="0"/>
            <a:ext cx="13811250" cy="8477250"/>
            <a:chOff x="-1619250" y="0"/>
            <a:chExt cx="13811250" cy="8477250"/>
          </a:xfrm>
        </p:grpSpPr>
        <p:sp>
          <p:nvSpPr>
            <p:cNvPr id="2" name="Rectangle 2"/>
            <p:cNvSpPr/>
            <p:nvPr/>
          </p:nvSpPr>
          <p:spPr>
            <a:xfrm>
              <a:off x="0" y="0"/>
              <a:ext cx="12192000" cy="6858000"/>
            </a:xfrm>
            <a:prstGeom prst="rect">
              <a:avLst/>
            </a:prstGeom>
            <a:solidFill>
              <a:srgbClr val="F5F7FA"/>
            </a:solidFill>
            <a:ln>
              <a:noFill/>
            </a:ln>
          </p:spPr>
          <p:txBody>
            <a:bodyPr/>
            <a:p/>
          </p:txBody>
        </p:sp>
        <p:sp>
          <p:nvSpPr>
            <p:cNvPr id="3" name="Rectangle 3"/>
            <p:cNvSpPr/>
            <p:nvPr/>
          </p:nvSpPr>
          <p:spPr>
            <a:xfrm>
              <a:off x="0" y="0"/>
              <a:ext cx="12192000" cy="6858000"/>
            </a:xfrm>
            <a:prstGeom prst="rect">
              <a:avLst/>
            </a:prstGeom>
            <a:gradFill>
              <a:gsLst>
                <a:gs pos="0">
                  <a:srgbClr val="1565D8">
                    <a:alpha val="6000"/>
                  </a:srgbClr>
                </a:gs>
                <a:gs pos="100000">
                  <a:srgbClr val="1565D8">
                    <a:alpha val="0"/>
                  </a:srgbClr>
                </a:gs>
              </a:gsLst>
              <a:path path="circle">
                <a:fillToRect l="50000" t="50000" r="50000" b="50000"/>
              </a:path>
            </a:gradFill>
            <a:ln>
              <a:noFill/>
            </a:ln>
          </p:spPr>
          <p:txBody>
            <a:bodyPr/>
            <a:p/>
          </p:txBody>
        </p:sp>
        <p:sp>
          <p:nvSpPr>
            <p:cNvPr id="4" name="Ellipse 4"/>
            <p:cNvSpPr/>
            <p:nvPr/>
          </p:nvSpPr>
          <p:spPr>
            <a:xfrm>
              <a:off x="-1619250" y="4667250"/>
              <a:ext cx="3810000" cy="3810000"/>
            </a:xfrm>
            <a:prstGeom prst="ellipse">
              <a:avLst/>
            </a:prstGeom>
            <a:noFill/>
            <a:ln w="14288">
              <a:solidFill>
                <a:srgbClr val="D6E6F9">
                  <a:alpha val="80000"/>
                </a:srgbClr>
              </a:solidFill>
            </a:ln>
          </p:spPr>
          <p:txBody>
            <a:bodyPr/>
            <a:p/>
          </p:txBody>
        </p:sp>
      </p:grpSp>
      <p:grpSp>
        <p:nvGrpSpPr>
          <p:cNvPr id="9" name="Group 9"/>
          <p:cNvGrpSpPr/>
          <p:nvPr/>
        </p:nvGrpSpPr>
        <p:grpSpPr>
          <a:xfrm>
            <a:off x="571500" y="685800"/>
            <a:ext cx="4818317" cy="700088"/>
            <a:chOff x="571500" y="685800"/>
            <a:chExt cx="4818317" cy="700088"/>
          </a:xfrm>
        </p:grpSpPr>
        <p:sp>
          <p:nvSpPr>
            <p:cNvPr id="6" name="Rectangle 6"/>
            <p:cNvSpPr/>
            <p:nvPr/>
          </p:nvSpPr>
          <p:spPr>
            <a:xfrm>
              <a:off x="571500" y="685800"/>
              <a:ext cx="76200" cy="323850"/>
            </a:xfrm>
            <a:prstGeom prst="roundRect">
              <a:avLst>
                <a:gd name="adj" fmla="val 50000"/>
              </a:avLst>
            </a:prstGeom>
            <a:solidFill>
              <a:srgbClr val="1565D8"/>
            </a:solidFill>
            <a:ln>
              <a:noFill/>
            </a:ln>
          </p:spPr>
          <p:txBody>
            <a:bodyPr/>
            <a:p/>
          </p:txBody>
        </p:sp>
        <p:sp>
          <p:nvSpPr>
            <p:cNvPr id="7" name="TextBox 7"/>
            <p:cNvSpPr txBox="1"/>
            <p:nvPr/>
          </p:nvSpPr>
          <p:spPr>
            <a:xfrm>
              <a:off x="771525" y="700088"/>
              <a:ext cx="1994642" cy="45720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2250" b="1" dirty="0">
                  <a:solidFill>
                    <a:srgbClr val="2B3648"/>
                  </a:solidFill>
                  <a:latin typeface="Arial"/>
                  <a:ea typeface="Microsoft YaHei"/>
                  <a:cs typeface="Arial"/>
                </a:rPr>
                <a:t>3 个真实翻车案例（已脱敏）</a:t>
              </a:r>
            </a:p>
          </p:txBody>
        </p:sp>
        <p:sp>
          <p:nvSpPr>
            <p:cNvPr id="8" name="TextBox 8"/>
            <p:cNvSpPr txBox="1"/>
            <p:nvPr/>
          </p:nvSpPr>
          <p:spPr>
            <a:xfrm>
              <a:off x="782955" y="1111568"/>
              <a:ext cx="4606862" cy="27432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5B6B82"/>
                  </a:solidFill>
                  <a:latin typeface="Arial"/>
                  <a:ea typeface="Microsoft YaHei"/>
                  <a:cs typeface="Arial"/>
                </a:rPr>
                <a:t>这 3 个都是真事——一次翻车的代价，比一年培训费贵</a:t>
              </a:r>
            </a:p>
          </p:txBody>
        </p:sp>
      </p:grpSp>
      <p:grpSp>
        <p:nvGrpSpPr>
          <p:cNvPr id="53" name="Group 53"/>
          <p:cNvGrpSpPr/>
          <p:nvPr/>
        </p:nvGrpSpPr>
        <p:grpSpPr>
          <a:xfrm>
            <a:off x="571500" y="1714500"/>
            <a:ext cx="11029950" cy="2667000"/>
            <a:chOff x="571500" y="1714500"/>
            <a:chExt cx="11029950" cy="2667000"/>
          </a:xfrm>
        </p:grpSpPr>
        <p:grpSp>
          <p:nvGrpSpPr>
            <p:cNvPr id="19" name="Group 19"/>
            <p:cNvGrpSpPr/>
            <p:nvPr/>
          </p:nvGrpSpPr>
          <p:grpSpPr>
            <a:xfrm>
              <a:off x="571500" y="1714500"/>
              <a:ext cx="2600325" cy="2667000"/>
              <a:chOff x="571500" y="1714500"/>
              <a:chExt cx="2600325" cy="2667000"/>
            </a:xfrm>
          </p:grpSpPr>
          <p:sp>
            <p:nvSpPr>
              <p:cNvPr id="10" name="Rectangle 10"/>
              <p:cNvSpPr/>
              <p:nvPr/>
            </p:nvSpPr>
            <p:spPr>
              <a:xfrm>
                <a:off x="571500" y="1714500"/>
                <a:ext cx="2600325" cy="2667000"/>
              </a:xfrm>
              <a:prstGeom prst="roundRect">
                <a:avLst>
                  <a:gd name="adj" fmla="val 5861"/>
                </a:avLst>
              </a:prstGeom>
              <a:solidFill>
                <a:srgbClr val="FFFFFF"/>
              </a:solidFill>
              <a:ln w="9525">
                <a:solidFill>
                  <a:srgbClr val="D8E1EC"/>
                </a:solidFill>
              </a:ln>
            </p:spPr>
            <p:txBody>
              <a:bodyPr/>
              <a:p/>
            </p:txBody>
          </p:sp>
          <p:sp>
            <p:nvSpPr>
              <p:cNvPr id="11" name="Ellipse 11"/>
              <p:cNvSpPr/>
              <p:nvPr/>
            </p:nvSpPr>
            <p:spPr>
              <a:xfrm>
                <a:off x="1619250" y="2019300"/>
                <a:ext cx="495300" cy="495300"/>
              </a:xfrm>
              <a:prstGeom prst="ellipse">
                <a:avLst/>
              </a:prstGeom>
              <a:solidFill>
                <a:srgbClr val="E9EEF5"/>
              </a:solidFill>
              <a:ln>
                <a:noFill/>
              </a:ln>
            </p:spPr>
            <p:txBody>
              <a:bodyPr/>
              <a:p/>
            </p:txBody>
          </p:sp>
          <p:grpSp>
            <p:nvGrpSpPr>
              <p:cNvPr id="15" name="Group 15"/>
              <p:cNvGrpSpPr/>
              <p:nvPr/>
            </p:nvGrpSpPr>
            <p:grpSpPr>
              <a:xfrm>
                <a:off x="1766888" y="2166938"/>
                <a:ext cx="200025" cy="200025"/>
                <a:chOff x="1766888" y="2166938"/>
                <a:chExt cx="200025" cy="200025"/>
              </a:xfrm>
            </p:grpSpPr>
            <p:sp>
              <p:nvSpPr>
                <p:cNvPr id="12" name="Freeform 12"/>
                <p:cNvSpPr/>
                <p:nvPr/>
              </p:nvSpPr>
              <p:spPr>
                <a:xfrm>
                  <a:off x="1766888" y="2166938"/>
                  <a:ext cx="200025" cy="200025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200025" h="200025">
                      <a:moveTo>
                        <a:pt x="0" y="100012"/>
                      </a:moveTo>
                      <a:cubicBezTo>
                        <a:pt x="0" y="155248"/>
                        <a:pt x="44777" y="200025"/>
                        <a:pt x="100012" y="200025"/>
                      </a:cubicBezTo>
                      <a:cubicBezTo>
                        <a:pt x="155248" y="200025"/>
                        <a:pt x="200025" y="155248"/>
                        <a:pt x="200025" y="100012"/>
                      </a:cubicBezTo>
                      <a:cubicBezTo>
                        <a:pt x="200025" y="44777"/>
                        <a:pt x="155248" y="0"/>
                        <a:pt x="100012" y="0"/>
                      </a:cubicBezTo>
                      <a:cubicBezTo>
                        <a:pt x="44777" y="0"/>
                        <a:pt x="0" y="44777"/>
                        <a:pt x="0" y="100012"/>
                      </a:cubicBezTo>
                    </a:path>
                  </a:pathLst>
                </a:custGeom>
                <a:noFill/>
                <a:ln w="19050">
                  <a:solidFill>
                    <a:srgbClr val="D64545"/>
                  </a:solidFill>
                </a:ln>
              </p:spPr>
              <p:txBody>
                <a:bodyPr/>
                <a:p/>
              </p:txBody>
            </p:sp>
            <p:sp>
              <p:nvSpPr>
                <p:cNvPr id="13" name="Freeform 13"/>
                <p:cNvSpPr/>
                <p:nvPr/>
              </p:nvSpPr>
              <p:spPr>
                <a:xfrm>
                  <a:off x="1866900" y="2222500"/>
                  <a:ext cx="9525" cy="44450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9525" h="44450">
                      <a:moveTo>
                        <a:pt x="0" y="0"/>
                      </a:moveTo>
                      <a:lnTo>
                        <a:pt x="0" y="44450"/>
                      </a:lnTo>
                    </a:path>
                  </a:pathLst>
                </a:custGeom>
                <a:noFill/>
                <a:ln w="19050">
                  <a:solidFill>
                    <a:srgbClr val="D64545"/>
                  </a:solidFill>
                </a:ln>
              </p:spPr>
              <p:txBody>
                <a:bodyPr/>
                <a:p/>
              </p:txBody>
            </p:sp>
            <p:sp>
              <p:nvSpPr>
                <p:cNvPr id="14" name="Freeform 14"/>
                <p:cNvSpPr/>
                <p:nvPr/>
              </p:nvSpPr>
              <p:spPr>
                <a:xfrm>
                  <a:off x="1866900" y="2311400"/>
                  <a:ext cx="9525" cy="9525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9525" h="9525">
                      <a:moveTo>
                        <a:pt x="0" y="0"/>
                      </a:moveTo>
                      <a:lnTo>
                        <a:pt x="111" y="0"/>
                      </a:lnTo>
                    </a:path>
                  </a:pathLst>
                </a:custGeom>
                <a:noFill/>
                <a:ln w="19050">
                  <a:solidFill>
                    <a:srgbClr val="D64545"/>
                  </a:solidFill>
                </a:ln>
              </p:spPr>
              <p:txBody>
                <a:bodyPr/>
                <a:p/>
              </p:txBody>
            </p:sp>
          </p:grpSp>
          <p:sp>
            <p:nvSpPr>
              <p:cNvPr id="16" name="TextBox 16"/>
              <p:cNvSpPr txBox="1"/>
              <p:nvPr/>
            </p:nvSpPr>
            <p:spPr>
              <a:xfrm>
                <a:off x="1614916" y="2736532"/>
                <a:ext cx="503968" cy="33528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ctr"/>
                <a:r>
                  <a:rPr lang="zh-CN" sz="1650" b="1" dirty="0">
                    <a:solidFill>
                      <a:srgbClr val="2B3648"/>
                    </a:solidFill>
                    <a:latin typeface="Arial"/>
                    <a:ea typeface="Microsoft YaHei"/>
                    <a:cs typeface="Arial"/>
                  </a:rPr>
                  <a:t>案例 1 · 编条款</a:t>
                </a:r>
              </a:p>
            </p:txBody>
          </p:sp>
          <p:sp>
            <p:nvSpPr>
              <p:cNvPr id="17" name="TextBox 17"/>
              <p:cNvSpPr txBox="1"/>
              <p:nvPr/>
            </p:nvSpPr>
            <p:spPr>
              <a:xfrm>
                <a:off x="1363504" y="3239452"/>
                <a:ext cx="1006792" cy="21336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ctr"/>
                <a:r>
                  <a:rPr lang="zh-CN" sz="1050" dirty="0">
                    <a:solidFill>
                      <a:srgbClr val="5B6B82"/>
                    </a:solidFill>
                    <a:latin typeface="Arial"/>
                    <a:ea typeface="Microsoft YaHei"/>
                    <a:cs typeface="Arial"/>
                  </a:rPr>
                  <a:t>AI 在合同里</a:t>
                </a:r>
              </a:p>
            </p:txBody>
          </p:sp>
          <p:sp>
            <p:nvSpPr>
              <p:cNvPr id="18" name="TextBox 18"/>
              <p:cNvSpPr txBox="1"/>
              <p:nvPr/>
            </p:nvSpPr>
            <p:spPr>
              <a:xfrm>
                <a:off x="1573530" y="3468052"/>
                <a:ext cx="586740" cy="21336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ctr"/>
                <a:r>
                  <a:rPr lang="zh-CN" sz="1050" dirty="0">
                    <a:solidFill>
                      <a:srgbClr val="5B6B82"/>
                    </a:solidFill>
                    <a:latin typeface="Arial"/>
                    <a:ea typeface="Microsoft YaHei"/>
                    <a:cs typeface="Arial"/>
                  </a:rPr>
                  <a:t>凭空写了条子句，客户差点中招 → 重要文件必须双人核</a:t>
                </a:r>
              </a:p>
            </p:txBody>
          </p:sp>
        </p:grpSp>
        <p:grpSp>
          <p:nvGrpSpPr>
            <p:cNvPr id="31" name="Group 31"/>
            <p:cNvGrpSpPr/>
            <p:nvPr/>
          </p:nvGrpSpPr>
          <p:grpSpPr>
            <a:xfrm>
              <a:off x="3381375" y="1714500"/>
              <a:ext cx="2600325" cy="2667000"/>
              <a:chOff x="3381375" y="1714500"/>
              <a:chExt cx="2600325" cy="2667000"/>
            </a:xfrm>
          </p:grpSpPr>
          <p:sp>
            <p:nvSpPr>
              <p:cNvPr id="20" name="Rectangle 20"/>
              <p:cNvSpPr/>
              <p:nvPr/>
            </p:nvSpPr>
            <p:spPr>
              <a:xfrm>
                <a:off x="3381375" y="1714500"/>
                <a:ext cx="2600325" cy="2667000"/>
              </a:xfrm>
              <a:prstGeom prst="roundRect">
                <a:avLst>
                  <a:gd name="adj" fmla="val 5861"/>
                </a:avLst>
              </a:prstGeom>
              <a:solidFill>
                <a:srgbClr val="FFFFFF"/>
              </a:solidFill>
              <a:ln w="9525">
                <a:solidFill>
                  <a:srgbClr val="D8E1EC"/>
                </a:solidFill>
              </a:ln>
            </p:spPr>
            <p:txBody>
              <a:bodyPr/>
              <a:p/>
            </p:txBody>
          </p:sp>
          <p:sp>
            <p:nvSpPr>
              <p:cNvPr id="21" name="Ellipse 21"/>
              <p:cNvSpPr/>
              <p:nvPr/>
            </p:nvSpPr>
            <p:spPr>
              <a:xfrm>
                <a:off x="4429125" y="2019300"/>
                <a:ext cx="495300" cy="495300"/>
              </a:xfrm>
              <a:prstGeom prst="ellipse">
                <a:avLst/>
              </a:prstGeom>
              <a:solidFill>
                <a:srgbClr val="E9EEF5"/>
              </a:solidFill>
              <a:ln>
                <a:noFill/>
              </a:ln>
            </p:spPr>
            <p:txBody>
              <a:bodyPr/>
              <a:p/>
            </p:txBody>
          </p:sp>
          <p:grpSp>
            <p:nvGrpSpPr>
              <p:cNvPr id="27" name="Group 27"/>
              <p:cNvGrpSpPr/>
              <p:nvPr/>
            </p:nvGrpSpPr>
            <p:grpSpPr>
              <a:xfrm>
                <a:off x="4576762" y="2166938"/>
                <a:ext cx="200025" cy="198437"/>
                <a:chOff x="4576762" y="2166938"/>
                <a:chExt cx="200025" cy="198437"/>
              </a:xfrm>
            </p:grpSpPr>
            <p:sp>
              <p:nvSpPr>
                <p:cNvPr id="22" name="Freeform 22"/>
                <p:cNvSpPr/>
                <p:nvPr/>
              </p:nvSpPr>
              <p:spPr>
                <a:xfrm>
                  <a:off x="4621212" y="2355850"/>
                  <a:ext cx="111125" cy="9525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111125" h="9525">
                      <a:moveTo>
                        <a:pt x="0" y="0"/>
                      </a:moveTo>
                      <a:lnTo>
                        <a:pt x="111125" y="0"/>
                      </a:lnTo>
                    </a:path>
                  </a:pathLst>
                </a:custGeom>
                <a:noFill/>
                <a:ln w="19050">
                  <a:solidFill>
                    <a:srgbClr val="D64545"/>
                  </a:solidFill>
                </a:ln>
              </p:spPr>
              <p:txBody>
                <a:bodyPr/>
                <a:p/>
              </p:txBody>
            </p:sp>
            <p:sp>
              <p:nvSpPr>
                <p:cNvPr id="23" name="Freeform 23"/>
                <p:cNvSpPr/>
                <p:nvPr/>
              </p:nvSpPr>
              <p:spPr>
                <a:xfrm>
                  <a:off x="4610100" y="2189162"/>
                  <a:ext cx="133350" cy="11112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133350" h="11112">
                      <a:moveTo>
                        <a:pt x="0" y="11112"/>
                      </a:moveTo>
                      <a:lnTo>
                        <a:pt x="66675" y="0"/>
                      </a:lnTo>
                      <a:lnTo>
                        <a:pt x="133350" y="11112"/>
                      </a:lnTo>
                    </a:path>
                  </a:pathLst>
                </a:custGeom>
                <a:noFill/>
                <a:ln w="19050">
                  <a:solidFill>
                    <a:srgbClr val="D64545"/>
                  </a:solidFill>
                </a:ln>
              </p:spPr>
              <p:txBody>
                <a:bodyPr/>
                <a:p/>
              </p:txBody>
            </p:sp>
            <p:sp>
              <p:nvSpPr>
                <p:cNvPr id="24" name="Freeform 24"/>
                <p:cNvSpPr/>
                <p:nvPr/>
              </p:nvSpPr>
              <p:spPr>
                <a:xfrm>
                  <a:off x="4676775" y="2166938"/>
                  <a:ext cx="9525" cy="188913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9525" h="188913">
                      <a:moveTo>
                        <a:pt x="0" y="0"/>
                      </a:moveTo>
                      <a:lnTo>
                        <a:pt x="0" y="188913"/>
                      </a:lnTo>
                    </a:path>
                  </a:pathLst>
                </a:custGeom>
                <a:noFill/>
                <a:ln w="19050">
                  <a:solidFill>
                    <a:srgbClr val="D64545"/>
                  </a:solidFill>
                </a:ln>
              </p:spPr>
              <p:txBody>
                <a:bodyPr/>
                <a:p/>
              </p:txBody>
            </p:sp>
            <p:sp>
              <p:nvSpPr>
                <p:cNvPr id="25" name="Freeform 25"/>
                <p:cNvSpPr/>
                <p:nvPr/>
              </p:nvSpPr>
              <p:spPr>
                <a:xfrm>
                  <a:off x="4576762" y="2200275"/>
                  <a:ext cx="66675" cy="100012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66675" h="100012">
                      <a:moveTo>
                        <a:pt x="66675" y="66675"/>
                      </a:moveTo>
                      <a:lnTo>
                        <a:pt x="33338" y="0"/>
                      </a:lnTo>
                      <a:lnTo>
                        <a:pt x="0" y="66675"/>
                      </a:lnTo>
                      <a:cubicBezTo>
                        <a:pt x="0" y="85087"/>
                        <a:pt x="14926" y="100012"/>
                        <a:pt x="33338" y="100012"/>
                      </a:cubicBezTo>
                      <a:cubicBezTo>
                        <a:pt x="51749" y="100012"/>
                        <a:pt x="66675" y="85087"/>
                        <a:pt x="66675" y="66675"/>
                      </a:cubicBezTo>
                    </a:path>
                  </a:pathLst>
                </a:custGeom>
                <a:noFill/>
                <a:ln w="19050">
                  <a:solidFill>
                    <a:srgbClr val="D64545"/>
                  </a:solidFill>
                </a:ln>
              </p:spPr>
              <p:txBody>
                <a:bodyPr/>
                <a:p/>
              </p:txBody>
            </p:sp>
            <p:sp>
              <p:nvSpPr>
                <p:cNvPr id="26" name="Freeform 26"/>
                <p:cNvSpPr/>
                <p:nvPr/>
              </p:nvSpPr>
              <p:spPr>
                <a:xfrm>
                  <a:off x="4710112" y="2200275"/>
                  <a:ext cx="66675" cy="100012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66675" h="100012">
                      <a:moveTo>
                        <a:pt x="66675" y="66675"/>
                      </a:moveTo>
                      <a:lnTo>
                        <a:pt x="33338" y="0"/>
                      </a:lnTo>
                      <a:lnTo>
                        <a:pt x="0" y="66675"/>
                      </a:lnTo>
                      <a:cubicBezTo>
                        <a:pt x="0" y="85087"/>
                        <a:pt x="14926" y="100012"/>
                        <a:pt x="33338" y="100012"/>
                      </a:cubicBezTo>
                      <a:cubicBezTo>
                        <a:pt x="51749" y="100012"/>
                        <a:pt x="66675" y="85087"/>
                        <a:pt x="66675" y="66675"/>
                      </a:cubicBezTo>
                    </a:path>
                  </a:pathLst>
                </a:custGeom>
                <a:noFill/>
                <a:ln w="19050">
                  <a:solidFill>
                    <a:srgbClr val="D64545"/>
                  </a:solidFill>
                </a:ln>
              </p:spPr>
              <p:txBody>
                <a:bodyPr/>
                <a:p/>
              </p:txBody>
            </p:sp>
          </p:grpSp>
          <p:sp>
            <p:nvSpPr>
              <p:cNvPr id="28" name="TextBox 28"/>
              <p:cNvSpPr txBox="1"/>
              <p:nvPr/>
            </p:nvSpPr>
            <p:spPr>
              <a:xfrm>
                <a:off x="4424791" y="2736532"/>
                <a:ext cx="503968" cy="33528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ctr"/>
                <a:r>
                  <a:rPr lang="zh-CN" sz="1650" b="1" dirty="0">
                    <a:solidFill>
                      <a:srgbClr val="2B3648"/>
                    </a:solidFill>
                    <a:latin typeface="Arial"/>
                    <a:ea typeface="Microsoft YaHei"/>
                    <a:cs typeface="Arial"/>
                  </a:rPr>
                  <a:t>案例 2 · 影子 AI</a:t>
                </a:r>
              </a:p>
            </p:txBody>
          </p:sp>
          <p:sp>
            <p:nvSpPr>
              <p:cNvPr id="29" name="TextBox 29"/>
              <p:cNvSpPr txBox="1"/>
              <p:nvPr/>
            </p:nvSpPr>
            <p:spPr>
              <a:xfrm>
                <a:off x="4173379" y="3239452"/>
                <a:ext cx="1006792" cy="21336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ctr"/>
                <a:r>
                  <a:rPr lang="zh-CN" sz="1050" dirty="0">
                    <a:solidFill>
                      <a:srgbClr val="5B6B82"/>
                    </a:solidFill>
                    <a:latin typeface="Arial"/>
                    <a:ea typeface="Microsoft YaHei"/>
                    <a:cs typeface="Arial"/>
                  </a:rPr>
                  <a:t>员工把客户名单</a:t>
                </a:r>
              </a:p>
            </p:txBody>
          </p:sp>
          <p:sp>
            <p:nvSpPr>
              <p:cNvPr id="30" name="TextBox 30"/>
              <p:cNvSpPr txBox="1"/>
              <p:nvPr/>
            </p:nvSpPr>
            <p:spPr>
              <a:xfrm>
                <a:off x="4313396" y="3468052"/>
                <a:ext cx="726758" cy="21336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ctr"/>
                <a:r>
                  <a:rPr lang="zh-CN" sz="1050" dirty="0">
                    <a:solidFill>
                      <a:srgbClr val="5B6B82"/>
                    </a:solidFill>
                    <a:latin typeface="Arial"/>
                    <a:ea typeface="Microsoft YaHei"/>
                    <a:cs typeface="Arial"/>
                  </a:rPr>
                  <a:t>贴进公网 AI，数据外流 → 只走批准的工具</a:t>
                </a:r>
              </a:p>
            </p:txBody>
          </p:sp>
        </p:grpSp>
        <p:grpSp>
          <p:nvGrpSpPr>
            <p:cNvPr id="42" name="Group 42"/>
            <p:cNvGrpSpPr/>
            <p:nvPr/>
          </p:nvGrpSpPr>
          <p:grpSpPr>
            <a:xfrm>
              <a:off x="6191250" y="1714500"/>
              <a:ext cx="2600325" cy="2667000"/>
              <a:chOff x="6191250" y="1714500"/>
              <a:chExt cx="2600325" cy="2667000"/>
            </a:xfrm>
          </p:grpSpPr>
          <p:sp>
            <p:nvSpPr>
              <p:cNvPr id="32" name="Rectangle 32"/>
              <p:cNvSpPr/>
              <p:nvPr/>
            </p:nvSpPr>
            <p:spPr>
              <a:xfrm>
                <a:off x="6191250" y="1714500"/>
                <a:ext cx="2600325" cy="2667000"/>
              </a:xfrm>
              <a:prstGeom prst="roundRect">
                <a:avLst>
                  <a:gd name="adj" fmla="val 5861"/>
                </a:avLst>
              </a:prstGeom>
              <a:solidFill>
                <a:srgbClr val="FFFFFF"/>
              </a:solidFill>
              <a:ln w="9525">
                <a:solidFill>
                  <a:srgbClr val="D8E1EC"/>
                </a:solidFill>
              </a:ln>
            </p:spPr>
            <p:txBody>
              <a:bodyPr/>
              <a:p/>
            </p:txBody>
          </p:sp>
          <p:sp>
            <p:nvSpPr>
              <p:cNvPr id="33" name="Ellipse 33"/>
              <p:cNvSpPr/>
              <p:nvPr/>
            </p:nvSpPr>
            <p:spPr>
              <a:xfrm>
                <a:off x="7239000" y="2019300"/>
                <a:ext cx="495300" cy="495300"/>
              </a:xfrm>
              <a:prstGeom prst="ellipse">
                <a:avLst/>
              </a:prstGeom>
              <a:solidFill>
                <a:srgbClr val="E9EEF5"/>
              </a:solidFill>
              <a:ln>
                <a:noFill/>
              </a:ln>
            </p:spPr>
            <p:txBody>
              <a:bodyPr/>
              <a:p/>
            </p:txBody>
          </p:sp>
          <p:grpSp>
            <p:nvGrpSpPr>
              <p:cNvPr id="38" name="Group 38"/>
              <p:cNvGrpSpPr/>
              <p:nvPr/>
            </p:nvGrpSpPr>
            <p:grpSpPr>
              <a:xfrm>
                <a:off x="7407784" y="2178050"/>
                <a:ext cx="157732" cy="179632"/>
                <a:chOff x="7407784" y="2178050"/>
                <a:chExt cx="157732" cy="179632"/>
              </a:xfrm>
            </p:grpSpPr>
            <p:sp>
              <p:nvSpPr>
                <p:cNvPr id="34" name="Freeform 34"/>
                <p:cNvSpPr/>
                <p:nvPr/>
              </p:nvSpPr>
              <p:spPr>
                <a:xfrm>
                  <a:off x="7407784" y="2178050"/>
                  <a:ext cx="157732" cy="179632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157732" h="179632">
                      <a:moveTo>
                        <a:pt x="1079" y="77788"/>
                      </a:moveTo>
                      <a:cubicBezTo>
                        <a:pt x="1079" y="34827"/>
                        <a:pt x="35905" y="0"/>
                        <a:pt x="78866" y="0"/>
                      </a:cubicBezTo>
                      <a:cubicBezTo>
                        <a:pt x="121827" y="0"/>
                        <a:pt x="156654" y="34827"/>
                        <a:pt x="156654" y="77788"/>
                      </a:cubicBezTo>
                      <a:lnTo>
                        <a:pt x="156654" y="155575"/>
                      </a:lnTo>
                      <a:cubicBezTo>
                        <a:pt x="157732" y="164184"/>
                        <a:pt x="153075" y="172490"/>
                        <a:pt x="145168" y="176061"/>
                      </a:cubicBezTo>
                      <a:cubicBezTo>
                        <a:pt x="137261" y="179632"/>
                        <a:pt x="127950" y="177634"/>
                        <a:pt x="122205" y="171133"/>
                      </a:cubicBezTo>
                      <a:cubicBezTo>
                        <a:pt x="118730" y="166687"/>
                        <a:pt x="113401" y="164089"/>
                        <a:pt x="107759" y="164089"/>
                      </a:cubicBezTo>
                      <a:cubicBezTo>
                        <a:pt x="102116" y="164089"/>
                        <a:pt x="96787" y="166687"/>
                        <a:pt x="93312" y="171133"/>
                      </a:cubicBezTo>
                      <a:cubicBezTo>
                        <a:pt x="89837" y="175578"/>
                        <a:pt x="84509" y="178176"/>
                        <a:pt x="78866" y="178176"/>
                      </a:cubicBezTo>
                      <a:cubicBezTo>
                        <a:pt x="73223" y="178176"/>
                        <a:pt x="67895" y="175578"/>
                        <a:pt x="64420" y="171133"/>
                      </a:cubicBezTo>
                      <a:cubicBezTo>
                        <a:pt x="60945" y="166687"/>
                        <a:pt x="55616" y="164089"/>
                        <a:pt x="49974" y="164089"/>
                      </a:cubicBezTo>
                      <a:cubicBezTo>
                        <a:pt x="44331" y="164089"/>
                        <a:pt x="39002" y="166687"/>
                        <a:pt x="35527" y="171133"/>
                      </a:cubicBezTo>
                      <a:cubicBezTo>
                        <a:pt x="29782" y="177634"/>
                        <a:pt x="20471" y="179632"/>
                        <a:pt x="12564" y="176061"/>
                      </a:cubicBezTo>
                      <a:cubicBezTo>
                        <a:pt x="4657" y="172490"/>
                        <a:pt x="0" y="164184"/>
                        <a:pt x="1079" y="155575"/>
                      </a:cubicBezTo>
                      <a:lnTo>
                        <a:pt x="1079" y="77788"/>
                      </a:lnTo>
                    </a:path>
                  </a:pathLst>
                </a:custGeom>
                <a:noFill/>
                <a:ln w="19050">
                  <a:solidFill>
                    <a:srgbClr val="D64545"/>
                  </a:solidFill>
                </a:ln>
              </p:spPr>
              <p:txBody>
                <a:bodyPr/>
                <a:p/>
              </p:txBody>
            </p:sp>
            <p:sp>
              <p:nvSpPr>
                <p:cNvPr id="35" name="Freeform 35"/>
                <p:cNvSpPr/>
                <p:nvPr/>
              </p:nvSpPr>
              <p:spPr>
                <a:xfrm>
                  <a:off x="7464425" y="2244725"/>
                  <a:ext cx="9525" cy="9525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9525" h="9525">
                      <a:moveTo>
                        <a:pt x="0" y="0"/>
                      </a:moveTo>
                      <a:lnTo>
                        <a:pt x="111" y="0"/>
                      </a:lnTo>
                    </a:path>
                  </a:pathLst>
                </a:custGeom>
                <a:noFill/>
                <a:ln w="19050">
                  <a:solidFill>
                    <a:srgbClr val="D64545"/>
                  </a:solidFill>
                </a:ln>
              </p:spPr>
              <p:txBody>
                <a:bodyPr/>
                <a:p/>
              </p:txBody>
            </p:sp>
            <p:sp>
              <p:nvSpPr>
                <p:cNvPr id="36" name="Freeform 36"/>
                <p:cNvSpPr/>
                <p:nvPr/>
              </p:nvSpPr>
              <p:spPr>
                <a:xfrm>
                  <a:off x="7508875" y="2244725"/>
                  <a:ext cx="9525" cy="9525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9525" h="9525">
                      <a:moveTo>
                        <a:pt x="0" y="0"/>
                      </a:moveTo>
                      <a:lnTo>
                        <a:pt x="111" y="0"/>
                      </a:lnTo>
                    </a:path>
                  </a:pathLst>
                </a:custGeom>
                <a:noFill/>
                <a:ln w="19050">
                  <a:solidFill>
                    <a:srgbClr val="D64545"/>
                  </a:solidFill>
                </a:ln>
              </p:spPr>
              <p:txBody>
                <a:bodyPr/>
                <a:p/>
              </p:txBody>
            </p:sp>
            <p:sp>
              <p:nvSpPr>
                <p:cNvPr id="37" name="Freeform 37"/>
                <p:cNvSpPr/>
                <p:nvPr/>
              </p:nvSpPr>
              <p:spPr>
                <a:xfrm>
                  <a:off x="7464425" y="2289175"/>
                  <a:ext cx="44450" cy="9525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44450" h="9525">
                      <a:moveTo>
                        <a:pt x="0" y="0"/>
                      </a:moveTo>
                      <a:cubicBezTo>
                        <a:pt x="13357" y="9301"/>
                        <a:pt x="31093" y="9301"/>
                        <a:pt x="44450" y="0"/>
                      </a:cubicBezTo>
                    </a:path>
                  </a:pathLst>
                </a:custGeom>
                <a:noFill/>
                <a:ln w="19050">
                  <a:solidFill>
                    <a:srgbClr val="D64545"/>
                  </a:solidFill>
                </a:ln>
              </p:spPr>
              <p:txBody>
                <a:bodyPr/>
                <a:p/>
              </p:txBody>
            </p:sp>
          </p:grpSp>
          <p:sp>
            <p:nvSpPr>
              <p:cNvPr id="39" name="TextBox 39"/>
              <p:cNvSpPr txBox="1"/>
              <p:nvPr/>
            </p:nvSpPr>
            <p:spPr>
              <a:xfrm>
                <a:off x="7101825" y="2736532"/>
                <a:ext cx="769651" cy="33528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ctr"/>
                <a:r>
                  <a:rPr lang="zh-CN" sz="1650" b="1" dirty="0">
                    <a:solidFill>
                      <a:srgbClr val="2B3648"/>
                    </a:solidFill>
                    <a:latin typeface="Arial"/>
                    <a:ea typeface="Microsoft YaHei"/>
                    <a:cs typeface="Arial"/>
                  </a:rPr>
                  <a:t>案例 3 · 盲信</a:t>
                </a:r>
              </a:p>
            </p:txBody>
          </p:sp>
          <p:sp>
            <p:nvSpPr>
              <p:cNvPr id="40" name="TextBox 40"/>
              <p:cNvSpPr txBox="1"/>
              <p:nvPr/>
            </p:nvSpPr>
            <p:spPr>
              <a:xfrm>
                <a:off x="6983254" y="3239452"/>
                <a:ext cx="1006792" cy="21336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ctr"/>
                <a:r>
                  <a:rPr lang="zh-CN" sz="1050" dirty="0">
                    <a:solidFill>
                      <a:srgbClr val="5B6B82"/>
                    </a:solidFill>
                    <a:latin typeface="Arial"/>
                    <a:ea typeface="Microsoft YaHei"/>
                    <a:cs typeface="Arial"/>
                  </a:rPr>
                  <a:t>客服直接用 AI 回答</a:t>
                </a:r>
              </a:p>
            </p:txBody>
          </p:sp>
          <p:sp>
            <p:nvSpPr>
              <p:cNvPr id="41" name="TextBox 41"/>
              <p:cNvSpPr txBox="1"/>
              <p:nvPr/>
            </p:nvSpPr>
            <p:spPr>
              <a:xfrm>
                <a:off x="6983254" y="3468052"/>
                <a:ext cx="1006792" cy="21336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ctr"/>
                <a:r>
                  <a:rPr lang="zh-CN" sz="1050" dirty="0">
                    <a:solidFill>
                      <a:srgbClr val="5B6B82"/>
                    </a:solidFill>
                    <a:latin typeface="Arial"/>
                    <a:ea typeface="Microsoft YaHei"/>
                    <a:cs typeface="Arial"/>
                  </a:rPr>
                  <a:t>客户，错误信息发出去 → 人终审，AI 只出初稿</a:t>
                </a:r>
              </a:p>
            </p:txBody>
          </p:sp>
        </p:grpSp>
        <p:grpSp>
          <p:nvGrpSpPr>
            <p:cNvPr id="52" name="Group 52"/>
            <p:cNvGrpSpPr/>
            <p:nvPr/>
          </p:nvGrpSpPr>
          <p:grpSpPr>
            <a:xfrm>
              <a:off x="9001125" y="1714500"/>
              <a:ext cx="2600325" cy="2667000"/>
              <a:chOff x="9001125" y="1714500"/>
              <a:chExt cx="2600325" cy="2667000"/>
            </a:xfrm>
          </p:grpSpPr>
          <p:sp>
            <p:nvSpPr>
              <p:cNvPr id="43" name="Rectangle 43"/>
              <p:cNvSpPr/>
              <p:nvPr/>
            </p:nvSpPr>
            <p:spPr>
              <a:xfrm>
                <a:off x="9001125" y="1714500"/>
                <a:ext cx="2600325" cy="2667000"/>
              </a:xfrm>
              <a:prstGeom prst="roundRect">
                <a:avLst>
                  <a:gd name="adj" fmla="val 5861"/>
                </a:avLst>
              </a:prstGeom>
              <a:solidFill>
                <a:srgbClr val="FFFFFF"/>
              </a:solidFill>
              <a:ln w="9525">
                <a:solidFill>
                  <a:srgbClr val="D8E1EC"/>
                </a:solidFill>
              </a:ln>
            </p:spPr>
            <p:txBody>
              <a:bodyPr/>
              <a:p/>
            </p:txBody>
          </p:sp>
          <p:sp>
            <p:nvSpPr>
              <p:cNvPr id="44" name="Ellipse 44"/>
              <p:cNvSpPr/>
              <p:nvPr/>
            </p:nvSpPr>
            <p:spPr>
              <a:xfrm>
                <a:off x="10048875" y="2019300"/>
                <a:ext cx="495300" cy="495300"/>
              </a:xfrm>
              <a:prstGeom prst="ellipse">
                <a:avLst/>
              </a:prstGeom>
              <a:solidFill>
                <a:srgbClr val="E9EEF5"/>
              </a:solidFill>
              <a:ln>
                <a:noFill/>
              </a:ln>
            </p:spPr>
            <p:txBody>
              <a:bodyPr/>
              <a:p/>
            </p:txBody>
          </p:sp>
          <p:grpSp>
            <p:nvGrpSpPr>
              <p:cNvPr id="48" name="Group 48"/>
              <p:cNvGrpSpPr/>
              <p:nvPr/>
            </p:nvGrpSpPr>
            <p:grpSpPr>
              <a:xfrm>
                <a:off x="10218738" y="2155825"/>
                <a:ext cx="155575" cy="211138"/>
                <a:chOff x="10218738" y="2155825"/>
                <a:chExt cx="155575" cy="211138"/>
              </a:xfrm>
            </p:grpSpPr>
            <p:sp>
              <p:nvSpPr>
                <p:cNvPr id="45" name="Freeform 45"/>
                <p:cNvSpPr/>
                <p:nvPr/>
              </p:nvSpPr>
              <p:spPr>
                <a:xfrm>
                  <a:off x="10218738" y="2255838"/>
                  <a:ext cx="155575" cy="111125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155575" h="111125">
                      <a:moveTo>
                        <a:pt x="0" y="22225"/>
                      </a:moveTo>
                      <a:cubicBezTo>
                        <a:pt x="0" y="9950"/>
                        <a:pt x="9950" y="0"/>
                        <a:pt x="22225" y="0"/>
                      </a:cubicBezTo>
                      <a:lnTo>
                        <a:pt x="133350" y="0"/>
                      </a:lnTo>
                      <a:cubicBezTo>
                        <a:pt x="145625" y="0"/>
                        <a:pt x="155575" y="9950"/>
                        <a:pt x="155575" y="22225"/>
                      </a:cubicBezTo>
                      <a:lnTo>
                        <a:pt x="155575" y="88900"/>
                      </a:lnTo>
                      <a:cubicBezTo>
                        <a:pt x="155575" y="101175"/>
                        <a:pt x="145625" y="111125"/>
                        <a:pt x="133350" y="111125"/>
                      </a:cubicBezTo>
                      <a:lnTo>
                        <a:pt x="22225" y="111125"/>
                      </a:lnTo>
                      <a:cubicBezTo>
                        <a:pt x="9950" y="111125"/>
                        <a:pt x="0" y="101175"/>
                        <a:pt x="0" y="88900"/>
                      </a:cubicBezTo>
                      <a:lnTo>
                        <a:pt x="0" y="22225"/>
                      </a:lnTo>
                    </a:path>
                  </a:pathLst>
                </a:custGeom>
                <a:noFill/>
                <a:ln w="19050">
                  <a:solidFill>
                    <a:srgbClr val="D64545"/>
                  </a:solidFill>
                </a:ln>
              </p:spPr>
              <p:txBody>
                <a:bodyPr/>
                <a:p/>
              </p:txBody>
            </p:sp>
            <p:sp>
              <p:nvSpPr>
                <p:cNvPr id="46" name="Freeform 46"/>
                <p:cNvSpPr/>
                <p:nvPr/>
              </p:nvSpPr>
              <p:spPr>
                <a:xfrm>
                  <a:off x="10285412" y="2300288"/>
                  <a:ext cx="22225" cy="22225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22225" h="22225">
                      <a:moveTo>
                        <a:pt x="0" y="11112"/>
                      </a:moveTo>
                      <a:cubicBezTo>
                        <a:pt x="0" y="17250"/>
                        <a:pt x="4975" y="22225"/>
                        <a:pt x="11113" y="22225"/>
                      </a:cubicBezTo>
                      <a:cubicBezTo>
                        <a:pt x="17250" y="22225"/>
                        <a:pt x="22225" y="17250"/>
                        <a:pt x="22225" y="11112"/>
                      </a:cubicBezTo>
                      <a:cubicBezTo>
                        <a:pt x="22225" y="4975"/>
                        <a:pt x="17250" y="0"/>
                        <a:pt x="11113" y="0"/>
                      </a:cubicBezTo>
                      <a:cubicBezTo>
                        <a:pt x="4975" y="0"/>
                        <a:pt x="0" y="4975"/>
                        <a:pt x="0" y="11112"/>
                      </a:cubicBezTo>
                    </a:path>
                  </a:pathLst>
                </a:custGeom>
                <a:noFill/>
                <a:ln w="19050">
                  <a:solidFill>
                    <a:srgbClr val="D64545"/>
                  </a:solidFill>
                </a:ln>
              </p:spPr>
              <p:txBody>
                <a:bodyPr/>
                <a:p/>
              </p:txBody>
            </p:sp>
            <p:sp>
              <p:nvSpPr>
                <p:cNvPr id="47" name="Freeform 47"/>
                <p:cNvSpPr/>
                <p:nvPr/>
              </p:nvSpPr>
              <p:spPr>
                <a:xfrm>
                  <a:off x="10252075" y="2155825"/>
                  <a:ext cx="88900" cy="100012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88900" h="100012">
                      <a:moveTo>
                        <a:pt x="0" y="100012"/>
                      </a:moveTo>
                      <a:lnTo>
                        <a:pt x="0" y="44450"/>
                      </a:lnTo>
                      <a:cubicBezTo>
                        <a:pt x="0" y="19901"/>
                        <a:pt x="19901" y="0"/>
                        <a:pt x="44450" y="0"/>
                      </a:cubicBezTo>
                      <a:cubicBezTo>
                        <a:pt x="68999" y="0"/>
                        <a:pt x="88900" y="19901"/>
                        <a:pt x="88900" y="44450"/>
                      </a:cubicBezTo>
                    </a:path>
                  </a:pathLst>
                </a:custGeom>
                <a:noFill/>
                <a:ln w="19050">
                  <a:solidFill>
                    <a:srgbClr val="D64545"/>
                  </a:solidFill>
                </a:ln>
              </p:spPr>
              <p:txBody>
                <a:bodyPr/>
                <a:p/>
              </p:txBody>
            </p:sp>
          </p:grpSp>
          <p:sp>
            <p:nvSpPr>
              <p:cNvPr id="49" name="TextBox 49"/>
              <p:cNvSpPr txBox="1"/>
              <p:nvPr/>
            </p:nvSpPr>
            <p:spPr>
              <a:xfrm>
                <a:off x="9813512" y="2736532"/>
                <a:ext cx="966026" cy="33528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ctr"/>
                <a:r>
                  <a:rPr lang="zh-CN" sz="1650" b="1" dirty="0">
                    <a:solidFill>
                      <a:srgbClr val="2B3648"/>
                    </a:solidFill>
                    <a:latin typeface="Arial"/>
                    <a:ea typeface="Microsoft YaHei"/>
                    <a:cs typeface="Arial"/>
                  </a:rPr>
                  <a:t>共同点</a:t>
                </a:r>
              </a:p>
            </p:txBody>
          </p:sp>
          <p:sp>
            <p:nvSpPr>
              <p:cNvPr id="50" name="TextBox 50"/>
              <p:cNvSpPr txBox="1"/>
              <p:nvPr/>
            </p:nvSpPr>
            <p:spPr>
              <a:xfrm>
                <a:off x="9863138" y="3239452"/>
                <a:ext cx="866775" cy="21336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ctr"/>
                <a:r>
                  <a:rPr lang="zh-CN" sz="1050" dirty="0">
                    <a:solidFill>
                      <a:srgbClr val="5B6B82"/>
                    </a:solidFill>
                    <a:latin typeface="Arial"/>
                    <a:ea typeface="Microsoft YaHei"/>
                    <a:cs typeface="Arial"/>
                  </a:rPr>
                  <a:t>3 个都是</a:t>
                </a:r>
              </a:p>
            </p:txBody>
          </p:sp>
          <p:sp>
            <p:nvSpPr>
              <p:cNvPr id="51" name="TextBox 51"/>
              <p:cNvSpPr txBox="1"/>
              <p:nvPr/>
            </p:nvSpPr>
            <p:spPr>
              <a:xfrm>
                <a:off x="9642610" y="3468052"/>
                <a:ext cx="1307830" cy="21336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ctr"/>
                <a:r>
                  <a:rPr lang="zh-CN" sz="1050" dirty="0">
                    <a:solidFill>
                      <a:srgbClr val="5B6B82"/>
                    </a:solidFill>
                    <a:latin typeface="Arial"/>
                    <a:ea typeface="Microsoft YaHei"/>
                    <a:cs typeface="Arial"/>
                  </a:rPr>
                  <a:t>「人没核」——AI 出初稿，你是最后一道关</a:t>
                </a:r>
              </a:p>
            </p:txBody>
          </p:sp>
        </p:grpSp>
      </p:grpSp>
      <p:grpSp>
        <p:nvGrpSpPr>
          <p:cNvPr id="57" name="Group 57"/>
          <p:cNvGrpSpPr/>
          <p:nvPr/>
        </p:nvGrpSpPr>
        <p:grpSpPr>
          <a:xfrm>
            <a:off x="571500" y="4762500"/>
            <a:ext cx="11049000" cy="457200"/>
            <a:chOff x="571500" y="4762500"/>
            <a:chExt cx="11049000" cy="457200"/>
          </a:xfrm>
        </p:grpSpPr>
        <p:sp>
          <p:nvSpPr>
            <p:cNvPr id="54" name="Rectangle 54"/>
            <p:cNvSpPr/>
            <p:nvPr/>
          </p:nvSpPr>
          <p:spPr>
            <a:xfrm>
              <a:off x="571500" y="4762500"/>
              <a:ext cx="11049000" cy="457200"/>
            </a:xfrm>
            <a:prstGeom prst="roundRect">
              <a:avLst>
                <a:gd name="adj" fmla="val 33333"/>
              </a:avLst>
            </a:prstGeom>
            <a:solidFill>
              <a:srgbClr val="D6E6F9"/>
            </a:solidFill>
            <a:ln>
              <a:noFill/>
            </a:ln>
          </p:spPr>
          <p:txBody>
            <a:bodyPr/>
            <a:p/>
          </p:txBody>
        </p:sp>
        <p:sp>
          <p:nvSpPr>
            <p:cNvPr id="55" name="Rectangle 55"/>
            <p:cNvSpPr/>
            <p:nvPr/>
          </p:nvSpPr>
          <p:spPr>
            <a:xfrm>
              <a:off x="571500" y="4762500"/>
              <a:ext cx="76200" cy="457200"/>
            </a:xfrm>
            <a:prstGeom prst="roundRect">
              <a:avLst>
                <a:gd name="adj" fmla="val 50000"/>
              </a:avLst>
            </a:prstGeom>
            <a:solidFill>
              <a:srgbClr val="1565D8"/>
            </a:solidFill>
            <a:ln>
              <a:noFill/>
            </a:ln>
          </p:spPr>
          <p:txBody>
            <a:bodyPr/>
            <a:p/>
          </p:txBody>
        </p:sp>
        <p:sp>
          <p:nvSpPr>
            <p:cNvPr id="56" name="TextBox 56"/>
            <p:cNvSpPr txBox="1"/>
            <p:nvPr/>
          </p:nvSpPr>
          <p:spPr>
            <a:xfrm>
              <a:off x="859155" y="4912042"/>
              <a:ext cx="1924526" cy="27432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b="1" dirty="0">
                  <a:solidFill>
                    <a:srgbClr val="0B4EA2"/>
                  </a:solidFill>
                  <a:latin typeface="Arial"/>
                  <a:ea typeface="Microsoft YaHei"/>
                  <a:cs typeface="Arial"/>
                </a:rPr>
                <a:t>练过这一遍，红线才进肌肉记忆。</a:t>
              </a:r>
            </a:p>
          </p:txBody>
        </p:sp>
      </p:grpSp>
      <p:grpSp>
        <p:nvGrpSpPr>
          <p:cNvPr id="60" name="Group 60"/>
          <p:cNvGrpSpPr/>
          <p:nvPr/>
        </p:nvGrpSpPr>
        <p:grpSpPr>
          <a:xfrm>
            <a:off x="560070" y="6341745"/>
            <a:ext cx="11071860" cy="182880"/>
            <a:chOff x="560070" y="6341745"/>
            <a:chExt cx="11071860" cy="182880"/>
          </a:xfrm>
        </p:grpSpPr>
        <p:sp>
          <p:nvSpPr>
            <p:cNvPr id="58" name="TextBox 58"/>
            <p:cNvSpPr txBox="1"/>
            <p:nvPr/>
          </p:nvSpPr>
          <p:spPr>
            <a:xfrm>
              <a:off x="560070" y="6341745"/>
              <a:ext cx="1054989" cy="18288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00" dirty="0">
                  <a:solidFill>
                    <a:srgbClr val="8B99AE"/>
                  </a:solidFill>
                  <a:latin typeface="Arial"/>
                  <a:ea typeface="Microsoft YaHei"/>
                  <a:cs typeface="Arial"/>
                </a:rPr>
                <a:t>大模型通识 · 企业版</a:t>
              </a:r>
            </a:p>
          </p:txBody>
        </p:sp>
        <p:sp>
          <p:nvSpPr>
            <p:cNvPr id="59" name="TextBox 59"/>
            <p:cNvSpPr txBox="1"/>
            <p:nvPr/>
          </p:nvSpPr>
          <p:spPr>
            <a:xfrm>
              <a:off x="11207020" y="6341745"/>
              <a:ext cx="424910" cy="18288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r"/>
              <a:r>
                <a:rPr lang="zh-CN" sz="900" dirty="0">
                  <a:solidFill>
                    <a:srgbClr val="8B99AE"/>
                  </a:solidFill>
                  <a:latin typeface="Arial"/>
                  <a:ea typeface="Microsoft YaHei"/>
                  <a:cs typeface="Arial"/>
                </a:rPr>
                <a:t>42 / 51</a:t>
              </a:r>
            </a:p>
          </p:txBody>
        </p:sp>
      </p:grpSp>
    </p:spTree>
  </p:cSld>
  <p:clrMapOvr>
    <a:masterClrMapping/>
  </p:clrMapOvr>
</p:sld>
</file>

<file path=ppt/slides/slide4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grpSp>
        <p:nvGrpSpPr>
          <p:cNvPr id="5" name="Group 5"/>
          <p:cNvGrpSpPr/>
          <p:nvPr/>
        </p:nvGrpSpPr>
        <p:grpSpPr>
          <a:xfrm>
            <a:off x="-1619250" y="0"/>
            <a:ext cx="13811250" cy="8477250"/>
            <a:chOff x="-1619250" y="0"/>
            <a:chExt cx="13811250" cy="8477250"/>
          </a:xfrm>
        </p:grpSpPr>
        <p:sp>
          <p:nvSpPr>
            <p:cNvPr id="2" name="Rectangle 2"/>
            <p:cNvSpPr/>
            <p:nvPr/>
          </p:nvSpPr>
          <p:spPr>
            <a:xfrm>
              <a:off x="0" y="0"/>
              <a:ext cx="12192000" cy="6858000"/>
            </a:xfrm>
            <a:prstGeom prst="rect">
              <a:avLst/>
            </a:prstGeom>
            <a:solidFill>
              <a:srgbClr val="F5F7FA"/>
            </a:solidFill>
            <a:ln>
              <a:noFill/>
            </a:ln>
          </p:spPr>
          <p:txBody>
            <a:bodyPr/>
            <a:p/>
          </p:txBody>
        </p:sp>
        <p:sp>
          <p:nvSpPr>
            <p:cNvPr id="3" name="Rectangle 3"/>
            <p:cNvSpPr/>
            <p:nvPr/>
          </p:nvSpPr>
          <p:spPr>
            <a:xfrm>
              <a:off x="0" y="0"/>
              <a:ext cx="12192000" cy="6858000"/>
            </a:xfrm>
            <a:prstGeom prst="rect">
              <a:avLst/>
            </a:prstGeom>
            <a:gradFill>
              <a:gsLst>
                <a:gs pos="0">
                  <a:srgbClr val="1565D8">
                    <a:alpha val="6000"/>
                  </a:srgbClr>
                </a:gs>
                <a:gs pos="100000">
                  <a:srgbClr val="1565D8">
                    <a:alpha val="0"/>
                  </a:srgbClr>
                </a:gs>
              </a:gsLst>
              <a:path path="circle">
                <a:fillToRect l="50000" t="50000" r="50000" b="50000"/>
              </a:path>
            </a:gradFill>
            <a:ln>
              <a:noFill/>
            </a:ln>
          </p:spPr>
          <p:txBody>
            <a:bodyPr/>
            <a:p/>
          </p:txBody>
        </p:sp>
        <p:sp>
          <p:nvSpPr>
            <p:cNvPr id="4" name="Ellipse 4"/>
            <p:cNvSpPr/>
            <p:nvPr/>
          </p:nvSpPr>
          <p:spPr>
            <a:xfrm>
              <a:off x="-1619250" y="4667250"/>
              <a:ext cx="3810000" cy="3810000"/>
            </a:xfrm>
            <a:prstGeom prst="ellipse">
              <a:avLst/>
            </a:prstGeom>
            <a:noFill/>
            <a:ln w="14288">
              <a:solidFill>
                <a:srgbClr val="D6E6F9">
                  <a:alpha val="80000"/>
                </a:srgbClr>
              </a:solidFill>
            </a:ln>
          </p:spPr>
          <p:txBody>
            <a:bodyPr/>
            <a:p/>
          </p:txBody>
        </p:sp>
      </p:grpSp>
      <p:grpSp>
        <p:nvGrpSpPr>
          <p:cNvPr id="57" name="Group 57"/>
          <p:cNvGrpSpPr/>
          <p:nvPr/>
        </p:nvGrpSpPr>
        <p:grpSpPr>
          <a:xfrm>
            <a:off x="571500" y="4762500"/>
            <a:ext cx="11049000" cy="457200"/>
            <a:chOff x="571500" y="4762500"/>
            <a:chExt cx="11049000" cy="457200"/>
          </a:xfrm>
        </p:grpSpPr>
        <p:sp>
          <p:nvSpPr>
            <p:cNvPr id="54" name="Rectangle 54"/>
            <p:cNvSpPr/>
            <p:nvPr/>
          </p:nvSpPr>
          <p:spPr>
            <a:xfrm>
              <a:off x="571500" y="4762500"/>
              <a:ext cx="11049000" cy="457200"/>
            </a:xfrm>
            <a:prstGeom prst="roundRect">
              <a:avLst>
                <a:gd name="adj" fmla="val 33333"/>
              </a:avLst>
            </a:prstGeom>
            <a:solidFill>
              <a:srgbClr val="D6E6F9"/>
            </a:solidFill>
            <a:ln>
              <a:noFill/>
            </a:ln>
          </p:spPr>
          <p:txBody>
            <a:bodyPr/>
            <a:p/>
          </p:txBody>
        </p:sp>
        <p:sp>
          <p:nvSpPr>
            <p:cNvPr id="55" name="Rectangle 55"/>
            <p:cNvSpPr/>
            <p:nvPr/>
          </p:nvSpPr>
          <p:spPr>
            <a:xfrm>
              <a:off x="571500" y="4762500"/>
              <a:ext cx="76200" cy="457200"/>
            </a:xfrm>
            <a:prstGeom prst="roundRect">
              <a:avLst>
                <a:gd name="adj" fmla="val 50000"/>
              </a:avLst>
            </a:prstGeom>
            <a:solidFill>
              <a:srgbClr val="1565D8"/>
            </a:solidFill>
            <a:ln>
              <a:noFill/>
            </a:ln>
          </p:spPr>
          <p:txBody>
            <a:bodyPr/>
            <a:p/>
          </p:txBody>
        </p:sp>
        <p:sp>
          <p:nvSpPr>
            <p:cNvPr id="56" name="TextBox 56"/>
            <p:cNvSpPr txBox="1"/>
            <p:nvPr/>
          </p:nvSpPr>
          <p:spPr>
            <a:xfrm>
              <a:off x="859155" y="4912042"/>
              <a:ext cx="1924526" cy="27432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b="1" dirty="0">
                  <a:solidFill>
                    <a:srgbClr val="0B4EA2"/>
                  </a:solidFill>
                  <a:latin typeface="Arial"/>
                  <a:ea typeface="Microsoft YaHei"/>
                  <a:cs typeface="Arial"/>
                </a:rPr>
                <a:t>多一个电话，省一次被骗。</a:t>
              </a:r>
            </a:p>
          </p:txBody>
        </p:sp>
      </p:grpSp>
      <p:grpSp>
        <p:nvGrpSpPr>
          <p:cNvPr id="60" name="Group 60"/>
          <p:cNvGrpSpPr/>
          <p:nvPr/>
        </p:nvGrpSpPr>
        <p:grpSpPr>
          <a:xfrm>
            <a:off x="560070" y="6341745"/>
            <a:ext cx="11071860" cy="182880"/>
            <a:chOff x="560070" y="6341745"/>
            <a:chExt cx="11071860" cy="182880"/>
          </a:xfrm>
        </p:grpSpPr>
        <p:sp>
          <p:nvSpPr>
            <p:cNvPr id="58" name="TextBox 58"/>
            <p:cNvSpPr txBox="1"/>
            <p:nvPr/>
          </p:nvSpPr>
          <p:spPr>
            <a:xfrm>
              <a:off x="560070" y="6341745"/>
              <a:ext cx="1054989" cy="18288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00" dirty="0">
                  <a:solidFill>
                    <a:srgbClr val="8B99AE"/>
                  </a:solidFill>
                  <a:latin typeface="Arial"/>
                  <a:ea typeface="Microsoft YaHei"/>
                  <a:cs typeface="Arial"/>
                </a:rPr>
                <a:t>大模型通识 · 企业版</a:t>
              </a:r>
            </a:p>
          </p:txBody>
        </p:sp>
        <p:sp>
          <p:nvSpPr>
            <p:cNvPr id="59" name="TextBox 59"/>
            <p:cNvSpPr txBox="1"/>
            <p:nvPr/>
          </p:nvSpPr>
          <p:spPr>
            <a:xfrm>
              <a:off x="11207020" y="6341745"/>
              <a:ext cx="424910" cy="18288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r"/>
              <a:r>
                <a:rPr lang="zh-CN" sz="900" dirty="0">
                  <a:solidFill>
                    <a:srgbClr val="8B99AE"/>
                  </a:solidFill>
                  <a:latin typeface="Arial"/>
                  <a:ea typeface="Microsoft YaHei"/>
                  <a:cs typeface="Arial"/>
                </a:rPr>
                <a:t>43 / 51</a:t>
              </a:r>
            </a:p>
          </p:txBody>
        </p:sp>
      </p:grpSp>
      <p:sp>
        <p:nvSpPr>
          <p:cNvPr id="11" name="Rectangle 11"/>
          <p:cNvSpPr/>
          <p:nvPr/>
        </p:nvSpPr>
        <p:spPr>
          <a:xfrm>
            <a:off x="566928" y="1618488"/>
            <a:ext cx="3566160" cy="2249424"/>
          </a:xfrm>
          <a:prstGeom prst="roundRect">
            <a:avLst>
              <a:gd name="adj" fmla="val 4324"/>
            </a:avLst>
          </a:prstGeom>
          <a:solidFill>
            <a:srgbClr val="FFFFFF"/>
          </a:solidFill>
          <a:ln w="9525">
            <a:solidFill>
              <a:srgbClr val="D8E1EC"/>
            </a:solidFill>
          </a:ln>
        </p:spPr>
        <p:txBody>
          <a:bodyPr/>
          <a:p/>
        </p:txBody>
      </p:sp>
      <p:sp>
        <p:nvSpPr>
          <p:cNvPr id="61" name="TextBox 60"/>
          <p:cNvSpPr txBox="1"/>
          <p:nvPr/>
        </p:nvSpPr>
        <p:spPr>
          <a:xfrm>
            <a:off x="786384" y="1783080"/>
            <a:ext cx="146304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</a:pPr>
            <a:r>
              <a:rPr sz="1200" b="1">
                <a:solidFill>
                  <a:srgbClr val="0B4EA2"/>
                </a:solidFill>
              </a:rPr>
              <a:t>骗局 1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786384" y="2057400"/>
            <a:ext cx="3127248" cy="31089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</a:pPr>
            <a:r>
              <a:rPr sz="1650" b="1">
                <a:solidFill>
                  <a:srgbClr val="2B3648"/>
                </a:solidFill>
              </a:rPr>
              <a:t>换声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786384" y="2441448"/>
            <a:ext cx="3127248" cy="10058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</a:pPr>
            <a:r>
              <a:rPr sz="1050" b="0">
                <a:solidFill>
                  <a:srgbClr val="5B6B82"/>
                </a:solidFill>
              </a:rPr>
              <a:t>AI 克隆家人/老板的声音打电话：「急事，先转 5 万。」声音像，不等于人是。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786384" y="3538728"/>
            <a:ext cx="3127248" cy="23774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</a:pPr>
            <a:r>
              <a:rPr sz="950" b="1">
                <a:solidFill>
                  <a:srgbClr val="0B4EA2"/>
                </a:solidFill>
              </a:rPr>
              <a:t>涉及钱 → 挂断，自己回拨</a:t>
            </a:r>
          </a:p>
        </p:txBody>
      </p:sp>
      <p:sp>
        <p:nvSpPr>
          <p:cNvPr id="11" name="Rectangle 11"/>
          <p:cNvSpPr/>
          <p:nvPr/>
        </p:nvSpPr>
        <p:spPr>
          <a:xfrm>
            <a:off x="4297680" y="1618488"/>
            <a:ext cx="3566160" cy="2249424"/>
          </a:xfrm>
          <a:prstGeom prst="roundRect">
            <a:avLst>
              <a:gd name="adj" fmla="val 4324"/>
            </a:avLst>
          </a:prstGeom>
          <a:solidFill>
            <a:srgbClr val="FFFFFF"/>
          </a:solidFill>
          <a:ln w="9525">
            <a:solidFill>
              <a:srgbClr val="D8E1EC"/>
            </a:solidFill>
          </a:ln>
        </p:spPr>
        <p:txBody>
          <a:bodyPr/>
          <a:p/>
        </p:txBody>
      </p:sp>
      <p:sp>
        <p:nvSpPr>
          <p:cNvPr id="65" name="TextBox 64"/>
          <p:cNvSpPr txBox="1"/>
          <p:nvPr/>
        </p:nvSpPr>
        <p:spPr>
          <a:xfrm>
            <a:off x="4517136" y="1783080"/>
            <a:ext cx="146304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</a:pPr>
            <a:r>
              <a:rPr sz="1200" b="1">
                <a:solidFill>
                  <a:srgbClr val="0B4EA2"/>
                </a:solidFill>
              </a:rPr>
              <a:t>骗局 2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517136" y="2057400"/>
            <a:ext cx="3127248" cy="31089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</a:pPr>
            <a:r>
              <a:rPr sz="1650" b="1">
                <a:solidFill>
                  <a:srgbClr val="2B3648"/>
                </a:solidFill>
              </a:rPr>
              <a:t>换脸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4517136" y="2441448"/>
            <a:ext cx="3127248" cy="10058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</a:pPr>
            <a:r>
              <a:rPr sz="1050" b="0">
                <a:solidFill>
                  <a:srgbClr val="5B6B82"/>
                </a:solidFill>
              </a:rPr>
              <a:t>视频里「老板的脸」让你转账、开权限、发文件。脸能换、声音能合成。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4517136" y="3538728"/>
            <a:ext cx="3127248" cy="23774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</a:pPr>
            <a:r>
              <a:rPr sz="950" b="1">
                <a:solidFill>
                  <a:srgbClr val="0B4EA2"/>
                </a:solidFill>
              </a:rPr>
              <a:t>眼见为实，已经过时了</a:t>
            </a:r>
          </a:p>
        </p:txBody>
      </p:sp>
      <p:sp>
        <p:nvSpPr>
          <p:cNvPr id="11" name="Rectangle 11"/>
          <p:cNvSpPr/>
          <p:nvPr/>
        </p:nvSpPr>
        <p:spPr>
          <a:xfrm>
            <a:off x="8028431" y="1618488"/>
            <a:ext cx="3566160" cy="2249424"/>
          </a:xfrm>
          <a:prstGeom prst="roundRect">
            <a:avLst>
              <a:gd name="adj" fmla="val 4324"/>
            </a:avLst>
          </a:prstGeom>
          <a:solidFill>
            <a:srgbClr val="FFFFFF"/>
          </a:solidFill>
          <a:ln w="9525">
            <a:solidFill>
              <a:srgbClr val="D8E1EC"/>
            </a:solidFill>
          </a:ln>
        </p:spPr>
        <p:txBody>
          <a:bodyPr/>
          <a:p/>
        </p:txBody>
      </p:sp>
      <p:sp>
        <p:nvSpPr>
          <p:cNvPr id="69" name="TextBox 68"/>
          <p:cNvSpPr txBox="1"/>
          <p:nvPr/>
        </p:nvSpPr>
        <p:spPr>
          <a:xfrm>
            <a:off x="8247888" y="1783080"/>
            <a:ext cx="146304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</a:pPr>
            <a:r>
              <a:rPr sz="1200" b="1">
                <a:solidFill>
                  <a:srgbClr val="0B4EA2"/>
                </a:solidFill>
              </a:rPr>
              <a:t>骗局 3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8247888" y="2057400"/>
            <a:ext cx="3127248" cy="31089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</a:pPr>
            <a:r>
              <a:rPr sz="1650" b="1">
                <a:solidFill>
                  <a:srgbClr val="2B3648"/>
                </a:solidFill>
              </a:rPr>
              <a:t>钓鱼信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8247888" y="2441448"/>
            <a:ext cx="3127248" cy="10058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</a:pPr>
            <a:r>
              <a:rPr sz="1050" b="0">
                <a:solidFill>
                  <a:srgbClr val="5B6B82"/>
                </a:solidFill>
              </a:rPr>
              <a:t>AI 写的假通知、假链接：通顺、专业、像真的，就等你点。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247888" y="3538728"/>
            <a:ext cx="3127248" cy="23774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</a:pPr>
            <a:r>
              <a:rPr sz="950" b="1">
                <a:solidFill>
                  <a:srgbClr val="0B4EA2"/>
                </a:solidFill>
              </a:rPr>
              <a:t>越「像真的」，越要慢一步</a:t>
            </a:r>
          </a:p>
        </p:txBody>
      </p:sp>
      <p:sp>
        <p:nvSpPr>
          <p:cNvPr id="11" name="Rectangle 11"/>
          <p:cNvSpPr/>
          <p:nvPr/>
        </p:nvSpPr>
        <p:spPr>
          <a:xfrm>
            <a:off x="566928" y="4014216"/>
            <a:ext cx="3566160" cy="2249424"/>
          </a:xfrm>
          <a:prstGeom prst="roundRect">
            <a:avLst>
              <a:gd name="adj" fmla="val 4324"/>
            </a:avLst>
          </a:prstGeom>
          <a:solidFill>
            <a:srgbClr val="FFFFFF"/>
          </a:solidFill>
          <a:ln w="9525">
            <a:solidFill>
              <a:srgbClr val="D8E1EC"/>
            </a:solidFill>
          </a:ln>
        </p:spPr>
        <p:txBody>
          <a:bodyPr/>
          <a:p/>
        </p:txBody>
      </p:sp>
      <p:sp>
        <p:nvSpPr>
          <p:cNvPr id="73" name="TextBox 72"/>
          <p:cNvSpPr txBox="1"/>
          <p:nvPr/>
        </p:nvSpPr>
        <p:spPr>
          <a:xfrm>
            <a:off x="786384" y="4178808"/>
            <a:ext cx="146304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</a:pPr>
            <a:r>
              <a:rPr sz="1200" b="1">
                <a:solidFill>
                  <a:srgbClr val="0B4EA2"/>
                </a:solidFill>
              </a:rPr>
              <a:t>防线 1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786384" y="4453128"/>
            <a:ext cx="3127248" cy="31089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</a:pPr>
            <a:r>
              <a:rPr sz="1650" b="1">
                <a:solidFill>
                  <a:srgbClr val="2B3648"/>
                </a:solidFill>
              </a:rPr>
              <a:t>第二渠道核实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786384" y="4837176"/>
            <a:ext cx="3127248" cy="10058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</a:pPr>
            <a:r>
              <a:rPr sz="1050" b="0">
                <a:solidFill>
                  <a:srgbClr val="5B6B82"/>
                </a:solidFill>
              </a:rPr>
              <a:t>涉钱涉密，先换一条渠道核实：打电话、当面问。一条消息不算数。</a:t>
            </a:r>
          </a:p>
        </p:txBody>
      </p:sp>
      <p:sp>
        <p:nvSpPr>
          <p:cNvPr id="76" name="TextBox 75"/>
          <p:cNvSpPr txBox="1"/>
          <p:nvPr/>
        </p:nvSpPr>
        <p:spPr>
          <a:xfrm>
            <a:off x="786384" y="5934456"/>
            <a:ext cx="3127248" cy="23774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</a:pPr>
            <a:r>
              <a:rPr sz="950" b="1">
                <a:solidFill>
                  <a:srgbClr val="0B4EA2"/>
                </a:solidFill>
              </a:rPr>
              <a:t>多一个电话，省一次被骗</a:t>
            </a:r>
          </a:p>
        </p:txBody>
      </p:sp>
      <p:sp>
        <p:nvSpPr>
          <p:cNvPr id="11" name="Rectangle 11"/>
          <p:cNvSpPr/>
          <p:nvPr/>
        </p:nvSpPr>
        <p:spPr>
          <a:xfrm>
            <a:off x="4297680" y="4014216"/>
            <a:ext cx="3566160" cy="2249424"/>
          </a:xfrm>
          <a:prstGeom prst="roundRect">
            <a:avLst>
              <a:gd name="adj" fmla="val 4324"/>
            </a:avLst>
          </a:prstGeom>
          <a:solidFill>
            <a:srgbClr val="FFFFFF"/>
          </a:solidFill>
          <a:ln w="9525">
            <a:solidFill>
              <a:srgbClr val="D8E1EC"/>
            </a:solidFill>
          </a:ln>
        </p:spPr>
        <p:txBody>
          <a:bodyPr/>
          <a:p/>
        </p:txBody>
      </p:sp>
      <p:sp>
        <p:nvSpPr>
          <p:cNvPr id="77" name="TextBox 76"/>
          <p:cNvSpPr txBox="1"/>
          <p:nvPr/>
        </p:nvSpPr>
        <p:spPr>
          <a:xfrm>
            <a:off x="4517136" y="4178808"/>
            <a:ext cx="146304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</a:pPr>
            <a:r>
              <a:rPr sz="1200" b="1">
                <a:solidFill>
                  <a:srgbClr val="0B4EA2"/>
                </a:solidFill>
              </a:rPr>
              <a:t>防线 2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4517136" y="4453128"/>
            <a:ext cx="3127248" cy="31089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</a:pPr>
            <a:r>
              <a:rPr sz="1650" b="1">
                <a:solidFill>
                  <a:srgbClr val="2B3648"/>
                </a:solidFill>
              </a:rPr>
              <a:t>验证码绝不给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4517136" y="4837176"/>
            <a:ext cx="3127248" cy="10058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</a:pPr>
            <a:r>
              <a:rPr sz="1050" b="0">
                <a:solidFill>
                  <a:srgbClr val="5B6B82"/>
                </a:solidFill>
              </a:rPr>
              <a:t>密码、验证码、证件号、付款码——绝不发给 AI、也不发给「客服」。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4517136" y="5934456"/>
            <a:ext cx="3127248" cy="23774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</a:pPr>
            <a:r>
              <a:rPr sz="950" b="1">
                <a:solidFill>
                  <a:srgbClr val="0B4EA2"/>
                </a:solidFill>
              </a:rPr>
              <a:t>验证码 = 银行卡密码</a:t>
            </a:r>
          </a:p>
        </p:txBody>
      </p:sp>
      <p:sp>
        <p:nvSpPr>
          <p:cNvPr id="11" name="Rectangle 11"/>
          <p:cNvSpPr/>
          <p:nvPr/>
        </p:nvSpPr>
        <p:spPr>
          <a:xfrm>
            <a:off x="8028431" y="4014216"/>
            <a:ext cx="3566160" cy="2249424"/>
          </a:xfrm>
          <a:prstGeom prst="roundRect">
            <a:avLst>
              <a:gd name="adj" fmla="val 4324"/>
            </a:avLst>
          </a:prstGeom>
          <a:solidFill>
            <a:srgbClr val="FFFFFF"/>
          </a:solidFill>
          <a:ln w="9525">
            <a:solidFill>
              <a:srgbClr val="D8E1EC"/>
            </a:solidFill>
          </a:ln>
        </p:spPr>
        <p:txBody>
          <a:bodyPr/>
          <a:p/>
        </p:txBody>
      </p:sp>
      <p:sp>
        <p:nvSpPr>
          <p:cNvPr id="81" name="TextBox 80"/>
          <p:cNvSpPr txBox="1"/>
          <p:nvPr/>
        </p:nvSpPr>
        <p:spPr>
          <a:xfrm>
            <a:off x="8247888" y="4178808"/>
            <a:ext cx="146304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</a:pPr>
            <a:r>
              <a:rPr sz="1200" b="1">
                <a:solidFill>
                  <a:srgbClr val="0B4EA2"/>
                </a:solidFill>
              </a:rPr>
              <a:t>防线 3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8247888" y="4453128"/>
            <a:ext cx="3127248" cy="31089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</a:pPr>
            <a:r>
              <a:rPr sz="1650" b="1">
                <a:solidFill>
                  <a:srgbClr val="2B3648"/>
                </a:solidFill>
              </a:rPr>
              <a:t>可疑链接不点</a:t>
            </a:r>
          </a:p>
        </p:txBody>
      </p:sp>
      <p:sp>
        <p:nvSpPr>
          <p:cNvPr id="83" name="TextBox 82"/>
          <p:cNvSpPr txBox="1"/>
          <p:nvPr/>
        </p:nvSpPr>
        <p:spPr>
          <a:xfrm>
            <a:off x="8247888" y="4837176"/>
            <a:ext cx="3127248" cy="10058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</a:pPr>
            <a:r>
              <a:rPr sz="1050" b="0">
                <a:solidFill>
                  <a:srgbClr val="5B6B82"/>
                </a:solidFill>
              </a:rPr>
              <a:t>陌生消息/转发来的链接不点；要办事，自己输入官网地址。</a:t>
            </a:r>
          </a:p>
        </p:txBody>
      </p:sp>
      <p:sp>
        <p:nvSpPr>
          <p:cNvPr id="84" name="TextBox 83"/>
          <p:cNvSpPr txBox="1"/>
          <p:nvPr/>
        </p:nvSpPr>
        <p:spPr>
          <a:xfrm>
            <a:off x="8247888" y="5934456"/>
            <a:ext cx="3127248" cy="23774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</a:pPr>
            <a:r>
              <a:rPr sz="950" b="1">
                <a:solidFill>
                  <a:srgbClr val="0B4EA2"/>
                </a:solidFill>
              </a:rPr>
              <a:t>点之前问：链接哪来的？</a:t>
            </a:r>
          </a:p>
        </p:txBody>
      </p:sp>
      <p:sp>
        <p:nvSpPr>
          <p:cNvPr id="85" name="Rectangle 84"/>
          <p:cNvSpPr/>
          <p:nvPr/>
        </p:nvSpPr>
        <p:spPr>
          <a:xfrm>
            <a:off x="566928" y="685800"/>
            <a:ext cx="73152" cy="320040"/>
          </a:xfrm>
          <a:prstGeom prst="rect">
            <a:avLst/>
          </a:prstGeom>
          <a:solidFill>
            <a:srgbClr val="0B4EA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6" name="TextBox 85"/>
          <p:cNvSpPr txBox="1"/>
          <p:nvPr/>
        </p:nvSpPr>
        <p:spPr>
          <a:xfrm>
            <a:off x="768096" y="704088"/>
            <a:ext cx="548640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2250" b="1">
                <a:solidFill>
                  <a:srgbClr val="2B3648"/>
                </a:solidFill>
              </a:rPr>
              <a:t>AI 也能骗你：3 种骗局 · 3 条防线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786384" y="1115568"/>
            <a:ext cx="82296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350" b="0">
                <a:solidFill>
                  <a:srgbClr val="5B6B82"/>
                </a:solidFill>
              </a:rPr>
              <a:t>声音能克隆、脸能换、信能写得像人话——会防，就比大多数人安全</a:t>
            </a:r>
          </a:p>
        </p:txBody>
      </p:sp>
    </p:spTree>
  </p:cSld>
  <p:clrMapOvr>
    <a:masterClrMapping/>
  </p:clrMapOvr>
</p:sld>
</file>

<file path=ppt/slides/slide4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grpSp>
        <p:nvGrpSpPr>
          <p:cNvPr id="5" name="Group 5"/>
          <p:cNvGrpSpPr/>
          <p:nvPr/>
        </p:nvGrpSpPr>
        <p:grpSpPr>
          <a:xfrm>
            <a:off x="-1619250" y="0"/>
            <a:ext cx="13811250" cy="8477250"/>
            <a:chOff x="-1619250" y="0"/>
            <a:chExt cx="13811250" cy="8477250"/>
          </a:xfrm>
        </p:grpSpPr>
        <p:sp>
          <p:nvSpPr>
            <p:cNvPr id="2" name="Rectangle 2"/>
            <p:cNvSpPr/>
            <p:nvPr/>
          </p:nvSpPr>
          <p:spPr>
            <a:xfrm>
              <a:off x="0" y="0"/>
              <a:ext cx="12192000" cy="6858000"/>
            </a:xfrm>
            <a:prstGeom prst="rect">
              <a:avLst/>
            </a:prstGeom>
            <a:solidFill>
              <a:srgbClr val="F5F7FA"/>
            </a:solidFill>
            <a:ln>
              <a:noFill/>
            </a:ln>
          </p:spPr>
          <p:txBody>
            <a:bodyPr/>
            <a:p/>
          </p:txBody>
        </p:sp>
        <p:sp>
          <p:nvSpPr>
            <p:cNvPr id="3" name="Rectangle 3"/>
            <p:cNvSpPr/>
            <p:nvPr/>
          </p:nvSpPr>
          <p:spPr>
            <a:xfrm>
              <a:off x="0" y="0"/>
              <a:ext cx="12192000" cy="6858000"/>
            </a:xfrm>
            <a:prstGeom prst="rect">
              <a:avLst/>
            </a:prstGeom>
            <a:gradFill>
              <a:gsLst>
                <a:gs pos="0">
                  <a:srgbClr val="1565D8">
                    <a:alpha val="6000"/>
                  </a:srgbClr>
                </a:gs>
                <a:gs pos="100000">
                  <a:srgbClr val="1565D8">
                    <a:alpha val="0"/>
                  </a:srgbClr>
                </a:gs>
              </a:gsLst>
              <a:path path="circle">
                <a:fillToRect l="50000" t="50000" r="50000" b="50000"/>
              </a:path>
            </a:gradFill>
            <a:ln>
              <a:noFill/>
            </a:ln>
          </p:spPr>
          <p:txBody>
            <a:bodyPr/>
            <a:p/>
          </p:txBody>
        </p:sp>
        <p:sp>
          <p:nvSpPr>
            <p:cNvPr id="4" name="Ellipse 4"/>
            <p:cNvSpPr/>
            <p:nvPr/>
          </p:nvSpPr>
          <p:spPr>
            <a:xfrm>
              <a:off x="-1619250" y="4667250"/>
              <a:ext cx="3810000" cy="3810000"/>
            </a:xfrm>
            <a:prstGeom prst="ellipse">
              <a:avLst/>
            </a:prstGeom>
            <a:noFill/>
            <a:ln w="14288">
              <a:solidFill>
                <a:srgbClr val="D6E6F9">
                  <a:alpha val="80000"/>
                </a:srgbClr>
              </a:solidFill>
            </a:ln>
          </p:spPr>
          <p:txBody>
            <a:bodyPr/>
            <a:p/>
          </p:txBody>
        </p:sp>
      </p:grpSp>
      <p:grpSp>
        <p:nvGrpSpPr>
          <p:cNvPr id="9" name="Group 9"/>
          <p:cNvGrpSpPr/>
          <p:nvPr/>
        </p:nvGrpSpPr>
        <p:grpSpPr>
          <a:xfrm>
            <a:off x="571500" y="685800"/>
            <a:ext cx="4818317" cy="700088"/>
            <a:chOff x="571500" y="685800"/>
            <a:chExt cx="4818317" cy="700088"/>
          </a:xfrm>
        </p:grpSpPr>
        <p:sp>
          <p:nvSpPr>
            <p:cNvPr id="6" name="Rectangle 6"/>
            <p:cNvSpPr/>
            <p:nvPr/>
          </p:nvSpPr>
          <p:spPr>
            <a:xfrm>
              <a:off x="571500" y="685800"/>
              <a:ext cx="76200" cy="323850"/>
            </a:xfrm>
            <a:prstGeom prst="roundRect">
              <a:avLst>
                <a:gd name="adj" fmla="val 50000"/>
              </a:avLst>
            </a:prstGeom>
            <a:solidFill>
              <a:srgbClr val="1565D8"/>
            </a:solidFill>
            <a:ln>
              <a:noFill/>
            </a:ln>
          </p:spPr>
          <p:txBody>
            <a:bodyPr/>
            <a:p/>
          </p:txBody>
        </p:sp>
        <p:sp>
          <p:nvSpPr>
            <p:cNvPr id="7" name="TextBox 7"/>
            <p:cNvSpPr txBox="1"/>
            <p:nvPr/>
          </p:nvSpPr>
          <p:spPr>
            <a:xfrm>
              <a:off x="771525" y="700088"/>
              <a:ext cx="1994642" cy="45720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2250" b="1" dirty="0">
                  <a:solidFill>
                    <a:srgbClr val="2B3648"/>
                  </a:solidFill>
                  <a:latin typeface="Arial"/>
                  <a:ea typeface="Microsoft YaHei"/>
                  <a:cs typeface="Arial"/>
                </a:rPr>
                <a:t>验证四步：AI 输出怎么查</a:t>
              </a:r>
            </a:p>
          </p:txBody>
        </p:sp>
        <p:sp>
          <p:nvSpPr>
            <p:cNvPr id="8" name="TextBox 8"/>
            <p:cNvSpPr txBox="1"/>
            <p:nvPr/>
          </p:nvSpPr>
          <p:spPr>
            <a:xfrm>
              <a:off x="782955" y="1111568"/>
              <a:ext cx="4606862" cy="27432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5B6B82"/>
                  </a:solidFill>
                  <a:latin typeface="Arial"/>
                  <a:ea typeface="Microsoft YaHei"/>
                  <a:cs typeface="Arial"/>
                </a:rPr>
                <a:t>AI 会编，这堂课就教四步——每份 AI 输出都过一遍</a:t>
              </a:r>
            </a:p>
          </p:txBody>
        </p:sp>
      </p:grpSp>
      <p:grpSp>
        <p:nvGrpSpPr>
          <p:cNvPr id="53" name="Group 53"/>
          <p:cNvGrpSpPr/>
          <p:nvPr/>
        </p:nvGrpSpPr>
        <p:grpSpPr>
          <a:xfrm>
            <a:off x="571500" y="1714500"/>
            <a:ext cx="11029950" cy="2667000"/>
            <a:chOff x="571500" y="1714500"/>
            <a:chExt cx="11029950" cy="2667000"/>
          </a:xfrm>
        </p:grpSpPr>
        <p:grpSp>
          <p:nvGrpSpPr>
            <p:cNvPr id="19" name="Group 19"/>
            <p:cNvGrpSpPr/>
            <p:nvPr/>
          </p:nvGrpSpPr>
          <p:grpSpPr>
            <a:xfrm>
              <a:off x="571500" y="1714500"/>
              <a:ext cx="2600325" cy="2667000"/>
              <a:chOff x="571500" y="1714500"/>
              <a:chExt cx="2600325" cy="2667000"/>
            </a:xfrm>
          </p:grpSpPr>
          <p:sp>
            <p:nvSpPr>
              <p:cNvPr id="10" name="Rectangle 10"/>
              <p:cNvSpPr/>
              <p:nvPr/>
            </p:nvSpPr>
            <p:spPr>
              <a:xfrm>
                <a:off x="571500" y="1714500"/>
                <a:ext cx="2600325" cy="2667000"/>
              </a:xfrm>
              <a:prstGeom prst="roundRect">
                <a:avLst>
                  <a:gd name="adj" fmla="val 5861"/>
                </a:avLst>
              </a:prstGeom>
              <a:solidFill>
                <a:srgbClr val="FFFFFF"/>
              </a:solidFill>
              <a:ln w="9525">
                <a:solidFill>
                  <a:srgbClr val="D8E1EC"/>
                </a:solidFill>
              </a:ln>
            </p:spPr>
            <p:txBody>
              <a:bodyPr/>
              <a:p/>
            </p:txBody>
          </p:sp>
          <p:sp>
            <p:nvSpPr>
              <p:cNvPr id="11" name="Ellipse 11"/>
              <p:cNvSpPr/>
              <p:nvPr/>
            </p:nvSpPr>
            <p:spPr>
              <a:xfrm>
                <a:off x="1619250" y="2019300"/>
                <a:ext cx="495300" cy="495300"/>
              </a:xfrm>
              <a:prstGeom prst="ellipse">
                <a:avLst/>
              </a:prstGeom>
              <a:solidFill>
                <a:srgbClr val="E9EEF5"/>
              </a:solidFill>
              <a:ln>
                <a:noFill/>
              </a:ln>
            </p:spPr>
            <p:txBody>
              <a:bodyPr/>
              <a:p/>
            </p:txBody>
          </p:sp>
          <p:grpSp>
            <p:nvGrpSpPr>
              <p:cNvPr id="15" name="Group 15"/>
              <p:cNvGrpSpPr/>
              <p:nvPr/>
            </p:nvGrpSpPr>
            <p:grpSpPr>
              <a:xfrm>
                <a:off x="1766888" y="2166938"/>
                <a:ext cx="200025" cy="200025"/>
                <a:chOff x="1766888" y="2166938"/>
                <a:chExt cx="200025" cy="200025"/>
              </a:xfrm>
            </p:grpSpPr>
            <p:sp>
              <p:nvSpPr>
                <p:cNvPr id="12" name="Freeform 12"/>
                <p:cNvSpPr/>
                <p:nvPr/>
              </p:nvSpPr>
              <p:spPr>
                <a:xfrm>
                  <a:off x="1766888" y="2166938"/>
                  <a:ext cx="200025" cy="200025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200025" h="200025">
                      <a:moveTo>
                        <a:pt x="0" y="100012"/>
                      </a:moveTo>
                      <a:cubicBezTo>
                        <a:pt x="0" y="155248"/>
                        <a:pt x="44777" y="200025"/>
                        <a:pt x="100012" y="200025"/>
                      </a:cubicBezTo>
                      <a:cubicBezTo>
                        <a:pt x="155248" y="200025"/>
                        <a:pt x="200025" y="155248"/>
                        <a:pt x="200025" y="100012"/>
                      </a:cubicBezTo>
                      <a:cubicBezTo>
                        <a:pt x="200025" y="44777"/>
                        <a:pt x="155248" y="0"/>
                        <a:pt x="100012" y="0"/>
                      </a:cubicBezTo>
                      <a:cubicBezTo>
                        <a:pt x="44777" y="0"/>
                        <a:pt x="0" y="44777"/>
                        <a:pt x="0" y="100012"/>
                      </a:cubicBezTo>
                    </a:path>
                  </a:pathLst>
                </a:custGeom>
                <a:noFill/>
                <a:ln w="19050">
                  <a:solidFill>
                    <a:srgbClr val="D64545"/>
                  </a:solidFill>
                </a:ln>
              </p:spPr>
              <p:txBody>
                <a:bodyPr/>
                <a:p/>
              </p:txBody>
            </p:sp>
            <p:sp>
              <p:nvSpPr>
                <p:cNvPr id="13" name="Freeform 13"/>
                <p:cNvSpPr/>
                <p:nvPr/>
              </p:nvSpPr>
              <p:spPr>
                <a:xfrm>
                  <a:off x="1866900" y="2222500"/>
                  <a:ext cx="9525" cy="44450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9525" h="44450">
                      <a:moveTo>
                        <a:pt x="0" y="0"/>
                      </a:moveTo>
                      <a:lnTo>
                        <a:pt x="0" y="44450"/>
                      </a:lnTo>
                    </a:path>
                  </a:pathLst>
                </a:custGeom>
                <a:noFill/>
                <a:ln w="19050">
                  <a:solidFill>
                    <a:srgbClr val="D64545"/>
                  </a:solidFill>
                </a:ln>
              </p:spPr>
              <p:txBody>
                <a:bodyPr/>
                <a:p/>
              </p:txBody>
            </p:sp>
            <p:sp>
              <p:nvSpPr>
                <p:cNvPr id="14" name="Freeform 14"/>
                <p:cNvSpPr/>
                <p:nvPr/>
              </p:nvSpPr>
              <p:spPr>
                <a:xfrm>
                  <a:off x="1866900" y="2311400"/>
                  <a:ext cx="9525" cy="9525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9525" h="9525">
                      <a:moveTo>
                        <a:pt x="0" y="0"/>
                      </a:moveTo>
                      <a:lnTo>
                        <a:pt x="111" y="0"/>
                      </a:lnTo>
                    </a:path>
                  </a:pathLst>
                </a:custGeom>
                <a:noFill/>
                <a:ln w="19050">
                  <a:solidFill>
                    <a:srgbClr val="D64545"/>
                  </a:solidFill>
                </a:ln>
              </p:spPr>
              <p:txBody>
                <a:bodyPr/>
                <a:p/>
              </p:txBody>
            </p:sp>
          </p:grpSp>
          <p:sp>
            <p:nvSpPr>
              <p:cNvPr id="16" name="TextBox 16"/>
              <p:cNvSpPr txBox="1"/>
              <p:nvPr/>
            </p:nvSpPr>
            <p:spPr>
              <a:xfrm>
                <a:off x="1614916" y="2736532"/>
                <a:ext cx="503968" cy="33528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ctr"/>
                <a:r>
                  <a:rPr sz="1650" b="1">
                    <a:solidFill>
                      <a:srgbClr val="2B3648"/>
                    </a:solidFill>
                  </a:rPr>
                  <a:t>① 查数据</a:t>
                </a:r>
              </a:p>
            </p:txBody>
          </p:sp>
          <p:sp>
            <p:nvSpPr>
              <p:cNvPr id="17" name="TextBox 17"/>
              <p:cNvSpPr txBox="1"/>
              <p:nvPr/>
            </p:nvSpPr>
            <p:spPr>
              <a:xfrm>
                <a:off x="1363504" y="3239452"/>
                <a:ext cx="1006792" cy="21336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ctr"/>
                <a:r>
                  <a:rPr sz="1050" b="0">
                    <a:solidFill>
                      <a:srgbClr val="5B6B82"/>
                    </a:solidFill>
                  </a:rPr>
                  <a:t>有没有编出来的数字、日期、</a:t>
                </a:r>
              </a:p>
            </p:txBody>
          </p:sp>
          <p:sp>
            <p:nvSpPr>
              <p:cNvPr id="18" name="TextBox 18"/>
              <p:cNvSpPr txBox="1"/>
              <p:nvPr/>
            </p:nvSpPr>
            <p:spPr>
              <a:xfrm>
                <a:off x="1573530" y="3468052"/>
                <a:ext cx="586740" cy="21336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ctr"/>
                <a:r>
                  <a:rPr sz="1050" b="0">
                    <a:solidFill>
                      <a:srgbClr val="5B6B82"/>
                    </a:solidFill>
                  </a:rPr>
                  <a:t>引用？有，删掉或标出来。</a:t>
                </a:r>
              </a:p>
            </p:txBody>
          </p:sp>
        </p:grpSp>
        <p:grpSp>
          <p:nvGrpSpPr>
            <p:cNvPr id="31" name="Group 31"/>
            <p:cNvGrpSpPr/>
            <p:nvPr/>
          </p:nvGrpSpPr>
          <p:grpSpPr>
            <a:xfrm>
              <a:off x="3381375" y="1714500"/>
              <a:ext cx="2600325" cy="2667000"/>
              <a:chOff x="3381375" y="1714500"/>
              <a:chExt cx="2600325" cy="2667000"/>
            </a:xfrm>
          </p:grpSpPr>
          <p:sp>
            <p:nvSpPr>
              <p:cNvPr id="20" name="Rectangle 20"/>
              <p:cNvSpPr/>
              <p:nvPr/>
            </p:nvSpPr>
            <p:spPr>
              <a:xfrm>
                <a:off x="3381375" y="1714500"/>
                <a:ext cx="2600325" cy="2667000"/>
              </a:xfrm>
              <a:prstGeom prst="roundRect">
                <a:avLst>
                  <a:gd name="adj" fmla="val 5861"/>
                </a:avLst>
              </a:prstGeom>
              <a:solidFill>
                <a:srgbClr val="FFFFFF"/>
              </a:solidFill>
              <a:ln w="9525">
                <a:solidFill>
                  <a:srgbClr val="D8E1EC"/>
                </a:solidFill>
              </a:ln>
            </p:spPr>
            <p:txBody>
              <a:bodyPr/>
              <a:p/>
            </p:txBody>
          </p:sp>
          <p:sp>
            <p:nvSpPr>
              <p:cNvPr id="21" name="Ellipse 21"/>
              <p:cNvSpPr/>
              <p:nvPr/>
            </p:nvSpPr>
            <p:spPr>
              <a:xfrm>
                <a:off x="4429125" y="2019300"/>
                <a:ext cx="495300" cy="495300"/>
              </a:xfrm>
              <a:prstGeom prst="ellipse">
                <a:avLst/>
              </a:prstGeom>
              <a:solidFill>
                <a:srgbClr val="E9EEF5"/>
              </a:solidFill>
              <a:ln>
                <a:noFill/>
              </a:ln>
            </p:spPr>
            <p:txBody>
              <a:bodyPr/>
              <a:p/>
            </p:txBody>
          </p:sp>
          <p:grpSp>
            <p:nvGrpSpPr>
              <p:cNvPr id="27" name="Group 27"/>
              <p:cNvGrpSpPr/>
              <p:nvPr/>
            </p:nvGrpSpPr>
            <p:grpSpPr>
              <a:xfrm>
                <a:off x="4576762" y="2166938"/>
                <a:ext cx="200025" cy="198437"/>
                <a:chOff x="4576762" y="2166938"/>
                <a:chExt cx="200025" cy="198437"/>
              </a:xfrm>
            </p:grpSpPr>
            <p:sp>
              <p:nvSpPr>
                <p:cNvPr id="22" name="Freeform 22"/>
                <p:cNvSpPr/>
                <p:nvPr/>
              </p:nvSpPr>
              <p:spPr>
                <a:xfrm>
                  <a:off x="4621212" y="2355850"/>
                  <a:ext cx="111125" cy="9525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111125" h="9525">
                      <a:moveTo>
                        <a:pt x="0" y="0"/>
                      </a:moveTo>
                      <a:lnTo>
                        <a:pt x="111125" y="0"/>
                      </a:lnTo>
                    </a:path>
                  </a:pathLst>
                </a:custGeom>
                <a:noFill/>
                <a:ln w="19050">
                  <a:solidFill>
                    <a:srgbClr val="D64545"/>
                  </a:solidFill>
                </a:ln>
              </p:spPr>
              <p:txBody>
                <a:bodyPr/>
                <a:p/>
              </p:txBody>
            </p:sp>
            <p:sp>
              <p:nvSpPr>
                <p:cNvPr id="23" name="Freeform 23"/>
                <p:cNvSpPr/>
                <p:nvPr/>
              </p:nvSpPr>
              <p:spPr>
                <a:xfrm>
                  <a:off x="4610100" y="2189162"/>
                  <a:ext cx="133350" cy="11112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133350" h="11112">
                      <a:moveTo>
                        <a:pt x="0" y="11112"/>
                      </a:moveTo>
                      <a:lnTo>
                        <a:pt x="66675" y="0"/>
                      </a:lnTo>
                      <a:lnTo>
                        <a:pt x="133350" y="11112"/>
                      </a:lnTo>
                    </a:path>
                  </a:pathLst>
                </a:custGeom>
                <a:noFill/>
                <a:ln w="19050">
                  <a:solidFill>
                    <a:srgbClr val="D64545"/>
                  </a:solidFill>
                </a:ln>
              </p:spPr>
              <p:txBody>
                <a:bodyPr/>
                <a:p/>
              </p:txBody>
            </p:sp>
            <p:sp>
              <p:nvSpPr>
                <p:cNvPr id="24" name="Freeform 24"/>
                <p:cNvSpPr/>
                <p:nvPr/>
              </p:nvSpPr>
              <p:spPr>
                <a:xfrm>
                  <a:off x="4676775" y="2166938"/>
                  <a:ext cx="9525" cy="188913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9525" h="188913">
                      <a:moveTo>
                        <a:pt x="0" y="0"/>
                      </a:moveTo>
                      <a:lnTo>
                        <a:pt x="0" y="188913"/>
                      </a:lnTo>
                    </a:path>
                  </a:pathLst>
                </a:custGeom>
                <a:noFill/>
                <a:ln w="19050">
                  <a:solidFill>
                    <a:srgbClr val="D64545"/>
                  </a:solidFill>
                </a:ln>
              </p:spPr>
              <p:txBody>
                <a:bodyPr/>
                <a:p/>
              </p:txBody>
            </p:sp>
            <p:sp>
              <p:nvSpPr>
                <p:cNvPr id="25" name="Freeform 25"/>
                <p:cNvSpPr/>
                <p:nvPr/>
              </p:nvSpPr>
              <p:spPr>
                <a:xfrm>
                  <a:off x="4576762" y="2200275"/>
                  <a:ext cx="66675" cy="100012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66675" h="100012">
                      <a:moveTo>
                        <a:pt x="66675" y="66675"/>
                      </a:moveTo>
                      <a:lnTo>
                        <a:pt x="33338" y="0"/>
                      </a:lnTo>
                      <a:lnTo>
                        <a:pt x="0" y="66675"/>
                      </a:lnTo>
                      <a:cubicBezTo>
                        <a:pt x="0" y="85087"/>
                        <a:pt x="14926" y="100012"/>
                        <a:pt x="33338" y="100012"/>
                      </a:cubicBezTo>
                      <a:cubicBezTo>
                        <a:pt x="51749" y="100012"/>
                        <a:pt x="66675" y="85087"/>
                        <a:pt x="66675" y="66675"/>
                      </a:cubicBezTo>
                    </a:path>
                  </a:pathLst>
                </a:custGeom>
                <a:noFill/>
                <a:ln w="19050">
                  <a:solidFill>
                    <a:srgbClr val="D64545"/>
                  </a:solidFill>
                </a:ln>
              </p:spPr>
              <p:txBody>
                <a:bodyPr/>
                <a:p/>
              </p:txBody>
            </p:sp>
            <p:sp>
              <p:nvSpPr>
                <p:cNvPr id="26" name="Freeform 26"/>
                <p:cNvSpPr/>
                <p:nvPr/>
              </p:nvSpPr>
              <p:spPr>
                <a:xfrm>
                  <a:off x="4710112" y="2200275"/>
                  <a:ext cx="66675" cy="100012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66675" h="100012">
                      <a:moveTo>
                        <a:pt x="66675" y="66675"/>
                      </a:moveTo>
                      <a:lnTo>
                        <a:pt x="33338" y="0"/>
                      </a:lnTo>
                      <a:lnTo>
                        <a:pt x="0" y="66675"/>
                      </a:lnTo>
                      <a:cubicBezTo>
                        <a:pt x="0" y="85087"/>
                        <a:pt x="14926" y="100012"/>
                        <a:pt x="33338" y="100012"/>
                      </a:cubicBezTo>
                      <a:cubicBezTo>
                        <a:pt x="51749" y="100012"/>
                        <a:pt x="66675" y="85087"/>
                        <a:pt x="66675" y="66675"/>
                      </a:cubicBezTo>
                    </a:path>
                  </a:pathLst>
                </a:custGeom>
                <a:noFill/>
                <a:ln w="19050">
                  <a:solidFill>
                    <a:srgbClr val="D64545"/>
                  </a:solidFill>
                </a:ln>
              </p:spPr>
              <p:txBody>
                <a:bodyPr/>
                <a:p/>
              </p:txBody>
            </p:sp>
          </p:grpSp>
          <p:sp>
            <p:nvSpPr>
              <p:cNvPr id="28" name="TextBox 28"/>
              <p:cNvSpPr txBox="1"/>
              <p:nvPr/>
            </p:nvSpPr>
            <p:spPr>
              <a:xfrm>
                <a:off x="4424791" y="2736532"/>
                <a:ext cx="503968" cy="33528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ctr"/>
                <a:r>
                  <a:rPr sz="1650" b="1">
                    <a:solidFill>
                      <a:srgbClr val="2B3648"/>
                    </a:solidFill>
                  </a:rPr>
                  <a:t>② 查关键</a:t>
                </a:r>
              </a:p>
            </p:txBody>
          </p:sp>
          <p:sp>
            <p:nvSpPr>
              <p:cNvPr id="29" name="TextBox 29"/>
              <p:cNvSpPr txBox="1"/>
              <p:nvPr/>
            </p:nvSpPr>
            <p:spPr>
              <a:xfrm>
                <a:off x="4173379" y="3239452"/>
                <a:ext cx="1006792" cy="21336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ctr"/>
                <a:r>
                  <a:rPr sz="1050" b="0">
                    <a:solidFill>
                      <a:srgbClr val="5B6B82"/>
                    </a:solidFill>
                  </a:rPr>
                  <a:t>结论、金额、名字对不对得上</a:t>
                </a:r>
              </a:p>
            </p:txBody>
          </p:sp>
          <p:sp>
            <p:nvSpPr>
              <p:cNvPr id="30" name="TextBox 30"/>
              <p:cNvSpPr txBox="1"/>
              <p:nvPr/>
            </p:nvSpPr>
            <p:spPr>
              <a:xfrm>
                <a:off x="4313396" y="3468052"/>
                <a:ext cx="726758" cy="21336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ctr"/>
                <a:r>
                  <a:rPr sz="1050" b="0">
                    <a:solidFill>
                      <a:srgbClr val="5B6B82"/>
                    </a:solidFill>
                  </a:rPr>
                  <a:t>你手上的事？核一遍。</a:t>
                </a:r>
              </a:p>
            </p:txBody>
          </p:sp>
        </p:grpSp>
        <p:grpSp>
          <p:nvGrpSpPr>
            <p:cNvPr id="42" name="Group 42"/>
            <p:cNvGrpSpPr/>
            <p:nvPr/>
          </p:nvGrpSpPr>
          <p:grpSpPr>
            <a:xfrm>
              <a:off x="6191250" y="1714500"/>
              <a:ext cx="2600325" cy="2667000"/>
              <a:chOff x="6191250" y="1714500"/>
              <a:chExt cx="2600325" cy="2667000"/>
            </a:xfrm>
          </p:grpSpPr>
          <p:sp>
            <p:nvSpPr>
              <p:cNvPr id="32" name="Rectangle 32"/>
              <p:cNvSpPr/>
              <p:nvPr/>
            </p:nvSpPr>
            <p:spPr>
              <a:xfrm>
                <a:off x="6191250" y="1714500"/>
                <a:ext cx="2600325" cy="2667000"/>
              </a:xfrm>
              <a:prstGeom prst="roundRect">
                <a:avLst>
                  <a:gd name="adj" fmla="val 5861"/>
                </a:avLst>
              </a:prstGeom>
              <a:solidFill>
                <a:srgbClr val="FFFFFF"/>
              </a:solidFill>
              <a:ln w="9525">
                <a:solidFill>
                  <a:srgbClr val="D8E1EC"/>
                </a:solidFill>
              </a:ln>
            </p:spPr>
            <p:txBody>
              <a:bodyPr/>
              <a:p/>
            </p:txBody>
          </p:sp>
          <p:sp>
            <p:nvSpPr>
              <p:cNvPr id="33" name="Ellipse 33"/>
              <p:cNvSpPr/>
              <p:nvPr/>
            </p:nvSpPr>
            <p:spPr>
              <a:xfrm>
                <a:off x="7239000" y="2019300"/>
                <a:ext cx="495300" cy="495300"/>
              </a:xfrm>
              <a:prstGeom prst="ellipse">
                <a:avLst/>
              </a:prstGeom>
              <a:solidFill>
                <a:srgbClr val="E9EEF5"/>
              </a:solidFill>
              <a:ln>
                <a:noFill/>
              </a:ln>
            </p:spPr>
            <p:txBody>
              <a:bodyPr/>
              <a:p/>
            </p:txBody>
          </p:sp>
          <p:grpSp>
            <p:nvGrpSpPr>
              <p:cNvPr id="38" name="Group 38"/>
              <p:cNvGrpSpPr/>
              <p:nvPr/>
            </p:nvGrpSpPr>
            <p:grpSpPr>
              <a:xfrm>
                <a:off x="7407784" y="2178050"/>
                <a:ext cx="157732" cy="179632"/>
                <a:chOff x="7407784" y="2178050"/>
                <a:chExt cx="157732" cy="179632"/>
              </a:xfrm>
            </p:grpSpPr>
            <p:sp>
              <p:nvSpPr>
                <p:cNvPr id="34" name="Freeform 34"/>
                <p:cNvSpPr/>
                <p:nvPr/>
              </p:nvSpPr>
              <p:spPr>
                <a:xfrm>
                  <a:off x="7407784" y="2178050"/>
                  <a:ext cx="157732" cy="179632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157732" h="179632">
                      <a:moveTo>
                        <a:pt x="1079" y="77788"/>
                      </a:moveTo>
                      <a:cubicBezTo>
                        <a:pt x="1079" y="34827"/>
                        <a:pt x="35905" y="0"/>
                        <a:pt x="78866" y="0"/>
                      </a:cubicBezTo>
                      <a:cubicBezTo>
                        <a:pt x="121827" y="0"/>
                        <a:pt x="156654" y="34827"/>
                        <a:pt x="156654" y="77788"/>
                      </a:cubicBezTo>
                      <a:lnTo>
                        <a:pt x="156654" y="155575"/>
                      </a:lnTo>
                      <a:cubicBezTo>
                        <a:pt x="157732" y="164184"/>
                        <a:pt x="153075" y="172490"/>
                        <a:pt x="145168" y="176061"/>
                      </a:cubicBezTo>
                      <a:cubicBezTo>
                        <a:pt x="137261" y="179632"/>
                        <a:pt x="127950" y="177634"/>
                        <a:pt x="122205" y="171133"/>
                      </a:cubicBezTo>
                      <a:cubicBezTo>
                        <a:pt x="118730" y="166687"/>
                        <a:pt x="113401" y="164089"/>
                        <a:pt x="107759" y="164089"/>
                      </a:cubicBezTo>
                      <a:cubicBezTo>
                        <a:pt x="102116" y="164089"/>
                        <a:pt x="96787" y="166687"/>
                        <a:pt x="93312" y="171133"/>
                      </a:cubicBezTo>
                      <a:cubicBezTo>
                        <a:pt x="89837" y="175578"/>
                        <a:pt x="84509" y="178176"/>
                        <a:pt x="78866" y="178176"/>
                      </a:cubicBezTo>
                      <a:cubicBezTo>
                        <a:pt x="73223" y="178176"/>
                        <a:pt x="67895" y="175578"/>
                        <a:pt x="64420" y="171133"/>
                      </a:cubicBezTo>
                      <a:cubicBezTo>
                        <a:pt x="60945" y="166687"/>
                        <a:pt x="55616" y="164089"/>
                        <a:pt x="49974" y="164089"/>
                      </a:cubicBezTo>
                      <a:cubicBezTo>
                        <a:pt x="44331" y="164089"/>
                        <a:pt x="39002" y="166687"/>
                        <a:pt x="35527" y="171133"/>
                      </a:cubicBezTo>
                      <a:cubicBezTo>
                        <a:pt x="29782" y="177634"/>
                        <a:pt x="20471" y="179632"/>
                        <a:pt x="12564" y="176061"/>
                      </a:cubicBezTo>
                      <a:cubicBezTo>
                        <a:pt x="4657" y="172490"/>
                        <a:pt x="0" y="164184"/>
                        <a:pt x="1079" y="155575"/>
                      </a:cubicBezTo>
                      <a:lnTo>
                        <a:pt x="1079" y="77788"/>
                      </a:lnTo>
                    </a:path>
                  </a:pathLst>
                </a:custGeom>
                <a:noFill/>
                <a:ln w="19050">
                  <a:solidFill>
                    <a:srgbClr val="D64545"/>
                  </a:solidFill>
                </a:ln>
              </p:spPr>
              <p:txBody>
                <a:bodyPr/>
                <a:p/>
              </p:txBody>
            </p:sp>
            <p:sp>
              <p:nvSpPr>
                <p:cNvPr id="35" name="Freeform 35"/>
                <p:cNvSpPr/>
                <p:nvPr/>
              </p:nvSpPr>
              <p:spPr>
                <a:xfrm>
                  <a:off x="7464425" y="2244725"/>
                  <a:ext cx="9525" cy="9525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9525" h="9525">
                      <a:moveTo>
                        <a:pt x="0" y="0"/>
                      </a:moveTo>
                      <a:lnTo>
                        <a:pt x="111" y="0"/>
                      </a:lnTo>
                    </a:path>
                  </a:pathLst>
                </a:custGeom>
                <a:noFill/>
                <a:ln w="19050">
                  <a:solidFill>
                    <a:srgbClr val="D64545"/>
                  </a:solidFill>
                </a:ln>
              </p:spPr>
              <p:txBody>
                <a:bodyPr/>
                <a:p/>
              </p:txBody>
            </p:sp>
            <p:sp>
              <p:nvSpPr>
                <p:cNvPr id="36" name="Freeform 36"/>
                <p:cNvSpPr/>
                <p:nvPr/>
              </p:nvSpPr>
              <p:spPr>
                <a:xfrm>
                  <a:off x="7508875" y="2244725"/>
                  <a:ext cx="9525" cy="9525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9525" h="9525">
                      <a:moveTo>
                        <a:pt x="0" y="0"/>
                      </a:moveTo>
                      <a:lnTo>
                        <a:pt x="111" y="0"/>
                      </a:lnTo>
                    </a:path>
                  </a:pathLst>
                </a:custGeom>
                <a:noFill/>
                <a:ln w="19050">
                  <a:solidFill>
                    <a:srgbClr val="D64545"/>
                  </a:solidFill>
                </a:ln>
              </p:spPr>
              <p:txBody>
                <a:bodyPr/>
                <a:p/>
              </p:txBody>
            </p:sp>
            <p:sp>
              <p:nvSpPr>
                <p:cNvPr id="37" name="Freeform 37"/>
                <p:cNvSpPr/>
                <p:nvPr/>
              </p:nvSpPr>
              <p:spPr>
                <a:xfrm>
                  <a:off x="7464425" y="2289175"/>
                  <a:ext cx="44450" cy="9525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44450" h="9525">
                      <a:moveTo>
                        <a:pt x="0" y="0"/>
                      </a:moveTo>
                      <a:cubicBezTo>
                        <a:pt x="13357" y="9301"/>
                        <a:pt x="31093" y="9301"/>
                        <a:pt x="44450" y="0"/>
                      </a:cubicBezTo>
                    </a:path>
                  </a:pathLst>
                </a:custGeom>
                <a:noFill/>
                <a:ln w="19050">
                  <a:solidFill>
                    <a:srgbClr val="D64545"/>
                  </a:solidFill>
                </a:ln>
              </p:spPr>
              <p:txBody>
                <a:bodyPr/>
                <a:p/>
              </p:txBody>
            </p:sp>
          </p:grpSp>
          <p:sp>
            <p:nvSpPr>
              <p:cNvPr id="39" name="TextBox 39"/>
              <p:cNvSpPr txBox="1"/>
              <p:nvPr/>
            </p:nvSpPr>
            <p:spPr>
              <a:xfrm>
                <a:off x="7101825" y="2736532"/>
                <a:ext cx="769651" cy="33528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ctr"/>
                <a:r>
                  <a:rPr sz="1650" b="1">
                    <a:solidFill>
                      <a:srgbClr val="2B3648"/>
                    </a:solidFill>
                  </a:rPr>
                  <a:t>③ 交叉</a:t>
                </a:r>
              </a:p>
            </p:txBody>
          </p:sp>
          <p:sp>
            <p:nvSpPr>
              <p:cNvPr id="40" name="TextBox 40"/>
              <p:cNvSpPr txBox="1"/>
              <p:nvPr/>
            </p:nvSpPr>
            <p:spPr>
              <a:xfrm>
                <a:off x="6983254" y="3239452"/>
                <a:ext cx="1006792" cy="21336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ctr"/>
                <a:r>
                  <a:rPr sz="1050" b="0">
                    <a:solidFill>
                      <a:srgbClr val="5B6B82"/>
                    </a:solidFill>
                  </a:rPr>
                  <a:t>用搜索、文件、同事交叉验证</a:t>
                </a:r>
              </a:p>
            </p:txBody>
          </p:sp>
          <p:sp>
            <p:nvSpPr>
              <p:cNvPr id="41" name="TextBox 41"/>
              <p:cNvSpPr txBox="1"/>
              <p:nvPr/>
            </p:nvSpPr>
            <p:spPr>
              <a:xfrm>
                <a:off x="6983254" y="3468052"/>
                <a:ext cx="1006792" cy="21336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ctr"/>
                <a:r>
                  <a:rPr sz="1050" b="0">
                    <a:solidFill>
                      <a:srgbClr val="5B6B82"/>
                    </a:solidFill>
                  </a:rPr>
                  <a:t>细节，一个来源不算数。</a:t>
                </a:r>
              </a:p>
            </p:txBody>
          </p:sp>
        </p:grpSp>
        <p:grpSp>
          <p:nvGrpSpPr>
            <p:cNvPr id="52" name="Group 52"/>
            <p:cNvGrpSpPr/>
            <p:nvPr/>
          </p:nvGrpSpPr>
          <p:grpSpPr>
            <a:xfrm>
              <a:off x="9001125" y="1714500"/>
              <a:ext cx="2600325" cy="2667000"/>
              <a:chOff x="9001125" y="1714500"/>
              <a:chExt cx="2600325" cy="2667000"/>
            </a:xfrm>
          </p:grpSpPr>
          <p:sp>
            <p:nvSpPr>
              <p:cNvPr id="43" name="Rectangle 43"/>
              <p:cNvSpPr/>
              <p:nvPr/>
            </p:nvSpPr>
            <p:spPr>
              <a:xfrm>
                <a:off x="9001125" y="1714500"/>
                <a:ext cx="2600325" cy="2667000"/>
              </a:xfrm>
              <a:prstGeom prst="roundRect">
                <a:avLst>
                  <a:gd name="adj" fmla="val 5861"/>
                </a:avLst>
              </a:prstGeom>
              <a:solidFill>
                <a:srgbClr val="FFFFFF"/>
              </a:solidFill>
              <a:ln w="9525">
                <a:solidFill>
                  <a:srgbClr val="D8E1EC"/>
                </a:solidFill>
              </a:ln>
            </p:spPr>
            <p:txBody>
              <a:bodyPr/>
              <a:p/>
            </p:txBody>
          </p:sp>
          <p:sp>
            <p:nvSpPr>
              <p:cNvPr id="44" name="Ellipse 44"/>
              <p:cNvSpPr/>
              <p:nvPr/>
            </p:nvSpPr>
            <p:spPr>
              <a:xfrm>
                <a:off x="10048875" y="2019300"/>
                <a:ext cx="495300" cy="495300"/>
              </a:xfrm>
              <a:prstGeom prst="ellipse">
                <a:avLst/>
              </a:prstGeom>
              <a:solidFill>
                <a:srgbClr val="E9EEF5"/>
              </a:solidFill>
              <a:ln>
                <a:noFill/>
              </a:ln>
            </p:spPr>
            <p:txBody>
              <a:bodyPr/>
              <a:p/>
            </p:txBody>
          </p:sp>
          <p:grpSp>
            <p:nvGrpSpPr>
              <p:cNvPr id="48" name="Group 48"/>
              <p:cNvGrpSpPr/>
              <p:nvPr/>
            </p:nvGrpSpPr>
            <p:grpSpPr>
              <a:xfrm>
                <a:off x="10218738" y="2155825"/>
                <a:ext cx="155575" cy="211138"/>
                <a:chOff x="10218738" y="2155825"/>
                <a:chExt cx="155575" cy="211138"/>
              </a:xfrm>
            </p:grpSpPr>
            <p:sp>
              <p:nvSpPr>
                <p:cNvPr id="45" name="Freeform 45"/>
                <p:cNvSpPr/>
                <p:nvPr/>
              </p:nvSpPr>
              <p:spPr>
                <a:xfrm>
                  <a:off x="10218738" y="2255838"/>
                  <a:ext cx="155575" cy="111125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155575" h="111125">
                      <a:moveTo>
                        <a:pt x="0" y="22225"/>
                      </a:moveTo>
                      <a:cubicBezTo>
                        <a:pt x="0" y="9950"/>
                        <a:pt x="9950" y="0"/>
                        <a:pt x="22225" y="0"/>
                      </a:cubicBezTo>
                      <a:lnTo>
                        <a:pt x="133350" y="0"/>
                      </a:lnTo>
                      <a:cubicBezTo>
                        <a:pt x="145625" y="0"/>
                        <a:pt x="155575" y="9950"/>
                        <a:pt x="155575" y="22225"/>
                      </a:cubicBezTo>
                      <a:lnTo>
                        <a:pt x="155575" y="88900"/>
                      </a:lnTo>
                      <a:cubicBezTo>
                        <a:pt x="155575" y="101175"/>
                        <a:pt x="145625" y="111125"/>
                        <a:pt x="133350" y="111125"/>
                      </a:cubicBezTo>
                      <a:lnTo>
                        <a:pt x="22225" y="111125"/>
                      </a:lnTo>
                      <a:cubicBezTo>
                        <a:pt x="9950" y="111125"/>
                        <a:pt x="0" y="101175"/>
                        <a:pt x="0" y="88900"/>
                      </a:cubicBezTo>
                      <a:lnTo>
                        <a:pt x="0" y="22225"/>
                      </a:lnTo>
                    </a:path>
                  </a:pathLst>
                </a:custGeom>
                <a:noFill/>
                <a:ln w="19050">
                  <a:solidFill>
                    <a:srgbClr val="D64545"/>
                  </a:solidFill>
                </a:ln>
              </p:spPr>
              <p:txBody>
                <a:bodyPr/>
                <a:p/>
              </p:txBody>
            </p:sp>
            <p:sp>
              <p:nvSpPr>
                <p:cNvPr id="46" name="Freeform 46"/>
                <p:cNvSpPr/>
                <p:nvPr/>
              </p:nvSpPr>
              <p:spPr>
                <a:xfrm>
                  <a:off x="10285412" y="2300288"/>
                  <a:ext cx="22225" cy="22225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22225" h="22225">
                      <a:moveTo>
                        <a:pt x="0" y="11112"/>
                      </a:moveTo>
                      <a:cubicBezTo>
                        <a:pt x="0" y="17250"/>
                        <a:pt x="4975" y="22225"/>
                        <a:pt x="11113" y="22225"/>
                      </a:cubicBezTo>
                      <a:cubicBezTo>
                        <a:pt x="17250" y="22225"/>
                        <a:pt x="22225" y="17250"/>
                        <a:pt x="22225" y="11112"/>
                      </a:cubicBezTo>
                      <a:cubicBezTo>
                        <a:pt x="22225" y="4975"/>
                        <a:pt x="17250" y="0"/>
                        <a:pt x="11113" y="0"/>
                      </a:cubicBezTo>
                      <a:cubicBezTo>
                        <a:pt x="4975" y="0"/>
                        <a:pt x="0" y="4975"/>
                        <a:pt x="0" y="11112"/>
                      </a:cubicBezTo>
                    </a:path>
                  </a:pathLst>
                </a:custGeom>
                <a:noFill/>
                <a:ln w="19050">
                  <a:solidFill>
                    <a:srgbClr val="D64545"/>
                  </a:solidFill>
                </a:ln>
              </p:spPr>
              <p:txBody>
                <a:bodyPr/>
                <a:p/>
              </p:txBody>
            </p:sp>
            <p:sp>
              <p:nvSpPr>
                <p:cNvPr id="47" name="Freeform 47"/>
                <p:cNvSpPr/>
                <p:nvPr/>
              </p:nvSpPr>
              <p:spPr>
                <a:xfrm>
                  <a:off x="10252075" y="2155825"/>
                  <a:ext cx="88900" cy="100012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88900" h="100012">
                      <a:moveTo>
                        <a:pt x="0" y="100012"/>
                      </a:moveTo>
                      <a:lnTo>
                        <a:pt x="0" y="44450"/>
                      </a:lnTo>
                      <a:cubicBezTo>
                        <a:pt x="0" y="19901"/>
                        <a:pt x="19901" y="0"/>
                        <a:pt x="44450" y="0"/>
                      </a:cubicBezTo>
                      <a:cubicBezTo>
                        <a:pt x="68999" y="0"/>
                        <a:pt x="88900" y="19901"/>
                        <a:pt x="88900" y="44450"/>
                      </a:cubicBezTo>
                    </a:path>
                  </a:pathLst>
                </a:custGeom>
                <a:noFill/>
                <a:ln w="19050">
                  <a:solidFill>
                    <a:srgbClr val="D64545"/>
                  </a:solidFill>
                </a:ln>
              </p:spPr>
              <p:txBody>
                <a:bodyPr/>
                <a:p/>
              </p:txBody>
            </p:sp>
          </p:grpSp>
          <p:sp>
            <p:nvSpPr>
              <p:cNvPr id="49" name="TextBox 49"/>
              <p:cNvSpPr txBox="1"/>
              <p:nvPr/>
            </p:nvSpPr>
            <p:spPr>
              <a:xfrm>
                <a:off x="9813512" y="2736532"/>
                <a:ext cx="966026" cy="33528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ctr"/>
                <a:r>
                  <a:rPr sz="1650" b="1">
                    <a:solidFill>
                      <a:srgbClr val="2B3648"/>
                    </a:solidFill>
                  </a:rPr>
                  <a:t>④ 标注</a:t>
                </a:r>
              </a:p>
            </p:txBody>
          </p:sp>
          <p:sp>
            <p:nvSpPr>
              <p:cNvPr id="50" name="TextBox 50"/>
              <p:cNvSpPr txBox="1"/>
              <p:nvPr/>
            </p:nvSpPr>
            <p:spPr>
              <a:xfrm>
                <a:off x="9863138" y="3239452"/>
                <a:ext cx="866775" cy="21336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ctr"/>
                <a:r>
                  <a:rPr sz="1050" b="0">
                    <a:solidFill>
                      <a:srgbClr val="5B6B82"/>
                    </a:solidFill>
                  </a:rPr>
                  <a:t>写进文档前标清楚：AI 初</a:t>
                </a:r>
              </a:p>
            </p:txBody>
          </p:sp>
          <p:sp>
            <p:nvSpPr>
              <p:cNvPr id="51" name="TextBox 51"/>
              <p:cNvSpPr txBox="1"/>
              <p:nvPr/>
            </p:nvSpPr>
            <p:spPr>
              <a:xfrm>
                <a:off x="9642610" y="3468052"/>
                <a:ext cx="1307830" cy="21336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ctr"/>
                <a:r>
                  <a:rPr sz="1050" b="0">
                    <a:solidFill>
                      <a:srgbClr val="5B6B82"/>
                    </a:solidFill>
                  </a:rPr>
                  <a:t>稿·待核实，谁的稿子谁负责。</a:t>
                </a:r>
              </a:p>
            </p:txBody>
          </p:sp>
        </p:grpSp>
      </p:grpSp>
      <p:grpSp>
        <p:nvGrpSpPr>
          <p:cNvPr id="57" name="Group 57"/>
          <p:cNvGrpSpPr/>
          <p:nvPr/>
        </p:nvGrpSpPr>
        <p:grpSpPr>
          <a:xfrm>
            <a:off x="571500" y="4762500"/>
            <a:ext cx="11049000" cy="457200"/>
            <a:chOff x="571500" y="4762500"/>
            <a:chExt cx="11049000" cy="457200"/>
          </a:xfrm>
        </p:grpSpPr>
        <p:sp>
          <p:nvSpPr>
            <p:cNvPr id="54" name="Rectangle 54"/>
            <p:cNvSpPr/>
            <p:nvPr/>
          </p:nvSpPr>
          <p:spPr>
            <a:xfrm>
              <a:off x="571500" y="4762500"/>
              <a:ext cx="11049000" cy="457200"/>
            </a:xfrm>
            <a:prstGeom prst="roundRect">
              <a:avLst>
                <a:gd name="adj" fmla="val 33333"/>
              </a:avLst>
            </a:prstGeom>
            <a:solidFill>
              <a:srgbClr val="D6E6F9"/>
            </a:solidFill>
            <a:ln>
              <a:noFill/>
            </a:ln>
          </p:spPr>
          <p:txBody>
            <a:bodyPr/>
            <a:p/>
          </p:txBody>
        </p:sp>
        <p:sp>
          <p:nvSpPr>
            <p:cNvPr id="55" name="Rectangle 55"/>
            <p:cNvSpPr/>
            <p:nvPr/>
          </p:nvSpPr>
          <p:spPr>
            <a:xfrm>
              <a:off x="571500" y="4762500"/>
              <a:ext cx="76200" cy="457200"/>
            </a:xfrm>
            <a:prstGeom prst="roundRect">
              <a:avLst>
                <a:gd name="adj" fmla="val 50000"/>
              </a:avLst>
            </a:prstGeom>
            <a:solidFill>
              <a:srgbClr val="1565D8"/>
            </a:solidFill>
            <a:ln>
              <a:noFill/>
            </a:ln>
          </p:spPr>
          <p:txBody>
            <a:bodyPr/>
            <a:p/>
          </p:txBody>
        </p:sp>
        <p:sp>
          <p:nvSpPr>
            <p:cNvPr id="56" name="TextBox 56"/>
            <p:cNvSpPr txBox="1"/>
            <p:nvPr/>
          </p:nvSpPr>
          <p:spPr>
            <a:xfrm>
              <a:off x="859155" y="4912042"/>
              <a:ext cx="1924526" cy="27432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b="1" dirty="0">
                  <a:solidFill>
                    <a:srgbClr val="0B4EA2"/>
                  </a:solidFill>
                  <a:latin typeface="Arial"/>
                  <a:ea typeface="Microsoft YaHei"/>
                  <a:cs typeface="Arial"/>
                </a:rPr>
                <a:t>查过的再发，没查过的不出口。</a:t>
              </a:r>
            </a:p>
          </p:txBody>
        </p:sp>
      </p:grpSp>
      <p:grpSp>
        <p:nvGrpSpPr>
          <p:cNvPr id="60" name="Group 60"/>
          <p:cNvGrpSpPr/>
          <p:nvPr/>
        </p:nvGrpSpPr>
        <p:grpSpPr>
          <a:xfrm>
            <a:off x="560070" y="6341745"/>
            <a:ext cx="11071860" cy="182880"/>
            <a:chOff x="560070" y="6341745"/>
            <a:chExt cx="11071860" cy="182880"/>
          </a:xfrm>
        </p:grpSpPr>
        <p:sp>
          <p:nvSpPr>
            <p:cNvPr id="58" name="TextBox 58"/>
            <p:cNvSpPr txBox="1"/>
            <p:nvPr/>
          </p:nvSpPr>
          <p:spPr>
            <a:xfrm>
              <a:off x="560070" y="6341745"/>
              <a:ext cx="1054989" cy="18288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00" dirty="0">
                  <a:solidFill>
                    <a:srgbClr val="8B99AE"/>
                  </a:solidFill>
                  <a:latin typeface="Arial"/>
                  <a:ea typeface="Microsoft YaHei"/>
                  <a:cs typeface="Arial"/>
                </a:rPr>
                <a:t>大模型通识 · 企业版</a:t>
              </a:r>
            </a:p>
          </p:txBody>
        </p:sp>
        <p:sp>
          <p:nvSpPr>
            <p:cNvPr id="59" name="TextBox 59"/>
            <p:cNvSpPr txBox="1"/>
            <p:nvPr/>
          </p:nvSpPr>
          <p:spPr>
            <a:xfrm>
              <a:off x="11207020" y="6341745"/>
              <a:ext cx="424910" cy="18288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r"/>
              <a:r>
                <a:rPr lang="zh-CN" sz="900" dirty="0">
                  <a:solidFill>
                    <a:srgbClr val="8B99AE"/>
                  </a:solidFill>
                  <a:latin typeface="Arial"/>
                  <a:ea typeface="Microsoft YaHei"/>
                  <a:cs typeface="Arial"/>
                </a:rPr>
                <a:t>44 / 51</a:t>
              </a:r>
            </a:p>
          </p:txBody>
        </p:sp>
      </p:grpSp>
    </p:spTree>
  </p:cSld>
  <p:clrMapOvr>
    <a:masterClrMapping/>
  </p:clrMapOvr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5" name="Group 5"/>
          <p:cNvGrpSpPr/>
          <p:nvPr/>
        </p:nvGrpSpPr>
        <p:grpSpPr>
          <a:xfrm>
            <a:off x="0" y="0"/>
            <a:ext cx="14192250" cy="8953500"/>
            <a:chOff x="0" y="0"/>
            <a:chExt cx="14192250" cy="8953500"/>
          </a:xfrm>
        </p:grpSpPr>
        <p:sp>
          <p:nvSpPr>
            <p:cNvPr id="2" name="Rectangle 2"/>
            <p:cNvSpPr/>
            <p:nvPr/>
          </p:nvSpPr>
          <p:spPr>
            <a:xfrm>
              <a:off x="0" y="0"/>
              <a:ext cx="12192000" cy="6858000"/>
            </a:xfrm>
            <a:prstGeom prst="rect">
              <a:avLst/>
            </a:prstGeom>
            <a:solidFill>
              <a:srgbClr val="F5F7FA"/>
            </a:solidFill>
            <a:ln>
              <a:noFill/>
            </a:ln>
          </p:spPr>
          <p:txBody>
            <a:bodyPr/>
            <a:p/>
          </p:txBody>
        </p:sp>
        <p:sp>
          <p:nvSpPr>
            <p:cNvPr id="3" name="Rectangle 3"/>
            <p:cNvSpPr/>
            <p:nvPr/>
          </p:nvSpPr>
          <p:spPr>
            <a:xfrm>
              <a:off x="0" y="0"/>
              <a:ext cx="12192000" cy="6858000"/>
            </a:xfrm>
            <a:prstGeom prst="rect">
              <a:avLst/>
            </a:prstGeom>
            <a:gradFill>
              <a:gsLst>
                <a:gs pos="0">
                  <a:srgbClr val="1565D8">
                    <a:alpha val="6000"/>
                  </a:srgbClr>
                </a:gs>
                <a:gs pos="100000">
                  <a:srgbClr val="1565D8">
                    <a:alpha val="0"/>
                  </a:srgbClr>
                </a:gs>
              </a:gsLst>
              <a:path path="circle">
                <a:fillToRect l="50000" t="50000" r="50000" b="50000"/>
              </a:path>
            </a:gradFill>
            <a:ln>
              <a:noFill/>
            </a:ln>
          </p:spPr>
          <p:txBody>
            <a:bodyPr/>
            <a:p/>
          </p:txBody>
        </p:sp>
        <p:sp>
          <p:nvSpPr>
            <p:cNvPr id="4" name="Ellipse 4"/>
            <p:cNvSpPr/>
            <p:nvPr/>
          </p:nvSpPr>
          <p:spPr>
            <a:xfrm>
              <a:off x="9620250" y="4381500"/>
              <a:ext cx="4572000" cy="4572000"/>
            </a:xfrm>
            <a:prstGeom prst="ellipse">
              <a:avLst/>
            </a:prstGeom>
            <a:noFill/>
            <a:ln w="14288">
              <a:solidFill>
                <a:srgbClr val="D6E6F9">
                  <a:alpha val="80000"/>
                </a:srgbClr>
              </a:solidFill>
            </a:ln>
          </p:spPr>
          <p:txBody>
            <a:bodyPr/>
            <a:p/>
          </p:txBody>
        </p:sp>
      </p:grpSp>
      <p:grpSp>
        <p:nvGrpSpPr>
          <p:cNvPr id="9" name="Group 9"/>
          <p:cNvGrpSpPr/>
          <p:nvPr/>
        </p:nvGrpSpPr>
        <p:grpSpPr>
          <a:xfrm>
            <a:off x="571500" y="685800"/>
            <a:ext cx="3306128" cy="700088"/>
            <a:chOff x="571500" y="685800"/>
            <a:chExt cx="3306128" cy="700088"/>
          </a:xfrm>
        </p:grpSpPr>
        <p:sp>
          <p:nvSpPr>
            <p:cNvPr id="6" name="Rectangle 6"/>
            <p:cNvSpPr/>
            <p:nvPr/>
          </p:nvSpPr>
          <p:spPr>
            <a:xfrm>
              <a:off x="571500" y="685800"/>
              <a:ext cx="76200" cy="323850"/>
            </a:xfrm>
            <a:prstGeom prst="roundRect">
              <a:avLst>
                <a:gd name="adj" fmla="val 50000"/>
              </a:avLst>
            </a:prstGeom>
            <a:solidFill>
              <a:srgbClr val="1565D8"/>
            </a:solidFill>
            <a:ln>
              <a:noFill/>
            </a:ln>
          </p:spPr>
          <p:txBody>
            <a:bodyPr/>
            <a:p/>
          </p:txBody>
        </p:sp>
        <p:sp>
          <p:nvSpPr>
            <p:cNvPr id="7" name="TextBox 7"/>
            <p:cNvSpPr txBox="1"/>
            <p:nvPr/>
          </p:nvSpPr>
          <p:spPr>
            <a:xfrm>
              <a:off x="771525" y="700088"/>
              <a:ext cx="2451449" cy="45720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2250" b="1" dirty="0">
                  <a:solidFill>
                    <a:srgbClr val="2B3648"/>
                  </a:solidFill>
                  <a:latin typeface="Arial"/>
                  <a:ea typeface="Microsoft YaHei"/>
                  <a:cs typeface="Arial"/>
                </a:rPr>
                <a:t>数据红线 与 责任</a:t>
              </a:r>
            </a:p>
          </p:txBody>
        </p:sp>
        <p:sp>
          <p:nvSpPr>
            <p:cNvPr id="8" name="TextBox 8"/>
            <p:cNvSpPr txBox="1"/>
            <p:nvPr/>
          </p:nvSpPr>
          <p:spPr>
            <a:xfrm>
              <a:off x="782955" y="1111568"/>
              <a:ext cx="3094673" cy="27432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5B6B82"/>
                  </a:solidFill>
                  <a:latin typeface="Arial"/>
                  <a:ea typeface="Microsoft YaHei"/>
                  <a:cs typeface="Arial"/>
                </a:rPr>
                <a:t>什么能喂、什么绝对不能喂，记这四条</a:t>
              </a:r>
            </a:p>
          </p:txBody>
        </p:sp>
      </p:grpSp>
      <p:grpSp>
        <p:nvGrpSpPr>
          <p:cNvPr id="45" name="Group 45"/>
          <p:cNvGrpSpPr/>
          <p:nvPr/>
        </p:nvGrpSpPr>
        <p:grpSpPr>
          <a:xfrm>
            <a:off x="571500" y="1619250"/>
            <a:ext cx="11049000" cy="3390900"/>
            <a:chOff x="571500" y="1619250"/>
            <a:chExt cx="11049000" cy="3390900"/>
          </a:xfrm>
        </p:grpSpPr>
        <p:grpSp>
          <p:nvGrpSpPr>
            <p:cNvPr id="17" name="Group 17"/>
            <p:cNvGrpSpPr/>
            <p:nvPr/>
          </p:nvGrpSpPr>
          <p:grpSpPr>
            <a:xfrm>
              <a:off x="571500" y="1619250"/>
              <a:ext cx="5334000" cy="1619250"/>
              <a:chOff x="571500" y="1619250"/>
              <a:chExt cx="5334000" cy="1619250"/>
            </a:xfrm>
          </p:grpSpPr>
          <p:sp>
            <p:nvSpPr>
              <p:cNvPr id="10" name="Rectangle 10"/>
              <p:cNvSpPr/>
              <p:nvPr/>
            </p:nvSpPr>
            <p:spPr>
              <a:xfrm>
                <a:off x="571500" y="1619250"/>
                <a:ext cx="5334000" cy="1619250"/>
              </a:xfrm>
              <a:prstGeom prst="roundRect">
                <a:avLst>
                  <a:gd name="adj" fmla="val 9412"/>
                </a:avLst>
              </a:prstGeom>
              <a:solidFill>
                <a:srgbClr val="FFFFFF"/>
              </a:solidFill>
              <a:ln w="9525">
                <a:solidFill>
                  <a:srgbClr val="D8E1EC"/>
                </a:solidFill>
              </a:ln>
            </p:spPr>
            <p:txBody>
              <a:bodyPr/>
              <a:p/>
            </p:txBody>
          </p:sp>
          <p:sp>
            <p:nvSpPr>
              <p:cNvPr id="11" name="Ellipse 11"/>
              <p:cNvSpPr/>
              <p:nvPr/>
            </p:nvSpPr>
            <p:spPr>
              <a:xfrm>
                <a:off x="857250" y="1924050"/>
                <a:ext cx="495300" cy="495300"/>
              </a:xfrm>
              <a:prstGeom prst="ellipse">
                <a:avLst/>
              </a:prstGeom>
              <a:solidFill>
                <a:srgbClr val="D6E6F9"/>
              </a:solidFill>
              <a:ln>
                <a:noFill/>
              </a:ln>
            </p:spPr>
            <p:txBody>
              <a:bodyPr/>
              <a:p/>
            </p:txBody>
          </p:sp>
          <p:grpSp>
            <p:nvGrpSpPr>
              <p:cNvPr id="14" name="Group 14"/>
              <p:cNvGrpSpPr/>
              <p:nvPr/>
            </p:nvGrpSpPr>
            <p:grpSpPr>
              <a:xfrm>
                <a:off x="1004888" y="2071688"/>
                <a:ext cx="200025" cy="200025"/>
                <a:chOff x="1004888" y="2071688"/>
                <a:chExt cx="200025" cy="200025"/>
              </a:xfrm>
            </p:grpSpPr>
            <p:sp>
              <p:nvSpPr>
                <p:cNvPr id="12" name="Freeform 12"/>
                <p:cNvSpPr/>
                <p:nvPr/>
              </p:nvSpPr>
              <p:spPr>
                <a:xfrm>
                  <a:off x="1004888" y="2071688"/>
                  <a:ext cx="200025" cy="200025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200025" h="200025">
                      <a:moveTo>
                        <a:pt x="0" y="100012"/>
                      </a:moveTo>
                      <a:cubicBezTo>
                        <a:pt x="0" y="155248"/>
                        <a:pt x="44777" y="200025"/>
                        <a:pt x="100012" y="200025"/>
                      </a:cubicBezTo>
                      <a:cubicBezTo>
                        <a:pt x="155248" y="200025"/>
                        <a:pt x="200025" y="155248"/>
                        <a:pt x="200025" y="100012"/>
                      </a:cubicBezTo>
                      <a:cubicBezTo>
                        <a:pt x="200025" y="44777"/>
                        <a:pt x="155248" y="0"/>
                        <a:pt x="100012" y="0"/>
                      </a:cubicBezTo>
                      <a:cubicBezTo>
                        <a:pt x="44777" y="0"/>
                        <a:pt x="0" y="44777"/>
                        <a:pt x="0" y="100012"/>
                      </a:cubicBezTo>
                    </a:path>
                  </a:pathLst>
                </a:custGeom>
                <a:noFill/>
                <a:ln w="19050">
                  <a:solidFill>
                    <a:srgbClr val="2FA36B"/>
                  </a:solidFill>
                </a:ln>
              </p:spPr>
              <p:txBody>
                <a:bodyPr/>
                <a:p/>
              </p:txBody>
            </p:sp>
            <p:sp>
              <p:nvSpPr>
                <p:cNvPr id="13" name="Freeform 13"/>
                <p:cNvSpPr/>
                <p:nvPr/>
              </p:nvSpPr>
              <p:spPr>
                <a:xfrm>
                  <a:off x="1071562" y="2149475"/>
                  <a:ext cx="66675" cy="44450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66675" h="44450">
                      <a:moveTo>
                        <a:pt x="0" y="22225"/>
                      </a:moveTo>
                      <a:lnTo>
                        <a:pt x="22225" y="44450"/>
                      </a:lnTo>
                      <a:lnTo>
                        <a:pt x="66675" y="0"/>
                      </a:lnTo>
                    </a:path>
                  </a:pathLst>
                </a:custGeom>
                <a:noFill/>
                <a:ln w="19050">
                  <a:solidFill>
                    <a:srgbClr val="2FA36B"/>
                  </a:solidFill>
                </a:ln>
              </p:spPr>
              <p:txBody>
                <a:bodyPr/>
                <a:p/>
              </p:txBody>
            </p:sp>
          </p:grpSp>
          <p:sp>
            <p:nvSpPr>
              <p:cNvPr id="15" name="TextBox 15"/>
              <p:cNvSpPr txBox="1"/>
              <p:nvPr/>
            </p:nvSpPr>
            <p:spPr>
              <a:xfrm>
                <a:off x="1485900" y="1952625"/>
                <a:ext cx="668179" cy="3048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l"/>
                <a:r>
                  <a:rPr lang="zh-CN" sz="1500" b="1" dirty="0">
                    <a:solidFill>
                      <a:srgbClr val="2B3648"/>
                    </a:solidFill>
                    <a:latin typeface="Arial"/>
                    <a:ea typeface="Microsoft YaHei"/>
                    <a:cs typeface="Arial"/>
                  </a:rPr>
                  <a:t>可以喂</a:t>
                </a:r>
              </a:p>
            </p:txBody>
          </p:sp>
          <p:sp>
            <p:nvSpPr>
              <p:cNvPr id="16" name="TextBox 16"/>
              <p:cNvSpPr txBox="1"/>
              <p:nvPr/>
            </p:nvSpPr>
            <p:spPr>
              <a:xfrm>
                <a:off x="1489710" y="2251710"/>
                <a:ext cx="3070860" cy="24384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l"/>
                <a:r>
                  <a:rPr lang="zh-CN" sz="1200" dirty="0">
                    <a:solidFill>
                      <a:srgbClr val="5B6B82"/>
                    </a:solidFill>
                    <a:latin typeface="Arial"/>
                    <a:ea typeface="Microsoft YaHei"/>
                    <a:cs typeface="Arial"/>
                  </a:rPr>
                  <a:t>公开资料、脱敏后的数据、一般性工作知识</a:t>
                </a:r>
              </a:p>
            </p:txBody>
          </p:sp>
        </p:grpSp>
        <p:grpSp>
          <p:nvGrpSpPr>
            <p:cNvPr id="25" name="Group 25"/>
            <p:cNvGrpSpPr/>
            <p:nvPr/>
          </p:nvGrpSpPr>
          <p:grpSpPr>
            <a:xfrm>
              <a:off x="6286500" y="1619250"/>
              <a:ext cx="5334000" cy="1619250"/>
              <a:chOff x="6286500" y="1619250"/>
              <a:chExt cx="5334000" cy="1619250"/>
            </a:xfrm>
          </p:grpSpPr>
          <p:sp>
            <p:nvSpPr>
              <p:cNvPr id="18" name="Rectangle 18"/>
              <p:cNvSpPr/>
              <p:nvPr/>
            </p:nvSpPr>
            <p:spPr>
              <a:xfrm>
                <a:off x="6286500" y="1619250"/>
                <a:ext cx="5334000" cy="1619250"/>
              </a:xfrm>
              <a:prstGeom prst="roundRect">
                <a:avLst>
                  <a:gd name="adj" fmla="val 9412"/>
                </a:avLst>
              </a:prstGeom>
              <a:solidFill>
                <a:srgbClr val="FFFFFF"/>
              </a:solidFill>
              <a:ln w="9525">
                <a:solidFill>
                  <a:srgbClr val="D8E1EC"/>
                </a:solidFill>
              </a:ln>
            </p:spPr>
            <p:txBody>
              <a:bodyPr/>
              <a:p/>
            </p:txBody>
          </p:sp>
          <p:sp>
            <p:nvSpPr>
              <p:cNvPr id="19" name="Ellipse 19"/>
              <p:cNvSpPr/>
              <p:nvPr/>
            </p:nvSpPr>
            <p:spPr>
              <a:xfrm>
                <a:off x="6572250" y="1924050"/>
                <a:ext cx="495300" cy="495300"/>
              </a:xfrm>
              <a:prstGeom prst="ellipse">
                <a:avLst/>
              </a:prstGeom>
              <a:solidFill>
                <a:srgbClr val="E9EEF5"/>
              </a:solidFill>
              <a:ln>
                <a:noFill/>
              </a:ln>
            </p:spPr>
            <p:txBody>
              <a:bodyPr/>
              <a:p/>
            </p:txBody>
          </p:sp>
          <p:grpSp>
            <p:nvGrpSpPr>
              <p:cNvPr id="22" name="Group 22"/>
              <p:cNvGrpSpPr/>
              <p:nvPr/>
            </p:nvGrpSpPr>
            <p:grpSpPr>
              <a:xfrm>
                <a:off x="6719888" y="2071688"/>
                <a:ext cx="200025" cy="200025"/>
                <a:chOff x="6719888" y="2071688"/>
                <a:chExt cx="200025" cy="200025"/>
              </a:xfrm>
            </p:grpSpPr>
            <p:sp>
              <p:nvSpPr>
                <p:cNvPr id="20" name="Freeform 20"/>
                <p:cNvSpPr/>
                <p:nvPr/>
              </p:nvSpPr>
              <p:spPr>
                <a:xfrm>
                  <a:off x="6719888" y="2071688"/>
                  <a:ext cx="200025" cy="200025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200025" h="200025">
                      <a:moveTo>
                        <a:pt x="0" y="100012"/>
                      </a:moveTo>
                      <a:cubicBezTo>
                        <a:pt x="0" y="155248"/>
                        <a:pt x="44777" y="200025"/>
                        <a:pt x="100012" y="200025"/>
                      </a:cubicBezTo>
                      <a:cubicBezTo>
                        <a:pt x="155248" y="200025"/>
                        <a:pt x="200025" y="155248"/>
                        <a:pt x="200025" y="100012"/>
                      </a:cubicBezTo>
                      <a:cubicBezTo>
                        <a:pt x="200025" y="44777"/>
                        <a:pt x="155248" y="0"/>
                        <a:pt x="100012" y="0"/>
                      </a:cubicBezTo>
                      <a:cubicBezTo>
                        <a:pt x="44777" y="0"/>
                        <a:pt x="0" y="44777"/>
                        <a:pt x="0" y="100012"/>
                      </a:cubicBezTo>
                    </a:path>
                  </a:pathLst>
                </a:custGeom>
                <a:noFill/>
                <a:ln w="19050">
                  <a:solidFill>
                    <a:srgbClr val="D64545"/>
                  </a:solidFill>
                </a:ln>
              </p:spPr>
              <p:txBody>
                <a:bodyPr/>
                <a:p/>
              </p:txBody>
            </p:sp>
            <p:sp>
              <p:nvSpPr>
                <p:cNvPr id="21" name="Freeform 21"/>
                <p:cNvSpPr/>
                <p:nvPr/>
              </p:nvSpPr>
              <p:spPr>
                <a:xfrm>
                  <a:off x="6797675" y="2149475"/>
                  <a:ext cx="44450" cy="44450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44450" h="44450">
                      <a:moveTo>
                        <a:pt x="0" y="0"/>
                      </a:moveTo>
                      <a:lnTo>
                        <a:pt x="44450" y="44450"/>
                      </a:lnTo>
                      <a:moveTo>
                        <a:pt x="44450" y="0"/>
                      </a:moveTo>
                      <a:lnTo>
                        <a:pt x="0" y="44450"/>
                      </a:lnTo>
                    </a:path>
                  </a:pathLst>
                </a:custGeom>
                <a:noFill/>
                <a:ln w="19050">
                  <a:solidFill>
                    <a:srgbClr val="D64545"/>
                  </a:solidFill>
                </a:ln>
              </p:spPr>
              <p:txBody>
                <a:bodyPr/>
                <a:p/>
              </p:txBody>
            </p:sp>
          </p:grpSp>
          <p:sp>
            <p:nvSpPr>
              <p:cNvPr id="23" name="TextBox 23"/>
              <p:cNvSpPr txBox="1"/>
              <p:nvPr/>
            </p:nvSpPr>
            <p:spPr>
              <a:xfrm>
                <a:off x="7200900" y="1952625"/>
                <a:ext cx="1088231" cy="3048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l"/>
                <a:r>
                  <a:rPr lang="zh-CN" sz="1500" b="1" dirty="0">
                    <a:solidFill>
                      <a:srgbClr val="2B3648"/>
                    </a:solidFill>
                    <a:latin typeface="Arial"/>
                    <a:ea typeface="Microsoft YaHei"/>
                    <a:cs typeface="Arial"/>
                  </a:rPr>
                  <a:t>绝对不能喂</a:t>
                </a:r>
              </a:p>
            </p:txBody>
          </p:sp>
          <p:sp>
            <p:nvSpPr>
              <p:cNvPr id="24" name="TextBox 24"/>
              <p:cNvSpPr txBox="1"/>
              <p:nvPr/>
            </p:nvSpPr>
            <p:spPr>
              <a:xfrm>
                <a:off x="7204710" y="2251710"/>
                <a:ext cx="3390900" cy="24384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l"/>
                <a:r>
                  <a:rPr lang="zh-CN" sz="1200" b="1" dirty="0">
                    <a:solidFill>
                      <a:srgbClr val="D64545"/>
                    </a:solidFill>
                    <a:latin typeface="Arial"/>
                    <a:ea typeface="Microsoft YaHei"/>
                    <a:cs typeface="Arial"/>
                  </a:rPr>
                  <a:t>公司机密、客户隐私、未公开财务、证件照片</a:t>
                </a:r>
              </a:p>
            </p:txBody>
          </p:sp>
        </p:grpSp>
        <p:grpSp>
          <p:nvGrpSpPr>
            <p:cNvPr id="34" name="Group 34"/>
            <p:cNvGrpSpPr/>
            <p:nvPr/>
          </p:nvGrpSpPr>
          <p:grpSpPr>
            <a:xfrm>
              <a:off x="571500" y="3390900"/>
              <a:ext cx="5334000" cy="1619250"/>
              <a:chOff x="571500" y="3390900"/>
              <a:chExt cx="5334000" cy="1619250"/>
            </a:xfrm>
          </p:grpSpPr>
          <p:sp>
            <p:nvSpPr>
              <p:cNvPr id="26" name="Rectangle 26"/>
              <p:cNvSpPr/>
              <p:nvPr/>
            </p:nvSpPr>
            <p:spPr>
              <a:xfrm>
                <a:off x="571500" y="3390900"/>
                <a:ext cx="5334000" cy="1619250"/>
              </a:xfrm>
              <a:prstGeom prst="roundRect">
                <a:avLst>
                  <a:gd name="adj" fmla="val 9412"/>
                </a:avLst>
              </a:prstGeom>
              <a:solidFill>
                <a:srgbClr val="FFFFFF"/>
              </a:solidFill>
              <a:ln w="9525">
                <a:solidFill>
                  <a:srgbClr val="D8E1EC"/>
                </a:solidFill>
              </a:ln>
            </p:spPr>
            <p:txBody>
              <a:bodyPr/>
              <a:p/>
            </p:txBody>
          </p:sp>
          <p:sp>
            <p:nvSpPr>
              <p:cNvPr id="27" name="Ellipse 27"/>
              <p:cNvSpPr/>
              <p:nvPr/>
            </p:nvSpPr>
            <p:spPr>
              <a:xfrm>
                <a:off x="857250" y="3695700"/>
                <a:ext cx="495300" cy="495300"/>
              </a:xfrm>
              <a:prstGeom prst="ellipse">
                <a:avLst/>
              </a:prstGeom>
              <a:solidFill>
                <a:srgbClr val="D6E6F9"/>
              </a:solidFill>
              <a:ln>
                <a:noFill/>
              </a:ln>
            </p:spPr>
            <p:txBody>
              <a:bodyPr/>
              <a:p/>
            </p:txBody>
          </p:sp>
          <p:grpSp>
            <p:nvGrpSpPr>
              <p:cNvPr id="31" name="Group 31"/>
              <p:cNvGrpSpPr/>
              <p:nvPr/>
            </p:nvGrpSpPr>
            <p:grpSpPr>
              <a:xfrm>
                <a:off x="1000260" y="3843338"/>
                <a:ext cx="209280" cy="200025"/>
                <a:chOff x="1000260" y="3843338"/>
                <a:chExt cx="209280" cy="200025"/>
              </a:xfrm>
            </p:grpSpPr>
            <p:sp>
              <p:nvSpPr>
                <p:cNvPr id="28" name="Freeform 28"/>
                <p:cNvSpPr/>
                <p:nvPr/>
              </p:nvSpPr>
              <p:spPr>
                <a:xfrm>
                  <a:off x="1000260" y="3843338"/>
                  <a:ext cx="209280" cy="200025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209280" h="200025">
                      <a:moveTo>
                        <a:pt x="104640" y="0"/>
                      </a:moveTo>
                      <a:cubicBezTo>
                        <a:pt x="130597" y="22965"/>
                        <a:pt x="164475" y="34922"/>
                        <a:pt x="199096" y="33338"/>
                      </a:cubicBezTo>
                      <a:cubicBezTo>
                        <a:pt x="209280" y="67981"/>
                        <a:pt x="204980" y="105274"/>
                        <a:pt x="187177" y="136690"/>
                      </a:cubicBezTo>
                      <a:cubicBezTo>
                        <a:pt x="169375" y="168106"/>
                        <a:pt x="139593" y="190959"/>
                        <a:pt x="104640" y="200025"/>
                      </a:cubicBezTo>
                      <a:cubicBezTo>
                        <a:pt x="69687" y="190959"/>
                        <a:pt x="39906" y="168106"/>
                        <a:pt x="22103" y="136690"/>
                      </a:cubicBezTo>
                      <a:cubicBezTo>
                        <a:pt x="4301" y="105274"/>
                        <a:pt x="0" y="67981"/>
                        <a:pt x="10184" y="33338"/>
                      </a:cubicBezTo>
                      <a:cubicBezTo>
                        <a:pt x="44805" y="34922"/>
                        <a:pt x="78683" y="22965"/>
                        <a:pt x="104640" y="0"/>
                      </a:cubicBezTo>
                    </a:path>
                  </a:pathLst>
                </a:custGeom>
                <a:noFill/>
                <a:ln w="19050">
                  <a:solidFill>
                    <a:srgbClr val="1565D8"/>
                  </a:solidFill>
                </a:ln>
              </p:spPr>
              <p:txBody>
                <a:bodyPr/>
                <a:p/>
              </p:txBody>
            </p:sp>
            <p:sp>
              <p:nvSpPr>
                <p:cNvPr id="29" name="Freeform 29"/>
                <p:cNvSpPr/>
                <p:nvPr/>
              </p:nvSpPr>
              <p:spPr>
                <a:xfrm>
                  <a:off x="1093788" y="3921125"/>
                  <a:ext cx="22225" cy="22225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22225" h="22225">
                      <a:moveTo>
                        <a:pt x="0" y="11112"/>
                      </a:moveTo>
                      <a:cubicBezTo>
                        <a:pt x="0" y="17250"/>
                        <a:pt x="4975" y="22225"/>
                        <a:pt x="11113" y="22225"/>
                      </a:cubicBezTo>
                      <a:cubicBezTo>
                        <a:pt x="17250" y="22225"/>
                        <a:pt x="22225" y="17250"/>
                        <a:pt x="22225" y="11112"/>
                      </a:cubicBezTo>
                      <a:cubicBezTo>
                        <a:pt x="22225" y="4975"/>
                        <a:pt x="17250" y="0"/>
                        <a:pt x="11113" y="0"/>
                      </a:cubicBezTo>
                      <a:cubicBezTo>
                        <a:pt x="4975" y="0"/>
                        <a:pt x="0" y="4975"/>
                        <a:pt x="0" y="11112"/>
                      </a:cubicBezTo>
                    </a:path>
                  </a:pathLst>
                </a:custGeom>
                <a:noFill/>
                <a:ln w="19050">
                  <a:solidFill>
                    <a:srgbClr val="1565D8"/>
                  </a:solidFill>
                </a:ln>
              </p:spPr>
              <p:txBody>
                <a:bodyPr/>
                <a:p/>
              </p:txBody>
            </p:sp>
            <p:sp>
              <p:nvSpPr>
                <p:cNvPr id="30" name="Freeform 30"/>
                <p:cNvSpPr/>
                <p:nvPr/>
              </p:nvSpPr>
              <p:spPr>
                <a:xfrm>
                  <a:off x="1104900" y="3943350"/>
                  <a:ext cx="9525" cy="27781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9525" h="27781">
                      <a:moveTo>
                        <a:pt x="0" y="0"/>
                      </a:moveTo>
                      <a:lnTo>
                        <a:pt x="0" y="27781"/>
                      </a:lnTo>
                    </a:path>
                  </a:pathLst>
                </a:custGeom>
                <a:noFill/>
                <a:ln w="19050">
                  <a:solidFill>
                    <a:srgbClr val="1565D8"/>
                  </a:solidFill>
                </a:ln>
              </p:spPr>
              <p:txBody>
                <a:bodyPr/>
                <a:p/>
              </p:txBody>
            </p:sp>
          </p:grpSp>
          <p:sp>
            <p:nvSpPr>
              <p:cNvPr id="32" name="TextBox 32"/>
              <p:cNvSpPr txBox="1"/>
              <p:nvPr/>
            </p:nvSpPr>
            <p:spPr>
              <a:xfrm>
                <a:off x="1485900" y="3724275"/>
                <a:ext cx="1508284" cy="3048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l"/>
                <a:r>
                  <a:rPr lang="zh-CN" sz="1500" b="1" dirty="0">
                    <a:solidFill>
                      <a:srgbClr val="2B3648"/>
                    </a:solidFill>
                    <a:latin typeface="Arial"/>
                    <a:ea typeface="Microsoft YaHei"/>
                    <a:cs typeface="Arial"/>
                  </a:rPr>
                  <a:t>只走批准的工具</a:t>
                </a:r>
              </a:p>
            </p:txBody>
          </p:sp>
          <p:sp>
            <p:nvSpPr>
              <p:cNvPr id="33" name="TextBox 33"/>
              <p:cNvSpPr txBox="1"/>
              <p:nvPr/>
            </p:nvSpPr>
            <p:spPr>
              <a:xfrm>
                <a:off x="1489710" y="4023360"/>
                <a:ext cx="2958846" cy="24384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l"/>
                <a:r>
                  <a:rPr lang="zh-CN" sz="1200" dirty="0">
                    <a:solidFill>
                      <a:srgbClr val="5B6B82"/>
                    </a:solidFill>
                    <a:latin typeface="Arial"/>
                    <a:ea typeface="Microsoft YaHei"/>
                    <a:cs typeface="Arial"/>
                  </a:rPr>
                  <a:t>不用公司没评估过的 AI，防止「影子 AI」</a:t>
                </a:r>
              </a:p>
            </p:txBody>
          </p:sp>
        </p:grpSp>
        <p:grpSp>
          <p:nvGrpSpPr>
            <p:cNvPr id="44" name="Group 44"/>
            <p:cNvGrpSpPr/>
            <p:nvPr/>
          </p:nvGrpSpPr>
          <p:grpSpPr>
            <a:xfrm>
              <a:off x="6286500" y="3390900"/>
              <a:ext cx="5334000" cy="1619250"/>
              <a:chOff x="6286500" y="3390900"/>
              <a:chExt cx="5334000" cy="1619250"/>
            </a:xfrm>
          </p:grpSpPr>
          <p:sp>
            <p:nvSpPr>
              <p:cNvPr id="35" name="Rectangle 35"/>
              <p:cNvSpPr/>
              <p:nvPr/>
            </p:nvSpPr>
            <p:spPr>
              <a:xfrm>
                <a:off x="6286500" y="3390900"/>
                <a:ext cx="5334000" cy="1619250"/>
              </a:xfrm>
              <a:prstGeom prst="roundRect">
                <a:avLst>
                  <a:gd name="adj" fmla="val 9412"/>
                </a:avLst>
              </a:prstGeom>
              <a:solidFill>
                <a:srgbClr val="FFFFFF"/>
              </a:solidFill>
              <a:ln w="9525">
                <a:solidFill>
                  <a:srgbClr val="D8E1EC"/>
                </a:solidFill>
              </a:ln>
            </p:spPr>
            <p:txBody>
              <a:bodyPr/>
              <a:p/>
            </p:txBody>
          </p:sp>
          <p:sp>
            <p:nvSpPr>
              <p:cNvPr id="36" name="Ellipse 36"/>
              <p:cNvSpPr/>
              <p:nvPr/>
            </p:nvSpPr>
            <p:spPr>
              <a:xfrm>
                <a:off x="6572250" y="3695700"/>
                <a:ext cx="495300" cy="495300"/>
              </a:xfrm>
              <a:prstGeom prst="ellipse">
                <a:avLst/>
              </a:prstGeom>
              <a:solidFill>
                <a:srgbClr val="D6E6F9"/>
              </a:solidFill>
              <a:ln>
                <a:noFill/>
              </a:ln>
            </p:spPr>
            <p:txBody>
              <a:bodyPr/>
              <a:p/>
            </p:txBody>
          </p:sp>
          <p:grpSp>
            <p:nvGrpSpPr>
              <p:cNvPr id="41" name="Group 41"/>
              <p:cNvGrpSpPr/>
              <p:nvPr/>
            </p:nvGrpSpPr>
            <p:grpSpPr>
              <a:xfrm>
                <a:off x="6723396" y="3832225"/>
                <a:ext cx="185404" cy="222254"/>
                <a:chOff x="6723396" y="3832225"/>
                <a:chExt cx="185404" cy="222254"/>
              </a:xfrm>
            </p:grpSpPr>
            <p:sp>
              <p:nvSpPr>
                <p:cNvPr id="37" name="Freeform 37"/>
                <p:cNvSpPr/>
                <p:nvPr/>
              </p:nvSpPr>
              <p:spPr>
                <a:xfrm>
                  <a:off x="6775450" y="3854450"/>
                  <a:ext cx="33338" cy="100012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33338" h="100012">
                      <a:moveTo>
                        <a:pt x="0" y="100012"/>
                      </a:moveTo>
                      <a:lnTo>
                        <a:pt x="0" y="16669"/>
                      </a:lnTo>
                      <a:cubicBezTo>
                        <a:pt x="0" y="7463"/>
                        <a:pt x="7463" y="0"/>
                        <a:pt x="16669" y="0"/>
                      </a:cubicBezTo>
                      <a:cubicBezTo>
                        <a:pt x="25875" y="0"/>
                        <a:pt x="33338" y="7463"/>
                        <a:pt x="33338" y="16669"/>
                      </a:cubicBezTo>
                      <a:lnTo>
                        <a:pt x="33338" y="88900"/>
                      </a:lnTo>
                    </a:path>
                  </a:pathLst>
                </a:custGeom>
                <a:noFill/>
                <a:ln w="19050">
                  <a:solidFill>
                    <a:srgbClr val="1565D8"/>
                  </a:solidFill>
                </a:ln>
              </p:spPr>
              <p:txBody>
                <a:bodyPr/>
                <a:p/>
              </p:txBody>
            </p:sp>
            <p:sp>
              <p:nvSpPr>
                <p:cNvPr id="38" name="Freeform 38"/>
                <p:cNvSpPr/>
                <p:nvPr/>
              </p:nvSpPr>
              <p:spPr>
                <a:xfrm>
                  <a:off x="6808788" y="3832225"/>
                  <a:ext cx="33338" cy="111125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33338" h="111125">
                      <a:moveTo>
                        <a:pt x="0" y="38894"/>
                      </a:moveTo>
                      <a:lnTo>
                        <a:pt x="0" y="16669"/>
                      </a:lnTo>
                      <a:cubicBezTo>
                        <a:pt x="0" y="7463"/>
                        <a:pt x="7463" y="0"/>
                        <a:pt x="16669" y="0"/>
                      </a:cubicBezTo>
                      <a:cubicBezTo>
                        <a:pt x="25875" y="0"/>
                        <a:pt x="33338" y="7463"/>
                        <a:pt x="33338" y="16669"/>
                      </a:cubicBezTo>
                      <a:lnTo>
                        <a:pt x="33338" y="111125"/>
                      </a:lnTo>
                    </a:path>
                  </a:pathLst>
                </a:custGeom>
                <a:noFill/>
                <a:ln w="19050">
                  <a:solidFill>
                    <a:srgbClr val="1565D8"/>
                  </a:solidFill>
                </a:ln>
              </p:spPr>
              <p:txBody>
                <a:bodyPr/>
                <a:p/>
              </p:txBody>
            </p:sp>
            <p:sp>
              <p:nvSpPr>
                <p:cNvPr id="39" name="Freeform 39"/>
                <p:cNvSpPr/>
                <p:nvPr/>
              </p:nvSpPr>
              <p:spPr>
                <a:xfrm>
                  <a:off x="6842125" y="3854450"/>
                  <a:ext cx="33338" cy="88900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33338" h="88900">
                      <a:moveTo>
                        <a:pt x="0" y="16669"/>
                      </a:moveTo>
                      <a:cubicBezTo>
                        <a:pt x="0" y="7463"/>
                        <a:pt x="7463" y="0"/>
                        <a:pt x="16669" y="0"/>
                      </a:cubicBezTo>
                      <a:cubicBezTo>
                        <a:pt x="25875" y="0"/>
                        <a:pt x="33338" y="7463"/>
                        <a:pt x="33338" y="16669"/>
                      </a:cubicBezTo>
                      <a:lnTo>
                        <a:pt x="33338" y="88900"/>
                      </a:lnTo>
                    </a:path>
                  </a:pathLst>
                </a:custGeom>
                <a:noFill/>
                <a:ln w="19050">
                  <a:solidFill>
                    <a:srgbClr val="1565D8"/>
                  </a:solidFill>
                </a:ln>
              </p:spPr>
              <p:txBody>
                <a:bodyPr/>
                <a:p/>
              </p:txBody>
            </p:sp>
            <p:sp>
              <p:nvSpPr>
                <p:cNvPr id="40" name="Freeform 40"/>
                <p:cNvSpPr/>
                <p:nvPr/>
              </p:nvSpPr>
              <p:spPr>
                <a:xfrm>
                  <a:off x="6723396" y="3876675"/>
                  <a:ext cx="185404" cy="177804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185404" h="177804">
                      <a:moveTo>
                        <a:pt x="152067" y="16669"/>
                      </a:moveTo>
                      <a:cubicBezTo>
                        <a:pt x="152067" y="7463"/>
                        <a:pt x="159530" y="0"/>
                        <a:pt x="168735" y="0"/>
                      </a:cubicBezTo>
                      <a:cubicBezTo>
                        <a:pt x="177941" y="0"/>
                        <a:pt x="185404" y="7463"/>
                        <a:pt x="185404" y="16669"/>
                      </a:cubicBezTo>
                      <a:lnTo>
                        <a:pt x="185404" y="111125"/>
                      </a:lnTo>
                      <a:cubicBezTo>
                        <a:pt x="185404" y="147949"/>
                        <a:pt x="155553" y="177800"/>
                        <a:pt x="118729" y="177800"/>
                      </a:cubicBezTo>
                      <a:lnTo>
                        <a:pt x="96504" y="177800"/>
                      </a:lnTo>
                      <a:lnTo>
                        <a:pt x="98816" y="177800"/>
                      </a:lnTo>
                      <a:cubicBezTo>
                        <a:pt x="76385" y="177804"/>
                        <a:pt x="55456" y="166529"/>
                        <a:pt x="43120" y="147796"/>
                      </a:cubicBezTo>
                      <a:cubicBezTo>
                        <a:pt x="42391" y="146687"/>
                        <a:pt x="41665" y="145576"/>
                        <a:pt x="40942" y="144463"/>
                      </a:cubicBezTo>
                      <a:cubicBezTo>
                        <a:pt x="37475" y="139140"/>
                        <a:pt x="25306" y="117926"/>
                        <a:pt x="4426" y="80810"/>
                      </a:cubicBezTo>
                      <a:cubicBezTo>
                        <a:pt x="0" y="72943"/>
                        <a:pt x="2640" y="62982"/>
                        <a:pt x="10382" y="58341"/>
                      </a:cubicBezTo>
                      <a:cubicBezTo>
                        <a:pt x="18542" y="53445"/>
                        <a:pt x="28986" y="54727"/>
                        <a:pt x="35719" y="61452"/>
                      </a:cubicBezTo>
                      <a:lnTo>
                        <a:pt x="52054" y="77788"/>
                      </a:lnTo>
                    </a:path>
                  </a:pathLst>
                </a:custGeom>
                <a:noFill/>
                <a:ln w="19050">
                  <a:solidFill>
                    <a:srgbClr val="1565D8"/>
                  </a:solidFill>
                </a:ln>
              </p:spPr>
              <p:txBody>
                <a:bodyPr/>
                <a:p/>
              </p:txBody>
            </p:sp>
          </p:grpSp>
          <p:sp>
            <p:nvSpPr>
              <p:cNvPr id="42" name="TextBox 42"/>
              <p:cNvSpPr txBox="1"/>
              <p:nvPr/>
            </p:nvSpPr>
            <p:spPr>
              <a:xfrm>
                <a:off x="7200900" y="3724275"/>
                <a:ext cx="1298258" cy="3048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l"/>
                <a:r>
                  <a:rPr lang="zh-CN" sz="1500" b="1" dirty="0">
                    <a:solidFill>
                      <a:srgbClr val="2B3648"/>
                    </a:solidFill>
                    <a:latin typeface="Arial"/>
                    <a:ea typeface="Microsoft YaHei"/>
                    <a:cs typeface="Arial"/>
                  </a:rPr>
                  <a:t>人做最后把关</a:t>
                </a:r>
              </a:p>
            </p:txBody>
          </p:sp>
          <p:sp>
            <p:nvSpPr>
              <p:cNvPr id="43" name="TextBox 43"/>
              <p:cNvSpPr txBox="1"/>
              <p:nvPr/>
            </p:nvSpPr>
            <p:spPr>
              <a:xfrm>
                <a:off x="7204710" y="4023360"/>
                <a:ext cx="2614803" cy="24384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l"/>
                <a:r>
                  <a:rPr lang="zh-CN" sz="1200" dirty="0">
                    <a:solidFill>
                      <a:srgbClr val="5B6B82"/>
                    </a:solidFill>
                    <a:latin typeface="Arial"/>
                    <a:ea typeface="Microsoft YaHei"/>
                    <a:cs typeface="Arial"/>
                  </a:rPr>
                  <a:t>AI 出初稿，重要判断和发布由你拍板</a:t>
                </a:r>
              </a:p>
            </p:txBody>
          </p:sp>
        </p:grpSp>
      </p:grpSp>
      <p:grpSp>
        <p:nvGrpSpPr>
          <p:cNvPr id="50" name="Group 50"/>
          <p:cNvGrpSpPr/>
          <p:nvPr/>
        </p:nvGrpSpPr>
        <p:grpSpPr>
          <a:xfrm>
            <a:off x="571500" y="5295900"/>
            <a:ext cx="11049000" cy="690562"/>
            <a:chOff x="571500" y="5295900"/>
            <a:chExt cx="11049000" cy="690562"/>
          </a:xfrm>
        </p:grpSpPr>
        <p:sp>
          <p:nvSpPr>
            <p:cNvPr id="46" name="Rectangle 46"/>
            <p:cNvSpPr/>
            <p:nvPr/>
          </p:nvSpPr>
          <p:spPr>
            <a:xfrm>
              <a:off x="571500" y="5295900"/>
              <a:ext cx="11049000" cy="685800"/>
            </a:xfrm>
            <a:prstGeom prst="roundRect">
              <a:avLst>
                <a:gd name="adj" fmla="val 22222"/>
              </a:avLst>
            </a:prstGeom>
            <a:solidFill>
              <a:srgbClr val="D6E6F9"/>
            </a:solidFill>
            <a:ln>
              <a:noFill/>
            </a:ln>
          </p:spPr>
          <p:txBody>
            <a:bodyPr/>
            <a:p/>
          </p:txBody>
        </p:sp>
        <p:sp>
          <p:nvSpPr>
            <p:cNvPr id="47" name="Rectangle 47"/>
            <p:cNvSpPr/>
            <p:nvPr/>
          </p:nvSpPr>
          <p:spPr>
            <a:xfrm>
              <a:off x="571500" y="5295900"/>
              <a:ext cx="76200" cy="685800"/>
            </a:xfrm>
            <a:prstGeom prst="roundRect">
              <a:avLst>
                <a:gd name="adj" fmla="val 50000"/>
              </a:avLst>
            </a:prstGeom>
            <a:solidFill>
              <a:srgbClr val="1565D8"/>
            </a:solidFill>
            <a:ln>
              <a:noFill/>
            </a:ln>
          </p:spPr>
          <p:txBody>
            <a:bodyPr/>
            <a:p/>
          </p:txBody>
        </p:sp>
        <p:sp>
          <p:nvSpPr>
            <p:cNvPr id="48" name="TextBox 48"/>
            <p:cNvSpPr txBox="1"/>
            <p:nvPr/>
          </p:nvSpPr>
          <p:spPr>
            <a:xfrm>
              <a:off x="859155" y="5474018"/>
              <a:ext cx="3710800" cy="27432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b="1" dirty="0">
                  <a:solidFill>
                    <a:srgbClr val="0B4EA2"/>
                  </a:solidFill>
                  <a:latin typeface="Arial"/>
                  <a:ea typeface="Microsoft YaHei"/>
                  <a:cs typeface="Arial"/>
                </a:rPr>
                <a:t>责任四原则：人监督 · 可解释 · 合规 · 公平</a:t>
              </a:r>
            </a:p>
          </p:txBody>
        </p:sp>
        <p:sp>
          <p:nvSpPr>
            <p:cNvPr id="49" name="TextBox 49"/>
            <p:cNvSpPr txBox="1"/>
            <p:nvPr/>
          </p:nvSpPr>
          <p:spPr>
            <a:xfrm>
              <a:off x="862965" y="5773102"/>
              <a:ext cx="2126932" cy="21336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050" dirty="0">
                  <a:solidFill>
                    <a:srgbClr val="0B4EA2"/>
                  </a:solidFill>
                  <a:latin typeface="Arial"/>
                  <a:ea typeface="Microsoft YaHei"/>
                  <a:cs typeface="Arial"/>
                </a:rPr>
                <a:t>记住这条线，怎么用都不会翻车。</a:t>
              </a:r>
            </a:p>
          </p:txBody>
        </p:sp>
      </p:grpSp>
      <p:grpSp>
        <p:nvGrpSpPr>
          <p:cNvPr id="53" name="Group 53"/>
          <p:cNvGrpSpPr/>
          <p:nvPr/>
        </p:nvGrpSpPr>
        <p:grpSpPr>
          <a:xfrm>
            <a:off x="560070" y="6341745"/>
            <a:ext cx="11071860" cy="182880"/>
            <a:chOff x="560070" y="6341745"/>
            <a:chExt cx="11071860" cy="182880"/>
          </a:xfrm>
        </p:grpSpPr>
        <p:sp>
          <p:nvSpPr>
            <p:cNvPr id="51" name="TextBox 51"/>
            <p:cNvSpPr txBox="1"/>
            <p:nvPr/>
          </p:nvSpPr>
          <p:spPr>
            <a:xfrm>
              <a:off x="560070" y="6341745"/>
              <a:ext cx="1054989" cy="18288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00" dirty="0">
                  <a:solidFill>
                    <a:srgbClr val="8B99AE"/>
                  </a:solidFill>
                  <a:latin typeface="Arial"/>
                  <a:ea typeface="Microsoft YaHei"/>
                  <a:cs typeface="Arial"/>
                </a:rPr>
                <a:t>大模型通识 · 企业版</a:t>
              </a:r>
            </a:p>
          </p:txBody>
        </p:sp>
        <p:sp>
          <p:nvSpPr>
            <p:cNvPr id="52" name="TextBox 52"/>
            <p:cNvSpPr txBox="1"/>
            <p:nvPr/>
          </p:nvSpPr>
          <p:spPr>
            <a:xfrm>
              <a:off x="11207020" y="6341745"/>
              <a:ext cx="424910" cy="18288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r"/>
              <a:r>
                <a:rPr lang="zh-CN" sz="900" dirty="0">
                  <a:solidFill>
                    <a:srgbClr val="8B99AE"/>
                  </a:solidFill>
                  <a:latin typeface="Arial"/>
                  <a:ea typeface="Microsoft YaHei"/>
                  <a:cs typeface="Arial"/>
                </a:rPr>
                <a:t>45 / 51</a:t>
              </a:r>
            </a:p>
          </p:txBody>
        </p:sp>
      </p:grpSp>
    </p:spTree>
  </p:cSld>
  <p:clrMapOvr>
    <a:masterClrMapping/>
  </p:clrMapOvr>
  <p:transition xmlns:p14="http://schemas.microsoft.com/office/powerpoint/2010/main" p14:dur="400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entr" presetSubtype="4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slide(fromBottom)">
                                      <p:cBhvr>
                                        <p:cTn id="7" dur="400"/>
                                        <p:tgtEl>
                                          <p:spTgt spid="4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900"/>
                            </p:stCondLst>
                            <p:childTnLst>
                              <p:par>
                                <p:cTn id="9" presetID="2" presetClass="entr" presetSubtype="4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slide(fromBottom)">
                                      <p:cBhvr>
                                        <p:cTn id="11" dur="400"/>
                                        <p:tgtEl>
                                          <p:spTgt spid="5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5" grpId="0"/>
      <p:bldP spid="50" grpId="0"/>
    </p:bldLst>
  </p:timing>
</p:sld>
</file>

<file path=ppt/slides/slide4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grpSp>
        <p:nvGrpSpPr>
          <p:cNvPr id="5" name="Group 5"/>
          <p:cNvGrpSpPr/>
          <p:nvPr/>
        </p:nvGrpSpPr>
        <p:grpSpPr>
          <a:xfrm>
            <a:off x="-1619250" y="0"/>
            <a:ext cx="13811250" cy="8477250"/>
            <a:chOff x="-1619250" y="0"/>
            <a:chExt cx="13811250" cy="8477250"/>
          </a:xfrm>
        </p:grpSpPr>
        <p:sp>
          <p:nvSpPr>
            <p:cNvPr id="2" name="Rectangle 2"/>
            <p:cNvSpPr/>
            <p:nvPr/>
          </p:nvSpPr>
          <p:spPr>
            <a:xfrm>
              <a:off x="0" y="0"/>
              <a:ext cx="12192000" cy="6858000"/>
            </a:xfrm>
            <a:prstGeom prst="rect">
              <a:avLst/>
            </a:prstGeom>
            <a:solidFill>
              <a:srgbClr val="F5F7FA"/>
            </a:solidFill>
            <a:ln>
              <a:noFill/>
            </a:ln>
          </p:spPr>
          <p:txBody>
            <a:bodyPr/>
            <a:p/>
          </p:txBody>
        </p:sp>
        <p:sp>
          <p:nvSpPr>
            <p:cNvPr id="3" name="Rectangle 3"/>
            <p:cNvSpPr/>
            <p:nvPr/>
          </p:nvSpPr>
          <p:spPr>
            <a:xfrm>
              <a:off x="0" y="0"/>
              <a:ext cx="12192000" cy="6858000"/>
            </a:xfrm>
            <a:prstGeom prst="rect">
              <a:avLst/>
            </a:prstGeom>
            <a:gradFill>
              <a:gsLst>
                <a:gs pos="0">
                  <a:srgbClr val="1565D8">
                    <a:alpha val="6000"/>
                  </a:srgbClr>
                </a:gs>
                <a:gs pos="100000">
                  <a:srgbClr val="1565D8">
                    <a:alpha val="0"/>
                  </a:srgbClr>
                </a:gs>
              </a:gsLst>
              <a:path path="circle">
                <a:fillToRect l="50000" t="50000" r="50000" b="50000"/>
              </a:path>
            </a:gradFill>
            <a:ln>
              <a:noFill/>
            </a:ln>
          </p:spPr>
          <p:txBody>
            <a:bodyPr/>
            <a:p/>
          </p:txBody>
        </p:sp>
        <p:sp>
          <p:nvSpPr>
            <p:cNvPr id="4" name="Ellipse 4"/>
            <p:cNvSpPr/>
            <p:nvPr/>
          </p:nvSpPr>
          <p:spPr>
            <a:xfrm>
              <a:off x="-1619250" y="4667250"/>
              <a:ext cx="3810000" cy="3810000"/>
            </a:xfrm>
            <a:prstGeom prst="ellipse">
              <a:avLst/>
            </a:prstGeom>
            <a:noFill/>
            <a:ln w="14288">
              <a:solidFill>
                <a:srgbClr val="D6E6F9">
                  <a:alpha val="80000"/>
                </a:srgbClr>
              </a:solidFill>
            </a:ln>
          </p:spPr>
          <p:txBody>
            <a:bodyPr/>
            <a:p/>
          </p:txBody>
        </p:sp>
      </p:grpSp>
      <p:grpSp>
        <p:nvGrpSpPr>
          <p:cNvPr id="9" name="Group 9"/>
          <p:cNvGrpSpPr/>
          <p:nvPr/>
        </p:nvGrpSpPr>
        <p:grpSpPr>
          <a:xfrm>
            <a:off x="571500" y="685800"/>
            <a:ext cx="3092529" cy="700088"/>
            <a:chOff x="571500" y="685800"/>
            <a:chExt cx="3092529" cy="700088"/>
          </a:xfrm>
        </p:grpSpPr>
        <p:sp>
          <p:nvSpPr>
            <p:cNvPr id="6" name="Rectangle 6"/>
            <p:cNvSpPr/>
            <p:nvPr/>
          </p:nvSpPr>
          <p:spPr>
            <a:xfrm>
              <a:off x="571500" y="685800"/>
              <a:ext cx="76200" cy="323850"/>
            </a:xfrm>
            <a:prstGeom prst="roundRect">
              <a:avLst>
                <a:gd name="adj" fmla="val 50000"/>
              </a:avLst>
            </a:prstGeom>
            <a:solidFill>
              <a:srgbClr val="1565D8"/>
            </a:solidFill>
            <a:ln>
              <a:noFill/>
            </a:ln>
          </p:spPr>
          <p:txBody>
            <a:bodyPr/>
            <a:p/>
          </p:txBody>
        </p:sp>
        <p:sp>
          <p:nvSpPr>
            <p:cNvPr id="7" name="TextBox 7"/>
            <p:cNvSpPr txBox="1"/>
            <p:nvPr/>
          </p:nvSpPr>
          <p:spPr>
            <a:xfrm>
              <a:off x="771525" y="700088"/>
              <a:ext cx="2892504" cy="45720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2250" b="1" dirty="0">
                  <a:solidFill>
                    <a:srgbClr val="2B3648"/>
                  </a:solidFill>
                  <a:latin typeface="Arial"/>
                  <a:ea typeface="Microsoft YaHei"/>
                  <a:cs typeface="Arial"/>
                </a:rPr>
                <a:t>什么数据能喂给 AI</a:t>
              </a:r>
            </a:p>
          </p:txBody>
        </p:sp>
        <p:sp>
          <p:nvSpPr>
            <p:cNvPr id="8" name="TextBox 8"/>
            <p:cNvSpPr txBox="1"/>
            <p:nvPr/>
          </p:nvSpPr>
          <p:spPr>
            <a:xfrm>
              <a:off x="782955" y="1111568"/>
              <a:ext cx="2221563" cy="27432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5B6B82"/>
                  </a:solidFill>
                  <a:latin typeface="Arial"/>
                  <a:ea typeface="Microsoft YaHei"/>
                  <a:cs typeface="Arial"/>
                </a:rPr>
                <a:t>三档分级，喂之前对一下</a:t>
              </a:r>
            </a:p>
          </p:txBody>
        </p:sp>
      </p:grpSp>
      <p:grpSp>
        <p:nvGrpSpPr>
          <p:cNvPr id="62" name="Group 62"/>
          <p:cNvGrpSpPr/>
          <p:nvPr/>
        </p:nvGrpSpPr>
        <p:grpSpPr>
          <a:xfrm>
            <a:off x="571500" y="1619250"/>
            <a:ext cx="10991850" cy="3714750"/>
            <a:chOff x="571500" y="1619250"/>
            <a:chExt cx="10991850" cy="3714750"/>
          </a:xfrm>
        </p:grpSpPr>
        <p:grpSp>
          <p:nvGrpSpPr>
            <p:cNvPr id="26" name="Group 26"/>
            <p:cNvGrpSpPr/>
            <p:nvPr/>
          </p:nvGrpSpPr>
          <p:grpSpPr>
            <a:xfrm>
              <a:off x="571500" y="1619250"/>
              <a:ext cx="3524250" cy="3714750"/>
              <a:chOff x="571500" y="1619250"/>
              <a:chExt cx="3524250" cy="3714750"/>
            </a:xfrm>
          </p:grpSpPr>
          <p:sp>
            <p:nvSpPr>
              <p:cNvPr id="10" name="Rectangle 10"/>
              <p:cNvSpPr/>
              <p:nvPr/>
            </p:nvSpPr>
            <p:spPr>
              <a:xfrm>
                <a:off x="571500" y="1619250"/>
                <a:ext cx="3524250" cy="3714750"/>
              </a:xfrm>
              <a:prstGeom prst="roundRect">
                <a:avLst>
                  <a:gd name="adj" fmla="val 4324"/>
                </a:avLst>
              </a:prstGeom>
              <a:solidFill>
                <a:srgbClr val="FFFFFF"/>
              </a:solidFill>
              <a:ln w="9525">
                <a:solidFill>
                  <a:srgbClr val="D8E1EC"/>
                </a:solidFill>
              </a:ln>
            </p:spPr>
            <p:txBody>
              <a:bodyPr/>
              <a:p/>
            </p:txBody>
          </p:sp>
          <p:sp>
            <p:nvSpPr>
              <p:cNvPr id="11" name="Rectangle 11"/>
              <p:cNvSpPr/>
              <p:nvPr/>
            </p:nvSpPr>
            <p:spPr>
              <a:xfrm>
                <a:off x="571500" y="1619250"/>
                <a:ext cx="3524250" cy="914400"/>
              </a:xfrm>
              <a:prstGeom prst="roundRect">
                <a:avLst>
                  <a:gd name="adj" fmla="val 16667"/>
                </a:avLst>
              </a:prstGeom>
              <a:solidFill>
                <a:srgbClr val="D6E6F9"/>
              </a:solidFill>
              <a:ln>
                <a:noFill/>
              </a:ln>
            </p:spPr>
            <p:txBody>
              <a:bodyPr/>
              <a:p/>
            </p:txBody>
          </p:sp>
          <p:sp>
            <p:nvSpPr>
              <p:cNvPr id="12" name="Rectangle 12"/>
              <p:cNvSpPr/>
              <p:nvPr/>
            </p:nvSpPr>
            <p:spPr>
              <a:xfrm>
                <a:off x="571500" y="2190750"/>
                <a:ext cx="3524250" cy="342900"/>
              </a:xfrm>
              <a:prstGeom prst="rect">
                <a:avLst/>
              </a:prstGeom>
              <a:solidFill>
                <a:srgbClr val="D6E6F9"/>
              </a:solidFill>
              <a:ln>
                <a:noFill/>
              </a:ln>
            </p:spPr>
            <p:txBody>
              <a:bodyPr/>
              <a:p/>
            </p:txBody>
          </p:sp>
          <p:sp>
            <p:nvSpPr>
              <p:cNvPr id="13" name="TextBox 13"/>
              <p:cNvSpPr txBox="1"/>
              <p:nvPr/>
            </p:nvSpPr>
            <p:spPr>
              <a:xfrm>
                <a:off x="2066354" y="1889760"/>
                <a:ext cx="534543" cy="24384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ctr"/>
                <a:r>
                  <a:rPr lang="zh-CN" sz="1200" b="1" dirty="0">
                    <a:solidFill>
                      <a:srgbClr val="1565D8"/>
                    </a:solidFill>
                    <a:latin typeface="Arial"/>
                    <a:ea typeface="Microsoft YaHei"/>
                    <a:cs typeface="Arial"/>
                  </a:rPr>
                  <a:t>绿区</a:t>
                </a:r>
              </a:p>
            </p:txBody>
          </p:sp>
          <p:sp>
            <p:nvSpPr>
              <p:cNvPr id="14" name="TextBox 14"/>
              <p:cNvSpPr txBox="1"/>
              <p:nvPr/>
            </p:nvSpPr>
            <p:spPr>
              <a:xfrm>
                <a:off x="1248692" y="2200275"/>
                <a:ext cx="2169866" cy="3048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ctr"/>
                <a:r>
                  <a:rPr lang="zh-CN" sz="1500" b="1" dirty="0">
                    <a:solidFill>
                      <a:srgbClr val="0B4EA2"/>
                    </a:solidFill>
                    <a:latin typeface="Arial"/>
                    <a:ea typeface="Microsoft YaHei"/>
                    <a:cs typeface="Arial"/>
                  </a:rPr>
                  <a:t>公开信息，直接用</a:t>
                </a:r>
              </a:p>
            </p:txBody>
          </p:sp>
          <p:sp>
            <p:nvSpPr>
              <p:cNvPr id="15" name="Ellipse 15"/>
              <p:cNvSpPr/>
              <p:nvPr/>
            </p:nvSpPr>
            <p:spPr>
              <a:xfrm>
                <a:off x="781050" y="2857500"/>
                <a:ext cx="419100" cy="419100"/>
              </a:xfrm>
              <a:prstGeom prst="ellipse">
                <a:avLst/>
              </a:prstGeom>
              <a:solidFill>
                <a:srgbClr val="E9EEF5"/>
              </a:solidFill>
              <a:ln>
                <a:noFill/>
              </a:ln>
            </p:spPr>
            <p:txBody>
              <a:bodyPr/>
              <a:p/>
            </p:txBody>
          </p:sp>
          <p:grpSp>
            <p:nvGrpSpPr>
              <p:cNvPr id="19" name="Group 19"/>
              <p:cNvGrpSpPr/>
              <p:nvPr/>
            </p:nvGrpSpPr>
            <p:grpSpPr>
              <a:xfrm>
                <a:off x="923925" y="2981325"/>
                <a:ext cx="133350" cy="171450"/>
                <a:chOff x="923925" y="2981325"/>
                <a:chExt cx="133350" cy="171450"/>
              </a:xfrm>
            </p:grpSpPr>
            <p:sp>
              <p:nvSpPr>
                <p:cNvPr id="16" name="Freeform 16"/>
                <p:cNvSpPr/>
                <p:nvPr/>
              </p:nvSpPr>
              <p:spPr>
                <a:xfrm>
                  <a:off x="923925" y="3057525"/>
                  <a:ext cx="133350" cy="95250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133350" h="95250">
                      <a:moveTo>
                        <a:pt x="0" y="19050"/>
                      </a:moveTo>
                      <a:cubicBezTo>
                        <a:pt x="0" y="8529"/>
                        <a:pt x="8529" y="0"/>
                        <a:pt x="19050" y="0"/>
                      </a:cubicBezTo>
                      <a:lnTo>
                        <a:pt x="114300" y="0"/>
                      </a:lnTo>
                      <a:cubicBezTo>
                        <a:pt x="124821" y="0"/>
                        <a:pt x="133350" y="8529"/>
                        <a:pt x="133350" y="19050"/>
                      </a:cubicBezTo>
                      <a:lnTo>
                        <a:pt x="133350" y="76200"/>
                      </a:lnTo>
                      <a:cubicBezTo>
                        <a:pt x="133350" y="86721"/>
                        <a:pt x="124821" y="95250"/>
                        <a:pt x="114300" y="95250"/>
                      </a:cubicBezTo>
                      <a:lnTo>
                        <a:pt x="19050" y="95250"/>
                      </a:lnTo>
                      <a:cubicBezTo>
                        <a:pt x="8529" y="95250"/>
                        <a:pt x="0" y="86721"/>
                        <a:pt x="0" y="76200"/>
                      </a:cubicBezTo>
                      <a:lnTo>
                        <a:pt x="0" y="19050"/>
                      </a:lnTo>
                    </a:path>
                  </a:pathLst>
                </a:custGeom>
                <a:noFill/>
                <a:ln w="19050">
                  <a:solidFill>
                    <a:srgbClr val="D64545"/>
                  </a:solidFill>
                </a:ln>
              </p:spPr>
              <p:txBody>
                <a:bodyPr/>
                <a:p/>
              </p:txBody>
            </p:sp>
            <p:sp>
              <p:nvSpPr>
                <p:cNvPr id="17" name="Freeform 17"/>
                <p:cNvSpPr/>
                <p:nvPr/>
              </p:nvSpPr>
              <p:spPr>
                <a:xfrm>
                  <a:off x="981075" y="3095625"/>
                  <a:ext cx="19050" cy="19050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19050" h="19050">
                      <a:moveTo>
                        <a:pt x="0" y="9525"/>
                      </a:moveTo>
                      <a:cubicBezTo>
                        <a:pt x="0" y="14786"/>
                        <a:pt x="4264" y="19050"/>
                        <a:pt x="9525" y="19050"/>
                      </a:cubicBezTo>
                      <a:cubicBezTo>
                        <a:pt x="14786" y="19050"/>
                        <a:pt x="19050" y="14786"/>
                        <a:pt x="19050" y="9525"/>
                      </a:cubicBezTo>
                      <a:cubicBezTo>
                        <a:pt x="19050" y="4264"/>
                        <a:pt x="14786" y="0"/>
                        <a:pt x="9525" y="0"/>
                      </a:cubicBezTo>
                      <a:cubicBezTo>
                        <a:pt x="4264" y="0"/>
                        <a:pt x="0" y="4264"/>
                        <a:pt x="0" y="9525"/>
                      </a:cubicBezTo>
                    </a:path>
                  </a:pathLst>
                </a:custGeom>
                <a:noFill/>
                <a:ln w="19050">
                  <a:solidFill>
                    <a:srgbClr val="D64545"/>
                  </a:solidFill>
                </a:ln>
              </p:spPr>
              <p:txBody>
                <a:bodyPr/>
                <a:p/>
              </p:txBody>
            </p:sp>
            <p:sp>
              <p:nvSpPr>
                <p:cNvPr id="18" name="Freeform 18"/>
                <p:cNvSpPr/>
                <p:nvPr/>
              </p:nvSpPr>
              <p:spPr>
                <a:xfrm>
                  <a:off x="952500" y="2981325"/>
                  <a:ext cx="76200" cy="76200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76200" h="76200">
                      <a:moveTo>
                        <a:pt x="0" y="76200"/>
                      </a:moveTo>
                      <a:lnTo>
                        <a:pt x="0" y="38100"/>
                      </a:lnTo>
                      <a:cubicBezTo>
                        <a:pt x="0" y="17058"/>
                        <a:pt x="17058" y="0"/>
                        <a:pt x="38100" y="0"/>
                      </a:cubicBezTo>
                      <a:cubicBezTo>
                        <a:pt x="59142" y="0"/>
                        <a:pt x="76200" y="17058"/>
                        <a:pt x="76200" y="38100"/>
                      </a:cubicBezTo>
                      <a:lnTo>
                        <a:pt x="76200" y="76200"/>
                      </a:lnTo>
                    </a:path>
                  </a:pathLst>
                </a:custGeom>
                <a:noFill/>
                <a:ln w="19050">
                  <a:solidFill>
                    <a:srgbClr val="D64545"/>
                  </a:solidFill>
                </a:ln>
              </p:spPr>
              <p:txBody>
                <a:bodyPr/>
                <a:p/>
              </p:txBody>
            </p:sp>
          </p:grpSp>
          <p:sp>
            <p:nvSpPr>
              <p:cNvPr id="20" name="Rectangle 20"/>
              <p:cNvSpPr/>
              <p:nvPr/>
            </p:nvSpPr>
            <p:spPr>
              <a:xfrm>
                <a:off x="1314450" y="2914650"/>
                <a:ext cx="1066800" cy="304800"/>
              </a:xfrm>
              <a:prstGeom prst="roundRect">
                <a:avLst>
                  <a:gd name="adj" fmla="val 50000"/>
                </a:avLst>
              </a:prstGeom>
              <a:solidFill>
                <a:srgbClr val="E9EEF5"/>
              </a:solidFill>
              <a:ln>
                <a:noFill/>
              </a:ln>
            </p:spPr>
            <p:txBody>
              <a:bodyPr/>
              <a:p/>
            </p:txBody>
          </p:sp>
          <p:sp>
            <p:nvSpPr>
              <p:cNvPr id="21" name="TextBox 21"/>
              <p:cNvSpPr txBox="1"/>
              <p:nvPr/>
            </p:nvSpPr>
            <p:spPr>
              <a:xfrm>
                <a:off x="1455943" y="3001328"/>
                <a:ext cx="783815" cy="21336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ctr"/>
                <a:r>
                  <a:rPr lang="zh-CN" sz="1050" b="1" dirty="0">
                    <a:solidFill>
                      <a:srgbClr val="5B6B82"/>
                    </a:solidFill>
                    <a:latin typeface="Arial"/>
                    <a:ea typeface="Microsoft YaHei"/>
                    <a:cs typeface="Arial"/>
                  </a:rPr>
                  <a:t>公开资料</a:t>
                </a:r>
              </a:p>
            </p:txBody>
          </p:sp>
          <p:sp>
            <p:nvSpPr>
              <p:cNvPr id="22" name="TextBox 22"/>
              <p:cNvSpPr txBox="1"/>
              <p:nvPr/>
            </p:nvSpPr>
            <p:spPr>
              <a:xfrm>
                <a:off x="785812" y="3612356"/>
                <a:ext cx="1866305" cy="2286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l"/>
                <a:r>
                  <a:rPr lang="zh-CN" sz="1125" dirty="0">
                    <a:solidFill>
                      <a:srgbClr val="5B6B82"/>
                    </a:solidFill>
                    <a:latin typeface="Arial"/>
                    <a:ea typeface="Microsoft YaHei"/>
                    <a:cs typeface="Arial"/>
                  </a:rPr>
                  <a:t>公开发布的政策、</a:t>
                </a:r>
              </a:p>
            </p:txBody>
          </p:sp>
          <p:sp>
            <p:nvSpPr>
              <p:cNvPr id="23" name="TextBox 23"/>
              <p:cNvSpPr txBox="1"/>
              <p:nvPr/>
            </p:nvSpPr>
            <p:spPr>
              <a:xfrm>
                <a:off x="785812" y="3860006"/>
                <a:ext cx="2278856" cy="2286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l"/>
                <a:r>
                  <a:rPr lang="zh-CN" sz="1125" dirty="0">
                    <a:solidFill>
                      <a:srgbClr val="5B6B82"/>
                    </a:solidFill>
                    <a:latin typeface="Arial"/>
                    <a:ea typeface="Microsoft YaHei"/>
                    <a:cs typeface="Arial"/>
                  </a:rPr>
                  <a:t>行业报告、公开网页内容，</a:t>
                </a:r>
              </a:p>
            </p:txBody>
          </p:sp>
          <p:sp>
            <p:nvSpPr>
              <p:cNvPr id="24" name="TextBox 24"/>
              <p:cNvSpPr txBox="1"/>
              <p:nvPr/>
            </p:nvSpPr>
            <p:spPr>
              <a:xfrm>
                <a:off x="785812" y="4107656"/>
                <a:ext cx="793671" cy="2286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l"/>
                <a:r>
                  <a:rPr lang="zh-CN" sz="1125" dirty="0">
                    <a:solidFill>
                      <a:srgbClr val="5B6B82"/>
                    </a:solidFill>
                    <a:latin typeface="Arial"/>
                    <a:ea typeface="Microsoft YaHei"/>
                    <a:cs typeface="Arial"/>
                  </a:rPr>
                  <a:t>通用知识——</a:t>
                </a:r>
              </a:p>
            </p:txBody>
          </p:sp>
          <p:sp>
            <p:nvSpPr>
              <p:cNvPr id="25" name="TextBox 25"/>
              <p:cNvSpPr txBox="1"/>
              <p:nvPr/>
            </p:nvSpPr>
            <p:spPr>
              <a:xfrm>
                <a:off x="785812" y="4412456"/>
                <a:ext cx="2099959" cy="2286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l"/>
                <a:r>
                  <a:rPr lang="zh-CN" sz="1125" b="1" dirty="0">
                    <a:solidFill>
                      <a:srgbClr val="D64545"/>
                    </a:solidFill>
                    <a:latin typeface="Arial"/>
                    <a:ea typeface="Microsoft YaHei"/>
                    <a:cs typeface="Arial"/>
                  </a:rPr>
                  <a:t>直接喂，不会错。</a:t>
                </a:r>
              </a:p>
            </p:txBody>
          </p:sp>
        </p:grpSp>
        <p:grpSp>
          <p:nvGrpSpPr>
            <p:cNvPr id="43" name="Group 43"/>
            <p:cNvGrpSpPr/>
            <p:nvPr/>
          </p:nvGrpSpPr>
          <p:grpSpPr>
            <a:xfrm>
              <a:off x="4305300" y="1619250"/>
              <a:ext cx="3524250" cy="3714750"/>
              <a:chOff x="4305300" y="1619250"/>
              <a:chExt cx="3524250" cy="3714750"/>
            </a:xfrm>
          </p:grpSpPr>
          <p:sp>
            <p:nvSpPr>
              <p:cNvPr id="27" name="Rectangle 27"/>
              <p:cNvSpPr/>
              <p:nvPr/>
            </p:nvSpPr>
            <p:spPr>
              <a:xfrm>
                <a:off x="4305300" y="1619250"/>
                <a:ext cx="3524250" cy="3714750"/>
              </a:xfrm>
              <a:prstGeom prst="roundRect">
                <a:avLst>
                  <a:gd name="adj" fmla="val 4324"/>
                </a:avLst>
              </a:prstGeom>
              <a:solidFill>
                <a:srgbClr val="FFFFFF"/>
              </a:solidFill>
              <a:ln w="9525">
                <a:solidFill>
                  <a:srgbClr val="D8E1EC"/>
                </a:solidFill>
              </a:ln>
            </p:spPr>
            <p:txBody>
              <a:bodyPr/>
              <a:p/>
            </p:txBody>
          </p:sp>
          <p:sp>
            <p:nvSpPr>
              <p:cNvPr id="28" name="Rectangle 28"/>
              <p:cNvSpPr/>
              <p:nvPr/>
            </p:nvSpPr>
            <p:spPr>
              <a:xfrm>
                <a:off x="4305300" y="1619250"/>
                <a:ext cx="3524250" cy="914400"/>
              </a:xfrm>
              <a:prstGeom prst="roundRect">
                <a:avLst>
                  <a:gd name="adj" fmla="val 16667"/>
                </a:avLst>
              </a:prstGeom>
              <a:solidFill>
                <a:srgbClr val="D6E6F9"/>
              </a:solidFill>
              <a:ln>
                <a:noFill/>
              </a:ln>
            </p:spPr>
            <p:txBody>
              <a:bodyPr/>
              <a:p/>
            </p:txBody>
          </p:sp>
          <p:sp>
            <p:nvSpPr>
              <p:cNvPr id="29" name="Rectangle 29"/>
              <p:cNvSpPr/>
              <p:nvPr/>
            </p:nvSpPr>
            <p:spPr>
              <a:xfrm>
                <a:off x="4305300" y="2190750"/>
                <a:ext cx="3524250" cy="342900"/>
              </a:xfrm>
              <a:prstGeom prst="rect">
                <a:avLst/>
              </a:prstGeom>
              <a:solidFill>
                <a:srgbClr val="D6E6F9"/>
              </a:solidFill>
              <a:ln>
                <a:noFill/>
              </a:ln>
            </p:spPr>
            <p:txBody>
              <a:bodyPr/>
              <a:p/>
            </p:txBody>
          </p:sp>
          <p:sp>
            <p:nvSpPr>
              <p:cNvPr id="30" name="TextBox 30"/>
              <p:cNvSpPr txBox="1"/>
              <p:nvPr/>
            </p:nvSpPr>
            <p:spPr>
              <a:xfrm>
                <a:off x="5800153" y="1889760"/>
                <a:ext cx="534543" cy="24384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ctr"/>
                <a:r>
                  <a:rPr lang="zh-CN" sz="1200" b="1" dirty="0">
                    <a:solidFill>
                      <a:srgbClr val="1565D8"/>
                    </a:solidFill>
                    <a:latin typeface="Arial"/>
                    <a:ea typeface="Microsoft YaHei"/>
                    <a:cs typeface="Arial"/>
                  </a:rPr>
                  <a:t>黄区</a:t>
                </a:r>
              </a:p>
            </p:txBody>
          </p:sp>
          <p:sp>
            <p:nvSpPr>
              <p:cNvPr id="31" name="TextBox 31"/>
              <p:cNvSpPr txBox="1"/>
              <p:nvPr/>
            </p:nvSpPr>
            <p:spPr>
              <a:xfrm>
                <a:off x="5103257" y="2200275"/>
                <a:ext cx="1928336" cy="3048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ctr"/>
                <a:r>
                  <a:rPr lang="zh-CN" sz="1500" b="1" dirty="0">
                    <a:solidFill>
                      <a:srgbClr val="0B4EA2"/>
                    </a:solidFill>
                    <a:latin typeface="Arial"/>
                    <a:ea typeface="Microsoft YaHei"/>
                    <a:cs typeface="Arial"/>
                  </a:rPr>
                  <a:t>内部资料，脱敏后</a:t>
                </a:r>
              </a:p>
            </p:txBody>
          </p:sp>
          <p:sp>
            <p:nvSpPr>
              <p:cNvPr id="32" name="Ellipse 32"/>
              <p:cNvSpPr/>
              <p:nvPr/>
            </p:nvSpPr>
            <p:spPr>
              <a:xfrm>
                <a:off x="4514850" y="2857500"/>
                <a:ext cx="419100" cy="419100"/>
              </a:xfrm>
              <a:prstGeom prst="ellipse">
                <a:avLst/>
              </a:prstGeom>
              <a:solidFill>
                <a:srgbClr val="E9EEF5"/>
              </a:solidFill>
              <a:ln>
                <a:noFill/>
              </a:ln>
            </p:spPr>
            <p:txBody>
              <a:bodyPr/>
              <a:p/>
            </p:txBody>
          </p:sp>
          <p:grpSp>
            <p:nvGrpSpPr>
              <p:cNvPr id="36" name="Group 36"/>
              <p:cNvGrpSpPr/>
              <p:nvPr/>
            </p:nvGrpSpPr>
            <p:grpSpPr>
              <a:xfrm>
                <a:off x="4634708" y="2981325"/>
                <a:ext cx="176916" cy="190500"/>
                <a:chOff x="4634708" y="2981325"/>
                <a:chExt cx="176916" cy="190500"/>
              </a:xfrm>
            </p:grpSpPr>
            <p:sp>
              <p:nvSpPr>
                <p:cNvPr id="33" name="Freeform 33"/>
                <p:cNvSpPr/>
                <p:nvPr/>
              </p:nvSpPr>
              <p:spPr>
                <a:xfrm>
                  <a:off x="4634708" y="2981325"/>
                  <a:ext cx="176531" cy="171450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176531" h="171450">
                      <a:moveTo>
                        <a:pt x="118886" y="159372"/>
                      </a:moveTo>
                      <a:cubicBezTo>
                        <a:pt x="109837" y="164678"/>
                        <a:pt x="100026" y="168764"/>
                        <a:pt x="89692" y="171450"/>
                      </a:cubicBezTo>
                      <a:cubicBezTo>
                        <a:pt x="59732" y="163679"/>
                        <a:pt x="34205" y="144091"/>
                        <a:pt x="18946" y="117163"/>
                      </a:cubicBezTo>
                      <a:cubicBezTo>
                        <a:pt x="3686" y="90235"/>
                        <a:pt x="0" y="58269"/>
                        <a:pt x="8729" y="28575"/>
                      </a:cubicBezTo>
                      <a:cubicBezTo>
                        <a:pt x="38405" y="29933"/>
                        <a:pt x="67443" y="19684"/>
                        <a:pt x="89692" y="0"/>
                      </a:cubicBezTo>
                      <a:cubicBezTo>
                        <a:pt x="111940" y="19684"/>
                        <a:pt x="140979" y="29933"/>
                        <a:pt x="170654" y="28575"/>
                      </a:cubicBezTo>
                      <a:cubicBezTo>
                        <a:pt x="175512" y="45129"/>
                        <a:pt x="176531" y="62389"/>
                        <a:pt x="173826" y="79086"/>
                      </a:cubicBezTo>
                    </a:path>
                  </a:pathLst>
                </a:custGeom>
                <a:noFill/>
                <a:ln w="19050">
                  <a:solidFill>
                    <a:srgbClr val="D64545"/>
                  </a:solidFill>
                </a:ln>
              </p:spPr>
              <p:txBody>
                <a:bodyPr/>
                <a:p/>
              </p:txBody>
            </p:sp>
            <p:sp>
              <p:nvSpPr>
                <p:cNvPr id="34" name="Freeform 34"/>
                <p:cNvSpPr/>
                <p:nvPr/>
              </p:nvSpPr>
              <p:spPr>
                <a:xfrm>
                  <a:off x="4791075" y="3162300"/>
                  <a:ext cx="9525" cy="9525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9525" h="9525">
                      <a:moveTo>
                        <a:pt x="0" y="0"/>
                      </a:moveTo>
                      <a:lnTo>
                        <a:pt x="0" y="95"/>
                      </a:lnTo>
                    </a:path>
                  </a:pathLst>
                </a:custGeom>
                <a:noFill/>
                <a:ln w="19050">
                  <a:solidFill>
                    <a:srgbClr val="D64545"/>
                  </a:solidFill>
                </a:ln>
              </p:spPr>
              <p:txBody>
                <a:bodyPr/>
                <a:p/>
              </p:txBody>
            </p:sp>
            <p:sp>
              <p:nvSpPr>
                <p:cNvPr id="35" name="Freeform 35"/>
                <p:cNvSpPr/>
                <p:nvPr/>
              </p:nvSpPr>
              <p:spPr>
                <a:xfrm>
                  <a:off x="4776788" y="3093705"/>
                  <a:ext cx="34836" cy="40020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34836" h="40020">
                      <a:moveTo>
                        <a:pt x="14288" y="40020"/>
                      </a:moveTo>
                      <a:cubicBezTo>
                        <a:pt x="23075" y="39992"/>
                        <a:pt x="30707" y="33965"/>
                        <a:pt x="32771" y="25424"/>
                      </a:cubicBezTo>
                      <a:cubicBezTo>
                        <a:pt x="34836" y="16882"/>
                        <a:pt x="30798" y="8035"/>
                        <a:pt x="22993" y="3997"/>
                      </a:cubicBezTo>
                      <a:cubicBezTo>
                        <a:pt x="15191" y="0"/>
                        <a:pt x="5664" y="1906"/>
                        <a:pt x="0" y="8597"/>
                      </a:cubicBezTo>
                    </a:path>
                  </a:pathLst>
                </a:custGeom>
                <a:noFill/>
                <a:ln w="19050">
                  <a:solidFill>
                    <a:srgbClr val="D64545"/>
                  </a:solidFill>
                </a:ln>
              </p:spPr>
              <p:txBody>
                <a:bodyPr/>
                <a:p/>
              </p:txBody>
            </p:sp>
          </p:grpSp>
          <p:sp>
            <p:nvSpPr>
              <p:cNvPr id="37" name="Rectangle 37"/>
              <p:cNvSpPr/>
              <p:nvPr/>
            </p:nvSpPr>
            <p:spPr>
              <a:xfrm>
                <a:off x="5048250" y="2914650"/>
                <a:ext cx="1066800" cy="304800"/>
              </a:xfrm>
              <a:prstGeom prst="roundRect">
                <a:avLst>
                  <a:gd name="adj" fmla="val 50000"/>
                </a:avLst>
              </a:prstGeom>
              <a:solidFill>
                <a:srgbClr val="E9EEF5"/>
              </a:solidFill>
              <a:ln>
                <a:noFill/>
              </a:ln>
            </p:spPr>
            <p:txBody>
              <a:bodyPr/>
              <a:p/>
            </p:txBody>
          </p:sp>
          <p:sp>
            <p:nvSpPr>
              <p:cNvPr id="38" name="TextBox 38"/>
              <p:cNvSpPr txBox="1"/>
              <p:nvPr/>
            </p:nvSpPr>
            <p:spPr>
              <a:xfrm>
                <a:off x="5274278" y="3001328"/>
                <a:ext cx="614744" cy="21336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ctr"/>
                <a:r>
                  <a:rPr lang="zh-CN" sz="1050" b="1" dirty="0">
                    <a:solidFill>
                      <a:srgbClr val="5B6B82"/>
                    </a:solidFill>
                    <a:latin typeface="Arial"/>
                    <a:ea typeface="Microsoft YaHei"/>
                    <a:cs typeface="Arial"/>
                  </a:rPr>
                  <a:t>脱敏才可用</a:t>
                </a:r>
              </a:p>
            </p:txBody>
          </p:sp>
          <p:sp>
            <p:nvSpPr>
              <p:cNvPr id="39" name="TextBox 39"/>
              <p:cNvSpPr txBox="1"/>
              <p:nvPr/>
            </p:nvSpPr>
            <p:spPr>
              <a:xfrm>
                <a:off x="4519612" y="3612356"/>
                <a:ext cx="1378744" cy="2286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l"/>
                <a:r>
                  <a:rPr lang="zh-CN" sz="1125" dirty="0">
                    <a:solidFill>
                      <a:srgbClr val="5B6B82"/>
                    </a:solidFill>
                    <a:latin typeface="Arial"/>
                    <a:ea typeface="Microsoft YaHei"/>
                    <a:cs typeface="Arial"/>
                  </a:rPr>
                  <a:t>客户姓名→编号，</a:t>
                </a:r>
              </a:p>
            </p:txBody>
          </p:sp>
          <p:sp>
            <p:nvSpPr>
              <p:cNvPr id="40" name="TextBox 40"/>
              <p:cNvSpPr txBox="1"/>
              <p:nvPr/>
            </p:nvSpPr>
            <p:spPr>
              <a:xfrm>
                <a:off x="4519612" y="3917156"/>
                <a:ext cx="1603772" cy="2286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l"/>
                <a:r>
                  <a:rPr lang="zh-CN" sz="1125" b="1" dirty="0">
                    <a:solidFill>
                      <a:srgbClr val="2B3648"/>
                    </a:solidFill>
                    <a:latin typeface="Arial"/>
                    <a:ea typeface="Microsoft YaHei"/>
                    <a:cs typeface="Arial"/>
                  </a:rPr>
                  <a:t>电话→打码中间位，</a:t>
                </a:r>
              </a:p>
            </p:txBody>
          </p:sp>
          <p:sp>
            <p:nvSpPr>
              <p:cNvPr id="41" name="TextBox 41"/>
              <p:cNvSpPr txBox="1"/>
              <p:nvPr/>
            </p:nvSpPr>
            <p:spPr>
              <a:xfrm>
                <a:off x="4519612" y="4183856"/>
                <a:ext cx="1784920" cy="2286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l"/>
                <a:r>
                  <a:rPr lang="zh-CN" sz="1125" b="1" dirty="0">
                    <a:solidFill>
                      <a:srgbClr val="2B3648"/>
                    </a:solidFill>
                    <a:latin typeface="Arial"/>
                    <a:ea typeface="Microsoft YaHei"/>
                    <a:cs typeface="Arial"/>
                  </a:rPr>
                  <a:t>财务→只留比例，</a:t>
                </a:r>
              </a:p>
            </p:txBody>
          </p:sp>
          <p:sp>
            <p:nvSpPr>
              <p:cNvPr id="42" name="TextBox 42"/>
              <p:cNvSpPr txBox="1"/>
              <p:nvPr/>
            </p:nvSpPr>
            <p:spPr>
              <a:xfrm>
                <a:off x="4519612" y="4450556"/>
                <a:ext cx="1446252" cy="2286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l"/>
                <a:r>
                  <a:rPr lang="zh-CN" sz="1125" b="1" dirty="0">
                    <a:solidFill>
                      <a:srgbClr val="2B3648"/>
                    </a:solidFill>
                    <a:latin typeface="Arial"/>
                    <a:ea typeface="Microsoft YaHei"/>
                    <a:cs typeface="Arial"/>
                  </a:rPr>
                  <a:t>删掉姓名和金额。</a:t>
                </a:r>
              </a:p>
            </p:txBody>
          </p:sp>
        </p:grpSp>
        <p:grpSp>
          <p:nvGrpSpPr>
            <p:cNvPr id="61" name="Group 61"/>
            <p:cNvGrpSpPr/>
            <p:nvPr/>
          </p:nvGrpSpPr>
          <p:grpSpPr>
            <a:xfrm>
              <a:off x="8039100" y="1619250"/>
              <a:ext cx="3524250" cy="3714750"/>
              <a:chOff x="8039100" y="1619250"/>
              <a:chExt cx="3524250" cy="3714750"/>
            </a:xfrm>
          </p:grpSpPr>
          <p:sp>
            <p:nvSpPr>
              <p:cNvPr id="44" name="Rectangle 44"/>
              <p:cNvSpPr/>
              <p:nvPr/>
            </p:nvSpPr>
            <p:spPr>
              <a:xfrm>
                <a:off x="8039100" y="1619250"/>
                <a:ext cx="3524250" cy="3714750"/>
              </a:xfrm>
              <a:prstGeom prst="roundRect">
                <a:avLst>
                  <a:gd name="adj" fmla="val 4324"/>
                </a:avLst>
              </a:prstGeom>
              <a:solidFill>
                <a:srgbClr val="FFFFFF"/>
              </a:solidFill>
              <a:ln w="9525">
                <a:solidFill>
                  <a:srgbClr val="D8E1EC"/>
                </a:solidFill>
              </a:ln>
            </p:spPr>
            <p:txBody>
              <a:bodyPr/>
              <a:p/>
            </p:txBody>
          </p:sp>
          <p:sp>
            <p:nvSpPr>
              <p:cNvPr id="45" name="Rectangle 45"/>
              <p:cNvSpPr/>
              <p:nvPr/>
            </p:nvSpPr>
            <p:spPr>
              <a:xfrm>
                <a:off x="8039100" y="1619250"/>
                <a:ext cx="3524250" cy="914400"/>
              </a:xfrm>
              <a:prstGeom prst="roundRect">
                <a:avLst>
                  <a:gd name="adj" fmla="val 16667"/>
                </a:avLst>
              </a:prstGeom>
              <a:solidFill>
                <a:srgbClr val="D6E6F9"/>
              </a:solidFill>
              <a:ln>
                <a:noFill/>
              </a:ln>
            </p:spPr>
            <p:txBody>
              <a:bodyPr/>
              <a:p/>
            </p:txBody>
          </p:sp>
          <p:sp>
            <p:nvSpPr>
              <p:cNvPr id="46" name="Rectangle 46"/>
              <p:cNvSpPr/>
              <p:nvPr/>
            </p:nvSpPr>
            <p:spPr>
              <a:xfrm>
                <a:off x="8039100" y="2190750"/>
                <a:ext cx="3524250" cy="342900"/>
              </a:xfrm>
              <a:prstGeom prst="rect">
                <a:avLst/>
              </a:prstGeom>
              <a:solidFill>
                <a:srgbClr val="D6E6F9"/>
              </a:solidFill>
              <a:ln>
                <a:noFill/>
              </a:ln>
            </p:spPr>
            <p:txBody>
              <a:bodyPr/>
              <a:p/>
            </p:txBody>
          </p:sp>
          <p:sp>
            <p:nvSpPr>
              <p:cNvPr id="47" name="TextBox 47"/>
              <p:cNvSpPr txBox="1"/>
              <p:nvPr/>
            </p:nvSpPr>
            <p:spPr>
              <a:xfrm>
                <a:off x="9533954" y="1889760"/>
                <a:ext cx="534543" cy="24384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ctr"/>
                <a:r>
                  <a:rPr lang="zh-CN" sz="1200" b="1" dirty="0">
                    <a:solidFill>
                      <a:srgbClr val="1565D8"/>
                    </a:solidFill>
                    <a:latin typeface="Arial"/>
                    <a:ea typeface="Microsoft YaHei"/>
                    <a:cs typeface="Arial"/>
                  </a:rPr>
                  <a:t>红区</a:t>
                </a:r>
              </a:p>
            </p:txBody>
          </p:sp>
          <p:sp>
            <p:nvSpPr>
              <p:cNvPr id="48" name="TextBox 48"/>
              <p:cNvSpPr txBox="1"/>
              <p:nvPr/>
            </p:nvSpPr>
            <p:spPr>
              <a:xfrm>
                <a:off x="8942070" y="2200275"/>
                <a:ext cx="1718310" cy="3048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ctr"/>
                <a:r>
                  <a:rPr lang="zh-CN" sz="1500" b="1" dirty="0">
                    <a:solidFill>
                      <a:srgbClr val="0B4EA2"/>
                    </a:solidFill>
                    <a:latin typeface="Arial"/>
                    <a:ea typeface="Microsoft YaHei"/>
                    <a:cs typeface="Arial"/>
                  </a:rPr>
                  <a:t>敏感信息，绝对不</a:t>
                </a:r>
              </a:p>
            </p:txBody>
          </p:sp>
          <p:sp>
            <p:nvSpPr>
              <p:cNvPr id="49" name="Ellipse 49"/>
              <p:cNvSpPr/>
              <p:nvPr/>
            </p:nvSpPr>
            <p:spPr>
              <a:xfrm>
                <a:off x="8248650" y="2857500"/>
                <a:ext cx="419100" cy="419100"/>
              </a:xfrm>
              <a:prstGeom prst="ellipse">
                <a:avLst/>
              </a:prstGeom>
              <a:solidFill>
                <a:srgbClr val="E9EEF5"/>
              </a:solidFill>
              <a:ln>
                <a:noFill/>
              </a:ln>
            </p:spPr>
            <p:txBody>
              <a:bodyPr/>
              <a:p/>
            </p:txBody>
          </p:sp>
          <p:grpSp>
            <p:nvGrpSpPr>
              <p:cNvPr id="54" name="Group 54"/>
              <p:cNvGrpSpPr/>
              <p:nvPr/>
            </p:nvGrpSpPr>
            <p:grpSpPr>
              <a:xfrm>
                <a:off x="8375482" y="2971800"/>
                <a:ext cx="158918" cy="190503"/>
                <a:chOff x="8375482" y="2971800"/>
                <a:chExt cx="158918" cy="190503"/>
              </a:xfrm>
            </p:grpSpPr>
            <p:sp>
              <p:nvSpPr>
                <p:cNvPr id="50" name="Freeform 50"/>
                <p:cNvSpPr/>
                <p:nvPr/>
              </p:nvSpPr>
              <p:spPr>
                <a:xfrm>
                  <a:off x="8420100" y="2990850"/>
                  <a:ext cx="28575" cy="85725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28575" h="85725">
                      <a:moveTo>
                        <a:pt x="0" y="85725"/>
                      </a:moveTo>
                      <a:lnTo>
                        <a:pt x="0" y="14288"/>
                      </a:lnTo>
                      <a:cubicBezTo>
                        <a:pt x="0" y="6397"/>
                        <a:pt x="6397" y="0"/>
                        <a:pt x="14288" y="0"/>
                      </a:cubicBezTo>
                      <a:cubicBezTo>
                        <a:pt x="22178" y="0"/>
                        <a:pt x="28575" y="6397"/>
                        <a:pt x="28575" y="14288"/>
                      </a:cubicBezTo>
                      <a:lnTo>
                        <a:pt x="28575" y="76200"/>
                      </a:lnTo>
                    </a:path>
                  </a:pathLst>
                </a:custGeom>
                <a:noFill/>
                <a:ln w="19050">
                  <a:solidFill>
                    <a:srgbClr val="D64545"/>
                  </a:solidFill>
                </a:ln>
              </p:spPr>
              <p:txBody>
                <a:bodyPr/>
                <a:p/>
              </p:txBody>
            </p:sp>
            <p:sp>
              <p:nvSpPr>
                <p:cNvPr id="51" name="Freeform 51"/>
                <p:cNvSpPr/>
                <p:nvPr/>
              </p:nvSpPr>
              <p:spPr>
                <a:xfrm>
                  <a:off x="8448675" y="2971800"/>
                  <a:ext cx="28575" cy="95250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28575" h="95250">
                      <a:moveTo>
                        <a:pt x="0" y="33338"/>
                      </a:moveTo>
                      <a:lnTo>
                        <a:pt x="0" y="14288"/>
                      </a:lnTo>
                      <a:cubicBezTo>
                        <a:pt x="0" y="6397"/>
                        <a:pt x="6397" y="0"/>
                        <a:pt x="14288" y="0"/>
                      </a:cubicBezTo>
                      <a:cubicBezTo>
                        <a:pt x="22178" y="0"/>
                        <a:pt x="28575" y="6397"/>
                        <a:pt x="28575" y="14288"/>
                      </a:cubicBezTo>
                      <a:lnTo>
                        <a:pt x="28575" y="95250"/>
                      </a:lnTo>
                    </a:path>
                  </a:pathLst>
                </a:custGeom>
                <a:noFill/>
                <a:ln w="19050">
                  <a:solidFill>
                    <a:srgbClr val="D64545"/>
                  </a:solidFill>
                </a:ln>
              </p:spPr>
              <p:txBody>
                <a:bodyPr/>
                <a:p/>
              </p:txBody>
            </p:sp>
            <p:sp>
              <p:nvSpPr>
                <p:cNvPr id="52" name="Freeform 52"/>
                <p:cNvSpPr/>
                <p:nvPr/>
              </p:nvSpPr>
              <p:spPr>
                <a:xfrm>
                  <a:off x="8477250" y="2990850"/>
                  <a:ext cx="28575" cy="76200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28575" h="76200">
                      <a:moveTo>
                        <a:pt x="0" y="14288"/>
                      </a:moveTo>
                      <a:cubicBezTo>
                        <a:pt x="0" y="6397"/>
                        <a:pt x="6397" y="0"/>
                        <a:pt x="14288" y="0"/>
                      </a:cubicBezTo>
                      <a:cubicBezTo>
                        <a:pt x="22178" y="0"/>
                        <a:pt x="28575" y="6397"/>
                        <a:pt x="28575" y="14288"/>
                      </a:cubicBezTo>
                      <a:lnTo>
                        <a:pt x="28575" y="76200"/>
                      </a:lnTo>
                    </a:path>
                  </a:pathLst>
                </a:custGeom>
                <a:noFill/>
                <a:ln w="19050">
                  <a:solidFill>
                    <a:srgbClr val="D64545"/>
                  </a:solidFill>
                </a:ln>
              </p:spPr>
              <p:txBody>
                <a:bodyPr/>
                <a:p/>
              </p:txBody>
            </p:sp>
            <p:sp>
              <p:nvSpPr>
                <p:cNvPr id="53" name="Freeform 53"/>
                <p:cNvSpPr/>
                <p:nvPr/>
              </p:nvSpPr>
              <p:spPr>
                <a:xfrm>
                  <a:off x="8375482" y="3009900"/>
                  <a:ext cx="158918" cy="152403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158918" h="152403">
                      <a:moveTo>
                        <a:pt x="130343" y="14288"/>
                      </a:moveTo>
                      <a:cubicBezTo>
                        <a:pt x="130343" y="6397"/>
                        <a:pt x="136740" y="0"/>
                        <a:pt x="144630" y="0"/>
                      </a:cubicBezTo>
                      <a:cubicBezTo>
                        <a:pt x="152521" y="0"/>
                        <a:pt x="158918" y="6397"/>
                        <a:pt x="158918" y="14288"/>
                      </a:cubicBezTo>
                      <a:lnTo>
                        <a:pt x="158918" y="95250"/>
                      </a:lnTo>
                      <a:cubicBezTo>
                        <a:pt x="158918" y="126813"/>
                        <a:pt x="133331" y="152400"/>
                        <a:pt x="101768" y="152400"/>
                      </a:cubicBezTo>
                      <a:lnTo>
                        <a:pt x="82718" y="152400"/>
                      </a:lnTo>
                      <a:lnTo>
                        <a:pt x="84699" y="152400"/>
                      </a:lnTo>
                      <a:cubicBezTo>
                        <a:pt x="65473" y="152403"/>
                        <a:pt x="47534" y="142739"/>
                        <a:pt x="36960" y="126683"/>
                      </a:cubicBezTo>
                      <a:cubicBezTo>
                        <a:pt x="36335" y="125732"/>
                        <a:pt x="35713" y="124779"/>
                        <a:pt x="35093" y="123825"/>
                      </a:cubicBezTo>
                      <a:cubicBezTo>
                        <a:pt x="32121" y="119263"/>
                        <a:pt x="21691" y="101079"/>
                        <a:pt x="3794" y="69266"/>
                      </a:cubicBezTo>
                      <a:cubicBezTo>
                        <a:pt x="0" y="62523"/>
                        <a:pt x="2263" y="53985"/>
                        <a:pt x="8899" y="50006"/>
                      </a:cubicBezTo>
                      <a:cubicBezTo>
                        <a:pt x="15893" y="45810"/>
                        <a:pt x="24845" y="46909"/>
                        <a:pt x="30616" y="52673"/>
                      </a:cubicBezTo>
                      <a:lnTo>
                        <a:pt x="44618" y="66675"/>
                      </a:lnTo>
                    </a:path>
                  </a:pathLst>
                </a:custGeom>
                <a:noFill/>
                <a:ln w="19050">
                  <a:solidFill>
                    <a:srgbClr val="D64545"/>
                  </a:solidFill>
                </a:ln>
              </p:spPr>
              <p:txBody>
                <a:bodyPr/>
                <a:p/>
              </p:txBody>
            </p:sp>
          </p:grpSp>
          <p:sp>
            <p:nvSpPr>
              <p:cNvPr id="55" name="Rectangle 55"/>
              <p:cNvSpPr/>
              <p:nvPr/>
            </p:nvSpPr>
            <p:spPr>
              <a:xfrm>
                <a:off x="8782050" y="2914650"/>
                <a:ext cx="1066800" cy="304800"/>
              </a:xfrm>
              <a:prstGeom prst="roundRect">
                <a:avLst>
                  <a:gd name="adj" fmla="val 50000"/>
                </a:avLst>
              </a:prstGeom>
              <a:solidFill>
                <a:srgbClr val="E9EEF5"/>
              </a:solidFill>
              <a:ln>
                <a:noFill/>
              </a:ln>
            </p:spPr>
            <p:txBody>
              <a:bodyPr/>
              <a:p/>
            </p:txBody>
          </p:sp>
          <p:sp>
            <p:nvSpPr>
              <p:cNvPr id="56" name="TextBox 56"/>
              <p:cNvSpPr txBox="1"/>
              <p:nvPr/>
            </p:nvSpPr>
            <p:spPr>
              <a:xfrm>
                <a:off x="9008078" y="3001328"/>
                <a:ext cx="614744" cy="21336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ctr"/>
                <a:r>
                  <a:rPr lang="zh-CN" sz="1050" b="1" dirty="0">
                    <a:solidFill>
                      <a:srgbClr val="5B6B82"/>
                    </a:solidFill>
                    <a:latin typeface="Arial"/>
                    <a:ea typeface="Microsoft YaHei"/>
                    <a:cs typeface="Arial"/>
                  </a:rPr>
                  <a:t>千万不能喂</a:t>
                </a:r>
              </a:p>
            </p:txBody>
          </p:sp>
          <p:sp>
            <p:nvSpPr>
              <p:cNvPr id="57" name="TextBox 57"/>
              <p:cNvSpPr txBox="1"/>
              <p:nvPr/>
            </p:nvSpPr>
            <p:spPr>
              <a:xfrm>
                <a:off x="8253412" y="3612356"/>
                <a:ext cx="1528762" cy="2286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l"/>
                <a:r>
                  <a:rPr lang="zh-CN" sz="1125" dirty="0">
                    <a:solidFill>
                      <a:srgbClr val="5B6B82"/>
                    </a:solidFill>
                    <a:latin typeface="Arial"/>
                    <a:ea typeface="Microsoft YaHei"/>
                    <a:cs typeface="Arial"/>
                  </a:rPr>
                  <a:t>证件照、个人信息，</a:t>
                </a:r>
              </a:p>
            </p:txBody>
          </p:sp>
          <p:sp>
            <p:nvSpPr>
              <p:cNvPr id="58" name="TextBox 58"/>
              <p:cNvSpPr txBox="1"/>
              <p:nvPr/>
            </p:nvSpPr>
            <p:spPr>
              <a:xfrm>
                <a:off x="8253412" y="3860006"/>
                <a:ext cx="1243727" cy="2286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l"/>
                <a:r>
                  <a:rPr lang="zh-CN" sz="1125" dirty="0">
                    <a:solidFill>
                      <a:srgbClr val="5B6B82"/>
                    </a:solidFill>
                    <a:latin typeface="Arial"/>
                    <a:ea typeface="Microsoft YaHei"/>
                    <a:cs typeface="Arial"/>
                  </a:rPr>
                  <a:t>商业机密——</a:t>
                </a:r>
              </a:p>
            </p:txBody>
          </p:sp>
          <p:sp>
            <p:nvSpPr>
              <p:cNvPr id="59" name="TextBox 59"/>
              <p:cNvSpPr txBox="1"/>
              <p:nvPr/>
            </p:nvSpPr>
            <p:spPr>
              <a:xfrm>
                <a:off x="8253412" y="4164806"/>
                <a:ext cx="1446252" cy="2286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l"/>
                <a:r>
                  <a:rPr lang="zh-CN" sz="1125" b="1" dirty="0">
                    <a:solidFill>
                      <a:srgbClr val="2B3648"/>
                    </a:solidFill>
                    <a:latin typeface="Arial"/>
                    <a:ea typeface="Microsoft YaHei"/>
                    <a:cs typeface="Arial"/>
                  </a:rPr>
                  <a:t>涉密、内部机密——</a:t>
                </a:r>
              </a:p>
            </p:txBody>
          </p:sp>
          <p:sp>
            <p:nvSpPr>
              <p:cNvPr id="60" name="TextBox 60"/>
              <p:cNvSpPr txBox="1"/>
              <p:nvPr/>
            </p:nvSpPr>
            <p:spPr>
              <a:xfrm>
                <a:off x="8253412" y="4412456"/>
                <a:ext cx="1446252" cy="2286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l"/>
                <a:r>
                  <a:rPr lang="zh-CN" sz="1125" b="1" dirty="0">
                    <a:solidFill>
                      <a:srgbClr val="2B3648"/>
                    </a:solidFill>
                    <a:latin typeface="Arial"/>
                    <a:ea typeface="Microsoft YaHei"/>
                    <a:cs typeface="Arial"/>
                  </a:rPr>
                  <a:t>一件都不能喂。</a:t>
                </a:r>
              </a:p>
            </p:txBody>
          </p:sp>
        </p:grpSp>
      </p:grpSp>
      <p:grpSp>
        <p:nvGrpSpPr>
          <p:cNvPr id="71" name="Group 71"/>
          <p:cNvGrpSpPr/>
          <p:nvPr/>
        </p:nvGrpSpPr>
        <p:grpSpPr>
          <a:xfrm>
            <a:off x="571500" y="5638800"/>
            <a:ext cx="11049000" cy="457200"/>
            <a:chOff x="571500" y="5638800"/>
            <a:chExt cx="11049000" cy="457200"/>
          </a:xfrm>
        </p:grpSpPr>
        <p:sp>
          <p:nvSpPr>
            <p:cNvPr id="63" name="Rectangle 63"/>
            <p:cNvSpPr/>
            <p:nvPr/>
          </p:nvSpPr>
          <p:spPr>
            <a:xfrm>
              <a:off x="571500" y="5638800"/>
              <a:ext cx="11049000" cy="457200"/>
            </a:xfrm>
            <a:prstGeom prst="roundRect">
              <a:avLst>
                <a:gd name="adj" fmla="val 33333"/>
              </a:avLst>
            </a:prstGeom>
            <a:solidFill>
              <a:srgbClr val="D6E6F9"/>
            </a:solidFill>
            <a:ln>
              <a:noFill/>
            </a:ln>
          </p:spPr>
          <p:txBody>
            <a:bodyPr/>
            <a:p/>
          </p:txBody>
        </p:sp>
        <p:sp>
          <p:nvSpPr>
            <p:cNvPr id="64" name="Rectangle 64"/>
            <p:cNvSpPr/>
            <p:nvPr/>
          </p:nvSpPr>
          <p:spPr>
            <a:xfrm>
              <a:off x="571500" y="5638800"/>
              <a:ext cx="76200" cy="457200"/>
            </a:xfrm>
            <a:prstGeom prst="roundRect">
              <a:avLst>
                <a:gd name="adj" fmla="val 50000"/>
              </a:avLst>
            </a:prstGeom>
            <a:solidFill>
              <a:srgbClr val="1565D8"/>
            </a:solidFill>
            <a:ln>
              <a:noFill/>
            </a:ln>
          </p:spPr>
          <p:txBody>
            <a:bodyPr/>
            <a:p/>
          </p:txBody>
        </p:sp>
        <p:grpSp>
          <p:nvGrpSpPr>
            <p:cNvPr id="69" name="Group 69"/>
            <p:cNvGrpSpPr/>
            <p:nvPr/>
          </p:nvGrpSpPr>
          <p:grpSpPr>
            <a:xfrm>
              <a:off x="902618" y="5778500"/>
              <a:ext cx="132432" cy="158753"/>
              <a:chOff x="902618" y="5778500"/>
              <a:chExt cx="132432" cy="158753"/>
            </a:xfrm>
          </p:grpSpPr>
          <p:sp>
            <p:nvSpPr>
              <p:cNvPr id="65" name="Freeform 65"/>
              <p:cNvSpPr/>
              <p:nvPr/>
            </p:nvSpPr>
            <p:spPr>
              <a:xfrm>
                <a:off x="939800" y="5794375"/>
                <a:ext cx="23812" cy="71438"/>
              </a:xfrm>
              <a:custGeom>
                <a:avLst/>
                <a:gdLst/>
                <a:ahLst/>
                <a:cxnLst/>
                <a:rect l="l" t="t" r="r" b="b"/>
                <a:pathLst>
                  <a:path w="23812" h="71438">
                    <a:moveTo>
                      <a:pt x="0" y="71438"/>
                    </a:moveTo>
                    <a:lnTo>
                      <a:pt x="0" y="11906"/>
                    </a:lnTo>
                    <a:cubicBezTo>
                      <a:pt x="0" y="5331"/>
                      <a:pt x="5331" y="0"/>
                      <a:pt x="11906" y="0"/>
                    </a:cubicBezTo>
                    <a:cubicBezTo>
                      <a:pt x="18482" y="0"/>
                      <a:pt x="23812" y="5331"/>
                      <a:pt x="23812" y="11906"/>
                    </a:cubicBezTo>
                    <a:lnTo>
                      <a:pt x="23812" y="63500"/>
                    </a:lnTo>
                  </a:path>
                </a:pathLst>
              </a:custGeom>
              <a:noFill/>
              <a:ln w="19050">
                <a:solidFill>
                  <a:srgbClr val="1565D8"/>
                </a:solidFill>
              </a:ln>
            </p:spPr>
            <p:txBody>
              <a:bodyPr/>
              <a:p/>
            </p:txBody>
          </p:sp>
          <p:sp>
            <p:nvSpPr>
              <p:cNvPr id="66" name="Freeform 66"/>
              <p:cNvSpPr/>
              <p:nvPr/>
            </p:nvSpPr>
            <p:spPr>
              <a:xfrm>
                <a:off x="963612" y="5778500"/>
                <a:ext cx="23812" cy="79375"/>
              </a:xfrm>
              <a:custGeom>
                <a:avLst/>
                <a:gdLst/>
                <a:ahLst/>
                <a:cxnLst/>
                <a:rect l="l" t="t" r="r" b="b"/>
                <a:pathLst>
                  <a:path w="23812" h="79375">
                    <a:moveTo>
                      <a:pt x="0" y="27781"/>
                    </a:moveTo>
                    <a:lnTo>
                      <a:pt x="0" y="11906"/>
                    </a:lnTo>
                    <a:cubicBezTo>
                      <a:pt x="0" y="5331"/>
                      <a:pt x="5331" y="0"/>
                      <a:pt x="11906" y="0"/>
                    </a:cubicBezTo>
                    <a:cubicBezTo>
                      <a:pt x="18482" y="0"/>
                      <a:pt x="23812" y="5331"/>
                      <a:pt x="23812" y="11906"/>
                    </a:cubicBezTo>
                    <a:lnTo>
                      <a:pt x="23812" y="79375"/>
                    </a:lnTo>
                  </a:path>
                </a:pathLst>
              </a:custGeom>
              <a:noFill/>
              <a:ln w="19050">
                <a:solidFill>
                  <a:srgbClr val="1565D8"/>
                </a:solidFill>
              </a:ln>
            </p:spPr>
            <p:txBody>
              <a:bodyPr/>
              <a:p/>
            </p:txBody>
          </p:sp>
          <p:sp>
            <p:nvSpPr>
              <p:cNvPr id="67" name="Freeform 67"/>
              <p:cNvSpPr/>
              <p:nvPr/>
            </p:nvSpPr>
            <p:spPr>
              <a:xfrm>
                <a:off x="987425" y="5794375"/>
                <a:ext cx="23812" cy="63500"/>
              </a:xfrm>
              <a:custGeom>
                <a:avLst/>
                <a:gdLst/>
                <a:ahLst/>
                <a:cxnLst/>
                <a:rect l="l" t="t" r="r" b="b"/>
                <a:pathLst>
                  <a:path w="23812" h="63500">
                    <a:moveTo>
                      <a:pt x="0" y="11906"/>
                    </a:moveTo>
                    <a:cubicBezTo>
                      <a:pt x="0" y="5331"/>
                      <a:pt x="5331" y="0"/>
                      <a:pt x="11906" y="0"/>
                    </a:cubicBezTo>
                    <a:cubicBezTo>
                      <a:pt x="18482" y="0"/>
                      <a:pt x="23812" y="5331"/>
                      <a:pt x="23812" y="11906"/>
                    </a:cubicBezTo>
                    <a:lnTo>
                      <a:pt x="23812" y="63500"/>
                    </a:lnTo>
                  </a:path>
                </a:pathLst>
              </a:custGeom>
              <a:noFill/>
              <a:ln w="19050">
                <a:solidFill>
                  <a:srgbClr val="1565D8"/>
                </a:solidFill>
              </a:ln>
            </p:spPr>
            <p:txBody>
              <a:bodyPr/>
              <a:p/>
            </p:txBody>
          </p:sp>
          <p:sp>
            <p:nvSpPr>
              <p:cNvPr id="68" name="Freeform 68"/>
              <p:cNvSpPr/>
              <p:nvPr/>
            </p:nvSpPr>
            <p:spPr>
              <a:xfrm>
                <a:off x="902618" y="5810250"/>
                <a:ext cx="132432" cy="127003"/>
              </a:xfrm>
              <a:custGeom>
                <a:avLst/>
                <a:gdLst/>
                <a:ahLst/>
                <a:cxnLst/>
                <a:rect l="l" t="t" r="r" b="b"/>
                <a:pathLst>
                  <a:path w="132432" h="127003">
                    <a:moveTo>
                      <a:pt x="108619" y="11906"/>
                    </a:moveTo>
                    <a:cubicBezTo>
                      <a:pt x="108619" y="5331"/>
                      <a:pt x="113950" y="0"/>
                      <a:pt x="120525" y="0"/>
                    </a:cubicBezTo>
                    <a:cubicBezTo>
                      <a:pt x="127101" y="0"/>
                      <a:pt x="132432" y="5331"/>
                      <a:pt x="132432" y="11906"/>
                    </a:cubicBezTo>
                    <a:lnTo>
                      <a:pt x="132432" y="79375"/>
                    </a:lnTo>
                    <a:cubicBezTo>
                      <a:pt x="132432" y="105678"/>
                      <a:pt x="111109" y="127000"/>
                      <a:pt x="84807" y="127000"/>
                    </a:cubicBezTo>
                    <a:lnTo>
                      <a:pt x="68932" y="127000"/>
                    </a:lnTo>
                    <a:lnTo>
                      <a:pt x="70583" y="127000"/>
                    </a:lnTo>
                    <a:cubicBezTo>
                      <a:pt x="54561" y="127003"/>
                      <a:pt x="39612" y="118949"/>
                      <a:pt x="30800" y="105569"/>
                    </a:cubicBezTo>
                    <a:cubicBezTo>
                      <a:pt x="30279" y="104776"/>
                      <a:pt x="29761" y="103983"/>
                      <a:pt x="29244" y="103188"/>
                    </a:cubicBezTo>
                    <a:cubicBezTo>
                      <a:pt x="26768" y="99385"/>
                      <a:pt x="18076" y="84233"/>
                      <a:pt x="3161" y="57721"/>
                    </a:cubicBezTo>
                    <a:cubicBezTo>
                      <a:pt x="0" y="52102"/>
                      <a:pt x="1886" y="44987"/>
                      <a:pt x="7416" y="41672"/>
                    </a:cubicBezTo>
                    <a:cubicBezTo>
                      <a:pt x="13244" y="38175"/>
                      <a:pt x="20705" y="39091"/>
                      <a:pt x="25513" y="43894"/>
                    </a:cubicBezTo>
                    <a:lnTo>
                      <a:pt x="37182" y="55563"/>
                    </a:lnTo>
                  </a:path>
                </a:pathLst>
              </a:custGeom>
              <a:noFill/>
              <a:ln w="19050">
                <a:solidFill>
                  <a:srgbClr val="1565D8"/>
                </a:solidFill>
              </a:ln>
            </p:spPr>
            <p:txBody>
              <a:bodyPr/>
              <a:p/>
            </p:txBody>
          </p:sp>
        </p:grpSp>
        <p:sp>
          <p:nvSpPr>
            <p:cNvPr id="70" name="TextBox 70"/>
            <p:cNvSpPr txBox="1"/>
            <p:nvPr/>
          </p:nvSpPr>
          <p:spPr>
            <a:xfrm>
              <a:off x="1163955" y="5788342"/>
              <a:ext cx="5922376" cy="27432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b="1" dirty="0">
                  <a:solidFill>
                    <a:srgbClr val="0B4EA2"/>
                  </a:solidFill>
                  <a:latin typeface="Arial"/>
                  <a:ea typeface="Microsoft YaHei"/>
                  <a:cs typeface="Arial"/>
                </a:rPr>
                <a:t>企业护客户、护数据、护机密——拿不准就先别喂，去问一句。</a:t>
              </a:r>
            </a:p>
          </p:txBody>
        </p:sp>
      </p:grpSp>
      <p:grpSp>
        <p:nvGrpSpPr>
          <p:cNvPr id="74" name="Group 74"/>
          <p:cNvGrpSpPr/>
          <p:nvPr/>
        </p:nvGrpSpPr>
        <p:grpSpPr>
          <a:xfrm>
            <a:off x="560070" y="6341745"/>
            <a:ext cx="11071860" cy="182880"/>
            <a:chOff x="560070" y="6341745"/>
            <a:chExt cx="11071860" cy="182880"/>
          </a:xfrm>
        </p:grpSpPr>
        <p:sp>
          <p:nvSpPr>
            <p:cNvPr id="72" name="TextBox 72"/>
            <p:cNvSpPr txBox="1"/>
            <p:nvPr/>
          </p:nvSpPr>
          <p:spPr>
            <a:xfrm>
              <a:off x="560070" y="6341745"/>
              <a:ext cx="1054989" cy="18288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00" dirty="0">
                  <a:solidFill>
                    <a:srgbClr val="8B99AE"/>
                  </a:solidFill>
                  <a:latin typeface="Arial"/>
                  <a:ea typeface="Microsoft YaHei"/>
                  <a:cs typeface="Arial"/>
                </a:rPr>
                <a:t>大模型通识 · 企业版</a:t>
              </a:r>
            </a:p>
          </p:txBody>
        </p:sp>
        <p:sp>
          <p:nvSpPr>
            <p:cNvPr id="73" name="TextBox 73"/>
            <p:cNvSpPr txBox="1"/>
            <p:nvPr/>
          </p:nvSpPr>
          <p:spPr>
            <a:xfrm>
              <a:off x="11207020" y="6341745"/>
              <a:ext cx="424910" cy="18288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r"/>
              <a:r>
                <a:rPr lang="zh-CN" sz="900" dirty="0">
                  <a:solidFill>
                    <a:srgbClr val="8B99AE"/>
                  </a:solidFill>
                  <a:latin typeface="Arial"/>
                  <a:ea typeface="Microsoft YaHei"/>
                  <a:cs typeface="Arial"/>
                </a:rPr>
                <a:t>46 / 51</a:t>
              </a:r>
            </a:p>
          </p:txBody>
        </p:sp>
      </p:grpSp>
    </p:spTree>
  </p:cSld>
  <p:clrMapOvr>
    <a:masterClrMapping/>
  </p:clrMapOvr>
</p:sld>
</file>

<file path=ppt/slides/slide4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grpSp>
        <p:nvGrpSpPr>
          <p:cNvPr id="5" name="Group 5"/>
          <p:cNvGrpSpPr/>
          <p:nvPr/>
        </p:nvGrpSpPr>
        <p:grpSpPr>
          <a:xfrm>
            <a:off x="-1619250" y="0"/>
            <a:ext cx="13811250" cy="8477250"/>
            <a:chOff x="-1619250" y="0"/>
            <a:chExt cx="13811250" cy="8477250"/>
          </a:xfrm>
        </p:grpSpPr>
        <p:sp>
          <p:nvSpPr>
            <p:cNvPr id="2" name="Rectangle 2"/>
            <p:cNvSpPr/>
            <p:nvPr/>
          </p:nvSpPr>
          <p:spPr>
            <a:xfrm>
              <a:off x="0" y="0"/>
              <a:ext cx="12192000" cy="6858000"/>
            </a:xfrm>
            <a:prstGeom prst="rect">
              <a:avLst/>
            </a:prstGeom>
            <a:solidFill>
              <a:srgbClr val="F5F7FA"/>
            </a:solidFill>
            <a:ln>
              <a:noFill/>
            </a:ln>
          </p:spPr>
          <p:txBody>
            <a:bodyPr/>
            <a:p/>
          </p:txBody>
        </p:sp>
        <p:sp>
          <p:nvSpPr>
            <p:cNvPr id="3" name="Rectangle 3"/>
            <p:cNvSpPr/>
            <p:nvPr/>
          </p:nvSpPr>
          <p:spPr>
            <a:xfrm>
              <a:off x="0" y="0"/>
              <a:ext cx="12192000" cy="6858000"/>
            </a:xfrm>
            <a:prstGeom prst="rect">
              <a:avLst/>
            </a:prstGeom>
            <a:gradFill>
              <a:gsLst>
                <a:gs pos="0">
                  <a:srgbClr val="1565D8">
                    <a:alpha val="6000"/>
                  </a:srgbClr>
                </a:gs>
                <a:gs pos="100000">
                  <a:srgbClr val="1565D8">
                    <a:alpha val="0"/>
                  </a:srgbClr>
                </a:gs>
              </a:gsLst>
              <a:path path="circle">
                <a:fillToRect l="50000" t="50000" r="50000" b="50000"/>
              </a:path>
            </a:gradFill>
            <a:ln>
              <a:noFill/>
            </a:ln>
          </p:spPr>
          <p:txBody>
            <a:bodyPr/>
            <a:p/>
          </p:txBody>
        </p:sp>
        <p:sp>
          <p:nvSpPr>
            <p:cNvPr id="4" name="Ellipse 4"/>
            <p:cNvSpPr/>
            <p:nvPr/>
          </p:nvSpPr>
          <p:spPr>
            <a:xfrm>
              <a:off x="-1619250" y="4667250"/>
              <a:ext cx="3810000" cy="3810000"/>
            </a:xfrm>
            <a:prstGeom prst="ellipse">
              <a:avLst/>
            </a:prstGeom>
            <a:noFill/>
            <a:ln w="14288">
              <a:solidFill>
                <a:srgbClr val="D6E6F9">
                  <a:alpha val="80000"/>
                </a:srgbClr>
              </a:solidFill>
            </a:ln>
          </p:spPr>
          <p:txBody>
            <a:bodyPr/>
            <a:p/>
          </p:txBody>
        </p:sp>
      </p:grpSp>
      <p:grpSp>
        <p:nvGrpSpPr>
          <p:cNvPr id="9" name="Group 9"/>
          <p:cNvGrpSpPr/>
          <p:nvPr/>
        </p:nvGrpSpPr>
        <p:grpSpPr>
          <a:xfrm>
            <a:off x="571500" y="685800"/>
            <a:ext cx="3139785" cy="700088"/>
            <a:chOff x="571500" y="685800"/>
            <a:chExt cx="3139785" cy="700088"/>
          </a:xfrm>
        </p:grpSpPr>
        <p:sp>
          <p:nvSpPr>
            <p:cNvPr id="6" name="Rectangle 6"/>
            <p:cNvSpPr/>
            <p:nvPr/>
          </p:nvSpPr>
          <p:spPr>
            <a:xfrm>
              <a:off x="571500" y="685800"/>
              <a:ext cx="76200" cy="323850"/>
            </a:xfrm>
            <a:prstGeom prst="roundRect">
              <a:avLst>
                <a:gd name="adj" fmla="val 50000"/>
              </a:avLst>
            </a:prstGeom>
            <a:solidFill>
              <a:srgbClr val="1565D8"/>
            </a:solidFill>
            <a:ln>
              <a:noFill/>
            </a:ln>
          </p:spPr>
          <p:txBody>
            <a:bodyPr/>
            <a:p/>
          </p:txBody>
        </p:sp>
        <p:sp>
          <p:nvSpPr>
            <p:cNvPr id="7" name="TextBox 7"/>
            <p:cNvSpPr txBox="1"/>
            <p:nvPr/>
          </p:nvSpPr>
          <p:spPr>
            <a:xfrm>
              <a:off x="771525" y="700088"/>
              <a:ext cx="2939760" cy="45720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2250" b="1" dirty="0">
                  <a:solidFill>
                    <a:srgbClr val="2B3648"/>
                  </a:solidFill>
                  <a:latin typeface="Arial"/>
                  <a:ea typeface="Microsoft YaHei"/>
                  <a:cs typeface="Arial"/>
                </a:rPr>
                <a:t>AI 惹了祸：应对三步</a:t>
              </a:r>
            </a:p>
          </p:txBody>
        </p:sp>
        <p:sp>
          <p:nvSpPr>
            <p:cNvPr id="8" name="TextBox 8"/>
            <p:cNvSpPr txBox="1"/>
            <p:nvPr/>
          </p:nvSpPr>
          <p:spPr>
            <a:xfrm>
              <a:off x="782955" y="1111568"/>
              <a:ext cx="1834515" cy="27432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5B6B82"/>
                  </a:solidFill>
                  <a:latin typeface="Arial"/>
                  <a:ea typeface="Microsoft YaHei"/>
                  <a:cs typeface="Arial"/>
                </a:rPr>
                <a:t>出错不可怕，瞒了才可怕</a:t>
              </a:r>
            </a:p>
          </p:txBody>
        </p:sp>
      </p:grpSp>
      <p:grpSp>
        <p:nvGrpSpPr>
          <p:cNvPr id="12" name="Group 12"/>
          <p:cNvGrpSpPr/>
          <p:nvPr/>
        </p:nvGrpSpPr>
        <p:grpSpPr>
          <a:xfrm>
            <a:off x="3143250" y="2076450"/>
            <a:ext cx="2838450" cy="1"/>
            <a:chOff x="3143250" y="2076450"/>
            <a:chExt cx="2838450" cy="1"/>
          </a:xfrm>
        </p:grpSpPr>
        <p:sp>
          <p:nvSpPr>
            <p:cNvPr id="10" name="Line 10"/>
            <p:cNvSpPr/>
            <p:nvPr/>
          </p:nvSpPr>
          <p:spPr>
            <a:xfrm>
              <a:off x="3143250" y="2076450"/>
              <a:ext cx="209550" cy="1"/>
            </a:xfrm>
            <a:prstGeom prst="line">
              <a:avLst/>
            </a:prstGeom>
            <a:noFill/>
            <a:ln w="23812">
              <a:solidFill>
                <a:srgbClr val="1565D8"/>
              </a:solidFill>
              <a:tailEnd type="triangle" w="lg" len="lg"/>
            </a:ln>
          </p:spPr>
          <p:txBody>
            <a:bodyPr/>
            <a:p/>
          </p:txBody>
        </p:sp>
        <p:sp>
          <p:nvSpPr>
            <p:cNvPr id="11" name="Line 11"/>
            <p:cNvSpPr/>
            <p:nvPr/>
          </p:nvSpPr>
          <p:spPr>
            <a:xfrm>
              <a:off x="5772150" y="2076450"/>
              <a:ext cx="209550" cy="1"/>
            </a:xfrm>
            <a:prstGeom prst="line">
              <a:avLst/>
            </a:prstGeom>
            <a:noFill/>
            <a:ln w="23812">
              <a:solidFill>
                <a:srgbClr val="1565D8"/>
              </a:solidFill>
              <a:tailEnd type="triangle" w="lg" len="lg"/>
            </a:ln>
          </p:spPr>
          <p:txBody>
            <a:bodyPr/>
            <a:p/>
          </p:txBody>
        </p:sp>
      </p:grpSp>
      <p:grpSp>
        <p:nvGrpSpPr>
          <p:cNvPr id="17" name="Group 17"/>
          <p:cNvGrpSpPr/>
          <p:nvPr/>
        </p:nvGrpSpPr>
        <p:grpSpPr>
          <a:xfrm>
            <a:off x="571500" y="1600200"/>
            <a:ext cx="2514600" cy="952500"/>
            <a:chOff x="571500" y="1600200"/>
            <a:chExt cx="2514600" cy="952500"/>
          </a:xfrm>
        </p:grpSpPr>
        <p:sp>
          <p:nvSpPr>
            <p:cNvPr id="13" name="Rectangle 13"/>
            <p:cNvSpPr/>
            <p:nvPr/>
          </p:nvSpPr>
          <p:spPr>
            <a:xfrm>
              <a:off x="571500" y="1600200"/>
              <a:ext cx="2514600" cy="952500"/>
            </a:xfrm>
            <a:prstGeom prst="roundRect">
              <a:avLst>
                <a:gd name="adj" fmla="val 16000"/>
              </a:avLst>
            </a:prstGeom>
            <a:solidFill>
              <a:srgbClr val="FFFFFF"/>
            </a:solidFill>
            <a:ln w="9525">
              <a:solidFill>
                <a:srgbClr val="D8E1EC"/>
              </a:solidFill>
            </a:ln>
          </p:spPr>
          <p:txBody>
            <a:bodyPr/>
            <a:p/>
          </p:txBody>
        </p:sp>
        <p:sp>
          <p:nvSpPr>
            <p:cNvPr id="14" name="TextBox 14"/>
            <p:cNvSpPr txBox="1"/>
            <p:nvPr/>
          </p:nvSpPr>
          <p:spPr>
            <a:xfrm>
              <a:off x="786765" y="1772602"/>
              <a:ext cx="475076" cy="21336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050" b="1" dirty="0">
                  <a:solidFill>
                    <a:srgbClr val="1565D8"/>
                  </a:solidFill>
                  <a:latin typeface="Arial"/>
                  <a:ea typeface="Microsoft YaHei"/>
                  <a:cs typeface="Arial"/>
                </a:rPr>
                <a:t>STEP 1</a:t>
              </a:r>
            </a:p>
          </p:txBody>
        </p:sp>
        <p:sp>
          <p:nvSpPr>
            <p:cNvPr id="15" name="TextBox 15"/>
            <p:cNvSpPr txBox="1"/>
            <p:nvPr/>
          </p:nvSpPr>
          <p:spPr>
            <a:xfrm>
              <a:off x="782955" y="2025968"/>
              <a:ext cx="818738" cy="27432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b="1" dirty="0">
                  <a:solidFill>
                    <a:srgbClr val="2B3648"/>
                  </a:solidFill>
                  <a:latin typeface="Arial"/>
                  <a:ea typeface="Microsoft YaHei"/>
                  <a:cs typeface="Arial"/>
                </a:rPr>
                <a:t>停</a:t>
              </a:r>
            </a:p>
          </p:txBody>
        </p:sp>
        <p:sp>
          <p:nvSpPr>
            <p:cNvPr id="16" name="TextBox 16"/>
            <p:cNvSpPr txBox="1"/>
            <p:nvPr/>
          </p:nvSpPr>
          <p:spPr>
            <a:xfrm>
              <a:off x="786765" y="2306002"/>
              <a:ext cx="1286828" cy="21336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050" dirty="0">
                  <a:solidFill>
                    <a:srgbClr val="5B6B82"/>
                  </a:solidFill>
                  <a:latin typeface="Arial"/>
                  <a:ea typeface="Microsoft YaHei"/>
                  <a:cs typeface="Arial"/>
                </a:rPr>
                <a:t>先止损，发出去先撤回</a:t>
              </a:r>
            </a:p>
          </p:txBody>
        </p:sp>
      </p:grpSp>
      <p:grpSp>
        <p:nvGrpSpPr>
          <p:cNvPr id="22" name="Group 22"/>
          <p:cNvGrpSpPr/>
          <p:nvPr/>
        </p:nvGrpSpPr>
        <p:grpSpPr>
          <a:xfrm>
            <a:off x="3371850" y="1600200"/>
            <a:ext cx="2514600" cy="952500"/>
            <a:chOff x="3371850" y="1600200"/>
            <a:chExt cx="2514600" cy="952500"/>
          </a:xfrm>
        </p:grpSpPr>
        <p:sp>
          <p:nvSpPr>
            <p:cNvPr id="18" name="Rectangle 18"/>
            <p:cNvSpPr/>
            <p:nvPr/>
          </p:nvSpPr>
          <p:spPr>
            <a:xfrm>
              <a:off x="3371850" y="1600200"/>
              <a:ext cx="2514600" cy="952500"/>
            </a:xfrm>
            <a:prstGeom prst="roundRect">
              <a:avLst>
                <a:gd name="adj" fmla="val 16000"/>
              </a:avLst>
            </a:prstGeom>
            <a:solidFill>
              <a:srgbClr val="FFFFFF"/>
            </a:solidFill>
            <a:ln w="9525">
              <a:solidFill>
                <a:srgbClr val="D8E1EC"/>
              </a:solidFill>
            </a:ln>
          </p:spPr>
          <p:txBody>
            <a:bodyPr/>
            <a:p/>
          </p:txBody>
        </p:sp>
        <p:sp>
          <p:nvSpPr>
            <p:cNvPr id="19" name="TextBox 19"/>
            <p:cNvSpPr txBox="1"/>
            <p:nvPr/>
          </p:nvSpPr>
          <p:spPr>
            <a:xfrm>
              <a:off x="3587115" y="1772602"/>
              <a:ext cx="475076" cy="21336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050" b="1" dirty="0">
                  <a:solidFill>
                    <a:srgbClr val="1565D8"/>
                  </a:solidFill>
                  <a:latin typeface="Arial"/>
                  <a:ea typeface="Microsoft YaHei"/>
                  <a:cs typeface="Arial"/>
                </a:rPr>
                <a:t>STEP 2</a:t>
              </a:r>
            </a:p>
          </p:txBody>
        </p:sp>
        <p:sp>
          <p:nvSpPr>
            <p:cNvPr id="20" name="TextBox 20"/>
            <p:cNvSpPr txBox="1"/>
            <p:nvPr/>
          </p:nvSpPr>
          <p:spPr>
            <a:xfrm>
              <a:off x="3583305" y="2025968"/>
              <a:ext cx="979408" cy="27432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b="1" dirty="0">
                  <a:solidFill>
                    <a:srgbClr val="2B3648"/>
                  </a:solidFill>
                  <a:latin typeface="Arial"/>
                  <a:ea typeface="Microsoft YaHei"/>
                  <a:cs typeface="Arial"/>
                </a:rPr>
                <a:t>报</a:t>
              </a:r>
            </a:p>
          </p:txBody>
        </p:sp>
        <p:sp>
          <p:nvSpPr>
            <p:cNvPr id="21" name="TextBox 21"/>
            <p:cNvSpPr txBox="1"/>
            <p:nvPr/>
          </p:nvSpPr>
          <p:spPr>
            <a:xfrm>
              <a:off x="3587115" y="2306002"/>
              <a:ext cx="1643872" cy="21336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050" dirty="0">
                  <a:solidFill>
                    <a:srgbClr val="5B6B82"/>
                  </a:solidFill>
                  <a:latin typeface="Arial"/>
                  <a:ea typeface="Microsoft YaHei"/>
                  <a:cs typeface="Arial"/>
                </a:rPr>
                <a:t>马上报负责人/IT，别瞒</a:t>
              </a:r>
            </a:p>
          </p:txBody>
        </p:sp>
      </p:grpSp>
      <p:grpSp>
        <p:nvGrpSpPr>
          <p:cNvPr id="27" name="Group 27"/>
          <p:cNvGrpSpPr/>
          <p:nvPr/>
        </p:nvGrpSpPr>
        <p:grpSpPr>
          <a:xfrm>
            <a:off x="6000750" y="1600200"/>
            <a:ext cx="2514600" cy="952500"/>
            <a:chOff x="6000750" y="1600200"/>
            <a:chExt cx="2514600" cy="952500"/>
          </a:xfrm>
        </p:grpSpPr>
        <p:sp>
          <p:nvSpPr>
            <p:cNvPr id="23" name="Rectangle 23"/>
            <p:cNvSpPr/>
            <p:nvPr/>
          </p:nvSpPr>
          <p:spPr>
            <a:xfrm>
              <a:off x="6000750" y="1600200"/>
              <a:ext cx="2514600" cy="952500"/>
            </a:xfrm>
            <a:prstGeom prst="roundRect">
              <a:avLst>
                <a:gd name="adj" fmla="val 16000"/>
              </a:avLst>
            </a:prstGeom>
            <a:solidFill>
              <a:srgbClr val="FFFFFF"/>
            </a:solidFill>
            <a:ln w="9525">
              <a:solidFill>
                <a:srgbClr val="D8E1EC"/>
              </a:solidFill>
            </a:ln>
          </p:spPr>
          <p:txBody>
            <a:bodyPr/>
            <a:p/>
          </p:txBody>
        </p:sp>
        <p:sp>
          <p:nvSpPr>
            <p:cNvPr id="24" name="TextBox 24"/>
            <p:cNvSpPr txBox="1"/>
            <p:nvPr/>
          </p:nvSpPr>
          <p:spPr>
            <a:xfrm>
              <a:off x="6216015" y="1772602"/>
              <a:ext cx="475076" cy="21336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050" b="1" dirty="0">
                  <a:solidFill>
                    <a:srgbClr val="1565D8"/>
                  </a:solidFill>
                  <a:latin typeface="Arial"/>
                  <a:ea typeface="Microsoft YaHei"/>
                  <a:cs typeface="Arial"/>
                </a:rPr>
                <a:t>STEP 3</a:t>
              </a:r>
            </a:p>
          </p:txBody>
        </p:sp>
        <p:sp>
          <p:nvSpPr>
            <p:cNvPr id="25" name="TextBox 25"/>
            <p:cNvSpPr txBox="1"/>
            <p:nvPr/>
          </p:nvSpPr>
          <p:spPr>
            <a:xfrm>
              <a:off x="6212205" y="2025968"/>
              <a:ext cx="601361" cy="27432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b="1" dirty="0">
                  <a:solidFill>
                    <a:srgbClr val="2B3648"/>
                  </a:solidFill>
                  <a:latin typeface="Arial"/>
                  <a:ea typeface="Microsoft YaHei"/>
                  <a:cs typeface="Arial"/>
                </a:rPr>
                <a:t>查</a:t>
              </a:r>
            </a:p>
          </p:txBody>
        </p:sp>
        <p:sp>
          <p:nvSpPr>
            <p:cNvPr id="26" name="TextBox 26"/>
            <p:cNvSpPr txBox="1"/>
            <p:nvPr/>
          </p:nvSpPr>
          <p:spPr>
            <a:xfrm>
              <a:off x="6216015" y="2306002"/>
              <a:ext cx="1286828" cy="21336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050" dirty="0">
                  <a:solidFill>
                    <a:srgbClr val="5B6B82"/>
                  </a:solidFill>
                  <a:latin typeface="Arial"/>
                  <a:ea typeface="Microsoft YaHei"/>
                  <a:cs typeface="Arial"/>
                </a:rPr>
                <a:t>查范围，留记录</a:t>
              </a:r>
            </a:p>
          </p:txBody>
        </p:sp>
      </p:grpSp>
      <p:grpSp>
        <p:nvGrpSpPr>
          <p:cNvPr id="58" name="Group 58"/>
          <p:cNvGrpSpPr/>
          <p:nvPr/>
        </p:nvGrpSpPr>
        <p:grpSpPr>
          <a:xfrm>
            <a:off x="571500" y="2762250"/>
            <a:ext cx="7810500" cy="2895600"/>
            <a:chOff x="571500" y="2762250"/>
            <a:chExt cx="7810500" cy="2895600"/>
          </a:xfrm>
        </p:grpSpPr>
        <p:grpSp>
          <p:nvGrpSpPr>
            <p:cNvPr id="33" name="Group 33"/>
            <p:cNvGrpSpPr/>
            <p:nvPr/>
          </p:nvGrpSpPr>
          <p:grpSpPr>
            <a:xfrm>
              <a:off x="571500" y="2762250"/>
              <a:ext cx="7810500" cy="533400"/>
              <a:chOff x="571500" y="2762250"/>
              <a:chExt cx="7810500" cy="533400"/>
            </a:xfrm>
          </p:grpSpPr>
          <p:sp>
            <p:nvSpPr>
              <p:cNvPr id="28" name="Rectangle 28"/>
              <p:cNvSpPr/>
              <p:nvPr/>
            </p:nvSpPr>
            <p:spPr>
              <a:xfrm>
                <a:off x="571500" y="2762250"/>
                <a:ext cx="7810500" cy="533400"/>
              </a:xfrm>
              <a:prstGeom prst="roundRect">
                <a:avLst>
                  <a:gd name="adj" fmla="val 28571"/>
                </a:avLst>
              </a:prstGeom>
              <a:solidFill>
                <a:srgbClr val="FFFFFF"/>
              </a:solidFill>
              <a:ln w="9525">
                <a:solidFill>
                  <a:srgbClr val="D8E1EC"/>
                </a:solidFill>
              </a:ln>
            </p:spPr>
            <p:txBody>
              <a:bodyPr/>
              <a:p/>
            </p:txBody>
          </p:sp>
          <p:sp>
            <p:nvSpPr>
              <p:cNvPr id="29" name="Ellipse 29"/>
              <p:cNvSpPr/>
              <p:nvPr/>
            </p:nvSpPr>
            <p:spPr>
              <a:xfrm>
                <a:off x="733425" y="2886075"/>
                <a:ext cx="285750" cy="285750"/>
              </a:xfrm>
              <a:prstGeom prst="ellipse">
                <a:avLst/>
              </a:prstGeom>
              <a:solidFill>
                <a:srgbClr val="1565D8"/>
              </a:solidFill>
              <a:ln>
                <a:noFill/>
              </a:ln>
            </p:spPr>
            <p:txBody>
              <a:bodyPr/>
              <a:p/>
            </p:txBody>
          </p:sp>
          <p:sp>
            <p:nvSpPr>
              <p:cNvPr id="30" name="TextBox 30"/>
              <p:cNvSpPr txBox="1"/>
              <p:nvPr/>
            </p:nvSpPr>
            <p:spPr>
              <a:xfrm>
                <a:off x="822535" y="2972752"/>
                <a:ext cx="107530" cy="21336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ctr"/>
                <a:r>
                  <a:rPr lang="zh-CN" sz="1050" b="1" dirty="0">
                    <a:solidFill>
                      <a:srgbClr val="FFFFFF"/>
                    </a:solidFill>
                    <a:latin typeface="Arial"/>
                    <a:ea typeface="Microsoft YaHei"/>
                    <a:cs typeface="Arial"/>
                  </a:rPr>
                  <a:t>A</a:t>
                </a:r>
              </a:p>
            </p:txBody>
          </p:sp>
          <p:sp>
            <p:nvSpPr>
              <p:cNvPr id="31" name="TextBox 31"/>
              <p:cNvSpPr txBox="1"/>
              <p:nvPr/>
            </p:nvSpPr>
            <p:spPr>
              <a:xfrm>
                <a:off x="1128712" y="2859881"/>
                <a:ext cx="1312360" cy="2286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l"/>
                <a:r>
                  <a:rPr lang="zh-CN" sz="1125" b="1" dirty="0">
                    <a:solidFill>
                      <a:srgbClr val="2B3648"/>
                    </a:solidFill>
                    <a:latin typeface="Arial"/>
                    <a:ea typeface="Microsoft YaHei"/>
                    <a:cs typeface="Arial"/>
                  </a:rPr>
                  <a:t>AI 初稿</a:t>
                </a:r>
              </a:p>
            </p:txBody>
          </p:sp>
          <p:sp>
            <p:nvSpPr>
              <p:cNvPr id="32" name="TextBox 32"/>
              <p:cNvSpPr txBox="1"/>
              <p:nvPr/>
            </p:nvSpPr>
            <p:spPr>
              <a:xfrm>
                <a:off x="1129665" y="3077528"/>
                <a:ext cx="3352086" cy="21336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l"/>
                <a:r>
                  <a:rPr lang="zh-CN" sz="1050" dirty="0">
                    <a:solidFill>
                      <a:srgbClr val="5B6B82"/>
                    </a:solidFill>
                    <a:latin typeface="Arial"/>
                    <a:ea typeface="Microsoft YaHei"/>
                    <a:cs typeface="Arial"/>
                  </a:rPr>
                  <a:t>AI 只出初稿，人永远终审，重要的双人过</a:t>
                </a:r>
              </a:p>
            </p:txBody>
          </p:sp>
        </p:grpSp>
        <p:grpSp>
          <p:nvGrpSpPr>
            <p:cNvPr id="39" name="Group 39"/>
            <p:cNvGrpSpPr/>
            <p:nvPr/>
          </p:nvGrpSpPr>
          <p:grpSpPr>
            <a:xfrm>
              <a:off x="571500" y="3352800"/>
              <a:ext cx="7810500" cy="533400"/>
              <a:chOff x="571500" y="3352800"/>
              <a:chExt cx="7810500" cy="533400"/>
            </a:xfrm>
          </p:grpSpPr>
          <p:sp>
            <p:nvSpPr>
              <p:cNvPr id="34" name="Rectangle 34"/>
              <p:cNvSpPr/>
              <p:nvPr/>
            </p:nvSpPr>
            <p:spPr>
              <a:xfrm>
                <a:off x="571500" y="3352800"/>
                <a:ext cx="7810500" cy="533400"/>
              </a:xfrm>
              <a:prstGeom prst="roundRect">
                <a:avLst>
                  <a:gd name="adj" fmla="val 28571"/>
                </a:avLst>
              </a:prstGeom>
              <a:solidFill>
                <a:srgbClr val="FFFFFF"/>
              </a:solidFill>
              <a:ln w="9525">
                <a:solidFill>
                  <a:srgbClr val="D8E1EC"/>
                </a:solidFill>
              </a:ln>
            </p:spPr>
            <p:txBody>
              <a:bodyPr/>
              <a:p/>
            </p:txBody>
          </p:sp>
          <p:sp>
            <p:nvSpPr>
              <p:cNvPr id="35" name="Ellipse 35"/>
              <p:cNvSpPr/>
              <p:nvPr/>
            </p:nvSpPr>
            <p:spPr>
              <a:xfrm>
                <a:off x="733425" y="3476625"/>
                <a:ext cx="285750" cy="285750"/>
              </a:xfrm>
              <a:prstGeom prst="ellipse">
                <a:avLst/>
              </a:prstGeom>
              <a:solidFill>
                <a:srgbClr val="1565D8"/>
              </a:solidFill>
              <a:ln>
                <a:noFill/>
              </a:ln>
            </p:spPr>
            <p:txBody>
              <a:bodyPr/>
              <a:p/>
            </p:txBody>
          </p:sp>
          <p:sp>
            <p:nvSpPr>
              <p:cNvPr id="36" name="TextBox 36"/>
              <p:cNvSpPr txBox="1"/>
              <p:nvPr/>
            </p:nvSpPr>
            <p:spPr>
              <a:xfrm>
                <a:off x="822535" y="3563302"/>
                <a:ext cx="107530" cy="21336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ctr"/>
                <a:r>
                  <a:rPr lang="zh-CN" sz="1050" b="1" dirty="0">
                    <a:solidFill>
                      <a:srgbClr val="FFFFFF"/>
                    </a:solidFill>
                    <a:latin typeface="Arial"/>
                    <a:ea typeface="Microsoft YaHei"/>
                    <a:cs typeface="Arial"/>
                  </a:rPr>
                  <a:t>B</a:t>
                </a:r>
              </a:p>
            </p:txBody>
          </p:sp>
          <p:sp>
            <p:nvSpPr>
              <p:cNvPr id="37" name="TextBox 37"/>
              <p:cNvSpPr txBox="1"/>
              <p:nvPr/>
            </p:nvSpPr>
            <p:spPr>
              <a:xfrm>
                <a:off x="1128712" y="3450431"/>
                <a:ext cx="1312360" cy="2286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l"/>
                <a:r>
                  <a:rPr lang="zh-CN" sz="1125" b="1" dirty="0">
                    <a:solidFill>
                      <a:srgbClr val="2B3648"/>
                    </a:solidFill>
                    <a:latin typeface="Arial"/>
                    <a:ea typeface="Microsoft YaHei"/>
                    <a:cs typeface="Arial"/>
                  </a:rPr>
                  <a:t>事实核实</a:t>
                </a:r>
              </a:p>
            </p:txBody>
          </p:sp>
          <p:sp>
            <p:nvSpPr>
              <p:cNvPr id="38" name="TextBox 38"/>
              <p:cNvSpPr txBox="1"/>
              <p:nvPr/>
            </p:nvSpPr>
            <p:spPr>
              <a:xfrm>
                <a:off x="1129665" y="3668078"/>
                <a:ext cx="3548110" cy="21336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l"/>
                <a:r>
                  <a:rPr lang="zh-CN" sz="1050" dirty="0">
                    <a:solidFill>
                      <a:srgbClr val="5B6B82"/>
                    </a:solidFill>
                    <a:latin typeface="Arial"/>
                    <a:ea typeface="Microsoft YaHei"/>
                    <a:cs typeface="Arial"/>
                  </a:rPr>
                  <a:t>关键事实回源核实过再用，不直接转发</a:t>
                </a:r>
              </a:p>
            </p:txBody>
          </p:sp>
        </p:grpSp>
        <p:grpSp>
          <p:nvGrpSpPr>
            <p:cNvPr id="45" name="Group 45"/>
            <p:cNvGrpSpPr/>
            <p:nvPr/>
          </p:nvGrpSpPr>
          <p:grpSpPr>
            <a:xfrm>
              <a:off x="571500" y="3943350"/>
              <a:ext cx="7810500" cy="533400"/>
              <a:chOff x="571500" y="3943350"/>
              <a:chExt cx="7810500" cy="533400"/>
            </a:xfrm>
          </p:grpSpPr>
          <p:sp>
            <p:nvSpPr>
              <p:cNvPr id="40" name="Rectangle 40"/>
              <p:cNvSpPr/>
              <p:nvPr/>
            </p:nvSpPr>
            <p:spPr>
              <a:xfrm>
                <a:off x="571500" y="3943350"/>
                <a:ext cx="7810500" cy="533400"/>
              </a:xfrm>
              <a:prstGeom prst="roundRect">
                <a:avLst>
                  <a:gd name="adj" fmla="val 28571"/>
                </a:avLst>
              </a:prstGeom>
              <a:solidFill>
                <a:srgbClr val="FFFFFF"/>
              </a:solidFill>
              <a:ln w="9525">
                <a:solidFill>
                  <a:srgbClr val="D8E1EC"/>
                </a:solidFill>
              </a:ln>
            </p:spPr>
            <p:txBody>
              <a:bodyPr/>
              <a:p/>
            </p:txBody>
          </p:sp>
          <p:sp>
            <p:nvSpPr>
              <p:cNvPr id="41" name="Ellipse 41"/>
              <p:cNvSpPr/>
              <p:nvPr/>
            </p:nvSpPr>
            <p:spPr>
              <a:xfrm>
                <a:off x="733425" y="4067175"/>
                <a:ext cx="285750" cy="285750"/>
              </a:xfrm>
              <a:prstGeom prst="ellipse">
                <a:avLst/>
              </a:prstGeom>
              <a:solidFill>
                <a:srgbClr val="1565D8"/>
              </a:solidFill>
              <a:ln>
                <a:noFill/>
              </a:ln>
            </p:spPr>
            <p:txBody>
              <a:bodyPr/>
              <a:p/>
            </p:txBody>
          </p:sp>
          <p:sp>
            <p:nvSpPr>
              <p:cNvPr id="42" name="TextBox 42"/>
              <p:cNvSpPr txBox="1"/>
              <p:nvPr/>
            </p:nvSpPr>
            <p:spPr>
              <a:xfrm>
                <a:off x="822535" y="4153852"/>
                <a:ext cx="107530" cy="21336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ctr"/>
                <a:r>
                  <a:rPr lang="zh-CN" sz="1050" b="1" dirty="0">
                    <a:solidFill>
                      <a:srgbClr val="FFFFFF"/>
                    </a:solidFill>
                    <a:latin typeface="Arial"/>
                    <a:ea typeface="Microsoft YaHei"/>
                    <a:cs typeface="Arial"/>
                  </a:rPr>
                  <a:t>C</a:t>
                </a:r>
              </a:p>
            </p:txBody>
          </p:sp>
          <p:sp>
            <p:nvSpPr>
              <p:cNvPr id="43" name="TextBox 43"/>
              <p:cNvSpPr txBox="1"/>
              <p:nvPr/>
            </p:nvSpPr>
            <p:spPr>
              <a:xfrm>
                <a:off x="1128712" y="4040981"/>
                <a:ext cx="1312360" cy="2286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l"/>
                <a:r>
                  <a:rPr lang="zh-CN" sz="1125" b="1" dirty="0">
                    <a:solidFill>
                      <a:srgbClr val="2B3648"/>
                    </a:solidFill>
                    <a:latin typeface="Arial"/>
                    <a:ea typeface="Microsoft YaHei"/>
                    <a:cs typeface="Arial"/>
                  </a:rPr>
                  <a:t>敏感材料</a:t>
                </a:r>
              </a:p>
            </p:txBody>
          </p:sp>
          <p:sp>
            <p:nvSpPr>
              <p:cNvPr id="44" name="TextBox 44"/>
              <p:cNvSpPr txBox="1"/>
              <p:nvPr/>
            </p:nvSpPr>
            <p:spPr>
              <a:xfrm>
                <a:off x="1129665" y="4258628"/>
                <a:ext cx="3828145" cy="21336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l"/>
                <a:r>
                  <a:rPr lang="zh-CN" sz="1050" dirty="0">
                    <a:solidFill>
                      <a:srgbClr val="5B6B82"/>
                    </a:solidFill>
                    <a:latin typeface="Arial"/>
                    <a:ea typeface="Microsoft YaHei"/>
                    <a:cs typeface="Arial"/>
                  </a:rPr>
                  <a:t>客户 / 员工材料先脱敏，再进 AI</a:t>
                </a:r>
              </a:p>
            </p:txBody>
          </p:sp>
        </p:grpSp>
        <p:grpSp>
          <p:nvGrpSpPr>
            <p:cNvPr id="51" name="Group 51"/>
            <p:cNvGrpSpPr/>
            <p:nvPr/>
          </p:nvGrpSpPr>
          <p:grpSpPr>
            <a:xfrm>
              <a:off x="571500" y="4533900"/>
              <a:ext cx="7810500" cy="533400"/>
              <a:chOff x="571500" y="4533900"/>
              <a:chExt cx="7810500" cy="533400"/>
            </a:xfrm>
          </p:grpSpPr>
          <p:sp>
            <p:nvSpPr>
              <p:cNvPr id="46" name="Rectangle 46"/>
              <p:cNvSpPr/>
              <p:nvPr/>
            </p:nvSpPr>
            <p:spPr>
              <a:xfrm>
                <a:off x="571500" y="4533900"/>
                <a:ext cx="7810500" cy="533400"/>
              </a:xfrm>
              <a:prstGeom prst="roundRect">
                <a:avLst>
                  <a:gd name="adj" fmla="val 28571"/>
                </a:avLst>
              </a:prstGeom>
              <a:solidFill>
                <a:srgbClr val="FFFFFF"/>
              </a:solidFill>
              <a:ln w="9525">
                <a:solidFill>
                  <a:srgbClr val="D8E1EC"/>
                </a:solidFill>
              </a:ln>
            </p:spPr>
            <p:txBody>
              <a:bodyPr/>
              <a:p/>
            </p:txBody>
          </p:sp>
          <p:sp>
            <p:nvSpPr>
              <p:cNvPr id="47" name="Ellipse 47"/>
              <p:cNvSpPr/>
              <p:nvPr/>
            </p:nvSpPr>
            <p:spPr>
              <a:xfrm>
                <a:off x="733425" y="4657725"/>
                <a:ext cx="285750" cy="285750"/>
              </a:xfrm>
              <a:prstGeom prst="ellipse">
                <a:avLst/>
              </a:prstGeom>
              <a:solidFill>
                <a:srgbClr val="1565D8"/>
              </a:solidFill>
              <a:ln>
                <a:noFill/>
              </a:ln>
            </p:spPr>
            <p:txBody>
              <a:bodyPr/>
              <a:p/>
            </p:txBody>
          </p:sp>
          <p:sp>
            <p:nvSpPr>
              <p:cNvPr id="48" name="TextBox 48"/>
              <p:cNvSpPr txBox="1"/>
              <p:nvPr/>
            </p:nvSpPr>
            <p:spPr>
              <a:xfrm>
                <a:off x="822535" y="4744402"/>
                <a:ext cx="107530" cy="21336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ctr"/>
                <a:r>
                  <a:rPr lang="zh-CN" sz="1050" b="1" dirty="0">
                    <a:solidFill>
                      <a:srgbClr val="FFFFFF"/>
                    </a:solidFill>
                    <a:latin typeface="Arial"/>
                    <a:ea typeface="Microsoft YaHei"/>
                    <a:cs typeface="Arial"/>
                  </a:rPr>
                  <a:t>D</a:t>
                </a:r>
              </a:p>
            </p:txBody>
          </p:sp>
          <p:sp>
            <p:nvSpPr>
              <p:cNvPr id="49" name="TextBox 49"/>
              <p:cNvSpPr txBox="1"/>
              <p:nvPr/>
            </p:nvSpPr>
            <p:spPr>
              <a:xfrm>
                <a:off x="1128712" y="4631531"/>
                <a:ext cx="1312360" cy="2286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l"/>
                <a:r>
                  <a:rPr lang="zh-CN" sz="1125" b="1" dirty="0">
                    <a:solidFill>
                      <a:srgbClr val="2B3648"/>
                    </a:solidFill>
                    <a:latin typeface="Arial"/>
                    <a:ea typeface="Microsoft YaHei"/>
                    <a:cs typeface="Arial"/>
                  </a:rPr>
                  <a:t>工具白名单</a:t>
                </a:r>
              </a:p>
            </p:txBody>
          </p:sp>
          <p:sp>
            <p:nvSpPr>
              <p:cNvPr id="50" name="TextBox 50"/>
              <p:cNvSpPr txBox="1"/>
              <p:nvPr/>
            </p:nvSpPr>
            <p:spPr>
              <a:xfrm>
                <a:off x="1129665" y="4849178"/>
                <a:ext cx="3821144" cy="21336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l"/>
                <a:r>
                  <a:rPr lang="zh-CN" sz="1050" dirty="0">
                    <a:solidFill>
                      <a:srgbClr val="5B6B82"/>
                    </a:solidFill>
                    <a:latin typeface="Arial"/>
                    <a:ea typeface="Microsoft YaHei"/>
                    <a:cs typeface="Arial"/>
                  </a:rPr>
                  <a:t>只走批准的工具，私装影子 AI 最危险</a:t>
                </a:r>
              </a:p>
            </p:txBody>
          </p:sp>
        </p:grpSp>
        <p:grpSp>
          <p:nvGrpSpPr>
            <p:cNvPr id="57" name="Group 57"/>
            <p:cNvGrpSpPr/>
            <p:nvPr/>
          </p:nvGrpSpPr>
          <p:grpSpPr>
            <a:xfrm>
              <a:off x="571500" y="5124450"/>
              <a:ext cx="7810500" cy="533400"/>
              <a:chOff x="571500" y="5124450"/>
              <a:chExt cx="7810500" cy="533400"/>
            </a:xfrm>
          </p:grpSpPr>
          <p:sp>
            <p:nvSpPr>
              <p:cNvPr id="52" name="Rectangle 52"/>
              <p:cNvSpPr/>
              <p:nvPr/>
            </p:nvSpPr>
            <p:spPr>
              <a:xfrm>
                <a:off x="571500" y="5124450"/>
                <a:ext cx="7810500" cy="533400"/>
              </a:xfrm>
              <a:prstGeom prst="roundRect">
                <a:avLst>
                  <a:gd name="adj" fmla="val 28571"/>
                </a:avLst>
              </a:prstGeom>
              <a:solidFill>
                <a:srgbClr val="FFFFFF"/>
              </a:solidFill>
              <a:ln w="9525">
                <a:solidFill>
                  <a:srgbClr val="D8E1EC"/>
                </a:solidFill>
              </a:ln>
            </p:spPr>
            <p:txBody>
              <a:bodyPr/>
              <a:p/>
            </p:txBody>
          </p:sp>
          <p:sp>
            <p:nvSpPr>
              <p:cNvPr id="53" name="Ellipse 53"/>
              <p:cNvSpPr/>
              <p:nvPr/>
            </p:nvSpPr>
            <p:spPr>
              <a:xfrm>
                <a:off x="733425" y="5248275"/>
                <a:ext cx="285750" cy="285750"/>
              </a:xfrm>
              <a:prstGeom prst="ellipse">
                <a:avLst/>
              </a:prstGeom>
              <a:solidFill>
                <a:srgbClr val="1565D8"/>
              </a:solidFill>
              <a:ln>
                <a:noFill/>
              </a:ln>
            </p:spPr>
            <p:txBody>
              <a:bodyPr/>
              <a:p/>
            </p:txBody>
          </p:sp>
          <p:sp>
            <p:nvSpPr>
              <p:cNvPr id="54" name="TextBox 54"/>
              <p:cNvSpPr txBox="1"/>
              <p:nvPr/>
            </p:nvSpPr>
            <p:spPr>
              <a:xfrm>
                <a:off x="822535" y="5334952"/>
                <a:ext cx="107530" cy="21336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ctr"/>
                <a:r>
                  <a:rPr lang="zh-CN" sz="1050" b="1" dirty="0">
                    <a:solidFill>
                      <a:srgbClr val="FFFFFF"/>
                    </a:solidFill>
                    <a:latin typeface="Arial"/>
                    <a:ea typeface="Microsoft YaHei"/>
                    <a:cs typeface="Arial"/>
                  </a:rPr>
                  <a:t>E</a:t>
                </a:r>
              </a:p>
            </p:txBody>
          </p:sp>
          <p:sp>
            <p:nvSpPr>
              <p:cNvPr id="55" name="TextBox 55"/>
              <p:cNvSpPr txBox="1"/>
              <p:nvPr/>
            </p:nvSpPr>
            <p:spPr>
              <a:xfrm>
                <a:off x="1128712" y="5222081"/>
                <a:ext cx="1312360" cy="2286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l"/>
                <a:r>
                  <a:rPr lang="zh-CN" sz="1125" b="1" dirty="0">
                    <a:solidFill>
                      <a:srgbClr val="2B3648"/>
                    </a:solidFill>
                    <a:latin typeface="Arial"/>
                    <a:ea typeface="Microsoft YaHei"/>
                    <a:cs typeface="Arial"/>
                  </a:rPr>
                  <a:t>留痕</a:t>
                </a:r>
              </a:p>
            </p:txBody>
          </p:sp>
          <p:sp>
            <p:nvSpPr>
              <p:cNvPr id="56" name="TextBox 56"/>
              <p:cNvSpPr txBox="1"/>
              <p:nvPr/>
            </p:nvSpPr>
            <p:spPr>
              <a:xfrm>
                <a:off x="1129665" y="5439728"/>
                <a:ext cx="3030045" cy="21336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l"/>
                <a:r>
                  <a:rPr lang="zh-CN" sz="1050" dirty="0">
                    <a:solidFill>
                      <a:srgbClr val="5B6B82"/>
                    </a:solidFill>
                    <a:latin typeface="Arial"/>
                    <a:ea typeface="Microsoft YaHei"/>
                    <a:cs typeface="Arial"/>
                  </a:rPr>
                  <a:t>重要产出留版本和记录，出事好回溯</a:t>
                </a:r>
              </a:p>
            </p:txBody>
          </p:sp>
        </p:grpSp>
      </p:grpSp>
      <p:grpSp>
        <p:nvGrpSpPr>
          <p:cNvPr id="63" name="Group 63"/>
          <p:cNvGrpSpPr/>
          <p:nvPr/>
        </p:nvGrpSpPr>
        <p:grpSpPr>
          <a:xfrm>
            <a:off x="8610600" y="1619250"/>
            <a:ext cx="3009900" cy="4038600"/>
            <a:chOff x="8610600" y="1619250"/>
            <a:chExt cx="3009900" cy="4038600"/>
          </a:xfrm>
        </p:grpSpPr>
        <p:pic>
          <p:nvPicPr>
            <p:cNvPr id="59" name="Image 59"/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8610600" y="1619250"/>
              <a:ext cx="3009900" cy="3009900"/>
            </a:xfrm>
            <a:prstGeom prst="roundRect">
              <a:avLst>
                <a:gd name="adj" fmla="val 5063"/>
              </a:avLst>
            </a:prstGeom>
          </p:spPr>
        </p:pic>
        <p:sp>
          <p:nvSpPr>
            <p:cNvPr id="60" name="Rectangle 60"/>
            <p:cNvSpPr/>
            <p:nvPr/>
          </p:nvSpPr>
          <p:spPr>
            <a:xfrm>
              <a:off x="8610600" y="4781550"/>
              <a:ext cx="3009900" cy="876300"/>
            </a:xfrm>
            <a:prstGeom prst="roundRect">
              <a:avLst>
                <a:gd name="adj" fmla="val 17391"/>
              </a:avLst>
            </a:prstGeom>
            <a:solidFill>
              <a:srgbClr val="FFFFFF"/>
            </a:solidFill>
            <a:ln w="9525">
              <a:solidFill>
                <a:srgbClr val="D8E1EC"/>
              </a:solidFill>
            </a:ln>
          </p:spPr>
          <p:txBody>
            <a:bodyPr/>
            <a:p/>
          </p:txBody>
        </p:sp>
        <p:sp>
          <p:nvSpPr>
            <p:cNvPr id="61" name="TextBox 61"/>
            <p:cNvSpPr txBox="1"/>
            <p:nvPr/>
          </p:nvSpPr>
          <p:spPr>
            <a:xfrm>
              <a:off x="8824912" y="4983956"/>
              <a:ext cx="816173" cy="22860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5" b="1" dirty="0">
                  <a:solidFill>
                    <a:srgbClr val="0B4EA2"/>
                  </a:solidFill>
                  <a:latin typeface="Arial"/>
                  <a:ea typeface="Microsoft YaHei"/>
                  <a:cs typeface="Arial"/>
                </a:rPr>
                <a:t>口诀：</a:t>
              </a:r>
            </a:p>
          </p:txBody>
        </p:sp>
        <p:sp>
          <p:nvSpPr>
            <p:cNvPr id="62" name="TextBox 62"/>
            <p:cNvSpPr txBox="1"/>
            <p:nvPr/>
          </p:nvSpPr>
          <p:spPr>
            <a:xfrm>
              <a:off x="8824912" y="5250656"/>
              <a:ext cx="1651028" cy="22860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5" b="1" dirty="0">
                  <a:solidFill>
                    <a:srgbClr val="0B4EA2"/>
                  </a:solidFill>
                  <a:latin typeface="Arial"/>
                  <a:ea typeface="Microsoft YaHei"/>
                  <a:cs typeface="Arial"/>
                </a:rPr>
                <a:t>停、报、查——瞒是大事</a:t>
              </a:r>
            </a:p>
          </p:txBody>
        </p:sp>
      </p:grpSp>
      <p:grpSp>
        <p:nvGrpSpPr>
          <p:cNvPr id="66" name="Group 66"/>
          <p:cNvGrpSpPr/>
          <p:nvPr/>
        </p:nvGrpSpPr>
        <p:grpSpPr>
          <a:xfrm>
            <a:off x="560070" y="6341745"/>
            <a:ext cx="11071860" cy="182880"/>
            <a:chOff x="560070" y="6341745"/>
            <a:chExt cx="11071860" cy="182880"/>
          </a:xfrm>
        </p:grpSpPr>
        <p:sp>
          <p:nvSpPr>
            <p:cNvPr id="64" name="TextBox 64"/>
            <p:cNvSpPr txBox="1"/>
            <p:nvPr/>
          </p:nvSpPr>
          <p:spPr>
            <a:xfrm>
              <a:off x="560070" y="6341745"/>
              <a:ext cx="1054989" cy="18288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00" dirty="0">
                  <a:solidFill>
                    <a:srgbClr val="8B99AE"/>
                  </a:solidFill>
                  <a:latin typeface="Arial"/>
                  <a:ea typeface="Microsoft YaHei"/>
                  <a:cs typeface="Arial"/>
                </a:rPr>
                <a:t>大模型通识 · 企业版</a:t>
              </a:r>
            </a:p>
          </p:txBody>
        </p:sp>
        <p:sp>
          <p:nvSpPr>
            <p:cNvPr id="65" name="TextBox 65"/>
            <p:cNvSpPr txBox="1"/>
            <p:nvPr/>
          </p:nvSpPr>
          <p:spPr>
            <a:xfrm>
              <a:off x="11207020" y="6341745"/>
              <a:ext cx="424910" cy="18288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r"/>
              <a:r>
                <a:rPr lang="zh-CN" sz="900" dirty="0">
                  <a:solidFill>
                    <a:srgbClr val="8B99AE"/>
                  </a:solidFill>
                  <a:latin typeface="Arial"/>
                  <a:ea typeface="Microsoft YaHei"/>
                  <a:cs typeface="Arial"/>
                </a:rPr>
                <a:t>47 / 51</a:t>
              </a:r>
            </a:p>
          </p:txBody>
        </p:sp>
      </p:grpSp>
    </p:spTree>
  </p:cSld>
  <p:clrMapOvr>
    <a:masterClrMapping/>
  </p:clrMapOvr>
</p:sld>
</file>

<file path=ppt/slides/slide4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grpSp>
        <p:nvGrpSpPr>
          <p:cNvPr id="5" name="Group 5"/>
          <p:cNvGrpSpPr/>
          <p:nvPr/>
        </p:nvGrpSpPr>
        <p:grpSpPr>
          <a:xfrm>
            <a:off x="-1619250" y="0"/>
            <a:ext cx="13811250" cy="8477250"/>
            <a:chOff x="-1619250" y="0"/>
            <a:chExt cx="13811250" cy="8477250"/>
          </a:xfrm>
        </p:grpSpPr>
        <p:sp>
          <p:nvSpPr>
            <p:cNvPr id="2" name="Rectangle 2"/>
            <p:cNvSpPr/>
            <p:nvPr/>
          </p:nvSpPr>
          <p:spPr>
            <a:xfrm>
              <a:off x="0" y="0"/>
              <a:ext cx="12192000" cy="6858000"/>
            </a:xfrm>
            <a:prstGeom prst="rect">
              <a:avLst/>
            </a:prstGeom>
            <a:solidFill>
              <a:srgbClr val="F5F7FA"/>
            </a:solidFill>
            <a:ln>
              <a:noFill/>
            </a:ln>
          </p:spPr>
          <p:txBody>
            <a:bodyPr/>
            <a:p/>
          </p:txBody>
        </p:sp>
        <p:sp>
          <p:nvSpPr>
            <p:cNvPr id="3" name="Rectangle 3"/>
            <p:cNvSpPr/>
            <p:nvPr/>
          </p:nvSpPr>
          <p:spPr>
            <a:xfrm>
              <a:off x="0" y="0"/>
              <a:ext cx="12192000" cy="6858000"/>
            </a:xfrm>
            <a:prstGeom prst="rect">
              <a:avLst/>
            </a:prstGeom>
            <a:gradFill>
              <a:gsLst>
                <a:gs pos="0">
                  <a:srgbClr val="1565D8">
                    <a:alpha val="6000"/>
                  </a:srgbClr>
                </a:gs>
                <a:gs pos="100000">
                  <a:srgbClr val="1565D8">
                    <a:alpha val="0"/>
                  </a:srgbClr>
                </a:gs>
              </a:gsLst>
              <a:path path="circle">
                <a:fillToRect l="50000" t="50000" r="50000" b="50000"/>
              </a:path>
            </a:gradFill>
            <a:ln>
              <a:noFill/>
            </a:ln>
          </p:spPr>
          <p:txBody>
            <a:bodyPr/>
            <a:p/>
          </p:txBody>
        </p:sp>
        <p:sp>
          <p:nvSpPr>
            <p:cNvPr id="4" name="Ellipse 4"/>
            <p:cNvSpPr/>
            <p:nvPr/>
          </p:nvSpPr>
          <p:spPr>
            <a:xfrm>
              <a:off x="-1619250" y="4667250"/>
              <a:ext cx="3810000" cy="3810000"/>
            </a:xfrm>
            <a:prstGeom prst="ellipse">
              <a:avLst/>
            </a:prstGeom>
            <a:noFill/>
            <a:ln w="14288">
              <a:solidFill>
                <a:srgbClr val="D6E6F9">
                  <a:alpha val="80000"/>
                </a:srgbClr>
              </a:solidFill>
            </a:ln>
          </p:spPr>
          <p:txBody>
            <a:bodyPr/>
            <a:p/>
          </p:txBody>
        </p:sp>
      </p:grpSp>
      <p:grpSp>
        <p:nvGrpSpPr>
          <p:cNvPr id="9" name="Group 9"/>
          <p:cNvGrpSpPr/>
          <p:nvPr/>
        </p:nvGrpSpPr>
        <p:grpSpPr>
          <a:xfrm>
            <a:off x="571500" y="685800"/>
            <a:ext cx="3139785" cy="700088"/>
            <a:chOff x="571500" y="685800"/>
            <a:chExt cx="3139785" cy="700088"/>
          </a:xfrm>
        </p:grpSpPr>
        <p:sp>
          <p:nvSpPr>
            <p:cNvPr id="6" name="Rectangle 6"/>
            <p:cNvSpPr/>
            <p:nvPr/>
          </p:nvSpPr>
          <p:spPr>
            <a:xfrm>
              <a:off x="571500" y="685800"/>
              <a:ext cx="76200" cy="323850"/>
            </a:xfrm>
            <a:prstGeom prst="roundRect">
              <a:avLst>
                <a:gd name="adj" fmla="val 50000"/>
              </a:avLst>
            </a:prstGeom>
            <a:solidFill>
              <a:srgbClr val="1565D8"/>
            </a:solidFill>
            <a:ln>
              <a:noFill/>
            </a:ln>
          </p:spPr>
          <p:txBody>
            <a:bodyPr/>
            <a:p/>
          </p:txBody>
        </p:sp>
        <p:sp>
          <p:nvSpPr>
            <p:cNvPr id="7" name="TextBox 7"/>
            <p:cNvSpPr txBox="1"/>
            <p:nvPr/>
          </p:nvSpPr>
          <p:spPr>
            <a:xfrm>
              <a:off x="771525" y="700088"/>
              <a:ext cx="2939760" cy="45720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2250" b="1" dirty="0">
                  <a:solidFill>
                    <a:srgbClr val="2B3648"/>
                  </a:solidFill>
                  <a:latin typeface="Arial"/>
                  <a:ea typeface="Microsoft YaHei"/>
                  <a:cs typeface="Arial"/>
                </a:rPr>
                <a:t>翻车演练：AI 编了假电话，怎么办</a:t>
              </a:r>
            </a:p>
          </p:txBody>
        </p:sp>
        <p:sp>
          <p:nvSpPr>
            <p:cNvPr id="8" name="TextBox 8"/>
            <p:cNvSpPr txBox="1"/>
            <p:nvPr/>
          </p:nvSpPr>
          <p:spPr>
            <a:xfrm>
              <a:off x="782955" y="1111568"/>
              <a:ext cx="1834515" cy="27432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5B6B82"/>
                  </a:solidFill>
                  <a:latin typeface="Arial"/>
                  <a:ea typeface="Microsoft YaHei"/>
                  <a:cs typeface="Arial"/>
                </a:rPr>
                <a:t>5 分钟实操：发现 → 核实 → 撤回，练一遍才真会</a:t>
              </a:r>
            </a:p>
          </p:txBody>
        </p:sp>
      </p:grpSp>
      <p:grpSp>
        <p:nvGrpSpPr>
          <p:cNvPr id="12" name="Group 12"/>
          <p:cNvGrpSpPr/>
          <p:nvPr/>
        </p:nvGrpSpPr>
        <p:grpSpPr>
          <a:xfrm>
            <a:off x="3143250" y="2076450"/>
            <a:ext cx="2838450" cy="1"/>
            <a:chOff x="3143250" y="2076450"/>
            <a:chExt cx="2838450" cy="1"/>
          </a:xfrm>
        </p:grpSpPr>
        <p:sp>
          <p:nvSpPr>
            <p:cNvPr id="10" name="Line 10"/>
            <p:cNvSpPr/>
            <p:nvPr/>
          </p:nvSpPr>
          <p:spPr>
            <a:xfrm>
              <a:off x="3143250" y="2076450"/>
              <a:ext cx="209550" cy="1"/>
            </a:xfrm>
            <a:prstGeom prst="line">
              <a:avLst/>
            </a:prstGeom>
            <a:noFill/>
            <a:ln w="23812">
              <a:solidFill>
                <a:srgbClr val="1565D8"/>
              </a:solidFill>
              <a:tailEnd type="triangle" w="lg" len="lg"/>
            </a:ln>
          </p:spPr>
          <p:txBody>
            <a:bodyPr/>
            <a:p/>
          </p:txBody>
        </p:sp>
        <p:sp>
          <p:nvSpPr>
            <p:cNvPr id="11" name="Line 11"/>
            <p:cNvSpPr/>
            <p:nvPr/>
          </p:nvSpPr>
          <p:spPr>
            <a:xfrm>
              <a:off x="5772150" y="2076450"/>
              <a:ext cx="209550" cy="1"/>
            </a:xfrm>
            <a:prstGeom prst="line">
              <a:avLst/>
            </a:prstGeom>
            <a:noFill/>
            <a:ln w="23812">
              <a:solidFill>
                <a:srgbClr val="1565D8"/>
              </a:solidFill>
              <a:tailEnd type="triangle" w="lg" len="lg"/>
            </a:ln>
          </p:spPr>
          <p:txBody>
            <a:bodyPr/>
            <a:p/>
          </p:txBody>
        </p:sp>
      </p:grpSp>
      <p:grpSp>
        <p:nvGrpSpPr>
          <p:cNvPr id="17" name="Group 17"/>
          <p:cNvGrpSpPr/>
          <p:nvPr/>
        </p:nvGrpSpPr>
        <p:grpSpPr>
          <a:xfrm>
            <a:off x="571500" y="1600200"/>
            <a:ext cx="2514600" cy="952500"/>
            <a:chOff x="571500" y="1600200"/>
            <a:chExt cx="2514600" cy="952500"/>
          </a:xfrm>
        </p:grpSpPr>
        <p:sp>
          <p:nvSpPr>
            <p:cNvPr id="13" name="Rectangle 13"/>
            <p:cNvSpPr/>
            <p:nvPr/>
          </p:nvSpPr>
          <p:spPr>
            <a:xfrm>
              <a:off x="571500" y="1600200"/>
              <a:ext cx="2514600" cy="952500"/>
            </a:xfrm>
            <a:prstGeom prst="roundRect">
              <a:avLst>
                <a:gd name="adj" fmla="val 16000"/>
              </a:avLst>
            </a:prstGeom>
            <a:solidFill>
              <a:srgbClr val="FFFFFF"/>
            </a:solidFill>
            <a:ln w="9525">
              <a:solidFill>
                <a:srgbClr val="D8E1EC"/>
              </a:solidFill>
            </a:ln>
          </p:spPr>
          <p:txBody>
            <a:bodyPr/>
            <a:p/>
          </p:txBody>
        </p:sp>
        <p:sp>
          <p:nvSpPr>
            <p:cNvPr id="14" name="TextBox 14"/>
            <p:cNvSpPr txBox="1"/>
            <p:nvPr/>
          </p:nvSpPr>
          <p:spPr>
            <a:xfrm>
              <a:off x="786765" y="1772602"/>
              <a:ext cx="475076" cy="21336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050" b="1" dirty="0">
                  <a:solidFill>
                    <a:srgbClr val="1565D8"/>
                  </a:solidFill>
                  <a:latin typeface="Arial"/>
                  <a:ea typeface="Microsoft YaHei"/>
                  <a:cs typeface="Arial"/>
                </a:rPr>
                <a:t>STEP 1</a:t>
              </a:r>
            </a:p>
          </p:txBody>
        </p:sp>
        <p:sp>
          <p:nvSpPr>
            <p:cNvPr id="15" name="TextBox 15"/>
            <p:cNvSpPr txBox="1"/>
            <p:nvPr/>
          </p:nvSpPr>
          <p:spPr>
            <a:xfrm>
              <a:off x="782955" y="2025968"/>
              <a:ext cx="818738" cy="27432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b="1" dirty="0">
                  <a:solidFill>
                    <a:srgbClr val="2B3648"/>
                  </a:solidFill>
                  <a:latin typeface="Arial"/>
                  <a:ea typeface="Microsoft YaHei"/>
                  <a:cs typeface="Arial"/>
                </a:rPr>
                <a:t>发现</a:t>
              </a:r>
            </a:p>
          </p:txBody>
        </p:sp>
        <p:sp>
          <p:nvSpPr>
            <p:cNvPr id="16" name="TextBox 16"/>
            <p:cNvSpPr txBox="1"/>
            <p:nvPr/>
          </p:nvSpPr>
          <p:spPr>
            <a:xfrm>
              <a:off x="786765" y="2306002"/>
              <a:ext cx="1286828" cy="21336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050" dirty="0">
                  <a:solidFill>
                    <a:srgbClr val="5B6B82"/>
                  </a:solidFill>
                  <a:latin typeface="Arial"/>
                  <a:ea typeface="Microsoft YaHei"/>
                  <a:cs typeface="Arial"/>
                </a:rPr>
                <a:t>AI 给了个电话/条款/数字？先停 3 秒，问一句：这是它编的吗？</a:t>
              </a:r>
            </a:p>
          </p:txBody>
        </p:sp>
      </p:grpSp>
      <p:grpSp>
        <p:nvGrpSpPr>
          <p:cNvPr id="22" name="Group 22"/>
          <p:cNvGrpSpPr/>
          <p:nvPr/>
        </p:nvGrpSpPr>
        <p:grpSpPr>
          <a:xfrm>
            <a:off x="3371850" y="1600200"/>
            <a:ext cx="2514600" cy="952500"/>
            <a:chOff x="3371850" y="1600200"/>
            <a:chExt cx="2514600" cy="952500"/>
          </a:xfrm>
        </p:grpSpPr>
        <p:sp>
          <p:nvSpPr>
            <p:cNvPr id="18" name="Rectangle 18"/>
            <p:cNvSpPr/>
            <p:nvPr/>
          </p:nvSpPr>
          <p:spPr>
            <a:xfrm>
              <a:off x="3371850" y="1600200"/>
              <a:ext cx="2514600" cy="952500"/>
            </a:xfrm>
            <a:prstGeom prst="roundRect">
              <a:avLst>
                <a:gd name="adj" fmla="val 16000"/>
              </a:avLst>
            </a:prstGeom>
            <a:solidFill>
              <a:srgbClr val="FFFFFF"/>
            </a:solidFill>
            <a:ln w="9525">
              <a:solidFill>
                <a:srgbClr val="D8E1EC"/>
              </a:solidFill>
            </a:ln>
          </p:spPr>
          <p:txBody>
            <a:bodyPr/>
            <a:p/>
          </p:txBody>
        </p:sp>
        <p:sp>
          <p:nvSpPr>
            <p:cNvPr id="19" name="TextBox 19"/>
            <p:cNvSpPr txBox="1"/>
            <p:nvPr/>
          </p:nvSpPr>
          <p:spPr>
            <a:xfrm>
              <a:off x="3587115" y="1772602"/>
              <a:ext cx="475076" cy="21336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050" b="1" dirty="0">
                  <a:solidFill>
                    <a:srgbClr val="1565D8"/>
                  </a:solidFill>
                  <a:latin typeface="Arial"/>
                  <a:ea typeface="Microsoft YaHei"/>
                  <a:cs typeface="Arial"/>
                </a:rPr>
                <a:t>STEP 2</a:t>
              </a:r>
            </a:p>
          </p:txBody>
        </p:sp>
        <p:sp>
          <p:nvSpPr>
            <p:cNvPr id="20" name="TextBox 20"/>
            <p:cNvSpPr txBox="1"/>
            <p:nvPr/>
          </p:nvSpPr>
          <p:spPr>
            <a:xfrm>
              <a:off x="3583305" y="2025968"/>
              <a:ext cx="979408" cy="27432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b="1" dirty="0">
                  <a:solidFill>
                    <a:srgbClr val="2B3648"/>
                  </a:solidFill>
                  <a:latin typeface="Arial"/>
                  <a:ea typeface="Microsoft YaHei"/>
                  <a:cs typeface="Arial"/>
                </a:rPr>
                <a:t>核实</a:t>
              </a:r>
            </a:p>
          </p:txBody>
        </p:sp>
        <p:sp>
          <p:nvSpPr>
            <p:cNvPr id="21" name="TextBox 21"/>
            <p:cNvSpPr txBox="1"/>
            <p:nvPr/>
          </p:nvSpPr>
          <p:spPr>
            <a:xfrm>
              <a:off x="3587115" y="2306002"/>
              <a:ext cx="1643872" cy="21336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050" dirty="0">
                  <a:solidFill>
                    <a:srgbClr val="5B6B82"/>
                  </a:solidFill>
                  <a:latin typeface="Arial"/>
                  <a:ea typeface="Microsoft YaHei"/>
                  <a:cs typeface="Arial"/>
                </a:rPr>
                <a:t>回源查证：官方 / 原表 / 第二个来源，对不上就不能用</a:t>
              </a:r>
            </a:p>
          </p:txBody>
        </p:sp>
      </p:grpSp>
      <p:grpSp>
        <p:nvGrpSpPr>
          <p:cNvPr id="27" name="Group 27"/>
          <p:cNvGrpSpPr/>
          <p:nvPr/>
        </p:nvGrpSpPr>
        <p:grpSpPr>
          <a:xfrm>
            <a:off x="6000750" y="1600200"/>
            <a:ext cx="2514600" cy="952500"/>
            <a:chOff x="6000750" y="1600200"/>
            <a:chExt cx="2514600" cy="952500"/>
          </a:xfrm>
        </p:grpSpPr>
        <p:sp>
          <p:nvSpPr>
            <p:cNvPr id="23" name="Rectangle 23"/>
            <p:cNvSpPr/>
            <p:nvPr/>
          </p:nvSpPr>
          <p:spPr>
            <a:xfrm>
              <a:off x="6000750" y="1600200"/>
              <a:ext cx="2514600" cy="952500"/>
            </a:xfrm>
            <a:prstGeom prst="roundRect">
              <a:avLst>
                <a:gd name="adj" fmla="val 16000"/>
              </a:avLst>
            </a:prstGeom>
            <a:solidFill>
              <a:srgbClr val="FFFFFF"/>
            </a:solidFill>
            <a:ln w="9525">
              <a:solidFill>
                <a:srgbClr val="D8E1EC"/>
              </a:solidFill>
            </a:ln>
          </p:spPr>
          <p:txBody>
            <a:bodyPr/>
            <a:p/>
          </p:txBody>
        </p:sp>
        <p:sp>
          <p:nvSpPr>
            <p:cNvPr id="24" name="TextBox 24"/>
            <p:cNvSpPr txBox="1"/>
            <p:nvPr/>
          </p:nvSpPr>
          <p:spPr>
            <a:xfrm>
              <a:off x="6216015" y="1772602"/>
              <a:ext cx="475076" cy="21336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050" b="1" dirty="0">
                  <a:solidFill>
                    <a:srgbClr val="1565D8"/>
                  </a:solidFill>
                  <a:latin typeface="Arial"/>
                  <a:ea typeface="Microsoft YaHei"/>
                  <a:cs typeface="Arial"/>
                </a:rPr>
                <a:t>STEP 3</a:t>
              </a:r>
            </a:p>
          </p:txBody>
        </p:sp>
        <p:sp>
          <p:nvSpPr>
            <p:cNvPr id="25" name="TextBox 25"/>
            <p:cNvSpPr txBox="1"/>
            <p:nvPr/>
          </p:nvSpPr>
          <p:spPr>
            <a:xfrm>
              <a:off x="6212205" y="2025968"/>
              <a:ext cx="601361" cy="27432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b="1" dirty="0">
                  <a:solidFill>
                    <a:srgbClr val="2B3648"/>
                  </a:solidFill>
                  <a:latin typeface="Arial"/>
                  <a:ea typeface="Microsoft YaHei"/>
                  <a:cs typeface="Arial"/>
                </a:rPr>
                <a:t>撤回</a:t>
              </a:r>
            </a:p>
          </p:txBody>
        </p:sp>
        <p:sp>
          <p:nvSpPr>
            <p:cNvPr id="26" name="TextBox 26"/>
            <p:cNvSpPr txBox="1"/>
            <p:nvPr/>
          </p:nvSpPr>
          <p:spPr>
            <a:xfrm>
              <a:off x="6216015" y="2306002"/>
              <a:ext cx="1286828" cy="21336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050" dirty="0">
                  <a:solidFill>
                    <a:srgbClr val="5B6B82"/>
                  </a:solidFill>
                  <a:latin typeface="Arial"/>
                  <a:ea typeface="Microsoft YaHei"/>
                  <a:cs typeface="Arial"/>
                </a:rPr>
                <a:t>真发出去了就撤回 + 报负责人 + 记一笔，下次不踩同一个坑</a:t>
              </a:r>
            </a:p>
          </p:txBody>
        </p:sp>
      </p:grpSp>
      <p:grpSp>
        <p:nvGrpSpPr>
          <p:cNvPr id="58" name="Group 58"/>
          <p:cNvGrpSpPr/>
          <p:nvPr/>
        </p:nvGrpSpPr>
        <p:grpSpPr>
          <a:xfrm>
            <a:off x="571500" y="2762250"/>
            <a:ext cx="7810500" cy="2895600"/>
            <a:chOff x="571500" y="2762250"/>
            <a:chExt cx="7810500" cy="2895600"/>
          </a:xfrm>
        </p:grpSpPr>
        <p:grpSp>
          <p:nvGrpSpPr>
            <p:cNvPr id="33" name="Group 33"/>
            <p:cNvGrpSpPr/>
            <p:nvPr/>
          </p:nvGrpSpPr>
          <p:grpSpPr>
            <a:xfrm>
              <a:off x="571500" y="2762250"/>
              <a:ext cx="7810500" cy="533400"/>
              <a:chOff x="571500" y="2762250"/>
              <a:chExt cx="7810500" cy="533400"/>
            </a:xfrm>
          </p:grpSpPr>
          <p:sp>
            <p:nvSpPr>
              <p:cNvPr id="28" name="Rectangle 28"/>
              <p:cNvSpPr/>
              <p:nvPr/>
            </p:nvSpPr>
            <p:spPr>
              <a:xfrm>
                <a:off x="571500" y="2762250"/>
                <a:ext cx="7810500" cy="533400"/>
              </a:xfrm>
              <a:prstGeom prst="roundRect">
                <a:avLst>
                  <a:gd name="adj" fmla="val 28571"/>
                </a:avLst>
              </a:prstGeom>
              <a:solidFill>
                <a:srgbClr val="FFFFFF"/>
              </a:solidFill>
              <a:ln w="9525">
                <a:solidFill>
                  <a:srgbClr val="D8E1EC"/>
                </a:solidFill>
              </a:ln>
            </p:spPr>
            <p:txBody>
              <a:bodyPr/>
              <a:p/>
            </p:txBody>
          </p:sp>
          <p:sp>
            <p:nvSpPr>
              <p:cNvPr id="29" name="Ellipse 29"/>
              <p:cNvSpPr/>
              <p:nvPr/>
            </p:nvSpPr>
            <p:spPr>
              <a:xfrm>
                <a:off x="733425" y="2886075"/>
                <a:ext cx="285750" cy="285750"/>
              </a:xfrm>
              <a:prstGeom prst="ellipse">
                <a:avLst/>
              </a:prstGeom>
              <a:solidFill>
                <a:srgbClr val="1565D8"/>
              </a:solidFill>
              <a:ln>
                <a:noFill/>
              </a:ln>
            </p:spPr>
            <p:txBody>
              <a:bodyPr/>
              <a:p/>
            </p:txBody>
          </p:sp>
          <p:sp>
            <p:nvSpPr>
              <p:cNvPr id="30" name="TextBox 30"/>
              <p:cNvSpPr txBox="1"/>
              <p:nvPr/>
            </p:nvSpPr>
            <p:spPr>
              <a:xfrm>
                <a:off x="822535" y="2972752"/>
                <a:ext cx="107530" cy="21336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ctr"/>
                <a:r>
                  <a:rPr lang="zh-CN" sz="1050" b="1" dirty="0">
                    <a:solidFill>
                      <a:srgbClr val="FFFFFF"/>
                    </a:solidFill>
                    <a:latin typeface="Arial"/>
                    <a:ea typeface="Microsoft YaHei"/>
                    <a:cs typeface="Arial"/>
                  </a:rPr>
                  <a:t>A</a:t>
                </a:r>
              </a:p>
            </p:txBody>
          </p:sp>
          <p:sp>
            <p:nvSpPr>
              <p:cNvPr id="31" name="TextBox 31"/>
              <p:cNvSpPr txBox="1"/>
              <p:nvPr/>
            </p:nvSpPr>
            <p:spPr>
              <a:xfrm>
                <a:off x="1128712" y="2859881"/>
                <a:ext cx="1312360" cy="2286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l"/>
                <a:r>
                  <a:rPr lang="zh-CN" sz="1125" b="1" dirty="0">
                    <a:solidFill>
                      <a:srgbClr val="2B3648"/>
                    </a:solidFill>
                    <a:latin typeface="Arial"/>
                    <a:ea typeface="Microsoft YaHei"/>
                    <a:cs typeface="Arial"/>
                  </a:rPr>
                  <a:t>AI 初稿</a:t>
                </a:r>
              </a:p>
            </p:txBody>
          </p:sp>
          <p:sp>
            <p:nvSpPr>
              <p:cNvPr id="32" name="TextBox 32"/>
              <p:cNvSpPr txBox="1"/>
              <p:nvPr/>
            </p:nvSpPr>
            <p:spPr>
              <a:xfrm>
                <a:off x="1129665" y="3077528"/>
                <a:ext cx="3352086" cy="21336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l"/>
                <a:r>
                  <a:rPr lang="zh-CN" sz="1050" dirty="0">
                    <a:solidFill>
                      <a:srgbClr val="5B6B82"/>
                    </a:solidFill>
                    <a:latin typeface="Arial"/>
                    <a:ea typeface="Microsoft YaHei"/>
                    <a:cs typeface="Arial"/>
                  </a:rPr>
                  <a:t>AI 只出初稿，人永远终审，重要的双人过</a:t>
                </a:r>
              </a:p>
            </p:txBody>
          </p:sp>
        </p:grpSp>
        <p:grpSp>
          <p:nvGrpSpPr>
            <p:cNvPr id="39" name="Group 39"/>
            <p:cNvGrpSpPr/>
            <p:nvPr/>
          </p:nvGrpSpPr>
          <p:grpSpPr>
            <a:xfrm>
              <a:off x="571500" y="3352800"/>
              <a:ext cx="7810500" cy="533400"/>
              <a:chOff x="571500" y="3352800"/>
              <a:chExt cx="7810500" cy="533400"/>
            </a:xfrm>
          </p:grpSpPr>
          <p:sp>
            <p:nvSpPr>
              <p:cNvPr id="34" name="Rectangle 34"/>
              <p:cNvSpPr/>
              <p:nvPr/>
            </p:nvSpPr>
            <p:spPr>
              <a:xfrm>
                <a:off x="571500" y="3352800"/>
                <a:ext cx="7810500" cy="533400"/>
              </a:xfrm>
              <a:prstGeom prst="roundRect">
                <a:avLst>
                  <a:gd name="adj" fmla="val 28571"/>
                </a:avLst>
              </a:prstGeom>
              <a:solidFill>
                <a:srgbClr val="FFFFFF"/>
              </a:solidFill>
              <a:ln w="9525">
                <a:solidFill>
                  <a:srgbClr val="D8E1EC"/>
                </a:solidFill>
              </a:ln>
            </p:spPr>
            <p:txBody>
              <a:bodyPr/>
              <a:p/>
            </p:txBody>
          </p:sp>
          <p:sp>
            <p:nvSpPr>
              <p:cNvPr id="35" name="Ellipse 35"/>
              <p:cNvSpPr/>
              <p:nvPr/>
            </p:nvSpPr>
            <p:spPr>
              <a:xfrm>
                <a:off x="733425" y="3476625"/>
                <a:ext cx="285750" cy="285750"/>
              </a:xfrm>
              <a:prstGeom prst="ellipse">
                <a:avLst/>
              </a:prstGeom>
              <a:solidFill>
                <a:srgbClr val="1565D8"/>
              </a:solidFill>
              <a:ln>
                <a:noFill/>
              </a:ln>
            </p:spPr>
            <p:txBody>
              <a:bodyPr/>
              <a:p/>
            </p:txBody>
          </p:sp>
          <p:sp>
            <p:nvSpPr>
              <p:cNvPr id="36" name="TextBox 36"/>
              <p:cNvSpPr txBox="1"/>
              <p:nvPr/>
            </p:nvSpPr>
            <p:spPr>
              <a:xfrm>
                <a:off x="822535" y="3563302"/>
                <a:ext cx="107530" cy="21336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ctr"/>
                <a:r>
                  <a:rPr lang="zh-CN" sz="1050" b="1" dirty="0">
                    <a:solidFill>
                      <a:srgbClr val="FFFFFF"/>
                    </a:solidFill>
                    <a:latin typeface="Arial"/>
                    <a:ea typeface="Microsoft YaHei"/>
                    <a:cs typeface="Arial"/>
                  </a:rPr>
                  <a:t>B</a:t>
                </a:r>
              </a:p>
            </p:txBody>
          </p:sp>
          <p:sp>
            <p:nvSpPr>
              <p:cNvPr id="37" name="TextBox 37"/>
              <p:cNvSpPr txBox="1"/>
              <p:nvPr/>
            </p:nvSpPr>
            <p:spPr>
              <a:xfrm>
                <a:off x="1128712" y="3450431"/>
                <a:ext cx="1312360" cy="2286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l"/>
                <a:r>
                  <a:rPr lang="zh-CN" sz="1125" b="1" dirty="0">
                    <a:solidFill>
                      <a:srgbClr val="2B3648"/>
                    </a:solidFill>
                    <a:latin typeface="Arial"/>
                    <a:ea typeface="Microsoft YaHei"/>
                    <a:cs typeface="Arial"/>
                  </a:rPr>
                  <a:t>事实核实</a:t>
                </a:r>
              </a:p>
            </p:txBody>
          </p:sp>
          <p:sp>
            <p:nvSpPr>
              <p:cNvPr id="38" name="TextBox 38"/>
              <p:cNvSpPr txBox="1"/>
              <p:nvPr/>
            </p:nvSpPr>
            <p:spPr>
              <a:xfrm>
                <a:off x="1129665" y="3668078"/>
                <a:ext cx="3548110" cy="21336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l"/>
                <a:r>
                  <a:rPr lang="zh-CN" sz="1050" dirty="0">
                    <a:solidFill>
                      <a:srgbClr val="5B6B82"/>
                    </a:solidFill>
                    <a:latin typeface="Arial"/>
                    <a:ea typeface="Microsoft YaHei"/>
                    <a:cs typeface="Arial"/>
                  </a:rPr>
                  <a:t>关键事实回源核实过再用，不直接转发</a:t>
                </a:r>
              </a:p>
            </p:txBody>
          </p:sp>
        </p:grpSp>
        <p:grpSp>
          <p:nvGrpSpPr>
            <p:cNvPr id="45" name="Group 45"/>
            <p:cNvGrpSpPr/>
            <p:nvPr/>
          </p:nvGrpSpPr>
          <p:grpSpPr>
            <a:xfrm>
              <a:off x="571500" y="3943350"/>
              <a:ext cx="7810500" cy="533400"/>
              <a:chOff x="571500" y="3943350"/>
              <a:chExt cx="7810500" cy="533400"/>
            </a:xfrm>
          </p:grpSpPr>
          <p:sp>
            <p:nvSpPr>
              <p:cNvPr id="40" name="Rectangle 40"/>
              <p:cNvSpPr/>
              <p:nvPr/>
            </p:nvSpPr>
            <p:spPr>
              <a:xfrm>
                <a:off x="571500" y="3943350"/>
                <a:ext cx="7810500" cy="533400"/>
              </a:xfrm>
              <a:prstGeom prst="roundRect">
                <a:avLst>
                  <a:gd name="adj" fmla="val 28571"/>
                </a:avLst>
              </a:prstGeom>
              <a:solidFill>
                <a:srgbClr val="FFFFFF"/>
              </a:solidFill>
              <a:ln w="9525">
                <a:solidFill>
                  <a:srgbClr val="D8E1EC"/>
                </a:solidFill>
              </a:ln>
            </p:spPr>
            <p:txBody>
              <a:bodyPr/>
              <a:p/>
            </p:txBody>
          </p:sp>
          <p:sp>
            <p:nvSpPr>
              <p:cNvPr id="41" name="Ellipse 41"/>
              <p:cNvSpPr/>
              <p:nvPr/>
            </p:nvSpPr>
            <p:spPr>
              <a:xfrm>
                <a:off x="733425" y="4067175"/>
                <a:ext cx="285750" cy="285750"/>
              </a:xfrm>
              <a:prstGeom prst="ellipse">
                <a:avLst/>
              </a:prstGeom>
              <a:solidFill>
                <a:srgbClr val="1565D8"/>
              </a:solidFill>
              <a:ln>
                <a:noFill/>
              </a:ln>
            </p:spPr>
            <p:txBody>
              <a:bodyPr/>
              <a:p/>
            </p:txBody>
          </p:sp>
          <p:sp>
            <p:nvSpPr>
              <p:cNvPr id="42" name="TextBox 42"/>
              <p:cNvSpPr txBox="1"/>
              <p:nvPr/>
            </p:nvSpPr>
            <p:spPr>
              <a:xfrm>
                <a:off x="822535" y="4153852"/>
                <a:ext cx="107530" cy="21336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ctr"/>
                <a:r>
                  <a:rPr lang="zh-CN" sz="1050" b="1" dirty="0">
                    <a:solidFill>
                      <a:srgbClr val="FFFFFF"/>
                    </a:solidFill>
                    <a:latin typeface="Arial"/>
                    <a:ea typeface="Microsoft YaHei"/>
                    <a:cs typeface="Arial"/>
                  </a:rPr>
                  <a:t>C</a:t>
                </a:r>
              </a:p>
            </p:txBody>
          </p:sp>
          <p:sp>
            <p:nvSpPr>
              <p:cNvPr id="43" name="TextBox 43"/>
              <p:cNvSpPr txBox="1"/>
              <p:nvPr/>
            </p:nvSpPr>
            <p:spPr>
              <a:xfrm>
                <a:off x="1128712" y="4040981"/>
                <a:ext cx="1312360" cy="2286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l"/>
                <a:r>
                  <a:rPr lang="zh-CN" sz="1125" b="1" dirty="0">
                    <a:solidFill>
                      <a:srgbClr val="2B3648"/>
                    </a:solidFill>
                    <a:latin typeface="Arial"/>
                    <a:ea typeface="Microsoft YaHei"/>
                    <a:cs typeface="Arial"/>
                  </a:rPr>
                  <a:t>敏感材料</a:t>
                </a:r>
              </a:p>
            </p:txBody>
          </p:sp>
          <p:sp>
            <p:nvSpPr>
              <p:cNvPr id="44" name="TextBox 44"/>
              <p:cNvSpPr txBox="1"/>
              <p:nvPr/>
            </p:nvSpPr>
            <p:spPr>
              <a:xfrm>
                <a:off x="1129665" y="4258628"/>
                <a:ext cx="3828145" cy="21336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l"/>
                <a:r>
                  <a:rPr lang="zh-CN" sz="1050" dirty="0">
                    <a:solidFill>
                      <a:srgbClr val="5B6B82"/>
                    </a:solidFill>
                    <a:latin typeface="Arial"/>
                    <a:ea typeface="Microsoft YaHei"/>
                    <a:cs typeface="Arial"/>
                  </a:rPr>
                  <a:t>客户 / 员工材料先脱敏，再进 AI</a:t>
                </a:r>
              </a:p>
            </p:txBody>
          </p:sp>
        </p:grpSp>
        <p:grpSp>
          <p:nvGrpSpPr>
            <p:cNvPr id="51" name="Group 51"/>
            <p:cNvGrpSpPr/>
            <p:nvPr/>
          </p:nvGrpSpPr>
          <p:grpSpPr>
            <a:xfrm>
              <a:off x="571500" y="4533900"/>
              <a:ext cx="7810500" cy="533400"/>
              <a:chOff x="571500" y="4533900"/>
              <a:chExt cx="7810500" cy="533400"/>
            </a:xfrm>
          </p:grpSpPr>
          <p:sp>
            <p:nvSpPr>
              <p:cNvPr id="46" name="Rectangle 46"/>
              <p:cNvSpPr/>
              <p:nvPr/>
            </p:nvSpPr>
            <p:spPr>
              <a:xfrm>
                <a:off x="571500" y="4533900"/>
                <a:ext cx="7810500" cy="533400"/>
              </a:xfrm>
              <a:prstGeom prst="roundRect">
                <a:avLst>
                  <a:gd name="adj" fmla="val 28571"/>
                </a:avLst>
              </a:prstGeom>
              <a:solidFill>
                <a:srgbClr val="FFFFFF"/>
              </a:solidFill>
              <a:ln w="9525">
                <a:solidFill>
                  <a:srgbClr val="D8E1EC"/>
                </a:solidFill>
              </a:ln>
            </p:spPr>
            <p:txBody>
              <a:bodyPr/>
              <a:p/>
            </p:txBody>
          </p:sp>
          <p:sp>
            <p:nvSpPr>
              <p:cNvPr id="47" name="Ellipse 47"/>
              <p:cNvSpPr/>
              <p:nvPr/>
            </p:nvSpPr>
            <p:spPr>
              <a:xfrm>
                <a:off x="733425" y="4657725"/>
                <a:ext cx="285750" cy="285750"/>
              </a:xfrm>
              <a:prstGeom prst="ellipse">
                <a:avLst/>
              </a:prstGeom>
              <a:solidFill>
                <a:srgbClr val="1565D8"/>
              </a:solidFill>
              <a:ln>
                <a:noFill/>
              </a:ln>
            </p:spPr>
            <p:txBody>
              <a:bodyPr/>
              <a:p/>
            </p:txBody>
          </p:sp>
          <p:sp>
            <p:nvSpPr>
              <p:cNvPr id="48" name="TextBox 48"/>
              <p:cNvSpPr txBox="1"/>
              <p:nvPr/>
            </p:nvSpPr>
            <p:spPr>
              <a:xfrm>
                <a:off x="822535" y="4744402"/>
                <a:ext cx="107530" cy="21336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ctr"/>
                <a:r>
                  <a:rPr lang="zh-CN" sz="1050" b="1" dirty="0">
                    <a:solidFill>
                      <a:srgbClr val="FFFFFF"/>
                    </a:solidFill>
                    <a:latin typeface="Arial"/>
                    <a:ea typeface="Microsoft YaHei"/>
                    <a:cs typeface="Arial"/>
                  </a:rPr>
                  <a:t>D</a:t>
                </a:r>
              </a:p>
            </p:txBody>
          </p:sp>
          <p:sp>
            <p:nvSpPr>
              <p:cNvPr id="49" name="TextBox 49"/>
              <p:cNvSpPr txBox="1"/>
              <p:nvPr/>
            </p:nvSpPr>
            <p:spPr>
              <a:xfrm>
                <a:off x="1128712" y="4631531"/>
                <a:ext cx="1312360" cy="2286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l"/>
                <a:r>
                  <a:rPr lang="zh-CN" sz="1125" b="1" dirty="0">
                    <a:solidFill>
                      <a:srgbClr val="2B3648"/>
                    </a:solidFill>
                    <a:latin typeface="Arial"/>
                    <a:ea typeface="Microsoft YaHei"/>
                    <a:cs typeface="Arial"/>
                  </a:rPr>
                  <a:t>工具白名单</a:t>
                </a:r>
              </a:p>
            </p:txBody>
          </p:sp>
          <p:sp>
            <p:nvSpPr>
              <p:cNvPr id="50" name="TextBox 50"/>
              <p:cNvSpPr txBox="1"/>
              <p:nvPr/>
            </p:nvSpPr>
            <p:spPr>
              <a:xfrm>
                <a:off x="1129665" y="4849178"/>
                <a:ext cx="3821144" cy="21336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l"/>
                <a:r>
                  <a:rPr lang="zh-CN" sz="1050" dirty="0">
                    <a:solidFill>
                      <a:srgbClr val="5B6B82"/>
                    </a:solidFill>
                    <a:latin typeface="Arial"/>
                    <a:ea typeface="Microsoft YaHei"/>
                    <a:cs typeface="Arial"/>
                  </a:rPr>
                  <a:t>只走批准的工具，私装影子 AI 最危险</a:t>
                </a:r>
              </a:p>
            </p:txBody>
          </p:sp>
        </p:grpSp>
        <p:grpSp>
          <p:nvGrpSpPr>
            <p:cNvPr id="57" name="Group 57"/>
            <p:cNvGrpSpPr/>
            <p:nvPr/>
          </p:nvGrpSpPr>
          <p:grpSpPr>
            <a:xfrm>
              <a:off x="571500" y="5124450"/>
              <a:ext cx="7810500" cy="533400"/>
              <a:chOff x="571500" y="5124450"/>
              <a:chExt cx="7810500" cy="533400"/>
            </a:xfrm>
          </p:grpSpPr>
          <p:sp>
            <p:nvSpPr>
              <p:cNvPr id="52" name="Rectangle 52"/>
              <p:cNvSpPr/>
              <p:nvPr/>
            </p:nvSpPr>
            <p:spPr>
              <a:xfrm>
                <a:off x="571500" y="5124450"/>
                <a:ext cx="7810500" cy="533400"/>
              </a:xfrm>
              <a:prstGeom prst="roundRect">
                <a:avLst>
                  <a:gd name="adj" fmla="val 28571"/>
                </a:avLst>
              </a:prstGeom>
              <a:solidFill>
                <a:srgbClr val="FFFFFF"/>
              </a:solidFill>
              <a:ln w="9525">
                <a:solidFill>
                  <a:srgbClr val="D8E1EC"/>
                </a:solidFill>
              </a:ln>
            </p:spPr>
            <p:txBody>
              <a:bodyPr/>
              <a:p/>
            </p:txBody>
          </p:sp>
          <p:sp>
            <p:nvSpPr>
              <p:cNvPr id="53" name="Ellipse 53"/>
              <p:cNvSpPr/>
              <p:nvPr/>
            </p:nvSpPr>
            <p:spPr>
              <a:xfrm>
                <a:off x="733425" y="5248275"/>
                <a:ext cx="285750" cy="285750"/>
              </a:xfrm>
              <a:prstGeom prst="ellipse">
                <a:avLst/>
              </a:prstGeom>
              <a:solidFill>
                <a:srgbClr val="1565D8"/>
              </a:solidFill>
              <a:ln>
                <a:noFill/>
              </a:ln>
            </p:spPr>
            <p:txBody>
              <a:bodyPr/>
              <a:p/>
            </p:txBody>
          </p:sp>
          <p:sp>
            <p:nvSpPr>
              <p:cNvPr id="54" name="TextBox 54"/>
              <p:cNvSpPr txBox="1"/>
              <p:nvPr/>
            </p:nvSpPr>
            <p:spPr>
              <a:xfrm>
                <a:off x="822535" y="5334952"/>
                <a:ext cx="107530" cy="21336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ctr"/>
                <a:r>
                  <a:rPr lang="zh-CN" sz="1050" b="1" dirty="0">
                    <a:solidFill>
                      <a:srgbClr val="FFFFFF"/>
                    </a:solidFill>
                    <a:latin typeface="Arial"/>
                    <a:ea typeface="Microsoft YaHei"/>
                    <a:cs typeface="Arial"/>
                  </a:rPr>
                  <a:t>E</a:t>
                </a:r>
              </a:p>
            </p:txBody>
          </p:sp>
          <p:sp>
            <p:nvSpPr>
              <p:cNvPr id="55" name="TextBox 55"/>
              <p:cNvSpPr txBox="1"/>
              <p:nvPr/>
            </p:nvSpPr>
            <p:spPr>
              <a:xfrm>
                <a:off x="1128712" y="5222081"/>
                <a:ext cx="1312360" cy="2286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l"/>
                <a:r>
                  <a:rPr lang="zh-CN" sz="1125" b="1" dirty="0">
                    <a:solidFill>
                      <a:srgbClr val="2B3648"/>
                    </a:solidFill>
                    <a:latin typeface="Arial"/>
                    <a:ea typeface="Microsoft YaHei"/>
                    <a:cs typeface="Arial"/>
                  </a:rPr>
                  <a:t>留痕</a:t>
                </a:r>
              </a:p>
            </p:txBody>
          </p:sp>
          <p:sp>
            <p:nvSpPr>
              <p:cNvPr id="56" name="TextBox 56"/>
              <p:cNvSpPr txBox="1"/>
              <p:nvPr/>
            </p:nvSpPr>
            <p:spPr>
              <a:xfrm>
                <a:off x="1129665" y="5439728"/>
                <a:ext cx="3030045" cy="21336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l"/>
                <a:r>
                  <a:rPr lang="zh-CN" sz="1050" dirty="0">
                    <a:solidFill>
                      <a:srgbClr val="5B6B82"/>
                    </a:solidFill>
                    <a:latin typeface="Arial"/>
                    <a:ea typeface="Microsoft YaHei"/>
                    <a:cs typeface="Arial"/>
                  </a:rPr>
                  <a:t>重要产出留版本和记录，出事好回溯</a:t>
                </a:r>
              </a:p>
            </p:txBody>
          </p:sp>
        </p:grpSp>
      </p:grpSp>
      <p:grpSp>
        <p:nvGrpSpPr>
          <p:cNvPr id="63" name="Group 63"/>
          <p:cNvGrpSpPr/>
          <p:nvPr/>
        </p:nvGrpSpPr>
        <p:grpSpPr>
          <a:xfrm>
            <a:off x="8610600" y="1619250"/>
            <a:ext cx="3009900" cy="4038600"/>
            <a:chOff x="8610600" y="1619250"/>
            <a:chExt cx="3009900" cy="4038600"/>
          </a:xfrm>
        </p:grpSpPr>
        <p:pic>
          <p:nvPicPr>
            <p:cNvPr id="59" name="Image 59"/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8610600" y="1619250"/>
              <a:ext cx="3009900" cy="3009900"/>
            </a:xfrm>
            <a:prstGeom prst="roundRect">
              <a:avLst>
                <a:gd name="adj" fmla="val 5063"/>
              </a:avLst>
            </a:prstGeom>
          </p:spPr>
        </p:pic>
        <p:sp>
          <p:nvSpPr>
            <p:cNvPr id="60" name="Rectangle 60"/>
            <p:cNvSpPr/>
            <p:nvPr/>
          </p:nvSpPr>
          <p:spPr>
            <a:xfrm>
              <a:off x="8610600" y="4781550"/>
              <a:ext cx="3009900" cy="876300"/>
            </a:xfrm>
            <a:prstGeom prst="roundRect">
              <a:avLst>
                <a:gd name="adj" fmla="val 17391"/>
              </a:avLst>
            </a:prstGeom>
            <a:solidFill>
              <a:srgbClr val="FFFFFF"/>
            </a:solidFill>
            <a:ln w="9525">
              <a:solidFill>
                <a:srgbClr val="D8E1EC"/>
              </a:solidFill>
            </a:ln>
          </p:spPr>
          <p:txBody>
            <a:bodyPr/>
            <a:p/>
          </p:txBody>
        </p:sp>
        <p:sp>
          <p:nvSpPr>
            <p:cNvPr id="61" name="TextBox 61"/>
            <p:cNvSpPr txBox="1"/>
            <p:nvPr/>
          </p:nvSpPr>
          <p:spPr>
            <a:xfrm>
              <a:off x="8824912" y="4983956"/>
              <a:ext cx="816173" cy="22860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5" b="1" dirty="0">
                  <a:solidFill>
                    <a:srgbClr val="0B4EA2"/>
                  </a:solidFill>
                  <a:latin typeface="Arial"/>
                  <a:ea typeface="Microsoft YaHei"/>
                  <a:cs typeface="Arial"/>
                </a:rPr>
                <a:t>口诀：</a:t>
              </a:r>
            </a:p>
          </p:txBody>
        </p:sp>
        <p:sp>
          <p:nvSpPr>
            <p:cNvPr id="62" name="TextBox 62"/>
            <p:cNvSpPr txBox="1"/>
            <p:nvPr/>
          </p:nvSpPr>
          <p:spPr>
            <a:xfrm>
              <a:off x="8824912" y="5250656"/>
              <a:ext cx="1651028" cy="22860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5" b="1" dirty="0">
                  <a:solidFill>
                    <a:srgbClr val="0B4EA2"/>
                  </a:solidFill>
                  <a:latin typeface="Arial"/>
                  <a:ea typeface="Microsoft YaHei"/>
                  <a:cs typeface="Arial"/>
                </a:rPr>
                <a:t>停 3 秒、回源查、发出去就撤回</a:t>
              </a:r>
            </a:p>
          </p:txBody>
        </p:sp>
      </p:grpSp>
      <p:grpSp>
        <p:nvGrpSpPr>
          <p:cNvPr id="66" name="Group 66"/>
          <p:cNvGrpSpPr/>
          <p:nvPr/>
        </p:nvGrpSpPr>
        <p:grpSpPr>
          <a:xfrm>
            <a:off x="560070" y="6341745"/>
            <a:ext cx="11071860" cy="182880"/>
            <a:chOff x="560070" y="6341745"/>
            <a:chExt cx="11071860" cy="182880"/>
          </a:xfrm>
        </p:grpSpPr>
        <p:sp>
          <p:nvSpPr>
            <p:cNvPr id="64" name="TextBox 64"/>
            <p:cNvSpPr txBox="1"/>
            <p:nvPr/>
          </p:nvSpPr>
          <p:spPr>
            <a:xfrm>
              <a:off x="560070" y="6341745"/>
              <a:ext cx="1054989" cy="18288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00" dirty="0">
                  <a:solidFill>
                    <a:srgbClr val="8B99AE"/>
                  </a:solidFill>
                  <a:latin typeface="Arial"/>
                  <a:ea typeface="Microsoft YaHei"/>
                  <a:cs typeface="Arial"/>
                </a:rPr>
                <a:t>大模型通识 · 企业版</a:t>
              </a:r>
            </a:p>
          </p:txBody>
        </p:sp>
        <p:sp>
          <p:nvSpPr>
            <p:cNvPr id="65" name="TextBox 65"/>
            <p:cNvSpPr txBox="1"/>
            <p:nvPr/>
          </p:nvSpPr>
          <p:spPr>
            <a:xfrm>
              <a:off x="11207020" y="6341745"/>
              <a:ext cx="424910" cy="18288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r"/>
              <a:r>
                <a:rPr lang="zh-CN" sz="900" dirty="0">
                  <a:solidFill>
                    <a:srgbClr val="8B99AE"/>
                  </a:solidFill>
                  <a:latin typeface="Arial"/>
                  <a:ea typeface="Microsoft YaHei"/>
                  <a:cs typeface="Arial"/>
                </a:rPr>
                <a:t>48 / 51</a:t>
              </a:r>
            </a:p>
          </p:txBody>
        </p:sp>
      </p:grpSp>
    </p:spTree>
  </p:cSld>
  <p:clrMapOvr>
    <a:masterClrMapping/>
  </p:clrMapOvr>
</p:sld>
</file>

<file path=ppt/slides/slide4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grpSp>
        <p:nvGrpSpPr>
          <p:cNvPr id="5" name="Group 5"/>
          <p:cNvGrpSpPr/>
          <p:nvPr/>
        </p:nvGrpSpPr>
        <p:grpSpPr>
          <a:xfrm>
            <a:off x="-1619250" y="0"/>
            <a:ext cx="13811250" cy="8477250"/>
            <a:chOff x="-1619250" y="0"/>
            <a:chExt cx="13811250" cy="8477250"/>
          </a:xfrm>
        </p:grpSpPr>
        <p:sp>
          <p:nvSpPr>
            <p:cNvPr id="2" name="Rectangle 2"/>
            <p:cNvSpPr/>
            <p:nvPr/>
          </p:nvSpPr>
          <p:spPr>
            <a:xfrm>
              <a:off x="0" y="0"/>
              <a:ext cx="12192000" cy="6858000"/>
            </a:xfrm>
            <a:prstGeom prst="rect">
              <a:avLst/>
            </a:prstGeom>
            <a:solidFill>
              <a:srgbClr val="F5F7FA"/>
            </a:solidFill>
            <a:ln>
              <a:noFill/>
            </a:ln>
          </p:spPr>
          <p:txBody>
            <a:bodyPr/>
            <a:p/>
          </p:txBody>
        </p:sp>
        <p:sp>
          <p:nvSpPr>
            <p:cNvPr id="3" name="Rectangle 3"/>
            <p:cNvSpPr/>
            <p:nvPr/>
          </p:nvSpPr>
          <p:spPr>
            <a:xfrm>
              <a:off x="0" y="0"/>
              <a:ext cx="12192000" cy="6858000"/>
            </a:xfrm>
            <a:prstGeom prst="rect">
              <a:avLst/>
            </a:prstGeom>
            <a:gradFill>
              <a:gsLst>
                <a:gs pos="0">
                  <a:srgbClr val="1565D8">
                    <a:alpha val="6000"/>
                  </a:srgbClr>
                </a:gs>
                <a:gs pos="100000">
                  <a:srgbClr val="1565D8">
                    <a:alpha val="0"/>
                  </a:srgbClr>
                </a:gs>
              </a:gsLst>
              <a:path path="circle">
                <a:fillToRect l="50000" t="50000" r="50000" b="50000"/>
              </a:path>
            </a:gradFill>
            <a:ln>
              <a:noFill/>
            </a:ln>
          </p:spPr>
          <p:txBody>
            <a:bodyPr/>
            <a:p/>
          </p:txBody>
        </p:sp>
        <p:sp>
          <p:nvSpPr>
            <p:cNvPr id="4" name="Ellipse 4"/>
            <p:cNvSpPr/>
            <p:nvPr/>
          </p:nvSpPr>
          <p:spPr>
            <a:xfrm>
              <a:off x="-1619250" y="4667250"/>
              <a:ext cx="3810000" cy="3810000"/>
            </a:xfrm>
            <a:prstGeom prst="ellipse">
              <a:avLst/>
            </a:prstGeom>
            <a:noFill/>
            <a:ln w="14288">
              <a:solidFill>
                <a:srgbClr val="D6E6F9">
                  <a:alpha val="80000"/>
                </a:srgbClr>
              </a:solidFill>
            </a:ln>
          </p:spPr>
          <p:txBody>
            <a:bodyPr/>
            <a:p/>
          </p:txBody>
        </p:sp>
      </p:grpSp>
      <p:grpSp>
        <p:nvGrpSpPr>
          <p:cNvPr id="9" name="Group 9"/>
          <p:cNvGrpSpPr/>
          <p:nvPr/>
        </p:nvGrpSpPr>
        <p:grpSpPr>
          <a:xfrm>
            <a:off x="571500" y="685800"/>
            <a:ext cx="3139785" cy="700088"/>
            <a:chOff x="571500" y="685800"/>
            <a:chExt cx="3139785" cy="700088"/>
          </a:xfrm>
        </p:grpSpPr>
        <p:sp>
          <p:nvSpPr>
            <p:cNvPr id="6" name="Rectangle 6"/>
            <p:cNvSpPr/>
            <p:nvPr/>
          </p:nvSpPr>
          <p:spPr>
            <a:xfrm>
              <a:off x="571500" y="685800"/>
              <a:ext cx="76200" cy="323850"/>
            </a:xfrm>
            <a:prstGeom prst="roundRect">
              <a:avLst>
                <a:gd name="adj" fmla="val 50000"/>
              </a:avLst>
            </a:prstGeom>
            <a:solidFill>
              <a:srgbClr val="1565D8"/>
            </a:solidFill>
            <a:ln>
              <a:noFill/>
            </a:ln>
          </p:spPr>
          <p:txBody>
            <a:bodyPr/>
            <a:p/>
          </p:txBody>
        </p:sp>
        <p:sp>
          <p:nvSpPr>
            <p:cNvPr id="7" name="TextBox 7"/>
            <p:cNvSpPr txBox="1"/>
            <p:nvPr/>
          </p:nvSpPr>
          <p:spPr>
            <a:xfrm>
              <a:off x="771525" y="700088"/>
              <a:ext cx="2939760" cy="45720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2250" b="1" dirty="0">
                  <a:solidFill>
                    <a:srgbClr val="2B3648"/>
                  </a:solidFill>
                  <a:latin typeface="Arial"/>
                  <a:ea typeface="Microsoft YaHei"/>
                  <a:cs typeface="Arial"/>
                </a:rPr>
                <a:t>落地 90 天计划</a:t>
              </a:r>
            </a:p>
          </p:txBody>
        </p:sp>
        <p:sp>
          <p:nvSpPr>
            <p:cNvPr id="8" name="TextBox 8"/>
            <p:cNvSpPr txBox="1"/>
            <p:nvPr/>
          </p:nvSpPr>
          <p:spPr>
            <a:xfrm>
              <a:off x="782955" y="1111568"/>
              <a:ext cx="1834515" cy="27432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5B6B82"/>
                  </a:solidFill>
                  <a:latin typeface="Arial"/>
                  <a:ea typeface="Microsoft YaHei"/>
                  <a:cs typeface="Arial"/>
                </a:rPr>
                <a:t>回去做什么——每天 30 分钟就够</a:t>
              </a:r>
            </a:p>
          </p:txBody>
        </p:sp>
      </p:grpSp>
      <p:grpSp>
        <p:nvGrpSpPr>
          <p:cNvPr id="12" name="Group 12"/>
          <p:cNvGrpSpPr/>
          <p:nvPr/>
        </p:nvGrpSpPr>
        <p:grpSpPr>
          <a:xfrm>
            <a:off x="3143250" y="2076450"/>
            <a:ext cx="2838450" cy="1"/>
            <a:chOff x="3143250" y="2076450"/>
            <a:chExt cx="2838450" cy="1"/>
          </a:xfrm>
        </p:grpSpPr>
        <p:sp>
          <p:nvSpPr>
            <p:cNvPr id="10" name="Line 10"/>
            <p:cNvSpPr/>
            <p:nvPr/>
          </p:nvSpPr>
          <p:spPr>
            <a:xfrm>
              <a:off x="3143250" y="2076450"/>
              <a:ext cx="209550" cy="1"/>
            </a:xfrm>
            <a:prstGeom prst="line">
              <a:avLst/>
            </a:prstGeom>
            <a:noFill/>
            <a:ln w="23812">
              <a:solidFill>
                <a:srgbClr val="1565D8"/>
              </a:solidFill>
              <a:tailEnd type="triangle" w="lg" len="lg"/>
            </a:ln>
          </p:spPr>
          <p:txBody>
            <a:bodyPr/>
            <a:p/>
          </p:txBody>
        </p:sp>
        <p:sp>
          <p:nvSpPr>
            <p:cNvPr id="11" name="Line 11"/>
            <p:cNvSpPr/>
            <p:nvPr/>
          </p:nvSpPr>
          <p:spPr>
            <a:xfrm>
              <a:off x="5772150" y="2076450"/>
              <a:ext cx="209550" cy="1"/>
            </a:xfrm>
            <a:prstGeom prst="line">
              <a:avLst/>
            </a:prstGeom>
            <a:noFill/>
            <a:ln w="23812">
              <a:solidFill>
                <a:srgbClr val="1565D8"/>
              </a:solidFill>
              <a:tailEnd type="triangle" w="lg" len="lg"/>
            </a:ln>
          </p:spPr>
          <p:txBody>
            <a:bodyPr/>
            <a:p/>
          </p:txBody>
        </p:sp>
      </p:grpSp>
      <p:grpSp>
        <p:nvGrpSpPr>
          <p:cNvPr id="17" name="Group 17"/>
          <p:cNvGrpSpPr/>
          <p:nvPr/>
        </p:nvGrpSpPr>
        <p:grpSpPr>
          <a:xfrm>
            <a:off x="571500" y="1600200"/>
            <a:ext cx="2514600" cy="952500"/>
            <a:chOff x="571500" y="1600200"/>
            <a:chExt cx="2514600" cy="952500"/>
          </a:xfrm>
        </p:grpSpPr>
        <p:sp>
          <p:nvSpPr>
            <p:cNvPr id="13" name="Rectangle 13"/>
            <p:cNvSpPr/>
            <p:nvPr/>
          </p:nvSpPr>
          <p:spPr>
            <a:xfrm>
              <a:off x="571500" y="1600200"/>
              <a:ext cx="2514600" cy="952500"/>
            </a:xfrm>
            <a:prstGeom prst="roundRect">
              <a:avLst>
                <a:gd name="adj" fmla="val 16000"/>
              </a:avLst>
            </a:prstGeom>
            <a:solidFill>
              <a:srgbClr val="FFFFFF"/>
            </a:solidFill>
            <a:ln w="9525">
              <a:solidFill>
                <a:srgbClr val="D8E1EC"/>
              </a:solidFill>
            </a:ln>
          </p:spPr>
          <p:txBody>
            <a:bodyPr/>
            <a:p/>
          </p:txBody>
        </p:sp>
        <p:sp>
          <p:nvSpPr>
            <p:cNvPr id="14" name="TextBox 14"/>
            <p:cNvSpPr txBox="1"/>
            <p:nvPr/>
          </p:nvSpPr>
          <p:spPr>
            <a:xfrm>
              <a:off x="786765" y="1772602"/>
              <a:ext cx="475076" cy="21336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050" b="1" dirty="0">
                  <a:solidFill>
                    <a:srgbClr val="1565D8"/>
                  </a:solidFill>
                  <a:latin typeface="Arial"/>
                  <a:ea typeface="Microsoft YaHei"/>
                  <a:cs typeface="Arial"/>
                </a:rPr>
                <a:t>第 1 月</a:t>
              </a:r>
            </a:p>
          </p:txBody>
        </p:sp>
        <p:sp>
          <p:nvSpPr>
            <p:cNvPr id="15" name="TextBox 15"/>
            <p:cNvSpPr txBox="1"/>
            <p:nvPr/>
          </p:nvSpPr>
          <p:spPr>
            <a:xfrm>
              <a:off x="782955" y="2025968"/>
              <a:ext cx="818738" cy="27432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b="1" dirty="0">
                  <a:solidFill>
                    <a:srgbClr val="2B3648"/>
                  </a:solidFill>
                  <a:latin typeface="Arial"/>
                  <a:ea typeface="Microsoft YaHei"/>
                  <a:cs typeface="Arial"/>
                </a:rPr>
                <a:t>建习惯</a:t>
              </a:r>
            </a:p>
          </p:txBody>
        </p:sp>
        <p:sp>
          <p:nvSpPr>
            <p:cNvPr id="16" name="TextBox 16"/>
            <p:cNvSpPr txBox="1"/>
            <p:nvPr/>
          </p:nvSpPr>
          <p:spPr>
            <a:xfrm>
              <a:off x="786765" y="2306002"/>
              <a:ext cx="1286828" cy="21336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050" dirty="0">
                  <a:solidFill>
                    <a:srgbClr val="5B6B82"/>
                  </a:solidFill>
                  <a:latin typeface="Arial"/>
                  <a:ea typeface="Microsoft YaHei"/>
                  <a:cs typeface="Arial"/>
                </a:rPr>
                <a:t>每天和 AI 聊 30 分钟，固定 1-2 个主力工具</a:t>
              </a:r>
            </a:p>
          </p:txBody>
        </p:sp>
      </p:grpSp>
      <p:grpSp>
        <p:nvGrpSpPr>
          <p:cNvPr id="22" name="Group 22"/>
          <p:cNvGrpSpPr/>
          <p:nvPr/>
        </p:nvGrpSpPr>
        <p:grpSpPr>
          <a:xfrm>
            <a:off x="3371850" y="1600200"/>
            <a:ext cx="2514600" cy="952500"/>
            <a:chOff x="3371850" y="1600200"/>
            <a:chExt cx="2514600" cy="952500"/>
          </a:xfrm>
        </p:grpSpPr>
        <p:sp>
          <p:nvSpPr>
            <p:cNvPr id="18" name="Rectangle 18"/>
            <p:cNvSpPr/>
            <p:nvPr/>
          </p:nvSpPr>
          <p:spPr>
            <a:xfrm>
              <a:off x="3371850" y="1600200"/>
              <a:ext cx="2514600" cy="952500"/>
            </a:xfrm>
            <a:prstGeom prst="roundRect">
              <a:avLst>
                <a:gd name="adj" fmla="val 16000"/>
              </a:avLst>
            </a:prstGeom>
            <a:solidFill>
              <a:srgbClr val="FFFFFF"/>
            </a:solidFill>
            <a:ln w="9525">
              <a:solidFill>
                <a:srgbClr val="D8E1EC"/>
              </a:solidFill>
            </a:ln>
          </p:spPr>
          <p:txBody>
            <a:bodyPr/>
            <a:p/>
          </p:txBody>
        </p:sp>
        <p:sp>
          <p:nvSpPr>
            <p:cNvPr id="19" name="TextBox 19"/>
            <p:cNvSpPr txBox="1"/>
            <p:nvPr/>
          </p:nvSpPr>
          <p:spPr>
            <a:xfrm>
              <a:off x="3587115" y="1772602"/>
              <a:ext cx="475076" cy="21336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050" b="1" dirty="0">
                  <a:solidFill>
                    <a:srgbClr val="1565D8"/>
                  </a:solidFill>
                  <a:latin typeface="Arial"/>
                  <a:ea typeface="Microsoft YaHei"/>
                  <a:cs typeface="Arial"/>
                </a:rPr>
                <a:t>第 2 月</a:t>
              </a:r>
            </a:p>
          </p:txBody>
        </p:sp>
        <p:sp>
          <p:nvSpPr>
            <p:cNvPr id="20" name="TextBox 20"/>
            <p:cNvSpPr txBox="1"/>
            <p:nvPr/>
          </p:nvSpPr>
          <p:spPr>
            <a:xfrm>
              <a:off x="3583305" y="2025968"/>
              <a:ext cx="979408" cy="27432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b="1" dirty="0">
                  <a:solidFill>
                    <a:srgbClr val="2B3648"/>
                  </a:solidFill>
                  <a:latin typeface="Arial"/>
                  <a:ea typeface="Microsoft YaHei"/>
                  <a:cs typeface="Arial"/>
                </a:rPr>
                <a:t>出活</a:t>
              </a:r>
            </a:p>
          </p:txBody>
        </p:sp>
        <p:sp>
          <p:nvSpPr>
            <p:cNvPr id="21" name="TextBox 21"/>
            <p:cNvSpPr txBox="1"/>
            <p:nvPr/>
          </p:nvSpPr>
          <p:spPr>
            <a:xfrm>
              <a:off x="3587115" y="2306002"/>
              <a:ext cx="1643872" cy="21336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050" dirty="0">
                  <a:solidFill>
                    <a:srgbClr val="5B6B82"/>
                  </a:solidFill>
                  <a:latin typeface="Arial"/>
                  <a:ea typeface="Microsoft YaHei"/>
                  <a:cs typeface="Arial"/>
                </a:rPr>
                <a:t>3 个真实任务：周报 / 纪要 / 数据，攒 10 条提示词模板</a:t>
              </a:r>
            </a:p>
          </p:txBody>
        </p:sp>
      </p:grpSp>
      <p:grpSp>
        <p:nvGrpSpPr>
          <p:cNvPr id="27" name="Group 27"/>
          <p:cNvGrpSpPr/>
          <p:nvPr/>
        </p:nvGrpSpPr>
        <p:grpSpPr>
          <a:xfrm>
            <a:off x="6000750" y="1600200"/>
            <a:ext cx="2514600" cy="952500"/>
            <a:chOff x="6000750" y="1600200"/>
            <a:chExt cx="2514600" cy="952500"/>
          </a:xfrm>
        </p:grpSpPr>
        <p:sp>
          <p:nvSpPr>
            <p:cNvPr id="23" name="Rectangle 23"/>
            <p:cNvSpPr/>
            <p:nvPr/>
          </p:nvSpPr>
          <p:spPr>
            <a:xfrm>
              <a:off x="6000750" y="1600200"/>
              <a:ext cx="2514600" cy="952500"/>
            </a:xfrm>
            <a:prstGeom prst="roundRect">
              <a:avLst>
                <a:gd name="adj" fmla="val 16000"/>
              </a:avLst>
            </a:prstGeom>
            <a:solidFill>
              <a:srgbClr val="FFFFFF"/>
            </a:solidFill>
            <a:ln w="9525">
              <a:solidFill>
                <a:srgbClr val="D8E1EC"/>
              </a:solidFill>
            </a:ln>
          </p:spPr>
          <p:txBody>
            <a:bodyPr/>
            <a:p/>
          </p:txBody>
        </p:sp>
        <p:sp>
          <p:nvSpPr>
            <p:cNvPr id="24" name="TextBox 24"/>
            <p:cNvSpPr txBox="1"/>
            <p:nvPr/>
          </p:nvSpPr>
          <p:spPr>
            <a:xfrm>
              <a:off x="6216015" y="1772602"/>
              <a:ext cx="475076" cy="21336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050" b="1" dirty="0">
                  <a:solidFill>
                    <a:srgbClr val="1565D8"/>
                  </a:solidFill>
                  <a:latin typeface="Arial"/>
                  <a:ea typeface="Microsoft YaHei"/>
                  <a:cs typeface="Arial"/>
                </a:rPr>
                <a:t>第 3 月</a:t>
              </a:r>
            </a:p>
          </p:txBody>
        </p:sp>
        <p:sp>
          <p:nvSpPr>
            <p:cNvPr id="25" name="TextBox 25"/>
            <p:cNvSpPr txBox="1"/>
            <p:nvPr/>
          </p:nvSpPr>
          <p:spPr>
            <a:xfrm>
              <a:off x="6212205" y="2025968"/>
              <a:ext cx="601361" cy="27432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b="1" dirty="0">
                  <a:solidFill>
                    <a:srgbClr val="2B3648"/>
                  </a:solidFill>
                  <a:latin typeface="Arial"/>
                  <a:ea typeface="Microsoft YaHei"/>
                  <a:cs typeface="Arial"/>
                </a:rPr>
                <a:t>成系统</a:t>
              </a:r>
            </a:p>
          </p:txBody>
        </p:sp>
        <p:sp>
          <p:nvSpPr>
            <p:cNvPr id="26" name="TextBox 26"/>
            <p:cNvSpPr txBox="1"/>
            <p:nvPr/>
          </p:nvSpPr>
          <p:spPr>
            <a:xfrm>
              <a:off x="6216015" y="2306002"/>
              <a:ext cx="1286828" cy="21336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050" dirty="0">
                  <a:solidFill>
                    <a:srgbClr val="5B6B82"/>
                  </a:solidFill>
                  <a:latin typeface="Arial"/>
                  <a:ea typeface="Microsoft YaHei"/>
                  <a:cs typeface="Arial"/>
                </a:rPr>
                <a:t>AI 进工作流，带 1 个小项目，当部门 AI Champion</a:t>
              </a:r>
            </a:p>
          </p:txBody>
        </p:sp>
      </p:grpSp>
      <p:grpSp>
        <p:nvGrpSpPr>
          <p:cNvPr id="58" name="Group 58"/>
          <p:cNvGrpSpPr/>
          <p:nvPr/>
        </p:nvGrpSpPr>
        <p:grpSpPr>
          <a:xfrm>
            <a:off x="571500" y="2762250"/>
            <a:ext cx="7810500" cy="2895600"/>
            <a:chOff x="571500" y="2762250"/>
            <a:chExt cx="7810500" cy="2895600"/>
          </a:xfrm>
        </p:grpSpPr>
        <p:grpSp>
          <p:nvGrpSpPr>
            <p:cNvPr id="33" name="Group 33"/>
            <p:cNvGrpSpPr/>
            <p:nvPr/>
          </p:nvGrpSpPr>
          <p:grpSpPr>
            <a:xfrm>
              <a:off x="571500" y="2762250"/>
              <a:ext cx="7810500" cy="533400"/>
              <a:chOff x="571500" y="2762250"/>
              <a:chExt cx="7810500" cy="533400"/>
            </a:xfrm>
          </p:grpSpPr>
          <p:sp>
            <p:nvSpPr>
              <p:cNvPr id="28" name="Rectangle 28"/>
              <p:cNvSpPr/>
              <p:nvPr/>
            </p:nvSpPr>
            <p:spPr>
              <a:xfrm>
                <a:off x="571500" y="2762250"/>
                <a:ext cx="7810500" cy="533400"/>
              </a:xfrm>
              <a:prstGeom prst="roundRect">
                <a:avLst>
                  <a:gd name="adj" fmla="val 28571"/>
                </a:avLst>
              </a:prstGeom>
              <a:solidFill>
                <a:srgbClr val="FFFFFF"/>
              </a:solidFill>
              <a:ln w="9525">
                <a:solidFill>
                  <a:srgbClr val="D8E1EC"/>
                </a:solidFill>
              </a:ln>
            </p:spPr>
            <p:txBody>
              <a:bodyPr/>
              <a:p/>
            </p:txBody>
          </p:sp>
          <p:sp>
            <p:nvSpPr>
              <p:cNvPr id="29" name="Ellipse 29"/>
              <p:cNvSpPr/>
              <p:nvPr/>
            </p:nvSpPr>
            <p:spPr>
              <a:xfrm>
                <a:off x="733425" y="2886075"/>
                <a:ext cx="285750" cy="285750"/>
              </a:xfrm>
              <a:prstGeom prst="ellipse">
                <a:avLst/>
              </a:prstGeom>
              <a:solidFill>
                <a:srgbClr val="1565D8"/>
              </a:solidFill>
              <a:ln>
                <a:noFill/>
              </a:ln>
            </p:spPr>
            <p:txBody>
              <a:bodyPr/>
              <a:p/>
            </p:txBody>
          </p:sp>
          <p:sp>
            <p:nvSpPr>
              <p:cNvPr id="30" name="TextBox 30"/>
              <p:cNvSpPr txBox="1"/>
              <p:nvPr/>
            </p:nvSpPr>
            <p:spPr>
              <a:xfrm>
                <a:off x="822535" y="2972752"/>
                <a:ext cx="107530" cy="21336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ctr"/>
                <a:r>
                  <a:rPr lang="zh-CN" sz="1050" b="1" dirty="0">
                    <a:solidFill>
                      <a:srgbClr val="FFFFFF"/>
                    </a:solidFill>
                    <a:latin typeface="Arial"/>
                    <a:ea typeface="Microsoft YaHei"/>
                    <a:cs typeface="Arial"/>
                  </a:rPr>
                  <a:t>A</a:t>
                </a:r>
              </a:p>
            </p:txBody>
          </p:sp>
          <p:sp>
            <p:nvSpPr>
              <p:cNvPr id="31" name="TextBox 31"/>
              <p:cNvSpPr txBox="1"/>
              <p:nvPr/>
            </p:nvSpPr>
            <p:spPr>
              <a:xfrm>
                <a:off x="1128712" y="2859881"/>
                <a:ext cx="1312360" cy="2286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l"/>
                <a:r>
                  <a:rPr lang="zh-CN" sz="1125" b="1" dirty="0">
                    <a:solidFill>
                      <a:srgbClr val="2B3648"/>
                    </a:solidFill>
                    <a:latin typeface="Arial"/>
                    <a:ea typeface="Microsoft YaHei"/>
                    <a:cs typeface="Arial"/>
                  </a:rPr>
                  <a:t>每天 15 分钟</a:t>
                </a:r>
              </a:p>
            </p:txBody>
          </p:sp>
          <p:sp>
            <p:nvSpPr>
              <p:cNvPr id="32" name="TextBox 32"/>
              <p:cNvSpPr txBox="1"/>
              <p:nvPr/>
            </p:nvSpPr>
            <p:spPr>
              <a:xfrm>
                <a:off x="1129665" y="3077528"/>
                <a:ext cx="3352086" cy="21336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l"/>
                <a:r>
                  <a:rPr lang="zh-CN" sz="1050" dirty="0">
                    <a:solidFill>
                      <a:srgbClr val="5B6B82"/>
                    </a:solidFill>
                    <a:latin typeface="Arial"/>
                    <a:ea typeface="Microsoft YaHei"/>
                    <a:cs typeface="Arial"/>
                  </a:rPr>
                  <a:t>早上让 AI 排计划，晚上让它复盘——重点是天天做</a:t>
                </a:r>
              </a:p>
            </p:txBody>
          </p:sp>
        </p:grpSp>
        <p:grpSp>
          <p:nvGrpSpPr>
            <p:cNvPr id="39" name="Group 39"/>
            <p:cNvGrpSpPr/>
            <p:nvPr/>
          </p:nvGrpSpPr>
          <p:grpSpPr>
            <a:xfrm>
              <a:off x="571500" y="3352800"/>
              <a:ext cx="7810500" cy="533400"/>
              <a:chOff x="571500" y="3352800"/>
              <a:chExt cx="7810500" cy="533400"/>
            </a:xfrm>
          </p:grpSpPr>
          <p:sp>
            <p:nvSpPr>
              <p:cNvPr id="34" name="Rectangle 34"/>
              <p:cNvSpPr/>
              <p:nvPr/>
            </p:nvSpPr>
            <p:spPr>
              <a:xfrm>
                <a:off x="571500" y="3352800"/>
                <a:ext cx="7810500" cy="533400"/>
              </a:xfrm>
              <a:prstGeom prst="roundRect">
                <a:avLst>
                  <a:gd name="adj" fmla="val 28571"/>
                </a:avLst>
              </a:prstGeom>
              <a:solidFill>
                <a:srgbClr val="FFFFFF"/>
              </a:solidFill>
              <a:ln w="9525">
                <a:solidFill>
                  <a:srgbClr val="D8E1EC"/>
                </a:solidFill>
              </a:ln>
            </p:spPr>
            <p:txBody>
              <a:bodyPr/>
              <a:p/>
            </p:txBody>
          </p:sp>
          <p:sp>
            <p:nvSpPr>
              <p:cNvPr id="35" name="Ellipse 35"/>
              <p:cNvSpPr/>
              <p:nvPr/>
            </p:nvSpPr>
            <p:spPr>
              <a:xfrm>
                <a:off x="733425" y="3476625"/>
                <a:ext cx="285750" cy="285750"/>
              </a:xfrm>
              <a:prstGeom prst="ellipse">
                <a:avLst/>
              </a:prstGeom>
              <a:solidFill>
                <a:srgbClr val="1565D8"/>
              </a:solidFill>
              <a:ln>
                <a:noFill/>
              </a:ln>
            </p:spPr>
            <p:txBody>
              <a:bodyPr/>
              <a:p/>
            </p:txBody>
          </p:sp>
          <p:sp>
            <p:nvSpPr>
              <p:cNvPr id="36" name="TextBox 36"/>
              <p:cNvSpPr txBox="1"/>
              <p:nvPr/>
            </p:nvSpPr>
            <p:spPr>
              <a:xfrm>
                <a:off x="822535" y="3563302"/>
                <a:ext cx="107530" cy="21336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ctr"/>
                <a:r>
                  <a:rPr lang="zh-CN" sz="1050" b="1" dirty="0">
                    <a:solidFill>
                      <a:srgbClr val="FFFFFF"/>
                    </a:solidFill>
                    <a:latin typeface="Arial"/>
                    <a:ea typeface="Microsoft YaHei"/>
                    <a:cs typeface="Arial"/>
                  </a:rPr>
                  <a:t>B</a:t>
                </a:r>
              </a:p>
            </p:txBody>
          </p:sp>
          <p:sp>
            <p:nvSpPr>
              <p:cNvPr id="37" name="TextBox 37"/>
              <p:cNvSpPr txBox="1"/>
              <p:nvPr/>
            </p:nvSpPr>
            <p:spPr>
              <a:xfrm>
                <a:off x="1128712" y="3450431"/>
                <a:ext cx="1312360" cy="2286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l"/>
                <a:r>
                  <a:rPr lang="zh-CN" sz="1125" b="1" dirty="0">
                    <a:solidFill>
                      <a:srgbClr val="2B3648"/>
                    </a:solidFill>
                    <a:latin typeface="Arial"/>
                    <a:ea typeface="Microsoft YaHei"/>
                    <a:cs typeface="Arial"/>
                  </a:rPr>
                  <a:t>攒提示词库</a:t>
                </a:r>
              </a:p>
            </p:txBody>
          </p:sp>
          <p:sp>
            <p:nvSpPr>
              <p:cNvPr id="38" name="TextBox 38"/>
              <p:cNvSpPr txBox="1"/>
              <p:nvPr/>
            </p:nvSpPr>
            <p:spPr>
              <a:xfrm>
                <a:off x="1129665" y="3668078"/>
                <a:ext cx="3548110" cy="21336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l"/>
                <a:r>
                  <a:rPr lang="zh-CN" sz="1050" dirty="0">
                    <a:solidFill>
                      <a:srgbClr val="5B6B82"/>
                    </a:solidFill>
                    <a:latin typeface="Arial"/>
                    <a:ea typeface="Microsoft YaHei"/>
                    <a:cs typeface="Arial"/>
                  </a:rPr>
                  <a:t>好用的提示词存起来，分工作 / 生活两类，越用越值钱</a:t>
                </a:r>
              </a:p>
            </p:txBody>
          </p:sp>
        </p:grpSp>
        <p:grpSp>
          <p:nvGrpSpPr>
            <p:cNvPr id="45" name="Group 45"/>
            <p:cNvGrpSpPr/>
            <p:nvPr/>
          </p:nvGrpSpPr>
          <p:grpSpPr>
            <a:xfrm>
              <a:off x="571500" y="3943350"/>
              <a:ext cx="7810500" cy="533400"/>
              <a:chOff x="571500" y="3943350"/>
              <a:chExt cx="7810500" cy="533400"/>
            </a:xfrm>
          </p:grpSpPr>
          <p:sp>
            <p:nvSpPr>
              <p:cNvPr id="40" name="Rectangle 40"/>
              <p:cNvSpPr/>
              <p:nvPr/>
            </p:nvSpPr>
            <p:spPr>
              <a:xfrm>
                <a:off x="571500" y="3943350"/>
                <a:ext cx="7810500" cy="533400"/>
              </a:xfrm>
              <a:prstGeom prst="roundRect">
                <a:avLst>
                  <a:gd name="adj" fmla="val 28571"/>
                </a:avLst>
              </a:prstGeom>
              <a:solidFill>
                <a:srgbClr val="FFFFFF"/>
              </a:solidFill>
              <a:ln w="9525">
                <a:solidFill>
                  <a:srgbClr val="D8E1EC"/>
                </a:solidFill>
              </a:ln>
            </p:spPr>
            <p:txBody>
              <a:bodyPr/>
              <a:p/>
            </p:txBody>
          </p:sp>
          <p:sp>
            <p:nvSpPr>
              <p:cNvPr id="41" name="Ellipse 41"/>
              <p:cNvSpPr/>
              <p:nvPr/>
            </p:nvSpPr>
            <p:spPr>
              <a:xfrm>
                <a:off x="733425" y="4067175"/>
                <a:ext cx="285750" cy="285750"/>
              </a:xfrm>
              <a:prstGeom prst="ellipse">
                <a:avLst/>
              </a:prstGeom>
              <a:solidFill>
                <a:srgbClr val="1565D8"/>
              </a:solidFill>
              <a:ln>
                <a:noFill/>
              </a:ln>
            </p:spPr>
            <p:txBody>
              <a:bodyPr/>
              <a:p/>
            </p:txBody>
          </p:sp>
          <p:sp>
            <p:nvSpPr>
              <p:cNvPr id="42" name="TextBox 42"/>
              <p:cNvSpPr txBox="1"/>
              <p:nvPr/>
            </p:nvSpPr>
            <p:spPr>
              <a:xfrm>
                <a:off x="822535" y="4153852"/>
                <a:ext cx="107530" cy="21336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ctr"/>
                <a:r>
                  <a:rPr lang="zh-CN" sz="1050" b="1" dirty="0">
                    <a:solidFill>
                      <a:srgbClr val="FFFFFF"/>
                    </a:solidFill>
                    <a:latin typeface="Arial"/>
                    <a:ea typeface="Microsoft YaHei"/>
                    <a:cs typeface="Arial"/>
                  </a:rPr>
                  <a:t>C</a:t>
                </a:r>
              </a:p>
            </p:txBody>
          </p:sp>
          <p:sp>
            <p:nvSpPr>
              <p:cNvPr id="43" name="TextBox 43"/>
              <p:cNvSpPr txBox="1"/>
              <p:nvPr/>
            </p:nvSpPr>
            <p:spPr>
              <a:xfrm>
                <a:off x="1128712" y="4040981"/>
                <a:ext cx="1312360" cy="2286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l"/>
                <a:r>
                  <a:rPr lang="zh-CN" sz="1125" b="1" dirty="0">
                    <a:solidFill>
                      <a:srgbClr val="2B3648"/>
                    </a:solidFill>
                    <a:latin typeface="Arial"/>
                    <a:ea typeface="Microsoft YaHei"/>
                    <a:cs typeface="Arial"/>
                  </a:rPr>
                  <a:t>抓 1 个小场景</a:t>
                </a:r>
              </a:p>
            </p:txBody>
          </p:sp>
          <p:sp>
            <p:nvSpPr>
              <p:cNvPr id="44" name="TextBox 44"/>
              <p:cNvSpPr txBox="1"/>
              <p:nvPr/>
            </p:nvSpPr>
            <p:spPr>
              <a:xfrm>
                <a:off x="1129665" y="4258628"/>
                <a:ext cx="3828145" cy="21336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l"/>
                <a:r>
                  <a:rPr lang="zh-CN" sz="1050" dirty="0">
                    <a:solidFill>
                      <a:srgbClr val="5B6B82"/>
                    </a:solidFill>
                    <a:latin typeface="Arial"/>
                    <a:ea typeface="Microsoft YaHei"/>
                    <a:cs typeface="Arial"/>
                  </a:rPr>
                  <a:t>选岗位上最烦的 1 件事：AI 初稿 + 人终审</a:t>
                </a:r>
              </a:p>
            </p:txBody>
          </p:sp>
        </p:grpSp>
        <p:grpSp>
          <p:nvGrpSpPr>
            <p:cNvPr id="51" name="Group 51"/>
            <p:cNvGrpSpPr/>
            <p:nvPr/>
          </p:nvGrpSpPr>
          <p:grpSpPr>
            <a:xfrm>
              <a:off x="571500" y="4533900"/>
              <a:ext cx="7810500" cy="533400"/>
              <a:chOff x="571500" y="4533900"/>
              <a:chExt cx="7810500" cy="533400"/>
            </a:xfrm>
          </p:grpSpPr>
          <p:sp>
            <p:nvSpPr>
              <p:cNvPr id="46" name="Rectangle 46"/>
              <p:cNvSpPr/>
              <p:nvPr/>
            </p:nvSpPr>
            <p:spPr>
              <a:xfrm>
                <a:off x="571500" y="4533900"/>
                <a:ext cx="7810500" cy="533400"/>
              </a:xfrm>
              <a:prstGeom prst="roundRect">
                <a:avLst>
                  <a:gd name="adj" fmla="val 28571"/>
                </a:avLst>
              </a:prstGeom>
              <a:solidFill>
                <a:srgbClr val="FFFFFF"/>
              </a:solidFill>
              <a:ln w="9525">
                <a:solidFill>
                  <a:srgbClr val="D8E1EC"/>
                </a:solidFill>
              </a:ln>
            </p:spPr>
            <p:txBody>
              <a:bodyPr/>
              <a:p/>
            </p:txBody>
          </p:sp>
          <p:sp>
            <p:nvSpPr>
              <p:cNvPr id="47" name="Ellipse 47"/>
              <p:cNvSpPr/>
              <p:nvPr/>
            </p:nvSpPr>
            <p:spPr>
              <a:xfrm>
                <a:off x="733425" y="4657725"/>
                <a:ext cx="285750" cy="285750"/>
              </a:xfrm>
              <a:prstGeom prst="ellipse">
                <a:avLst/>
              </a:prstGeom>
              <a:solidFill>
                <a:srgbClr val="1565D8"/>
              </a:solidFill>
              <a:ln>
                <a:noFill/>
              </a:ln>
            </p:spPr>
            <p:txBody>
              <a:bodyPr/>
              <a:p/>
            </p:txBody>
          </p:sp>
          <p:sp>
            <p:nvSpPr>
              <p:cNvPr id="48" name="TextBox 48"/>
              <p:cNvSpPr txBox="1"/>
              <p:nvPr/>
            </p:nvSpPr>
            <p:spPr>
              <a:xfrm>
                <a:off x="822535" y="4744402"/>
                <a:ext cx="107530" cy="21336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ctr"/>
                <a:r>
                  <a:rPr lang="zh-CN" sz="1050" b="1" dirty="0">
                    <a:solidFill>
                      <a:srgbClr val="FFFFFF"/>
                    </a:solidFill>
                    <a:latin typeface="Arial"/>
                    <a:ea typeface="Microsoft YaHei"/>
                    <a:cs typeface="Arial"/>
                  </a:rPr>
                  <a:t>D</a:t>
                </a:r>
              </a:p>
            </p:txBody>
          </p:sp>
          <p:sp>
            <p:nvSpPr>
              <p:cNvPr id="49" name="TextBox 49"/>
              <p:cNvSpPr txBox="1"/>
              <p:nvPr/>
            </p:nvSpPr>
            <p:spPr>
              <a:xfrm>
                <a:off x="1128712" y="4631531"/>
                <a:ext cx="1312360" cy="2286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l"/>
                <a:r>
                  <a:rPr lang="zh-CN" sz="1125" b="1" dirty="0">
                    <a:solidFill>
                      <a:srgbClr val="2B3648"/>
                    </a:solidFill>
                    <a:latin typeface="Arial"/>
                    <a:ea typeface="Microsoft YaHei"/>
                    <a:cs typeface="Arial"/>
                  </a:rPr>
                  <a:t>每周晒案例</a:t>
                </a:r>
              </a:p>
            </p:txBody>
          </p:sp>
          <p:sp>
            <p:nvSpPr>
              <p:cNvPr id="50" name="TextBox 50"/>
              <p:cNvSpPr txBox="1"/>
              <p:nvPr/>
            </p:nvSpPr>
            <p:spPr>
              <a:xfrm>
                <a:off x="1129665" y="4849178"/>
                <a:ext cx="3821144" cy="21336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l"/>
                <a:r>
                  <a:rPr lang="zh-CN" sz="1050" dirty="0">
                    <a:solidFill>
                      <a:srgbClr val="5B6B82"/>
                    </a:solidFill>
                    <a:latin typeface="Arial"/>
                    <a:ea typeface="Microsoft YaHei"/>
                    <a:cs typeface="Arial"/>
                  </a:rPr>
                  <a:t>组内分享 1 个真实案例，带 3-5 个同事一起用</a:t>
                </a:r>
              </a:p>
            </p:txBody>
          </p:sp>
        </p:grpSp>
        <p:grpSp>
          <p:nvGrpSpPr>
            <p:cNvPr id="57" name="Group 57"/>
            <p:cNvGrpSpPr/>
            <p:nvPr/>
          </p:nvGrpSpPr>
          <p:grpSpPr>
            <a:xfrm>
              <a:off x="571500" y="5124450"/>
              <a:ext cx="7810500" cy="533400"/>
              <a:chOff x="571500" y="5124450"/>
              <a:chExt cx="7810500" cy="533400"/>
            </a:xfrm>
          </p:grpSpPr>
          <p:sp>
            <p:nvSpPr>
              <p:cNvPr id="52" name="Rectangle 52"/>
              <p:cNvSpPr/>
              <p:nvPr/>
            </p:nvSpPr>
            <p:spPr>
              <a:xfrm>
                <a:off x="571500" y="5124450"/>
                <a:ext cx="7810500" cy="533400"/>
              </a:xfrm>
              <a:prstGeom prst="roundRect">
                <a:avLst>
                  <a:gd name="adj" fmla="val 28571"/>
                </a:avLst>
              </a:prstGeom>
              <a:solidFill>
                <a:srgbClr val="FFFFFF"/>
              </a:solidFill>
              <a:ln w="9525">
                <a:solidFill>
                  <a:srgbClr val="D8E1EC"/>
                </a:solidFill>
              </a:ln>
            </p:spPr>
            <p:txBody>
              <a:bodyPr/>
              <a:p/>
            </p:txBody>
          </p:sp>
          <p:sp>
            <p:nvSpPr>
              <p:cNvPr id="53" name="Ellipse 53"/>
              <p:cNvSpPr/>
              <p:nvPr/>
            </p:nvSpPr>
            <p:spPr>
              <a:xfrm>
                <a:off x="733425" y="5248275"/>
                <a:ext cx="285750" cy="285750"/>
              </a:xfrm>
              <a:prstGeom prst="ellipse">
                <a:avLst/>
              </a:prstGeom>
              <a:solidFill>
                <a:srgbClr val="1565D8"/>
              </a:solidFill>
              <a:ln>
                <a:noFill/>
              </a:ln>
            </p:spPr>
            <p:txBody>
              <a:bodyPr/>
              <a:p/>
            </p:txBody>
          </p:sp>
          <p:sp>
            <p:nvSpPr>
              <p:cNvPr id="54" name="TextBox 54"/>
              <p:cNvSpPr txBox="1"/>
              <p:nvPr/>
            </p:nvSpPr>
            <p:spPr>
              <a:xfrm>
                <a:off x="822535" y="5334952"/>
                <a:ext cx="107530" cy="21336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ctr"/>
                <a:r>
                  <a:rPr lang="zh-CN" sz="1050" b="1" dirty="0">
                    <a:solidFill>
                      <a:srgbClr val="FFFFFF"/>
                    </a:solidFill>
                    <a:latin typeface="Arial"/>
                    <a:ea typeface="Microsoft YaHei"/>
                    <a:cs typeface="Arial"/>
                  </a:rPr>
                  <a:t>E</a:t>
                </a:r>
              </a:p>
            </p:txBody>
          </p:sp>
          <p:sp>
            <p:nvSpPr>
              <p:cNvPr id="55" name="TextBox 55"/>
              <p:cNvSpPr txBox="1"/>
              <p:nvPr/>
            </p:nvSpPr>
            <p:spPr>
              <a:xfrm>
                <a:off x="1128712" y="5222081"/>
                <a:ext cx="1312360" cy="2286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l"/>
                <a:r>
                  <a:rPr lang="zh-CN" sz="1125" b="1" dirty="0">
                    <a:solidFill>
                      <a:srgbClr val="2B3648"/>
                    </a:solidFill>
                    <a:latin typeface="Arial"/>
                    <a:ea typeface="Microsoft YaHei"/>
                    <a:cs typeface="Arial"/>
                  </a:rPr>
                  <a:t>30/60/90 复盘</a:t>
                </a:r>
              </a:p>
            </p:txBody>
          </p:sp>
          <p:sp>
            <p:nvSpPr>
              <p:cNvPr id="56" name="TextBox 56"/>
              <p:cNvSpPr txBox="1"/>
              <p:nvPr/>
            </p:nvSpPr>
            <p:spPr>
              <a:xfrm>
                <a:off x="1129665" y="5439728"/>
                <a:ext cx="3030045" cy="21336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l"/>
                <a:r>
                  <a:rPr lang="zh-CN" sz="1050" dirty="0">
                    <a:solidFill>
                      <a:srgbClr val="5B6B82"/>
                    </a:solidFill>
                    <a:latin typeface="Arial"/>
                    <a:ea typeface="Microsoft YaHei"/>
                    <a:cs typeface="Arial"/>
                  </a:rPr>
                  <a:t>回看省了多少时间，写进你的季度汇报里</a:t>
                </a:r>
              </a:p>
            </p:txBody>
          </p:sp>
        </p:grpSp>
      </p:grpSp>
      <p:grpSp>
        <p:nvGrpSpPr>
          <p:cNvPr id="63" name="Group 63"/>
          <p:cNvGrpSpPr/>
          <p:nvPr/>
        </p:nvGrpSpPr>
        <p:grpSpPr>
          <a:xfrm>
            <a:off x="8610600" y="1619250"/>
            <a:ext cx="3009900" cy="4038600"/>
            <a:chOff x="8610600" y="1619250"/>
            <a:chExt cx="3009900" cy="4038600"/>
          </a:xfrm>
        </p:grpSpPr>
        <p:pic>
          <p:nvPicPr>
            <p:cNvPr id="59" name="Image 59"/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8610600" y="1619250"/>
              <a:ext cx="3009900" cy="3009900"/>
            </a:xfrm>
            <a:prstGeom prst="roundRect">
              <a:avLst>
                <a:gd name="adj" fmla="val 5063"/>
              </a:avLst>
            </a:prstGeom>
          </p:spPr>
        </p:pic>
        <p:sp>
          <p:nvSpPr>
            <p:cNvPr id="60" name="Rectangle 60"/>
            <p:cNvSpPr/>
            <p:nvPr/>
          </p:nvSpPr>
          <p:spPr>
            <a:xfrm>
              <a:off x="8610600" y="4781550"/>
              <a:ext cx="3009900" cy="876300"/>
            </a:xfrm>
            <a:prstGeom prst="roundRect">
              <a:avLst>
                <a:gd name="adj" fmla="val 17391"/>
              </a:avLst>
            </a:prstGeom>
            <a:solidFill>
              <a:srgbClr val="FFFFFF"/>
            </a:solidFill>
            <a:ln w="9525">
              <a:solidFill>
                <a:srgbClr val="D8E1EC"/>
              </a:solidFill>
            </a:ln>
          </p:spPr>
          <p:txBody>
            <a:bodyPr/>
            <a:p/>
          </p:txBody>
        </p:sp>
        <p:sp>
          <p:nvSpPr>
            <p:cNvPr id="61" name="TextBox 61"/>
            <p:cNvSpPr txBox="1"/>
            <p:nvPr/>
          </p:nvSpPr>
          <p:spPr>
            <a:xfrm>
              <a:off x="8824912" y="4983956"/>
              <a:ext cx="816173" cy="22860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5" b="1" dirty="0">
                  <a:solidFill>
                    <a:srgbClr val="0B4EA2"/>
                  </a:solidFill>
                  <a:latin typeface="Arial"/>
                  <a:ea typeface="Microsoft YaHei"/>
                  <a:cs typeface="Arial"/>
                </a:rPr>
                <a:t>标杆：</a:t>
              </a:r>
            </a:p>
          </p:txBody>
        </p:sp>
        <p:sp>
          <p:nvSpPr>
            <p:cNvPr id="62" name="TextBox 62"/>
            <p:cNvSpPr txBox="1"/>
            <p:nvPr/>
          </p:nvSpPr>
          <p:spPr>
            <a:xfrm>
              <a:off x="8824912" y="5250656"/>
              <a:ext cx="1651028" cy="22860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5" b="1" dirty="0">
                  <a:solidFill>
                    <a:srgbClr val="0B4EA2"/>
                  </a:solidFill>
                  <a:latin typeface="Arial"/>
                  <a:ea typeface="Microsoft YaHei"/>
                  <a:cs typeface="Arial"/>
                </a:rPr>
                <a:t>国机 70 人一周搭 70 个智能体 · 常州 AI 夜校 35.9 万人次</a:t>
              </a:r>
            </a:p>
          </p:txBody>
        </p:sp>
      </p:grpSp>
      <p:grpSp>
        <p:nvGrpSpPr>
          <p:cNvPr id="66" name="Group 66"/>
          <p:cNvGrpSpPr/>
          <p:nvPr/>
        </p:nvGrpSpPr>
        <p:grpSpPr>
          <a:xfrm>
            <a:off x="560070" y="6341745"/>
            <a:ext cx="11071860" cy="182880"/>
            <a:chOff x="560070" y="6341745"/>
            <a:chExt cx="11071860" cy="182880"/>
          </a:xfrm>
        </p:grpSpPr>
        <p:sp>
          <p:nvSpPr>
            <p:cNvPr id="64" name="TextBox 64"/>
            <p:cNvSpPr txBox="1"/>
            <p:nvPr/>
          </p:nvSpPr>
          <p:spPr>
            <a:xfrm>
              <a:off x="560070" y="6341745"/>
              <a:ext cx="1054989" cy="18288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00" dirty="0">
                  <a:solidFill>
                    <a:srgbClr val="8B99AE"/>
                  </a:solidFill>
                  <a:latin typeface="Arial"/>
                  <a:ea typeface="Microsoft YaHei"/>
                  <a:cs typeface="Arial"/>
                </a:rPr>
                <a:t>大模型通识 · 企业版</a:t>
              </a:r>
            </a:p>
          </p:txBody>
        </p:sp>
        <p:sp>
          <p:nvSpPr>
            <p:cNvPr id="65" name="TextBox 65"/>
            <p:cNvSpPr txBox="1"/>
            <p:nvPr/>
          </p:nvSpPr>
          <p:spPr>
            <a:xfrm>
              <a:off x="11207020" y="6341745"/>
              <a:ext cx="424910" cy="18288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r"/>
              <a:r>
                <a:rPr lang="zh-CN" sz="900" dirty="0">
                  <a:solidFill>
                    <a:srgbClr val="8B99AE"/>
                  </a:solidFill>
                  <a:latin typeface="Arial"/>
                  <a:ea typeface="Microsoft YaHei"/>
                  <a:cs typeface="Arial"/>
                </a:rPr>
                <a:t>49 / 51</a:t>
              </a:r>
            </a:p>
          </p:txBody>
        </p:sp>
      </p:grpSp>
    </p:spTree>
  </p:cSld>
  <p:clrMapOvr>
    <a:masterClrMapping/>
  </p:clrMapOvr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5" name="Group 5"/>
          <p:cNvGrpSpPr/>
          <p:nvPr/>
        </p:nvGrpSpPr>
        <p:grpSpPr>
          <a:xfrm>
            <a:off x="-1619250" y="0"/>
            <a:ext cx="13811250" cy="8477250"/>
            <a:chOff x="-1619250" y="0"/>
            <a:chExt cx="13811250" cy="8477250"/>
          </a:xfrm>
        </p:grpSpPr>
        <p:sp>
          <p:nvSpPr>
            <p:cNvPr id="2" name="Rectangle 2"/>
            <p:cNvSpPr/>
            <p:nvPr/>
          </p:nvSpPr>
          <p:spPr>
            <a:xfrm>
              <a:off x="0" y="0"/>
              <a:ext cx="12192000" cy="6858000"/>
            </a:xfrm>
            <a:prstGeom prst="rect">
              <a:avLst/>
            </a:prstGeom>
            <a:solidFill>
              <a:srgbClr val="F5F7FA"/>
            </a:solidFill>
            <a:ln>
              <a:noFill/>
            </a:ln>
          </p:spPr>
          <p:txBody>
            <a:bodyPr/>
            <a:p/>
          </p:txBody>
        </p:sp>
        <p:sp>
          <p:nvSpPr>
            <p:cNvPr id="3" name="Rectangle 3"/>
            <p:cNvSpPr/>
            <p:nvPr/>
          </p:nvSpPr>
          <p:spPr>
            <a:xfrm>
              <a:off x="0" y="0"/>
              <a:ext cx="12192000" cy="6858000"/>
            </a:xfrm>
            <a:prstGeom prst="rect">
              <a:avLst/>
            </a:prstGeom>
            <a:gradFill>
              <a:gsLst>
                <a:gs pos="0">
                  <a:srgbClr val="1565D8">
                    <a:alpha val="6000"/>
                  </a:srgbClr>
                </a:gs>
                <a:gs pos="100000">
                  <a:srgbClr val="1565D8">
                    <a:alpha val="0"/>
                  </a:srgbClr>
                </a:gs>
              </a:gsLst>
              <a:path path="circle">
                <a:fillToRect l="50000" t="50000" r="50000" b="50000"/>
              </a:path>
            </a:gradFill>
            <a:ln>
              <a:noFill/>
            </a:ln>
          </p:spPr>
          <p:txBody>
            <a:bodyPr/>
            <a:p/>
          </p:txBody>
        </p:sp>
        <p:sp>
          <p:nvSpPr>
            <p:cNvPr id="4" name="Ellipse 4"/>
            <p:cNvSpPr/>
            <p:nvPr/>
          </p:nvSpPr>
          <p:spPr>
            <a:xfrm>
              <a:off x="-1619250" y="4667250"/>
              <a:ext cx="3810000" cy="3810000"/>
            </a:xfrm>
            <a:prstGeom prst="ellipse">
              <a:avLst/>
            </a:prstGeom>
            <a:noFill/>
            <a:ln w="14288">
              <a:solidFill>
                <a:srgbClr val="D6E6F9">
                  <a:alpha val="80000"/>
                </a:srgbClr>
              </a:solidFill>
            </a:ln>
          </p:spPr>
          <p:txBody>
            <a:bodyPr/>
            <a:p/>
          </p:txBody>
        </p:sp>
      </p:grpSp>
      <p:grpSp>
        <p:nvGrpSpPr>
          <p:cNvPr id="9" name="Group 9"/>
          <p:cNvGrpSpPr/>
          <p:nvPr/>
        </p:nvGrpSpPr>
        <p:grpSpPr>
          <a:xfrm>
            <a:off x="571500" y="685800"/>
            <a:ext cx="3927205" cy="700088"/>
            <a:chOff x="571500" y="685800"/>
            <a:chExt cx="3927205" cy="700088"/>
          </a:xfrm>
        </p:grpSpPr>
        <p:sp>
          <p:nvSpPr>
            <p:cNvPr id="6" name="Rectangle 6"/>
            <p:cNvSpPr/>
            <p:nvPr/>
          </p:nvSpPr>
          <p:spPr>
            <a:xfrm>
              <a:off x="571500" y="685800"/>
              <a:ext cx="76200" cy="323850"/>
            </a:xfrm>
            <a:prstGeom prst="roundRect">
              <a:avLst>
                <a:gd name="adj" fmla="val 50000"/>
              </a:avLst>
            </a:prstGeom>
            <a:solidFill>
              <a:srgbClr val="1565D8"/>
            </a:solidFill>
            <a:ln>
              <a:noFill/>
            </a:ln>
          </p:spPr>
          <p:txBody>
            <a:bodyPr/>
            <a:p/>
          </p:txBody>
        </p:sp>
        <p:sp>
          <p:nvSpPr>
            <p:cNvPr id="7" name="TextBox 7"/>
            <p:cNvSpPr txBox="1"/>
            <p:nvPr/>
          </p:nvSpPr>
          <p:spPr>
            <a:xfrm>
              <a:off x="771525" y="700088"/>
              <a:ext cx="2530209" cy="45720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2250" b="1" dirty="0">
                  <a:solidFill>
                    <a:srgbClr val="2B3648"/>
                  </a:solidFill>
                  <a:latin typeface="Arial"/>
                  <a:ea typeface="Microsoft YaHei"/>
                  <a:cs typeface="Arial"/>
                </a:rPr>
                <a:t>动手前：9 条自检</a:t>
              </a:r>
            </a:p>
          </p:txBody>
        </p:sp>
        <p:sp>
          <p:nvSpPr>
            <p:cNvPr id="8" name="TextBox 8"/>
            <p:cNvSpPr txBox="1"/>
            <p:nvPr/>
          </p:nvSpPr>
          <p:spPr>
            <a:xfrm>
              <a:off x="782955" y="1111568"/>
              <a:ext cx="3715750" cy="27432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5B6B82"/>
                  </a:solidFill>
                  <a:latin typeface="Arial"/>
                  <a:ea typeface="Microsoft YaHei"/>
                  <a:cs typeface="Arial"/>
                </a:rPr>
                <a:t>都能打勾，你就是团队里那个「会用 AI 的人」</a:t>
              </a:r>
            </a:p>
          </p:txBody>
        </p:sp>
      </p:grpSp>
      <p:grpSp>
        <p:nvGrpSpPr>
          <p:cNvPr id="85" name="Group 85"/>
          <p:cNvGrpSpPr/>
          <p:nvPr/>
        </p:nvGrpSpPr>
        <p:grpSpPr>
          <a:xfrm>
            <a:off x="571500" y="1619250"/>
            <a:ext cx="10991850" cy="3600450"/>
            <a:chOff x="571500" y="1619250"/>
            <a:chExt cx="10991850" cy="3600450"/>
          </a:xfrm>
        </p:grpSpPr>
        <p:grpSp>
          <p:nvGrpSpPr>
            <p:cNvPr id="18" name="Group 18"/>
            <p:cNvGrpSpPr/>
            <p:nvPr/>
          </p:nvGrpSpPr>
          <p:grpSpPr>
            <a:xfrm>
              <a:off x="571500" y="1619250"/>
              <a:ext cx="3524250" cy="1123950"/>
              <a:chOff x="571500" y="1619250"/>
              <a:chExt cx="3524250" cy="1123950"/>
            </a:xfrm>
          </p:grpSpPr>
          <p:sp>
            <p:nvSpPr>
              <p:cNvPr id="10" name="Rectangle 10"/>
              <p:cNvSpPr/>
              <p:nvPr/>
            </p:nvSpPr>
            <p:spPr>
              <a:xfrm>
                <a:off x="571500" y="1619250"/>
                <a:ext cx="3524250" cy="1123950"/>
              </a:xfrm>
              <a:prstGeom prst="roundRect">
                <a:avLst>
                  <a:gd name="adj" fmla="val 13559"/>
                </a:avLst>
              </a:prstGeom>
              <a:solidFill>
                <a:srgbClr val="FFFFFF"/>
              </a:solidFill>
              <a:ln w="9525">
                <a:solidFill>
                  <a:srgbClr val="D8E1EC"/>
                </a:solidFill>
              </a:ln>
            </p:spPr>
            <p:txBody>
              <a:bodyPr/>
              <a:p/>
            </p:txBody>
          </p:sp>
          <p:sp>
            <p:nvSpPr>
              <p:cNvPr id="11" name="Ellipse 11"/>
              <p:cNvSpPr/>
              <p:nvPr/>
            </p:nvSpPr>
            <p:spPr>
              <a:xfrm>
                <a:off x="762000" y="1885950"/>
                <a:ext cx="304800" cy="304800"/>
              </a:xfrm>
              <a:prstGeom prst="ellipse">
                <a:avLst/>
              </a:prstGeom>
              <a:solidFill>
                <a:srgbClr val="D6E6F9"/>
              </a:solidFill>
              <a:ln>
                <a:noFill/>
              </a:ln>
            </p:spPr>
            <p:txBody>
              <a:bodyPr/>
              <a:p/>
            </p:txBody>
          </p:sp>
          <p:grpSp>
            <p:nvGrpSpPr>
              <p:cNvPr id="14" name="Group 14"/>
              <p:cNvGrpSpPr/>
              <p:nvPr/>
            </p:nvGrpSpPr>
            <p:grpSpPr>
              <a:xfrm>
                <a:off x="842962" y="1966912"/>
                <a:ext cx="142875" cy="142875"/>
                <a:chOff x="842962" y="1966912"/>
                <a:chExt cx="142875" cy="142875"/>
              </a:xfrm>
            </p:grpSpPr>
            <p:sp>
              <p:nvSpPr>
                <p:cNvPr id="12" name="Freeform 12"/>
                <p:cNvSpPr/>
                <p:nvPr/>
              </p:nvSpPr>
              <p:spPr>
                <a:xfrm>
                  <a:off x="842962" y="1966912"/>
                  <a:ext cx="142875" cy="142875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142875" h="142875">
                      <a:moveTo>
                        <a:pt x="0" y="71438"/>
                      </a:moveTo>
                      <a:cubicBezTo>
                        <a:pt x="0" y="110891"/>
                        <a:pt x="31984" y="142875"/>
                        <a:pt x="71438" y="142875"/>
                      </a:cubicBezTo>
                      <a:cubicBezTo>
                        <a:pt x="110891" y="142875"/>
                        <a:pt x="142875" y="110891"/>
                        <a:pt x="142875" y="71438"/>
                      </a:cubicBezTo>
                      <a:cubicBezTo>
                        <a:pt x="142875" y="31984"/>
                        <a:pt x="110891" y="0"/>
                        <a:pt x="71438" y="0"/>
                      </a:cubicBezTo>
                      <a:cubicBezTo>
                        <a:pt x="31984" y="0"/>
                        <a:pt x="0" y="31984"/>
                        <a:pt x="0" y="71438"/>
                      </a:cubicBezTo>
                    </a:path>
                  </a:pathLst>
                </a:custGeom>
                <a:noFill/>
                <a:ln w="19050">
                  <a:solidFill>
                    <a:srgbClr val="1565D8"/>
                  </a:solidFill>
                </a:ln>
              </p:spPr>
              <p:txBody>
                <a:bodyPr/>
                <a:p/>
              </p:txBody>
            </p:sp>
            <p:sp>
              <p:nvSpPr>
                <p:cNvPr id="13" name="Freeform 13"/>
                <p:cNvSpPr/>
                <p:nvPr/>
              </p:nvSpPr>
              <p:spPr>
                <a:xfrm>
                  <a:off x="890588" y="2022475"/>
                  <a:ext cx="47625" cy="31750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47625" h="31750">
                      <a:moveTo>
                        <a:pt x="0" y="15875"/>
                      </a:moveTo>
                      <a:lnTo>
                        <a:pt x="15875" y="31750"/>
                      </a:lnTo>
                      <a:lnTo>
                        <a:pt x="47625" y="0"/>
                      </a:lnTo>
                    </a:path>
                  </a:pathLst>
                </a:custGeom>
                <a:noFill/>
                <a:ln w="19050">
                  <a:solidFill>
                    <a:srgbClr val="1565D8"/>
                  </a:solidFill>
                </a:ln>
              </p:spPr>
              <p:txBody>
                <a:bodyPr/>
                <a:p/>
              </p:txBody>
            </p:sp>
          </p:grpSp>
          <p:sp>
            <p:nvSpPr>
              <p:cNvPr id="15" name="TextBox 15"/>
              <p:cNvSpPr txBox="1"/>
              <p:nvPr/>
            </p:nvSpPr>
            <p:spPr>
              <a:xfrm>
                <a:off x="1167765" y="1905952"/>
                <a:ext cx="1121957" cy="21336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l"/>
                <a:r>
                  <a:rPr lang="zh-CN" sz="1050" b="1" dirty="0">
                    <a:solidFill>
                      <a:srgbClr val="2B3648"/>
                    </a:solidFill>
                    <a:latin typeface="Arial"/>
                    <a:ea typeface="Microsoft YaHei"/>
                    <a:cs typeface="Arial"/>
                  </a:rPr>
                  <a:t>能画出 AI 家族树</a:t>
                </a:r>
              </a:p>
            </p:txBody>
          </p:sp>
          <p:sp>
            <p:nvSpPr>
              <p:cNvPr id="16" name="TextBox 16"/>
              <p:cNvSpPr txBox="1"/>
              <p:nvPr/>
            </p:nvSpPr>
            <p:spPr>
              <a:xfrm>
                <a:off x="1167765" y="2134552"/>
                <a:ext cx="1706880" cy="21336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l"/>
                <a:r>
                  <a:rPr lang="zh-CN" sz="1050" dirty="0">
                    <a:solidFill>
                      <a:srgbClr val="5B6B82"/>
                    </a:solidFill>
                    <a:latin typeface="Arial"/>
                    <a:ea typeface="Microsoft YaHei"/>
                    <a:cs typeface="Arial"/>
                  </a:rPr>
                  <a:t>AI → 机器学习 → 深度学习 →</a:t>
                </a:r>
              </a:p>
            </p:txBody>
          </p:sp>
          <p:sp>
            <p:nvSpPr>
              <p:cNvPr id="17" name="TextBox 17"/>
              <p:cNvSpPr txBox="1"/>
              <p:nvPr/>
            </p:nvSpPr>
            <p:spPr>
              <a:xfrm>
                <a:off x="1167765" y="2344102"/>
                <a:ext cx="1027795" cy="21336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l"/>
                <a:r>
                  <a:rPr lang="zh-CN" sz="1050" dirty="0">
                    <a:solidFill>
                      <a:srgbClr val="5B6B82"/>
                    </a:solidFill>
                    <a:latin typeface="Arial"/>
                    <a:ea typeface="Microsoft YaHei"/>
                    <a:cs typeface="Arial"/>
                  </a:rPr>
                  <a:t>大模型 → 生成式</a:t>
                </a:r>
              </a:p>
            </p:txBody>
          </p:sp>
        </p:grpSp>
        <p:grpSp>
          <p:nvGrpSpPr>
            <p:cNvPr id="27" name="Group 27"/>
            <p:cNvGrpSpPr/>
            <p:nvPr/>
          </p:nvGrpSpPr>
          <p:grpSpPr>
            <a:xfrm>
              <a:off x="4305300" y="1619250"/>
              <a:ext cx="3524250" cy="1123950"/>
              <a:chOff x="4305300" y="1619250"/>
              <a:chExt cx="3524250" cy="1123950"/>
            </a:xfrm>
          </p:grpSpPr>
          <p:sp>
            <p:nvSpPr>
              <p:cNvPr id="19" name="Rectangle 19"/>
              <p:cNvSpPr/>
              <p:nvPr/>
            </p:nvSpPr>
            <p:spPr>
              <a:xfrm>
                <a:off x="4305300" y="1619250"/>
                <a:ext cx="3524250" cy="1123950"/>
              </a:xfrm>
              <a:prstGeom prst="roundRect">
                <a:avLst>
                  <a:gd name="adj" fmla="val 13559"/>
                </a:avLst>
              </a:prstGeom>
              <a:solidFill>
                <a:srgbClr val="FFFFFF"/>
              </a:solidFill>
              <a:ln w="9525">
                <a:solidFill>
                  <a:srgbClr val="D8E1EC"/>
                </a:solidFill>
              </a:ln>
            </p:spPr>
            <p:txBody>
              <a:bodyPr/>
              <a:p/>
            </p:txBody>
          </p:sp>
          <p:sp>
            <p:nvSpPr>
              <p:cNvPr id="20" name="Ellipse 20"/>
              <p:cNvSpPr/>
              <p:nvPr/>
            </p:nvSpPr>
            <p:spPr>
              <a:xfrm>
                <a:off x="4495800" y="1885950"/>
                <a:ext cx="304800" cy="304800"/>
              </a:xfrm>
              <a:prstGeom prst="ellipse">
                <a:avLst/>
              </a:prstGeom>
              <a:solidFill>
                <a:srgbClr val="D6E6F9"/>
              </a:solidFill>
              <a:ln>
                <a:noFill/>
              </a:ln>
            </p:spPr>
            <p:txBody>
              <a:bodyPr/>
              <a:p/>
            </p:txBody>
          </p:sp>
          <p:grpSp>
            <p:nvGrpSpPr>
              <p:cNvPr id="23" name="Group 23"/>
              <p:cNvGrpSpPr/>
              <p:nvPr/>
            </p:nvGrpSpPr>
            <p:grpSpPr>
              <a:xfrm>
                <a:off x="4576762" y="1966912"/>
                <a:ext cx="142875" cy="142875"/>
                <a:chOff x="4576762" y="1966912"/>
                <a:chExt cx="142875" cy="142875"/>
              </a:xfrm>
            </p:grpSpPr>
            <p:sp>
              <p:nvSpPr>
                <p:cNvPr id="21" name="Freeform 21"/>
                <p:cNvSpPr/>
                <p:nvPr/>
              </p:nvSpPr>
              <p:spPr>
                <a:xfrm>
                  <a:off x="4576762" y="1966912"/>
                  <a:ext cx="142875" cy="142875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142875" h="142875">
                      <a:moveTo>
                        <a:pt x="0" y="71438"/>
                      </a:moveTo>
                      <a:cubicBezTo>
                        <a:pt x="0" y="110891"/>
                        <a:pt x="31984" y="142875"/>
                        <a:pt x="71438" y="142875"/>
                      </a:cubicBezTo>
                      <a:cubicBezTo>
                        <a:pt x="110891" y="142875"/>
                        <a:pt x="142875" y="110891"/>
                        <a:pt x="142875" y="71438"/>
                      </a:cubicBezTo>
                      <a:cubicBezTo>
                        <a:pt x="142875" y="31984"/>
                        <a:pt x="110891" y="0"/>
                        <a:pt x="71438" y="0"/>
                      </a:cubicBezTo>
                      <a:cubicBezTo>
                        <a:pt x="31984" y="0"/>
                        <a:pt x="0" y="31984"/>
                        <a:pt x="0" y="71438"/>
                      </a:cubicBezTo>
                    </a:path>
                  </a:pathLst>
                </a:custGeom>
                <a:noFill/>
                <a:ln w="19050">
                  <a:solidFill>
                    <a:srgbClr val="1565D8"/>
                  </a:solidFill>
                </a:ln>
              </p:spPr>
              <p:txBody>
                <a:bodyPr/>
                <a:p/>
              </p:txBody>
            </p:sp>
            <p:sp>
              <p:nvSpPr>
                <p:cNvPr id="22" name="Freeform 22"/>
                <p:cNvSpPr/>
                <p:nvPr/>
              </p:nvSpPr>
              <p:spPr>
                <a:xfrm>
                  <a:off x="4624388" y="2022475"/>
                  <a:ext cx="47625" cy="31750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47625" h="31750">
                      <a:moveTo>
                        <a:pt x="0" y="15875"/>
                      </a:moveTo>
                      <a:lnTo>
                        <a:pt x="15875" y="31750"/>
                      </a:lnTo>
                      <a:lnTo>
                        <a:pt x="47625" y="0"/>
                      </a:lnTo>
                    </a:path>
                  </a:pathLst>
                </a:custGeom>
                <a:noFill/>
                <a:ln w="19050">
                  <a:solidFill>
                    <a:srgbClr val="1565D8"/>
                  </a:solidFill>
                </a:ln>
              </p:spPr>
              <p:txBody>
                <a:bodyPr/>
                <a:p/>
              </p:txBody>
            </p:sp>
          </p:grpSp>
          <p:sp>
            <p:nvSpPr>
              <p:cNvPr id="24" name="TextBox 24"/>
              <p:cNvSpPr txBox="1"/>
              <p:nvPr/>
            </p:nvSpPr>
            <p:spPr>
              <a:xfrm>
                <a:off x="4901565" y="1905952"/>
                <a:ext cx="1643872" cy="21336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l"/>
                <a:r>
                  <a:rPr lang="zh-CN" sz="1050" b="1" dirty="0">
                    <a:solidFill>
                      <a:srgbClr val="2B3648"/>
                    </a:solidFill>
                    <a:latin typeface="Arial"/>
                    <a:ea typeface="Microsoft YaHei"/>
                    <a:cs typeface="Arial"/>
                  </a:rPr>
                  <a:t>能写出「五要素」提示词</a:t>
                </a:r>
              </a:p>
            </p:txBody>
          </p:sp>
          <p:sp>
            <p:nvSpPr>
              <p:cNvPr id="25" name="TextBox 25"/>
              <p:cNvSpPr txBox="1"/>
              <p:nvPr/>
            </p:nvSpPr>
            <p:spPr>
              <a:xfrm>
                <a:off x="4901565" y="2134552"/>
                <a:ext cx="2210943" cy="21336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l"/>
                <a:r>
                  <a:rPr lang="zh-CN" sz="1050" dirty="0">
                    <a:solidFill>
                      <a:srgbClr val="5B6B82"/>
                    </a:solidFill>
                    <a:latin typeface="Arial"/>
                    <a:ea typeface="Microsoft YaHei"/>
                    <a:cs typeface="Arial"/>
                  </a:rPr>
                  <a:t>角色 / 背景 / 任务 / 约束 / 格式，</a:t>
                </a:r>
              </a:p>
            </p:txBody>
          </p:sp>
          <p:sp>
            <p:nvSpPr>
              <p:cNvPr id="26" name="TextBox 26"/>
              <p:cNvSpPr txBox="1"/>
              <p:nvPr/>
            </p:nvSpPr>
            <p:spPr>
              <a:xfrm>
                <a:off x="4901565" y="2344102"/>
                <a:ext cx="586740" cy="21336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l"/>
                <a:r>
                  <a:rPr lang="zh-CN" sz="1050" dirty="0">
                    <a:solidFill>
                      <a:srgbClr val="5B6B82"/>
                    </a:solidFill>
                    <a:latin typeface="Arial"/>
                    <a:ea typeface="Microsoft YaHei"/>
                    <a:cs typeface="Arial"/>
                  </a:rPr>
                  <a:t>张口就来</a:t>
                </a:r>
              </a:p>
            </p:txBody>
          </p:sp>
        </p:grpSp>
        <p:grpSp>
          <p:nvGrpSpPr>
            <p:cNvPr id="35" name="Group 35"/>
            <p:cNvGrpSpPr/>
            <p:nvPr/>
          </p:nvGrpSpPr>
          <p:grpSpPr>
            <a:xfrm>
              <a:off x="8039100" y="1619250"/>
              <a:ext cx="3524250" cy="1123950"/>
              <a:chOff x="8039100" y="1619250"/>
              <a:chExt cx="3524250" cy="1123950"/>
            </a:xfrm>
          </p:grpSpPr>
          <p:sp>
            <p:nvSpPr>
              <p:cNvPr id="28" name="Rectangle 28"/>
              <p:cNvSpPr/>
              <p:nvPr/>
            </p:nvSpPr>
            <p:spPr>
              <a:xfrm>
                <a:off x="8039100" y="1619250"/>
                <a:ext cx="3524250" cy="1123950"/>
              </a:xfrm>
              <a:prstGeom prst="roundRect">
                <a:avLst>
                  <a:gd name="adj" fmla="val 13559"/>
                </a:avLst>
              </a:prstGeom>
              <a:solidFill>
                <a:srgbClr val="FFFFFF"/>
              </a:solidFill>
              <a:ln w="9525">
                <a:solidFill>
                  <a:srgbClr val="D8E1EC"/>
                </a:solidFill>
              </a:ln>
            </p:spPr>
            <p:txBody>
              <a:bodyPr/>
              <a:p/>
            </p:txBody>
          </p:sp>
          <p:sp>
            <p:nvSpPr>
              <p:cNvPr id="29" name="Ellipse 29"/>
              <p:cNvSpPr/>
              <p:nvPr/>
            </p:nvSpPr>
            <p:spPr>
              <a:xfrm>
                <a:off x="8229600" y="1885950"/>
                <a:ext cx="304800" cy="304800"/>
              </a:xfrm>
              <a:prstGeom prst="ellipse">
                <a:avLst/>
              </a:prstGeom>
              <a:solidFill>
                <a:srgbClr val="D6E6F9"/>
              </a:solidFill>
              <a:ln>
                <a:noFill/>
              </a:ln>
            </p:spPr>
            <p:txBody>
              <a:bodyPr/>
              <a:p/>
            </p:txBody>
          </p:sp>
          <p:grpSp>
            <p:nvGrpSpPr>
              <p:cNvPr id="32" name="Group 32"/>
              <p:cNvGrpSpPr/>
              <p:nvPr/>
            </p:nvGrpSpPr>
            <p:grpSpPr>
              <a:xfrm>
                <a:off x="8310562" y="1966912"/>
                <a:ext cx="142875" cy="142875"/>
                <a:chOff x="8310562" y="1966912"/>
                <a:chExt cx="142875" cy="142875"/>
              </a:xfrm>
            </p:grpSpPr>
            <p:sp>
              <p:nvSpPr>
                <p:cNvPr id="30" name="Freeform 30"/>
                <p:cNvSpPr/>
                <p:nvPr/>
              </p:nvSpPr>
              <p:spPr>
                <a:xfrm>
                  <a:off x="8310562" y="1966912"/>
                  <a:ext cx="142875" cy="142875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142875" h="142875">
                      <a:moveTo>
                        <a:pt x="0" y="71438"/>
                      </a:moveTo>
                      <a:cubicBezTo>
                        <a:pt x="0" y="110891"/>
                        <a:pt x="31984" y="142875"/>
                        <a:pt x="71438" y="142875"/>
                      </a:cubicBezTo>
                      <a:cubicBezTo>
                        <a:pt x="110891" y="142875"/>
                        <a:pt x="142875" y="110891"/>
                        <a:pt x="142875" y="71438"/>
                      </a:cubicBezTo>
                      <a:cubicBezTo>
                        <a:pt x="142875" y="31984"/>
                        <a:pt x="110891" y="0"/>
                        <a:pt x="71438" y="0"/>
                      </a:cubicBezTo>
                      <a:cubicBezTo>
                        <a:pt x="31984" y="0"/>
                        <a:pt x="0" y="31984"/>
                        <a:pt x="0" y="71438"/>
                      </a:cubicBezTo>
                    </a:path>
                  </a:pathLst>
                </a:custGeom>
                <a:noFill/>
                <a:ln w="19050">
                  <a:solidFill>
                    <a:srgbClr val="1565D8"/>
                  </a:solidFill>
                </a:ln>
              </p:spPr>
              <p:txBody>
                <a:bodyPr/>
                <a:p/>
              </p:txBody>
            </p:sp>
            <p:sp>
              <p:nvSpPr>
                <p:cNvPr id="31" name="Freeform 31"/>
                <p:cNvSpPr/>
                <p:nvPr/>
              </p:nvSpPr>
              <p:spPr>
                <a:xfrm>
                  <a:off x="8358188" y="2022475"/>
                  <a:ext cx="47625" cy="31750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47625" h="31750">
                      <a:moveTo>
                        <a:pt x="0" y="15875"/>
                      </a:moveTo>
                      <a:lnTo>
                        <a:pt x="15875" y="31750"/>
                      </a:lnTo>
                      <a:lnTo>
                        <a:pt x="47625" y="0"/>
                      </a:lnTo>
                    </a:path>
                  </a:pathLst>
                </a:custGeom>
                <a:noFill/>
                <a:ln w="19050">
                  <a:solidFill>
                    <a:srgbClr val="1565D8"/>
                  </a:solidFill>
                </a:ln>
              </p:spPr>
              <p:txBody>
                <a:bodyPr/>
                <a:p/>
              </p:txBody>
            </p:sp>
          </p:grpSp>
          <p:sp>
            <p:nvSpPr>
              <p:cNvPr id="33" name="TextBox 33"/>
              <p:cNvSpPr txBox="1"/>
              <p:nvPr/>
            </p:nvSpPr>
            <p:spPr>
              <a:xfrm>
                <a:off x="8635365" y="1905952"/>
                <a:ext cx="1496854" cy="21336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l"/>
                <a:r>
                  <a:rPr lang="zh-CN" sz="1050" b="1" dirty="0">
                    <a:solidFill>
                      <a:srgbClr val="2B3648"/>
                    </a:solidFill>
                    <a:latin typeface="Arial"/>
                    <a:ea typeface="Microsoft YaHei"/>
                    <a:cs typeface="Arial"/>
                  </a:rPr>
                  <a:t>知道大模型会「幻觉」</a:t>
                </a:r>
              </a:p>
            </p:txBody>
          </p:sp>
          <p:sp>
            <p:nvSpPr>
              <p:cNvPr id="34" name="TextBox 34"/>
              <p:cNvSpPr txBox="1"/>
              <p:nvPr/>
            </p:nvSpPr>
            <p:spPr>
              <a:xfrm>
                <a:off x="8635365" y="2134552"/>
                <a:ext cx="1846898" cy="21336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l"/>
                <a:r>
                  <a:rPr lang="zh-CN" sz="1050" dirty="0">
                    <a:solidFill>
                      <a:srgbClr val="5B6B82"/>
                    </a:solidFill>
                    <a:latin typeface="Arial"/>
                    <a:ea typeface="Microsoft YaHei"/>
                    <a:cs typeface="Arial"/>
                  </a:rPr>
                  <a:t>关键信息会核实，不直接转发</a:t>
                </a:r>
              </a:p>
            </p:txBody>
          </p:sp>
        </p:grpSp>
        <p:grpSp>
          <p:nvGrpSpPr>
            <p:cNvPr id="44" name="Group 44"/>
            <p:cNvGrpSpPr/>
            <p:nvPr/>
          </p:nvGrpSpPr>
          <p:grpSpPr>
            <a:xfrm>
              <a:off x="571500" y="2857500"/>
              <a:ext cx="3524250" cy="1123950"/>
              <a:chOff x="571500" y="2857500"/>
              <a:chExt cx="3524250" cy="1123950"/>
            </a:xfrm>
          </p:grpSpPr>
          <p:sp>
            <p:nvSpPr>
              <p:cNvPr id="36" name="Rectangle 36"/>
              <p:cNvSpPr/>
              <p:nvPr/>
            </p:nvSpPr>
            <p:spPr>
              <a:xfrm>
                <a:off x="571500" y="2857500"/>
                <a:ext cx="3524250" cy="1123950"/>
              </a:xfrm>
              <a:prstGeom prst="roundRect">
                <a:avLst>
                  <a:gd name="adj" fmla="val 13559"/>
                </a:avLst>
              </a:prstGeom>
              <a:solidFill>
                <a:srgbClr val="FFFFFF"/>
              </a:solidFill>
              <a:ln w="9525">
                <a:solidFill>
                  <a:srgbClr val="D8E1EC"/>
                </a:solidFill>
              </a:ln>
            </p:spPr>
            <p:txBody>
              <a:bodyPr/>
              <a:p/>
            </p:txBody>
          </p:sp>
          <p:sp>
            <p:nvSpPr>
              <p:cNvPr id="37" name="Ellipse 37"/>
              <p:cNvSpPr/>
              <p:nvPr/>
            </p:nvSpPr>
            <p:spPr>
              <a:xfrm>
                <a:off x="762000" y="3124200"/>
                <a:ext cx="304800" cy="304800"/>
              </a:xfrm>
              <a:prstGeom prst="ellipse">
                <a:avLst/>
              </a:prstGeom>
              <a:solidFill>
                <a:srgbClr val="D6E6F9"/>
              </a:solidFill>
              <a:ln>
                <a:noFill/>
              </a:ln>
            </p:spPr>
            <p:txBody>
              <a:bodyPr/>
              <a:p/>
            </p:txBody>
          </p:sp>
          <p:grpSp>
            <p:nvGrpSpPr>
              <p:cNvPr id="40" name="Group 40"/>
              <p:cNvGrpSpPr/>
              <p:nvPr/>
            </p:nvGrpSpPr>
            <p:grpSpPr>
              <a:xfrm>
                <a:off x="842962" y="3205162"/>
                <a:ext cx="142875" cy="142875"/>
                <a:chOff x="842962" y="3205162"/>
                <a:chExt cx="142875" cy="142875"/>
              </a:xfrm>
            </p:grpSpPr>
            <p:sp>
              <p:nvSpPr>
                <p:cNvPr id="38" name="Freeform 38"/>
                <p:cNvSpPr/>
                <p:nvPr/>
              </p:nvSpPr>
              <p:spPr>
                <a:xfrm>
                  <a:off x="842962" y="3205162"/>
                  <a:ext cx="142875" cy="142875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142875" h="142875">
                      <a:moveTo>
                        <a:pt x="0" y="71438"/>
                      </a:moveTo>
                      <a:cubicBezTo>
                        <a:pt x="0" y="110891"/>
                        <a:pt x="31984" y="142875"/>
                        <a:pt x="71438" y="142875"/>
                      </a:cubicBezTo>
                      <a:cubicBezTo>
                        <a:pt x="110891" y="142875"/>
                        <a:pt x="142875" y="110891"/>
                        <a:pt x="142875" y="71438"/>
                      </a:cubicBezTo>
                      <a:cubicBezTo>
                        <a:pt x="142875" y="31984"/>
                        <a:pt x="110891" y="0"/>
                        <a:pt x="71438" y="0"/>
                      </a:cubicBezTo>
                      <a:cubicBezTo>
                        <a:pt x="31984" y="0"/>
                        <a:pt x="0" y="31984"/>
                        <a:pt x="0" y="71438"/>
                      </a:cubicBezTo>
                    </a:path>
                  </a:pathLst>
                </a:custGeom>
                <a:noFill/>
                <a:ln w="19050">
                  <a:solidFill>
                    <a:srgbClr val="1565D8"/>
                  </a:solidFill>
                </a:ln>
              </p:spPr>
              <p:txBody>
                <a:bodyPr/>
                <a:p/>
              </p:txBody>
            </p:sp>
            <p:sp>
              <p:nvSpPr>
                <p:cNvPr id="39" name="Freeform 39"/>
                <p:cNvSpPr/>
                <p:nvPr/>
              </p:nvSpPr>
              <p:spPr>
                <a:xfrm>
                  <a:off x="890588" y="3260725"/>
                  <a:ext cx="47625" cy="31750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47625" h="31750">
                      <a:moveTo>
                        <a:pt x="0" y="15875"/>
                      </a:moveTo>
                      <a:lnTo>
                        <a:pt x="15875" y="31750"/>
                      </a:lnTo>
                      <a:lnTo>
                        <a:pt x="47625" y="0"/>
                      </a:lnTo>
                    </a:path>
                  </a:pathLst>
                </a:custGeom>
                <a:noFill/>
                <a:ln w="19050">
                  <a:solidFill>
                    <a:srgbClr val="1565D8"/>
                  </a:solidFill>
                </a:ln>
              </p:spPr>
              <p:txBody>
                <a:bodyPr/>
                <a:p/>
              </p:txBody>
            </p:sp>
          </p:grpSp>
          <p:sp>
            <p:nvSpPr>
              <p:cNvPr id="41" name="TextBox 41"/>
              <p:cNvSpPr txBox="1"/>
              <p:nvPr/>
            </p:nvSpPr>
            <p:spPr>
              <a:xfrm>
                <a:off x="1167765" y="3144202"/>
                <a:ext cx="1202817" cy="21336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l"/>
                <a:r>
                  <a:rPr lang="zh-CN" sz="1050" b="1" dirty="0">
                    <a:solidFill>
                      <a:srgbClr val="2B3648"/>
                    </a:solidFill>
                    <a:latin typeface="Arial"/>
                    <a:ea typeface="Microsoft YaHei"/>
                    <a:cs typeface="Arial"/>
                  </a:rPr>
                  <a:t>能讲清知识库原理</a:t>
                </a:r>
              </a:p>
            </p:txBody>
          </p:sp>
          <p:sp>
            <p:nvSpPr>
              <p:cNvPr id="42" name="TextBox 42"/>
              <p:cNvSpPr txBox="1"/>
              <p:nvPr/>
            </p:nvSpPr>
            <p:spPr>
              <a:xfrm>
                <a:off x="1167765" y="3372802"/>
                <a:ext cx="1860899" cy="21336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l"/>
                <a:r>
                  <a:rPr lang="zh-CN" sz="1050" dirty="0">
                    <a:solidFill>
                      <a:srgbClr val="5B6B82"/>
                    </a:solidFill>
                    <a:latin typeface="Arial"/>
                    <a:ea typeface="Microsoft YaHei"/>
                    <a:cs typeface="Arial"/>
                  </a:rPr>
                  <a:t>为什么它比「野猜」更靠谱——</a:t>
                </a:r>
              </a:p>
            </p:txBody>
          </p:sp>
          <p:sp>
            <p:nvSpPr>
              <p:cNvPr id="43" name="TextBox 43"/>
              <p:cNvSpPr txBox="1"/>
              <p:nvPr/>
            </p:nvSpPr>
            <p:spPr>
              <a:xfrm>
                <a:off x="1167765" y="3582352"/>
                <a:ext cx="586740" cy="21336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l"/>
                <a:r>
                  <a:rPr lang="zh-CN" sz="1050" dirty="0">
                    <a:solidFill>
                      <a:srgbClr val="5B6B82"/>
                    </a:solidFill>
                    <a:latin typeface="Arial"/>
                    <a:ea typeface="Microsoft YaHei"/>
                    <a:cs typeface="Arial"/>
                  </a:rPr>
                  <a:t>开卷有据</a:t>
                </a:r>
              </a:p>
            </p:txBody>
          </p:sp>
        </p:grpSp>
        <p:grpSp>
          <p:nvGrpSpPr>
            <p:cNvPr id="52" name="Group 52"/>
            <p:cNvGrpSpPr/>
            <p:nvPr/>
          </p:nvGrpSpPr>
          <p:grpSpPr>
            <a:xfrm>
              <a:off x="4305300" y="2857500"/>
              <a:ext cx="3524250" cy="1123950"/>
              <a:chOff x="4305300" y="2857500"/>
              <a:chExt cx="3524250" cy="1123950"/>
            </a:xfrm>
          </p:grpSpPr>
          <p:sp>
            <p:nvSpPr>
              <p:cNvPr id="45" name="Rectangle 45"/>
              <p:cNvSpPr/>
              <p:nvPr/>
            </p:nvSpPr>
            <p:spPr>
              <a:xfrm>
                <a:off x="4305300" y="2857500"/>
                <a:ext cx="3524250" cy="1123950"/>
              </a:xfrm>
              <a:prstGeom prst="roundRect">
                <a:avLst>
                  <a:gd name="adj" fmla="val 13559"/>
                </a:avLst>
              </a:prstGeom>
              <a:solidFill>
                <a:srgbClr val="FFFFFF"/>
              </a:solidFill>
              <a:ln w="9525">
                <a:solidFill>
                  <a:srgbClr val="D8E1EC"/>
                </a:solidFill>
              </a:ln>
            </p:spPr>
            <p:txBody>
              <a:bodyPr/>
              <a:p/>
            </p:txBody>
          </p:sp>
          <p:sp>
            <p:nvSpPr>
              <p:cNvPr id="46" name="Ellipse 46"/>
              <p:cNvSpPr/>
              <p:nvPr/>
            </p:nvSpPr>
            <p:spPr>
              <a:xfrm>
                <a:off x="4495800" y="3124200"/>
                <a:ext cx="304800" cy="304800"/>
              </a:xfrm>
              <a:prstGeom prst="ellipse">
                <a:avLst/>
              </a:prstGeom>
              <a:solidFill>
                <a:srgbClr val="D6E6F9"/>
              </a:solidFill>
              <a:ln>
                <a:noFill/>
              </a:ln>
            </p:spPr>
            <p:txBody>
              <a:bodyPr/>
              <a:p/>
            </p:txBody>
          </p:sp>
          <p:grpSp>
            <p:nvGrpSpPr>
              <p:cNvPr id="49" name="Group 49"/>
              <p:cNvGrpSpPr/>
              <p:nvPr/>
            </p:nvGrpSpPr>
            <p:grpSpPr>
              <a:xfrm>
                <a:off x="4576762" y="3205162"/>
                <a:ext cx="142875" cy="142875"/>
                <a:chOff x="4576762" y="3205162"/>
                <a:chExt cx="142875" cy="142875"/>
              </a:xfrm>
            </p:grpSpPr>
            <p:sp>
              <p:nvSpPr>
                <p:cNvPr id="47" name="Freeform 47"/>
                <p:cNvSpPr/>
                <p:nvPr/>
              </p:nvSpPr>
              <p:spPr>
                <a:xfrm>
                  <a:off x="4576762" y="3205162"/>
                  <a:ext cx="142875" cy="142875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142875" h="142875">
                      <a:moveTo>
                        <a:pt x="0" y="71438"/>
                      </a:moveTo>
                      <a:cubicBezTo>
                        <a:pt x="0" y="110891"/>
                        <a:pt x="31984" y="142875"/>
                        <a:pt x="71438" y="142875"/>
                      </a:cubicBezTo>
                      <a:cubicBezTo>
                        <a:pt x="110891" y="142875"/>
                        <a:pt x="142875" y="110891"/>
                        <a:pt x="142875" y="71438"/>
                      </a:cubicBezTo>
                      <a:cubicBezTo>
                        <a:pt x="142875" y="31984"/>
                        <a:pt x="110891" y="0"/>
                        <a:pt x="71438" y="0"/>
                      </a:cubicBezTo>
                      <a:cubicBezTo>
                        <a:pt x="31984" y="0"/>
                        <a:pt x="0" y="31984"/>
                        <a:pt x="0" y="71438"/>
                      </a:cubicBezTo>
                    </a:path>
                  </a:pathLst>
                </a:custGeom>
                <a:noFill/>
                <a:ln w="19050">
                  <a:solidFill>
                    <a:srgbClr val="1565D8"/>
                  </a:solidFill>
                </a:ln>
              </p:spPr>
              <p:txBody>
                <a:bodyPr/>
                <a:p/>
              </p:txBody>
            </p:sp>
            <p:sp>
              <p:nvSpPr>
                <p:cNvPr id="48" name="Freeform 48"/>
                <p:cNvSpPr/>
                <p:nvPr/>
              </p:nvSpPr>
              <p:spPr>
                <a:xfrm>
                  <a:off x="4624388" y="3260725"/>
                  <a:ext cx="47625" cy="31750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47625" h="31750">
                      <a:moveTo>
                        <a:pt x="0" y="15875"/>
                      </a:moveTo>
                      <a:lnTo>
                        <a:pt x="15875" y="31750"/>
                      </a:lnTo>
                      <a:lnTo>
                        <a:pt x="47625" y="0"/>
                      </a:lnTo>
                    </a:path>
                  </a:pathLst>
                </a:custGeom>
                <a:noFill/>
                <a:ln w="19050">
                  <a:solidFill>
                    <a:srgbClr val="1565D8"/>
                  </a:solidFill>
                </a:ln>
              </p:spPr>
              <p:txBody>
                <a:bodyPr/>
                <a:p/>
              </p:txBody>
            </p:sp>
          </p:grpSp>
          <p:sp>
            <p:nvSpPr>
              <p:cNvPr id="50" name="TextBox 50"/>
              <p:cNvSpPr txBox="1"/>
              <p:nvPr/>
            </p:nvSpPr>
            <p:spPr>
              <a:xfrm>
                <a:off x="4901565" y="3144202"/>
                <a:ext cx="1732083" cy="21336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l"/>
                <a:r>
                  <a:rPr lang="zh-CN" sz="1050" b="1" dirty="0">
                    <a:solidFill>
                      <a:srgbClr val="2B3648"/>
                    </a:solidFill>
                    <a:latin typeface="Arial"/>
                    <a:ea typeface="Microsoft YaHei"/>
                    <a:cs typeface="Arial"/>
                  </a:rPr>
                  <a:t>会用至少 2 个常见 AI 工具</a:t>
                </a:r>
              </a:p>
            </p:txBody>
          </p:sp>
          <p:sp>
            <p:nvSpPr>
              <p:cNvPr id="51" name="TextBox 51"/>
              <p:cNvSpPr txBox="1"/>
              <p:nvPr/>
            </p:nvSpPr>
            <p:spPr>
              <a:xfrm>
                <a:off x="4901565" y="3372802"/>
                <a:ext cx="1748885" cy="21336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l"/>
                <a:r>
                  <a:rPr lang="zh-CN" sz="1050" dirty="0">
                    <a:solidFill>
                      <a:srgbClr val="5B6B82"/>
                    </a:solidFill>
                    <a:latin typeface="Arial"/>
                    <a:ea typeface="Microsoft YaHei"/>
                    <a:cs typeface="Arial"/>
                  </a:rPr>
                  <a:t>并完成 1 个办公实战任务</a:t>
                </a:r>
              </a:p>
            </p:txBody>
          </p:sp>
        </p:grpSp>
        <p:grpSp>
          <p:nvGrpSpPr>
            <p:cNvPr id="60" name="Group 60"/>
            <p:cNvGrpSpPr/>
            <p:nvPr/>
          </p:nvGrpSpPr>
          <p:grpSpPr>
            <a:xfrm>
              <a:off x="8039100" y="2857500"/>
              <a:ext cx="3524250" cy="1123950"/>
              <a:chOff x="8039100" y="2857500"/>
              <a:chExt cx="3524250" cy="1123950"/>
            </a:xfrm>
          </p:grpSpPr>
          <p:sp>
            <p:nvSpPr>
              <p:cNvPr id="53" name="Rectangle 53"/>
              <p:cNvSpPr/>
              <p:nvPr/>
            </p:nvSpPr>
            <p:spPr>
              <a:xfrm>
                <a:off x="8039100" y="2857500"/>
                <a:ext cx="3524250" cy="1123950"/>
              </a:xfrm>
              <a:prstGeom prst="roundRect">
                <a:avLst>
                  <a:gd name="adj" fmla="val 13559"/>
                </a:avLst>
              </a:prstGeom>
              <a:solidFill>
                <a:srgbClr val="FFFFFF"/>
              </a:solidFill>
              <a:ln w="9525">
                <a:solidFill>
                  <a:srgbClr val="D8E1EC"/>
                </a:solidFill>
              </a:ln>
            </p:spPr>
            <p:txBody>
              <a:bodyPr/>
              <a:p/>
            </p:txBody>
          </p:sp>
          <p:sp>
            <p:nvSpPr>
              <p:cNvPr id="54" name="Ellipse 54"/>
              <p:cNvSpPr/>
              <p:nvPr/>
            </p:nvSpPr>
            <p:spPr>
              <a:xfrm>
                <a:off x="8229600" y="3124200"/>
                <a:ext cx="304800" cy="304800"/>
              </a:xfrm>
              <a:prstGeom prst="ellipse">
                <a:avLst/>
              </a:prstGeom>
              <a:solidFill>
                <a:srgbClr val="D6E6F9"/>
              </a:solidFill>
              <a:ln>
                <a:noFill/>
              </a:ln>
            </p:spPr>
            <p:txBody>
              <a:bodyPr/>
              <a:p/>
            </p:txBody>
          </p:sp>
          <p:grpSp>
            <p:nvGrpSpPr>
              <p:cNvPr id="57" name="Group 57"/>
              <p:cNvGrpSpPr/>
              <p:nvPr/>
            </p:nvGrpSpPr>
            <p:grpSpPr>
              <a:xfrm>
                <a:off x="8310562" y="3205162"/>
                <a:ext cx="142875" cy="142875"/>
                <a:chOff x="8310562" y="3205162"/>
                <a:chExt cx="142875" cy="142875"/>
              </a:xfrm>
            </p:grpSpPr>
            <p:sp>
              <p:nvSpPr>
                <p:cNvPr id="55" name="Freeform 55"/>
                <p:cNvSpPr/>
                <p:nvPr/>
              </p:nvSpPr>
              <p:spPr>
                <a:xfrm>
                  <a:off x="8310562" y="3205162"/>
                  <a:ext cx="142875" cy="142875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142875" h="142875">
                      <a:moveTo>
                        <a:pt x="0" y="71438"/>
                      </a:moveTo>
                      <a:cubicBezTo>
                        <a:pt x="0" y="110891"/>
                        <a:pt x="31984" y="142875"/>
                        <a:pt x="71438" y="142875"/>
                      </a:cubicBezTo>
                      <a:cubicBezTo>
                        <a:pt x="110891" y="142875"/>
                        <a:pt x="142875" y="110891"/>
                        <a:pt x="142875" y="71438"/>
                      </a:cubicBezTo>
                      <a:cubicBezTo>
                        <a:pt x="142875" y="31984"/>
                        <a:pt x="110891" y="0"/>
                        <a:pt x="71438" y="0"/>
                      </a:cubicBezTo>
                      <a:cubicBezTo>
                        <a:pt x="31984" y="0"/>
                        <a:pt x="0" y="31984"/>
                        <a:pt x="0" y="71438"/>
                      </a:cubicBezTo>
                    </a:path>
                  </a:pathLst>
                </a:custGeom>
                <a:noFill/>
                <a:ln w="19050">
                  <a:solidFill>
                    <a:srgbClr val="1565D8"/>
                  </a:solidFill>
                </a:ln>
              </p:spPr>
              <p:txBody>
                <a:bodyPr/>
                <a:p/>
              </p:txBody>
            </p:sp>
            <p:sp>
              <p:nvSpPr>
                <p:cNvPr id="56" name="Freeform 56"/>
                <p:cNvSpPr/>
                <p:nvPr/>
              </p:nvSpPr>
              <p:spPr>
                <a:xfrm>
                  <a:off x="8358188" y="3260725"/>
                  <a:ext cx="47625" cy="31750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47625" h="31750">
                      <a:moveTo>
                        <a:pt x="0" y="15875"/>
                      </a:moveTo>
                      <a:lnTo>
                        <a:pt x="15875" y="31750"/>
                      </a:lnTo>
                      <a:lnTo>
                        <a:pt x="47625" y="0"/>
                      </a:lnTo>
                    </a:path>
                  </a:pathLst>
                </a:custGeom>
                <a:noFill/>
                <a:ln w="19050">
                  <a:solidFill>
                    <a:srgbClr val="1565D8"/>
                  </a:solidFill>
                </a:ln>
              </p:spPr>
              <p:txBody>
                <a:bodyPr/>
                <a:p/>
              </p:txBody>
            </p:sp>
          </p:grpSp>
          <p:sp>
            <p:nvSpPr>
              <p:cNvPr id="58" name="TextBox 58"/>
              <p:cNvSpPr txBox="1"/>
              <p:nvPr/>
            </p:nvSpPr>
            <p:spPr>
              <a:xfrm>
                <a:off x="8635365" y="3144202"/>
                <a:ext cx="1415994" cy="21336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l"/>
                <a:r>
                  <a:rPr lang="zh-CN" sz="1050" b="1" dirty="0">
                    <a:solidFill>
                      <a:srgbClr val="2B3648"/>
                    </a:solidFill>
                    <a:latin typeface="Arial"/>
                    <a:ea typeface="Microsoft YaHei"/>
                    <a:cs typeface="Arial"/>
                  </a:rPr>
                  <a:t>能给 AI 工作助理派活</a:t>
                </a:r>
              </a:p>
            </p:txBody>
          </p:sp>
          <p:sp>
            <p:nvSpPr>
              <p:cNvPr id="59" name="TextBox 59"/>
              <p:cNvSpPr txBox="1"/>
              <p:nvPr/>
            </p:nvSpPr>
            <p:spPr>
              <a:xfrm>
                <a:off x="8635365" y="3372802"/>
                <a:ext cx="2189940" cy="21336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l"/>
                <a:r>
                  <a:rPr lang="zh-CN" sz="1050" dirty="0">
                    <a:solidFill>
                      <a:srgbClr val="5B6B82"/>
                    </a:solidFill>
                    <a:latin typeface="Arial"/>
                    <a:ea typeface="Microsoft YaHei"/>
                    <a:cs typeface="Arial"/>
                  </a:rPr>
                  <a:t>（如 WorkBuddy）并验收它的交付</a:t>
                </a:r>
              </a:p>
            </p:txBody>
          </p:sp>
        </p:grpSp>
        <p:grpSp>
          <p:nvGrpSpPr>
            <p:cNvPr id="68" name="Group 68"/>
            <p:cNvGrpSpPr/>
            <p:nvPr/>
          </p:nvGrpSpPr>
          <p:grpSpPr>
            <a:xfrm>
              <a:off x="571500" y="4095750"/>
              <a:ext cx="3524250" cy="1123950"/>
              <a:chOff x="571500" y="4095750"/>
              <a:chExt cx="3524250" cy="1123950"/>
            </a:xfrm>
          </p:grpSpPr>
          <p:sp>
            <p:nvSpPr>
              <p:cNvPr id="61" name="Rectangle 61"/>
              <p:cNvSpPr/>
              <p:nvPr/>
            </p:nvSpPr>
            <p:spPr>
              <a:xfrm>
                <a:off x="571500" y="4095750"/>
                <a:ext cx="3524250" cy="1123950"/>
              </a:xfrm>
              <a:prstGeom prst="roundRect">
                <a:avLst>
                  <a:gd name="adj" fmla="val 13559"/>
                </a:avLst>
              </a:prstGeom>
              <a:solidFill>
                <a:srgbClr val="FFFFFF"/>
              </a:solidFill>
              <a:ln w="9525">
                <a:solidFill>
                  <a:srgbClr val="D8E1EC"/>
                </a:solidFill>
              </a:ln>
            </p:spPr>
            <p:txBody>
              <a:bodyPr/>
              <a:p/>
            </p:txBody>
          </p:sp>
          <p:sp>
            <p:nvSpPr>
              <p:cNvPr id="62" name="Ellipse 62"/>
              <p:cNvSpPr/>
              <p:nvPr/>
            </p:nvSpPr>
            <p:spPr>
              <a:xfrm>
                <a:off x="762000" y="4362450"/>
                <a:ext cx="304800" cy="304800"/>
              </a:xfrm>
              <a:prstGeom prst="ellipse">
                <a:avLst/>
              </a:prstGeom>
              <a:solidFill>
                <a:srgbClr val="D6E6F9"/>
              </a:solidFill>
              <a:ln>
                <a:noFill/>
              </a:ln>
            </p:spPr>
            <p:txBody>
              <a:bodyPr/>
              <a:p/>
            </p:txBody>
          </p:sp>
          <p:grpSp>
            <p:nvGrpSpPr>
              <p:cNvPr id="65" name="Group 65"/>
              <p:cNvGrpSpPr/>
              <p:nvPr/>
            </p:nvGrpSpPr>
            <p:grpSpPr>
              <a:xfrm>
                <a:off x="842962" y="4443412"/>
                <a:ext cx="142875" cy="142875"/>
                <a:chOff x="842962" y="4443412"/>
                <a:chExt cx="142875" cy="142875"/>
              </a:xfrm>
            </p:grpSpPr>
            <p:sp>
              <p:nvSpPr>
                <p:cNvPr id="63" name="Freeform 63"/>
                <p:cNvSpPr/>
                <p:nvPr/>
              </p:nvSpPr>
              <p:spPr>
                <a:xfrm>
                  <a:off x="842962" y="4443412"/>
                  <a:ext cx="142875" cy="142875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142875" h="142875">
                      <a:moveTo>
                        <a:pt x="0" y="71438"/>
                      </a:moveTo>
                      <a:cubicBezTo>
                        <a:pt x="0" y="110891"/>
                        <a:pt x="31984" y="142875"/>
                        <a:pt x="71438" y="142875"/>
                      </a:cubicBezTo>
                      <a:cubicBezTo>
                        <a:pt x="110891" y="142875"/>
                        <a:pt x="142875" y="110891"/>
                        <a:pt x="142875" y="71438"/>
                      </a:cubicBezTo>
                      <a:cubicBezTo>
                        <a:pt x="142875" y="31984"/>
                        <a:pt x="110891" y="0"/>
                        <a:pt x="71438" y="0"/>
                      </a:cubicBezTo>
                      <a:cubicBezTo>
                        <a:pt x="31984" y="0"/>
                        <a:pt x="0" y="31984"/>
                        <a:pt x="0" y="71438"/>
                      </a:cubicBezTo>
                    </a:path>
                  </a:pathLst>
                </a:custGeom>
                <a:noFill/>
                <a:ln w="19050">
                  <a:solidFill>
                    <a:srgbClr val="1565D8"/>
                  </a:solidFill>
                </a:ln>
              </p:spPr>
              <p:txBody>
                <a:bodyPr/>
                <a:p/>
              </p:txBody>
            </p:sp>
            <p:sp>
              <p:nvSpPr>
                <p:cNvPr id="64" name="Freeform 64"/>
                <p:cNvSpPr/>
                <p:nvPr/>
              </p:nvSpPr>
              <p:spPr>
                <a:xfrm>
                  <a:off x="890588" y="4498975"/>
                  <a:ext cx="47625" cy="31750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47625" h="31750">
                      <a:moveTo>
                        <a:pt x="0" y="15875"/>
                      </a:moveTo>
                      <a:lnTo>
                        <a:pt x="15875" y="31750"/>
                      </a:lnTo>
                      <a:lnTo>
                        <a:pt x="47625" y="0"/>
                      </a:lnTo>
                    </a:path>
                  </a:pathLst>
                </a:custGeom>
                <a:noFill/>
                <a:ln w="19050">
                  <a:solidFill>
                    <a:srgbClr val="1565D8"/>
                  </a:solidFill>
                </a:ln>
              </p:spPr>
              <p:txBody>
                <a:bodyPr/>
                <a:p/>
              </p:txBody>
            </p:sp>
          </p:grpSp>
          <p:sp>
            <p:nvSpPr>
              <p:cNvPr id="66" name="TextBox 66"/>
              <p:cNvSpPr txBox="1"/>
              <p:nvPr/>
            </p:nvSpPr>
            <p:spPr>
              <a:xfrm>
                <a:off x="1167765" y="4382452"/>
                <a:ext cx="1055799" cy="21336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l"/>
                <a:r>
                  <a:rPr lang="zh-CN" sz="1050" b="1" dirty="0">
                    <a:solidFill>
                      <a:srgbClr val="2B3648"/>
                    </a:solidFill>
                    <a:latin typeface="Arial"/>
                    <a:ea typeface="Microsoft YaHei"/>
                    <a:cs typeface="Arial"/>
                  </a:rPr>
                  <a:t>数据红线守得住</a:t>
                </a:r>
              </a:p>
            </p:txBody>
          </p:sp>
          <p:sp>
            <p:nvSpPr>
              <p:cNvPr id="67" name="TextBox 67"/>
              <p:cNvSpPr txBox="1"/>
              <p:nvPr/>
            </p:nvSpPr>
            <p:spPr>
              <a:xfrm>
                <a:off x="1167765" y="4611052"/>
                <a:ext cx="1986915" cy="21336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l"/>
                <a:r>
                  <a:rPr lang="zh-CN" sz="1050" dirty="0">
                    <a:solidFill>
                      <a:srgbClr val="5B6B82"/>
                    </a:solidFill>
                    <a:latin typeface="Arial"/>
                    <a:ea typeface="Microsoft YaHei"/>
                    <a:cs typeface="Arial"/>
                  </a:rPr>
                  <a:t>知道什么能喂、什么绝对不能喂</a:t>
                </a:r>
              </a:p>
            </p:txBody>
          </p:sp>
        </p:grpSp>
        <p:grpSp>
          <p:nvGrpSpPr>
            <p:cNvPr id="76" name="Group 76"/>
            <p:cNvGrpSpPr/>
            <p:nvPr/>
          </p:nvGrpSpPr>
          <p:grpSpPr>
            <a:xfrm>
              <a:off x="4305300" y="4095750"/>
              <a:ext cx="3524250" cy="1123950"/>
              <a:chOff x="4305300" y="4095750"/>
              <a:chExt cx="3524250" cy="1123950"/>
            </a:xfrm>
          </p:grpSpPr>
          <p:sp>
            <p:nvSpPr>
              <p:cNvPr id="69" name="Rectangle 69"/>
              <p:cNvSpPr/>
              <p:nvPr/>
            </p:nvSpPr>
            <p:spPr>
              <a:xfrm>
                <a:off x="4305300" y="4095750"/>
                <a:ext cx="3524250" cy="1123950"/>
              </a:xfrm>
              <a:prstGeom prst="roundRect">
                <a:avLst>
                  <a:gd name="adj" fmla="val 13559"/>
                </a:avLst>
              </a:prstGeom>
              <a:solidFill>
                <a:srgbClr val="FFFFFF"/>
              </a:solidFill>
              <a:ln w="9525">
                <a:solidFill>
                  <a:srgbClr val="D8E1EC"/>
                </a:solidFill>
              </a:ln>
            </p:spPr>
            <p:txBody>
              <a:bodyPr/>
              <a:p/>
            </p:txBody>
          </p:sp>
          <p:sp>
            <p:nvSpPr>
              <p:cNvPr id="70" name="Ellipse 70"/>
              <p:cNvSpPr/>
              <p:nvPr/>
            </p:nvSpPr>
            <p:spPr>
              <a:xfrm>
                <a:off x="4495800" y="4362450"/>
                <a:ext cx="304800" cy="304800"/>
              </a:xfrm>
              <a:prstGeom prst="ellipse">
                <a:avLst/>
              </a:prstGeom>
              <a:solidFill>
                <a:srgbClr val="D6E6F9"/>
              </a:solidFill>
              <a:ln>
                <a:noFill/>
              </a:ln>
            </p:spPr>
            <p:txBody>
              <a:bodyPr/>
              <a:p/>
            </p:txBody>
          </p:sp>
          <p:grpSp>
            <p:nvGrpSpPr>
              <p:cNvPr id="73" name="Group 73"/>
              <p:cNvGrpSpPr/>
              <p:nvPr/>
            </p:nvGrpSpPr>
            <p:grpSpPr>
              <a:xfrm>
                <a:off x="4576762" y="4443412"/>
                <a:ext cx="142875" cy="142875"/>
                <a:chOff x="4576762" y="4443412"/>
                <a:chExt cx="142875" cy="142875"/>
              </a:xfrm>
            </p:grpSpPr>
            <p:sp>
              <p:nvSpPr>
                <p:cNvPr id="71" name="Freeform 71"/>
                <p:cNvSpPr/>
                <p:nvPr/>
              </p:nvSpPr>
              <p:spPr>
                <a:xfrm>
                  <a:off x="4576762" y="4443412"/>
                  <a:ext cx="142875" cy="142875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142875" h="142875">
                      <a:moveTo>
                        <a:pt x="0" y="71438"/>
                      </a:moveTo>
                      <a:cubicBezTo>
                        <a:pt x="0" y="110891"/>
                        <a:pt x="31984" y="142875"/>
                        <a:pt x="71438" y="142875"/>
                      </a:cubicBezTo>
                      <a:cubicBezTo>
                        <a:pt x="110891" y="142875"/>
                        <a:pt x="142875" y="110891"/>
                        <a:pt x="142875" y="71438"/>
                      </a:cubicBezTo>
                      <a:cubicBezTo>
                        <a:pt x="142875" y="31984"/>
                        <a:pt x="110891" y="0"/>
                        <a:pt x="71438" y="0"/>
                      </a:cubicBezTo>
                      <a:cubicBezTo>
                        <a:pt x="31984" y="0"/>
                        <a:pt x="0" y="31984"/>
                        <a:pt x="0" y="71438"/>
                      </a:cubicBezTo>
                    </a:path>
                  </a:pathLst>
                </a:custGeom>
                <a:noFill/>
                <a:ln w="19050">
                  <a:solidFill>
                    <a:srgbClr val="1565D8"/>
                  </a:solidFill>
                </a:ln>
              </p:spPr>
              <p:txBody>
                <a:bodyPr/>
                <a:p/>
              </p:txBody>
            </p:sp>
            <p:sp>
              <p:nvSpPr>
                <p:cNvPr id="72" name="Freeform 72"/>
                <p:cNvSpPr/>
                <p:nvPr/>
              </p:nvSpPr>
              <p:spPr>
                <a:xfrm>
                  <a:off x="4624388" y="4498975"/>
                  <a:ext cx="47625" cy="31750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47625" h="31750">
                      <a:moveTo>
                        <a:pt x="0" y="15875"/>
                      </a:moveTo>
                      <a:lnTo>
                        <a:pt x="15875" y="31750"/>
                      </a:lnTo>
                      <a:lnTo>
                        <a:pt x="47625" y="0"/>
                      </a:lnTo>
                    </a:path>
                  </a:pathLst>
                </a:custGeom>
                <a:noFill/>
                <a:ln w="19050">
                  <a:solidFill>
                    <a:srgbClr val="1565D8"/>
                  </a:solidFill>
                </a:ln>
              </p:spPr>
              <p:txBody>
                <a:bodyPr/>
                <a:p/>
              </p:txBody>
            </p:sp>
          </p:grpSp>
          <p:sp>
            <p:nvSpPr>
              <p:cNvPr id="74" name="TextBox 74"/>
              <p:cNvSpPr txBox="1"/>
              <p:nvPr/>
            </p:nvSpPr>
            <p:spPr>
              <a:xfrm>
                <a:off x="4901565" y="4382452"/>
                <a:ext cx="1518907" cy="21336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l"/>
                <a:r>
                  <a:rPr lang="zh-CN" sz="1050" b="1" dirty="0">
                    <a:solidFill>
                      <a:srgbClr val="2B3648"/>
                    </a:solidFill>
                    <a:latin typeface="Arial"/>
                    <a:ea typeface="Microsoft YaHei"/>
                    <a:cs typeface="Arial"/>
                  </a:rPr>
                  <a:t>能落地 1 个「小场景」</a:t>
                </a:r>
              </a:p>
            </p:txBody>
          </p:sp>
          <p:sp>
            <p:nvSpPr>
              <p:cNvPr id="75" name="TextBox 75"/>
              <p:cNvSpPr txBox="1"/>
              <p:nvPr/>
            </p:nvSpPr>
            <p:spPr>
              <a:xfrm>
                <a:off x="4901565" y="4611052"/>
                <a:ext cx="2028920" cy="21336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l"/>
                <a:r>
                  <a:rPr lang="zh-CN" sz="1050" dirty="0">
                    <a:solidFill>
                      <a:srgbClr val="5B6B82"/>
                    </a:solidFill>
                    <a:latin typeface="Arial"/>
                    <a:ea typeface="Microsoft YaHei"/>
                    <a:cs typeface="Arial"/>
                  </a:rPr>
                  <a:t>在自己岗位上：AI 初稿 + 人终审</a:t>
                </a:r>
              </a:p>
            </p:txBody>
          </p:sp>
        </p:grpSp>
        <p:grpSp>
          <p:nvGrpSpPr>
            <p:cNvPr id="84" name="Group 84"/>
            <p:cNvGrpSpPr/>
            <p:nvPr/>
          </p:nvGrpSpPr>
          <p:grpSpPr>
            <a:xfrm>
              <a:off x="8039100" y="4095750"/>
              <a:ext cx="3524250" cy="1123950"/>
              <a:chOff x="8039100" y="4095750"/>
              <a:chExt cx="3524250" cy="1123950"/>
            </a:xfrm>
          </p:grpSpPr>
          <p:sp>
            <p:nvSpPr>
              <p:cNvPr id="77" name="Rectangle 77"/>
              <p:cNvSpPr/>
              <p:nvPr/>
            </p:nvSpPr>
            <p:spPr>
              <a:xfrm>
                <a:off x="8039100" y="4095750"/>
                <a:ext cx="3524250" cy="1123950"/>
              </a:xfrm>
              <a:prstGeom prst="roundRect">
                <a:avLst>
                  <a:gd name="adj" fmla="val 13559"/>
                </a:avLst>
              </a:prstGeom>
              <a:solidFill>
                <a:srgbClr val="FFFFFF"/>
              </a:solidFill>
              <a:ln w="9525">
                <a:solidFill>
                  <a:srgbClr val="D8E1EC"/>
                </a:solidFill>
              </a:ln>
            </p:spPr>
            <p:txBody>
              <a:bodyPr/>
              <a:p/>
            </p:txBody>
          </p:sp>
          <p:sp>
            <p:nvSpPr>
              <p:cNvPr id="78" name="Ellipse 78"/>
              <p:cNvSpPr/>
              <p:nvPr/>
            </p:nvSpPr>
            <p:spPr>
              <a:xfrm>
                <a:off x="8229600" y="4362450"/>
                <a:ext cx="304800" cy="304800"/>
              </a:xfrm>
              <a:prstGeom prst="ellipse">
                <a:avLst/>
              </a:prstGeom>
              <a:solidFill>
                <a:srgbClr val="D6E6F9"/>
              </a:solidFill>
              <a:ln>
                <a:noFill/>
              </a:ln>
            </p:spPr>
            <p:txBody>
              <a:bodyPr/>
              <a:p/>
            </p:txBody>
          </p:sp>
          <p:grpSp>
            <p:nvGrpSpPr>
              <p:cNvPr id="81" name="Group 81"/>
              <p:cNvGrpSpPr/>
              <p:nvPr/>
            </p:nvGrpSpPr>
            <p:grpSpPr>
              <a:xfrm>
                <a:off x="8310562" y="4443412"/>
                <a:ext cx="142875" cy="142875"/>
                <a:chOff x="8310562" y="4443412"/>
                <a:chExt cx="142875" cy="142875"/>
              </a:xfrm>
            </p:grpSpPr>
            <p:sp>
              <p:nvSpPr>
                <p:cNvPr id="79" name="Freeform 79"/>
                <p:cNvSpPr/>
                <p:nvPr/>
              </p:nvSpPr>
              <p:spPr>
                <a:xfrm>
                  <a:off x="8310562" y="4443412"/>
                  <a:ext cx="142875" cy="142875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142875" h="142875">
                      <a:moveTo>
                        <a:pt x="0" y="71438"/>
                      </a:moveTo>
                      <a:cubicBezTo>
                        <a:pt x="0" y="110891"/>
                        <a:pt x="31984" y="142875"/>
                        <a:pt x="71438" y="142875"/>
                      </a:cubicBezTo>
                      <a:cubicBezTo>
                        <a:pt x="110891" y="142875"/>
                        <a:pt x="142875" y="110891"/>
                        <a:pt x="142875" y="71438"/>
                      </a:cubicBezTo>
                      <a:cubicBezTo>
                        <a:pt x="142875" y="31984"/>
                        <a:pt x="110891" y="0"/>
                        <a:pt x="71438" y="0"/>
                      </a:cubicBezTo>
                      <a:cubicBezTo>
                        <a:pt x="31984" y="0"/>
                        <a:pt x="0" y="31984"/>
                        <a:pt x="0" y="71438"/>
                      </a:cubicBezTo>
                    </a:path>
                  </a:pathLst>
                </a:custGeom>
                <a:noFill/>
                <a:ln w="19050">
                  <a:solidFill>
                    <a:srgbClr val="1565D8"/>
                  </a:solidFill>
                </a:ln>
              </p:spPr>
              <p:txBody>
                <a:bodyPr/>
                <a:p/>
              </p:txBody>
            </p:sp>
            <p:sp>
              <p:nvSpPr>
                <p:cNvPr id="80" name="Freeform 80"/>
                <p:cNvSpPr/>
                <p:nvPr/>
              </p:nvSpPr>
              <p:spPr>
                <a:xfrm>
                  <a:off x="8358188" y="4498975"/>
                  <a:ext cx="47625" cy="31750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47625" h="31750">
                      <a:moveTo>
                        <a:pt x="0" y="15875"/>
                      </a:moveTo>
                      <a:lnTo>
                        <a:pt x="15875" y="31750"/>
                      </a:lnTo>
                      <a:lnTo>
                        <a:pt x="47625" y="0"/>
                      </a:lnTo>
                    </a:path>
                  </a:pathLst>
                </a:custGeom>
                <a:noFill/>
                <a:ln w="19050">
                  <a:solidFill>
                    <a:srgbClr val="1565D8"/>
                  </a:solidFill>
                </a:ln>
              </p:spPr>
              <p:txBody>
                <a:bodyPr/>
                <a:p/>
              </p:txBody>
            </p:sp>
          </p:grpSp>
          <p:sp>
            <p:nvSpPr>
              <p:cNvPr id="82" name="TextBox 82"/>
              <p:cNvSpPr txBox="1"/>
              <p:nvPr/>
            </p:nvSpPr>
            <p:spPr>
              <a:xfrm>
                <a:off x="8635365" y="4382452"/>
                <a:ext cx="1055799" cy="21336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l"/>
                <a:r>
                  <a:rPr lang="zh-CN" sz="1050" b="1" dirty="0">
                    <a:solidFill>
                      <a:srgbClr val="2B3648"/>
                    </a:solidFill>
                    <a:latin typeface="Arial"/>
                    <a:ea typeface="Microsoft YaHei"/>
                    <a:cs typeface="Arial"/>
                  </a:rPr>
                  <a:t>敢追问、会追问</a:t>
                </a:r>
              </a:p>
            </p:txBody>
          </p:sp>
          <p:sp>
            <p:nvSpPr>
              <p:cNvPr id="83" name="TextBox 83"/>
              <p:cNvSpPr txBox="1"/>
              <p:nvPr/>
            </p:nvSpPr>
            <p:spPr>
              <a:xfrm>
                <a:off x="8635365" y="4611052"/>
                <a:ext cx="1069800" cy="21336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l"/>
                <a:r>
                  <a:rPr lang="zh-CN" sz="1050" dirty="0">
                    <a:solidFill>
                      <a:srgbClr val="5B6B82"/>
                    </a:solidFill>
                    <a:latin typeface="Arial"/>
                    <a:ea typeface="Microsoft YaHei"/>
                    <a:cs typeface="Arial"/>
                  </a:rPr>
                  <a:t>不盲信 AI 的答案</a:t>
                </a:r>
              </a:p>
            </p:txBody>
          </p:sp>
        </p:grpSp>
      </p:grpSp>
      <p:grpSp>
        <p:nvGrpSpPr>
          <p:cNvPr id="89" name="Group 89"/>
          <p:cNvGrpSpPr/>
          <p:nvPr/>
        </p:nvGrpSpPr>
        <p:grpSpPr>
          <a:xfrm>
            <a:off x="571500" y="5486400"/>
            <a:ext cx="11049000" cy="457200"/>
            <a:chOff x="571500" y="5486400"/>
            <a:chExt cx="11049000" cy="457200"/>
          </a:xfrm>
        </p:grpSpPr>
        <p:sp>
          <p:nvSpPr>
            <p:cNvPr id="86" name="Rectangle 86"/>
            <p:cNvSpPr/>
            <p:nvPr/>
          </p:nvSpPr>
          <p:spPr>
            <a:xfrm>
              <a:off x="571500" y="5486400"/>
              <a:ext cx="11049000" cy="457200"/>
            </a:xfrm>
            <a:prstGeom prst="roundRect">
              <a:avLst>
                <a:gd name="adj" fmla="val 33333"/>
              </a:avLst>
            </a:prstGeom>
            <a:solidFill>
              <a:srgbClr val="D6E6F9"/>
            </a:solidFill>
            <a:ln>
              <a:noFill/>
            </a:ln>
          </p:spPr>
          <p:txBody>
            <a:bodyPr/>
            <a:p/>
          </p:txBody>
        </p:sp>
        <p:sp>
          <p:nvSpPr>
            <p:cNvPr id="87" name="Rectangle 87"/>
            <p:cNvSpPr/>
            <p:nvPr/>
          </p:nvSpPr>
          <p:spPr>
            <a:xfrm>
              <a:off x="571500" y="5486400"/>
              <a:ext cx="76200" cy="457200"/>
            </a:xfrm>
            <a:prstGeom prst="roundRect">
              <a:avLst>
                <a:gd name="adj" fmla="val 50000"/>
              </a:avLst>
            </a:prstGeom>
            <a:solidFill>
              <a:srgbClr val="1565D8"/>
            </a:solidFill>
            <a:ln>
              <a:noFill/>
            </a:ln>
          </p:spPr>
          <p:txBody>
            <a:bodyPr/>
            <a:p/>
          </p:txBody>
        </p:sp>
        <p:sp>
          <p:nvSpPr>
            <p:cNvPr id="88" name="TextBox 88"/>
            <p:cNvSpPr txBox="1"/>
            <p:nvPr/>
          </p:nvSpPr>
          <p:spPr>
            <a:xfrm>
              <a:off x="859155" y="5635942"/>
              <a:ext cx="5081221" cy="27432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b="1" dirty="0">
                  <a:solidFill>
                    <a:srgbClr val="0B4EA2"/>
                  </a:solidFill>
                  <a:latin typeface="Arial"/>
                  <a:ea typeface="Microsoft YaHei"/>
                  <a:cs typeface="Arial"/>
                </a:rPr>
                <a:t>全部打勾，就是团队里「会用 AI 的人」—— 9 条全过，结课。</a:t>
              </a:r>
            </a:p>
          </p:txBody>
        </p:sp>
      </p:grpSp>
      <p:grpSp>
        <p:nvGrpSpPr>
          <p:cNvPr id="92" name="Group 92"/>
          <p:cNvGrpSpPr/>
          <p:nvPr/>
        </p:nvGrpSpPr>
        <p:grpSpPr>
          <a:xfrm>
            <a:off x="560070" y="6341745"/>
            <a:ext cx="11071860" cy="182880"/>
            <a:chOff x="560070" y="6341745"/>
            <a:chExt cx="11071860" cy="182880"/>
          </a:xfrm>
        </p:grpSpPr>
        <p:sp>
          <p:nvSpPr>
            <p:cNvPr id="90" name="TextBox 90"/>
            <p:cNvSpPr txBox="1"/>
            <p:nvPr/>
          </p:nvSpPr>
          <p:spPr>
            <a:xfrm>
              <a:off x="560070" y="6341745"/>
              <a:ext cx="1054989" cy="18288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00" dirty="0">
                  <a:solidFill>
                    <a:srgbClr val="8B99AE"/>
                  </a:solidFill>
                  <a:latin typeface="Arial"/>
                  <a:ea typeface="Microsoft YaHei"/>
                  <a:cs typeface="Arial"/>
                </a:rPr>
                <a:t>大模型通识 · 企业版</a:t>
              </a:r>
            </a:p>
          </p:txBody>
        </p:sp>
        <p:sp>
          <p:nvSpPr>
            <p:cNvPr id="91" name="TextBox 91"/>
            <p:cNvSpPr txBox="1"/>
            <p:nvPr/>
          </p:nvSpPr>
          <p:spPr>
            <a:xfrm>
              <a:off x="11207020" y="6341745"/>
              <a:ext cx="424910" cy="18288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r"/>
              <a:r>
                <a:rPr lang="zh-CN" sz="900" dirty="0">
                  <a:solidFill>
                    <a:srgbClr val="8B99AE"/>
                  </a:solidFill>
                  <a:latin typeface="Arial"/>
                  <a:ea typeface="Microsoft YaHei"/>
                  <a:cs typeface="Arial"/>
                </a:rPr>
                <a:t>50 / 51</a:t>
              </a:r>
            </a:p>
          </p:txBody>
        </p:sp>
      </p:grpSp>
    </p:spTree>
  </p:cSld>
  <p:clrMapOvr>
    <a:masterClrMapping/>
  </p:clrMapOvr>
  <p:transition xmlns:p14="http://schemas.microsoft.com/office/powerpoint/2010/main" p14:dur="400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00"/>
                                        <p:tgtEl>
                                          <p:spTgt spid="8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900"/>
                            </p:stCondLst>
                            <p:childTnLst>
                              <p:par>
                                <p:cTn id="9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" dur="400"/>
                                        <p:tgtEl>
                                          <p:spTgt spid="8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5" grpId="0"/>
      <p:bldP spid="89" grpId="0"/>
    </p:bldLst>
  </p:timing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0" name="Group 10"/>
          <p:cNvGrpSpPr/>
          <p:nvPr/>
        </p:nvGrpSpPr>
        <p:grpSpPr>
          <a:xfrm>
            <a:off x="-666750" y="-1333500"/>
            <a:ext cx="14763750" cy="10096500"/>
            <a:chOff x="-666750" y="-1333500"/>
            <a:chExt cx="14763750" cy="10096500"/>
          </a:xfrm>
        </p:grpSpPr>
        <p:sp>
          <p:nvSpPr>
            <p:cNvPr id="2" name="Rectangle 2"/>
            <p:cNvSpPr/>
            <p:nvPr/>
          </p:nvSpPr>
          <p:spPr>
            <a:xfrm>
              <a:off x="0" y="0"/>
              <a:ext cx="12192000" cy="6858000"/>
            </a:xfrm>
            <a:prstGeom prst="rect">
              <a:avLst/>
            </a:prstGeom>
            <a:gradFill>
              <a:gsLst>
                <a:gs pos="0">
                  <a:srgbClr val="0B4EA2"/>
                </a:gs>
                <a:gs pos="55000">
                  <a:srgbClr val="1565D8"/>
                </a:gs>
                <a:gs pos="100000">
                  <a:srgbClr val="35A3E8"/>
                </a:gs>
              </a:gsLst>
              <a:lin ang="2700000" scaled="1"/>
            </a:gradFill>
            <a:ln>
              <a:noFill/>
            </a:ln>
          </p:spPr>
          <p:txBody>
            <a:bodyPr/>
            <a:p/>
          </p:txBody>
        </p:sp>
        <p:sp>
          <p:nvSpPr>
            <p:cNvPr id="3" name="Ellipse 3"/>
            <p:cNvSpPr/>
            <p:nvPr/>
          </p:nvSpPr>
          <p:spPr>
            <a:xfrm>
              <a:off x="8382000" y="3048000"/>
              <a:ext cx="5715000" cy="5715000"/>
            </a:xfrm>
            <a:prstGeom prst="ellipse">
              <a:avLst/>
            </a:prstGeom>
            <a:noFill/>
            <a:ln w="14288">
              <a:solidFill>
                <a:srgbClr val="FFFFFF">
                  <a:alpha val="10000"/>
                </a:srgbClr>
              </a:solidFill>
            </a:ln>
          </p:spPr>
          <p:txBody>
            <a:bodyPr/>
            <a:p/>
          </p:txBody>
        </p:sp>
        <p:sp>
          <p:nvSpPr>
            <p:cNvPr id="4" name="Ellipse 4"/>
            <p:cNvSpPr/>
            <p:nvPr/>
          </p:nvSpPr>
          <p:spPr>
            <a:xfrm>
              <a:off x="9048750" y="3714750"/>
              <a:ext cx="4381500" cy="4381500"/>
            </a:xfrm>
            <a:prstGeom prst="ellipse">
              <a:avLst/>
            </a:prstGeom>
            <a:noFill/>
            <a:ln w="14288">
              <a:solidFill>
                <a:srgbClr val="FFFFFF">
                  <a:alpha val="14000"/>
                </a:srgbClr>
              </a:solidFill>
              <a:custDash>
                <a:ds d="266666" sp="533333"/>
              </a:custDash>
            </a:ln>
          </p:spPr>
          <p:txBody>
            <a:bodyPr/>
            <a:p/>
          </p:txBody>
        </p:sp>
        <p:sp>
          <p:nvSpPr>
            <p:cNvPr id="5" name="Ellipse 5"/>
            <p:cNvSpPr/>
            <p:nvPr/>
          </p:nvSpPr>
          <p:spPr>
            <a:xfrm>
              <a:off x="9715500" y="4381500"/>
              <a:ext cx="3048000" cy="3048000"/>
            </a:xfrm>
            <a:prstGeom prst="ellipse">
              <a:avLst/>
            </a:prstGeom>
            <a:noFill/>
            <a:ln w="14288">
              <a:solidFill>
                <a:srgbClr val="FFFFFF">
                  <a:alpha val="10000"/>
                </a:srgbClr>
              </a:solidFill>
            </a:ln>
          </p:spPr>
          <p:txBody>
            <a:bodyPr/>
            <a:p/>
          </p:txBody>
        </p:sp>
        <p:sp>
          <p:nvSpPr>
            <p:cNvPr id="6" name="Ellipse 6"/>
            <p:cNvSpPr/>
            <p:nvPr/>
          </p:nvSpPr>
          <p:spPr>
            <a:xfrm>
              <a:off x="-666750" y="-1333500"/>
              <a:ext cx="4191000" cy="4191000"/>
            </a:xfrm>
            <a:prstGeom prst="ellipse">
              <a:avLst/>
            </a:prstGeom>
            <a:noFill/>
            <a:ln w="14288">
              <a:solidFill>
                <a:srgbClr val="FFFFFF">
                  <a:alpha val="8000"/>
                </a:srgbClr>
              </a:solidFill>
            </a:ln>
          </p:spPr>
          <p:txBody>
            <a:bodyPr/>
            <a:p/>
          </p:txBody>
        </p:sp>
        <p:sp>
          <p:nvSpPr>
            <p:cNvPr id="7" name="Ellipse 7"/>
            <p:cNvSpPr/>
            <p:nvPr/>
          </p:nvSpPr>
          <p:spPr>
            <a:xfrm>
              <a:off x="9944100" y="990600"/>
              <a:ext cx="114300" cy="114300"/>
            </a:xfrm>
            <a:prstGeom prst="ellipse">
              <a:avLst/>
            </a:prstGeom>
            <a:solidFill>
              <a:srgbClr val="FFFFFF">
                <a:alpha val="18000"/>
              </a:srgbClr>
            </a:solidFill>
            <a:ln>
              <a:noFill/>
            </a:ln>
          </p:spPr>
          <p:txBody>
            <a:bodyPr/>
            <a:p/>
          </p:txBody>
        </p:sp>
        <p:sp>
          <p:nvSpPr>
            <p:cNvPr id="8" name="Ellipse 8"/>
            <p:cNvSpPr/>
            <p:nvPr/>
          </p:nvSpPr>
          <p:spPr>
            <a:xfrm>
              <a:off x="10629900" y="1676400"/>
              <a:ext cx="76200" cy="76200"/>
            </a:xfrm>
            <a:prstGeom prst="ellipse">
              <a:avLst/>
            </a:prstGeom>
            <a:solidFill>
              <a:srgbClr val="FFFFFF">
                <a:alpha val="22000"/>
              </a:srgbClr>
            </a:solidFill>
            <a:ln>
              <a:noFill/>
            </a:ln>
          </p:spPr>
          <p:txBody>
            <a:bodyPr/>
            <a:p/>
          </p:txBody>
        </p:sp>
        <p:sp>
          <p:nvSpPr>
            <p:cNvPr id="9" name="Ellipse 9"/>
            <p:cNvSpPr/>
            <p:nvPr/>
          </p:nvSpPr>
          <p:spPr>
            <a:xfrm>
              <a:off x="9286875" y="619125"/>
              <a:ext cx="95250" cy="95250"/>
            </a:xfrm>
            <a:prstGeom prst="ellipse">
              <a:avLst/>
            </a:prstGeom>
            <a:solidFill>
              <a:srgbClr val="FFFFFF">
                <a:alpha val="15000"/>
              </a:srgbClr>
            </a:solidFill>
            <a:ln>
              <a:noFill/>
            </a:ln>
          </p:spPr>
          <p:txBody>
            <a:bodyPr/>
            <a:p/>
          </p:txBody>
        </p:sp>
      </p:grpSp>
      <p:grpSp>
        <p:nvGrpSpPr>
          <p:cNvPr id="13" name="Group 13"/>
          <p:cNvGrpSpPr/>
          <p:nvPr/>
        </p:nvGrpSpPr>
        <p:grpSpPr>
          <a:xfrm>
            <a:off x="2764272" y="2211705"/>
            <a:ext cx="6663457" cy="1893570"/>
            <a:chOff x="2764272" y="2211705"/>
            <a:chExt cx="6663457" cy="1893570"/>
          </a:xfrm>
        </p:grpSpPr>
        <p:sp>
          <p:nvSpPr>
            <p:cNvPr id="11" name="TextBox 11"/>
            <p:cNvSpPr txBox="1"/>
            <p:nvPr/>
          </p:nvSpPr>
          <p:spPr>
            <a:xfrm>
              <a:off x="2764272" y="2211705"/>
              <a:ext cx="6663457" cy="103632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5100" b="1" dirty="0">
                  <a:solidFill>
                    <a:srgbClr val="FFFFFF"/>
                  </a:solidFill>
                  <a:latin typeface="Arial"/>
                  <a:ea typeface="Microsoft YaHei"/>
                  <a:cs typeface="Arial"/>
                </a:rPr>
                <a:t>AI 不是来取代你的，</a:t>
              </a:r>
            </a:p>
          </p:txBody>
        </p:sp>
        <p:sp>
          <p:nvSpPr>
            <p:cNvPr id="12" name="TextBox 12"/>
            <p:cNvSpPr txBox="1"/>
            <p:nvPr/>
          </p:nvSpPr>
          <p:spPr>
            <a:xfrm>
              <a:off x="3531918" y="3068955"/>
              <a:ext cx="5128165" cy="103632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5100" b="1" dirty="0">
                  <a:solidFill>
                    <a:srgbClr val="FFFFFF"/>
                  </a:solidFill>
                  <a:latin typeface="Arial"/>
                  <a:ea typeface="Microsoft YaHei"/>
                  <a:cs typeface="Arial"/>
                </a:rPr>
                <a:t>是来成全你的。</a:t>
              </a:r>
            </a:p>
          </p:txBody>
        </p:sp>
      </p:grpSp>
      <p:grpSp>
        <p:nvGrpSpPr>
          <p:cNvPr id="16" name="Group 16"/>
          <p:cNvGrpSpPr/>
          <p:nvPr/>
        </p:nvGrpSpPr>
        <p:grpSpPr>
          <a:xfrm>
            <a:off x="4905375" y="4191000"/>
            <a:ext cx="2381250" cy="457200"/>
            <a:chOff x="4905375" y="4191000"/>
            <a:chExt cx="2381250" cy="457200"/>
          </a:xfrm>
        </p:grpSpPr>
        <p:sp>
          <p:nvSpPr>
            <p:cNvPr id="14" name="Rectangle 14"/>
            <p:cNvSpPr/>
            <p:nvPr/>
          </p:nvSpPr>
          <p:spPr>
            <a:xfrm>
              <a:off x="4905375" y="4191000"/>
              <a:ext cx="2381250" cy="457200"/>
            </a:xfrm>
            <a:prstGeom prst="roundRect">
              <a:avLst>
                <a:gd name="adj" fmla="val 50000"/>
              </a:avLst>
            </a:prstGeom>
            <a:solidFill>
              <a:srgbClr val="FFFFFF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5" name="TextBox 15"/>
            <p:cNvSpPr txBox="1"/>
            <p:nvPr/>
          </p:nvSpPr>
          <p:spPr>
            <a:xfrm>
              <a:off x="5360565" y="4340542"/>
              <a:ext cx="1470870" cy="27432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350" b="1" dirty="0">
                  <a:solidFill>
                    <a:srgbClr val="1565D8"/>
                  </a:solidFill>
                  <a:latin typeface="Arial"/>
                  <a:ea typeface="Microsoft YaHei"/>
                  <a:cs typeface="Arial"/>
                </a:rPr>
                <a:t>大模型通识 · 完</a:t>
              </a:r>
            </a:p>
          </p:txBody>
        </p:sp>
      </p:grpSp>
      <p:grpSp>
        <p:nvGrpSpPr>
          <p:cNvPr id="19" name="Group 19"/>
          <p:cNvGrpSpPr/>
          <p:nvPr/>
        </p:nvGrpSpPr>
        <p:grpSpPr>
          <a:xfrm>
            <a:off x="3689056" y="5169218"/>
            <a:ext cx="4813887" cy="274320"/>
            <a:chOff x="3689056" y="5169218"/>
            <a:chExt cx="4813887" cy="274320"/>
          </a:xfrm>
        </p:grpSpPr>
        <p:sp>
          <p:nvSpPr>
            <p:cNvPr id="17" name="Freeform 17"/>
            <p:cNvSpPr/>
            <p:nvPr/>
          </p:nvSpPr>
          <p:spPr>
            <a:xfrm>
              <a:off x="3874294" y="5178425"/>
              <a:ext cx="148431" cy="139700"/>
            </a:xfrm>
            <a:custGeom>
              <a:avLst/>
              <a:gdLst/>
              <a:ahLst/>
              <a:cxnLst/>
              <a:rect l="l" t="t" r="r" b="b"/>
              <a:pathLst>
                <a:path w="148431" h="139700">
                  <a:moveTo>
                    <a:pt x="113506" y="122238"/>
                  </a:moveTo>
                  <a:cubicBezTo>
                    <a:pt x="123151" y="122238"/>
                    <a:pt x="130969" y="130056"/>
                    <a:pt x="130969" y="139700"/>
                  </a:cubicBezTo>
                  <a:cubicBezTo>
                    <a:pt x="130969" y="130056"/>
                    <a:pt x="138787" y="122238"/>
                    <a:pt x="148431" y="122238"/>
                  </a:cubicBezTo>
                  <a:cubicBezTo>
                    <a:pt x="138787" y="122238"/>
                    <a:pt x="130969" y="114419"/>
                    <a:pt x="130969" y="104775"/>
                  </a:cubicBezTo>
                  <a:cubicBezTo>
                    <a:pt x="130969" y="114419"/>
                    <a:pt x="123151" y="122238"/>
                    <a:pt x="113506" y="122238"/>
                  </a:cubicBezTo>
                  <a:moveTo>
                    <a:pt x="113506" y="17463"/>
                  </a:moveTo>
                  <a:cubicBezTo>
                    <a:pt x="123151" y="17463"/>
                    <a:pt x="130969" y="25281"/>
                    <a:pt x="130969" y="34925"/>
                  </a:cubicBezTo>
                  <a:cubicBezTo>
                    <a:pt x="130969" y="25281"/>
                    <a:pt x="138787" y="17463"/>
                    <a:pt x="148431" y="17463"/>
                  </a:cubicBezTo>
                  <a:cubicBezTo>
                    <a:pt x="138787" y="17463"/>
                    <a:pt x="130969" y="9644"/>
                    <a:pt x="130969" y="0"/>
                  </a:cubicBezTo>
                  <a:cubicBezTo>
                    <a:pt x="130969" y="9644"/>
                    <a:pt x="123151" y="17463"/>
                    <a:pt x="113506" y="17463"/>
                  </a:cubicBezTo>
                  <a:moveTo>
                    <a:pt x="52388" y="122238"/>
                  </a:moveTo>
                  <a:cubicBezTo>
                    <a:pt x="52388" y="93305"/>
                    <a:pt x="75842" y="69850"/>
                    <a:pt x="104775" y="69850"/>
                  </a:cubicBezTo>
                  <a:cubicBezTo>
                    <a:pt x="75842" y="69850"/>
                    <a:pt x="52388" y="46395"/>
                    <a:pt x="52388" y="17463"/>
                  </a:cubicBezTo>
                  <a:cubicBezTo>
                    <a:pt x="52388" y="46395"/>
                    <a:pt x="28933" y="69850"/>
                    <a:pt x="0" y="69850"/>
                  </a:cubicBezTo>
                  <a:cubicBezTo>
                    <a:pt x="28933" y="69850"/>
                    <a:pt x="52388" y="93305"/>
                    <a:pt x="52388" y="122238"/>
                  </a:cubicBezTo>
                </a:path>
              </a:pathLst>
            </a:custGeom>
            <a:noFill/>
            <a:ln w="19050">
              <a:solidFill>
                <a:srgbClr val="FFFFFF"/>
              </a:solidFill>
            </a:ln>
          </p:spPr>
          <p:txBody>
            <a:bodyPr/>
            <a:p/>
          </p:txBody>
        </p:sp>
        <p:sp>
          <p:nvSpPr>
            <p:cNvPr id="18" name="TextBox 18"/>
            <p:cNvSpPr txBox="1"/>
            <p:nvPr/>
          </p:nvSpPr>
          <p:spPr>
            <a:xfrm>
              <a:off x="3689056" y="5169218"/>
              <a:ext cx="4813887" cy="27432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350" dirty="0">
                  <a:solidFill>
                    <a:srgbClr val="FFFFFF">
                      <a:alphaMod val="85000"/>
                    </a:srgbClr>
                  </a:solidFill>
                  <a:latin typeface="Arial"/>
                  <a:ea typeface="Microsoft YaHei"/>
                  <a:cs typeface="Arial"/>
                </a:rPr>
                <a:t>下一步：把今天学到的，落到你的岗位—— 从 1 个小任务开始</a:t>
              </a:r>
            </a:p>
          </p:txBody>
        </p:sp>
      </p:grpSp>
    </p:spTree>
  </p:cSld>
  <p:clrMapOvr>
    <a:masterClrMapping/>
  </p:clrMapOvr>
  <p:transition xmlns:p14="http://schemas.microsoft.com/office/powerpoint/2010/main" p14:dur="400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900"/>
                            </p:stCondLst>
                            <p:childTnLst>
                              <p:par>
                                <p:cTn id="9" presetID="23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image">
                                      <p:cBhvr>
                                        <p:cTn id="11" dur="4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2" fill="hold">
                            <p:stCondLst>
                              <p:cond delay="1800"/>
                            </p:stCondLst>
                            <p:childTnLst>
                              <p:par>
                                <p:cTn id="13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4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/>
      <p:bldP spid="16" grpId="0"/>
      <p:bldP spid="19" grpId="0"/>
    </p:bldLst>
  </p:timing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Office PowerPoint</Application>
  <PresentationFormat>On-screen Show (16:9)</PresentationFormat>
  <Paragraphs>0</Paragraphs>
  <Slides>33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/>
  <dc:language/>
  <cp:lastModifiedBy/>
  <cp:revision>1</cp:revision>
  <dcterms:created xsi:type="dcterms:W3CDTF">2026-08-31T15:31:21Z</dcterms:created>
  <dcterms:modified xsi:type="dcterms:W3CDTF">2026-08-31T15:31:21Z</dcterms:modified>
  <cp:category/>
  <cp:contentStatus/>
</cp:coreProperties>
</file>