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7.xml"/>
</Relationships>
</file>

<file path=ppt/notesSlides/_rels/notesSlide2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8.xml"/>
</Relationships>
</file>

<file path=ppt/notesSlides/_rels/notesSlide2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9.xml"/>
</Relationships>
</file>

<file path=ppt/notesSlides/_rels/notesSlide3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0.xml"/>
</Relationships>
</file>

<file path=ppt/notesSlides/_rels/notesSlide3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1.xml"/>
</Relationships>
</file>

<file path=ppt/notesSlides/_rels/notesSlide3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2.xml"/>
</Relationships>
</file>

<file path=ppt/notesSlides/_rels/notesSlide3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各位同学好，欢迎来到《通用 AI 基础》。先说三个定心丸：零代码、零公式、全程岗位即落地。今天 120 分钟，我们的目标只有一个——从「我不懂」走到「我会用」。不用记住多少名词，只要最后你能真的把 AI 用在自己的活儿上，这节课就没白上。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七个章节，一条主线：先破误会（第 1 章），再搞懂 AI 是什么、怎么工作（第 2、3 章），然后学最实用的提示词（第 4 章），动手看工具、做演示（第 5 章），了解新一代 AI（第 6 章），最后守住安全底线、真正用起来（第 7 章）。右下角那句是全册心法：基础是大头，认知是入口，技术是手段——我们这节课不教你写代码，我们解决的是「认知」。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进入第一章。这一章只做两件事：拆掉你心里的三道坎，再让你发现——AI 其实早就在你身边了。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先做一个小互动：这三个误会，你现在心里还留着哪几个？举手示意就行，不用报名字。（停顿 15 秒）</a:t>
            </a:r>
          </a:p>
          <a:p>
            <a:endParaRPr lang="zh-CN" dirty="0"/>
          </a:p>
          <a:p>
            <a:r>
              <a:rPr lang="zh-CN" dirty="0"/>
              <a:t>误区一，「AI 会取代我」。真相是它放大你、不替代你——重复繁琐的活它先干，判断和拍板还在你手里。记住这句话：会用 AI 的人，才不会被会用 AI 的人取代。</a:t>
            </a:r>
          </a:p>
          <a:p>
            <a:endParaRPr lang="zh-CN" dirty="0"/>
          </a:p>
          <a:p>
            <a:r>
              <a:rPr lang="zh-CN" dirty="0"/>
              <a:t>误区二，「要会写代码」。写代码是造 AI 的人的活。会打字、会聊天，就能把 AI 用在工作里，就像你会用导航，不需要会造地图。</a:t>
            </a:r>
          </a:p>
          <a:p>
            <a:endParaRPr lang="zh-CN" dirty="0"/>
          </a:p>
          <a:p>
            <a:r>
              <a:rPr lang="zh-CN" dirty="0"/>
              <a:t>误区三，「太难学不会」。会微信就会用 AI。今天这节课走完，你就能在岗位上真正用起来。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进入第二章。很多名词——AI、机器学习、深度学习、大模型——大家经常混着说。这一章用一张家族树把它们一次讲清，听完你就知道它们到底是啥关系。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看这张图：最上面是人工智能，最大的圈，是让机器像人一样思考这个大目标；往里是机器学习，让机器从数据里自己找规律；再往里是深度学习，用神经网络学得更深；再往里是大模型，喂了海量文本的巨型网络；最底下、最小的这一支，是生成式 AI——能「写出」内容的那一支。</a:t>
            </a:r>
          </a:p>
          <a:p>
            <a:endParaRPr lang="zh-CN" dirty="0"/>
          </a:p>
          <a:p>
            <a:r>
              <a:rPr lang="zh-CN" dirty="0"/>
              <a:t>强调一句：这是一个家族，层层包含，不是五个并列的东西。而你平时说的「大模型」「ChatGPT 这类」，都站在最下面这一层。你学的是最下面这层，它最小，也最贴近你。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左边，擅长帮你「起草」：写东西、整理、翻译、想点子、答疑——都是它的强项。右边，别让它「拍板」：算精确的账容易错、记死准的事实会记串、重大决定它不能替你做、你单位的特殊规矩它也不知道。</a:t>
            </a:r>
          </a:p>
          <a:p>
            <a:endParaRPr lang="zh-CN" dirty="0"/>
          </a:p>
          <a:p>
            <a:r>
              <a:rPr lang="zh-CN" dirty="0"/>
              <a:t>口诀送给大家：能帮你起草，不能替你负责。以后凡是涉及钱的、涉及合规的，AI 出初稿，人来终审。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进入第三章。这一章回答两个问题：它为什么这么聪明？又为什么会一本正经地说错话？听完你会发现，所谓「幻觉」不是故障，是它工作原理的副产品。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大模型本质上是个「接话高手」。你问一句话，它把话拆成一个个小词块，然后一个词一个词往下接——预测下一个最可能的词，接出整段话。它读过海量文本，所以接得特别像那么回事。</a:t>
            </a:r>
          </a:p>
          <a:p>
            <a:endParaRPr lang="zh-CN" dirty="0"/>
          </a:p>
          <a:p>
            <a:r>
              <a:rPr lang="zh-CN" dirty="0"/>
              <a:t>这里有个细节：它不是「查答案」，没有标准答案本，它是「现场接着往下说」。这个特点，直接决定了它下一课的两个特点。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所以 AI 和搜索引擎是两码事。搜索引擎是「找」：把包含答案的网页链接列给你，答案在网页里，它只是导航员。大模型是「答」：把训练时读过的内容接成一段话直接给你，答案在它的「记忆」里——所以偶尔会一本正经地编。</a:t>
            </a:r>
          </a:p>
          <a:p>
            <a:endParaRPr lang="zh-CN" dirty="0"/>
          </a:p>
          <a:p>
            <a:r>
              <a:rPr lang="zh-CN" dirty="0"/>
              <a:t>用法建议：查事实用搜索，写东西用 AI，关键事实再回搜索核实。两个都好用，但别混用。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第一个短板：上下文窗口。它一次只能「记得」几万到几百万字的内容，超了就忘了前面的话——就像同时盯太多窗口会丢东西。所以长文档要分段喂，关键信息放前面。</a:t>
            </a:r>
          </a:p>
          <a:p>
            <a:endParaRPr lang="zh-CN" dirty="0"/>
          </a:p>
          <a:p>
            <a:r>
              <a:rPr lang="zh-CN" dirty="0"/>
              <a:t>第二个短板：幻觉。它会一本正经地编造听起来很对、其实是错的信息，而且说得特别自信。注意：越权威、越具体的「假答案」，越要核实。铁律就一句：关键信息，必须自己核实。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会聊天只是起点。现在的 AI 还会看图——拍黑板图表、产品照片给它，能看懂能分析；会听声音——会议录音转成文字，再让它总结、出纪要、找待办；会读表格——Excel 直接传，找异常、算公式、出结论；会读长文档——100 页 PDF 丢给它直接问。</a:t>
            </a:r>
          </a:p>
          <a:p>
            <a:endParaRPr lang="zh-CN" dirty="0"/>
          </a:p>
          <a:p>
            <a:r>
              <a:rPr lang="zh-CN" dirty="0"/>
              <a:t>记住：会发微信，就会用多模态 AI——图、音、文件，都是它的输入。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进入第四章，全课最实用的一章。同一个 AI，问法不同，答案天差地别——差的往往不是 AI，是你怎么问。这一章给你一套可以直接套的公式。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跟 AI 说话，把这五样讲清楚：角色——你是谁；背景——背景是啥；任务——要我干啥；约束——有什么限制；格式——给我什么格式。</a:t>
            </a:r>
          </a:p>
          <a:p>
            <a:endParaRPr lang="zh-CN" dirty="0"/>
          </a:p>
          <a:p>
            <a:r>
              <a:rPr lang="zh-CN" dirty="0"/>
              <a:t>看例子：「你是资深行政助理（角色）。下周例会有 3 项议程，我手上有纪要草稿（背景）。帮我写一条会议通知（任务）。100 字内、语气正式（约束）。用邮件体，末尾列 2 条待办（格式）」——每一格都是照着填的。口诀背下来：你是谁、背景是啥、要我干啥、有什么限制、给我什么格式。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对比一下。「帮我写个会议通知」——缺背景、缺约束，AI 只能瞎猜，出来的东西泛泛而谈，还要返工。</a:t>
            </a:r>
          </a:p>
          <a:p>
            <a:endParaRPr lang="zh-CN" dirty="0"/>
          </a:p>
          <a:p>
            <a:r>
              <a:rPr lang="zh-CN" dirty="0"/>
              <a:t>按五要素问呢？看下面这条完整的提示词，一次到位，直接能用。大家注意：这条提示词不需要多高级的词汇，就是把五格填满。今天回去就可以照着改你自己的版本。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重点来了：别指望一次成型。V1 初稿，方向对了但不够贴；V2 指出问题让它改——「第二段太空，加上具体数据和例子」；V3 微调定稿，改格式、换语气、补细节。一般到第三版就能用。口诀：一版像，三版好。</a:t>
            </a:r>
          </a:p>
          <a:p>
            <a:endParaRPr lang="zh-CN" dirty="0"/>
          </a:p>
          <a:p>
            <a:r>
              <a:rPr lang="zh-CN" dirty="0"/>
              <a:t>两个进阶技巧：给例子——「按上个月的格式写」，一个样例比一百句描述准；让它一步步想——复杂问题加一句「请分步分析」，正确率明显更高。</a:t>
            </a:r>
          </a:p>
          <a:p>
            <a:endParaRPr lang="zh-CN" dirty="0"/>
          </a:p>
          <a:p>
            <a:r>
              <a:rPr lang="zh-CN" dirty="0"/>
              <a:t>三个常见坑也提醒一下：问题太大（「写个方案」= 得到正确的废话）、不给背景（它只能猜）、一次塞太多（拆成 3 问）。</a:t>
            </a:r>
          </a:p>
          <a:p>
            <a:endParaRPr lang="zh-CN" dirty="0"/>
          </a:p>
          <a:p>
            <a:r>
              <a:rPr lang="zh-CN" dirty="0"/>
              <a:t>小互动：现在大家想一想，你手头最近的一份「难写的东西」是什么？试着用五要素在心里默写一遍提示词，等下可以举手分享。（10 秒）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进入第五章。光会提问还不够，得知道去哪儿用。这一章给大家一张工具地图，然后现场演示——WorkBuddy，当场就会。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六类工具，记住定位就行：聊天大模型是你的「AI 助手」，豆包、DeepSeek、Kimi 这类，注册就能问；办公 AI 嵌在你天天用的软件里，WPS AI、讯飞听见，上手最简单；Agent 平台让你自己搭「数字员工」，扣子、Manus、WorkBuddy；知识库工具把公司资料喂给 AI，问它答它、答案带出处；生成式媒体出图、出视频、出声音，即梦、可灵；编程类给程序员用的，知道有就行。</a:t>
            </a:r>
          </a:p>
          <a:p>
            <a:endParaRPr lang="zh-CN" dirty="0"/>
          </a:p>
          <a:p>
            <a:r>
              <a:rPr lang="zh-CN" dirty="0"/>
              <a:t>强调：地图不是清单。每类挑 1 个入门，别的知道在哪找就行，不用全装全试。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国内常见的五款，各有性格：DeepSeek 推理逻辑强、免费额度够用；Kimi 超长文档是强项，一次能读 200 页 PDF；豆包全能、语音最自然、门槛最低；文心一言公文和正式表达稳；通义、讯飞各有生态，按你用的平台选。</a:t>
            </a:r>
          </a:p>
          <a:p>
            <a:endParaRPr lang="zh-CN" dirty="0"/>
          </a:p>
          <a:p>
            <a:r>
              <a:rPr lang="zh-CN" dirty="0"/>
              <a:t>选模型一句话：别追最强、别追最新——先定 1-2 个主力用出手感，熟了再换。选型不玄学：场景合适 + 你顺手 + 团队都能用，就是好模型。另外提醒：榜单每月在变，这张表我们每季度核对一次，大家看个思路就行。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零代码，会打字就能用。三步：装/注册（用工作号或公司账号）、第一次对话（「帮我写份周报，我是…」）、改结果（不满意？补条件再问）。</a:t>
            </a:r>
          </a:p>
          <a:p>
            <a:endParaRPr lang="zh-CN" dirty="0"/>
          </a:p>
          <a:p>
            <a:r>
              <a:rPr lang="zh-CN" dirty="0"/>
              <a:t>五个岗位场景对号入座：高校老师——五要素让 AI 出教案与课件初稿，人工核对重点，定稿；学校行政——粘贴成绩表找异常、出结论，再起草家长会通知；企业员工——五要素出周报、贴销售表找异常给结论；通用的两个：长文档问答、材料整理。每个都是「AI 初稿 + 人核」的结构，回去照着做。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WorkBuddy 是 AI 工作助理：你说目标，它自动拆解、执行、交付。六个能力：一句话办任务（「把这 10 份资料整理成 1 份 PPT」）；做文档与 PPT（页数、风格、结构都能指定，产出可编辑文件）；整理与分析数据（注意：数字必须自己核对原表）；读长文档、问答（答案带出处）；定时与重复任务（到点自动跑）；三步上手（注册登录→上传资料→发第一句话）。</a:t>
            </a:r>
          </a:p>
          <a:p>
            <a:endParaRPr lang="zh-CN" dirty="0"/>
          </a:p>
          <a:p>
            <a:r>
              <a:rPr lang="zh-CN" dirty="0"/>
              <a:t>这一章的核心转变：从「你用的工具」到「替你干活的数字同事」。关键不是会用几个功能，而是敢不敢派一个完整任务。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 10 分钟是现场演示，大家看三件事：</a:t>
            </a:r>
          </a:p>
          <a:p>
            <a:endParaRPr lang="zh-CN" dirty="0"/>
          </a:p>
          <a:p>
            <a:r>
              <a:rPr lang="zh-CN" dirty="0"/>
              <a:t>第一步，一句话派活——「把这些资料整理成 10 页 PPT，再给我 1 页要点总结」，当场发出。（操作：发送任务，屏幕共享）</a:t>
            </a:r>
          </a:p>
          <a:p>
            <a:endParaRPr lang="zh-CN" dirty="0"/>
          </a:p>
          <a:p>
            <a:r>
              <a:rPr lang="zh-CN" dirty="0"/>
              <a:t>第二步，看它干三处：① 它怎么拆解任务——大家注意它把大任务拆成了哪几步；② 它怎么调工具——读文件、建文档，这些都是「调工具」，人不用动手；③ 交付物是什么——注意它是给你文件（PPT + 总结页），不只是一段文字回答。</a:t>
            </a:r>
          </a:p>
          <a:p>
            <a:endParaRPr lang="zh-CN" dirty="0"/>
          </a:p>
          <a:p>
            <a:r>
              <a:rPr lang="zh-CN" dirty="0"/>
              <a:t>第三步，三步上手——注册登录、把资料传进资料库、发出第一句话。今天看完演示，回去就能照着做。</a:t>
            </a:r>
          </a:p>
          <a:p>
            <a:endParaRPr lang="zh-CN" dirty="0"/>
          </a:p>
          <a:p>
            <a:r>
              <a:rPr lang="zh-CN" dirty="0"/>
              <a:t>（演示纪律提醒：全程用脱敏/虚构数据，不输入学生、公司的敏感信息；重要产出，人终审。大家平时自己演示也要遵守这条。）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演示完了，趁热讲红线。三条记牢：</a:t>
            </a:r>
          </a:p>
          <a:p>
            <a:endParaRPr lang="zh-CN" dirty="0"/>
          </a:p>
          <a:p>
            <a:r>
              <a:rPr lang="zh-CN" dirty="0"/>
              <a:t>红线一，敏感数据不进公网 AI——商业机密、客户隐私、财务信息、证件照片，一律不进未经批准的外部工具，这就是防「影子 AI」。</a:t>
            </a:r>
          </a:p>
          <a:p>
            <a:endParaRPr lang="zh-CN" dirty="0"/>
          </a:p>
          <a:p>
            <a:r>
              <a:rPr lang="zh-CN" dirty="0"/>
              <a:t>红线二，先查数据政策再用——用之前问三个问题：数据会被拿去训练吗？有没有企业版/私有化？谁能看到我的输入？先查规矩，再上手。</a:t>
            </a:r>
          </a:p>
          <a:p>
            <a:endParaRPr lang="zh-CN" dirty="0"/>
          </a:p>
          <a:p>
            <a:r>
              <a:rPr lang="zh-CN" dirty="0"/>
              <a:t>红线三，关键结果人终审——凡涉及钱、合规、对外发布，最后一步一定是人：核对、拍板、负责。</a:t>
            </a:r>
          </a:p>
          <a:p>
            <a:endParaRPr lang="zh-CN" dirty="0"/>
          </a:p>
          <a:p>
            <a:r>
              <a:rPr lang="zh-CN" dirty="0"/>
              <a:t>现在做个课堂小练习（约 5 分钟）：给你 6 个工具——公网聊天 AI、公司批准的 WorkBuddy、个人用的翻译软件、一个来路不明的「AI 写公文」小站、公司知识库、朋友推荐的出图工具。哪些敢用在工作里？哪些不敢？为什么？分两组讨论，然后各请一位同学说结论。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除了干活，AI 还能「创造」：出图——课件插图、班级海报，描述清楚「主体+风格+用途」，2 分钟出图，即梦、可灵都有免费额度；出视频——一句描述加一张图，生成 5-15 秒短片，模板化为主，别指望大片效果；出声音——粘贴朗读稿选音色，直接出音频，微课、通知配音，省下录音棚。</a:t>
            </a:r>
          </a:p>
          <a:p>
            <a:endParaRPr lang="zh-CN" dirty="0"/>
          </a:p>
          <a:p>
            <a:r>
              <a:rPr lang="zh-CN" dirty="0"/>
              <a:t>红线再强调一次：真人肖像、声音，未经同意不能用。这是法律底线，不是技术建议。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进入第六章。你会问：前面讲的「聊天 AI」都挺强了，还差什么？差的是「从能聊到能干活」。这一章讲两个新东西：Agent，和知识库。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传统聊天 AI 是你问一句、它答一句。Agent 不一样：你给它目标，它自己「感知→计划→行动→观察」，一轮轮逼近完成——自己拆解、自己调工具执行、干完看结果、发现不行再调整。</a:t>
            </a:r>
          </a:p>
          <a:p>
            <a:endParaRPr lang="zh-CN" dirty="0"/>
          </a:p>
          <a:p>
            <a:r>
              <a:rPr lang="zh-CN" dirty="0"/>
              <a:t>它就像一个勤快的实习生：自己跑腿，还会自己检查。WorkBuddy 独立完成一个整理任务，就是典型的 Agent 行为。你前面已经用过它了，只是当时没意识到。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但「自己干活」的 AI，安全等级不一样。两种干活方式：Copilot 副驾驶——你开，它给建议，方向盘始终在你手里，每一步你确认你来按，安全可控，你平时用的 AI 助手多数属于这类；Agent 自动驾驶——它开，你在副驾看着，它自己规划自己执行，你负责监督把关、随时喊停。</a:t>
            </a:r>
          </a:p>
          <a:p>
            <a:endParaRPr lang="zh-CN" dirty="0"/>
          </a:p>
          <a:p>
            <a:r>
              <a:rPr lang="zh-CN" dirty="0"/>
              <a:t>结论：自主性越高，越需要人盯着。给它派活之前，先想好：它跑偏了我怎么停、结果错了谁来负责。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再看知识库。大模型有两个短板：知识有截止日期，而且不懂你单位的内部资料。知识库就是补这两块——五步走：资料上传、「读书」学习、按问题找相关段落、照着答、答案带出处可回溯。</a:t>
            </a:r>
          </a:p>
          <a:p>
            <a:endParaRPr lang="zh-CN" dirty="0"/>
          </a:p>
          <a:p>
            <a:r>
              <a:rPr lang="zh-CN" dirty="0"/>
              <a:t>一句话：从「闭卷瞎猜」到「开卷有据」。这也是为什么「公司批准的 AI + 内部知识库」比你自己拿公网 AI 野猜靠谱得多——答案有出处，能回溯核对。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进入最后一章。风险不是让你别用，是告诉你怎么用得安全。讲完风险，我们把整门课收个尾——从 1 个小任务，真正用起来。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四个坑，认得出来你就比大多数人安全：幻觉——一本正经地编错信息，对策就是核实；偏见——把数据里的偏见原样带出来，用在评价、分班这类场景要格外小心；影子 AI——乱用未经批准的工具，数据从你的「方便」里漏出去；数据泄露——把公司机密、个人信息喂给外部 AI。</a:t>
            </a:r>
          </a:p>
          <a:p>
            <a:endParaRPr lang="zh-CN" dirty="0"/>
          </a:p>
          <a:p>
            <a:r>
              <a:rPr lang="zh-CN" dirty="0"/>
              <a:t>记住：会防守，才敢放手用。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四条记牢：可以喂——公开资料、脱敏后的数据、一般性工作知识；绝对不能喂——公司机密、客户隐私、未公开财务、证件照片；只走批准的工具——不用公司没评估过的 AI，防止影子 AI；人做最后把关——AI 出初稿，重要判断和发布由你拍板。</a:t>
            </a:r>
          </a:p>
          <a:p>
            <a:endParaRPr lang="zh-CN" dirty="0"/>
          </a:p>
          <a:p>
            <a:r>
              <a:rPr lang="zh-CN" dirty="0"/>
              <a:t>底下这条是责任四原则：人监督、可解释、合规、公平。记住这条线，怎么用都不会翻车。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结课前，对着屏幕自检九条：能画 AI 家族树、能写五要素提示词、知道会「幻觉」会核实、能讲清知识库原理、会用至少 2 个工具并完成 1 个任务、能给 AI 工作助理派活并验收、数据红线守得住、能落地 1 个「AI 初稿+人终审」的小场景、敢追问会追问。</a:t>
            </a:r>
          </a:p>
          <a:p>
            <a:endParaRPr lang="zh-CN" dirty="0"/>
          </a:p>
          <a:p>
            <a:r>
              <a:rPr lang="zh-CN" dirty="0"/>
              <a:t>互动：现在数一数，你心里能打几个勾？（停顿）不管几个勾，记住最后一件事——回去先落地 1 个小场景。不用多，一个就行：让 AI 出初稿，你来终审。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送大家一句话：AI 不是来取代你的，是来成全你的。</a:t>
            </a:r>
          </a:p>
          <a:p>
            <a:endParaRPr lang="zh-CN" dirty="0"/>
          </a:p>
          <a:p>
            <a:r>
              <a:rPr lang="zh-CN" dirty="0"/>
              <a:t>它放大你的判断、接管你的重复劳动、补上你不熟的技能——但方向盘始终在你手里。下一步：把今天学到的，落到你的岗位，从 1 个小任务开始。工具清单、提示词模板都在课后资料里，有问题随时来问。谢谢大家！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fff2829b0551893a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9c729d8a98275a1.png"/>
  <Relationship Id="rId3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570a43c7ae42d4bf.png"/>
  <Relationship Id="rId3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5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6.xml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7.xml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8.xml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9.xml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0.xml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1.xml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2.xml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-666750" y="-1333500"/>
            <a:ext cx="14763750" cy="10096500"/>
            <a:chOff x="-666750" y="-1333500"/>
            <a:chExt cx="14763750" cy="10096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5715000" cy="5715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381500" cy="4381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048000" cy="3048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-666750" y="-1333500"/>
              <a:ext cx="4191000" cy="41910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0" y="-666750"/>
              <a:ext cx="2857500" cy="2857500"/>
            </a:xfrm>
            <a:prstGeom prst="ellipse">
              <a:avLst/>
            </a:prstGeom>
            <a:noFill/>
            <a:ln w="14288">
              <a:solidFill>
                <a:srgbClr val="FFFFFF">
                  <a:alpha val="12000"/>
                </a:srgbClr>
              </a:solidFill>
              <a:custDash>
                <a:ds d="200000" sp="600000"/>
              </a:custDash>
            </a:ln>
          </p:spPr>
        </p:sp>
        <p:sp>
          <p:nvSpPr>
            <p:cNvPr id="8" name="Ellipse 8"/>
            <p:cNvSpPr/>
            <p:nvPr/>
          </p:nvSpPr>
          <p:spPr>
            <a:xfrm>
              <a:off x="9944100" y="990600"/>
              <a:ext cx="114300" cy="114300"/>
            </a:xfrm>
            <a:prstGeom prst="ellipse">
              <a:avLst/>
            </a:prstGeom>
            <a:solidFill>
              <a:srgbClr val="FFFFFF">
                <a:alpha val="18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629900" y="1676400"/>
              <a:ext cx="76200" cy="76200"/>
            </a:xfrm>
            <a:prstGeom prst="ellipse">
              <a:avLst/>
            </a:prstGeom>
            <a:solidFill>
              <a:srgbClr val="FFFFFF">
                <a:alpha val="22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286875" y="619125"/>
              <a:ext cx="95250" cy="95250"/>
            </a:xfrm>
            <a:prstGeom prst="ellipse">
              <a:avLst/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560070" y="474345"/>
            <a:ext cx="634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LOGO HERE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56260" y="1428750"/>
            <a:ext cx="2158746" cy="495300"/>
            <a:chOff x="556260" y="1428750"/>
            <a:chExt cx="2158746" cy="495300"/>
          </a:xfrm>
        </p:grpSpPr>
        <p:sp>
          <p:nvSpPr>
            <p:cNvPr id="13" name="Rectangle 13"/>
            <p:cNvSpPr/>
            <p:nvPr/>
          </p:nvSpPr>
          <p:spPr>
            <a:xfrm>
              <a:off x="571500" y="1428750"/>
              <a:ext cx="4191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56260" y="1680210"/>
              <a:ext cx="21587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AI 通识培训 · 初级（人人版）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06730" y="2306955"/>
            <a:ext cx="5960459" cy="1774507"/>
            <a:chOff x="506730" y="2306955"/>
            <a:chExt cx="5960459" cy="1774507"/>
          </a:xfrm>
        </p:grpSpPr>
        <p:sp>
          <p:nvSpPr>
            <p:cNvPr id="16" name="TextBox 16"/>
            <p:cNvSpPr txBox="1"/>
            <p:nvPr/>
          </p:nvSpPr>
          <p:spPr>
            <a:xfrm>
              <a:off x="506730" y="2306955"/>
              <a:ext cx="4021326" cy="1036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通用 AI 基础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8640" y="3253740"/>
              <a:ext cx="255403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>
                      <a:alphaMod val="92000"/>
                    </a:srgbClr>
                  </a:solidFill>
                  <a:latin typeface="Arial"/>
                  <a:ea typeface="Microsoft YaHei"/>
                  <a:cs typeface="Arial"/>
                </a:rPr>
                <a:t>人人都能用的 AI 第一课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0545" y="3746182"/>
              <a:ext cx="591664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从「我不懂」到「我会用」—— 零代码 · 零公式 · 岗位即落地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4476750"/>
            <a:ext cx="4152900" cy="419100"/>
            <a:chOff x="571500" y="4476750"/>
            <a:chExt cx="4152900" cy="419100"/>
          </a:xfrm>
        </p:grpSpPr>
        <p:sp>
          <p:nvSpPr>
            <p:cNvPr id="20" name="Rectangle 20"/>
            <p:cNvSpPr/>
            <p:nvPr/>
          </p:nvSpPr>
          <p:spPr>
            <a:xfrm>
              <a:off x="571500" y="4476750"/>
              <a:ext cx="1333500" cy="4191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7235" y="4597718"/>
              <a:ext cx="7620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7 大章节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076450" y="4476750"/>
              <a:ext cx="104775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94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356352" y="4597718"/>
              <a:ext cx="4879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33 页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295650" y="4476750"/>
              <a:ext cx="1428750" cy="419100"/>
            </a:xfrm>
            <a:prstGeom prst="roundRect">
              <a:avLst>
                <a:gd name="adj" fmla="val 50000"/>
              </a:avLst>
            </a:prstGeom>
            <a:noFill/>
            <a:ln w="14288">
              <a:solidFill>
                <a:srgbClr val="FFFFFF">
                  <a:alpha val="70000"/>
                </a:srgbClr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520321" y="45977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全程零代码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95312" y="6013450"/>
            <a:ext cx="3355658" cy="220662"/>
            <a:chOff x="595312" y="6013450"/>
            <a:chExt cx="3355658" cy="220662"/>
          </a:xfrm>
        </p:grpSpPr>
        <p:sp>
          <p:nvSpPr>
            <p:cNvPr id="27" name="Freeform 27"/>
            <p:cNvSpPr/>
            <p:nvPr/>
          </p:nvSpPr>
          <p:spPr>
            <a:xfrm>
              <a:off x="595312" y="6013450"/>
              <a:ext cx="134938" cy="127000"/>
            </a:xfrm>
            <a:custGeom>
              <a:avLst/>
              <a:gdLst/>
              <a:ahLst/>
              <a:cxnLst/>
              <a:rect l="l" t="t" r="r" b="b"/>
              <a:pathLst>
                <a:path w="134938" h="127000">
                  <a:moveTo>
                    <a:pt x="103187" y="111125"/>
                  </a:moveTo>
                  <a:cubicBezTo>
                    <a:pt x="111955" y="111125"/>
                    <a:pt x="119062" y="118232"/>
                    <a:pt x="119062" y="127000"/>
                  </a:cubicBezTo>
                  <a:cubicBezTo>
                    <a:pt x="119062" y="118232"/>
                    <a:pt x="126170" y="111125"/>
                    <a:pt x="134938" y="111125"/>
                  </a:cubicBezTo>
                  <a:cubicBezTo>
                    <a:pt x="126170" y="111125"/>
                    <a:pt x="119062" y="104018"/>
                    <a:pt x="119062" y="95250"/>
                  </a:cubicBezTo>
                  <a:cubicBezTo>
                    <a:pt x="119062" y="104018"/>
                    <a:pt x="111955" y="111125"/>
                    <a:pt x="103187" y="111125"/>
                  </a:cubicBezTo>
                  <a:moveTo>
                    <a:pt x="103187" y="15875"/>
                  </a:moveTo>
                  <a:cubicBezTo>
                    <a:pt x="111955" y="15875"/>
                    <a:pt x="119062" y="22982"/>
                    <a:pt x="119062" y="31750"/>
                  </a:cubicBezTo>
                  <a:cubicBezTo>
                    <a:pt x="119062" y="22982"/>
                    <a:pt x="126170" y="15875"/>
                    <a:pt x="134938" y="15875"/>
                  </a:cubicBezTo>
                  <a:cubicBezTo>
                    <a:pt x="126170" y="15875"/>
                    <a:pt x="119062" y="8768"/>
                    <a:pt x="119062" y="0"/>
                  </a:cubicBezTo>
                  <a:cubicBezTo>
                    <a:pt x="119062" y="8768"/>
                    <a:pt x="111955" y="15875"/>
                    <a:pt x="103187" y="15875"/>
                  </a:cubicBezTo>
                  <a:moveTo>
                    <a:pt x="47625" y="111125"/>
                  </a:moveTo>
                  <a:cubicBezTo>
                    <a:pt x="47625" y="84822"/>
                    <a:pt x="68947" y="63500"/>
                    <a:pt x="95250" y="63500"/>
                  </a:cubicBezTo>
                  <a:cubicBezTo>
                    <a:pt x="68947" y="63500"/>
                    <a:pt x="47625" y="42178"/>
                    <a:pt x="47625" y="15875"/>
                  </a:cubicBezTo>
                  <a:cubicBezTo>
                    <a:pt x="47625" y="42178"/>
                    <a:pt x="26303" y="63500"/>
                    <a:pt x="0" y="63500"/>
                  </a:cubicBezTo>
                  <a:cubicBezTo>
                    <a:pt x="26303" y="63500"/>
                    <a:pt x="47625" y="84822"/>
                    <a:pt x="47625" y="111125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3915" y="6020752"/>
              <a:ext cx="3107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AI 通识培训 · 初级 —— 从「我不懂」到「我会用」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6" grpId="0"/>
      <p:bldP spid="2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4382750" cy="9144000"/>
            <a:chOff x="0" y="0"/>
            <a:chExt cx="14382750" cy="9144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429750" y="4191000"/>
              <a:ext cx="4953000" cy="4953000"/>
            </a:xfrm>
            <a:prstGeom prst="ellipse">
              <a:avLst/>
            </a:prstGeom>
            <a:noFill/>
            <a:ln w="14288">
              <a:solidFill>
                <a:srgbClr val="D6E6F9">
                  <a:alpha val="90000"/>
                </a:srgb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0096500" y="4857750"/>
              <a:ext cx="3619500" cy="3619500"/>
            </a:xfrm>
            <a:prstGeom prst="ellipse">
              <a:avLst/>
            </a:prstGeom>
            <a:noFill/>
            <a:ln w="14288">
              <a:solidFill>
                <a:srgbClr val="D6E6F9">
                  <a:alpha val="70000"/>
                </a:srgbClr>
              </a:solidFill>
              <a:custDash>
                <a:ds d="200000" sp="533333"/>
              </a:custDash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368641" y="520065"/>
            <a:ext cx="3454718" cy="865823"/>
            <a:chOff x="4368641" y="520065"/>
            <a:chExt cx="3454718" cy="865823"/>
          </a:xfrm>
        </p:grpSpPr>
        <p:sp>
          <p:nvSpPr>
            <p:cNvPr id="7" name="TextBox 7"/>
            <p:cNvSpPr txBox="1"/>
            <p:nvPr/>
          </p:nvSpPr>
          <p:spPr>
            <a:xfrm>
              <a:off x="5129974" y="520065"/>
              <a:ext cx="1932051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课程目录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368641" y="111156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七个章节，一路从「我不懂」走到「会用」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71500" y="1809750"/>
            <a:ext cx="11029950" cy="3790950"/>
            <a:chOff x="571500" y="1809750"/>
            <a:chExt cx="11029950" cy="3790950"/>
          </a:xfrm>
        </p:grpSpPr>
        <p:grpSp>
          <p:nvGrpSpPr>
            <p:cNvPr id="16" name="Group 16"/>
            <p:cNvGrpSpPr/>
            <p:nvPr/>
          </p:nvGrpSpPr>
          <p:grpSpPr>
            <a:xfrm>
              <a:off x="571500" y="1809750"/>
              <a:ext cx="2600325" cy="1790700"/>
              <a:chOff x="571500" y="1809750"/>
              <a:chExt cx="2600325" cy="17907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809750"/>
                <a:ext cx="2600325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800100" y="2057400"/>
                <a:ext cx="381000" cy="3810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69492" y="2168842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93495" y="2145982"/>
                <a:ext cx="76965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走进 AI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86765" y="26679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破除三大误会，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86765" y="2877502"/>
                <a:ext cx="10277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看见日常里的 AI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3381375" y="1809750"/>
              <a:ext cx="2600325" cy="1790700"/>
              <a:chOff x="3381375" y="1809750"/>
              <a:chExt cx="2600325" cy="17907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3381375" y="1809750"/>
                <a:ext cx="2600325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3609975" y="2057400"/>
                <a:ext cx="381000" cy="3810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3679367" y="2168842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103370" y="2145982"/>
                <a:ext cx="100068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AI 是什么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596640" y="266795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一张家族树看懂 AI /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96640" y="2877502"/>
                <a:ext cx="116781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机器学习 / 大模型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191250" y="1809750"/>
              <a:ext cx="2600325" cy="1790700"/>
              <a:chOff x="6191250" y="1809750"/>
              <a:chExt cx="2600325" cy="17907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191250" y="1809750"/>
                <a:ext cx="2600325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6419850" y="2057400"/>
                <a:ext cx="381000" cy="3810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489242" y="2168842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915150" y="2162175"/>
                <a:ext cx="150828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大模型如何工作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406515" y="26679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接话高手、上下文窗口、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406515" y="287750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会「幻觉」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9001125" y="1809750"/>
              <a:ext cx="2600325" cy="1790700"/>
              <a:chOff x="9001125" y="1809750"/>
              <a:chExt cx="2600325" cy="17907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9001125" y="1809750"/>
                <a:ext cx="2600325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9229725" y="2057400"/>
                <a:ext cx="381000" cy="3810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9299117" y="2168842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04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723120" y="214598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写好提示词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216390" y="2667952"/>
                <a:ext cx="173488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角色·背景·任务·约束·格式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216390" y="2877502"/>
                <a:ext cx="4467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五要素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571500" y="3810000"/>
              <a:ext cx="2600325" cy="1790700"/>
              <a:chOff x="571500" y="3810000"/>
              <a:chExt cx="2600325" cy="17907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571500" y="3810000"/>
                <a:ext cx="2600325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800100" y="4057650"/>
                <a:ext cx="381000" cy="3810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69492" y="4169092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05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295400" y="4162425"/>
                <a:ext cx="150828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工具生态与实操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86765" y="4668202"/>
                <a:ext cx="204992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六大类工具、WorkBuddy 实操，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86765" y="487775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现场演示当场就会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3381375" y="3810000"/>
              <a:ext cx="2600325" cy="1790700"/>
              <a:chOff x="3381375" y="3810000"/>
              <a:chExt cx="2600325" cy="17907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3381375" y="3810000"/>
                <a:ext cx="2600325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3609975" y="4057650"/>
                <a:ext cx="381000" cy="3810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3679367" y="4169092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06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103370" y="4146232"/>
                <a:ext cx="100068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新一代 AI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3596640" y="466820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从能聊到能干活，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596640" y="4877752"/>
                <a:ext cx="12098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给 AI 接上你的资料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6191250" y="3810000"/>
              <a:ext cx="2600325" cy="1790700"/>
              <a:chOff x="6191250" y="3810000"/>
              <a:chExt cx="2600325" cy="17907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6191250" y="3810000"/>
                <a:ext cx="2600325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6419850" y="4057650"/>
                <a:ext cx="381000" cy="3810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6489242" y="4169092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07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913245" y="4146232"/>
                <a:ext cx="165911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安全用、用起来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406515" y="466820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四大风险、数据红线，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6406515" y="4877752"/>
                <a:ext cx="116781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从 1 个小任务开始</a:t>
                </a: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9001125" y="3810000"/>
              <a:ext cx="2600325" cy="1790700"/>
              <a:chOff x="9001125" y="3810000"/>
              <a:chExt cx="2600325" cy="1790700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9001125" y="3810000"/>
                <a:ext cx="2600325" cy="1790700"/>
              </a:xfrm>
              <a:prstGeom prst="roundRect">
                <a:avLst>
                  <a:gd name="adj" fmla="val 8511"/>
                </a:avLst>
              </a:prstGeom>
              <a:solidFill>
                <a:srgbClr val="1565D8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9216390" y="41919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>
                        <a:alphaMod val="75000"/>
                      </a:srgbClr>
                    </a:solidFill>
                    <a:latin typeface="Arial"/>
                    <a:ea typeface="Microsoft YaHei"/>
                    <a:cs typeface="Arial"/>
                  </a:rPr>
                  <a:t>全册心法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212580" y="45786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基础是大头，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212580" y="482631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认知是入口，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9212580" y="50739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技术是手段。</a:t>
                </a: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6" name="TextBox 66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273028" y="634174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 / 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-666750" y="-1238250"/>
            <a:ext cx="15144750" cy="10382250"/>
            <a:chOff x="-666750" y="-1238250"/>
            <a:chExt cx="15144750" cy="10382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6096000" cy="6096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762500" cy="4762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-666750" y="-1238250"/>
              <a:ext cx="3619500" cy="36195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1382375" y="1095375"/>
              <a:ext cx="95250" cy="9525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629900" y="723900"/>
              <a:ext cx="76200" cy="762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9619869" y="4038600"/>
            <a:ext cx="2153031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0" b="1" dirty="0">
                <a:solidFill>
                  <a:srgbClr val="FFFFFF">
                    <a:alphaMod val="14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070" y="474345"/>
            <a:ext cx="634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LOGO HERE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29590" y="2423160"/>
            <a:ext cx="3893534" cy="2258378"/>
            <a:chOff x="529590" y="2423160"/>
            <a:chExt cx="3893534" cy="2258378"/>
          </a:xfrm>
        </p:grpSpPr>
        <p:sp>
          <p:nvSpPr>
            <p:cNvPr id="12" name="TextBox 12"/>
            <p:cNvSpPr txBox="1"/>
            <p:nvPr/>
          </p:nvSpPr>
          <p:spPr>
            <a:xfrm>
              <a:off x="556260" y="24231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CHAPTER ONE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27813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9590" y="2996565"/>
              <a:ext cx="1539302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走进 AI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0545" y="359378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你其实早就在用 AI 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355" y="4121468"/>
              <a:ext cx="38687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先破除「取代我 / 要会代码 / 太难」三大误会，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4355" y="4407218"/>
              <a:ext cx="240158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再带你看见藏在日常里的 AI。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1524000" y="0"/>
            <a:ext cx="13716000" cy="8477250"/>
            <a:chOff x="-1524000" y="0"/>
            <a:chExt cx="1371600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52400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-952500" y="5238750"/>
              <a:ext cx="2667000" cy="2667000"/>
            </a:xfrm>
            <a:prstGeom prst="ellipse">
              <a:avLst/>
            </a:prstGeom>
            <a:noFill/>
            <a:ln w="14288">
              <a:solidFill>
                <a:srgbClr val="D6E6F9">
                  <a:alpha val="60000"/>
                </a:srgbClr>
              </a:solidFill>
              <a:custDash>
                <a:ds d="200000" sp="533333"/>
              </a:custDash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685800"/>
            <a:ext cx="3666173" cy="700088"/>
            <a:chOff x="571500" y="685800"/>
            <a:chExt cx="3666173" cy="700088"/>
          </a:xfrm>
        </p:grpSpPr>
        <p:sp>
          <p:nvSpPr>
            <p:cNvPr id="7" name="Rectangle 7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1525" y="700088"/>
              <a:ext cx="257746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三个最常见的误会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82955" y="111156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先把心里的三道坎迈过去，学起来才不费劲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1619250"/>
            <a:ext cx="10991850" cy="3810000"/>
            <a:chOff x="571500" y="1619250"/>
            <a:chExt cx="10991850" cy="3810000"/>
          </a:xfrm>
        </p:grpSpPr>
        <p:grpSp>
          <p:nvGrpSpPr>
            <p:cNvPr id="27" name="Group 27"/>
            <p:cNvGrpSpPr/>
            <p:nvPr/>
          </p:nvGrpSpPr>
          <p:grpSpPr>
            <a:xfrm>
              <a:off x="571500" y="1619250"/>
              <a:ext cx="3524250" cy="3810000"/>
              <a:chOff x="571500" y="1619250"/>
              <a:chExt cx="3524250" cy="38100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" y="1619250"/>
                <a:ext cx="3524250" cy="381000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800100" y="1885950"/>
                <a:ext cx="9144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06733" y="1983581"/>
                <a:ext cx="50113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误区一</a:t>
                </a:r>
              </a:p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3657600" y="1838325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3781425" y="1990725"/>
                <a:ext cx="171450" cy="123825"/>
                <a:chOff x="3781425" y="1990725"/>
                <a:chExt cx="171450" cy="123825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3800475" y="207645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3895725" y="207645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3781425" y="1990725"/>
                  <a:ext cx="171450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04775">
                      <a:moveTo>
                        <a:pt x="19050" y="104775"/>
                      </a:moveTo>
                      <a:lnTo>
                        <a:pt x="0" y="104775"/>
                      </a:lnTo>
                      <a:lnTo>
                        <a:pt x="0" y="47625"/>
                      </a:lnTo>
                      <a:lnTo>
                        <a:pt x="19050" y="0"/>
                      </a:lnTo>
                      <a:lnTo>
                        <a:pt x="104775" y="0"/>
                      </a:lnTo>
                      <a:lnTo>
                        <a:pt x="142875" y="47625"/>
                      </a:lnTo>
                      <a:lnTo>
                        <a:pt x="152400" y="47625"/>
                      </a:lnTo>
                      <a:cubicBezTo>
                        <a:pt x="162921" y="47625"/>
                        <a:pt x="171450" y="56154"/>
                        <a:pt x="171450" y="66675"/>
                      </a:cubicBezTo>
                      <a:lnTo>
                        <a:pt x="171450" y="104775"/>
                      </a:lnTo>
                      <a:lnTo>
                        <a:pt x="152400" y="104775"/>
                      </a:lnTo>
                      <a:moveTo>
                        <a:pt x="114300" y="104775"/>
                      </a:moveTo>
                      <a:lnTo>
                        <a:pt x="57150" y="104775"/>
                      </a:lnTo>
                      <a:moveTo>
                        <a:pt x="0" y="47625"/>
                      </a:moveTo>
                      <a:lnTo>
                        <a:pt x="142875" y="47625"/>
                      </a:lnTo>
                      <a:moveTo>
                        <a:pt x="85725" y="47625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779145" y="2565082"/>
                <a:ext cx="169376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「AI 会取代我」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800100" y="297180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D6E6F9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73455" y="3102292"/>
                <a:ext cx="230257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真相：它放大你，不替代你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86765" y="3658552"/>
                <a:ext cx="20079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AI 不是来抢你饭碗的司机，而是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86765" y="3906202"/>
                <a:ext cx="200091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帮你省力的副驾——重复、繁琐的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86765" y="4153852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活它先干，判断和拍板还在你手里。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86765" y="4553902"/>
                <a:ext cx="18570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会用 AI 的人，才不会被会用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86765" y="4801552"/>
                <a:ext cx="93083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AI 的人取代。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4305300" y="1619250"/>
              <a:ext cx="3524250" cy="3810000"/>
              <a:chOff x="4305300" y="1619250"/>
              <a:chExt cx="3524250" cy="38100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4305300" y="1619250"/>
                <a:ext cx="3524250" cy="381000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4533900" y="1885950"/>
                <a:ext cx="9144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740533" y="1983581"/>
                <a:ext cx="50113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误区二</a:t>
                </a:r>
              </a:p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7391400" y="1838325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7505700" y="1990725"/>
                <a:ext cx="190500" cy="114300"/>
                <a:chOff x="7505700" y="1990725"/>
                <a:chExt cx="190500" cy="114300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7505700" y="1990725"/>
                  <a:ext cx="1905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1430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71450" y="0"/>
                      </a:lnTo>
                      <a:cubicBezTo>
                        <a:pt x="181971" y="0"/>
                        <a:pt x="190500" y="8529"/>
                        <a:pt x="190500" y="19050"/>
                      </a:cubicBezTo>
                      <a:lnTo>
                        <a:pt x="190500" y="95250"/>
                      </a:lnTo>
                      <a:cubicBezTo>
                        <a:pt x="190500" y="105771"/>
                        <a:pt x="181971" y="114300"/>
                        <a:pt x="171450" y="114300"/>
                      </a:cubicBezTo>
                      <a:lnTo>
                        <a:pt x="19050" y="114300"/>
                      </a:lnTo>
                      <a:cubicBezTo>
                        <a:pt x="8529" y="114300"/>
                        <a:pt x="0" y="105771"/>
                        <a:pt x="0" y="9525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7543800" y="20288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7581900" y="20288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7620000" y="20288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7658100" y="20288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7543800" y="20669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7658100" y="20669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7581900" y="2066925"/>
                  <a:ext cx="38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9525">
                      <a:moveTo>
                        <a:pt x="0" y="0"/>
                      </a:moveTo>
                      <a:lnTo>
                        <a:pt x="3810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4512945" y="2565082"/>
                <a:ext cx="165911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「要会写代码」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4533900" y="297180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D6E6F9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4707255" y="3102292"/>
                <a:ext cx="173550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真相：零代码就能用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520565" y="3658552"/>
                <a:ext cx="21129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写代码是造 AI 的人的活，用 AI 的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4520565" y="3906202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人一行都不用写。会打字、会聊天，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520565" y="4153852"/>
                <a:ext cx="20639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就能把 AI 用在工作里——就像你会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520565" y="4401502"/>
                <a:ext cx="17068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用导航，不需要会造地图。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8039100" y="1619250"/>
              <a:ext cx="3524250" cy="3810000"/>
              <a:chOff x="8039100" y="1619250"/>
              <a:chExt cx="3524250" cy="381000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8039100" y="1619250"/>
                <a:ext cx="3524250" cy="381000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8267700" y="1885950"/>
                <a:ext cx="9144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474333" y="1983581"/>
                <a:ext cx="50113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误区三</a:t>
                </a:r>
              </a:p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11125200" y="1838325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1239271" y="1964293"/>
                <a:ext cx="190157" cy="168564"/>
              </a:xfrm>
              <a:custGeom>
                <a:avLst/>
                <a:gdLst/>
                <a:ahLst/>
                <a:cxnLst/>
                <a:rect l="l" t="t" r="r" b="b"/>
                <a:pathLst>
                  <a:path w="190157" h="168564">
                    <a:moveTo>
                      <a:pt x="9754" y="159782"/>
                    </a:moveTo>
                    <a:lnTo>
                      <a:pt x="22136" y="122634"/>
                    </a:lnTo>
                    <a:cubicBezTo>
                      <a:pt x="0" y="89897"/>
                      <a:pt x="8553" y="47654"/>
                      <a:pt x="42139" y="23822"/>
                    </a:cubicBezTo>
                    <a:cubicBezTo>
                      <a:pt x="75724" y="0"/>
                      <a:pt x="123958" y="1953"/>
                      <a:pt x="154962" y="28394"/>
                    </a:cubicBezTo>
                    <a:cubicBezTo>
                      <a:pt x="185966" y="54845"/>
                      <a:pt x="190157" y="97603"/>
                      <a:pt x="164763" y="128416"/>
                    </a:cubicBezTo>
                    <a:cubicBezTo>
                      <a:pt x="139370" y="159229"/>
                      <a:pt x="92231" y="168564"/>
                      <a:pt x="54521" y="150257"/>
                    </a:cubicBezTo>
                    <a:lnTo>
                      <a:pt x="9754" y="159782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8246745" y="2565082"/>
                <a:ext cx="165911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「太难学不会」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8267700" y="297180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D6E6F9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8441055" y="3102292"/>
                <a:ext cx="173550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真相：会微信就会用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254365" y="3658552"/>
                <a:ext cx="20079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AI 的操作门槛，比你想象的低得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254365" y="3906202"/>
                <a:ext cx="21269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多。只要你平时会用微信、会复制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254365" y="4153852"/>
                <a:ext cx="21269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粘贴，今天这节课走完，你就能在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254365" y="440150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岗位上真正用起来。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3" name="TextBox 63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273028" y="634174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4 / 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-666750" y="-1238250"/>
            <a:ext cx="15144750" cy="10382250"/>
            <a:chOff x="-666750" y="-1238250"/>
            <a:chExt cx="15144750" cy="10382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6096000" cy="6096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762500" cy="4762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-666750" y="-1238250"/>
              <a:ext cx="3619500" cy="36195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1382375" y="1095375"/>
              <a:ext cx="95250" cy="9525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629900" y="723900"/>
              <a:ext cx="76200" cy="762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9619869" y="4038600"/>
            <a:ext cx="2153031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0" b="1" dirty="0">
                <a:solidFill>
                  <a:srgbClr val="FFFFFF">
                    <a:alphaMod val="14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070" y="474345"/>
            <a:ext cx="634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LOGO HERE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29590" y="2423160"/>
            <a:ext cx="2939415" cy="2258378"/>
            <a:chOff x="529590" y="2423160"/>
            <a:chExt cx="2939415" cy="2258378"/>
          </a:xfrm>
        </p:grpSpPr>
        <p:sp>
          <p:nvSpPr>
            <p:cNvPr id="12" name="TextBox 12"/>
            <p:cNvSpPr txBox="1"/>
            <p:nvPr/>
          </p:nvSpPr>
          <p:spPr>
            <a:xfrm>
              <a:off x="556260" y="2423160"/>
              <a:ext cx="10226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CHAPTER TWO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27813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9590" y="2996565"/>
              <a:ext cx="200136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 是什么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0545" y="3593782"/>
              <a:ext cx="15821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一张家族树看懂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355" y="4121468"/>
              <a:ext cx="29056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AI、机器学习、深度学习、大模型——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4355" y="440721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到底是啥关系？一次讲清，不再混。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4192250" cy="8953500"/>
            <a:chOff x="0" y="0"/>
            <a:chExt cx="1419225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764310" cy="700088"/>
            <a:chOff x="571500" y="685800"/>
            <a:chExt cx="4764310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AI 家族树：层层包含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45528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越往下，越具体——你平时说的「大模型」，是最下面那支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23875" y="1619250"/>
            <a:ext cx="5238750" cy="3810000"/>
            <a:chOff x="523875" y="1619250"/>
            <a:chExt cx="5238750" cy="3810000"/>
          </a:xfrm>
        </p:grpSpPr>
        <p:sp>
          <p:nvSpPr>
            <p:cNvPr id="10" name="Polygon 10"/>
            <p:cNvSpPr/>
            <p:nvPr/>
          </p:nvSpPr>
          <p:spPr>
            <a:xfrm>
              <a:off x="1381125" y="1619250"/>
              <a:ext cx="3524250" cy="685800"/>
            </a:xfrm>
            <a:custGeom>
              <a:avLst/>
              <a:gdLst/>
              <a:ahLst/>
              <a:cxnLst/>
              <a:rect l="l" t="t" r="r" b="b"/>
              <a:pathLst>
                <a:path w="3524250" h="685800">
                  <a:moveTo>
                    <a:pt x="142875" y="0"/>
                  </a:moveTo>
                  <a:lnTo>
                    <a:pt x="3381375" y="0"/>
                  </a:lnTo>
                  <a:lnTo>
                    <a:pt x="35242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D6E6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639369" y="1892618"/>
              <a:ext cx="10077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人工智能 AI</a:t>
              </a:r>
            </a:p>
          </p:txBody>
        </p:sp>
        <p:sp>
          <p:nvSpPr>
            <p:cNvPr id="12" name="Polygon 12"/>
            <p:cNvSpPr/>
            <p:nvPr/>
          </p:nvSpPr>
          <p:spPr>
            <a:xfrm>
              <a:off x="1095375" y="2400300"/>
              <a:ext cx="4095750" cy="685800"/>
            </a:xfrm>
            <a:custGeom>
              <a:avLst/>
              <a:gdLst/>
              <a:ahLst/>
              <a:cxnLst/>
              <a:rect l="l" t="t" r="r" b="b"/>
              <a:pathLst>
                <a:path w="4095750" h="685800">
                  <a:moveTo>
                    <a:pt x="142875" y="0"/>
                  </a:moveTo>
                  <a:lnTo>
                    <a:pt x="3952875" y="0"/>
                  </a:lnTo>
                  <a:lnTo>
                    <a:pt x="40957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35A3E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96839" y="2673668"/>
              <a:ext cx="10928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机器学习 ML</a:t>
              </a:r>
            </a:p>
          </p:txBody>
        </p:sp>
        <p:sp>
          <p:nvSpPr>
            <p:cNvPr id="14" name="Polygon 14"/>
            <p:cNvSpPr/>
            <p:nvPr/>
          </p:nvSpPr>
          <p:spPr>
            <a:xfrm>
              <a:off x="809625" y="3181350"/>
              <a:ext cx="4667250" cy="685800"/>
            </a:xfrm>
            <a:custGeom>
              <a:avLst/>
              <a:gdLst/>
              <a:ahLst/>
              <a:cxnLst/>
              <a:rect l="l" t="t" r="r" b="b"/>
              <a:pathLst>
                <a:path w="4667250" h="685800">
                  <a:moveTo>
                    <a:pt x="142875" y="0"/>
                  </a:moveTo>
                  <a:lnTo>
                    <a:pt x="4524375" y="0"/>
                  </a:lnTo>
                  <a:lnTo>
                    <a:pt x="46672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1565D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615741" y="3454718"/>
              <a:ext cx="1055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深度学习 DL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523875" y="3962400"/>
              <a:ext cx="5238750" cy="685800"/>
            </a:xfrm>
            <a:custGeom>
              <a:avLst/>
              <a:gdLst/>
              <a:ahLst/>
              <a:cxnLst/>
              <a:rect l="l" t="t" r="r" b="b"/>
              <a:pathLst>
                <a:path w="5238750" h="685800">
                  <a:moveTo>
                    <a:pt x="142875" y="0"/>
                  </a:moveTo>
                  <a:lnTo>
                    <a:pt x="5095875" y="0"/>
                  </a:lnTo>
                  <a:lnTo>
                    <a:pt x="52387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B4EA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39369" y="4235768"/>
              <a:ext cx="10077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大模型 LLM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23875" y="4743450"/>
              <a:ext cx="5238750" cy="68580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19050">
              <a:solidFill>
                <a:srgbClr val="1565D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733881" y="501681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生成式 AI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791075" y="1962150"/>
            <a:ext cx="1495425" cy="3133725"/>
            <a:chOff x="4791075" y="1962150"/>
            <a:chExt cx="1495425" cy="3133725"/>
          </a:xfrm>
        </p:grpSpPr>
        <p:sp>
          <p:nvSpPr>
            <p:cNvPr id="21" name="Line 21"/>
            <p:cNvSpPr/>
            <p:nvPr/>
          </p:nvSpPr>
          <p:spPr>
            <a:xfrm>
              <a:off x="4791075" y="1962150"/>
              <a:ext cx="1495425" cy="9525"/>
            </a:xfrm>
            <a:custGeom>
              <a:avLst/>
              <a:gdLst/>
              <a:ahLst/>
              <a:cxnLst/>
              <a:rect l="l" t="t" r="r" b="b"/>
              <a:pathLst>
                <a:path w="1495425" h="9525">
                  <a:moveTo>
                    <a:pt x="0" y="0"/>
                  </a:moveTo>
                  <a:lnTo>
                    <a:pt x="1495425" y="0"/>
                  </a:lnTo>
                </a:path>
              </a:pathLst>
            </a:custGeom>
            <a:noFill/>
            <a:ln w="14288">
              <a:solidFill>
                <a:srgbClr val="D8E1EC"/>
              </a:solidFill>
              <a:prstDash val="dash"/>
            </a:ln>
          </p:spPr>
        </p:sp>
        <p:sp>
          <p:nvSpPr>
            <p:cNvPr id="22" name="Line 22"/>
            <p:cNvSpPr/>
            <p:nvPr/>
          </p:nvSpPr>
          <p:spPr>
            <a:xfrm>
              <a:off x="5124450" y="2743200"/>
              <a:ext cx="1162050" cy="9525"/>
            </a:xfrm>
            <a:custGeom>
              <a:avLst/>
              <a:gdLst/>
              <a:ahLst/>
              <a:cxnLst/>
              <a:rect l="l" t="t" r="r" b="b"/>
              <a:pathLst>
                <a:path w="1162050" h="9525">
                  <a:moveTo>
                    <a:pt x="0" y="0"/>
                  </a:moveTo>
                  <a:lnTo>
                    <a:pt x="1162050" y="0"/>
                  </a:lnTo>
                </a:path>
              </a:pathLst>
            </a:custGeom>
            <a:noFill/>
            <a:ln w="14288">
              <a:solidFill>
                <a:srgbClr val="D8E1EC"/>
              </a:solidFill>
              <a:prstDash val="dash"/>
            </a:ln>
          </p:spPr>
        </p:sp>
        <p:sp>
          <p:nvSpPr>
            <p:cNvPr id="23" name="Line 23"/>
            <p:cNvSpPr/>
            <p:nvPr/>
          </p:nvSpPr>
          <p:spPr>
            <a:xfrm>
              <a:off x="5410200" y="3524250"/>
              <a:ext cx="876300" cy="9525"/>
            </a:xfrm>
            <a:custGeom>
              <a:avLst/>
              <a:gdLst/>
              <a:ahLst/>
              <a:cxnLst/>
              <a:rect l="l" t="t" r="r" b="b"/>
              <a:pathLst>
                <a:path w="876300" h="9525">
                  <a:moveTo>
                    <a:pt x="0" y="0"/>
                  </a:moveTo>
                  <a:lnTo>
                    <a:pt x="876300" y="0"/>
                  </a:lnTo>
                </a:path>
              </a:pathLst>
            </a:custGeom>
            <a:noFill/>
            <a:ln w="14288">
              <a:solidFill>
                <a:srgbClr val="D8E1EC"/>
              </a:solidFill>
              <a:prstDash val="dash"/>
            </a:ln>
          </p:spPr>
        </p:sp>
        <p:sp>
          <p:nvSpPr>
            <p:cNvPr id="24" name="Line 24"/>
            <p:cNvSpPr/>
            <p:nvPr/>
          </p:nvSpPr>
          <p:spPr>
            <a:xfrm>
              <a:off x="5695950" y="4305300"/>
              <a:ext cx="590550" cy="9525"/>
            </a:xfrm>
            <a:custGeom>
              <a:avLst/>
              <a:gdLst/>
              <a:ahLst/>
              <a:cxnLst/>
              <a:rect l="l" t="t" r="r" b="b"/>
              <a:pathLst>
                <a:path w="590550" h="9525">
                  <a:moveTo>
                    <a:pt x="0" y="0"/>
                  </a:moveTo>
                  <a:lnTo>
                    <a:pt x="590550" y="0"/>
                  </a:lnTo>
                </a:path>
              </a:pathLst>
            </a:custGeom>
            <a:noFill/>
            <a:ln w="14288">
              <a:solidFill>
                <a:srgbClr val="D8E1EC"/>
              </a:solidFill>
              <a:prstDash val="dash"/>
            </a:ln>
          </p:spPr>
        </p:sp>
        <p:sp>
          <p:nvSpPr>
            <p:cNvPr id="25" name="Line 25"/>
            <p:cNvSpPr/>
            <p:nvPr/>
          </p:nvSpPr>
          <p:spPr>
            <a:xfrm>
              <a:off x="5762625" y="508635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14288">
              <a:solidFill>
                <a:srgbClr val="1565D8"/>
              </a:solidFill>
              <a:prstDash val="dash"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6286500" y="1619250"/>
            <a:ext cx="5334000" cy="3810000"/>
            <a:chOff x="6286500" y="1619250"/>
            <a:chExt cx="5334000" cy="3810000"/>
          </a:xfrm>
        </p:grpSpPr>
        <p:grpSp>
          <p:nvGrpSpPr>
            <p:cNvPr id="31" name="Group 31"/>
            <p:cNvGrpSpPr/>
            <p:nvPr/>
          </p:nvGrpSpPr>
          <p:grpSpPr>
            <a:xfrm>
              <a:off x="6286500" y="1619250"/>
              <a:ext cx="5334000" cy="685800"/>
              <a:chOff x="6286500" y="1619250"/>
              <a:chExt cx="5334000" cy="6858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286500" y="1619250"/>
                <a:ext cx="53340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6286500" y="1619250"/>
                <a:ext cx="57150" cy="68580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536055" y="1759268"/>
                <a:ext cx="10077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人工智能 AI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539865" y="2039302"/>
                <a:ext cx="28410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让机器像人一样「思考」的大目标——最大的圈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286500" y="2400300"/>
              <a:ext cx="5334000" cy="685800"/>
              <a:chOff x="6286500" y="2400300"/>
              <a:chExt cx="5334000" cy="6858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286500" y="2400300"/>
                <a:ext cx="53340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6286500" y="2400300"/>
                <a:ext cx="57150" cy="685800"/>
              </a:xfrm>
              <a:prstGeom prst="roundRect">
                <a:avLst>
                  <a:gd name="adj" fmla="val 50000"/>
                </a:avLst>
              </a:prstGeom>
              <a:solidFill>
                <a:srgbClr val="35A3E8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536055" y="2540318"/>
                <a:ext cx="109282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机器学习 ML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539865" y="2820352"/>
                <a:ext cx="17068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让机器从数据里自己找规律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286500" y="3181350"/>
              <a:ext cx="5334000" cy="685800"/>
              <a:chOff x="6286500" y="3181350"/>
              <a:chExt cx="5334000" cy="6858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6286500" y="3181350"/>
                <a:ext cx="53340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6286500" y="3181350"/>
                <a:ext cx="57150" cy="685800"/>
              </a:xfrm>
              <a:prstGeom prst="roundRect">
                <a:avLst>
                  <a:gd name="adj" fmla="val 50000"/>
                </a:avLst>
              </a:prstGeom>
              <a:solidFill>
                <a:srgbClr val="1565D8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536055" y="3321368"/>
                <a:ext cx="105501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深度学习 DL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539865" y="360140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用「神经网络」学得更深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286500" y="3962400"/>
              <a:ext cx="5334000" cy="685800"/>
              <a:chOff x="6286500" y="3962400"/>
              <a:chExt cx="5334000" cy="6858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6286500" y="3962400"/>
                <a:ext cx="53340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6286500" y="3962400"/>
                <a:ext cx="57150" cy="685800"/>
              </a:xfrm>
              <a:prstGeom prst="roundRect">
                <a:avLst>
                  <a:gd name="adj" fmla="val 50000"/>
                </a:avLst>
              </a:prstGeom>
              <a:solidFill>
                <a:srgbClr val="0B4EA2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536055" y="4102418"/>
                <a:ext cx="10077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大模型 LLM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539865" y="43824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喂了海量文本的巨型网络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286500" y="4743450"/>
              <a:ext cx="5334000" cy="685800"/>
              <a:chOff x="6286500" y="4743450"/>
              <a:chExt cx="5334000" cy="6858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6286500" y="4743450"/>
                <a:ext cx="53340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D6E6F9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6286500" y="4743450"/>
                <a:ext cx="57150" cy="685800"/>
              </a:xfrm>
              <a:prstGeom prst="roundRect">
                <a:avLst>
                  <a:gd name="adj" fmla="val 50000"/>
                </a:avLst>
              </a:prstGeom>
              <a:solidFill>
                <a:srgbClr val="1565D8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536055" y="4883468"/>
                <a:ext cx="81873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生成式 AI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539865" y="5163502"/>
                <a:ext cx="298173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能「写出」内容的那一支——最小、也最贴近你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571500" y="5715000"/>
            <a:ext cx="11049000" cy="457200"/>
            <a:chOff x="571500" y="5715000"/>
            <a:chExt cx="11049000" cy="457200"/>
          </a:xfrm>
        </p:grpSpPr>
        <p:sp>
          <p:nvSpPr>
            <p:cNvPr id="53" name="Rectangle 53"/>
            <p:cNvSpPr/>
            <p:nvPr/>
          </p:nvSpPr>
          <p:spPr>
            <a:xfrm>
              <a:off x="571500" y="57150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71500" y="57150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59155" y="5864542"/>
              <a:ext cx="49489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记住：你学的是最下面这层。它是一个家族，不是五件事。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57" name="TextBox 57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273028" y="634174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6 / 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6" grpId="0"/>
      <p:bldP spid="52" grpId="0"/>
      <p:bldP spid="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722608" cy="700088"/>
            <a:chOff x="571500" y="685800"/>
            <a:chExt cx="3722608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352258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它擅长什么、不擅长什么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知道边界，才不会用错地方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" y="1619250"/>
            <a:ext cx="5334000" cy="3810000"/>
            <a:chOff x="571500" y="1619250"/>
            <a:chExt cx="5334000" cy="3810000"/>
          </a:xfrm>
        </p:grpSpPr>
        <p:sp>
          <p:nvSpPr>
            <p:cNvPr id="10" name="Rectangle 10"/>
            <p:cNvSpPr/>
            <p:nvPr/>
          </p:nvSpPr>
          <p:spPr>
            <a:xfrm>
              <a:off x="571500" y="1619250"/>
              <a:ext cx="5334000" cy="3810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838200" y="190500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971550" y="2042116"/>
              <a:ext cx="148634" cy="148634"/>
              <a:chOff x="971550" y="2042116"/>
              <a:chExt cx="148634" cy="14863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971550" y="2042116"/>
                <a:ext cx="148634" cy="148634"/>
              </a:xfrm>
              <a:custGeom>
                <a:avLst/>
                <a:gdLst/>
                <a:ahLst/>
                <a:cxnLst/>
                <a:rect l="l" t="t" r="r" b="b"/>
                <a:pathLst>
                  <a:path w="148634" h="148634">
                    <a:moveTo>
                      <a:pt x="0" y="148634"/>
                    </a:moveTo>
                    <a:lnTo>
                      <a:pt x="38100" y="148634"/>
                    </a:lnTo>
                    <a:lnTo>
                      <a:pt x="138112" y="48621"/>
                    </a:lnTo>
                    <a:cubicBezTo>
                      <a:pt x="148634" y="38100"/>
                      <a:pt x="148634" y="21042"/>
                      <a:pt x="138112" y="10521"/>
                    </a:cubicBezTo>
                    <a:cubicBezTo>
                      <a:pt x="127591" y="0"/>
                      <a:pt x="110534" y="0"/>
                      <a:pt x="100012" y="10521"/>
                    </a:cubicBezTo>
                    <a:lnTo>
                      <a:pt x="0" y="110534"/>
                    </a:lnTo>
                    <a:lnTo>
                      <a:pt x="0" y="148634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62038" y="2062162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0"/>
                    </a:moveTo>
                    <a:lnTo>
                      <a:pt x="38100" y="3810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369695" y="201263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擅长：帮你「起草」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00100" y="24384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1EC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869156" y="2717006"/>
              <a:ext cx="185738" cy="185738"/>
              <a:chOff x="869156" y="2717006"/>
              <a:chExt cx="185738" cy="18573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69156" y="27170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31069" y="27892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221105" y="2730818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写东西：</a:t>
              </a:r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邮件、汇报、总结、通知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869156" y="3250406"/>
              <a:ext cx="185738" cy="185738"/>
              <a:chOff x="869156" y="3250406"/>
              <a:chExt cx="185738" cy="18573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69156" y="32504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31069" y="33226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221105" y="326421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整理：</a:t>
              </a:r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把一堆零散信息理成要点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869156" y="3783806"/>
              <a:ext cx="185738" cy="185738"/>
              <a:chOff x="869156" y="3783806"/>
              <a:chExt cx="185738" cy="18573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69156" y="37838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31069" y="38560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221105" y="379761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翻译：</a:t>
              </a:r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中英文、方言、专业术语互译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869156" y="4317206"/>
              <a:ext cx="185738" cy="185738"/>
              <a:chOff x="869156" y="4317206"/>
              <a:chExt cx="185738" cy="18573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69156" y="43172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31069" y="43894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221105" y="433101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想点子：</a:t>
              </a:r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起名、方案、头脑风暴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869156" y="4850606"/>
              <a:ext cx="185738" cy="185738"/>
              <a:chOff x="869156" y="4850606"/>
              <a:chExt cx="185738" cy="185738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69156" y="48506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31069" y="49228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221105" y="4864418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答疑：</a:t>
              </a:r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解释概念、举例、打个比方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286500" y="1619250"/>
            <a:ext cx="5334000" cy="3810000"/>
            <a:chOff x="6286500" y="1619250"/>
            <a:chExt cx="5334000" cy="3810000"/>
          </a:xfrm>
        </p:grpSpPr>
        <p:sp>
          <p:nvSpPr>
            <p:cNvPr id="38" name="Rectangle 38"/>
            <p:cNvSpPr/>
            <p:nvPr/>
          </p:nvSpPr>
          <p:spPr>
            <a:xfrm>
              <a:off x="6286500" y="1619250"/>
              <a:ext cx="5334000" cy="3810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6553200" y="1905000"/>
              <a:ext cx="419100" cy="419100"/>
            </a:xfrm>
            <a:prstGeom prst="ellipse">
              <a:avLst/>
            </a:prstGeom>
            <a:solidFill>
              <a:srgbClr val="E9EEF5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686550" y="2028825"/>
              <a:ext cx="152400" cy="171450"/>
              <a:chOff x="6686550" y="2028825"/>
              <a:chExt cx="152400" cy="17145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686550" y="2028825"/>
                <a:ext cx="1524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714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33350" y="0"/>
                    </a:lnTo>
                    <a:cubicBezTo>
                      <a:pt x="143871" y="0"/>
                      <a:pt x="152400" y="8529"/>
                      <a:pt x="152400" y="19050"/>
                    </a:cubicBezTo>
                    <a:lnTo>
                      <a:pt x="152400" y="152400"/>
                    </a:lnTo>
                    <a:cubicBezTo>
                      <a:pt x="152400" y="162921"/>
                      <a:pt x="143871" y="171450"/>
                      <a:pt x="133350" y="171450"/>
                    </a:cubicBezTo>
                    <a:lnTo>
                      <a:pt x="19050" y="171450"/>
                    </a:lnTo>
                    <a:cubicBezTo>
                      <a:pt x="8529" y="171450"/>
                      <a:pt x="0" y="162921"/>
                      <a:pt x="0" y="1524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724650" y="2066925"/>
                <a:ext cx="7620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8575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66675" y="0"/>
                    </a:lnTo>
                    <a:cubicBezTo>
                      <a:pt x="71936" y="0"/>
                      <a:pt x="76200" y="4264"/>
                      <a:pt x="76200" y="9525"/>
                    </a:cubicBezTo>
                    <a:lnTo>
                      <a:pt x="76200" y="19050"/>
                    </a:lnTo>
                    <a:cubicBezTo>
                      <a:pt x="76200" y="24311"/>
                      <a:pt x="71936" y="28575"/>
                      <a:pt x="66675" y="28575"/>
                    </a:cubicBezTo>
                    <a:lnTo>
                      <a:pt x="9525" y="28575"/>
                    </a:lnTo>
                    <a:cubicBezTo>
                      <a:pt x="4264" y="28575"/>
                      <a:pt x="0" y="24311"/>
                      <a:pt x="0" y="19050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724650" y="2133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762750" y="2133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800850" y="2133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724650" y="2162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762750" y="2162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800850" y="2162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7084695" y="2012632"/>
              <a:ext cx="25832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不擅长：别让它「拍板」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6515100" y="24384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1EC"/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584156" y="2717006"/>
              <a:ext cx="185738" cy="185738"/>
              <a:chOff x="6584156" y="2717006"/>
              <a:chExt cx="185738" cy="185738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584156" y="27170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656388" y="278923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0"/>
                    </a:moveTo>
                    <a:lnTo>
                      <a:pt x="41275" y="41275"/>
                    </a:lnTo>
                    <a:moveTo>
                      <a:pt x="41275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936105" y="273081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算精确的账</a:t>
              </a:r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（容易算错）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6584156" y="3364706"/>
              <a:ext cx="185738" cy="185738"/>
              <a:chOff x="6584156" y="3364706"/>
              <a:chExt cx="185738" cy="185738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584156" y="33647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656388" y="343693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0"/>
                    </a:moveTo>
                    <a:lnTo>
                      <a:pt x="41275" y="41275"/>
                    </a:lnTo>
                    <a:moveTo>
                      <a:pt x="41275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936105" y="337851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记住死准的事实</a:t>
              </a:r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（会记串）</a:t>
              </a:r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6584156" y="4012406"/>
              <a:ext cx="185738" cy="185738"/>
              <a:chOff x="6584156" y="4012406"/>
              <a:chExt cx="185738" cy="185738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584156" y="40124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656388" y="408463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0"/>
                    </a:moveTo>
                    <a:lnTo>
                      <a:pt x="41275" y="41275"/>
                    </a:lnTo>
                    <a:moveTo>
                      <a:pt x="41275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936105" y="402621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替你做重大决定</a:t>
              </a:r>
            </a:p>
          </p:txBody>
        </p:sp>
        <p:grpSp>
          <p:nvGrpSpPr>
            <p:cNvPr id="65" name="Group 65"/>
            <p:cNvGrpSpPr/>
            <p:nvPr/>
          </p:nvGrpSpPr>
          <p:grpSpPr>
            <a:xfrm>
              <a:off x="6584156" y="4660106"/>
              <a:ext cx="185738" cy="185738"/>
              <a:chOff x="6584156" y="4660106"/>
              <a:chExt cx="185738" cy="185738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584156" y="46601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656388" y="473233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0"/>
                    </a:moveTo>
                    <a:lnTo>
                      <a:pt x="41275" y="41275"/>
                    </a:lnTo>
                    <a:moveTo>
                      <a:pt x="41275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936105" y="467391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判断你单位的特殊规矩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71500" y="5715000"/>
            <a:ext cx="11049000" cy="457200"/>
            <a:chOff x="571500" y="5715000"/>
            <a:chExt cx="11049000" cy="457200"/>
          </a:xfrm>
        </p:grpSpPr>
        <p:sp>
          <p:nvSpPr>
            <p:cNvPr id="68" name="Rectangle 68"/>
            <p:cNvSpPr/>
            <p:nvPr/>
          </p:nvSpPr>
          <p:spPr>
            <a:xfrm>
              <a:off x="571500" y="57150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571500" y="57150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59155" y="5864542"/>
              <a:ext cx="30586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口诀：能帮你起草，不能替你负责。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72" name="TextBox 72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273028" y="634174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7 / 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67" grpId="0"/>
      <p:bldP spid="7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-666750" y="-1238250"/>
            <a:ext cx="15144750" cy="10382250"/>
            <a:chOff x="-666750" y="-1238250"/>
            <a:chExt cx="15144750" cy="10382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6096000" cy="6096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762500" cy="4762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-666750" y="-1238250"/>
              <a:ext cx="3619500" cy="36195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1382375" y="1095375"/>
              <a:ext cx="95250" cy="9525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629900" y="723900"/>
              <a:ext cx="76200" cy="762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9619869" y="4038600"/>
            <a:ext cx="2153031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0" b="1" dirty="0">
                <a:solidFill>
                  <a:srgbClr val="FFFFFF">
                    <a:alphaMod val="14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070" y="474345"/>
            <a:ext cx="634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LOGO HERE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29590" y="2423160"/>
            <a:ext cx="3318224" cy="2258378"/>
            <a:chOff x="529590" y="2423160"/>
            <a:chExt cx="3318224" cy="2258378"/>
          </a:xfrm>
        </p:grpSpPr>
        <p:sp>
          <p:nvSpPr>
            <p:cNvPr id="12" name="TextBox 12"/>
            <p:cNvSpPr txBox="1"/>
            <p:nvPr/>
          </p:nvSpPr>
          <p:spPr>
            <a:xfrm>
              <a:off x="556260" y="24231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CHAPTER THREE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27813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9590" y="2996565"/>
              <a:ext cx="331822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大模型如何工作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0545" y="3593782"/>
              <a:ext cx="26822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一个特别会「接话」的高手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355" y="412146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它为什么这么聪明？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4355" y="440721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又为什么会一本正经地说错话？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4192250" cy="8953500"/>
            <a:chOff x="0" y="0"/>
            <a:chExt cx="1419225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206240" cy="700088"/>
            <a:chOff x="571500" y="685800"/>
            <a:chExt cx="4206240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62472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大模型 = 接话高手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它不是「查答案」，而是「一个词一个词往下接」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4355" y="1492568"/>
            <a:ext cx="7955280" cy="274320"/>
            <a:chOff x="554355" y="1492568"/>
            <a:chExt cx="7955280" cy="274320"/>
          </a:xfrm>
        </p:grpSpPr>
        <p:sp>
          <p:nvSpPr>
            <p:cNvPr id="10" name="TextBox 10"/>
            <p:cNvSpPr txBox="1"/>
            <p:nvPr/>
          </p:nvSpPr>
          <p:spPr>
            <a:xfrm>
              <a:off x="554355" y="1492568"/>
              <a:ext cx="79552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它读过海量的文本，所以特别会「接话」。你给它开头，它就顺着往下说，说得越接越像那么回事。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810000" y="2495550"/>
            <a:ext cx="4476750" cy="1"/>
            <a:chOff x="3810000" y="2495550"/>
            <a:chExt cx="4476750" cy="1"/>
          </a:xfrm>
        </p:grpSpPr>
        <p:sp>
          <p:nvSpPr>
            <p:cNvPr id="12" name="Line 12"/>
            <p:cNvSpPr/>
            <p:nvPr/>
          </p:nvSpPr>
          <p:spPr>
            <a:xfrm>
              <a:off x="3810000" y="2495550"/>
              <a:ext cx="571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</p:sp>
        <p:sp>
          <p:nvSpPr>
            <p:cNvPr id="13" name="Line 13"/>
            <p:cNvSpPr/>
            <p:nvPr/>
          </p:nvSpPr>
          <p:spPr>
            <a:xfrm>
              <a:off x="7715250" y="2495550"/>
              <a:ext cx="571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571500" y="2190750"/>
            <a:ext cx="3238500" cy="2952750"/>
            <a:chOff x="571500" y="2190750"/>
            <a:chExt cx="3238500" cy="2952750"/>
          </a:xfrm>
        </p:grpSpPr>
        <p:sp>
          <p:nvSpPr>
            <p:cNvPr id="15" name="Ellipse 15"/>
            <p:cNvSpPr/>
            <p:nvPr/>
          </p:nvSpPr>
          <p:spPr>
            <a:xfrm>
              <a:off x="1885950" y="2190750"/>
              <a:ext cx="609600" cy="6096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113943" y="2419350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2952750"/>
              <a:ext cx="32385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00100" y="318135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923925" y="3314700"/>
              <a:ext cx="171450" cy="161925"/>
              <a:chOff x="923925" y="3314700"/>
              <a:chExt cx="171450" cy="1619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971550" y="3362325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71550" y="340042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23925" y="3314700"/>
                <a:ext cx="17145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61925">
                    <a:moveTo>
                      <a:pt x="57150" y="133350"/>
                    </a:moveTo>
                    <a:lnTo>
                      <a:pt x="28575" y="133350"/>
                    </a:lnTo>
                    <a:cubicBezTo>
                      <a:pt x="12793" y="133350"/>
                      <a:pt x="0" y="120557"/>
                      <a:pt x="0" y="1047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04775"/>
                    </a:lnTo>
                    <a:cubicBezTo>
                      <a:pt x="171450" y="120557"/>
                      <a:pt x="158657" y="133350"/>
                      <a:pt x="142875" y="133350"/>
                    </a:cubicBezTo>
                    <a:lnTo>
                      <a:pt x="114300" y="133350"/>
                    </a:lnTo>
                    <a:lnTo>
                      <a:pt x="85725" y="161925"/>
                    </a:lnTo>
                    <a:lnTo>
                      <a:pt x="57150" y="13335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331595" y="32889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你问一句话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00100" y="3733800"/>
              <a:ext cx="2781300" cy="609600"/>
            </a:xfrm>
            <a:prstGeom prst="roundRect">
              <a:avLst>
                <a:gd name="adj" fmla="val 25000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75360" y="3975735"/>
              <a:ext cx="22147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「帮我写一份本周工作总结」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6765" y="4611052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就像给 AI 发一条微信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476750" y="2190750"/>
            <a:ext cx="3238500" cy="2952750"/>
            <a:chOff x="4476750" y="2190750"/>
            <a:chExt cx="3238500" cy="2952750"/>
          </a:xfrm>
        </p:grpSpPr>
        <p:sp>
          <p:nvSpPr>
            <p:cNvPr id="28" name="Ellipse 28"/>
            <p:cNvSpPr/>
            <p:nvPr/>
          </p:nvSpPr>
          <p:spPr>
            <a:xfrm>
              <a:off x="5791200" y="2190750"/>
              <a:ext cx="609600" cy="609600"/>
            </a:xfrm>
            <a:prstGeom prst="ellipse">
              <a:avLst/>
            </a:prstGeom>
            <a:solidFill>
              <a:srgbClr val="35A3E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19193" y="2419350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476750" y="2952750"/>
              <a:ext cx="32385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4705350" y="318135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4829175" y="3314700"/>
              <a:ext cx="152400" cy="152400"/>
              <a:chOff x="4829175" y="3314700"/>
              <a:chExt cx="152400" cy="1524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4829175" y="33147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829175" y="34099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882515" y="3358515"/>
                <a:ext cx="99060" cy="99060"/>
              </a:xfrm>
              <a:custGeom>
                <a:avLst/>
                <a:gdLst/>
                <a:ahLst/>
                <a:cxnLst/>
                <a:rect l="l" t="t" r="r" b="b"/>
                <a:pathLst>
                  <a:path w="99060" h="99060">
                    <a:moveTo>
                      <a:pt x="0" y="0"/>
                    </a:moveTo>
                    <a:lnTo>
                      <a:pt x="99060" y="9906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4882515" y="3324225"/>
                <a:ext cx="99060" cy="99060"/>
              </a:xfrm>
              <a:custGeom>
                <a:avLst/>
                <a:gdLst/>
                <a:ahLst/>
                <a:cxnLst/>
                <a:rect l="l" t="t" r="r" b="b"/>
                <a:pathLst>
                  <a:path w="99060" h="99060">
                    <a:moveTo>
                      <a:pt x="0" y="99060"/>
                    </a:moveTo>
                    <a:lnTo>
                      <a:pt x="9906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5236845" y="32889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它拆成词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92015" y="38871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把话切成一个个小词块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92015" y="4134802"/>
              <a:ext cx="6917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（token）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705350" y="4476750"/>
              <a:ext cx="2781300" cy="419100"/>
            </a:xfrm>
            <a:prstGeom prst="roundRect">
              <a:avLst>
                <a:gd name="adj" fmla="val 36364"/>
              </a:avLst>
            </a:prstGeom>
            <a:solidFill>
              <a:srgbClr val="E9EEF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882515" y="4630102"/>
              <a:ext cx="28273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帮 / 我 / 写 / 一 / 份 / 本周 / 工作 / 总结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382000" y="2190750"/>
            <a:ext cx="3238500" cy="2952750"/>
            <a:chOff x="8382000" y="2190750"/>
            <a:chExt cx="3238500" cy="2952750"/>
          </a:xfrm>
        </p:grpSpPr>
        <p:sp>
          <p:nvSpPr>
            <p:cNvPr id="43" name="Ellipse 43"/>
            <p:cNvSpPr/>
            <p:nvPr/>
          </p:nvSpPr>
          <p:spPr>
            <a:xfrm>
              <a:off x="9696450" y="2190750"/>
              <a:ext cx="609600" cy="609600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924443" y="2419350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382000" y="2952750"/>
              <a:ext cx="32385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8610600" y="318135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8743949" y="3310046"/>
              <a:ext cx="157041" cy="161688"/>
              <a:chOff x="8743949" y="3310046"/>
              <a:chExt cx="157041" cy="161688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791575" y="33623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810625" y="3310046"/>
                <a:ext cx="90365" cy="90379"/>
              </a:xfrm>
              <a:custGeom>
                <a:avLst/>
                <a:gdLst/>
                <a:ahLst/>
                <a:cxnLst/>
                <a:rect l="l" t="t" r="r" b="b"/>
                <a:pathLst>
                  <a:path w="90365" h="90379">
                    <a:moveTo>
                      <a:pt x="0" y="23704"/>
                    </a:moveTo>
                    <a:lnTo>
                      <a:pt x="4410" y="18599"/>
                    </a:lnTo>
                    <a:cubicBezTo>
                      <a:pt x="23011" y="0"/>
                      <a:pt x="53168" y="2"/>
                      <a:pt x="71766" y="18603"/>
                    </a:cubicBezTo>
                    <a:cubicBezTo>
                      <a:pt x="90365" y="37204"/>
                      <a:pt x="90363" y="67361"/>
                      <a:pt x="71761" y="85959"/>
                    </a:cubicBezTo>
                    <a:lnTo>
                      <a:pt x="66675" y="90379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743949" y="3381375"/>
                <a:ext cx="85726" cy="90359"/>
              </a:xfrm>
              <a:custGeom>
                <a:avLst/>
                <a:gdLst/>
                <a:ahLst/>
                <a:cxnLst/>
                <a:rect l="l" t="t" r="r" b="b"/>
                <a:pathLst>
                  <a:path w="85726" h="90359">
                    <a:moveTo>
                      <a:pt x="85726" y="66675"/>
                    </a:moveTo>
                    <a:lnTo>
                      <a:pt x="81945" y="71761"/>
                    </a:lnTo>
                    <a:cubicBezTo>
                      <a:pt x="63138" y="90359"/>
                      <a:pt x="32867" y="90359"/>
                      <a:pt x="14060" y="71761"/>
                    </a:cubicBezTo>
                    <a:cubicBezTo>
                      <a:pt x="5063" y="62865"/>
                      <a:pt x="0" y="50738"/>
                      <a:pt x="0" y="38086"/>
                    </a:cubicBezTo>
                    <a:cubicBezTo>
                      <a:pt x="0" y="25433"/>
                      <a:pt x="5063" y="13306"/>
                      <a:pt x="14060" y="4410"/>
                    </a:cubicBezTo>
                    <a:lnTo>
                      <a:pt x="19051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9142095" y="32889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逐个「接」下去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97265" y="388715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预测下一个最可能的词，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97265" y="41348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接出整段话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610600" y="4476750"/>
              <a:ext cx="2781300" cy="419100"/>
            </a:xfrm>
            <a:prstGeom prst="roundRect">
              <a:avLst>
                <a:gd name="adj" fmla="val 36364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787765" y="4630102"/>
              <a:ext cx="20996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本周我完成了……（接着说下去）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71500" y="5486400"/>
            <a:ext cx="11049000" cy="457200"/>
            <a:chOff x="571500" y="5486400"/>
            <a:chExt cx="11049000" cy="457200"/>
          </a:xfrm>
        </p:grpSpPr>
        <p:sp>
          <p:nvSpPr>
            <p:cNvPr id="57" name="Rectangle 57"/>
            <p:cNvSpPr/>
            <p:nvPr/>
          </p:nvSpPr>
          <p:spPr>
            <a:xfrm>
              <a:off x="571500" y="54864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71500" y="54864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59155" y="5635942"/>
              <a:ext cx="34367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所以：它懂常识，也会一本正经地说错。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1" name="TextBox 61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273028" y="634174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9 / 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27" grpId="0"/>
      <p:bldP spid="42" grpId="0"/>
      <p:bldP spid="56" grpId="0"/>
      <p:bldP spid="6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107228" cy="700088"/>
            <a:chOff x="571500" y="685800"/>
            <a:chExt cx="4107228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19473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AI ≠ 搜索引擎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8957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为什么 AI 的答案，和搜索引擎搜出来的不一样？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1619250"/>
            <a:ext cx="5334000" cy="3524250"/>
            <a:chOff x="571500" y="1619250"/>
            <a:chExt cx="5334000" cy="3524250"/>
          </a:xfrm>
        </p:grpSpPr>
        <p:sp>
          <p:nvSpPr>
            <p:cNvPr id="10" name="Rectangle 10"/>
            <p:cNvSpPr/>
            <p:nvPr/>
          </p:nvSpPr>
          <p:spPr>
            <a:xfrm>
              <a:off x="571500" y="1619250"/>
              <a:ext cx="5334000" cy="352425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857250" y="1905000"/>
              <a:ext cx="495300" cy="4953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027112" y="2041525"/>
              <a:ext cx="155576" cy="211137"/>
              <a:chOff x="1027112" y="2041525"/>
              <a:chExt cx="155576" cy="21113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038225" y="2063750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66675"/>
                    </a:lnTo>
                    <a:cubicBezTo>
                      <a:pt x="133350" y="78950"/>
                      <a:pt x="123400" y="88900"/>
                      <a:pt x="111125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04900" y="2041525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71562" y="2152650"/>
                <a:ext cx="95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2">
                    <a:moveTo>
                      <a:pt x="0" y="0"/>
                    </a:moveTo>
                    <a:lnTo>
                      <a:pt x="0" y="100012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138238" y="2152650"/>
                <a:ext cx="95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2">
                    <a:moveTo>
                      <a:pt x="0" y="0"/>
                    </a:moveTo>
                    <a:lnTo>
                      <a:pt x="0" y="100012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27112" y="21748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22225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138238" y="21748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0"/>
                    </a:moveTo>
                    <a:lnTo>
                      <a:pt x="44450" y="222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71562" y="2219325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82675" y="2108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127125" y="2108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483995" y="1955482"/>
              <a:ext cx="10006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大模型 AI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87805" y="2235518"/>
              <a:ext cx="23781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它「答」—— 直接给你一段话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00100" y="26289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1E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82955" y="288321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它把训练时读过的内容，一个词一个词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2955" y="314991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「接」成一段话直接给你；偶尔会一本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2955" y="3416618"/>
              <a:ext cx="9344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正经地编。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00100" y="3905250"/>
              <a:ext cx="4876800" cy="914400"/>
            </a:xfrm>
            <a:prstGeom prst="roundRect">
              <a:avLst>
                <a:gd name="adj" fmla="val 16667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13460" y="4137660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答案在它的「记忆」里，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13460" y="44234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所以关键事实要回搜索核实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286500" y="1619250"/>
            <a:ext cx="5334000" cy="3524250"/>
            <a:chOff x="6286500" y="1619250"/>
            <a:chExt cx="5334000" cy="3524250"/>
          </a:xfrm>
        </p:grpSpPr>
        <p:sp>
          <p:nvSpPr>
            <p:cNvPr id="32" name="Rectangle 32"/>
            <p:cNvSpPr/>
            <p:nvPr/>
          </p:nvSpPr>
          <p:spPr>
            <a:xfrm>
              <a:off x="6286500" y="1619250"/>
              <a:ext cx="5334000" cy="352425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6572250" y="1905000"/>
              <a:ext cx="495300" cy="495300"/>
            </a:xfrm>
            <a:prstGeom prst="ellipse">
              <a:avLst/>
            </a:prstGeom>
            <a:solidFill>
              <a:srgbClr val="E9EEF5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719888" y="2052638"/>
              <a:ext cx="200025" cy="200025"/>
              <a:chOff x="6719888" y="2052638"/>
              <a:chExt cx="200025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719888" y="2052638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77787"/>
                    </a:moveTo>
                    <a:cubicBezTo>
                      <a:pt x="0" y="120748"/>
                      <a:pt x="34827" y="155575"/>
                      <a:pt x="77787" y="155575"/>
                    </a:cubicBezTo>
                    <a:cubicBezTo>
                      <a:pt x="120748" y="155575"/>
                      <a:pt x="155575" y="120748"/>
                      <a:pt x="155575" y="77787"/>
                    </a:cubicBezTo>
                    <a:cubicBezTo>
                      <a:pt x="155575" y="34827"/>
                      <a:pt x="120748" y="0"/>
                      <a:pt x="77787" y="0"/>
                    </a:cubicBezTo>
                    <a:cubicBezTo>
                      <a:pt x="34827" y="0"/>
                      <a:pt x="0" y="34827"/>
                      <a:pt x="0" y="77787"/>
                    </a:cubicBez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853238" y="218598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666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198995" y="19554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搜索引擎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02805" y="2235518"/>
              <a:ext cx="21891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它「找」—— 给你一堆链接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515100" y="26289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1EC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97955" y="288321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它负责「找」：把包含答案的网页链接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97955" y="3149918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列给你，让你自己点进去看。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515100" y="3905250"/>
              <a:ext cx="4876800" cy="914400"/>
            </a:xfrm>
            <a:prstGeom prst="roundRect">
              <a:avLst>
                <a:gd name="adj" fmla="val 16667"/>
              </a:avLst>
            </a:prstGeom>
            <a:solidFill>
              <a:srgbClr val="E9EEF5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28460" y="413766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答案在网页里，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28460" y="442341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它只是导航员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848350" y="3133725"/>
            <a:ext cx="495300" cy="495300"/>
            <a:chOff x="5848350" y="3133725"/>
            <a:chExt cx="495300" cy="495300"/>
          </a:xfrm>
        </p:grpSpPr>
        <p:sp>
          <p:nvSpPr>
            <p:cNvPr id="46" name="Ellipse 46"/>
            <p:cNvSpPr/>
            <p:nvPr/>
          </p:nvSpPr>
          <p:spPr>
            <a:xfrm>
              <a:off x="5848350" y="3133725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88348" y="3318510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1500" y="5486400"/>
            <a:ext cx="11049000" cy="457200"/>
            <a:chOff x="571500" y="5486400"/>
            <a:chExt cx="11049000" cy="457200"/>
          </a:xfrm>
        </p:grpSpPr>
        <p:sp>
          <p:nvSpPr>
            <p:cNvPr id="49" name="Rectangle 49"/>
            <p:cNvSpPr/>
            <p:nvPr/>
          </p:nvSpPr>
          <p:spPr>
            <a:xfrm>
              <a:off x="571500" y="54864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71500" y="54864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59155" y="5635942"/>
              <a:ext cx="45992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查事实用搜索，写东西用 AI，关键事实再回搜索核实。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53" name="TextBox 53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10 / 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5" grpId="0"/>
      <p:bldP spid="48" grpId="0"/>
      <p:bldP spid="5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4192250" cy="8953500"/>
            <a:chOff x="0" y="0"/>
            <a:chExt cx="1419225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206240" cy="700088"/>
            <a:chOff x="571500" y="685800"/>
            <a:chExt cx="4206240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76648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上下文窗口 与 幻觉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两个必须知道的「短板」，正好教你怎么用得更稳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1619250"/>
            <a:ext cx="5334000" cy="3524250"/>
            <a:chOff x="571500" y="1619250"/>
            <a:chExt cx="5334000" cy="3524250"/>
          </a:xfrm>
        </p:grpSpPr>
        <p:sp>
          <p:nvSpPr>
            <p:cNvPr id="10" name="Rectangle 10"/>
            <p:cNvSpPr/>
            <p:nvPr/>
          </p:nvSpPr>
          <p:spPr>
            <a:xfrm>
              <a:off x="571500" y="1619250"/>
              <a:ext cx="5334000" cy="352425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857250" y="1924050"/>
              <a:ext cx="495300" cy="4953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027112" y="2071688"/>
              <a:ext cx="155575" cy="200025"/>
              <a:chOff x="1027112" y="2071688"/>
              <a:chExt cx="155575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027112" y="2071688"/>
                <a:ext cx="15557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5">
                    <a:moveTo>
                      <a:pt x="77788" y="0"/>
                    </a:moveTo>
                    <a:cubicBezTo>
                      <a:pt x="34827" y="0"/>
                      <a:pt x="0" y="36360"/>
                      <a:pt x="0" y="77787"/>
                    </a:cubicBezTo>
                    <a:lnTo>
                      <a:pt x="0" y="188913"/>
                    </a:lnTo>
                    <a:cubicBezTo>
                      <a:pt x="0" y="195050"/>
                      <a:pt x="4975" y="200025"/>
                      <a:pt x="11113" y="200025"/>
                    </a:cubicBezTo>
                    <a:lnTo>
                      <a:pt x="144463" y="200025"/>
                    </a:lnTo>
                    <a:cubicBezTo>
                      <a:pt x="150600" y="200025"/>
                      <a:pt x="155575" y="195050"/>
                      <a:pt x="155575" y="188913"/>
                    </a:cubicBezTo>
                    <a:lnTo>
                      <a:pt x="155575" y="77787"/>
                    </a:lnTo>
                    <a:cubicBezTo>
                      <a:pt x="155575" y="36360"/>
                      <a:pt x="120748" y="0"/>
                      <a:pt x="77788" y="0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27112" y="2182812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04900" y="2071688"/>
                <a:ext cx="95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0025">
                    <a:moveTo>
                      <a:pt x="0" y="0"/>
                    </a:moveTo>
                    <a:lnTo>
                      <a:pt x="0" y="2000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483995" y="19745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上下文窗口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91615" y="2286952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= 它一次能「看」多少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0" y="2743200"/>
              <a:ext cx="133635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几万字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2955" y="337851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它一次只能「记得」这么长的内容（从几万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2955" y="364521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到几百万字不等），超了就「忘」了前面的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2955" y="3911918"/>
              <a:ext cx="29326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话——就像同时盯太多窗口会丢东西。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00100" y="4305300"/>
              <a:ext cx="4876800" cy="571500"/>
            </a:xfrm>
            <a:prstGeom prst="roundRect">
              <a:avLst>
                <a:gd name="adj" fmla="val 26667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13460" y="4537710"/>
              <a:ext cx="28868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所以：长文档分段喂，关键信息放前面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86500" y="1619250"/>
            <a:ext cx="5334000" cy="3524250"/>
            <a:chOff x="6286500" y="1619250"/>
            <a:chExt cx="5334000" cy="3524250"/>
          </a:xfrm>
        </p:grpSpPr>
        <p:sp>
          <p:nvSpPr>
            <p:cNvPr id="25" name="Rectangle 25"/>
            <p:cNvSpPr/>
            <p:nvPr/>
          </p:nvSpPr>
          <p:spPr>
            <a:xfrm>
              <a:off x="6286500" y="1619250"/>
              <a:ext cx="5334000" cy="352425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6572250" y="1924050"/>
              <a:ext cx="495300" cy="495300"/>
            </a:xfrm>
            <a:prstGeom prst="ellipse">
              <a:avLst/>
            </a:prstGeom>
            <a:solidFill>
              <a:srgbClr val="E9EEF5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719888" y="2071688"/>
              <a:ext cx="200025" cy="200025"/>
              <a:chOff x="6719888" y="2071688"/>
              <a:chExt cx="200025" cy="2000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719888" y="20716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819900" y="21272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819900" y="2216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7198995" y="1974532"/>
              <a:ext cx="199410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幻觉 Hallucination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06615" y="2286952"/>
              <a:ext cx="9857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= 一本正经地编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77000" y="2743200"/>
              <a:ext cx="259651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D64545"/>
                  </a:solidFill>
                  <a:latin typeface="Arial"/>
                  <a:ea typeface="Microsoft YaHei"/>
                  <a:cs typeface="Arial"/>
                </a:rPr>
                <a:t>说得特别自信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97955" y="3378518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它可能一本正经地编造一个听起来很对、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97955" y="364521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其实是错的信息，还说得特别自信。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97955" y="391191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这是「接话」机制天生的毛病，不是故障。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515100" y="4305300"/>
              <a:ext cx="4876800" cy="571500"/>
            </a:xfrm>
            <a:prstGeom prst="roundRect">
              <a:avLst>
                <a:gd name="adj" fmla="val 26667"/>
              </a:avLst>
            </a:prstGeom>
            <a:solidFill>
              <a:srgbClr val="E9EEF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28460" y="4537710"/>
              <a:ext cx="30548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越权威、越具体的「假答案」，越要核实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5486400"/>
            <a:ext cx="11049000" cy="457200"/>
            <a:chOff x="571500" y="5486400"/>
            <a:chExt cx="11049000" cy="457200"/>
          </a:xfrm>
        </p:grpSpPr>
        <p:sp>
          <p:nvSpPr>
            <p:cNvPr id="40" name="Rectangle 40"/>
            <p:cNvSpPr/>
            <p:nvPr/>
          </p:nvSpPr>
          <p:spPr>
            <a:xfrm>
              <a:off x="571500" y="54864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71500" y="54864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59155" y="5635942"/>
              <a:ext cx="28696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铁律：关键信息，必须自己核实。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44" name="TextBox 4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11 / 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9" grpId="0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982766" cy="700088"/>
            <a:chOff x="571500" y="685800"/>
            <a:chExt cx="4982766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478274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不只是文字：它会看、会听、会读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4093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会聊天只是起点——现代 AI 还能处理图、声音和文件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1500" y="1619250"/>
            <a:ext cx="6953250" cy="3771900"/>
            <a:chOff x="571500" y="1619250"/>
            <a:chExt cx="6953250" cy="3771900"/>
          </a:xfrm>
        </p:grpSpPr>
        <p:grpSp>
          <p:nvGrpSpPr>
            <p:cNvPr id="20" name="Group 20"/>
            <p:cNvGrpSpPr/>
            <p:nvPr/>
          </p:nvGrpSpPr>
          <p:grpSpPr>
            <a:xfrm>
              <a:off x="571500" y="1619250"/>
              <a:ext cx="3371850" cy="1790700"/>
              <a:chOff x="571500" y="1619250"/>
              <a:chExt cx="3371850" cy="17907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3371850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781050" y="18478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904875" y="1971675"/>
                <a:ext cx="171450" cy="171450"/>
                <a:chOff x="904875" y="1971675"/>
                <a:chExt cx="171450" cy="171450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1019175" y="20193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904875" y="19716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142875"/>
                      </a:lnTo>
                      <a:cubicBezTo>
                        <a:pt x="171450" y="158657"/>
                        <a:pt x="158657" y="171450"/>
                        <a:pt x="142875" y="171450"/>
                      </a:cubicBezTo>
                      <a:lnTo>
                        <a:pt x="28575" y="171450"/>
                      </a:lnTo>
                      <a:cubicBezTo>
                        <a:pt x="12793" y="171450"/>
                        <a:pt x="0" y="158657"/>
                        <a:pt x="0" y="142875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904875" y="2039369"/>
                  <a:ext cx="123825" cy="56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56131">
                      <a:moveTo>
                        <a:pt x="0" y="56131"/>
                      </a:moveTo>
                      <a:lnTo>
                        <a:pt x="47625" y="8506"/>
                      </a:lnTo>
                      <a:cubicBezTo>
                        <a:pt x="56464" y="0"/>
                        <a:pt x="67361" y="0"/>
                        <a:pt x="76200" y="8506"/>
                      </a:cubicBezTo>
                      <a:lnTo>
                        <a:pt x="123825" y="56131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009650" y="2058419"/>
                  <a:ext cx="66675" cy="370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37081">
                      <a:moveTo>
                        <a:pt x="0" y="18031"/>
                      </a:moveTo>
                      <a:lnTo>
                        <a:pt x="9525" y="8506"/>
                      </a:lnTo>
                      <a:cubicBezTo>
                        <a:pt x="18364" y="0"/>
                        <a:pt x="29261" y="0"/>
                        <a:pt x="38100" y="8506"/>
                      </a:cubicBezTo>
                      <a:lnTo>
                        <a:pt x="66675" y="37081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1314450" y="1971675"/>
                <a:ext cx="6681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会看图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86765" y="2534602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拍黑板图表、产品照片、截图给它：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86765" y="27822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能看懂、能描述、能分析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4152900" y="1619250"/>
              <a:ext cx="3371850" cy="1790700"/>
              <a:chOff x="4152900" y="1619250"/>
              <a:chExt cx="3371850" cy="17907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4152900" y="1619250"/>
                <a:ext cx="3371850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4362450" y="18478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4505325" y="1962150"/>
                <a:ext cx="133350" cy="190500"/>
                <a:chOff x="4505325" y="1962150"/>
                <a:chExt cx="133350" cy="190500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4543425" y="1962150"/>
                  <a:ext cx="57150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104775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cubicBezTo>
                        <a:pt x="44357" y="0"/>
                        <a:pt x="57150" y="12793"/>
                        <a:pt x="57150" y="28575"/>
                      </a:cubicBezTo>
                      <a:lnTo>
                        <a:pt x="57150" y="76200"/>
                      </a:lnTo>
                      <a:cubicBezTo>
                        <a:pt x="57150" y="91982"/>
                        <a:pt x="44357" y="104775"/>
                        <a:pt x="28575" y="104775"/>
                      </a:cubicBezTo>
                      <a:cubicBezTo>
                        <a:pt x="12793" y="104775"/>
                        <a:pt x="0" y="91982"/>
                        <a:pt x="0" y="76200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505325" y="2038350"/>
                  <a:ext cx="1333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66675">
                      <a:moveTo>
                        <a:pt x="0" y="0"/>
                      </a:moveTo>
                      <a:cubicBezTo>
                        <a:pt x="0" y="36824"/>
                        <a:pt x="29851" y="66675"/>
                        <a:pt x="66675" y="66675"/>
                      </a:cubicBezTo>
                      <a:cubicBezTo>
                        <a:pt x="103499" y="66675"/>
                        <a:pt x="133350" y="36824"/>
                        <a:pt x="133350" y="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533900" y="2143125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4572000" y="210502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4895850" y="19716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会听声音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368165" y="253460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会议录音、采访录音转成文字，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368165" y="2782252"/>
                <a:ext cx="18468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再让它总结、出纪要、找待办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571500" y="3600450"/>
              <a:ext cx="3371850" cy="1790700"/>
              <a:chOff x="571500" y="3600450"/>
              <a:chExt cx="3371850" cy="17907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571500" y="3600450"/>
                <a:ext cx="3371850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781050" y="38290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904875" y="3952875"/>
                <a:ext cx="171450" cy="171450"/>
                <a:chOff x="904875" y="3952875"/>
                <a:chExt cx="171450" cy="171450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904875" y="39528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52400" y="0"/>
                      </a:lnTo>
                      <a:cubicBezTo>
                        <a:pt x="162921" y="0"/>
                        <a:pt x="171450" y="8529"/>
                        <a:pt x="171450" y="19050"/>
                      </a:cubicBezTo>
                      <a:lnTo>
                        <a:pt x="171450" y="152400"/>
                      </a:lnTo>
                      <a:cubicBezTo>
                        <a:pt x="171450" y="162921"/>
                        <a:pt x="162921" y="171450"/>
                        <a:pt x="152400" y="171450"/>
                      </a:cubicBezTo>
                      <a:lnTo>
                        <a:pt x="19050" y="171450"/>
                      </a:lnTo>
                      <a:cubicBezTo>
                        <a:pt x="8529" y="171450"/>
                        <a:pt x="0" y="162921"/>
                        <a:pt x="0" y="15240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904875" y="4019550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971550" y="3952875"/>
                  <a:ext cx="95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">
                      <a:moveTo>
                        <a:pt x="0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1314450" y="39528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会读表格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86765" y="4515802"/>
                <a:ext cx="151785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Excel / 统计表直接传：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86765" y="47634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找异常、算公式、出结论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4152900" y="3600450"/>
              <a:ext cx="3371850" cy="1790700"/>
              <a:chOff x="4152900" y="3600450"/>
              <a:chExt cx="3371850" cy="17907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4152900" y="3600450"/>
                <a:ext cx="3371850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4362450" y="38290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4505325" y="3952875"/>
                <a:ext cx="133350" cy="171450"/>
                <a:chOff x="4505325" y="3952875"/>
                <a:chExt cx="133350" cy="171450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4591050" y="3952875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0"/>
                      </a:moveTo>
                      <a:lnTo>
                        <a:pt x="0" y="38100"/>
                      </a:lnTo>
                      <a:cubicBezTo>
                        <a:pt x="0" y="43361"/>
                        <a:pt x="4264" y="47625"/>
                        <a:pt x="9525" y="47625"/>
                      </a:cubicBezTo>
                      <a:lnTo>
                        <a:pt x="47625" y="4762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4505325" y="3952875"/>
                  <a:ext cx="1333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71450">
                      <a:moveTo>
                        <a:pt x="114300" y="171450"/>
                      </a:moveTo>
                      <a:lnTo>
                        <a:pt x="19050" y="171450"/>
                      </a:lnTo>
                      <a:cubicBezTo>
                        <a:pt x="8529" y="171450"/>
                        <a:pt x="0" y="162921"/>
                        <a:pt x="0" y="15240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85725" y="0"/>
                      </a:lnTo>
                      <a:lnTo>
                        <a:pt x="133350" y="47625"/>
                      </a:lnTo>
                      <a:lnTo>
                        <a:pt x="133350" y="152400"/>
                      </a:lnTo>
                      <a:cubicBezTo>
                        <a:pt x="133350" y="162921"/>
                        <a:pt x="124821" y="171450"/>
                        <a:pt x="114300" y="1714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4543425" y="40100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4543425" y="4048125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4543425" y="4086225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4895850" y="395287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会读长文档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368165" y="4515802"/>
                <a:ext cx="183289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100 页 PDF、教材、制度文件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4368165" y="476345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丢给它，直接提问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7734300" y="1619250"/>
            <a:ext cx="3886200" cy="3886200"/>
            <a:chOff x="7734300" y="1619250"/>
            <a:chExt cx="3886200" cy="3886200"/>
          </a:xfrm>
        </p:grpSpPr>
        <p:pic>
          <p:nvPicPr>
            <p:cNvPr id="55" name="Image 5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34300" y="1619250"/>
              <a:ext cx="3886200" cy="3886200"/>
            </a:xfrm>
            <a:prstGeom prst="roundRect">
              <a:avLst>
                <a:gd name="adj" fmla="val 3921"/>
              </a:avLst>
            </a:prstGeom>
          </p:spPr>
        </p:pic>
      </p:grpSp>
      <p:grpSp>
        <p:nvGrpSpPr>
          <p:cNvPr id="60" name="Group 60"/>
          <p:cNvGrpSpPr/>
          <p:nvPr/>
        </p:nvGrpSpPr>
        <p:grpSpPr>
          <a:xfrm>
            <a:off x="571500" y="5715000"/>
            <a:ext cx="11049000" cy="457200"/>
            <a:chOff x="571500" y="5715000"/>
            <a:chExt cx="11049000" cy="457200"/>
          </a:xfrm>
        </p:grpSpPr>
        <p:sp>
          <p:nvSpPr>
            <p:cNvPr id="57" name="Rectangle 57"/>
            <p:cNvSpPr/>
            <p:nvPr/>
          </p:nvSpPr>
          <p:spPr>
            <a:xfrm>
              <a:off x="571500" y="57150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71500" y="57150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59155" y="5864542"/>
              <a:ext cx="57522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记住：会发微信，就会用多模态 AI——图、音、文件，都是它的输入。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1" name="TextBox 61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12 / 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6" grpId="0"/>
      <p:bldP spid="6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-666750" y="-1238250"/>
            <a:ext cx="15144750" cy="10382250"/>
            <a:chOff x="-666750" y="-1238250"/>
            <a:chExt cx="15144750" cy="10382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6096000" cy="6096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762500" cy="4762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-666750" y="-1238250"/>
              <a:ext cx="3619500" cy="36195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1382375" y="1095375"/>
              <a:ext cx="95250" cy="9525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629900" y="723900"/>
              <a:ext cx="76200" cy="762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9619869" y="4038600"/>
            <a:ext cx="2153031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0" b="1" dirty="0">
                <a:solidFill>
                  <a:srgbClr val="FFFFFF">
                    <a:alphaMod val="14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070" y="474345"/>
            <a:ext cx="634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LOGO HERE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29590" y="2423160"/>
            <a:ext cx="3164443" cy="2258378"/>
            <a:chOff x="529590" y="2423160"/>
            <a:chExt cx="3164443" cy="2258378"/>
          </a:xfrm>
        </p:grpSpPr>
        <p:sp>
          <p:nvSpPr>
            <p:cNvPr id="12" name="TextBox 12"/>
            <p:cNvSpPr txBox="1"/>
            <p:nvPr/>
          </p:nvSpPr>
          <p:spPr>
            <a:xfrm>
              <a:off x="556260" y="2423160"/>
              <a:ext cx="1078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CHAPTER FOUR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27813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9590" y="2996565"/>
              <a:ext cx="2394109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写好提示词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0545" y="3593782"/>
              <a:ext cx="19011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跟 AI 说话也有套路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355" y="4121468"/>
              <a:ext cx="31396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同一个 AI，问法不同，答案天差地别——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4355" y="4407218"/>
              <a:ext cx="25816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差的往往不是 AI，是你怎么问。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513153" cy="700088"/>
            <a:chOff x="571500" y="685800"/>
            <a:chExt cx="3513153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19473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提示词五要素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3016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把这五样讲清楚，AI 才知道你到底要什么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71500" y="1619250"/>
            <a:ext cx="11049000" cy="3238500"/>
            <a:chOff x="571500" y="1619250"/>
            <a:chExt cx="11049000" cy="3238500"/>
          </a:xfrm>
        </p:grpSpPr>
        <p:grpSp>
          <p:nvGrpSpPr>
            <p:cNvPr id="24" name="Group 24"/>
            <p:cNvGrpSpPr/>
            <p:nvPr/>
          </p:nvGrpSpPr>
          <p:grpSpPr>
            <a:xfrm>
              <a:off x="571500" y="1619250"/>
              <a:ext cx="2057400" cy="3238500"/>
              <a:chOff x="571500" y="1619250"/>
              <a:chExt cx="2057400" cy="32385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2057400" cy="3238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428750" y="1885950"/>
                <a:ext cx="342900" cy="3429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538754" y="19945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1390650" y="23812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1533525" y="2505075"/>
                <a:ext cx="133350" cy="171450"/>
                <a:chOff x="1533525" y="2505075"/>
                <a:chExt cx="133350" cy="171450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1533525" y="2505075"/>
                  <a:ext cx="1333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7145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04775" y="0"/>
                      </a:lnTo>
                      <a:cubicBezTo>
                        <a:pt x="120557" y="0"/>
                        <a:pt x="133350" y="12793"/>
                        <a:pt x="133350" y="28575"/>
                      </a:cubicBezTo>
                      <a:lnTo>
                        <a:pt x="133350" y="142875"/>
                      </a:lnTo>
                      <a:cubicBezTo>
                        <a:pt x="133350" y="158657"/>
                        <a:pt x="120557" y="171450"/>
                        <a:pt x="104775" y="171450"/>
                      </a:cubicBezTo>
                      <a:lnTo>
                        <a:pt x="28575" y="171450"/>
                      </a:lnTo>
                      <a:cubicBezTo>
                        <a:pt x="12793" y="171450"/>
                        <a:pt x="0" y="158657"/>
                        <a:pt x="0" y="142875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581150" y="258127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581150" y="2533650"/>
                  <a:ext cx="38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9525">
                      <a:moveTo>
                        <a:pt x="0" y="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571625" y="2647950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371124" y="29813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角色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376839" y="3277552"/>
                <a:ext cx="4467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你是谁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800100" y="358140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9525">
                <a:solidFill>
                  <a:srgbClr val="D8E1EC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70873" y="38028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你是资深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70873" y="40314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行政助理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2819400" y="1619250"/>
              <a:ext cx="2057400" cy="3238500"/>
              <a:chOff x="2819400" y="1619250"/>
              <a:chExt cx="2057400" cy="3238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2819400" y="1619250"/>
                <a:ext cx="2057400" cy="3238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3676650" y="1885950"/>
                <a:ext cx="342900" cy="3429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3786654" y="19945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3638550" y="23812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3762375" y="2505075"/>
                <a:ext cx="171450" cy="171450"/>
                <a:chOff x="3762375" y="2505075"/>
                <a:chExt cx="171450" cy="171450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3762375" y="25050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3848100" y="25622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3838575" y="2590800"/>
                  <a:ext cx="190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38100">
                      <a:moveTo>
                        <a:pt x="0" y="0"/>
                      </a:moveTo>
                      <a:lnTo>
                        <a:pt x="9525" y="0"/>
                      </a:lnTo>
                      <a:lnTo>
                        <a:pt x="9525" y="38100"/>
                      </a:lnTo>
                      <a:lnTo>
                        <a:pt x="19050" y="381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3619024" y="29813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背景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554730" y="32775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背景是啥</a:t>
                </a:r>
              </a:p>
            </p:txBody>
          </p:sp>
          <p:sp>
            <p:nvSpPr>
              <p:cNvPr id="35" name="Line 35"/>
              <p:cNvSpPr/>
              <p:nvPr/>
            </p:nvSpPr>
            <p:spPr>
              <a:xfrm>
                <a:off x="3048000" y="358140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9525">
                <a:solidFill>
                  <a:srgbClr val="D8E1EC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3270680" y="3745706"/>
                <a:ext cx="115484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下周 3 项议程，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440013" y="397430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有纪要草稿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5067300" y="1619250"/>
              <a:ext cx="2057400" cy="3238500"/>
              <a:chOff x="5067300" y="1619250"/>
              <a:chExt cx="2057400" cy="32385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5067300" y="1619250"/>
                <a:ext cx="2057400" cy="3238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5924550" y="1885950"/>
                <a:ext cx="342900" cy="3429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034554" y="19945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5886450" y="23812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6010275" y="2505075"/>
                <a:ext cx="171450" cy="171450"/>
                <a:chOff x="6010275" y="2505075"/>
                <a:chExt cx="171450" cy="171450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6086475" y="258127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6048375" y="25431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47625"/>
                      </a:moveTo>
                      <a:cubicBezTo>
                        <a:pt x="0" y="73928"/>
                        <a:pt x="21322" y="95250"/>
                        <a:pt x="47625" y="95250"/>
                      </a:cubicBezTo>
                      <a:cubicBezTo>
                        <a:pt x="73928" y="95250"/>
                        <a:pt x="95250" y="73928"/>
                        <a:pt x="95250" y="47625"/>
                      </a:cubicBezTo>
                      <a:cubicBezTo>
                        <a:pt x="95250" y="21322"/>
                        <a:pt x="73928" y="0"/>
                        <a:pt x="47625" y="0"/>
                      </a:cubicBezTo>
                      <a:cubicBezTo>
                        <a:pt x="21322" y="0"/>
                        <a:pt x="0" y="21322"/>
                        <a:pt x="0" y="476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6010275" y="25050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5866924" y="29813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任务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802630" y="32775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要我干啥</a:t>
                </a:r>
              </a:p>
            </p:txBody>
          </p:sp>
          <p:sp>
            <p:nvSpPr>
              <p:cNvPr id="49" name="Line 49"/>
              <p:cNvSpPr/>
              <p:nvPr/>
            </p:nvSpPr>
            <p:spPr>
              <a:xfrm>
                <a:off x="5295900" y="358140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9525">
                <a:solidFill>
                  <a:srgbClr val="D8E1EC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5609153" y="3802856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写一条简洁的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5766673" y="40314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会议通知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7315200" y="1619250"/>
              <a:ext cx="2057400" cy="3238500"/>
              <a:chOff x="7315200" y="1619250"/>
              <a:chExt cx="2057400" cy="323850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7315200" y="1619250"/>
                <a:ext cx="2057400" cy="3238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8172450" y="1885950"/>
                <a:ext cx="342900" cy="3429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8282454" y="19945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8134350" y="23812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8277225" y="2505075"/>
                <a:ext cx="133350" cy="171450"/>
                <a:chOff x="8277225" y="2505075"/>
                <a:chExt cx="133350" cy="171450"/>
              </a:xfrm>
            </p:grpSpPr>
            <p:sp>
              <p:nvSpPr>
                <p:cNvPr id="57" name="Freeform 57"/>
                <p:cNvSpPr/>
                <p:nvPr/>
              </p:nvSpPr>
              <p:spPr>
                <a:xfrm>
                  <a:off x="8277225" y="2581275"/>
                  <a:ext cx="1333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14300" y="0"/>
                      </a:lnTo>
                      <a:cubicBezTo>
                        <a:pt x="124821" y="0"/>
                        <a:pt x="133350" y="8529"/>
                        <a:pt x="133350" y="19050"/>
                      </a:cubicBezTo>
                      <a:lnTo>
                        <a:pt x="133350" y="76200"/>
                      </a:lnTo>
                      <a:cubicBezTo>
                        <a:pt x="133350" y="86721"/>
                        <a:pt x="124821" y="95250"/>
                        <a:pt x="114300" y="95250"/>
                      </a:cubicBezTo>
                      <a:lnTo>
                        <a:pt x="19050" y="95250"/>
                      </a:lnTo>
                      <a:cubicBezTo>
                        <a:pt x="8529" y="95250"/>
                        <a:pt x="0" y="86721"/>
                        <a:pt x="0" y="7620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8334375" y="261937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8305800" y="250507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ubicBezTo>
                        <a:pt x="59142" y="0"/>
                        <a:pt x="76200" y="17058"/>
                        <a:pt x="76200" y="38100"/>
                      </a:cubicBezTo>
                      <a:lnTo>
                        <a:pt x="76200" y="762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8114824" y="29813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约束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980521" y="32775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有什么限制</a:t>
                </a:r>
              </a:p>
            </p:txBody>
          </p:sp>
          <p:sp>
            <p:nvSpPr>
              <p:cNvPr id="63" name="Line 63"/>
              <p:cNvSpPr/>
              <p:nvPr/>
            </p:nvSpPr>
            <p:spPr>
              <a:xfrm>
                <a:off x="7543800" y="358140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9525">
                <a:solidFill>
                  <a:srgbClr val="D8E1EC"/>
                </a:solidFill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7939751" y="3802856"/>
                <a:ext cx="80829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100 字内、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014573" y="40314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语气正式</a:t>
                </a: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9563100" y="1619250"/>
              <a:ext cx="2057400" cy="3238500"/>
              <a:chOff x="9563100" y="1619250"/>
              <a:chExt cx="2057400" cy="3238500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9563100" y="1619250"/>
                <a:ext cx="2057400" cy="3238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68" name="Ellipse 68"/>
              <p:cNvSpPr/>
              <p:nvPr/>
            </p:nvSpPr>
            <p:spPr>
              <a:xfrm>
                <a:off x="10420350" y="1885950"/>
                <a:ext cx="342900" cy="3429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10530354" y="19945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70" name="Ellipse 70"/>
              <p:cNvSpPr/>
              <p:nvPr/>
            </p:nvSpPr>
            <p:spPr>
              <a:xfrm>
                <a:off x="10382250" y="23812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75" name="Group 75"/>
              <p:cNvGrpSpPr/>
              <p:nvPr/>
            </p:nvGrpSpPr>
            <p:grpSpPr>
              <a:xfrm>
                <a:off x="10515600" y="2514600"/>
                <a:ext cx="152400" cy="152400"/>
                <a:chOff x="10515600" y="2514600"/>
                <a:chExt cx="152400" cy="152400"/>
              </a:xfrm>
            </p:grpSpPr>
            <p:sp>
              <p:nvSpPr>
                <p:cNvPr id="71" name="Freeform 71"/>
                <p:cNvSpPr/>
                <p:nvPr/>
              </p:nvSpPr>
              <p:spPr>
                <a:xfrm>
                  <a:off x="10515600" y="2514600"/>
                  <a:ext cx="571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47625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38100" y="0"/>
                      </a:lnTo>
                      <a:cubicBezTo>
                        <a:pt x="48621" y="0"/>
                        <a:pt x="57150" y="8529"/>
                        <a:pt x="57150" y="19050"/>
                      </a:cubicBezTo>
                      <a:lnTo>
                        <a:pt x="57150" y="28575"/>
                      </a:lnTo>
                      <a:cubicBezTo>
                        <a:pt x="57150" y="39096"/>
                        <a:pt x="48621" y="47625"/>
                        <a:pt x="38100" y="47625"/>
                      </a:cubicBezTo>
                      <a:lnTo>
                        <a:pt x="19050" y="47625"/>
                      </a:lnTo>
                      <a:cubicBezTo>
                        <a:pt x="8529" y="47625"/>
                        <a:pt x="0" y="39096"/>
                        <a:pt x="0" y="28575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10515600" y="2600325"/>
                  <a:ext cx="571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66675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38100" y="0"/>
                      </a:lnTo>
                      <a:cubicBezTo>
                        <a:pt x="48621" y="0"/>
                        <a:pt x="57150" y="8529"/>
                        <a:pt x="57150" y="19050"/>
                      </a:cubicBezTo>
                      <a:lnTo>
                        <a:pt x="57150" y="47625"/>
                      </a:lnTo>
                      <a:cubicBezTo>
                        <a:pt x="57150" y="58146"/>
                        <a:pt x="48621" y="66675"/>
                        <a:pt x="38100" y="66675"/>
                      </a:cubicBezTo>
                      <a:lnTo>
                        <a:pt x="19050" y="66675"/>
                      </a:lnTo>
                      <a:cubicBezTo>
                        <a:pt x="8529" y="66675"/>
                        <a:pt x="0" y="58146"/>
                        <a:pt x="0" y="47625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73" name="Freeform 73"/>
                <p:cNvSpPr/>
                <p:nvPr/>
              </p:nvSpPr>
              <p:spPr>
                <a:xfrm>
                  <a:off x="10610850" y="2514600"/>
                  <a:ext cx="571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66675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38100" y="0"/>
                      </a:lnTo>
                      <a:cubicBezTo>
                        <a:pt x="48621" y="0"/>
                        <a:pt x="57150" y="8529"/>
                        <a:pt x="57150" y="19050"/>
                      </a:cubicBezTo>
                      <a:lnTo>
                        <a:pt x="57150" y="47625"/>
                      </a:lnTo>
                      <a:cubicBezTo>
                        <a:pt x="57150" y="58146"/>
                        <a:pt x="48621" y="66675"/>
                        <a:pt x="38100" y="66675"/>
                      </a:cubicBezTo>
                      <a:lnTo>
                        <a:pt x="19050" y="66675"/>
                      </a:lnTo>
                      <a:cubicBezTo>
                        <a:pt x="8529" y="66675"/>
                        <a:pt x="0" y="58146"/>
                        <a:pt x="0" y="47625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10610850" y="2619375"/>
                  <a:ext cx="571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47625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38100" y="0"/>
                      </a:lnTo>
                      <a:cubicBezTo>
                        <a:pt x="48621" y="0"/>
                        <a:pt x="57150" y="8529"/>
                        <a:pt x="57150" y="19050"/>
                      </a:cubicBezTo>
                      <a:lnTo>
                        <a:pt x="57150" y="28575"/>
                      </a:lnTo>
                      <a:cubicBezTo>
                        <a:pt x="57150" y="39096"/>
                        <a:pt x="48621" y="47625"/>
                        <a:pt x="38100" y="47625"/>
                      </a:cubicBezTo>
                      <a:lnTo>
                        <a:pt x="19050" y="47625"/>
                      </a:lnTo>
                      <a:cubicBezTo>
                        <a:pt x="8529" y="47625"/>
                        <a:pt x="0" y="39096"/>
                        <a:pt x="0" y="28575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76" name="TextBox 76"/>
              <p:cNvSpPr txBox="1"/>
              <p:nvPr/>
            </p:nvSpPr>
            <p:spPr>
              <a:xfrm>
                <a:off x="10362724" y="29813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格式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10158412" y="32775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给我什么格式</a:t>
                </a:r>
              </a:p>
            </p:txBody>
          </p:sp>
          <p:sp>
            <p:nvSpPr>
              <p:cNvPr id="78" name="Line 78"/>
              <p:cNvSpPr/>
              <p:nvPr/>
            </p:nvSpPr>
            <p:spPr>
              <a:xfrm>
                <a:off x="9791700" y="358140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9525">
                <a:solidFill>
                  <a:srgbClr val="D8E1EC"/>
                </a:solidFill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10183713" y="380285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用邮件体，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10093139" y="4031456"/>
                <a:ext cx="99732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列出 2 条待办</a:t>
                </a:r>
              </a:p>
            </p:txBody>
          </p:sp>
        </p:grpSp>
      </p:grpSp>
      <p:grpSp>
        <p:nvGrpSpPr>
          <p:cNvPr id="86" name="Group 86"/>
          <p:cNvGrpSpPr/>
          <p:nvPr/>
        </p:nvGrpSpPr>
        <p:grpSpPr>
          <a:xfrm>
            <a:off x="571500" y="5334000"/>
            <a:ext cx="11049000" cy="457200"/>
            <a:chOff x="571500" y="5334000"/>
            <a:chExt cx="11049000" cy="457200"/>
          </a:xfrm>
        </p:grpSpPr>
        <p:sp>
          <p:nvSpPr>
            <p:cNvPr id="83" name="Rectangle 83"/>
            <p:cNvSpPr/>
            <p:nvPr/>
          </p:nvSpPr>
          <p:spPr>
            <a:xfrm>
              <a:off x="571500" y="53340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571500" y="53340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59155" y="5483542"/>
              <a:ext cx="56293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口诀：你是谁 · 背景是啥 · 要我干啥 · 有什么限制 · 给我什么格式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87" name="TextBox 87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14 / 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306128" cy="700088"/>
            <a:chOff x="571500" y="685800"/>
            <a:chExt cx="3306128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30968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公式 + 真实范例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同样一件事，问法不同，结果差多少？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1619250"/>
            <a:ext cx="3143250" cy="2571750"/>
            <a:chOff x="571500" y="1619250"/>
            <a:chExt cx="3143250" cy="2571750"/>
          </a:xfrm>
        </p:grpSpPr>
        <p:sp>
          <p:nvSpPr>
            <p:cNvPr id="10" name="Rectangle 10"/>
            <p:cNvSpPr/>
            <p:nvPr/>
          </p:nvSpPr>
          <p:spPr>
            <a:xfrm>
              <a:off x="571500" y="1619250"/>
              <a:ext cx="3143250" cy="2571750"/>
            </a:xfrm>
            <a:prstGeom prst="roundRect">
              <a:avLst>
                <a:gd name="adj" fmla="val 5926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800100" y="1847850"/>
              <a:ext cx="419100" cy="419100"/>
            </a:xfrm>
            <a:prstGeom prst="ellipse">
              <a:avLst/>
            </a:prstGeom>
            <a:solidFill>
              <a:srgbClr val="E9EEF5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923925" y="1981200"/>
              <a:ext cx="171450" cy="161925"/>
              <a:chOff x="923925" y="1981200"/>
              <a:chExt cx="171450" cy="1619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971550" y="2028825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71550" y="206692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23925" y="1981200"/>
                <a:ext cx="17145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61925">
                    <a:moveTo>
                      <a:pt x="57150" y="133350"/>
                    </a:moveTo>
                    <a:lnTo>
                      <a:pt x="28575" y="133350"/>
                    </a:lnTo>
                    <a:cubicBezTo>
                      <a:pt x="12793" y="133350"/>
                      <a:pt x="0" y="120557"/>
                      <a:pt x="0" y="1047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04775"/>
                    </a:lnTo>
                    <a:cubicBezTo>
                      <a:pt x="171450" y="120557"/>
                      <a:pt x="158657" y="133350"/>
                      <a:pt x="142875" y="133350"/>
                    </a:cubicBezTo>
                    <a:lnTo>
                      <a:pt x="114300" y="133350"/>
                    </a:lnTo>
                    <a:lnTo>
                      <a:pt x="85725" y="161925"/>
                    </a:lnTo>
                    <a:lnTo>
                      <a:pt x="57150" y="133350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331595" y="19554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模糊地问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00100" y="2457450"/>
              <a:ext cx="2686050" cy="800100"/>
            </a:xfrm>
            <a:prstGeom prst="roundRect">
              <a:avLst>
                <a:gd name="adj" fmla="val 19048"/>
              </a:avLst>
            </a:prstGeom>
            <a:solidFill>
              <a:srgbClr val="E9EEF5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030288" y="2695575"/>
              <a:ext cx="111124" cy="95250"/>
              <a:chOff x="1030288" y="2695575"/>
              <a:chExt cx="111124" cy="9525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030288" y="2695575"/>
                <a:ext cx="39687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95250">
                    <a:moveTo>
                      <a:pt x="39687" y="39688"/>
                    </a:moveTo>
                    <a:lnTo>
                      <a:pt x="7937" y="39688"/>
                    </a:lnTo>
                    <a:cubicBezTo>
                      <a:pt x="3554" y="39688"/>
                      <a:pt x="0" y="36134"/>
                      <a:pt x="0" y="31750"/>
                    </a:cubicBezTo>
                    <a:lnTo>
                      <a:pt x="0" y="7937"/>
                    </a:lnTo>
                    <a:cubicBezTo>
                      <a:pt x="0" y="3554"/>
                      <a:pt x="3554" y="0"/>
                      <a:pt x="7937" y="0"/>
                    </a:cubicBezTo>
                    <a:lnTo>
                      <a:pt x="31750" y="0"/>
                    </a:lnTo>
                    <a:cubicBezTo>
                      <a:pt x="36134" y="0"/>
                      <a:pt x="39687" y="3554"/>
                      <a:pt x="39687" y="7937"/>
                    </a:cubicBezTo>
                    <a:lnTo>
                      <a:pt x="39687" y="55562"/>
                    </a:lnTo>
                    <a:cubicBezTo>
                      <a:pt x="39687" y="76732"/>
                      <a:pt x="29107" y="89956"/>
                      <a:pt x="7937" y="95250"/>
                    </a:cubicBezTo>
                  </a:path>
                </a:pathLst>
              </a:custGeom>
              <a:noFill/>
              <a:ln w="19050">
                <a:solidFill>
                  <a:srgbClr val="8B99AE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101725" y="2695575"/>
                <a:ext cx="39687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95250">
                    <a:moveTo>
                      <a:pt x="39687" y="39688"/>
                    </a:moveTo>
                    <a:lnTo>
                      <a:pt x="7937" y="39688"/>
                    </a:lnTo>
                    <a:cubicBezTo>
                      <a:pt x="3554" y="39688"/>
                      <a:pt x="0" y="36134"/>
                      <a:pt x="0" y="31750"/>
                    </a:cubicBezTo>
                    <a:lnTo>
                      <a:pt x="0" y="7937"/>
                    </a:lnTo>
                    <a:cubicBezTo>
                      <a:pt x="0" y="3554"/>
                      <a:pt x="3554" y="0"/>
                      <a:pt x="7937" y="0"/>
                    </a:cubicBezTo>
                    <a:lnTo>
                      <a:pt x="31750" y="0"/>
                    </a:lnTo>
                    <a:cubicBezTo>
                      <a:pt x="36134" y="0"/>
                      <a:pt x="39687" y="3554"/>
                      <a:pt x="39687" y="7937"/>
                    </a:cubicBezTo>
                    <a:lnTo>
                      <a:pt x="39687" y="55562"/>
                    </a:lnTo>
                    <a:cubicBezTo>
                      <a:pt x="39687" y="76732"/>
                      <a:pt x="29107" y="89956"/>
                      <a:pt x="7937" y="95250"/>
                    </a:cubicBezTo>
                  </a:path>
                </a:pathLst>
              </a:custGeom>
              <a:noFill/>
              <a:ln w="19050">
                <a:solidFill>
                  <a:srgbClr val="8B99AE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973455" y="2959418"/>
              <a:ext cx="19245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「帮我写个会议通知」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4860" y="352806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结果：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42060" y="35280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泛泛而谈，还要返工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6765" y="3830002"/>
              <a:ext cx="1867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缺背景、缺约束，AI 只能瞎猜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905250" y="1619250"/>
            <a:ext cx="7715250" cy="2571750"/>
            <a:chOff x="3905250" y="1619250"/>
            <a:chExt cx="7715250" cy="2571750"/>
          </a:xfrm>
        </p:grpSpPr>
        <p:sp>
          <p:nvSpPr>
            <p:cNvPr id="26" name="Rectangle 26"/>
            <p:cNvSpPr/>
            <p:nvPr/>
          </p:nvSpPr>
          <p:spPr>
            <a:xfrm>
              <a:off x="3905250" y="1619250"/>
              <a:ext cx="7715250" cy="2571750"/>
            </a:xfrm>
            <a:prstGeom prst="roundRect">
              <a:avLst>
                <a:gd name="adj" fmla="val 5926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4133850" y="182880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4276725" y="1962150"/>
              <a:ext cx="142875" cy="161925"/>
              <a:chOff x="4276725" y="1962150"/>
              <a:chExt cx="142875" cy="1619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4276725" y="196215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43958" y="152400"/>
                    </a:moveTo>
                    <a:lnTo>
                      <a:pt x="19050" y="152400"/>
                    </a:lnTo>
                    <a:cubicBezTo>
                      <a:pt x="8529" y="152400"/>
                      <a:pt x="0" y="143871"/>
                      <a:pt x="0" y="1333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95250" y="0"/>
                    </a:lnTo>
                    <a:cubicBezTo>
                      <a:pt x="105771" y="0"/>
                      <a:pt x="114300" y="8529"/>
                      <a:pt x="114300" y="19050"/>
                    </a:cubicBezTo>
                    <a:lnTo>
                      <a:pt x="114300" y="9525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362450" y="208597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314825" y="20002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314825" y="20383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4665345" y="1936432"/>
              <a:ext cx="25832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五要素公式（可直接套）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133850" y="2400300"/>
              <a:ext cx="685800" cy="285750"/>
            </a:xfrm>
            <a:prstGeom prst="roundRect">
              <a:avLst>
                <a:gd name="adj" fmla="val 50000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316397" y="2486978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角色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94910" y="2470785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你是资深行政助理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133850" y="2781300"/>
              <a:ext cx="685800" cy="285750"/>
            </a:xfrm>
            <a:prstGeom prst="roundRect">
              <a:avLst>
                <a:gd name="adj" fmla="val 50000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316397" y="2867978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背景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94910" y="2851785"/>
              <a:ext cx="32548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下周部门例会有 3 项议程，我手上有纪要草稿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133850" y="3162300"/>
              <a:ext cx="685800" cy="285750"/>
            </a:xfrm>
            <a:prstGeom prst="roundRect">
              <a:avLst>
                <a:gd name="adj" fmla="val 50000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316397" y="3248978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任务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994910" y="3232785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帮我写一条简洁的会议通知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133850" y="3543300"/>
              <a:ext cx="685800" cy="285750"/>
            </a:xfrm>
            <a:prstGeom prst="roundRect">
              <a:avLst>
                <a:gd name="adj" fmla="val 50000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316397" y="3629978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约束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94910" y="3613785"/>
              <a:ext cx="258279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100 字内、语气正式、发给全体同事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372600" y="2400300"/>
              <a:ext cx="685800" cy="285750"/>
            </a:xfrm>
            <a:prstGeom prst="roundRect">
              <a:avLst>
                <a:gd name="adj" fmla="val 50000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555147" y="2486978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格式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214610" y="27279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用邮件体，末尾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214610" y="2975610"/>
              <a:ext cx="10146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列出 2 条待办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905250" y="4381500"/>
            <a:ext cx="9173908" cy="952500"/>
            <a:chOff x="3905250" y="4381500"/>
            <a:chExt cx="9173908" cy="952500"/>
          </a:xfrm>
        </p:grpSpPr>
        <p:sp>
          <p:nvSpPr>
            <p:cNvPr id="51" name="Rectangle 51"/>
            <p:cNvSpPr/>
            <p:nvPr/>
          </p:nvSpPr>
          <p:spPr>
            <a:xfrm>
              <a:off x="3905250" y="4381500"/>
              <a:ext cx="7715250" cy="952500"/>
            </a:xfrm>
            <a:prstGeom prst="roundRect">
              <a:avLst>
                <a:gd name="adj" fmla="val 16000"/>
              </a:avLst>
            </a:prstGeom>
            <a:solidFill>
              <a:srgbClr val="D6E6F9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4181475" y="4648200"/>
              <a:ext cx="133350" cy="114300"/>
              <a:chOff x="4181475" y="4648200"/>
              <a:chExt cx="133350" cy="1143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4181475" y="4648200"/>
                <a:ext cx="476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14300">
                    <a:moveTo>
                      <a:pt x="47625" y="47625"/>
                    </a:moveTo>
                    <a:lnTo>
                      <a:pt x="9525" y="47625"/>
                    </a:lnTo>
                    <a:cubicBezTo>
                      <a:pt x="4264" y="47625"/>
                      <a:pt x="0" y="43361"/>
                      <a:pt x="0" y="38100"/>
                    </a:cubicBez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38100" y="0"/>
                    </a:lnTo>
                    <a:cubicBezTo>
                      <a:pt x="43361" y="0"/>
                      <a:pt x="47625" y="4264"/>
                      <a:pt x="47625" y="9525"/>
                    </a:cubicBezTo>
                    <a:lnTo>
                      <a:pt x="47625" y="66675"/>
                    </a:lnTo>
                    <a:cubicBezTo>
                      <a:pt x="47625" y="92078"/>
                      <a:pt x="34928" y="107947"/>
                      <a:pt x="9525" y="114300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4267200" y="4648200"/>
                <a:ext cx="476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14300">
                    <a:moveTo>
                      <a:pt x="47625" y="47625"/>
                    </a:moveTo>
                    <a:lnTo>
                      <a:pt x="9525" y="47625"/>
                    </a:lnTo>
                    <a:cubicBezTo>
                      <a:pt x="4264" y="47625"/>
                      <a:pt x="0" y="43361"/>
                      <a:pt x="0" y="38100"/>
                    </a:cubicBez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38100" y="0"/>
                    </a:lnTo>
                    <a:cubicBezTo>
                      <a:pt x="43361" y="0"/>
                      <a:pt x="47625" y="4264"/>
                      <a:pt x="47625" y="9525"/>
                    </a:cubicBezTo>
                    <a:lnTo>
                      <a:pt x="47625" y="66675"/>
                    </a:lnTo>
                    <a:cubicBezTo>
                      <a:pt x="47625" y="92078"/>
                      <a:pt x="34928" y="107947"/>
                      <a:pt x="9525" y="114300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4481512" y="4660106"/>
              <a:ext cx="85976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「你是资深行政助理。下周部门例会有 3 项议程，我手上有纪要草稿。请写一条 100 字内、发给全体同事的正式会议通知，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481512" y="4907756"/>
              <a:ext cx="24149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用邮件体，末尾列出 2 条待办。」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71500" y="4381500"/>
            <a:ext cx="3143250" cy="952500"/>
            <a:chOff x="571500" y="4381500"/>
            <a:chExt cx="3143250" cy="952500"/>
          </a:xfrm>
        </p:grpSpPr>
        <p:sp>
          <p:nvSpPr>
            <p:cNvPr id="58" name="Rectangle 58"/>
            <p:cNvSpPr/>
            <p:nvPr/>
          </p:nvSpPr>
          <p:spPr>
            <a:xfrm>
              <a:off x="571500" y="4381500"/>
              <a:ext cx="3143250" cy="952500"/>
            </a:xfrm>
            <a:prstGeom prst="roundRect">
              <a:avLst>
                <a:gd name="adj" fmla="val 16000"/>
              </a:avLst>
            </a:prstGeom>
            <a:solidFill>
              <a:srgbClr val="D6E6F9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831056" y="4660106"/>
              <a:ext cx="185738" cy="185738"/>
              <a:chOff x="831056" y="4660106"/>
              <a:chExt cx="185738" cy="185738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831056" y="46601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92969" y="47323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146810" y="46901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按五要素问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86765" y="50301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一次到位，直接能用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5" name="TextBox 65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15 / 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50" grpId="0"/>
      <p:bldP spid="57" grpId="0"/>
      <p:bldP spid="6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4192250" cy="8953500"/>
            <a:chOff x="0" y="0"/>
            <a:chExt cx="1419225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764310" cy="700088"/>
            <a:chOff x="571500" y="685800"/>
            <a:chExt cx="4764310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好结果 = 迭代出来的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45528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别指望一次成型——三轮对话，就能从「能用」到「好用」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000500" y="1952625"/>
            <a:ext cx="4191000" cy="1"/>
            <a:chOff x="4000500" y="1952625"/>
            <a:chExt cx="4191000" cy="1"/>
          </a:xfrm>
        </p:grpSpPr>
        <p:sp>
          <p:nvSpPr>
            <p:cNvPr id="10" name="Line 10"/>
            <p:cNvSpPr/>
            <p:nvPr/>
          </p:nvSpPr>
          <p:spPr>
            <a:xfrm>
              <a:off x="4000500" y="1952625"/>
              <a:ext cx="2857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>
              <a:off x="7905750" y="1952625"/>
              <a:ext cx="2857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71500" y="1685925"/>
            <a:ext cx="3429000" cy="2076450"/>
            <a:chOff x="571500" y="1685925"/>
            <a:chExt cx="3429000" cy="2076450"/>
          </a:xfrm>
        </p:grpSpPr>
        <p:sp>
          <p:nvSpPr>
            <p:cNvPr id="13" name="Ellipse 13"/>
            <p:cNvSpPr/>
            <p:nvPr/>
          </p:nvSpPr>
          <p:spPr>
            <a:xfrm>
              <a:off x="2019300" y="1685925"/>
              <a:ext cx="533400" cy="533400"/>
            </a:xfrm>
            <a:prstGeom prst="ellipse">
              <a:avLst/>
            </a:prstGeom>
            <a:solidFill>
              <a:srgbClr val="35A3E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164892" y="1883092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1500" y="2333625"/>
              <a:ext cx="3429000" cy="1428750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1050" y="2552700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初稿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6765" y="29537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用五要素问出第一版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6765" y="32013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方向对了，但还不够贴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381500" y="1685925"/>
            <a:ext cx="3429000" cy="2076450"/>
            <a:chOff x="4381500" y="1685925"/>
            <a:chExt cx="3429000" cy="2076450"/>
          </a:xfrm>
        </p:grpSpPr>
        <p:sp>
          <p:nvSpPr>
            <p:cNvPr id="20" name="Ellipse 20"/>
            <p:cNvSpPr/>
            <p:nvPr/>
          </p:nvSpPr>
          <p:spPr>
            <a:xfrm>
              <a:off x="5829300" y="1685925"/>
              <a:ext cx="533400" cy="5334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74892" y="1883092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381500" y="2333625"/>
              <a:ext cx="3429000" cy="1428750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91050" y="2552700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指出问题，让它改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96765" y="29537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「第二段太空，加上具体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96765" y="320135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数据和例子」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91500" y="1685925"/>
            <a:ext cx="3429000" cy="2076450"/>
            <a:chOff x="8191500" y="1685925"/>
            <a:chExt cx="3429000" cy="2076450"/>
          </a:xfrm>
        </p:grpSpPr>
        <p:sp>
          <p:nvSpPr>
            <p:cNvPr id="27" name="Ellipse 27"/>
            <p:cNvSpPr/>
            <p:nvPr/>
          </p:nvSpPr>
          <p:spPr>
            <a:xfrm>
              <a:off x="9639300" y="1685925"/>
              <a:ext cx="533400" cy="533400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784892" y="1883092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V3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191500" y="2333625"/>
              <a:ext cx="3429000" cy="1428750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01050" y="255270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微调定稿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06765" y="29537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改格式、换语气、补细节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06765" y="3201352"/>
              <a:ext cx="14828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—— 一般到这一版就能用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4000500"/>
            <a:ext cx="5334000" cy="1485900"/>
            <a:chOff x="571500" y="4000500"/>
            <a:chExt cx="5334000" cy="1485900"/>
          </a:xfrm>
        </p:grpSpPr>
        <p:sp>
          <p:nvSpPr>
            <p:cNvPr id="34" name="Rectangle 34"/>
            <p:cNvSpPr/>
            <p:nvPr/>
          </p:nvSpPr>
          <p:spPr>
            <a:xfrm>
              <a:off x="571500" y="4000500"/>
              <a:ext cx="5334000" cy="1485900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82955" y="4159568"/>
              <a:ext cx="1055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进阶技巧 ×2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81050" y="4514850"/>
              <a:ext cx="304800" cy="3048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76300" y="4610100"/>
              <a:ext cx="114300" cy="114300"/>
              <a:chOff x="876300" y="4610100"/>
              <a:chExt cx="114300" cy="1143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76300" y="4610100"/>
                <a:ext cx="1143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7150">
                    <a:moveTo>
                      <a:pt x="0" y="57150"/>
                    </a:moveTo>
                    <a:lnTo>
                      <a:pt x="6350" y="57150"/>
                    </a:lnTo>
                    <a:moveTo>
                      <a:pt x="57150" y="0"/>
                    </a:moveTo>
                    <a:lnTo>
                      <a:pt x="57150" y="6350"/>
                    </a:lnTo>
                    <a:moveTo>
                      <a:pt x="107950" y="57150"/>
                    </a:moveTo>
                    <a:lnTo>
                      <a:pt x="114300" y="57150"/>
                    </a:lnTo>
                    <a:moveTo>
                      <a:pt x="16510" y="16510"/>
                    </a:moveTo>
                    <a:lnTo>
                      <a:pt x="20955" y="20955"/>
                    </a:lnTo>
                    <a:moveTo>
                      <a:pt x="97790" y="16510"/>
                    </a:moveTo>
                    <a:lnTo>
                      <a:pt x="93345" y="2095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99008" y="4635500"/>
                <a:ext cx="6888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68885" h="88900">
                    <a:moveTo>
                      <a:pt x="15392" y="57150"/>
                    </a:moveTo>
                    <a:cubicBezTo>
                      <a:pt x="4459" y="48950"/>
                      <a:pt x="0" y="34675"/>
                      <a:pt x="4322" y="21710"/>
                    </a:cubicBezTo>
                    <a:cubicBezTo>
                      <a:pt x="8643" y="8745"/>
                      <a:pt x="20776" y="0"/>
                      <a:pt x="34442" y="0"/>
                    </a:cubicBezTo>
                    <a:cubicBezTo>
                      <a:pt x="48108" y="0"/>
                      <a:pt x="60241" y="8745"/>
                      <a:pt x="64563" y="21710"/>
                    </a:cubicBezTo>
                    <a:cubicBezTo>
                      <a:pt x="68885" y="34675"/>
                      <a:pt x="64425" y="48950"/>
                      <a:pt x="53492" y="57150"/>
                    </a:cubicBezTo>
                    <a:cubicBezTo>
                      <a:pt x="48464" y="62127"/>
                      <a:pt x="46106" y="69201"/>
                      <a:pt x="47142" y="76200"/>
                    </a:cubicBezTo>
                    <a:cubicBezTo>
                      <a:pt x="47142" y="83214"/>
                      <a:pt x="41456" y="88900"/>
                      <a:pt x="34442" y="88900"/>
                    </a:cubicBezTo>
                    <a:cubicBezTo>
                      <a:pt x="27428" y="88900"/>
                      <a:pt x="21742" y="83214"/>
                      <a:pt x="21742" y="76200"/>
                    </a:cubicBezTo>
                    <a:cubicBezTo>
                      <a:pt x="22778" y="69201"/>
                      <a:pt x="20420" y="62127"/>
                      <a:pt x="15392" y="57150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18845" y="4699000"/>
                <a:ext cx="2921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210" h="9525">
                    <a:moveTo>
                      <a:pt x="0" y="0"/>
                    </a:moveTo>
                    <a:lnTo>
                      <a:pt x="2921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185862" y="4517231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给例子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86815" y="4744402"/>
              <a:ext cx="31630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「按上个月的格式写」—— 一个样例比一百句描述准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81050" y="5010150"/>
              <a:ext cx="304800" cy="3048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876300" y="5105400"/>
              <a:ext cx="114300" cy="114300"/>
              <a:chOff x="876300" y="5105400"/>
              <a:chExt cx="114300" cy="1143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33450" y="5168900"/>
                <a:ext cx="4445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50800">
                    <a:moveTo>
                      <a:pt x="22225" y="0"/>
                    </a:moveTo>
                    <a:cubicBezTo>
                      <a:pt x="9950" y="0"/>
                      <a:pt x="0" y="9950"/>
                      <a:pt x="0" y="22225"/>
                    </a:cubicBezTo>
                    <a:lnTo>
                      <a:pt x="0" y="28575"/>
                    </a:lnTo>
                    <a:cubicBezTo>
                      <a:pt x="0" y="40850"/>
                      <a:pt x="9950" y="50800"/>
                      <a:pt x="22225" y="50800"/>
                    </a:cubicBezTo>
                    <a:cubicBezTo>
                      <a:pt x="34500" y="50800"/>
                      <a:pt x="44450" y="40850"/>
                      <a:pt x="44450" y="28575"/>
                    </a:cubicBezTo>
                    <a:lnTo>
                      <a:pt x="44450" y="1714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89000" y="5168900"/>
                <a:ext cx="4445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50800">
                    <a:moveTo>
                      <a:pt x="22225" y="0"/>
                    </a:moveTo>
                    <a:cubicBezTo>
                      <a:pt x="34500" y="0"/>
                      <a:pt x="44450" y="9950"/>
                      <a:pt x="44450" y="22225"/>
                    </a:cubicBezTo>
                    <a:lnTo>
                      <a:pt x="44450" y="28575"/>
                    </a:lnTo>
                    <a:cubicBezTo>
                      <a:pt x="44450" y="40850"/>
                      <a:pt x="34500" y="50800"/>
                      <a:pt x="22225" y="50800"/>
                    </a:cubicBezTo>
                    <a:cubicBezTo>
                      <a:pt x="9950" y="50800"/>
                      <a:pt x="0" y="40850"/>
                      <a:pt x="0" y="28575"/>
                    </a:cubicBezTo>
                    <a:lnTo>
                      <a:pt x="0" y="1714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65200" y="5143500"/>
                <a:ext cx="2540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44450">
                    <a:moveTo>
                      <a:pt x="3175" y="44450"/>
                    </a:moveTo>
                    <a:cubicBezTo>
                      <a:pt x="15450" y="44450"/>
                      <a:pt x="25400" y="34500"/>
                      <a:pt x="25400" y="22225"/>
                    </a:cubicBezTo>
                    <a:cubicBezTo>
                      <a:pt x="25400" y="9950"/>
                      <a:pt x="15450" y="0"/>
                      <a:pt x="3175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33450" y="5105400"/>
                <a:ext cx="4445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0005">
                    <a:moveTo>
                      <a:pt x="44450" y="40005"/>
                    </a:moveTo>
                    <a:lnTo>
                      <a:pt x="44450" y="22225"/>
                    </a:ln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76300" y="5143500"/>
                <a:ext cx="2540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44450">
                    <a:moveTo>
                      <a:pt x="22225" y="44450"/>
                    </a:moveTo>
                    <a:cubicBezTo>
                      <a:pt x="9950" y="44450"/>
                      <a:pt x="0" y="34500"/>
                      <a:pt x="0" y="22225"/>
                    </a:cubicBezTo>
                    <a:cubicBezTo>
                      <a:pt x="0" y="9950"/>
                      <a:pt x="9950" y="0"/>
                      <a:pt x="22225" y="0"/>
                    </a:cubicBezTo>
                    <a:lnTo>
                      <a:pt x="2540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89000" y="5105400"/>
                <a:ext cx="44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85725">
                    <a:moveTo>
                      <a:pt x="0" y="40005"/>
                    </a:move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cubicBezTo>
                      <a:pt x="34500" y="0"/>
                      <a:pt x="44450" y="9950"/>
                      <a:pt x="44450" y="22225"/>
                    </a:cubicBezTo>
                    <a:lnTo>
                      <a:pt x="44450" y="857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185862" y="5012531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让它一步步想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86815" y="5239702"/>
              <a:ext cx="3107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复杂问题加一句「请分步分析」，正确率明显更高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286500" y="4000500"/>
            <a:ext cx="5334000" cy="1485900"/>
            <a:chOff x="6286500" y="4000500"/>
            <a:chExt cx="5334000" cy="1485900"/>
          </a:xfrm>
        </p:grpSpPr>
        <p:sp>
          <p:nvSpPr>
            <p:cNvPr id="54" name="Rectangle 54"/>
            <p:cNvSpPr/>
            <p:nvPr/>
          </p:nvSpPr>
          <p:spPr>
            <a:xfrm>
              <a:off x="6286500" y="4000500"/>
              <a:ext cx="5334000" cy="1485900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497955" y="4159568"/>
              <a:ext cx="8659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64545"/>
                  </a:solidFill>
                  <a:latin typeface="Arial"/>
                  <a:ea typeface="Microsoft YaHei"/>
                  <a:cs typeface="Arial"/>
                </a:rPr>
                <a:t>常见坑 ×3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6528779" y="4514858"/>
              <a:ext cx="144086" cy="123788"/>
              <a:chOff x="6528779" y="4514858"/>
              <a:chExt cx="144086" cy="123788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600825" y="4560094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528779" y="4514858"/>
                <a:ext cx="144086" cy="123788"/>
              </a:xfrm>
              <a:custGeom>
                <a:avLst/>
                <a:gdLst/>
                <a:ahLst/>
                <a:cxnLst/>
                <a:rect l="l" t="t" r="r" b="b"/>
                <a:pathLst>
                  <a:path w="144086" h="123788">
                    <a:moveTo>
                      <a:pt x="60351" y="6595"/>
                    </a:moveTo>
                    <a:lnTo>
                      <a:pt x="2444" y="103279"/>
                    </a:lnTo>
                    <a:cubicBezTo>
                      <a:pt x="15" y="107485"/>
                      <a:pt x="0" y="112665"/>
                      <a:pt x="2405" y="116886"/>
                    </a:cubicBezTo>
                    <a:cubicBezTo>
                      <a:pt x="4810" y="121106"/>
                      <a:pt x="9274" y="123734"/>
                      <a:pt x="14131" y="123788"/>
                    </a:cubicBezTo>
                    <a:lnTo>
                      <a:pt x="129960" y="123788"/>
                    </a:lnTo>
                    <a:cubicBezTo>
                      <a:pt x="134815" y="123732"/>
                      <a:pt x="139276" y="121106"/>
                      <a:pt x="141681" y="116888"/>
                    </a:cubicBezTo>
                    <a:cubicBezTo>
                      <a:pt x="144086" y="112669"/>
                      <a:pt x="144073" y="107492"/>
                      <a:pt x="141647" y="103286"/>
                    </a:cubicBezTo>
                    <a:lnTo>
                      <a:pt x="83740" y="6588"/>
                    </a:lnTo>
                    <a:cubicBezTo>
                      <a:pt x="81262" y="2498"/>
                      <a:pt x="76827" y="0"/>
                      <a:pt x="72046" y="0"/>
                    </a:cubicBezTo>
                    <a:cubicBezTo>
                      <a:pt x="67264" y="0"/>
                      <a:pt x="62829" y="2498"/>
                      <a:pt x="60351" y="6588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600825" y="4610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" y="0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767512" y="45172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问题太大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606665" y="4525328"/>
              <a:ext cx="1965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「写个方案」= 得到正确的废话</a:t>
              </a:r>
            </a:p>
          </p:txBody>
        </p:sp>
        <p:grpSp>
          <p:nvGrpSpPr>
            <p:cNvPr id="65" name="Group 65"/>
            <p:cNvGrpSpPr/>
            <p:nvPr/>
          </p:nvGrpSpPr>
          <p:grpSpPr>
            <a:xfrm>
              <a:off x="6528779" y="4857758"/>
              <a:ext cx="144086" cy="123788"/>
              <a:chOff x="6528779" y="4857758"/>
              <a:chExt cx="144086" cy="123788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600825" y="4902994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528779" y="4857758"/>
                <a:ext cx="144086" cy="123788"/>
              </a:xfrm>
              <a:custGeom>
                <a:avLst/>
                <a:gdLst/>
                <a:ahLst/>
                <a:cxnLst/>
                <a:rect l="l" t="t" r="r" b="b"/>
                <a:pathLst>
                  <a:path w="144086" h="123788">
                    <a:moveTo>
                      <a:pt x="60351" y="6595"/>
                    </a:moveTo>
                    <a:lnTo>
                      <a:pt x="2444" y="103279"/>
                    </a:lnTo>
                    <a:cubicBezTo>
                      <a:pt x="15" y="107485"/>
                      <a:pt x="0" y="112665"/>
                      <a:pt x="2405" y="116886"/>
                    </a:cubicBezTo>
                    <a:cubicBezTo>
                      <a:pt x="4810" y="121106"/>
                      <a:pt x="9274" y="123734"/>
                      <a:pt x="14131" y="123788"/>
                    </a:cubicBezTo>
                    <a:lnTo>
                      <a:pt x="129960" y="123788"/>
                    </a:lnTo>
                    <a:cubicBezTo>
                      <a:pt x="134815" y="123732"/>
                      <a:pt x="139276" y="121106"/>
                      <a:pt x="141681" y="116888"/>
                    </a:cubicBezTo>
                    <a:cubicBezTo>
                      <a:pt x="144086" y="112669"/>
                      <a:pt x="144073" y="107492"/>
                      <a:pt x="141647" y="103286"/>
                    </a:cubicBezTo>
                    <a:lnTo>
                      <a:pt x="83740" y="6588"/>
                    </a:lnTo>
                    <a:cubicBezTo>
                      <a:pt x="81262" y="2498"/>
                      <a:pt x="76827" y="0"/>
                      <a:pt x="72046" y="0"/>
                    </a:cubicBezTo>
                    <a:cubicBezTo>
                      <a:pt x="67264" y="0"/>
                      <a:pt x="62829" y="2498"/>
                      <a:pt x="60351" y="6588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600825" y="4953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" y="0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767512" y="48601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不给背景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606665" y="4868228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不告诉它给谁看、干什么用，只能猜</a:t>
              </a:r>
            </a:p>
          </p:txBody>
        </p:sp>
        <p:grpSp>
          <p:nvGrpSpPr>
            <p:cNvPr id="71" name="Group 71"/>
            <p:cNvGrpSpPr/>
            <p:nvPr/>
          </p:nvGrpSpPr>
          <p:grpSpPr>
            <a:xfrm>
              <a:off x="6528779" y="5200658"/>
              <a:ext cx="144086" cy="123788"/>
              <a:chOff x="6528779" y="5200658"/>
              <a:chExt cx="144086" cy="123788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600825" y="5245894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528779" y="5200658"/>
                <a:ext cx="144086" cy="123788"/>
              </a:xfrm>
              <a:custGeom>
                <a:avLst/>
                <a:gdLst/>
                <a:ahLst/>
                <a:cxnLst/>
                <a:rect l="l" t="t" r="r" b="b"/>
                <a:pathLst>
                  <a:path w="144086" h="123788">
                    <a:moveTo>
                      <a:pt x="60351" y="6595"/>
                    </a:moveTo>
                    <a:lnTo>
                      <a:pt x="2444" y="103279"/>
                    </a:lnTo>
                    <a:cubicBezTo>
                      <a:pt x="15" y="107485"/>
                      <a:pt x="0" y="112665"/>
                      <a:pt x="2405" y="116886"/>
                    </a:cubicBezTo>
                    <a:cubicBezTo>
                      <a:pt x="4810" y="121106"/>
                      <a:pt x="9274" y="123734"/>
                      <a:pt x="14131" y="123788"/>
                    </a:cubicBezTo>
                    <a:lnTo>
                      <a:pt x="129960" y="123788"/>
                    </a:lnTo>
                    <a:cubicBezTo>
                      <a:pt x="134815" y="123732"/>
                      <a:pt x="139276" y="121106"/>
                      <a:pt x="141681" y="116888"/>
                    </a:cubicBezTo>
                    <a:cubicBezTo>
                      <a:pt x="144086" y="112669"/>
                      <a:pt x="144073" y="107492"/>
                      <a:pt x="141647" y="103286"/>
                    </a:cubicBezTo>
                    <a:lnTo>
                      <a:pt x="83740" y="6588"/>
                    </a:lnTo>
                    <a:cubicBezTo>
                      <a:pt x="81262" y="2498"/>
                      <a:pt x="76827" y="0"/>
                      <a:pt x="72046" y="0"/>
                    </a:cubicBezTo>
                    <a:cubicBezTo>
                      <a:pt x="67264" y="0"/>
                      <a:pt x="62829" y="2498"/>
                      <a:pt x="60351" y="6588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600825" y="5295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" y="0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6767512" y="5203031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一次塞太多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606665" y="5211128"/>
              <a:ext cx="23019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又要图又要视频还要翻译——拆成 3 问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5676900"/>
            <a:ext cx="11049000" cy="457200"/>
            <a:chOff x="571500" y="5676900"/>
            <a:chExt cx="11049000" cy="457200"/>
          </a:xfrm>
        </p:grpSpPr>
        <p:sp>
          <p:nvSpPr>
            <p:cNvPr id="75" name="Rectangle 75"/>
            <p:cNvSpPr/>
            <p:nvPr/>
          </p:nvSpPr>
          <p:spPr>
            <a:xfrm>
              <a:off x="571500" y="56769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571500" y="56769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59155" y="5826442"/>
              <a:ext cx="21135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口诀：一版像，三版好。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79" name="TextBox 79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16 / 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  <p:bldP spid="26" grpId="0"/>
      <p:bldP spid="33" grpId="0"/>
      <p:bldP spid="53" grpId="0"/>
      <p:bldP spid="74" grpId="0"/>
      <p:bldP spid="7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-666750" y="-1238250"/>
            <a:ext cx="15144750" cy="10382250"/>
            <a:chOff x="-666750" y="-1238250"/>
            <a:chExt cx="15144750" cy="10382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6096000" cy="6096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762500" cy="4762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-666750" y="-1238250"/>
              <a:ext cx="3619500" cy="36195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1382375" y="1095375"/>
              <a:ext cx="95250" cy="9525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629900" y="723900"/>
              <a:ext cx="76200" cy="762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9619869" y="4038600"/>
            <a:ext cx="2153031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0" b="1" dirty="0">
                <a:solidFill>
                  <a:srgbClr val="FFFFFF">
                    <a:alphaMod val="14000"/>
                  </a:srgbClr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070" y="474345"/>
            <a:ext cx="634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LOGO HERE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29590" y="2423160"/>
            <a:ext cx="3524488" cy="2258378"/>
            <a:chOff x="529590" y="2423160"/>
            <a:chExt cx="3524488" cy="2258378"/>
          </a:xfrm>
        </p:grpSpPr>
        <p:sp>
          <p:nvSpPr>
            <p:cNvPr id="12" name="TextBox 12"/>
            <p:cNvSpPr txBox="1"/>
            <p:nvPr/>
          </p:nvSpPr>
          <p:spPr>
            <a:xfrm>
              <a:off x="556260" y="2423160"/>
              <a:ext cx="10066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CHAPTER FIVE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27813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9590" y="2996565"/>
              <a:ext cx="331822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工具生态与实操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0545" y="3593782"/>
              <a:ext cx="20221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挑对工具，马上动手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355" y="4121468"/>
              <a:ext cx="34997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AI 不只是聊天框——六大类工具、三步上手，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4355" y="4407218"/>
              <a:ext cx="28156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WorkBuddy 现场演示，当场就会。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791313" cy="700088"/>
            <a:chOff x="571500" y="685800"/>
            <a:chExt cx="4791313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08915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六大类 AI 工具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45798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地图，不是清单——每类挑 1 个入门，别的知道在哪找就行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71500" y="1619250"/>
            <a:ext cx="10991850" cy="3943350"/>
            <a:chOff x="571500" y="1619250"/>
            <a:chExt cx="10991850" cy="3943350"/>
          </a:xfrm>
        </p:grpSpPr>
        <p:grpSp>
          <p:nvGrpSpPr>
            <p:cNvPr id="18" name="Group 18"/>
            <p:cNvGrpSpPr/>
            <p:nvPr/>
          </p:nvGrpSpPr>
          <p:grpSpPr>
            <a:xfrm>
              <a:off x="571500" y="1619250"/>
              <a:ext cx="3524250" cy="1905000"/>
              <a:chOff x="571500" y="1619250"/>
              <a:chExt cx="3524250" cy="19050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628650" y="179070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23671" y="1897618"/>
                <a:ext cx="190157" cy="168564"/>
              </a:xfrm>
              <a:custGeom>
                <a:avLst/>
                <a:gdLst/>
                <a:ahLst/>
                <a:cxnLst/>
                <a:rect l="l" t="t" r="r" b="b"/>
                <a:pathLst>
                  <a:path w="190157" h="168564">
                    <a:moveTo>
                      <a:pt x="9754" y="159782"/>
                    </a:moveTo>
                    <a:lnTo>
                      <a:pt x="22136" y="122634"/>
                    </a:lnTo>
                    <a:cubicBezTo>
                      <a:pt x="0" y="89897"/>
                      <a:pt x="8553" y="47654"/>
                      <a:pt x="42139" y="23822"/>
                    </a:cubicBezTo>
                    <a:cubicBezTo>
                      <a:pt x="75724" y="0"/>
                      <a:pt x="123958" y="1953"/>
                      <a:pt x="154962" y="28394"/>
                    </a:cubicBezTo>
                    <a:cubicBezTo>
                      <a:pt x="185966" y="54845"/>
                      <a:pt x="190157" y="97603"/>
                      <a:pt x="164763" y="128416"/>
                    </a:cubicBezTo>
                    <a:cubicBezTo>
                      <a:pt x="139370" y="159229"/>
                      <a:pt x="92231" y="168564"/>
                      <a:pt x="54521" y="150257"/>
                    </a:cubicBezTo>
                    <a:lnTo>
                      <a:pt x="9754" y="159782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104900" y="1895475"/>
                <a:ext cx="126675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① 聊天大模型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86765" y="2306002"/>
                <a:ext cx="25819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日常问答、写作、分析——你的「AI 助手」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86765" y="2553652"/>
                <a:ext cx="272900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代表：豆包、DeepSeek、Kimi、文心一言、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86765" y="276320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通义千问、讯飞星火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86765" y="3144202"/>
                <a:ext cx="254068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入门：打开网页 / 装 App，注册就能问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4305300" y="1619250"/>
              <a:ext cx="3524250" cy="1905000"/>
              <a:chOff x="4305300" y="1619250"/>
              <a:chExt cx="3524250" cy="1905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4305300" y="161925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4362450" y="179070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4467225" y="1895475"/>
                <a:ext cx="171450" cy="161925"/>
                <a:chOff x="4467225" y="1895475"/>
                <a:chExt cx="171450" cy="161925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4467225" y="1933575"/>
                  <a:ext cx="171450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23825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52400" y="0"/>
                      </a:lnTo>
                      <a:cubicBezTo>
                        <a:pt x="162921" y="0"/>
                        <a:pt x="171450" y="8529"/>
                        <a:pt x="171450" y="19050"/>
                      </a:cubicBezTo>
                      <a:lnTo>
                        <a:pt x="171450" y="104775"/>
                      </a:lnTo>
                      <a:cubicBezTo>
                        <a:pt x="171450" y="115296"/>
                        <a:pt x="162921" y="123825"/>
                        <a:pt x="152400" y="123825"/>
                      </a:cubicBezTo>
                      <a:lnTo>
                        <a:pt x="19050" y="123825"/>
                      </a:lnTo>
                      <a:cubicBezTo>
                        <a:pt x="8529" y="123825"/>
                        <a:pt x="0" y="115296"/>
                        <a:pt x="0" y="104775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4514850" y="1895475"/>
                  <a:ext cx="762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38100">
                      <a:moveTo>
                        <a:pt x="0" y="38100"/>
                      </a:move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57150" y="0"/>
                      </a:lnTo>
                      <a:cubicBezTo>
                        <a:pt x="67671" y="0"/>
                        <a:pt x="76200" y="8529"/>
                        <a:pt x="76200" y="19050"/>
                      </a:cubicBezTo>
                      <a:lnTo>
                        <a:pt x="76200" y="381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4552950" y="19812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467225" y="1990725"/>
                  <a:ext cx="171450" cy="271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27171">
                      <a:moveTo>
                        <a:pt x="0" y="0"/>
                      </a:moveTo>
                      <a:cubicBezTo>
                        <a:pt x="53921" y="27171"/>
                        <a:pt x="117529" y="27171"/>
                        <a:pt x="171450" y="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4838700" y="18954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② 办公 AI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520565" y="2306002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嵌在你天天用的软件里，上手最简单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520565" y="2553652"/>
                <a:ext cx="26870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代表：WPS AI、讯飞听见、飞书智能伙伴、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520565" y="2763202"/>
                <a:ext cx="171388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M365 Copilot（了解即可）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520565" y="3144202"/>
                <a:ext cx="273915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入门：在软件里找 AI 入口，对当前文档用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8039100" y="1619250"/>
              <a:ext cx="3524250" cy="1905000"/>
              <a:chOff x="8039100" y="1619250"/>
              <a:chExt cx="3524250" cy="19050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8039100" y="161925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8096250" y="179070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8220075" y="1885950"/>
                <a:ext cx="133350" cy="180975"/>
                <a:chOff x="8220075" y="1885950"/>
                <a:chExt cx="133350" cy="180975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8229600" y="1905000"/>
                  <a:ext cx="1143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7620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95250" y="0"/>
                      </a:lnTo>
                      <a:cubicBezTo>
                        <a:pt x="105771" y="0"/>
                        <a:pt x="114300" y="8529"/>
                        <a:pt x="114300" y="19050"/>
                      </a:cubicBezTo>
                      <a:lnTo>
                        <a:pt x="114300" y="57150"/>
                      </a:lnTo>
                      <a:cubicBezTo>
                        <a:pt x="114300" y="67671"/>
                        <a:pt x="105771" y="76200"/>
                        <a:pt x="95250" y="76200"/>
                      </a:cubicBezTo>
                      <a:lnTo>
                        <a:pt x="19050" y="76200"/>
                      </a:lnTo>
                      <a:cubicBezTo>
                        <a:pt x="8529" y="76200"/>
                        <a:pt x="0" y="67671"/>
                        <a:pt x="0" y="5715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8286750" y="1885950"/>
                  <a:ext cx="952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050">
                      <a:moveTo>
                        <a:pt x="0" y="0"/>
                      </a:move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8258175" y="1981200"/>
                  <a:ext cx="95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5725">
                      <a:moveTo>
                        <a:pt x="0" y="0"/>
                      </a:moveTo>
                      <a:lnTo>
                        <a:pt x="0" y="8572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8315325" y="1981200"/>
                  <a:ext cx="95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5725">
                      <a:moveTo>
                        <a:pt x="0" y="0"/>
                      </a:moveTo>
                      <a:lnTo>
                        <a:pt x="0" y="8572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8220075" y="2000250"/>
                  <a:ext cx="3810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19050">
                      <a:moveTo>
                        <a:pt x="0" y="1905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8315325" y="2000250"/>
                  <a:ext cx="3810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19050">
                      <a:moveTo>
                        <a:pt x="0" y="0"/>
                      </a:moveTo>
                      <a:lnTo>
                        <a:pt x="3810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8258175" y="2038350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8267700" y="19431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8305800" y="19431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8572500" y="1895475"/>
                <a:ext cx="127725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③ Agent 平台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254365" y="2306002"/>
                <a:ext cx="25469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自己搭「数字员工」，自动执行多步任务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254365" y="2553652"/>
                <a:ext cx="26309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代表：扣子 Coze、Manus、WorkBuddy、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254365" y="2763202"/>
                <a:ext cx="29970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Dify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54365" y="3144202"/>
                <a:ext cx="298173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入门：新建 Bot，喂资料 + 写指令，测完发布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571500" y="3657600"/>
              <a:ext cx="3524250" cy="1905000"/>
              <a:chOff x="571500" y="3657600"/>
              <a:chExt cx="3524250" cy="19050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571500" y="365760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628650" y="382905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55" name="Group 55"/>
              <p:cNvGrpSpPr/>
              <p:nvPr/>
            </p:nvGrpSpPr>
            <p:grpSpPr>
              <a:xfrm>
                <a:off x="742950" y="3933825"/>
                <a:ext cx="152400" cy="171450"/>
                <a:chOff x="742950" y="3933825"/>
                <a:chExt cx="152400" cy="171450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742950" y="3933825"/>
                  <a:ext cx="1524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57150">
                      <a:moveTo>
                        <a:pt x="0" y="28575"/>
                      </a:moveTo>
                      <a:cubicBezTo>
                        <a:pt x="0" y="44357"/>
                        <a:pt x="34116" y="57150"/>
                        <a:pt x="76200" y="57150"/>
                      </a:cubicBezTo>
                      <a:cubicBezTo>
                        <a:pt x="118284" y="57150"/>
                        <a:pt x="152400" y="44357"/>
                        <a:pt x="152400" y="28575"/>
                      </a:cubicBezTo>
                      <a:cubicBezTo>
                        <a:pt x="152400" y="12793"/>
                        <a:pt x="118284" y="0"/>
                        <a:pt x="76200" y="0"/>
                      </a:cubicBezTo>
                      <a:cubicBezTo>
                        <a:pt x="34116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742950" y="396240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72932"/>
                        <a:pt x="34116" y="85725"/>
                        <a:pt x="76200" y="85725"/>
                      </a:cubicBezTo>
                      <a:cubicBezTo>
                        <a:pt x="118284" y="85725"/>
                        <a:pt x="152400" y="72932"/>
                        <a:pt x="152400" y="57150"/>
                      </a:cubicBez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742950" y="401955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72932"/>
                        <a:pt x="34116" y="85725"/>
                        <a:pt x="76200" y="85725"/>
                      </a:cubicBezTo>
                      <a:cubicBezTo>
                        <a:pt x="118284" y="85725"/>
                        <a:pt x="152400" y="72932"/>
                        <a:pt x="152400" y="57150"/>
                      </a:cubicBez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56" name="TextBox 56"/>
              <p:cNvSpPr txBox="1"/>
              <p:nvPr/>
            </p:nvSpPr>
            <p:spPr>
              <a:xfrm>
                <a:off x="1104900" y="3933825"/>
                <a:ext cx="126675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④ 知识库工具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86765" y="4344352"/>
                <a:ext cx="242797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把公司资料喂给 AI，问它答它，少胡说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86765" y="4592002"/>
                <a:ext cx="25889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代表：IMA、NotebookLM、扣子知识库、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86765" y="4801552"/>
                <a:ext cx="12098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WorkBuddy 资料库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86765" y="5182552"/>
                <a:ext cx="257008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入门：传文档 → 等解析 → 对着文档提问</a:t>
                </a: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4305300" y="3657600"/>
              <a:ext cx="3524250" cy="1905000"/>
              <a:chOff x="4305300" y="3657600"/>
              <a:chExt cx="3524250" cy="1905000"/>
            </a:xfrm>
          </p:grpSpPr>
          <p:sp>
            <p:nvSpPr>
              <p:cNvPr id="62" name="Rectangle 62"/>
              <p:cNvSpPr/>
              <p:nvPr/>
            </p:nvSpPr>
            <p:spPr>
              <a:xfrm>
                <a:off x="4305300" y="365760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4362450" y="382905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70" name="Group 70"/>
              <p:cNvGrpSpPr/>
              <p:nvPr/>
            </p:nvGrpSpPr>
            <p:grpSpPr>
              <a:xfrm>
                <a:off x="4467225" y="3933825"/>
                <a:ext cx="171450" cy="171450"/>
                <a:chOff x="4467225" y="3933825"/>
                <a:chExt cx="171450" cy="171450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4467225" y="402907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ubicBezTo>
                        <a:pt x="59142" y="0"/>
                        <a:pt x="76200" y="17058"/>
                        <a:pt x="76200" y="38100"/>
                      </a:cubicBezTo>
                      <a:cubicBezTo>
                        <a:pt x="76200" y="59142"/>
                        <a:pt x="59142" y="76200"/>
                        <a:pt x="38100" y="76200"/>
                      </a:cubicBezTo>
                      <a:lnTo>
                        <a:pt x="0" y="762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4516755" y="3933825"/>
                  <a:ext cx="121920" cy="97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920" h="97155">
                      <a:moveTo>
                        <a:pt x="121920" y="0"/>
                      </a:moveTo>
                      <a:cubicBezTo>
                        <a:pt x="66538" y="7575"/>
                        <a:pt x="19747" y="44862"/>
                        <a:pt x="0" y="9715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4541520" y="3933825"/>
                  <a:ext cx="97155" cy="121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155" h="121920">
                      <a:moveTo>
                        <a:pt x="97155" y="0"/>
                      </a:moveTo>
                      <a:cubicBezTo>
                        <a:pt x="89580" y="55382"/>
                        <a:pt x="52293" y="102173"/>
                        <a:pt x="0" y="12192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4539615" y="3990975"/>
                  <a:ext cx="41910" cy="41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" h="41910">
                      <a:moveTo>
                        <a:pt x="0" y="0"/>
                      </a:moveTo>
                      <a:cubicBezTo>
                        <a:pt x="18509" y="8543"/>
                        <a:pt x="33367" y="23401"/>
                        <a:pt x="41910" y="4191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4600575" y="406717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10521" y="19050"/>
                        <a:pt x="19050" y="27579"/>
                        <a:pt x="19050" y="38100"/>
                      </a:cubicBezTo>
                      <a:cubicBezTo>
                        <a:pt x="19050" y="27579"/>
                        <a:pt x="27579" y="19050"/>
                        <a:pt x="38100" y="19050"/>
                      </a:cubicBezTo>
                      <a:cubicBezTo>
                        <a:pt x="27579" y="19050"/>
                        <a:pt x="19050" y="10521"/>
                        <a:pt x="19050" y="0"/>
                      </a:cubicBezTo>
                      <a:cubicBezTo>
                        <a:pt x="19050" y="10521"/>
                        <a:pt x="10521" y="19050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4467225" y="39338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10521" y="19050"/>
                        <a:pt x="19050" y="27579"/>
                        <a:pt x="19050" y="38100"/>
                      </a:cubicBezTo>
                      <a:cubicBezTo>
                        <a:pt x="19050" y="27579"/>
                        <a:pt x="27579" y="19050"/>
                        <a:pt x="38100" y="19050"/>
                      </a:cubicBezTo>
                      <a:cubicBezTo>
                        <a:pt x="27579" y="19050"/>
                        <a:pt x="19050" y="10521"/>
                        <a:pt x="19050" y="0"/>
                      </a:cubicBezTo>
                      <a:cubicBezTo>
                        <a:pt x="19050" y="10521"/>
                        <a:pt x="10521" y="19050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71" name="TextBox 71"/>
              <p:cNvSpPr txBox="1"/>
              <p:nvPr/>
            </p:nvSpPr>
            <p:spPr>
              <a:xfrm>
                <a:off x="4838700" y="3933825"/>
                <a:ext cx="126675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⑤ 生成式媒体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4520565" y="4344352"/>
                <a:ext cx="162987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AI 出图 / 出视频 / 出声音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4520565" y="4592002"/>
                <a:ext cx="214093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代表：即梦 AI、可灵、Vidu、海螺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4520565" y="5182552"/>
                <a:ext cx="29890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入门：写一句描述，选比例 / 时长，生成下载</a:t>
                </a:r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>
              <a:off x="8039100" y="3657600"/>
              <a:ext cx="3524250" cy="1905000"/>
              <a:chOff x="8039100" y="3657600"/>
              <a:chExt cx="3524250" cy="1905000"/>
            </a:xfrm>
          </p:grpSpPr>
          <p:sp>
            <p:nvSpPr>
              <p:cNvPr id="76" name="Rectangle 76"/>
              <p:cNvSpPr/>
              <p:nvPr/>
            </p:nvSpPr>
            <p:spPr>
              <a:xfrm>
                <a:off x="8039100" y="365760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77" name="Ellipse 77"/>
              <p:cNvSpPr/>
              <p:nvPr/>
            </p:nvSpPr>
            <p:spPr>
              <a:xfrm>
                <a:off x="8096250" y="382905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81" name="Group 81"/>
              <p:cNvGrpSpPr/>
              <p:nvPr/>
            </p:nvGrpSpPr>
            <p:grpSpPr>
              <a:xfrm>
                <a:off x="8201025" y="3943350"/>
                <a:ext cx="171450" cy="152400"/>
                <a:chOff x="8201025" y="3943350"/>
                <a:chExt cx="171450" cy="152400"/>
              </a:xfrm>
            </p:grpSpPr>
            <p:sp>
              <p:nvSpPr>
                <p:cNvPr id="78" name="Freeform 78"/>
                <p:cNvSpPr/>
                <p:nvPr/>
              </p:nvSpPr>
              <p:spPr>
                <a:xfrm>
                  <a:off x="8201025" y="3981450"/>
                  <a:ext cx="381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76200">
                      <a:moveTo>
                        <a:pt x="38100" y="0"/>
                      </a:moveTo>
                      <a:lnTo>
                        <a:pt x="0" y="38100"/>
                      </a:lnTo>
                      <a:lnTo>
                        <a:pt x="38100" y="762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79" name="Freeform 79"/>
                <p:cNvSpPr/>
                <p:nvPr/>
              </p:nvSpPr>
              <p:spPr>
                <a:xfrm>
                  <a:off x="8334375" y="3981450"/>
                  <a:ext cx="381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76200">
                      <a:moveTo>
                        <a:pt x="0" y="0"/>
                      </a:moveTo>
                      <a:lnTo>
                        <a:pt x="38100" y="38100"/>
                      </a:lnTo>
                      <a:lnTo>
                        <a:pt x="0" y="762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80" name="Freeform 80"/>
                <p:cNvSpPr/>
                <p:nvPr/>
              </p:nvSpPr>
              <p:spPr>
                <a:xfrm>
                  <a:off x="8267700" y="3943350"/>
                  <a:ext cx="381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152400">
                      <a:moveTo>
                        <a:pt x="38100" y="0"/>
                      </a:moveTo>
                      <a:lnTo>
                        <a:pt x="0" y="1524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82" name="TextBox 82"/>
              <p:cNvSpPr txBox="1"/>
              <p:nvPr/>
            </p:nvSpPr>
            <p:spPr>
              <a:xfrm>
                <a:off x="8572500" y="3933825"/>
                <a:ext cx="84670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⑥ 编程类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8254365" y="434435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给程序员写代码用，知道有就行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8254365" y="4592002"/>
                <a:ext cx="279901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代表：Codex、Claude Code、Cursor、Trae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8254365" y="5182552"/>
                <a:ext cx="252598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入门：非技术同学不用练，知道它存在</a:t>
                </a:r>
              </a:p>
            </p:txBody>
          </p:sp>
        </p:grpSp>
      </p:grpSp>
      <p:grpSp>
        <p:nvGrpSpPr>
          <p:cNvPr id="91" name="Group 91"/>
          <p:cNvGrpSpPr/>
          <p:nvPr/>
        </p:nvGrpSpPr>
        <p:grpSpPr>
          <a:xfrm>
            <a:off x="571500" y="5753100"/>
            <a:ext cx="11049000" cy="419100"/>
            <a:chOff x="571500" y="5753100"/>
            <a:chExt cx="11049000" cy="419100"/>
          </a:xfrm>
        </p:grpSpPr>
        <p:sp>
          <p:nvSpPr>
            <p:cNvPr id="88" name="Rectangle 88"/>
            <p:cNvSpPr/>
            <p:nvPr/>
          </p:nvSpPr>
          <p:spPr>
            <a:xfrm>
              <a:off x="571500" y="5753100"/>
              <a:ext cx="11049000" cy="419100"/>
            </a:xfrm>
            <a:prstGeom prst="roundRect">
              <a:avLst>
                <a:gd name="adj" fmla="val 36364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571500" y="5753100"/>
              <a:ext cx="76200" cy="4191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59155" y="5874068"/>
              <a:ext cx="51662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教学点：地图不是清单。每类挑 1 个入门，其余知道在哪找。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92" name="TextBox 92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18 / 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9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044220" cy="700088"/>
            <a:chOff x="571500" y="685800"/>
            <a:chExt cx="4044220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26242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主流大模型速览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8327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国内常见五款，各有性格——不用全学，先记特点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84227" y="1619250"/>
            <a:ext cx="11136273" cy="2857500"/>
            <a:chOff x="484227" y="1619250"/>
            <a:chExt cx="11136273" cy="2857500"/>
          </a:xfrm>
        </p:grpSpPr>
        <p:grpSp>
          <p:nvGrpSpPr>
            <p:cNvPr id="17" name="Group 17"/>
            <p:cNvGrpSpPr/>
            <p:nvPr/>
          </p:nvGrpSpPr>
          <p:grpSpPr>
            <a:xfrm>
              <a:off x="484227" y="1619250"/>
              <a:ext cx="2231946" cy="2857500"/>
              <a:chOff x="484227" y="1619250"/>
              <a:chExt cx="2231946" cy="28575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2057400" cy="2857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119092" y="1895475"/>
                <a:ext cx="96221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DeepSeek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96804" y="22869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推理和逻辑强，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66812" y="25155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免费额度够用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800100" y="2857500"/>
                <a:ext cx="16002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84227" y="2944178"/>
                <a:ext cx="223194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擅长：逻辑分析、数学、长文写作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86778" y="342995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国内主流，注册就能用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819400" y="1619250"/>
              <a:ext cx="2057400" cy="2857500"/>
              <a:chOff x="2819400" y="1619250"/>
              <a:chExt cx="2057400" cy="28575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2819400" y="1619250"/>
                <a:ext cx="2057400" cy="2857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3629525" y="1895475"/>
                <a:ext cx="4371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Kimi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274695" y="228695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超长文档是强项，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190684" y="2515552"/>
                <a:ext cx="13148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一次能读 200 页 PDF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3048000" y="2857500"/>
                <a:ext cx="16002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2879146" y="2944178"/>
                <a:ext cx="19379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擅长：读长文档、论文、合同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064669" y="34299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网页版免费，手机也顺手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5067300" y="1619250"/>
              <a:ext cx="2057400" cy="2857500"/>
              <a:chOff x="5067300" y="1619250"/>
              <a:chExt cx="2057400" cy="28575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067300" y="1619250"/>
                <a:ext cx="2057400" cy="2857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5866924" y="189547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豆包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442085" y="2286952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全能 + 语音最自然，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802630" y="25155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门槛最低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5295900" y="2857500"/>
                <a:ext cx="16002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5127046" y="2944178"/>
                <a:ext cx="19379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擅长：日常问答、语音、出图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316069" y="3429952"/>
                <a:ext cx="15598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App 体验顺滑，新手友好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227927" y="1619250"/>
              <a:ext cx="2231946" cy="2857500"/>
              <a:chOff x="7227927" y="1619250"/>
              <a:chExt cx="2231946" cy="28575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7315200" y="1619250"/>
                <a:ext cx="2057400" cy="2857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904798" y="18954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文心一言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700486" y="228695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公文和正式表达稳，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050530" y="25155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大厂背书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7543800" y="2857500"/>
                <a:ext cx="16002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227927" y="2944178"/>
                <a:ext cx="223194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擅长：公文、正式材料、中文语感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630478" y="342995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百度生态，企业用户多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9563100" y="1619250"/>
              <a:ext cx="2057400" cy="2857500"/>
              <a:chOff x="9563100" y="1619250"/>
              <a:chExt cx="2057400" cy="28575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9563100" y="1619250"/>
                <a:ext cx="2057400" cy="2857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0031932" y="1895475"/>
                <a:ext cx="111973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通义 / 讯飞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0228421" y="22869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各有生态，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0088404" y="25155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按你用的平台选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9791700" y="2857500"/>
                <a:ext cx="16002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9769864" y="2944178"/>
                <a:ext cx="164387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擅长：对应生态内的用户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948386" y="342995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日常够用，不用纠结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571500" y="4724400"/>
            <a:ext cx="11049000" cy="838200"/>
            <a:chOff x="571500" y="4724400"/>
            <a:chExt cx="11049000" cy="838200"/>
          </a:xfrm>
        </p:grpSpPr>
        <p:sp>
          <p:nvSpPr>
            <p:cNvPr id="51" name="Rectangle 51"/>
            <p:cNvSpPr/>
            <p:nvPr/>
          </p:nvSpPr>
          <p:spPr>
            <a:xfrm>
              <a:off x="571500" y="4724400"/>
              <a:ext cx="11049000" cy="838200"/>
            </a:xfrm>
            <a:prstGeom prst="roundRect">
              <a:avLst>
                <a:gd name="adj" fmla="val 18182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71500" y="4724400"/>
              <a:ext cx="76200" cy="838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59155" y="4902518"/>
              <a:ext cx="65272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选模型一句话：别追最强、别追最新——先定 1-2 个主力用出手感，熟了再换。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1060" y="5223510"/>
              <a:ext cx="47190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选型不玄学：场景合适 + 你用得顺手 + 团队都能用，就是好模型。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58165" y="5792152"/>
            <a:ext cx="2525982" cy="213360"/>
            <a:chOff x="558165" y="5792152"/>
            <a:chExt cx="2525982" cy="213360"/>
          </a:xfrm>
        </p:grpSpPr>
        <p:sp>
          <p:nvSpPr>
            <p:cNvPr id="56" name="TextBox 56"/>
            <p:cNvSpPr txBox="1"/>
            <p:nvPr/>
          </p:nvSpPr>
          <p:spPr>
            <a:xfrm>
              <a:off x="558165" y="5792152"/>
              <a:ext cx="25259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* 榜单每月在变，本表每季度核对一次。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58" name="TextBox 58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19 / 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5" grpId="0"/>
      <p:bldP spid="5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三步上手 + 岗位场景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零代码：会打字就能用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装 / 注册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用工作号或公司账号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第一次对话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「帮我写份周报，我是…」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改结果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不满意？补条件再问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高校 · 教案与课件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五要素让 AI 出教案与课件初稿 → 人工核对重点 → 定稿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学校 · 成绩与通知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粘贴成绩 / 统计表：找异常、出结论；再起草家长会通知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企业 · 周报与数据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五要素出周报 / 纪要初稿；贴销售表找异常、出公式、给结论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通用 · 长文档问答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100 页制度 / 教材直接丢给它问；会议录音转纪要、再提待办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通用 · 材料与文件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WorkBuddy 一句话整理资料、合并多表、出总结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新手三步：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注册 → 问一次 → 改一次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20 / 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22" grpId="0"/>
      <p:bldP spid="27" grpId="0"/>
      <p:bldP spid="58" grpId="0"/>
      <p:bldP spid="6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233243" cy="700088"/>
            <a:chOff x="571500" y="685800"/>
            <a:chExt cx="4233243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366435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WorkBuddy 六大核心能力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40217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AI 工作助理：你说目标，它自动拆解、执行、交付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71500" y="1619250"/>
            <a:ext cx="10991850" cy="3943350"/>
            <a:chOff x="571500" y="1619250"/>
            <a:chExt cx="10991850" cy="3943350"/>
          </a:xfrm>
        </p:grpSpPr>
        <p:grpSp>
          <p:nvGrpSpPr>
            <p:cNvPr id="19" name="Group 19"/>
            <p:cNvGrpSpPr/>
            <p:nvPr/>
          </p:nvGrpSpPr>
          <p:grpSpPr>
            <a:xfrm>
              <a:off x="571500" y="1619250"/>
              <a:ext cx="3524250" cy="1905000"/>
              <a:chOff x="571500" y="1619250"/>
              <a:chExt cx="3524250" cy="19050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628650" y="179070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730369" y="1895475"/>
                <a:ext cx="174506" cy="174506"/>
                <a:chOff x="730369" y="1895475"/>
                <a:chExt cx="174506" cy="174506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800100" y="1895475"/>
                  <a:ext cx="10477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04775">
                      <a:moveTo>
                        <a:pt x="0" y="104775"/>
                      </a:moveTo>
                      <a:lnTo>
                        <a:pt x="10477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730369" y="1895475"/>
                  <a:ext cx="174506" cy="174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06" h="174506">
                      <a:moveTo>
                        <a:pt x="174506" y="0"/>
                      </a:moveTo>
                      <a:lnTo>
                        <a:pt x="112594" y="171450"/>
                      </a:lnTo>
                      <a:cubicBezTo>
                        <a:pt x="111740" y="173312"/>
                        <a:pt x="109880" y="174506"/>
                        <a:pt x="107831" y="174506"/>
                      </a:cubicBezTo>
                      <a:cubicBezTo>
                        <a:pt x="105783" y="174506"/>
                        <a:pt x="103922" y="173312"/>
                        <a:pt x="103069" y="171450"/>
                      </a:cubicBezTo>
                      <a:lnTo>
                        <a:pt x="69731" y="104775"/>
                      </a:lnTo>
                      <a:lnTo>
                        <a:pt x="3056" y="71438"/>
                      </a:lnTo>
                      <a:cubicBezTo>
                        <a:pt x="1194" y="70584"/>
                        <a:pt x="0" y="68724"/>
                        <a:pt x="0" y="66675"/>
                      </a:cubicBezTo>
                      <a:cubicBezTo>
                        <a:pt x="0" y="64626"/>
                        <a:pt x="1194" y="62766"/>
                        <a:pt x="3056" y="61912"/>
                      </a:cubicBezTo>
                      <a:lnTo>
                        <a:pt x="174506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1104900" y="1895475"/>
                <a:ext cx="147678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① 一句话办任务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86765" y="2306002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给目标，它自动拆解执行、直接交付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800100" y="262890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E9EEF5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977265" y="2782252"/>
                <a:ext cx="264359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例：「把这 10 份资料整理成 1 份 PPT」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4305300" y="1619250"/>
              <a:ext cx="3524250" cy="1905000"/>
              <a:chOff x="4305300" y="1619250"/>
              <a:chExt cx="3524250" cy="1905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4305300" y="161925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4362450" y="179070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4467225" y="1905000"/>
                <a:ext cx="171450" cy="161925"/>
                <a:chOff x="4467225" y="1905000"/>
                <a:chExt cx="171450" cy="161925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4467225" y="1905000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4476750" y="1905000"/>
                  <a:ext cx="1524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14300">
                      <a:moveTo>
                        <a:pt x="0" y="0"/>
                      </a:moveTo>
                      <a:lnTo>
                        <a:pt x="0" y="95250"/>
                      </a:lnTo>
                      <a:cubicBezTo>
                        <a:pt x="0" y="105771"/>
                        <a:pt x="8529" y="114300"/>
                        <a:pt x="19050" y="114300"/>
                      </a:cubicBezTo>
                      <a:lnTo>
                        <a:pt x="133350" y="114300"/>
                      </a:lnTo>
                      <a:cubicBezTo>
                        <a:pt x="143871" y="114300"/>
                        <a:pt x="152400" y="105771"/>
                        <a:pt x="152400" y="95250"/>
                      </a:cubicBez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552950" y="2019300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524375" y="2057400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4514850" y="1943100"/>
                  <a:ext cx="762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38100">
                      <a:moveTo>
                        <a:pt x="0" y="38100"/>
                      </a:moveTo>
                      <a:lnTo>
                        <a:pt x="28575" y="9525"/>
                      </a:lnTo>
                      <a:lnTo>
                        <a:pt x="47625" y="28575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4838700" y="1895475"/>
                <a:ext cx="14662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② 做文档与 PPT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520565" y="2306002"/>
                <a:ext cx="22179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教案、方案、报告、PPT，直接产出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4533900" y="262890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E9EEF5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711065" y="2782252"/>
                <a:ext cx="271710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可编辑文件；页数 / 风格 / 结构都能指定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8039100" y="1619250"/>
              <a:ext cx="3524250" cy="1905000"/>
              <a:chOff x="8039100" y="1619250"/>
              <a:chExt cx="3524250" cy="19050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8039100" y="161925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8096250" y="179070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8201025" y="1895475"/>
                <a:ext cx="171450" cy="171450"/>
                <a:chOff x="8201025" y="1895475"/>
                <a:chExt cx="171450" cy="171450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8201025" y="18954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52400" y="0"/>
                      </a:lnTo>
                      <a:cubicBezTo>
                        <a:pt x="162921" y="0"/>
                        <a:pt x="171450" y="8529"/>
                        <a:pt x="171450" y="19050"/>
                      </a:cubicBezTo>
                      <a:lnTo>
                        <a:pt x="171450" y="152400"/>
                      </a:lnTo>
                      <a:cubicBezTo>
                        <a:pt x="171450" y="162921"/>
                        <a:pt x="162921" y="171450"/>
                        <a:pt x="152400" y="171450"/>
                      </a:cubicBezTo>
                      <a:lnTo>
                        <a:pt x="19050" y="171450"/>
                      </a:lnTo>
                      <a:cubicBezTo>
                        <a:pt x="8529" y="171450"/>
                        <a:pt x="0" y="162921"/>
                        <a:pt x="0" y="15240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8201025" y="1962150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8267700" y="1895475"/>
                  <a:ext cx="95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">
                      <a:moveTo>
                        <a:pt x="0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8572500" y="1895475"/>
                <a:ext cx="168680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③ 整理与分析数据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254365" y="2306002"/>
                <a:ext cx="239996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表格 / Excel 丢进去：找异常、出结论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8267700" y="262890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E9EEF5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8444865" y="2782252"/>
                <a:ext cx="149685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D64545"/>
                    </a:solidFill>
                    <a:latin typeface="Arial"/>
                    <a:ea typeface="Microsoft YaHei"/>
                    <a:cs typeface="Arial"/>
                  </a:rPr>
                  <a:t>数字必须自己核对原表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3657600"/>
              <a:ext cx="3524250" cy="1905000"/>
              <a:chOff x="571500" y="3657600"/>
              <a:chExt cx="3524250" cy="19050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571500" y="365760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628650" y="382905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51" name="Group 51"/>
              <p:cNvGrpSpPr/>
              <p:nvPr/>
            </p:nvGrpSpPr>
            <p:grpSpPr>
              <a:xfrm>
                <a:off x="733425" y="3933825"/>
                <a:ext cx="171450" cy="171422"/>
                <a:chOff x="733425" y="3933825"/>
                <a:chExt cx="171450" cy="171422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771525" y="3933825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25403"/>
                      </a:moveTo>
                      <a:cubicBezTo>
                        <a:pt x="0" y="11373"/>
                        <a:pt x="11373" y="0"/>
                        <a:pt x="25403" y="0"/>
                      </a:cubicBezTo>
                      <a:lnTo>
                        <a:pt x="107947" y="0"/>
                      </a:lnTo>
                      <a:cubicBezTo>
                        <a:pt x="114684" y="0"/>
                        <a:pt x="121146" y="2676"/>
                        <a:pt x="125910" y="7440"/>
                      </a:cubicBezTo>
                      <a:cubicBezTo>
                        <a:pt x="130674" y="12204"/>
                        <a:pt x="133350" y="18666"/>
                        <a:pt x="133350" y="25403"/>
                      </a:cubicBezTo>
                      <a:lnTo>
                        <a:pt x="133350" y="107947"/>
                      </a:lnTo>
                      <a:cubicBezTo>
                        <a:pt x="133350" y="114684"/>
                        <a:pt x="130674" y="121146"/>
                        <a:pt x="125910" y="125910"/>
                      </a:cubicBezTo>
                      <a:cubicBezTo>
                        <a:pt x="121146" y="130674"/>
                        <a:pt x="114684" y="133350"/>
                        <a:pt x="107947" y="133350"/>
                      </a:cubicBezTo>
                      <a:lnTo>
                        <a:pt x="25403" y="133350"/>
                      </a:lnTo>
                      <a:cubicBezTo>
                        <a:pt x="11373" y="133350"/>
                        <a:pt x="0" y="121977"/>
                        <a:pt x="0" y="107947"/>
                      </a:cubicBezTo>
                      <a:lnTo>
                        <a:pt x="0" y="25403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733425" y="3974402"/>
                  <a:ext cx="128588" cy="130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8" h="130845">
                      <a:moveTo>
                        <a:pt x="9639" y="0"/>
                      </a:moveTo>
                      <a:cubicBezTo>
                        <a:pt x="3694" y="3389"/>
                        <a:pt x="17" y="9701"/>
                        <a:pt x="0" y="16545"/>
                      </a:cubicBezTo>
                      <a:lnTo>
                        <a:pt x="0" y="111795"/>
                      </a:lnTo>
                      <a:cubicBezTo>
                        <a:pt x="0" y="122272"/>
                        <a:pt x="8573" y="130845"/>
                        <a:pt x="19050" y="130845"/>
                      </a:cubicBezTo>
                      <a:lnTo>
                        <a:pt x="114300" y="130845"/>
                      </a:lnTo>
                      <a:cubicBezTo>
                        <a:pt x="121444" y="130845"/>
                        <a:pt x="125330" y="127178"/>
                        <a:pt x="128588" y="12132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809625" y="3971925"/>
                  <a:ext cx="47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">
                      <a:moveTo>
                        <a:pt x="0" y="0"/>
                      </a:move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809625" y="4000500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809625" y="4029075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0" y="0"/>
                      </a:moveTo>
                      <a:lnTo>
                        <a:pt x="2857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1104900" y="3933825"/>
                <a:ext cx="168680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④ 读长文档、问答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86765" y="4344352"/>
                <a:ext cx="230895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喂进资料 / 制度 / 文献，问它答它，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86765" y="455390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答案带出处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800100" y="481965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E9EEF5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977265" y="4973002"/>
                <a:ext cx="20849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制度问答、教材辅导、文献整理</a:t>
                </a: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4305300" y="3657600"/>
              <a:ext cx="3524250" cy="1905000"/>
              <a:chOff x="4305300" y="3657600"/>
              <a:chExt cx="3524250" cy="1905000"/>
            </a:xfrm>
          </p:grpSpPr>
          <p:sp>
            <p:nvSpPr>
              <p:cNvPr id="58" name="Rectangle 58"/>
              <p:cNvSpPr/>
              <p:nvPr/>
            </p:nvSpPr>
            <p:spPr>
              <a:xfrm>
                <a:off x="4305300" y="365760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4362450" y="382905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62" name="Group 62"/>
              <p:cNvGrpSpPr/>
              <p:nvPr/>
            </p:nvGrpSpPr>
            <p:grpSpPr>
              <a:xfrm>
                <a:off x="4467225" y="3933825"/>
                <a:ext cx="171450" cy="171450"/>
                <a:chOff x="4467225" y="3933825"/>
                <a:chExt cx="171450" cy="171450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4467225" y="393382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4552950" y="3971925"/>
                  <a:ext cx="285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76200">
                      <a:moveTo>
                        <a:pt x="0" y="0"/>
                      </a:moveTo>
                      <a:lnTo>
                        <a:pt x="0" y="47625"/>
                      </a:lnTo>
                      <a:lnTo>
                        <a:pt x="28575" y="762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63" name="TextBox 63"/>
              <p:cNvSpPr txBox="1"/>
              <p:nvPr/>
            </p:nvSpPr>
            <p:spPr>
              <a:xfrm>
                <a:off x="4838700" y="3933825"/>
                <a:ext cx="168680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⑤ 定时与重复任务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4520565" y="43443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到点自动跑，不用人盯着</a:t>
                </a:r>
              </a:p>
            </p:txBody>
          </p:sp>
          <p:sp>
            <p:nvSpPr>
              <p:cNvPr id="65" name="Rectangle 65"/>
              <p:cNvSpPr/>
              <p:nvPr/>
            </p:nvSpPr>
            <p:spPr>
              <a:xfrm>
                <a:off x="4533900" y="481965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E9EEF5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4711065" y="4973002"/>
                <a:ext cx="21069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例：每天 8 点汇总昨日数据发我</a:t>
                </a: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8039100" y="3657600"/>
              <a:ext cx="3524250" cy="1905000"/>
              <a:chOff x="8039100" y="3657600"/>
              <a:chExt cx="3524250" cy="1905000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8039100" y="365760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69" name="Ellipse 69"/>
              <p:cNvSpPr/>
              <p:nvPr/>
            </p:nvSpPr>
            <p:spPr>
              <a:xfrm>
                <a:off x="8096250" y="382905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73" name="Group 73"/>
              <p:cNvGrpSpPr/>
              <p:nvPr/>
            </p:nvGrpSpPr>
            <p:grpSpPr>
              <a:xfrm>
                <a:off x="8207541" y="3943350"/>
                <a:ext cx="155409" cy="155409"/>
                <a:chOff x="8207541" y="3943350"/>
                <a:chExt cx="155409" cy="155409"/>
              </a:xfrm>
            </p:grpSpPr>
            <p:sp>
              <p:nvSpPr>
                <p:cNvPr id="70" name="Freeform 70"/>
                <p:cNvSpPr/>
                <p:nvPr/>
              </p:nvSpPr>
              <p:spPr>
                <a:xfrm>
                  <a:off x="8210550" y="3943350"/>
                  <a:ext cx="152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52400">
                      <a:moveTo>
                        <a:pt x="0" y="85725"/>
                      </a:moveTo>
                      <a:cubicBezTo>
                        <a:pt x="34959" y="89880"/>
                        <a:pt x="62520" y="117441"/>
                        <a:pt x="66675" y="152400"/>
                      </a:cubicBezTo>
                      <a:cubicBezTo>
                        <a:pt x="83792" y="142532"/>
                        <a:pt x="94598" y="124522"/>
                        <a:pt x="95250" y="104775"/>
                      </a:cubicBezTo>
                      <a:cubicBezTo>
                        <a:pt x="127957" y="93269"/>
                        <a:pt x="150512" y="63195"/>
                        <a:pt x="152400" y="28575"/>
                      </a:cubicBezTo>
                      <a:cubicBezTo>
                        <a:pt x="152400" y="12793"/>
                        <a:pt x="139607" y="0"/>
                        <a:pt x="123825" y="0"/>
                      </a:cubicBezTo>
                      <a:cubicBezTo>
                        <a:pt x="89205" y="1888"/>
                        <a:pt x="59131" y="24443"/>
                        <a:pt x="47625" y="57150"/>
                      </a:cubicBezTo>
                      <a:cubicBezTo>
                        <a:pt x="27878" y="57802"/>
                        <a:pt x="9868" y="68608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71" name="Freeform 71"/>
                <p:cNvSpPr/>
                <p:nvPr/>
              </p:nvSpPr>
              <p:spPr>
                <a:xfrm>
                  <a:off x="8207541" y="4038600"/>
                  <a:ext cx="60159" cy="601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59" h="60159">
                      <a:moveTo>
                        <a:pt x="31584" y="0"/>
                      </a:moveTo>
                      <a:cubicBezTo>
                        <a:pt x="11304" y="11449"/>
                        <a:pt x="0" y="34057"/>
                        <a:pt x="3009" y="57150"/>
                      </a:cubicBezTo>
                      <a:cubicBezTo>
                        <a:pt x="26101" y="60159"/>
                        <a:pt x="48710" y="48854"/>
                        <a:pt x="60159" y="2857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8305800" y="3981450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74" name="TextBox 74"/>
              <p:cNvSpPr txBox="1"/>
              <p:nvPr/>
            </p:nvSpPr>
            <p:spPr>
              <a:xfrm>
                <a:off x="8572500" y="3933825"/>
                <a:ext cx="1056727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⑥ 三步上手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8254365" y="434435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零代码，会打字就能用</a:t>
                </a:r>
              </a:p>
            </p:txBody>
          </p:sp>
          <p:sp>
            <p:nvSpPr>
              <p:cNvPr id="76" name="Rectangle 76"/>
              <p:cNvSpPr/>
              <p:nvPr/>
            </p:nvSpPr>
            <p:spPr>
              <a:xfrm>
                <a:off x="8267700" y="481965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D6E6F9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8444865" y="4973002"/>
                <a:ext cx="22760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注册登录 → 上传资料 → 发第一句话</a:t>
                </a:r>
              </a:p>
            </p:txBody>
          </p:sp>
        </p:grpSp>
      </p:grpSp>
      <p:grpSp>
        <p:nvGrpSpPr>
          <p:cNvPr id="83" name="Group 83"/>
          <p:cNvGrpSpPr/>
          <p:nvPr/>
        </p:nvGrpSpPr>
        <p:grpSpPr>
          <a:xfrm>
            <a:off x="571500" y="5753100"/>
            <a:ext cx="11049000" cy="419100"/>
            <a:chOff x="571500" y="5753100"/>
            <a:chExt cx="11049000" cy="419100"/>
          </a:xfrm>
        </p:grpSpPr>
        <p:sp>
          <p:nvSpPr>
            <p:cNvPr id="80" name="Rectangle 80"/>
            <p:cNvSpPr/>
            <p:nvPr/>
          </p:nvSpPr>
          <p:spPr>
            <a:xfrm>
              <a:off x="571500" y="5753100"/>
              <a:ext cx="11049000" cy="419100"/>
            </a:xfrm>
            <a:prstGeom prst="roundRect">
              <a:avLst>
                <a:gd name="adj" fmla="val 36364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571500" y="5753100"/>
              <a:ext cx="76200" cy="4191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59155" y="5874068"/>
              <a:ext cx="9296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教学点：从「你用的工具」到「替你干活的数字同事」。关键不是会用几个功能，而是敢不敢派一个完整任务。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84" name="TextBox 8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21 / 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4192250" cy="8953500"/>
            <a:chOff x="0" y="0"/>
            <a:chExt cx="1419225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809494" cy="700088"/>
            <a:chOff x="571500" y="685800"/>
            <a:chExt cx="4809494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460946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现场演示：把活派给 WorkBuddy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6527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讲师当场演示——你只需要看懂它是怎么干活的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1619250"/>
            <a:ext cx="3524250" cy="3333750"/>
            <a:chOff x="571500" y="1619250"/>
            <a:chExt cx="3524250" cy="3333750"/>
          </a:xfrm>
        </p:grpSpPr>
        <p:sp>
          <p:nvSpPr>
            <p:cNvPr id="10" name="Rectangle 10"/>
            <p:cNvSpPr/>
            <p:nvPr/>
          </p:nvSpPr>
          <p:spPr>
            <a:xfrm>
              <a:off x="571500" y="1619250"/>
              <a:ext cx="3524250" cy="3333750"/>
            </a:xfrm>
            <a:prstGeom prst="roundRect">
              <a:avLst>
                <a:gd name="adj" fmla="val 457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762000" y="18478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2843" y="2019300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143250" y="1866900"/>
              <a:ext cx="800100" cy="304800"/>
            </a:xfrm>
            <a:prstGeom prst="roundRect">
              <a:avLst>
                <a:gd name="adj" fmla="val 50000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110963" y="1953578"/>
              <a:ext cx="8646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现场 10 分钟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00100" y="257175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920869" y="2695575"/>
              <a:ext cx="174506" cy="174506"/>
              <a:chOff x="920869" y="2695575"/>
              <a:chExt cx="174506" cy="17450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990600" y="2695575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04775"/>
                    </a:moveTo>
                    <a:lnTo>
                      <a:pt x="10477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20869" y="2695575"/>
                <a:ext cx="174506" cy="174506"/>
              </a:xfrm>
              <a:custGeom>
                <a:avLst/>
                <a:gdLst/>
                <a:ahLst/>
                <a:cxnLst/>
                <a:rect l="l" t="t" r="r" b="b"/>
                <a:pathLst>
                  <a:path w="174506" h="174506">
                    <a:moveTo>
                      <a:pt x="174506" y="0"/>
                    </a:moveTo>
                    <a:lnTo>
                      <a:pt x="112594" y="171450"/>
                    </a:lnTo>
                    <a:cubicBezTo>
                      <a:pt x="111740" y="173312"/>
                      <a:pt x="109880" y="174506"/>
                      <a:pt x="107831" y="174506"/>
                    </a:cubicBezTo>
                    <a:cubicBezTo>
                      <a:pt x="105783" y="174506"/>
                      <a:pt x="103922" y="173312"/>
                      <a:pt x="103069" y="171450"/>
                    </a:cubicBezTo>
                    <a:lnTo>
                      <a:pt x="69731" y="104775"/>
                    </a:lnTo>
                    <a:lnTo>
                      <a:pt x="3056" y="71438"/>
                    </a:lnTo>
                    <a:cubicBezTo>
                      <a:pt x="1194" y="70584"/>
                      <a:pt x="0" y="68724"/>
                      <a:pt x="0" y="66675"/>
                    </a:cubicBezTo>
                    <a:cubicBezTo>
                      <a:pt x="0" y="64626"/>
                      <a:pt x="1194" y="62766"/>
                      <a:pt x="3056" y="61912"/>
                    </a:cubicBezTo>
                    <a:lnTo>
                      <a:pt x="174506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331595" y="26793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一句话派活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5812" y="3231356"/>
              <a:ext cx="22263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「把这些资料整理成 10 页 PPT，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5812" y="3479006"/>
              <a:ext cx="15512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再给我 1 页要点总结」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5812" y="38028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当场发出，看它干活。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305300" y="1619250"/>
            <a:ext cx="3524250" cy="3333750"/>
            <a:chOff x="4305300" y="1619250"/>
            <a:chExt cx="3524250" cy="3333750"/>
          </a:xfrm>
        </p:grpSpPr>
        <p:sp>
          <p:nvSpPr>
            <p:cNvPr id="24" name="Rectangle 24"/>
            <p:cNvSpPr/>
            <p:nvPr/>
          </p:nvSpPr>
          <p:spPr>
            <a:xfrm>
              <a:off x="4305300" y="1619250"/>
              <a:ext cx="3524250" cy="3333750"/>
            </a:xfrm>
            <a:prstGeom prst="roundRect">
              <a:avLst>
                <a:gd name="adj" fmla="val 457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495800" y="18478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666643" y="2019300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877050" y="1866900"/>
              <a:ext cx="800100" cy="304800"/>
            </a:xfrm>
            <a:prstGeom prst="roundRect">
              <a:avLst>
                <a:gd name="adj" fmla="val 50000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96219" y="1953578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看懂怎么干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4533900" y="257175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4657725" y="2724150"/>
              <a:ext cx="171450" cy="114300"/>
              <a:chOff x="4657725" y="2724150"/>
              <a:chExt cx="171450" cy="1143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4724400" y="27622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657725" y="2724150"/>
                <a:ext cx="1714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300">
                    <a:moveTo>
                      <a:pt x="171450" y="57150"/>
                    </a:moveTo>
                    <a:cubicBezTo>
                      <a:pt x="148590" y="95250"/>
                      <a:pt x="120015" y="114300"/>
                      <a:pt x="85725" y="114300"/>
                    </a:cubicBezTo>
                    <a:cubicBezTo>
                      <a:pt x="51435" y="114300"/>
                      <a:pt x="22860" y="95250"/>
                      <a:pt x="0" y="57150"/>
                    </a:cubicBezTo>
                    <a:cubicBezTo>
                      <a:pt x="22860" y="19050"/>
                      <a:pt x="51435" y="0"/>
                      <a:pt x="85725" y="0"/>
                    </a:cubicBezTo>
                    <a:cubicBezTo>
                      <a:pt x="120015" y="0"/>
                      <a:pt x="148590" y="19050"/>
                      <a:pt x="171450" y="57150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5065395" y="26793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看它干三处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19612" y="3231356"/>
              <a:ext cx="10562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① 怎么拆解任务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19612" y="3536156"/>
              <a:ext cx="21063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② 怎么调工具：读文件、建文档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19612" y="3840956"/>
              <a:ext cx="21063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③ 交付物：是文件，不只是回答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039100" y="1619250"/>
            <a:ext cx="3524250" cy="3333750"/>
            <a:chOff x="8039100" y="1619250"/>
            <a:chExt cx="3524250" cy="3333750"/>
          </a:xfrm>
        </p:grpSpPr>
        <p:sp>
          <p:nvSpPr>
            <p:cNvPr id="38" name="Rectangle 38"/>
            <p:cNvSpPr/>
            <p:nvPr/>
          </p:nvSpPr>
          <p:spPr>
            <a:xfrm>
              <a:off x="8039100" y="1619250"/>
              <a:ext cx="3524250" cy="3333750"/>
            </a:xfrm>
            <a:prstGeom prst="roundRect">
              <a:avLst>
                <a:gd name="adj" fmla="val 457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8229600" y="18478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00443" y="2019300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610850" y="1866900"/>
              <a:ext cx="800100" cy="304800"/>
            </a:xfrm>
            <a:prstGeom prst="roundRect">
              <a:avLst>
                <a:gd name="adj" fmla="val 50000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630019" y="1953578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回去就能用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8267700" y="257175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8398041" y="2705100"/>
              <a:ext cx="155409" cy="155409"/>
              <a:chOff x="8398041" y="2705100"/>
              <a:chExt cx="155409" cy="155409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8401050" y="27051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85725"/>
                    </a:moveTo>
                    <a:cubicBezTo>
                      <a:pt x="34959" y="89880"/>
                      <a:pt x="62520" y="117441"/>
                      <a:pt x="66675" y="152400"/>
                    </a:cubicBezTo>
                    <a:cubicBezTo>
                      <a:pt x="83792" y="142532"/>
                      <a:pt x="94598" y="124522"/>
                      <a:pt x="95250" y="104775"/>
                    </a:cubicBezTo>
                    <a:cubicBezTo>
                      <a:pt x="127957" y="93269"/>
                      <a:pt x="150512" y="63195"/>
                      <a:pt x="152400" y="28575"/>
                    </a:cubicBezTo>
                    <a:cubicBezTo>
                      <a:pt x="152400" y="12793"/>
                      <a:pt x="139607" y="0"/>
                      <a:pt x="123825" y="0"/>
                    </a:cubicBezTo>
                    <a:cubicBezTo>
                      <a:pt x="89205" y="1888"/>
                      <a:pt x="59131" y="24443"/>
                      <a:pt x="47625" y="57150"/>
                    </a:cubicBezTo>
                    <a:cubicBezTo>
                      <a:pt x="27878" y="57802"/>
                      <a:pt x="9868" y="68608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98041" y="2800350"/>
                <a:ext cx="60159" cy="60159"/>
              </a:xfrm>
              <a:custGeom>
                <a:avLst/>
                <a:gdLst/>
                <a:ahLst/>
                <a:cxnLst/>
                <a:rect l="l" t="t" r="r" b="b"/>
                <a:pathLst>
                  <a:path w="60159" h="60159">
                    <a:moveTo>
                      <a:pt x="31584" y="0"/>
                    </a:moveTo>
                    <a:cubicBezTo>
                      <a:pt x="11304" y="11449"/>
                      <a:pt x="0" y="34057"/>
                      <a:pt x="3009" y="57150"/>
                    </a:cubicBezTo>
                    <a:cubicBezTo>
                      <a:pt x="26101" y="60159"/>
                      <a:pt x="48710" y="48854"/>
                      <a:pt x="60159" y="2857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496300" y="2743200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8799195" y="26793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三步上手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53412" y="323135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注册登录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53412" y="3536156"/>
              <a:ext cx="13562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→ 把资料传进资料库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53412" y="3840956"/>
              <a:ext cx="10562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→ 发出第一句话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54365" y="423005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今天看完演示，回去就能照着做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5219700"/>
            <a:ext cx="11049000" cy="685800"/>
            <a:chOff x="571500" y="5219700"/>
            <a:chExt cx="11049000" cy="685800"/>
          </a:xfrm>
        </p:grpSpPr>
        <p:sp>
          <p:nvSpPr>
            <p:cNvPr id="54" name="Rectangle 54"/>
            <p:cNvSpPr/>
            <p:nvPr/>
          </p:nvSpPr>
          <p:spPr>
            <a:xfrm>
              <a:off x="571500" y="5219700"/>
              <a:ext cx="11049000" cy="68580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781050" y="5353050"/>
              <a:ext cx="419100" cy="419100"/>
            </a:xfrm>
            <a:prstGeom prst="ellipse">
              <a:avLst/>
            </a:prstGeom>
            <a:solidFill>
              <a:srgbClr val="E9EEF5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904875" y="5476875"/>
              <a:ext cx="171450" cy="171450"/>
              <a:chOff x="904875" y="5476875"/>
              <a:chExt cx="171450" cy="17145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969684" y="5549141"/>
                <a:ext cx="34385" cy="34380"/>
              </a:xfrm>
              <a:custGeom>
                <a:avLst/>
                <a:gdLst/>
                <a:ahLst/>
                <a:cxnLst/>
                <a:rect l="l" t="t" r="r" b="b"/>
                <a:pathLst>
                  <a:path w="34385" h="34380">
                    <a:moveTo>
                      <a:pt x="7438" y="0"/>
                    </a:moveTo>
                    <a:cubicBezTo>
                      <a:pt x="0" y="7441"/>
                      <a:pt x="2" y="19503"/>
                      <a:pt x="7443" y="26941"/>
                    </a:cubicBezTo>
                    <a:cubicBezTo>
                      <a:pt x="14884" y="34380"/>
                      <a:pt x="26946" y="34378"/>
                      <a:pt x="34385" y="26937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04875" y="5505435"/>
                <a:ext cx="171450" cy="114419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419">
                    <a:moveTo>
                      <a:pt x="130312" y="101675"/>
                    </a:moveTo>
                    <a:cubicBezTo>
                      <a:pt x="116950" y="110035"/>
                      <a:pt x="101486" y="114419"/>
                      <a:pt x="85725" y="114315"/>
                    </a:cubicBezTo>
                    <a:cubicBezTo>
                      <a:pt x="51435" y="114315"/>
                      <a:pt x="22860" y="95265"/>
                      <a:pt x="0" y="57165"/>
                    </a:cubicBezTo>
                    <a:cubicBezTo>
                      <a:pt x="12116" y="36972"/>
                      <a:pt x="25832" y="22132"/>
                      <a:pt x="41148" y="12645"/>
                    </a:cubicBezTo>
                    <a:moveTo>
                      <a:pt x="68390" y="1730"/>
                    </a:moveTo>
                    <a:cubicBezTo>
                      <a:pt x="74095" y="574"/>
                      <a:pt x="79903" y="0"/>
                      <a:pt x="85725" y="15"/>
                    </a:cubicBezTo>
                    <a:cubicBezTo>
                      <a:pt x="120015" y="15"/>
                      <a:pt x="148590" y="19065"/>
                      <a:pt x="171450" y="57165"/>
                    </a:cubicBezTo>
                    <a:cubicBezTo>
                      <a:pt x="165106" y="67738"/>
                      <a:pt x="158315" y="76853"/>
                      <a:pt x="151086" y="84502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904875" y="54768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0"/>
                    </a:moveTo>
                    <a:lnTo>
                      <a:pt x="171450" y="171450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337310" y="53759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演示纪律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339215" y="5639752"/>
              <a:ext cx="49482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全程用脱敏 / 虚构数据（不输入学生、公司的敏感信息）；重要产出，人终审。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3" name="TextBox 63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22 / 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7" grpId="0"/>
      <p:bldP spid="53" grpId="0"/>
      <p:bldP spid="6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092529" cy="700088"/>
            <a:chOff x="571500" y="685800"/>
            <a:chExt cx="3092529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89250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数据红线：三条记牢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22215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AI 是好同事，但底线得你守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1619250"/>
            <a:ext cx="10991850" cy="3714750"/>
            <a:chOff x="571500" y="1619250"/>
            <a:chExt cx="10991850" cy="3714750"/>
          </a:xfrm>
        </p:grpSpPr>
        <p:grpSp>
          <p:nvGrpSpPr>
            <p:cNvPr id="26" name="Group 26"/>
            <p:cNvGrpSpPr/>
            <p:nvPr/>
          </p:nvGrpSpPr>
          <p:grpSpPr>
            <a:xfrm>
              <a:off x="571500" y="1619250"/>
              <a:ext cx="3524250" cy="3714750"/>
              <a:chOff x="571500" y="1619250"/>
              <a:chExt cx="3524250" cy="37147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3524250" cy="371475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571500" y="1619250"/>
                <a:ext cx="352425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D6E6F9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571500" y="2190750"/>
                <a:ext cx="3524250" cy="342900"/>
              </a:xfrm>
              <a:prstGeom prst="rect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066354" y="1889760"/>
                <a:ext cx="534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红线一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48692" y="2200275"/>
                <a:ext cx="216986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敏感数据，不进公网 AI</a:t>
                </a: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781050" y="2857500"/>
                <a:ext cx="419100" cy="4191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923925" y="2981325"/>
                <a:ext cx="133350" cy="171450"/>
                <a:chOff x="923925" y="2981325"/>
                <a:chExt cx="133350" cy="17145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923925" y="3057525"/>
                  <a:ext cx="1333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14300" y="0"/>
                      </a:lnTo>
                      <a:cubicBezTo>
                        <a:pt x="124821" y="0"/>
                        <a:pt x="133350" y="8529"/>
                        <a:pt x="133350" y="19050"/>
                      </a:cubicBezTo>
                      <a:lnTo>
                        <a:pt x="133350" y="76200"/>
                      </a:lnTo>
                      <a:cubicBezTo>
                        <a:pt x="133350" y="86721"/>
                        <a:pt x="124821" y="95250"/>
                        <a:pt x="114300" y="95250"/>
                      </a:cubicBezTo>
                      <a:lnTo>
                        <a:pt x="19050" y="95250"/>
                      </a:lnTo>
                      <a:cubicBezTo>
                        <a:pt x="8529" y="95250"/>
                        <a:pt x="0" y="86721"/>
                        <a:pt x="0" y="7620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981075" y="309562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952500" y="298132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ubicBezTo>
                        <a:pt x="59142" y="0"/>
                        <a:pt x="76200" y="17058"/>
                        <a:pt x="76200" y="38100"/>
                      </a:cubicBezTo>
                      <a:lnTo>
                        <a:pt x="76200" y="7620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</p:sp>
          </p:grpSp>
          <p:sp>
            <p:nvSpPr>
              <p:cNvPr id="20" name="Rectangle 20"/>
              <p:cNvSpPr/>
              <p:nvPr/>
            </p:nvSpPr>
            <p:spPr>
              <a:xfrm>
                <a:off x="1314450" y="2914650"/>
                <a:ext cx="10668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E9EEF5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455943" y="3001328"/>
                <a:ext cx="7838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影子AI 红线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85812" y="3612356"/>
                <a:ext cx="186630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公司的 / 客户的敏感数据——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85812" y="3860006"/>
                <a:ext cx="227885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商业机密、客户隐私、财务信息、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85812" y="4107656"/>
                <a:ext cx="79367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证件照片——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85812" y="4412456"/>
                <a:ext cx="209995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D64545"/>
                    </a:solidFill>
                    <a:latin typeface="Arial"/>
                    <a:ea typeface="Microsoft YaHei"/>
                    <a:cs typeface="Arial"/>
                  </a:rPr>
                  <a:t>一律不进未经批准的外部 AI。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305300" y="1619250"/>
              <a:ext cx="3524250" cy="3714750"/>
              <a:chOff x="4305300" y="1619250"/>
              <a:chExt cx="3524250" cy="37147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4305300" y="1619250"/>
                <a:ext cx="3524250" cy="371475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4305300" y="1619250"/>
                <a:ext cx="352425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D6E6F9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4305300" y="2190750"/>
                <a:ext cx="3524250" cy="342900"/>
              </a:xfrm>
              <a:prstGeom prst="rect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5800153" y="1889760"/>
                <a:ext cx="534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红线二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103257" y="2200275"/>
                <a:ext cx="192833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先查数据政策，再用</a:t>
                </a:r>
              </a:p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4514850" y="2857500"/>
                <a:ext cx="419100" cy="4191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4634708" y="2981325"/>
                <a:ext cx="176916" cy="190500"/>
                <a:chOff x="4634708" y="2981325"/>
                <a:chExt cx="176916" cy="190500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4634708" y="2981325"/>
                  <a:ext cx="176531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531" h="171450">
                      <a:moveTo>
                        <a:pt x="118886" y="159372"/>
                      </a:moveTo>
                      <a:cubicBezTo>
                        <a:pt x="109837" y="164678"/>
                        <a:pt x="100026" y="168764"/>
                        <a:pt x="89692" y="171450"/>
                      </a:cubicBezTo>
                      <a:cubicBezTo>
                        <a:pt x="59732" y="163679"/>
                        <a:pt x="34205" y="144091"/>
                        <a:pt x="18946" y="117163"/>
                      </a:cubicBezTo>
                      <a:cubicBezTo>
                        <a:pt x="3686" y="90235"/>
                        <a:pt x="0" y="58269"/>
                        <a:pt x="8729" y="28575"/>
                      </a:cubicBezTo>
                      <a:cubicBezTo>
                        <a:pt x="38405" y="29933"/>
                        <a:pt x="67443" y="19684"/>
                        <a:pt x="89692" y="0"/>
                      </a:cubicBezTo>
                      <a:cubicBezTo>
                        <a:pt x="111940" y="19684"/>
                        <a:pt x="140979" y="29933"/>
                        <a:pt x="170654" y="28575"/>
                      </a:cubicBezTo>
                      <a:cubicBezTo>
                        <a:pt x="175512" y="45129"/>
                        <a:pt x="176531" y="62389"/>
                        <a:pt x="173826" y="79086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791075" y="31623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4776788" y="3093705"/>
                  <a:ext cx="34836" cy="40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36" h="40020">
                      <a:moveTo>
                        <a:pt x="14288" y="40020"/>
                      </a:moveTo>
                      <a:cubicBezTo>
                        <a:pt x="23075" y="39992"/>
                        <a:pt x="30707" y="33965"/>
                        <a:pt x="32771" y="25424"/>
                      </a:cubicBezTo>
                      <a:cubicBezTo>
                        <a:pt x="34836" y="16882"/>
                        <a:pt x="30798" y="8035"/>
                        <a:pt x="22993" y="3997"/>
                      </a:cubicBezTo>
                      <a:cubicBezTo>
                        <a:pt x="15191" y="0"/>
                        <a:pt x="5664" y="1906"/>
                        <a:pt x="0" y="8597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</p:sp>
          </p:grpSp>
          <p:sp>
            <p:nvSpPr>
              <p:cNvPr id="37" name="Rectangle 37"/>
              <p:cNvSpPr/>
              <p:nvPr/>
            </p:nvSpPr>
            <p:spPr>
              <a:xfrm>
                <a:off x="5048250" y="2914650"/>
                <a:ext cx="10668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E9EEF5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5274278" y="300132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合规底线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519612" y="36123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用之前问三个问题：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519612" y="3917156"/>
                <a:ext cx="160377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数据会被拿去训练吗？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519612" y="4183856"/>
                <a:ext cx="178492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有没有企业版 / 私有化？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519612" y="4450556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谁能看到我的输入？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8039100" y="1619250"/>
              <a:ext cx="3524250" cy="3714750"/>
              <a:chOff x="8039100" y="1619250"/>
              <a:chExt cx="3524250" cy="371475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8039100" y="1619250"/>
                <a:ext cx="3524250" cy="371475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8039100" y="1619250"/>
                <a:ext cx="352425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D6E6F9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8039100" y="2190750"/>
                <a:ext cx="3524250" cy="342900"/>
              </a:xfrm>
              <a:prstGeom prst="rect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9533954" y="1889760"/>
                <a:ext cx="534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红线三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942070" y="2200275"/>
                <a:ext cx="171831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关键结果，人终审</a:t>
                </a:r>
              </a:p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8248650" y="2857500"/>
                <a:ext cx="419100" cy="4191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</p:sp>
          <p:grpSp>
            <p:nvGrpSpPr>
              <p:cNvPr id="54" name="Group 54"/>
              <p:cNvGrpSpPr/>
              <p:nvPr/>
            </p:nvGrpSpPr>
            <p:grpSpPr>
              <a:xfrm>
                <a:off x="8375482" y="2971800"/>
                <a:ext cx="158918" cy="190503"/>
                <a:chOff x="8375482" y="2971800"/>
                <a:chExt cx="158918" cy="190503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8420100" y="2990850"/>
                  <a:ext cx="2857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85725">
                      <a:moveTo>
                        <a:pt x="0" y="85725"/>
                      </a:moveTo>
                      <a:lnTo>
                        <a:pt x="0" y="14288"/>
                      </a:ln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lnTo>
                        <a:pt x="28575" y="7620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8448675" y="2971800"/>
                  <a:ext cx="2857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0">
                      <a:moveTo>
                        <a:pt x="0" y="33338"/>
                      </a:moveTo>
                      <a:lnTo>
                        <a:pt x="0" y="14288"/>
                      </a:ln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lnTo>
                        <a:pt x="28575" y="9525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8477250" y="2990850"/>
                  <a:ext cx="285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76200">
                      <a:moveTo>
                        <a:pt x="0" y="14288"/>
                      </a:move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lnTo>
                        <a:pt x="28575" y="7620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8375482" y="3009900"/>
                  <a:ext cx="158918" cy="1524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918" h="152403">
                      <a:moveTo>
                        <a:pt x="130343" y="14288"/>
                      </a:moveTo>
                      <a:cubicBezTo>
                        <a:pt x="130343" y="6397"/>
                        <a:pt x="136740" y="0"/>
                        <a:pt x="144630" y="0"/>
                      </a:cubicBezTo>
                      <a:cubicBezTo>
                        <a:pt x="152521" y="0"/>
                        <a:pt x="158918" y="6397"/>
                        <a:pt x="158918" y="14288"/>
                      </a:cubicBezTo>
                      <a:lnTo>
                        <a:pt x="158918" y="95250"/>
                      </a:lnTo>
                      <a:cubicBezTo>
                        <a:pt x="158918" y="126813"/>
                        <a:pt x="133331" y="152400"/>
                        <a:pt x="101768" y="152400"/>
                      </a:cubicBezTo>
                      <a:lnTo>
                        <a:pt x="82718" y="152400"/>
                      </a:lnTo>
                      <a:lnTo>
                        <a:pt x="84699" y="152400"/>
                      </a:lnTo>
                      <a:cubicBezTo>
                        <a:pt x="65473" y="152403"/>
                        <a:pt x="47534" y="142739"/>
                        <a:pt x="36960" y="126683"/>
                      </a:cubicBezTo>
                      <a:cubicBezTo>
                        <a:pt x="36335" y="125732"/>
                        <a:pt x="35713" y="124779"/>
                        <a:pt x="35093" y="123825"/>
                      </a:cubicBezTo>
                      <a:cubicBezTo>
                        <a:pt x="32121" y="119263"/>
                        <a:pt x="21691" y="101079"/>
                        <a:pt x="3794" y="69266"/>
                      </a:cubicBezTo>
                      <a:cubicBezTo>
                        <a:pt x="0" y="62523"/>
                        <a:pt x="2263" y="53985"/>
                        <a:pt x="8899" y="50006"/>
                      </a:cubicBezTo>
                      <a:cubicBezTo>
                        <a:pt x="15893" y="45810"/>
                        <a:pt x="24845" y="46909"/>
                        <a:pt x="30616" y="52673"/>
                      </a:cubicBezTo>
                      <a:lnTo>
                        <a:pt x="44618" y="66675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</p:sp>
          </p:grpSp>
          <p:sp>
            <p:nvSpPr>
              <p:cNvPr id="55" name="Rectangle 55"/>
              <p:cNvSpPr/>
              <p:nvPr/>
            </p:nvSpPr>
            <p:spPr>
              <a:xfrm>
                <a:off x="8782050" y="2914650"/>
                <a:ext cx="10668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E9EEF5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9008078" y="300132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责任底线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253412" y="3612356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凡涉及钱、涉及合规、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253412" y="3860006"/>
                <a:ext cx="124372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对外发布的结果——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253412" y="4164806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最后一步一定是人：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253412" y="4412456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核对、拍板、负责。</a:t>
                </a:r>
              </a:p>
            </p:txBody>
          </p:sp>
        </p:grpSp>
      </p:grpSp>
      <p:grpSp>
        <p:nvGrpSpPr>
          <p:cNvPr id="71" name="Group 71"/>
          <p:cNvGrpSpPr/>
          <p:nvPr/>
        </p:nvGrpSpPr>
        <p:grpSpPr>
          <a:xfrm>
            <a:off x="571500" y="5638800"/>
            <a:ext cx="11049000" cy="457200"/>
            <a:chOff x="571500" y="5638800"/>
            <a:chExt cx="11049000" cy="457200"/>
          </a:xfrm>
        </p:grpSpPr>
        <p:sp>
          <p:nvSpPr>
            <p:cNvPr id="63" name="Rectangle 63"/>
            <p:cNvSpPr/>
            <p:nvPr/>
          </p:nvSpPr>
          <p:spPr>
            <a:xfrm>
              <a:off x="571500" y="56388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71500" y="56388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902618" y="5778500"/>
              <a:ext cx="132432" cy="158753"/>
              <a:chOff x="902618" y="5778500"/>
              <a:chExt cx="132432" cy="15875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939800" y="5794375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1438">
                    <a:moveTo>
                      <a:pt x="0" y="71438"/>
                    </a:move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6350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963612" y="5778500"/>
                <a:ext cx="2381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9375">
                    <a:moveTo>
                      <a:pt x="0" y="27781"/>
                    </a:move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7937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987425" y="5794375"/>
                <a:ext cx="23812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63500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6350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902618" y="5810250"/>
                <a:ext cx="132432" cy="127003"/>
              </a:xfrm>
              <a:custGeom>
                <a:avLst/>
                <a:gdLst/>
                <a:ahLst/>
                <a:cxnLst/>
                <a:rect l="l" t="t" r="r" b="b"/>
                <a:pathLst>
                  <a:path w="132432" h="127003">
                    <a:moveTo>
                      <a:pt x="108619" y="11906"/>
                    </a:moveTo>
                    <a:cubicBezTo>
                      <a:pt x="108619" y="5331"/>
                      <a:pt x="113950" y="0"/>
                      <a:pt x="120525" y="0"/>
                    </a:cubicBezTo>
                    <a:cubicBezTo>
                      <a:pt x="127101" y="0"/>
                      <a:pt x="132432" y="5331"/>
                      <a:pt x="132432" y="11906"/>
                    </a:cubicBezTo>
                    <a:lnTo>
                      <a:pt x="132432" y="79375"/>
                    </a:lnTo>
                    <a:cubicBezTo>
                      <a:pt x="132432" y="105678"/>
                      <a:pt x="111109" y="127000"/>
                      <a:pt x="84807" y="127000"/>
                    </a:cubicBezTo>
                    <a:lnTo>
                      <a:pt x="68932" y="127000"/>
                    </a:lnTo>
                    <a:lnTo>
                      <a:pt x="70583" y="127000"/>
                    </a:lnTo>
                    <a:cubicBezTo>
                      <a:pt x="54561" y="127003"/>
                      <a:pt x="39612" y="118949"/>
                      <a:pt x="30800" y="105569"/>
                    </a:cubicBezTo>
                    <a:cubicBezTo>
                      <a:pt x="30279" y="104776"/>
                      <a:pt x="29761" y="103983"/>
                      <a:pt x="29244" y="103188"/>
                    </a:cubicBezTo>
                    <a:cubicBezTo>
                      <a:pt x="26768" y="99385"/>
                      <a:pt x="18076" y="84233"/>
                      <a:pt x="3161" y="57721"/>
                    </a:cubicBezTo>
                    <a:cubicBezTo>
                      <a:pt x="0" y="52102"/>
                      <a:pt x="1886" y="44987"/>
                      <a:pt x="7416" y="41672"/>
                    </a:cubicBezTo>
                    <a:cubicBezTo>
                      <a:pt x="13244" y="38175"/>
                      <a:pt x="20705" y="39091"/>
                      <a:pt x="25513" y="43894"/>
                    </a:cubicBezTo>
                    <a:lnTo>
                      <a:pt x="37182" y="55563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163955" y="5788342"/>
              <a:ext cx="59223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课堂试一下：给你 6 个工具，哪些敢用在工作里，哪些不敢，为什么？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72" name="TextBox 72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23 / 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7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638294" cy="700088"/>
            <a:chOff x="571500" y="685800"/>
            <a:chExt cx="4638294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AI 还能「创造」什么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442683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从「帮我写」到「帮我做」—— 图、视频、声音，都能出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1447800"/>
            <a:ext cx="7505700" cy="309562"/>
            <a:chOff x="571500" y="1447800"/>
            <a:chExt cx="7505700" cy="309562"/>
          </a:xfrm>
        </p:grpSpPr>
        <p:sp>
          <p:nvSpPr>
            <p:cNvPr id="10" name="Rectangle 10"/>
            <p:cNvSpPr/>
            <p:nvPr/>
          </p:nvSpPr>
          <p:spPr>
            <a:xfrm>
              <a:off x="571500" y="1447800"/>
              <a:ext cx="75057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64545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6060" y="1540940"/>
              <a:ext cx="128076" cy="110034"/>
              <a:chOff x="736060" y="1540940"/>
              <a:chExt cx="128076" cy="110034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00100" y="158115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36060" y="1540940"/>
                <a:ext cx="128076" cy="110034"/>
              </a:xfrm>
              <a:custGeom>
                <a:avLst/>
                <a:gdLst/>
                <a:ahLst/>
                <a:cxnLst/>
                <a:rect l="l" t="t" r="r" b="b"/>
                <a:pathLst>
                  <a:path w="128076" h="110034">
                    <a:moveTo>
                      <a:pt x="53646" y="5862"/>
                    </a:moveTo>
                    <a:lnTo>
                      <a:pt x="2172" y="91803"/>
                    </a:lnTo>
                    <a:cubicBezTo>
                      <a:pt x="13" y="95543"/>
                      <a:pt x="0" y="100147"/>
                      <a:pt x="2138" y="103898"/>
                    </a:cubicBezTo>
                    <a:cubicBezTo>
                      <a:pt x="4276" y="107650"/>
                      <a:pt x="8243" y="109986"/>
                      <a:pt x="12561" y="110034"/>
                    </a:cubicBezTo>
                    <a:lnTo>
                      <a:pt x="115520" y="110034"/>
                    </a:lnTo>
                    <a:cubicBezTo>
                      <a:pt x="119836" y="109984"/>
                      <a:pt x="123801" y="107650"/>
                      <a:pt x="125939" y="103900"/>
                    </a:cubicBezTo>
                    <a:cubicBezTo>
                      <a:pt x="128076" y="100150"/>
                      <a:pt x="128065" y="95549"/>
                      <a:pt x="125909" y="91810"/>
                    </a:cubicBezTo>
                    <a:lnTo>
                      <a:pt x="74435" y="5856"/>
                    </a:lnTo>
                    <a:cubicBezTo>
                      <a:pt x="72233" y="2221"/>
                      <a:pt x="68291" y="0"/>
                      <a:pt x="64040" y="0"/>
                    </a:cubicBezTo>
                    <a:cubicBezTo>
                      <a:pt x="59790" y="0"/>
                      <a:pt x="55848" y="2221"/>
                      <a:pt x="53646" y="5856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00100" y="1625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63" y="0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939165" y="1544002"/>
              <a:ext cx="2842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D64545"/>
                  </a:solidFill>
                  <a:latin typeface="Arial"/>
                  <a:ea typeface="Microsoft YaHei"/>
                  <a:cs typeface="Arial"/>
                </a:rPr>
                <a:t>红线：真人肖像 / 声音，未经同意不能用。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71500" y="1943100"/>
            <a:ext cx="7505700" cy="3390900"/>
            <a:chOff x="571500" y="1943100"/>
            <a:chExt cx="7505700" cy="3390900"/>
          </a:xfrm>
        </p:grpSpPr>
        <p:grpSp>
          <p:nvGrpSpPr>
            <p:cNvPr id="38" name="Group 38"/>
            <p:cNvGrpSpPr/>
            <p:nvPr/>
          </p:nvGrpSpPr>
          <p:grpSpPr>
            <a:xfrm>
              <a:off x="571500" y="1943100"/>
              <a:ext cx="2524220" cy="3390900"/>
              <a:chOff x="571500" y="1943100"/>
              <a:chExt cx="2524220" cy="33909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571500" y="1943100"/>
                <a:ext cx="2400300" cy="3390900"/>
              </a:xfrm>
              <a:prstGeom prst="roundRect">
                <a:avLst>
                  <a:gd name="adj" fmla="val 634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571500" y="1943100"/>
                <a:ext cx="2400300" cy="609600"/>
              </a:xfrm>
              <a:prstGeom prst="roundRect">
                <a:avLst>
                  <a:gd name="adj" fmla="val 25000"/>
                </a:avLst>
              </a:prstGeom>
              <a:solidFill>
                <a:srgbClr val="D6E6F9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571500" y="2247900"/>
                <a:ext cx="2400300" cy="304800"/>
              </a:xfrm>
              <a:prstGeom prst="rect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1590675" y="2105025"/>
                <a:ext cx="171450" cy="171450"/>
                <a:chOff x="1590675" y="2105025"/>
                <a:chExt cx="171450" cy="171450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1590675" y="220027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ubicBezTo>
                        <a:pt x="59142" y="0"/>
                        <a:pt x="76200" y="17058"/>
                        <a:pt x="76200" y="38100"/>
                      </a:cubicBezTo>
                      <a:cubicBezTo>
                        <a:pt x="76200" y="59142"/>
                        <a:pt x="59142" y="76200"/>
                        <a:pt x="38100" y="76200"/>
                      </a:cubicBezTo>
                      <a:lnTo>
                        <a:pt x="0" y="762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640205" y="2105025"/>
                  <a:ext cx="121920" cy="97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920" h="97155">
                      <a:moveTo>
                        <a:pt x="121920" y="0"/>
                      </a:moveTo>
                      <a:cubicBezTo>
                        <a:pt x="66538" y="7575"/>
                        <a:pt x="19747" y="44862"/>
                        <a:pt x="0" y="9715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1664970" y="2105025"/>
                  <a:ext cx="97155" cy="121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155" h="121920">
                      <a:moveTo>
                        <a:pt x="97155" y="0"/>
                      </a:moveTo>
                      <a:cubicBezTo>
                        <a:pt x="89580" y="55382"/>
                        <a:pt x="52293" y="102173"/>
                        <a:pt x="0" y="12192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1663065" y="2162175"/>
                  <a:ext cx="41910" cy="41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" h="41910">
                      <a:moveTo>
                        <a:pt x="0" y="0"/>
                      </a:moveTo>
                      <a:cubicBezTo>
                        <a:pt x="18509" y="8543"/>
                        <a:pt x="33367" y="23401"/>
                        <a:pt x="41910" y="4191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724025" y="223837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10521" y="19050"/>
                        <a:pt x="19050" y="27579"/>
                        <a:pt x="19050" y="38100"/>
                      </a:cubicBezTo>
                      <a:cubicBezTo>
                        <a:pt x="19050" y="27579"/>
                        <a:pt x="27579" y="19050"/>
                        <a:pt x="38100" y="19050"/>
                      </a:cubicBezTo>
                      <a:cubicBezTo>
                        <a:pt x="27579" y="19050"/>
                        <a:pt x="19050" y="10521"/>
                        <a:pt x="19050" y="0"/>
                      </a:cubicBezTo>
                      <a:cubicBezTo>
                        <a:pt x="19050" y="10521"/>
                        <a:pt x="10521" y="19050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590675" y="21050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10521" y="19050"/>
                        <a:pt x="19050" y="27579"/>
                        <a:pt x="19050" y="38100"/>
                      </a:cubicBezTo>
                      <a:cubicBezTo>
                        <a:pt x="19050" y="27579"/>
                        <a:pt x="27579" y="19050"/>
                        <a:pt x="38100" y="19050"/>
                      </a:cubicBezTo>
                      <a:cubicBezTo>
                        <a:pt x="27579" y="19050"/>
                        <a:pt x="19050" y="10521"/>
                        <a:pt x="19050" y="0"/>
                      </a:cubicBezTo>
                      <a:cubicBezTo>
                        <a:pt x="19050" y="10521"/>
                        <a:pt x="10521" y="19050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604320" y="2197418"/>
                <a:ext cx="60136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能出图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86765" y="278225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用途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86765" y="302990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课件插图 · 班级海报 ·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86765" y="32394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活动配图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86765" y="3582352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怎么要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86765" y="383000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描述清楚：主体 + 风格 +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86765" y="4039552"/>
                <a:ext cx="4467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用途。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800100" y="4324350"/>
                <a:ext cx="194310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E9EEF5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902018" y="4409599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「水墨风插画，老师讲课，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02018" y="4581049"/>
                <a:ext cx="122741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温馨」—— 2 分钟出图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86765" y="4992052"/>
                <a:ext cx="230895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工具：即梦 AI / 可灵（有免费额度）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3124200" y="1943100"/>
              <a:ext cx="2400300" cy="3390900"/>
              <a:chOff x="3124200" y="1943100"/>
              <a:chExt cx="2400300" cy="33909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3124200" y="1943100"/>
                <a:ext cx="2400300" cy="3390900"/>
              </a:xfrm>
              <a:prstGeom prst="roundRect">
                <a:avLst>
                  <a:gd name="adj" fmla="val 634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3124200" y="1943100"/>
                <a:ext cx="2400300" cy="609600"/>
              </a:xfrm>
              <a:prstGeom prst="roundRect">
                <a:avLst>
                  <a:gd name="adj" fmla="val 25000"/>
                </a:avLst>
              </a:prstGeom>
              <a:solidFill>
                <a:srgbClr val="D6E6F9"/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3124200" y="2247900"/>
                <a:ext cx="2400300" cy="304800"/>
              </a:xfrm>
              <a:prstGeom prst="rect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4143375" y="2133600"/>
                <a:ext cx="171450" cy="114300"/>
                <a:chOff x="4143375" y="2133600"/>
                <a:chExt cx="171450" cy="114300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4257675" y="2148546"/>
                  <a:ext cx="57150" cy="844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84408">
                      <a:moveTo>
                        <a:pt x="0" y="23154"/>
                      </a:moveTo>
                      <a:lnTo>
                        <a:pt x="43367" y="1475"/>
                      </a:lnTo>
                      <a:cubicBezTo>
                        <a:pt x="46319" y="0"/>
                        <a:pt x="49824" y="158"/>
                        <a:pt x="52631" y="1892"/>
                      </a:cubicBezTo>
                      <a:cubicBezTo>
                        <a:pt x="55439" y="3627"/>
                        <a:pt x="57148" y="6691"/>
                        <a:pt x="57150" y="9990"/>
                      </a:cubicBezTo>
                      <a:lnTo>
                        <a:pt x="57150" y="74417"/>
                      </a:lnTo>
                      <a:cubicBezTo>
                        <a:pt x="57148" y="77717"/>
                        <a:pt x="55439" y="80781"/>
                        <a:pt x="52631" y="82516"/>
                      </a:cubicBezTo>
                      <a:cubicBezTo>
                        <a:pt x="49824" y="84250"/>
                        <a:pt x="46319" y="84408"/>
                        <a:pt x="43367" y="82933"/>
                      </a:cubicBezTo>
                      <a:lnTo>
                        <a:pt x="0" y="61254"/>
                      </a:lnTo>
                      <a:lnTo>
                        <a:pt x="0" y="23154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4143375" y="2133600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95250" y="0"/>
                      </a:lnTo>
                      <a:cubicBezTo>
                        <a:pt x="105771" y="0"/>
                        <a:pt x="114300" y="8529"/>
                        <a:pt x="114300" y="19050"/>
                      </a:cubicBezTo>
                      <a:lnTo>
                        <a:pt x="114300" y="95250"/>
                      </a:lnTo>
                      <a:cubicBezTo>
                        <a:pt x="114300" y="105771"/>
                        <a:pt x="105771" y="114300"/>
                        <a:pt x="95250" y="114300"/>
                      </a:cubicBezTo>
                      <a:lnTo>
                        <a:pt x="19050" y="114300"/>
                      </a:lnTo>
                      <a:cubicBezTo>
                        <a:pt x="8529" y="114300"/>
                        <a:pt x="0" y="105771"/>
                        <a:pt x="0" y="9525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4062508" y="21974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能出视频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3339465" y="278225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用途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3339465" y="302990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课程预告 · 活动短视频 ·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3339465" y="32394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知识动画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3339465" y="3582352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怎么要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339465" y="3830002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一句描述 + 一张图，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339465" y="4039552"/>
                <a:ext cx="125882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生成 5-15 秒短片。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3352800" y="4324350"/>
                <a:ext cx="194310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E9EEF5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3454718" y="440959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模板化为主，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3454718" y="458104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别指望大片效果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3339465" y="4992052"/>
                <a:ext cx="160186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工具：可灵 / 即梦 / Vidu</a:t>
                </a:r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5676900" y="1943100"/>
              <a:ext cx="2400300" cy="3390900"/>
              <a:chOff x="5676900" y="1943100"/>
              <a:chExt cx="2400300" cy="3390900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5676900" y="1943100"/>
                <a:ext cx="2400300" cy="3390900"/>
              </a:xfrm>
              <a:prstGeom prst="roundRect">
                <a:avLst>
                  <a:gd name="adj" fmla="val 634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5676900" y="1943100"/>
                <a:ext cx="2400300" cy="609600"/>
              </a:xfrm>
              <a:prstGeom prst="roundRect">
                <a:avLst>
                  <a:gd name="adj" fmla="val 25000"/>
                </a:avLst>
              </a:prstGeom>
              <a:solidFill>
                <a:srgbClr val="D6E6F9"/>
              </a:solidFill>
              <a:ln>
                <a:noFill/>
              </a:ln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5676900" y="2247900"/>
                <a:ext cx="2400300" cy="304800"/>
              </a:xfrm>
              <a:prstGeom prst="rect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64" name="Group 64"/>
              <p:cNvGrpSpPr/>
              <p:nvPr/>
            </p:nvGrpSpPr>
            <p:grpSpPr>
              <a:xfrm>
                <a:off x="6696075" y="2114550"/>
                <a:ext cx="152400" cy="152400"/>
                <a:chOff x="6696075" y="2114550"/>
                <a:chExt cx="152400" cy="152400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6696075" y="220980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6791325" y="220980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6753225" y="2114550"/>
                  <a:ext cx="95250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123825">
                      <a:moveTo>
                        <a:pt x="0" y="123825"/>
                      </a:moveTo>
                      <a:lnTo>
                        <a:pt x="0" y="0"/>
                      </a:lnTo>
                      <a:lnTo>
                        <a:pt x="95250" y="0"/>
                      </a:lnTo>
                      <a:lnTo>
                        <a:pt x="95250" y="12382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6753225" y="2152650"/>
                  <a:ext cx="95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">
                      <a:moveTo>
                        <a:pt x="0" y="0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65" name="TextBox 65"/>
              <p:cNvSpPr txBox="1"/>
              <p:nvPr/>
            </p:nvSpPr>
            <p:spPr>
              <a:xfrm>
                <a:off x="6615208" y="21974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能出声音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5892165" y="278225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用途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5892165" y="3029902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AI 配音 · 音频课件 ·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5892165" y="3239452"/>
                <a:ext cx="4467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朗读稿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5892165" y="3582352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怎么要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5892165" y="383000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粘贴朗读稿，选音色，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5892165" y="40395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直接出音频。</a:t>
                </a:r>
              </a:p>
            </p:txBody>
          </p:sp>
          <p:sp>
            <p:nvSpPr>
              <p:cNvPr id="72" name="Rectangle 72"/>
              <p:cNvSpPr/>
              <p:nvPr/>
            </p:nvSpPr>
            <p:spPr>
              <a:xfrm>
                <a:off x="5905500" y="4324350"/>
                <a:ext cx="194310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E9EEF5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6007418" y="440959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微课、通知配音，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6007418" y="4581049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省下录音棚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5892165" y="4992052"/>
                <a:ext cx="14478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工具：讯飞配音 / 剪映</a:t>
                </a:r>
              </a:p>
            </p:txBody>
          </p:sp>
        </p:grpSp>
      </p:grpSp>
      <p:grpSp>
        <p:nvGrpSpPr>
          <p:cNvPr id="79" name="Group 79"/>
          <p:cNvGrpSpPr/>
          <p:nvPr/>
        </p:nvGrpSpPr>
        <p:grpSpPr>
          <a:xfrm>
            <a:off x="8324850" y="1943100"/>
            <a:ext cx="3295650" cy="3295650"/>
            <a:chOff x="8324850" y="1943100"/>
            <a:chExt cx="3295650" cy="3295650"/>
          </a:xfrm>
        </p:grpSpPr>
        <p:pic>
          <p:nvPicPr>
            <p:cNvPr id="78" name="Image 7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24850" y="1943100"/>
              <a:ext cx="3295650" cy="3295650"/>
            </a:xfrm>
            <a:prstGeom prst="roundRect">
              <a:avLst>
                <a:gd name="adj" fmla="val 4624"/>
              </a:avLst>
            </a:prstGeom>
          </p:spPr>
        </p:pic>
      </p:grpSp>
      <p:grpSp>
        <p:nvGrpSpPr>
          <p:cNvPr id="82" name="Group 82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80" name="TextBox 80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24 / 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77" grpId="0"/>
      <p:bldP spid="7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-666750" y="-1238250"/>
            <a:ext cx="15144750" cy="10382250"/>
            <a:chOff x="-666750" y="-1238250"/>
            <a:chExt cx="15144750" cy="10382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6096000" cy="6096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762500" cy="4762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-666750" y="-1238250"/>
              <a:ext cx="3619500" cy="36195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1382375" y="1095375"/>
              <a:ext cx="95250" cy="9525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629900" y="723900"/>
              <a:ext cx="76200" cy="762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9619869" y="4038600"/>
            <a:ext cx="2153031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0" b="1" dirty="0">
                <a:solidFill>
                  <a:srgbClr val="FFFFFF">
                    <a:alphaMod val="14000"/>
                  </a:srgbClr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070" y="474345"/>
            <a:ext cx="634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LOGO HERE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29590" y="2423160"/>
            <a:ext cx="3884533" cy="2258378"/>
            <a:chOff x="529590" y="2423160"/>
            <a:chExt cx="3884533" cy="2258378"/>
          </a:xfrm>
        </p:grpSpPr>
        <p:sp>
          <p:nvSpPr>
            <p:cNvPr id="12" name="TextBox 12"/>
            <p:cNvSpPr txBox="1"/>
            <p:nvPr/>
          </p:nvSpPr>
          <p:spPr>
            <a:xfrm>
              <a:off x="556260" y="2423160"/>
              <a:ext cx="9185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CHAPTER SIX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27813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9590" y="2996565"/>
              <a:ext cx="200136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新一代 AI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0545" y="3593782"/>
              <a:ext cx="24622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从「能聊」到「能干活」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355" y="4121468"/>
              <a:ext cx="38597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AI 不只是会聊天——它能自己调工具、把活干完，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4355" y="4407218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还能「接上你单位的资料」。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107228" cy="700088"/>
            <a:chOff x="571500" y="685800"/>
            <a:chExt cx="4107228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349107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Agent：能自己干活的 AI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8957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给它目标，它自己「想 → 做 → 看结果 → 再调整」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19250" y="2381250"/>
            <a:ext cx="3048000" cy="3048000"/>
            <a:chOff x="1619250" y="2381250"/>
            <a:chExt cx="3048000" cy="3048000"/>
          </a:xfrm>
        </p:grpSpPr>
        <p:sp>
          <p:nvSpPr>
            <p:cNvPr id="10" name="Ellipse 10"/>
            <p:cNvSpPr/>
            <p:nvPr/>
          </p:nvSpPr>
          <p:spPr>
            <a:xfrm>
              <a:off x="1619250" y="2381250"/>
              <a:ext cx="3048000" cy="3048000"/>
            </a:xfrm>
            <a:prstGeom prst="ellipse">
              <a:avLst/>
            </a:prstGeom>
            <a:noFill/>
            <a:ln w="19050">
              <a:solidFill>
                <a:srgbClr val="D8E1EC"/>
              </a:solidFill>
              <a:custDash>
                <a:ds d="250000" sp="350000"/>
              </a:custDash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823085" y="2585085"/>
            <a:ext cx="2640330" cy="2640330"/>
            <a:chOff x="1823085" y="2585085"/>
            <a:chExt cx="2640330" cy="2640330"/>
          </a:xfrm>
        </p:grpSpPr>
        <p:sp>
          <p:nvSpPr>
            <p:cNvPr id="12" name="Freeform 12"/>
            <p:cNvSpPr/>
            <p:nvPr/>
          </p:nvSpPr>
          <p:spPr>
            <a:xfrm>
              <a:off x="3905250" y="2585085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5" h="558165">
                  <a:moveTo>
                    <a:pt x="0" y="0"/>
                  </a:moveTo>
                  <a:cubicBezTo>
                    <a:pt x="231846" y="133806"/>
                    <a:pt x="424359" y="326319"/>
                    <a:pt x="558165" y="558165"/>
                  </a:cubicBezTo>
                </a:path>
              </a:pathLst>
            </a:custGeom>
            <a:noFill/>
            <a:ln w="23812">
              <a:solidFill>
                <a:srgbClr val="1565D8"/>
              </a:solidFill>
              <a:tailEnd type="triangle" w="lg" len="lg"/>
            </a:ln>
          </p:spPr>
        </p:sp>
        <p:sp>
          <p:nvSpPr>
            <p:cNvPr id="13" name="Freeform 13"/>
            <p:cNvSpPr/>
            <p:nvPr/>
          </p:nvSpPr>
          <p:spPr>
            <a:xfrm>
              <a:off x="3905250" y="4667250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5" h="558165">
                  <a:moveTo>
                    <a:pt x="558165" y="0"/>
                  </a:moveTo>
                  <a:cubicBezTo>
                    <a:pt x="424359" y="231846"/>
                    <a:pt x="231846" y="424359"/>
                    <a:pt x="0" y="558165"/>
                  </a:cubicBezTo>
                </a:path>
              </a:pathLst>
            </a:custGeom>
            <a:noFill/>
            <a:ln w="23812">
              <a:solidFill>
                <a:srgbClr val="1565D8"/>
              </a:solidFill>
              <a:tailEnd type="triangle" w="lg" len="lg"/>
            </a:ln>
          </p:spPr>
        </p:sp>
        <p:sp>
          <p:nvSpPr>
            <p:cNvPr id="14" name="Freeform 14"/>
            <p:cNvSpPr/>
            <p:nvPr/>
          </p:nvSpPr>
          <p:spPr>
            <a:xfrm>
              <a:off x="1823085" y="4667250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5" h="558165">
                  <a:moveTo>
                    <a:pt x="558165" y="558165"/>
                  </a:moveTo>
                  <a:cubicBezTo>
                    <a:pt x="326319" y="424359"/>
                    <a:pt x="133806" y="231846"/>
                    <a:pt x="0" y="0"/>
                  </a:cubicBezTo>
                </a:path>
              </a:pathLst>
            </a:custGeom>
            <a:noFill/>
            <a:ln w="23812">
              <a:solidFill>
                <a:srgbClr val="1565D8"/>
              </a:solidFill>
              <a:tailEnd type="triangle" w="lg" len="lg"/>
            </a:ln>
          </p:spPr>
        </p:sp>
        <p:sp>
          <p:nvSpPr>
            <p:cNvPr id="15" name="Freeform 15"/>
            <p:cNvSpPr/>
            <p:nvPr/>
          </p:nvSpPr>
          <p:spPr>
            <a:xfrm>
              <a:off x="1823085" y="2585085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5" h="558165">
                  <a:moveTo>
                    <a:pt x="0" y="558165"/>
                  </a:moveTo>
                  <a:cubicBezTo>
                    <a:pt x="133806" y="326319"/>
                    <a:pt x="326319" y="133806"/>
                    <a:pt x="558165" y="0"/>
                  </a:cubicBezTo>
                </a:path>
              </a:pathLst>
            </a:custGeom>
            <a:noFill/>
            <a:ln w="23812">
              <a:solidFill>
                <a:srgbClr val="1565D8"/>
              </a:solidFill>
              <a:tailEnd type="triangle" w="lg" len="lg"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2639854" y="3634740"/>
            <a:ext cx="1006792" cy="561022"/>
            <a:chOff x="2639854" y="3634740"/>
            <a:chExt cx="1006792" cy="561022"/>
          </a:xfrm>
        </p:grpSpPr>
        <p:sp>
          <p:nvSpPr>
            <p:cNvPr id="17" name="TextBox 17"/>
            <p:cNvSpPr txBox="1"/>
            <p:nvPr/>
          </p:nvSpPr>
          <p:spPr>
            <a:xfrm>
              <a:off x="2773847" y="3634740"/>
              <a:ext cx="73880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9854" y="39824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一轮轮逼近目标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781300" y="2019300"/>
            <a:ext cx="723900" cy="723900"/>
            <a:chOff x="2781300" y="2019300"/>
            <a:chExt cx="723900" cy="723900"/>
          </a:xfrm>
        </p:grpSpPr>
        <p:sp>
          <p:nvSpPr>
            <p:cNvPr id="20" name="Ellipse 20"/>
            <p:cNvSpPr/>
            <p:nvPr/>
          </p:nvSpPr>
          <p:spPr>
            <a:xfrm>
              <a:off x="2781300" y="201930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565D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074124" y="21974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82897" y="243935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感知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305300" y="3543300"/>
            <a:ext cx="723900" cy="723900"/>
            <a:chOff x="4305300" y="3543300"/>
            <a:chExt cx="723900" cy="723900"/>
          </a:xfrm>
        </p:grpSpPr>
        <p:sp>
          <p:nvSpPr>
            <p:cNvPr id="24" name="Ellipse 24"/>
            <p:cNvSpPr/>
            <p:nvPr/>
          </p:nvSpPr>
          <p:spPr>
            <a:xfrm>
              <a:off x="4305300" y="354330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565D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98124" y="37214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06897" y="396335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计划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781300" y="5067300"/>
            <a:ext cx="723900" cy="723900"/>
            <a:chOff x="2781300" y="5067300"/>
            <a:chExt cx="723900" cy="723900"/>
          </a:xfrm>
        </p:grpSpPr>
        <p:sp>
          <p:nvSpPr>
            <p:cNvPr id="28" name="Ellipse 28"/>
            <p:cNvSpPr/>
            <p:nvPr/>
          </p:nvSpPr>
          <p:spPr>
            <a:xfrm>
              <a:off x="2781300" y="506730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565D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074124" y="52454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82897" y="548735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行动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57300" y="3543300"/>
            <a:ext cx="723900" cy="723900"/>
            <a:chOff x="1257300" y="3543300"/>
            <a:chExt cx="723900" cy="723900"/>
          </a:xfrm>
        </p:grpSpPr>
        <p:sp>
          <p:nvSpPr>
            <p:cNvPr id="32" name="Ellipse 32"/>
            <p:cNvSpPr/>
            <p:nvPr/>
          </p:nvSpPr>
          <p:spPr>
            <a:xfrm>
              <a:off x="1257300" y="354330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565D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550124" y="37214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58897" y="396335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观察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905500" y="1714500"/>
            <a:ext cx="5715000" cy="1143000"/>
            <a:chOff x="5905500" y="1714500"/>
            <a:chExt cx="5715000" cy="1143000"/>
          </a:xfrm>
        </p:grpSpPr>
        <p:sp>
          <p:nvSpPr>
            <p:cNvPr id="36" name="Rectangle 36"/>
            <p:cNvSpPr/>
            <p:nvPr/>
          </p:nvSpPr>
          <p:spPr>
            <a:xfrm>
              <a:off x="5905500" y="1714500"/>
              <a:ext cx="5715000" cy="11430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6115050" y="198120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257925" y="2095500"/>
              <a:ext cx="133350" cy="180975"/>
              <a:chOff x="6257925" y="2095500"/>
              <a:chExt cx="133350" cy="18097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267450" y="211455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95250" y="0"/>
                    </a:lnTo>
                    <a:cubicBezTo>
                      <a:pt x="105771" y="0"/>
                      <a:pt x="114300" y="8529"/>
                      <a:pt x="114300" y="19050"/>
                    </a:cubicBezTo>
                    <a:lnTo>
                      <a:pt x="114300" y="57150"/>
                    </a:lnTo>
                    <a:cubicBezTo>
                      <a:pt x="114300" y="67671"/>
                      <a:pt x="105771" y="76200"/>
                      <a:pt x="95250" y="76200"/>
                    </a:cubicBezTo>
                    <a:lnTo>
                      <a:pt x="19050" y="76200"/>
                    </a:lnTo>
                    <a:cubicBezTo>
                      <a:pt x="8529" y="76200"/>
                      <a:pt x="0" y="67671"/>
                      <a:pt x="0" y="571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324600" y="209550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296025" y="2190750"/>
                <a:ext cx="95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353175" y="2190750"/>
                <a:ext cx="95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257925" y="2209800"/>
                <a:ext cx="381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9050">
                    <a:moveTo>
                      <a:pt x="0" y="1905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353175" y="2209800"/>
                <a:ext cx="381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9050">
                    <a:moveTo>
                      <a:pt x="0" y="0"/>
                    </a:moveTo>
                    <a:lnTo>
                      <a:pt x="38100" y="1905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296025" y="224790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305550" y="2152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343650" y="2152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646545" y="1955482"/>
              <a:ext cx="18901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不是聊天，是干活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52260" y="2327910"/>
              <a:ext cx="43510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你给它目标，它自己拆解、自己执行、干完看结果、再调整，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52260" y="25755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一轮轮逼近完成。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000750" y="3314700"/>
            <a:ext cx="2702243" cy="1790700"/>
            <a:chOff x="6000750" y="3314700"/>
            <a:chExt cx="2702243" cy="1790700"/>
          </a:xfrm>
        </p:grpSpPr>
        <p:grpSp>
          <p:nvGrpSpPr>
            <p:cNvPr id="56" name="Group 56"/>
            <p:cNvGrpSpPr/>
            <p:nvPr/>
          </p:nvGrpSpPr>
          <p:grpSpPr>
            <a:xfrm>
              <a:off x="6000750" y="3314700"/>
              <a:ext cx="2702243" cy="304800"/>
              <a:chOff x="6000750" y="3314700"/>
              <a:chExt cx="2702243" cy="304800"/>
            </a:xfrm>
          </p:grpSpPr>
          <p:sp>
            <p:nvSpPr>
              <p:cNvPr id="52" name="Ellipse 52"/>
              <p:cNvSpPr/>
              <p:nvPr/>
            </p:nvSpPr>
            <p:spPr>
              <a:xfrm>
                <a:off x="6000750" y="3314700"/>
                <a:ext cx="266700" cy="2667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080335" y="338232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385560" y="337566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感知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416165" y="339185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理解目标和当前状态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6000750" y="3810000"/>
              <a:ext cx="2142173" cy="304800"/>
              <a:chOff x="6000750" y="3810000"/>
              <a:chExt cx="2142173" cy="304800"/>
            </a:xfrm>
          </p:grpSpPr>
          <p:sp>
            <p:nvSpPr>
              <p:cNvPr id="57" name="Ellipse 57"/>
              <p:cNvSpPr/>
              <p:nvPr/>
            </p:nvSpPr>
            <p:spPr>
              <a:xfrm>
                <a:off x="6000750" y="3810000"/>
                <a:ext cx="266700" cy="266700"/>
              </a:xfrm>
              <a:prstGeom prst="ellipse">
                <a:avLst/>
              </a:prstGeom>
              <a:solidFill>
                <a:srgbClr val="35A3E8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6080335" y="387762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385560" y="387096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计划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416165" y="38871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拆成一步步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6000750" y="4305300"/>
              <a:ext cx="2422207" cy="304800"/>
              <a:chOff x="6000750" y="4305300"/>
              <a:chExt cx="2422207" cy="304800"/>
            </a:xfrm>
          </p:grpSpPr>
          <p:sp>
            <p:nvSpPr>
              <p:cNvPr id="62" name="Ellipse 62"/>
              <p:cNvSpPr/>
              <p:nvPr/>
            </p:nvSpPr>
            <p:spPr>
              <a:xfrm>
                <a:off x="6000750" y="4305300"/>
                <a:ext cx="266700" cy="2667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6080335" y="437292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6385560" y="436626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行动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416165" y="43824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调工具把活干了</a:t>
                </a: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6000750" y="4800600"/>
              <a:ext cx="2422207" cy="304800"/>
              <a:chOff x="6000750" y="4800600"/>
              <a:chExt cx="2422207" cy="304800"/>
            </a:xfrm>
          </p:grpSpPr>
          <p:sp>
            <p:nvSpPr>
              <p:cNvPr id="67" name="Ellipse 67"/>
              <p:cNvSpPr/>
              <p:nvPr/>
            </p:nvSpPr>
            <p:spPr>
              <a:xfrm>
                <a:off x="6000750" y="4800600"/>
                <a:ext cx="266700" cy="266700"/>
              </a:xfrm>
              <a:prstGeom prst="ellipse">
                <a:avLst/>
              </a:prstGeom>
              <a:solidFill>
                <a:srgbClr val="0B4EA2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6080335" y="486822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6385560" y="486156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观察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7416165" y="48777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看结果，再调整</a:t>
                </a: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571500" y="5905500"/>
            <a:ext cx="11049000" cy="419100"/>
            <a:chOff x="571500" y="5905500"/>
            <a:chExt cx="11049000" cy="419100"/>
          </a:xfrm>
        </p:grpSpPr>
        <p:sp>
          <p:nvSpPr>
            <p:cNvPr id="73" name="Rectangle 73"/>
            <p:cNvSpPr/>
            <p:nvPr/>
          </p:nvSpPr>
          <p:spPr>
            <a:xfrm>
              <a:off x="571500" y="5905500"/>
              <a:ext cx="11049000" cy="419100"/>
            </a:xfrm>
            <a:prstGeom prst="roundRect">
              <a:avLst>
                <a:gd name="adj" fmla="val 36364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571500" y="5905500"/>
              <a:ext cx="76200" cy="4191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59155" y="6026468"/>
              <a:ext cx="43818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它像一个勤快的实习生：自己跑腿，还会自己检查。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77" name="TextBox 77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26 / 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19" grpId="0"/>
      <p:bldP spid="23" grpId="0"/>
      <p:bldP spid="27" grpId="0"/>
      <p:bldP spid="31" grpId="0"/>
      <p:bldP spid="35" grpId="0"/>
      <p:bldP spid="51" grpId="0"/>
      <p:bldP spid="72" grpId="0"/>
      <p:bldP spid="7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722608" cy="700088"/>
            <a:chOff x="571500" y="685800"/>
            <a:chExt cx="3722608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352258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Agent 与 Copilot 的区别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两种「干活方式」，安全等级不一样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1619250"/>
            <a:ext cx="5334000" cy="3524250"/>
            <a:chOff x="571500" y="1619250"/>
            <a:chExt cx="5334000" cy="3524250"/>
          </a:xfrm>
        </p:grpSpPr>
        <p:sp>
          <p:nvSpPr>
            <p:cNvPr id="10" name="Rectangle 10"/>
            <p:cNvSpPr/>
            <p:nvPr/>
          </p:nvSpPr>
          <p:spPr>
            <a:xfrm>
              <a:off x="571500" y="1619250"/>
              <a:ext cx="5334000" cy="352425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857250" y="1905000"/>
              <a:ext cx="495300" cy="4953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004888" y="2085975"/>
              <a:ext cx="200025" cy="144463"/>
              <a:chOff x="1004888" y="2085975"/>
              <a:chExt cx="200025" cy="14446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027112" y="218598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38238" y="218598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04888" y="2085975"/>
                <a:ext cx="2000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22238">
                    <a:moveTo>
                      <a:pt x="22225" y="122238"/>
                    </a:moveTo>
                    <a:lnTo>
                      <a:pt x="0" y="122238"/>
                    </a:lnTo>
                    <a:lnTo>
                      <a:pt x="0" y="55563"/>
                    </a:lnTo>
                    <a:lnTo>
                      <a:pt x="22225" y="0"/>
                    </a:lnTo>
                    <a:lnTo>
                      <a:pt x="122238" y="0"/>
                    </a:lnTo>
                    <a:lnTo>
                      <a:pt x="166688" y="55563"/>
                    </a:lnTo>
                    <a:lnTo>
                      <a:pt x="177800" y="55563"/>
                    </a:lnTo>
                    <a:cubicBezTo>
                      <a:pt x="190075" y="55563"/>
                      <a:pt x="200025" y="65513"/>
                      <a:pt x="200025" y="77787"/>
                    </a:cubicBezTo>
                    <a:lnTo>
                      <a:pt x="200025" y="122238"/>
                    </a:lnTo>
                    <a:lnTo>
                      <a:pt x="177800" y="122238"/>
                    </a:lnTo>
                    <a:moveTo>
                      <a:pt x="133350" y="122238"/>
                    </a:moveTo>
                    <a:lnTo>
                      <a:pt x="66675" y="122238"/>
                    </a:lnTo>
                    <a:moveTo>
                      <a:pt x="0" y="55563"/>
                    </a:moveTo>
                    <a:lnTo>
                      <a:pt x="166688" y="55563"/>
                    </a:lnTo>
                    <a:moveTo>
                      <a:pt x="100012" y="55563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483995" y="1955482"/>
              <a:ext cx="167066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Agent 自动驾驶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87805" y="2235518"/>
              <a:ext cx="17355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它开，你在副驾看着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00100" y="26289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1E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2955" y="288321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它自己规划、自己执行，把任务干完；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2955" y="314991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你负责监督、把关，随时可以喊停。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3619500"/>
              <a:ext cx="4876800" cy="685800"/>
            </a:xfrm>
            <a:prstGeom prst="roundRect">
              <a:avLst>
                <a:gd name="adj" fmla="val 22222"/>
              </a:avLst>
            </a:prstGeom>
            <a:solidFill>
              <a:srgbClr val="D6E6F9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1016794" y="3862388"/>
              <a:ext cx="157162" cy="104775"/>
              <a:chOff x="1016794" y="3862388"/>
              <a:chExt cx="157162" cy="10477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1077912" y="3897312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2"/>
                    </a:moveTo>
                    <a:cubicBezTo>
                      <a:pt x="0" y="27107"/>
                      <a:pt x="7818" y="34925"/>
                      <a:pt x="17462" y="34925"/>
                    </a:cubicBezTo>
                    <a:cubicBezTo>
                      <a:pt x="27107" y="34925"/>
                      <a:pt x="34925" y="27107"/>
                      <a:pt x="34925" y="17462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2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016794" y="3862388"/>
                <a:ext cx="157162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04775">
                    <a:moveTo>
                      <a:pt x="157162" y="52388"/>
                    </a:moveTo>
                    <a:cubicBezTo>
                      <a:pt x="136207" y="87313"/>
                      <a:pt x="110014" y="104775"/>
                      <a:pt x="78581" y="104775"/>
                    </a:cubicBezTo>
                    <a:cubicBezTo>
                      <a:pt x="47149" y="104775"/>
                      <a:pt x="20955" y="87313"/>
                      <a:pt x="0" y="52388"/>
                    </a:cubicBezTo>
                    <a:cubicBezTo>
                      <a:pt x="20955" y="17462"/>
                      <a:pt x="47149" y="0"/>
                      <a:pt x="78581" y="0"/>
                    </a:cubicBezTo>
                    <a:cubicBezTo>
                      <a:pt x="110014" y="0"/>
                      <a:pt x="136207" y="17462"/>
                      <a:pt x="157162" y="52388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299210" y="3794760"/>
              <a:ext cx="20467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自主性越高，越需要人盯着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01115" y="4058602"/>
              <a:ext cx="24699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例：WorkBuddy 独立完成一个整理任务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6765" y="466820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适合：流程清楚、可检查的任务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86500" y="1619250"/>
            <a:ext cx="5334000" cy="3524250"/>
            <a:chOff x="6286500" y="1619250"/>
            <a:chExt cx="5334000" cy="3524250"/>
          </a:xfrm>
        </p:grpSpPr>
        <p:sp>
          <p:nvSpPr>
            <p:cNvPr id="29" name="Rectangle 29"/>
            <p:cNvSpPr/>
            <p:nvPr/>
          </p:nvSpPr>
          <p:spPr>
            <a:xfrm>
              <a:off x="6286500" y="1619250"/>
              <a:ext cx="5334000" cy="352425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6572250" y="1905000"/>
              <a:ext cx="495300" cy="4953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6730556" y="2052638"/>
              <a:ext cx="178677" cy="200470"/>
            </a:xfrm>
            <a:custGeom>
              <a:avLst/>
              <a:gdLst/>
              <a:ahLst/>
              <a:cxnLst/>
              <a:rect l="l" t="t" r="r" b="b"/>
              <a:pathLst>
                <a:path w="178677" h="200470">
                  <a:moveTo>
                    <a:pt x="89344" y="172244"/>
                  </a:moveTo>
                  <a:lnTo>
                    <a:pt x="170077" y="199614"/>
                  </a:lnTo>
                  <a:cubicBezTo>
                    <a:pt x="172255" y="200470"/>
                    <a:pt x="174744" y="199969"/>
                    <a:pt x="176411" y="198325"/>
                  </a:cubicBezTo>
                  <a:cubicBezTo>
                    <a:pt x="178097" y="196674"/>
                    <a:pt x="178677" y="194197"/>
                    <a:pt x="177900" y="191968"/>
                  </a:cubicBezTo>
                  <a:lnTo>
                    <a:pt x="89344" y="0"/>
                  </a:lnTo>
                  <a:lnTo>
                    <a:pt x="778" y="191968"/>
                  </a:lnTo>
                  <a:cubicBezTo>
                    <a:pt x="0" y="194191"/>
                    <a:pt x="589" y="196680"/>
                    <a:pt x="2278" y="198325"/>
                  </a:cubicBezTo>
                  <a:cubicBezTo>
                    <a:pt x="3945" y="199969"/>
                    <a:pt x="6434" y="200470"/>
                    <a:pt x="8612" y="199614"/>
                  </a:cubicBezTo>
                  <a:lnTo>
                    <a:pt x="89344" y="172244"/>
                  </a:lnTo>
                </a:path>
              </a:pathLst>
            </a:custGeom>
            <a:noFill/>
            <a:ln w="19050">
              <a:solidFill>
                <a:srgbClr val="1565D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98995" y="1955482"/>
              <a:ext cx="157825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Copilot 副驾驶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02805" y="223551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你开，它给建议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515100" y="26289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1E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97955" y="288321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方向盘始终在你手里：它负责提示、补全、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97955" y="314991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出主意，每一步由你确认、你来按。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515100" y="3619500"/>
              <a:ext cx="4876800" cy="685800"/>
            </a:xfrm>
            <a:prstGeom prst="roundRect">
              <a:avLst>
                <a:gd name="adj" fmla="val 22222"/>
              </a:avLst>
            </a:prstGeom>
            <a:solidFill>
              <a:srgbClr val="D6E6F9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720010" y="3836194"/>
              <a:ext cx="170506" cy="157162"/>
              <a:chOff x="6720010" y="3836194"/>
              <a:chExt cx="170506" cy="15716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720010" y="3836194"/>
                <a:ext cx="170506" cy="155818"/>
              </a:xfrm>
              <a:custGeom>
                <a:avLst/>
                <a:gdLst/>
                <a:ahLst/>
                <a:cxnLst/>
                <a:rect l="l" t="t" r="r" b="b"/>
                <a:pathLst>
                  <a:path w="170506" h="155818">
                    <a:moveTo>
                      <a:pt x="85650" y="155818"/>
                    </a:moveTo>
                    <a:cubicBezTo>
                      <a:pt x="30952" y="138863"/>
                      <a:pt x="0" y="81134"/>
                      <a:pt x="16149" y="26194"/>
                    </a:cubicBezTo>
                    <a:cubicBezTo>
                      <a:pt x="43351" y="27439"/>
                      <a:pt x="69970" y="18044"/>
                      <a:pt x="90365" y="0"/>
                    </a:cubicBezTo>
                    <a:cubicBezTo>
                      <a:pt x="110759" y="18044"/>
                      <a:pt x="137378" y="27439"/>
                      <a:pt x="164580" y="26194"/>
                    </a:cubicBezTo>
                    <a:cubicBezTo>
                      <a:pt x="170506" y="46355"/>
                      <a:pt x="170232" y="67833"/>
                      <a:pt x="163794" y="87836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836569" y="3958431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7014210" y="3794760"/>
              <a:ext cx="13914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安全可控——最主流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16115" y="4058602"/>
              <a:ext cx="21899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你平时用的 AI 助手，多数属于这类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01765" y="466820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适合：日常写作、修改、答疑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5486400"/>
            <a:ext cx="11049000" cy="457200"/>
            <a:chOff x="571500" y="5486400"/>
            <a:chExt cx="11049000" cy="457200"/>
          </a:xfrm>
        </p:grpSpPr>
        <p:sp>
          <p:nvSpPr>
            <p:cNvPr id="45" name="Rectangle 45"/>
            <p:cNvSpPr/>
            <p:nvPr/>
          </p:nvSpPr>
          <p:spPr>
            <a:xfrm>
              <a:off x="571500" y="54864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71500" y="54864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902618" y="5626100"/>
              <a:ext cx="132432" cy="158753"/>
              <a:chOff x="902618" y="5626100"/>
              <a:chExt cx="132432" cy="15875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939800" y="5641975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1438">
                    <a:moveTo>
                      <a:pt x="0" y="71438"/>
                    </a:move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6350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63612" y="5626100"/>
                <a:ext cx="2381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9375">
                    <a:moveTo>
                      <a:pt x="0" y="27781"/>
                    </a:move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7937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987425" y="5641975"/>
                <a:ext cx="23812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63500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6350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902618" y="5657850"/>
                <a:ext cx="132432" cy="127003"/>
              </a:xfrm>
              <a:custGeom>
                <a:avLst/>
                <a:gdLst/>
                <a:ahLst/>
                <a:cxnLst/>
                <a:rect l="l" t="t" r="r" b="b"/>
                <a:pathLst>
                  <a:path w="132432" h="127003">
                    <a:moveTo>
                      <a:pt x="108619" y="11906"/>
                    </a:moveTo>
                    <a:cubicBezTo>
                      <a:pt x="108619" y="5331"/>
                      <a:pt x="113950" y="0"/>
                      <a:pt x="120525" y="0"/>
                    </a:cubicBezTo>
                    <a:cubicBezTo>
                      <a:pt x="127101" y="0"/>
                      <a:pt x="132432" y="5331"/>
                      <a:pt x="132432" y="11906"/>
                    </a:cubicBezTo>
                    <a:lnTo>
                      <a:pt x="132432" y="79375"/>
                    </a:lnTo>
                    <a:cubicBezTo>
                      <a:pt x="132432" y="105678"/>
                      <a:pt x="111109" y="127000"/>
                      <a:pt x="84807" y="127000"/>
                    </a:cubicBezTo>
                    <a:lnTo>
                      <a:pt x="68932" y="127000"/>
                    </a:lnTo>
                    <a:lnTo>
                      <a:pt x="70583" y="127000"/>
                    </a:lnTo>
                    <a:cubicBezTo>
                      <a:pt x="54561" y="127003"/>
                      <a:pt x="39612" y="118949"/>
                      <a:pt x="30800" y="105569"/>
                    </a:cubicBezTo>
                    <a:cubicBezTo>
                      <a:pt x="30279" y="104776"/>
                      <a:pt x="29761" y="103983"/>
                      <a:pt x="29244" y="103188"/>
                    </a:cubicBezTo>
                    <a:cubicBezTo>
                      <a:pt x="26768" y="99385"/>
                      <a:pt x="18076" y="84233"/>
                      <a:pt x="3161" y="57721"/>
                    </a:cubicBezTo>
                    <a:cubicBezTo>
                      <a:pt x="0" y="52102"/>
                      <a:pt x="1886" y="44987"/>
                      <a:pt x="7416" y="41672"/>
                    </a:cubicBezTo>
                    <a:cubicBezTo>
                      <a:pt x="13244" y="38175"/>
                      <a:pt x="20705" y="39091"/>
                      <a:pt x="25513" y="43894"/>
                    </a:cubicBezTo>
                    <a:lnTo>
                      <a:pt x="37182" y="55563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163955" y="5635942"/>
              <a:ext cx="24915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自主性越高，越需要人盯着。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54" name="TextBox 5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27 / 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4" grpId="0"/>
      <p:bldP spid="5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4192250" cy="8953500"/>
            <a:chOff x="0" y="0"/>
            <a:chExt cx="1419225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6924580" cy="700088"/>
            <a:chOff x="571500" y="685800"/>
            <a:chExt cx="6924580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415266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知识库：把「参考书」喂给它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67131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大模型的两个短板：知识有截止日期、不懂你单位的内部资料——知识库就是补这两块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552700" y="2209800"/>
            <a:ext cx="6362700" cy="1"/>
            <a:chOff x="2552700" y="2209800"/>
            <a:chExt cx="6362700" cy="1"/>
          </a:xfrm>
        </p:grpSpPr>
        <p:sp>
          <p:nvSpPr>
            <p:cNvPr id="10" name="Line 10"/>
            <p:cNvSpPr/>
            <p:nvPr/>
          </p:nvSpPr>
          <p:spPr>
            <a:xfrm>
              <a:off x="25527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>
              <a:off x="46101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</p:sp>
        <p:sp>
          <p:nvSpPr>
            <p:cNvPr id="12" name="Line 12"/>
            <p:cNvSpPr/>
            <p:nvPr/>
          </p:nvSpPr>
          <p:spPr>
            <a:xfrm>
              <a:off x="66675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</p:sp>
        <p:sp>
          <p:nvSpPr>
            <p:cNvPr id="13" name="Line 13"/>
            <p:cNvSpPr/>
            <p:nvPr/>
          </p:nvSpPr>
          <p:spPr>
            <a:xfrm>
              <a:off x="87249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571500" y="1962150"/>
            <a:ext cx="1905000" cy="1847850"/>
            <a:chOff x="571500" y="1962150"/>
            <a:chExt cx="1905000" cy="1847850"/>
          </a:xfrm>
        </p:grpSpPr>
        <p:sp>
          <p:nvSpPr>
            <p:cNvPr id="15" name="Ellipse 15"/>
            <p:cNvSpPr/>
            <p:nvPr/>
          </p:nvSpPr>
          <p:spPr>
            <a:xfrm>
              <a:off x="1333500" y="1962150"/>
              <a:ext cx="495300" cy="495300"/>
            </a:xfrm>
            <a:prstGeom prst="ellipse">
              <a:avLst/>
            </a:prstGeom>
            <a:solidFill>
              <a:srgbClr val="35A3E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5120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3525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1468438" y="2862262"/>
              <a:ext cx="111125" cy="142875"/>
              <a:chOff x="1468438" y="2862262"/>
              <a:chExt cx="111125" cy="14287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1539875" y="2862262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0"/>
                    </a:moveTo>
                    <a:lnTo>
                      <a:pt x="0" y="31750"/>
                    </a:lnTo>
                    <a:cubicBezTo>
                      <a:pt x="0" y="36134"/>
                      <a:pt x="3554" y="39688"/>
                      <a:pt x="7938" y="39688"/>
                    </a:cubicBezTo>
                    <a:lnTo>
                      <a:pt x="39688" y="39688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468438" y="2862262"/>
                <a:ext cx="111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42875">
                    <a:moveTo>
                      <a:pt x="95250" y="142875"/>
                    </a:moveTo>
                    <a:lnTo>
                      <a:pt x="15875" y="142875"/>
                    </a:lnTo>
                    <a:cubicBezTo>
                      <a:pt x="7107" y="142875"/>
                      <a:pt x="0" y="135768"/>
                      <a:pt x="0" y="1270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71438" y="0"/>
                    </a:lnTo>
                    <a:lnTo>
                      <a:pt x="111125" y="39688"/>
                    </a:lnTo>
                    <a:lnTo>
                      <a:pt x="111125" y="127000"/>
                    </a:lnTo>
                    <a:cubicBezTo>
                      <a:pt x="111125" y="135768"/>
                      <a:pt x="104018" y="142875"/>
                      <a:pt x="95250" y="14287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524000" y="2925762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504156" y="2925762"/>
                <a:ext cx="39688" cy="19844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19844">
                    <a:moveTo>
                      <a:pt x="0" y="19844"/>
                    </a:moveTo>
                    <a:lnTo>
                      <a:pt x="19844" y="0"/>
                    </a:lnTo>
                    <a:lnTo>
                      <a:pt x="39688" y="19844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128808" y="32070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资料上传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050" y="3514249"/>
              <a:ext cx="11039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文档 / 表格 / 网页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628900" y="1962150"/>
            <a:ext cx="1905000" cy="1847850"/>
            <a:chOff x="2628900" y="1962150"/>
            <a:chExt cx="1905000" cy="1847850"/>
          </a:xfrm>
        </p:grpSpPr>
        <p:sp>
          <p:nvSpPr>
            <p:cNvPr id="27" name="Ellipse 27"/>
            <p:cNvSpPr/>
            <p:nvPr/>
          </p:nvSpPr>
          <p:spPr>
            <a:xfrm>
              <a:off x="3390900" y="19621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5694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6289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4099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3509962" y="2873314"/>
              <a:ext cx="152401" cy="115948"/>
              <a:chOff x="3509962" y="2873314"/>
              <a:chExt cx="152401" cy="11594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3509962" y="2976501"/>
                <a:ext cx="142875" cy="12761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2761">
                    <a:moveTo>
                      <a:pt x="0" y="12761"/>
                    </a:moveTo>
                    <a:cubicBezTo>
                      <a:pt x="22103" y="0"/>
                      <a:pt x="49335" y="0"/>
                      <a:pt x="71438" y="12761"/>
                    </a:cubicBezTo>
                    <a:cubicBezTo>
                      <a:pt x="93540" y="0"/>
                      <a:pt x="120772" y="0"/>
                      <a:pt x="142875" y="12761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3509962" y="2873314"/>
                <a:ext cx="142875" cy="12761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2761">
                    <a:moveTo>
                      <a:pt x="0" y="12761"/>
                    </a:moveTo>
                    <a:cubicBezTo>
                      <a:pt x="22103" y="0"/>
                      <a:pt x="49335" y="0"/>
                      <a:pt x="71438" y="12761"/>
                    </a:cubicBezTo>
                    <a:cubicBezTo>
                      <a:pt x="93540" y="0"/>
                      <a:pt x="120772" y="0"/>
                      <a:pt x="142875" y="12761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3509962" y="2886075"/>
                <a:ext cx="9525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7">
                    <a:moveTo>
                      <a:pt x="0" y="0"/>
                    </a:moveTo>
                    <a:lnTo>
                      <a:pt x="0" y="103187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3581400" y="2886075"/>
                <a:ext cx="9525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7">
                    <a:moveTo>
                      <a:pt x="0" y="0"/>
                    </a:moveTo>
                    <a:lnTo>
                      <a:pt x="0" y="103187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3652838" y="2886075"/>
                <a:ext cx="9525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7">
                    <a:moveTo>
                      <a:pt x="0" y="0"/>
                    </a:moveTo>
                    <a:lnTo>
                      <a:pt x="0" y="103187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2997184" y="32070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「读书」学习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243977" y="35142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解析并存档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686300" y="1962150"/>
            <a:ext cx="1905000" cy="1847850"/>
            <a:chOff x="4686300" y="1962150"/>
            <a:chExt cx="1905000" cy="1847850"/>
          </a:xfrm>
        </p:grpSpPr>
        <p:sp>
          <p:nvSpPr>
            <p:cNvPr id="40" name="Ellipse 40"/>
            <p:cNvSpPr/>
            <p:nvPr/>
          </p:nvSpPr>
          <p:spPr>
            <a:xfrm>
              <a:off x="5448300" y="19621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268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6863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54673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5583238" y="2862262"/>
              <a:ext cx="127000" cy="150813"/>
              <a:chOff x="5583238" y="2862262"/>
              <a:chExt cx="127000" cy="15081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5654675" y="2862262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0"/>
                    </a:moveTo>
                    <a:lnTo>
                      <a:pt x="0" y="31750"/>
                    </a:lnTo>
                    <a:cubicBezTo>
                      <a:pt x="0" y="36134"/>
                      <a:pt x="3554" y="39688"/>
                      <a:pt x="7938" y="39688"/>
                    </a:cubicBezTo>
                    <a:lnTo>
                      <a:pt x="39688" y="39688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5583238" y="2862262"/>
                <a:ext cx="111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42875">
                    <a:moveTo>
                      <a:pt x="55563" y="142875"/>
                    </a:moveTo>
                    <a:lnTo>
                      <a:pt x="15875" y="142875"/>
                    </a:lnTo>
                    <a:cubicBezTo>
                      <a:pt x="7107" y="142875"/>
                      <a:pt x="0" y="135768"/>
                      <a:pt x="0" y="1270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71438" y="0"/>
                    </a:lnTo>
                    <a:lnTo>
                      <a:pt x="111125" y="39688"/>
                    </a:lnTo>
                    <a:lnTo>
                      <a:pt x="111125" y="75406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5654675" y="2957512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19844"/>
                    </a:moveTo>
                    <a:cubicBezTo>
                      <a:pt x="0" y="30803"/>
                      <a:pt x="8884" y="39688"/>
                      <a:pt x="19844" y="39688"/>
                    </a:cubicBezTo>
                    <a:cubicBezTo>
                      <a:pt x="30803" y="39688"/>
                      <a:pt x="39688" y="30803"/>
                      <a:pt x="39688" y="19844"/>
                    </a:cubicBezTo>
                    <a:cubicBezTo>
                      <a:pt x="39688" y="8884"/>
                      <a:pt x="30803" y="0"/>
                      <a:pt x="19844" y="0"/>
                    </a:cubicBezTo>
                    <a:cubicBezTo>
                      <a:pt x="8884" y="0"/>
                      <a:pt x="0" y="8884"/>
                      <a:pt x="0" y="19844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5690394" y="2993231"/>
                <a:ext cx="19844" cy="19844"/>
              </a:xfrm>
              <a:custGeom>
                <a:avLst/>
                <a:gdLst/>
                <a:ahLst/>
                <a:cxnLst/>
                <a:rect l="l" t="t" r="r" b="b"/>
                <a:pathLst>
                  <a:path w="19844" h="19844">
                    <a:moveTo>
                      <a:pt x="0" y="0"/>
                    </a:moveTo>
                    <a:lnTo>
                      <a:pt x="19844" y="19844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5338120" y="32070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找相关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171361" y="351424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按问题检索段落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743700" y="1962150"/>
            <a:ext cx="1905000" cy="1847850"/>
            <a:chOff x="6743700" y="1962150"/>
            <a:chExt cx="1905000" cy="1847850"/>
          </a:xfrm>
        </p:grpSpPr>
        <p:sp>
          <p:nvSpPr>
            <p:cNvPr id="52" name="Ellipse 52"/>
            <p:cNvSpPr/>
            <p:nvPr/>
          </p:nvSpPr>
          <p:spPr>
            <a:xfrm>
              <a:off x="7505700" y="19621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6842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7437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75247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624762" y="2870200"/>
              <a:ext cx="142875" cy="134938"/>
              <a:chOff x="7624762" y="2870200"/>
              <a:chExt cx="142875" cy="134938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664450" y="2909888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664450" y="2941638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624762" y="2870200"/>
                <a:ext cx="142875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34938">
                    <a:moveTo>
                      <a:pt x="47625" y="111125"/>
                    </a:moveTo>
                    <a:lnTo>
                      <a:pt x="23812" y="111125"/>
                    </a:lnTo>
                    <a:cubicBezTo>
                      <a:pt x="10661" y="111125"/>
                      <a:pt x="0" y="100464"/>
                      <a:pt x="0" y="87313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19062" y="0"/>
                    </a:lnTo>
                    <a:cubicBezTo>
                      <a:pt x="132214" y="0"/>
                      <a:pt x="142875" y="10661"/>
                      <a:pt x="142875" y="23812"/>
                    </a:cubicBezTo>
                    <a:lnTo>
                      <a:pt x="142875" y="87313"/>
                    </a:lnTo>
                    <a:cubicBezTo>
                      <a:pt x="142875" y="100464"/>
                      <a:pt x="132214" y="111125"/>
                      <a:pt x="119062" y="111125"/>
                    </a:cubicBezTo>
                    <a:lnTo>
                      <a:pt x="95250" y="111125"/>
                    </a:lnTo>
                    <a:lnTo>
                      <a:pt x="71438" y="134938"/>
                    </a:lnTo>
                    <a:lnTo>
                      <a:pt x="47625" y="1111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7395520" y="32070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照着答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93769" y="35142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基于资料生成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801100" y="1962150"/>
            <a:ext cx="1905000" cy="1847850"/>
            <a:chOff x="8801100" y="1962150"/>
            <a:chExt cx="1905000" cy="1847850"/>
          </a:xfrm>
        </p:grpSpPr>
        <p:sp>
          <p:nvSpPr>
            <p:cNvPr id="63" name="Ellipse 63"/>
            <p:cNvSpPr/>
            <p:nvPr/>
          </p:nvSpPr>
          <p:spPr>
            <a:xfrm>
              <a:off x="9563100" y="1962150"/>
              <a:ext cx="495300" cy="495300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7416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8011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95821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9682162" y="2862262"/>
              <a:ext cx="142875" cy="142875"/>
              <a:chOff x="9682162" y="2862262"/>
              <a:chExt cx="142875" cy="14287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9682162" y="28622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9729788" y="2917825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lnTo>
                      <a:pt x="15875" y="31750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9452920" y="32070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带出处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16177" y="35142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可回溯核对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71500" y="4076700"/>
            <a:ext cx="11049000" cy="1066800"/>
            <a:chOff x="571500" y="4076700"/>
            <a:chExt cx="11049000" cy="1066800"/>
          </a:xfrm>
        </p:grpSpPr>
        <p:sp>
          <p:nvSpPr>
            <p:cNvPr id="73" name="Rectangle 73"/>
            <p:cNvSpPr/>
            <p:nvPr/>
          </p:nvSpPr>
          <p:spPr>
            <a:xfrm>
              <a:off x="571500" y="4076700"/>
              <a:ext cx="11049000" cy="9906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781050" y="436245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904875" y="4486275"/>
              <a:ext cx="171450" cy="171422"/>
              <a:chOff x="904875" y="4486275"/>
              <a:chExt cx="171450" cy="171422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942975" y="448627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25403"/>
                    </a:moveTo>
                    <a:cubicBezTo>
                      <a:pt x="0" y="11373"/>
                      <a:pt x="11373" y="0"/>
                      <a:pt x="25403" y="0"/>
                    </a:cubicBezTo>
                    <a:lnTo>
                      <a:pt x="107947" y="0"/>
                    </a:lnTo>
                    <a:cubicBezTo>
                      <a:pt x="114684" y="0"/>
                      <a:pt x="121146" y="2676"/>
                      <a:pt x="125910" y="7440"/>
                    </a:cubicBezTo>
                    <a:cubicBezTo>
                      <a:pt x="130674" y="12204"/>
                      <a:pt x="133350" y="18666"/>
                      <a:pt x="133350" y="25403"/>
                    </a:cubicBezTo>
                    <a:lnTo>
                      <a:pt x="133350" y="107947"/>
                    </a:lnTo>
                    <a:cubicBezTo>
                      <a:pt x="133350" y="114684"/>
                      <a:pt x="130674" y="121146"/>
                      <a:pt x="125910" y="125910"/>
                    </a:cubicBezTo>
                    <a:cubicBezTo>
                      <a:pt x="121146" y="130674"/>
                      <a:pt x="114684" y="133350"/>
                      <a:pt x="107947" y="133350"/>
                    </a:cubicBezTo>
                    <a:lnTo>
                      <a:pt x="25403" y="133350"/>
                    </a:lnTo>
                    <a:cubicBezTo>
                      <a:pt x="11373" y="133350"/>
                      <a:pt x="0" y="121977"/>
                      <a:pt x="0" y="107947"/>
                    </a:cubicBezTo>
                    <a:lnTo>
                      <a:pt x="0" y="25403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904875" y="4526852"/>
                <a:ext cx="128588" cy="13084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30845">
                    <a:moveTo>
                      <a:pt x="9639" y="0"/>
                    </a:moveTo>
                    <a:cubicBezTo>
                      <a:pt x="3694" y="3389"/>
                      <a:pt x="17" y="9701"/>
                      <a:pt x="0" y="16545"/>
                    </a:cubicBezTo>
                    <a:lnTo>
                      <a:pt x="0" y="111795"/>
                    </a:lnTo>
                    <a:cubicBezTo>
                      <a:pt x="0" y="122272"/>
                      <a:pt x="8573" y="130845"/>
                      <a:pt x="19050" y="130845"/>
                    </a:cubicBezTo>
                    <a:lnTo>
                      <a:pt x="114300" y="130845"/>
                    </a:lnTo>
                    <a:cubicBezTo>
                      <a:pt x="121444" y="130845"/>
                      <a:pt x="125330" y="127178"/>
                      <a:pt x="128588" y="121320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981075" y="4524375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981075" y="45529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981075" y="458152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1335405" y="43310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原理一句话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337310" y="4652010"/>
              <a:ext cx="58312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AI 回答前，先从你上传的资料里找出最相关的段落，照着答——答案有出处可回溯，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337310" y="48996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幻觉明显减少。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571500" y="5295900"/>
            <a:ext cx="11049000" cy="457200"/>
            <a:chOff x="571500" y="5295900"/>
            <a:chExt cx="11049000" cy="457200"/>
          </a:xfrm>
        </p:grpSpPr>
        <p:sp>
          <p:nvSpPr>
            <p:cNvPr id="85" name="Rectangle 85"/>
            <p:cNvSpPr/>
            <p:nvPr/>
          </p:nvSpPr>
          <p:spPr>
            <a:xfrm>
              <a:off x="571500" y="52959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571500" y="52959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859155" y="5445442"/>
              <a:ext cx="362573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一句话：从「闭卷瞎猜」到「开卷有据」。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89" name="TextBox 89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28 / 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6" grpId="0"/>
      <p:bldP spid="39" grpId="0"/>
      <p:bldP spid="51" grpId="0"/>
      <p:bldP spid="62" grpId="0"/>
      <p:bldP spid="72" grpId="0"/>
      <p:bldP spid="84" grpId="0"/>
      <p:bldP spid="8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-666750" y="-1238250"/>
            <a:ext cx="15144750" cy="10382250"/>
            <a:chOff x="-666750" y="-1238250"/>
            <a:chExt cx="15144750" cy="10382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6096000" cy="6096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762500" cy="4762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-666750" y="-1238250"/>
              <a:ext cx="3619500" cy="36195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1382375" y="1095375"/>
              <a:ext cx="95250" cy="9525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629900" y="723900"/>
              <a:ext cx="76200" cy="762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9619869" y="4038600"/>
            <a:ext cx="2153031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0" b="1" dirty="0">
                <a:solidFill>
                  <a:srgbClr val="FFFFFF">
                    <a:alphaMod val="14000"/>
                  </a:srgbClr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070" y="474345"/>
            <a:ext cx="634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LOGO HERE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29590" y="2423160"/>
            <a:ext cx="3677507" cy="2258378"/>
            <a:chOff x="529590" y="2423160"/>
            <a:chExt cx="3677507" cy="2258378"/>
          </a:xfrm>
        </p:grpSpPr>
        <p:sp>
          <p:nvSpPr>
            <p:cNvPr id="12" name="TextBox 12"/>
            <p:cNvSpPr txBox="1"/>
            <p:nvPr/>
          </p:nvSpPr>
          <p:spPr>
            <a:xfrm>
              <a:off x="556260" y="24231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CHAPTER SEVEN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27813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9590" y="2996565"/>
              <a:ext cx="331822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安全用、用起来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0545" y="3593782"/>
              <a:ext cx="20221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会用，更要守住底线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355" y="4121468"/>
              <a:ext cx="36527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风险不是让你别用，是告诉你怎么用得安全——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4355" y="4407218"/>
              <a:ext cx="27616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然后，从 1 个小任务开始用起来。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818317" cy="700088"/>
            <a:chOff x="571500" y="685800"/>
            <a:chExt cx="4818317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199464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AI 的四大风险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46068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AI 好用，但也有 4 个坑——认得出来，你就比大多数人安全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1714500"/>
            <a:ext cx="11029950" cy="2667000"/>
            <a:chOff x="571500" y="1714500"/>
            <a:chExt cx="11029950" cy="2667000"/>
          </a:xfrm>
        </p:grpSpPr>
        <p:grpSp>
          <p:nvGrpSpPr>
            <p:cNvPr id="19" name="Group 19"/>
            <p:cNvGrpSpPr/>
            <p:nvPr/>
          </p:nvGrpSpPr>
          <p:grpSpPr>
            <a:xfrm>
              <a:off x="571500" y="1714500"/>
              <a:ext cx="2600325" cy="2667000"/>
              <a:chOff x="571500" y="1714500"/>
              <a:chExt cx="2600325" cy="26670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714500"/>
                <a:ext cx="2600325" cy="2667000"/>
              </a:xfrm>
              <a:prstGeom prst="roundRect">
                <a:avLst>
                  <a:gd name="adj" fmla="val 586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619250" y="2019300"/>
                <a:ext cx="495300" cy="4953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1766888" y="2166938"/>
                <a:ext cx="200025" cy="200025"/>
                <a:chOff x="1766888" y="2166938"/>
                <a:chExt cx="200025" cy="200025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1766888" y="216693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100012"/>
                      </a:moveTo>
                      <a:cubicBezTo>
                        <a:pt x="0" y="155248"/>
                        <a:pt x="44777" y="200025"/>
                        <a:pt x="100012" y="200025"/>
                      </a:cubicBezTo>
                      <a:cubicBezTo>
                        <a:pt x="155248" y="200025"/>
                        <a:pt x="200025" y="155248"/>
                        <a:pt x="200025" y="100012"/>
                      </a:cubicBezTo>
                      <a:cubicBezTo>
                        <a:pt x="200025" y="44777"/>
                        <a:pt x="155248" y="0"/>
                        <a:pt x="100012" y="0"/>
                      </a:cubicBezTo>
                      <a:cubicBezTo>
                        <a:pt x="44777" y="0"/>
                        <a:pt x="0" y="44777"/>
                        <a:pt x="0" y="100012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866900" y="222250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866900" y="23114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614916" y="2736532"/>
                <a:ext cx="50396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幻觉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363504" y="32394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一本正经地编造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573530" y="34680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错误信息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3381375" y="1714500"/>
              <a:ext cx="2600325" cy="2667000"/>
              <a:chOff x="3381375" y="1714500"/>
              <a:chExt cx="2600325" cy="2667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3381375" y="1714500"/>
                <a:ext cx="2600325" cy="2667000"/>
              </a:xfrm>
              <a:prstGeom prst="roundRect">
                <a:avLst>
                  <a:gd name="adj" fmla="val 586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4429125" y="2019300"/>
                <a:ext cx="495300" cy="4953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4576762" y="2166938"/>
                <a:ext cx="200025" cy="198437"/>
                <a:chOff x="4576762" y="2166938"/>
                <a:chExt cx="200025" cy="198437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4621212" y="2355850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4610100" y="2189162"/>
                  <a:ext cx="133350" cy="11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1112">
                      <a:moveTo>
                        <a:pt x="0" y="11112"/>
                      </a:moveTo>
                      <a:lnTo>
                        <a:pt x="66675" y="0"/>
                      </a:lnTo>
                      <a:lnTo>
                        <a:pt x="133350" y="11112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676775" y="2166938"/>
                  <a:ext cx="9525" cy="188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88913">
                      <a:moveTo>
                        <a:pt x="0" y="0"/>
                      </a:moveTo>
                      <a:lnTo>
                        <a:pt x="0" y="188913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576762" y="2200275"/>
                  <a:ext cx="6667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00012">
                      <a:moveTo>
                        <a:pt x="66675" y="66675"/>
                      </a:moveTo>
                      <a:lnTo>
                        <a:pt x="33338" y="0"/>
                      </a:lnTo>
                      <a:lnTo>
                        <a:pt x="0" y="66675"/>
                      </a:lnTo>
                      <a:cubicBezTo>
                        <a:pt x="0" y="85087"/>
                        <a:pt x="14926" y="100012"/>
                        <a:pt x="33338" y="100012"/>
                      </a:cubicBezTo>
                      <a:cubicBezTo>
                        <a:pt x="51749" y="100012"/>
                        <a:pt x="66675" y="85087"/>
                        <a:pt x="66675" y="66675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4710112" y="2200275"/>
                  <a:ext cx="6667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00012">
                      <a:moveTo>
                        <a:pt x="66675" y="66675"/>
                      </a:moveTo>
                      <a:lnTo>
                        <a:pt x="33338" y="0"/>
                      </a:lnTo>
                      <a:lnTo>
                        <a:pt x="0" y="66675"/>
                      </a:lnTo>
                      <a:cubicBezTo>
                        <a:pt x="0" y="85087"/>
                        <a:pt x="14926" y="100012"/>
                        <a:pt x="33338" y="100012"/>
                      </a:cubicBezTo>
                      <a:cubicBezTo>
                        <a:pt x="51749" y="100012"/>
                        <a:pt x="66675" y="85087"/>
                        <a:pt x="66675" y="66675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4424791" y="2736532"/>
                <a:ext cx="50396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偏见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173379" y="32394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把数据里的偏见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313396" y="34680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原样带出来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6191250" y="1714500"/>
              <a:ext cx="2600325" cy="2667000"/>
              <a:chOff x="6191250" y="1714500"/>
              <a:chExt cx="2600325" cy="26670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191250" y="1714500"/>
                <a:ext cx="2600325" cy="2667000"/>
              </a:xfrm>
              <a:prstGeom prst="roundRect">
                <a:avLst>
                  <a:gd name="adj" fmla="val 586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7239000" y="2019300"/>
                <a:ext cx="495300" cy="4953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7407784" y="2178050"/>
                <a:ext cx="157732" cy="179632"/>
                <a:chOff x="7407784" y="2178050"/>
                <a:chExt cx="157732" cy="179632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7407784" y="2178050"/>
                  <a:ext cx="157732" cy="179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732" h="179632">
                      <a:moveTo>
                        <a:pt x="1079" y="77788"/>
                      </a:moveTo>
                      <a:cubicBezTo>
                        <a:pt x="1079" y="34827"/>
                        <a:pt x="35905" y="0"/>
                        <a:pt x="78866" y="0"/>
                      </a:cubicBezTo>
                      <a:cubicBezTo>
                        <a:pt x="121827" y="0"/>
                        <a:pt x="156654" y="34827"/>
                        <a:pt x="156654" y="77788"/>
                      </a:cubicBezTo>
                      <a:lnTo>
                        <a:pt x="156654" y="155575"/>
                      </a:lnTo>
                      <a:cubicBezTo>
                        <a:pt x="157732" y="164184"/>
                        <a:pt x="153075" y="172490"/>
                        <a:pt x="145168" y="176061"/>
                      </a:cubicBezTo>
                      <a:cubicBezTo>
                        <a:pt x="137261" y="179632"/>
                        <a:pt x="127950" y="177634"/>
                        <a:pt x="122205" y="171133"/>
                      </a:cubicBezTo>
                      <a:cubicBezTo>
                        <a:pt x="118730" y="166687"/>
                        <a:pt x="113401" y="164089"/>
                        <a:pt x="107759" y="164089"/>
                      </a:cubicBezTo>
                      <a:cubicBezTo>
                        <a:pt x="102116" y="164089"/>
                        <a:pt x="96787" y="166687"/>
                        <a:pt x="93312" y="171133"/>
                      </a:cubicBezTo>
                      <a:cubicBezTo>
                        <a:pt x="89837" y="175578"/>
                        <a:pt x="84509" y="178176"/>
                        <a:pt x="78866" y="178176"/>
                      </a:cubicBezTo>
                      <a:cubicBezTo>
                        <a:pt x="73223" y="178176"/>
                        <a:pt x="67895" y="175578"/>
                        <a:pt x="64420" y="171133"/>
                      </a:cubicBezTo>
                      <a:cubicBezTo>
                        <a:pt x="60945" y="166687"/>
                        <a:pt x="55616" y="164089"/>
                        <a:pt x="49974" y="164089"/>
                      </a:cubicBezTo>
                      <a:cubicBezTo>
                        <a:pt x="44331" y="164089"/>
                        <a:pt x="39002" y="166687"/>
                        <a:pt x="35527" y="171133"/>
                      </a:cubicBezTo>
                      <a:cubicBezTo>
                        <a:pt x="29782" y="177634"/>
                        <a:pt x="20471" y="179632"/>
                        <a:pt x="12564" y="176061"/>
                      </a:cubicBezTo>
                      <a:cubicBezTo>
                        <a:pt x="4657" y="172490"/>
                        <a:pt x="0" y="164184"/>
                        <a:pt x="1079" y="155575"/>
                      </a:cubicBezTo>
                      <a:lnTo>
                        <a:pt x="1079" y="77788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7464425" y="22447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7508875" y="22447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7464425" y="2289175"/>
                  <a:ext cx="44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9525">
                      <a:moveTo>
                        <a:pt x="0" y="0"/>
                      </a:moveTo>
                      <a:cubicBezTo>
                        <a:pt x="13357" y="9301"/>
                        <a:pt x="31093" y="9301"/>
                        <a:pt x="44450" y="0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7101825" y="2736532"/>
                <a:ext cx="76965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影子 AI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983254" y="32394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乱用未经批准的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983254" y="34680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工具，数据泄露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9001125" y="1714500"/>
              <a:ext cx="2600325" cy="2667000"/>
              <a:chOff x="9001125" y="1714500"/>
              <a:chExt cx="2600325" cy="26670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9001125" y="1714500"/>
                <a:ext cx="2600325" cy="2667000"/>
              </a:xfrm>
              <a:prstGeom prst="roundRect">
                <a:avLst>
                  <a:gd name="adj" fmla="val 586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10048875" y="2019300"/>
                <a:ext cx="495300" cy="4953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10218738" y="2155825"/>
                <a:ext cx="155575" cy="211138"/>
                <a:chOff x="10218738" y="2155825"/>
                <a:chExt cx="155575" cy="211138"/>
              </a:xfrm>
            </p:grpSpPr>
            <p:sp>
              <p:nvSpPr>
                <p:cNvPr id="45" name="Freeform 45"/>
                <p:cNvSpPr/>
                <p:nvPr/>
              </p:nvSpPr>
              <p:spPr>
                <a:xfrm>
                  <a:off x="10218738" y="2255838"/>
                  <a:ext cx="155575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111125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33350" y="0"/>
                      </a:lnTo>
                      <a:cubicBezTo>
                        <a:pt x="145625" y="0"/>
                        <a:pt x="155575" y="9950"/>
                        <a:pt x="155575" y="22225"/>
                      </a:cubicBezTo>
                      <a:lnTo>
                        <a:pt x="155575" y="88900"/>
                      </a:lnTo>
                      <a:cubicBezTo>
                        <a:pt x="155575" y="101175"/>
                        <a:pt x="145625" y="111125"/>
                        <a:pt x="133350" y="111125"/>
                      </a:cubicBezTo>
                      <a:lnTo>
                        <a:pt x="22225" y="111125"/>
                      </a:lnTo>
                      <a:cubicBezTo>
                        <a:pt x="9950" y="111125"/>
                        <a:pt x="0" y="101175"/>
                        <a:pt x="0" y="88900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10285412" y="2300288"/>
                  <a:ext cx="2222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22225">
                      <a:moveTo>
                        <a:pt x="0" y="11112"/>
                      </a:moveTo>
                      <a:cubicBezTo>
                        <a:pt x="0" y="17250"/>
                        <a:pt x="4975" y="22225"/>
                        <a:pt x="11113" y="22225"/>
                      </a:cubicBezTo>
                      <a:cubicBezTo>
                        <a:pt x="17250" y="22225"/>
                        <a:pt x="22225" y="17250"/>
                        <a:pt x="22225" y="11112"/>
                      </a:cubicBezTo>
                      <a:cubicBezTo>
                        <a:pt x="22225" y="4975"/>
                        <a:pt x="17250" y="0"/>
                        <a:pt x="11113" y="0"/>
                      </a:cubicBezTo>
                      <a:cubicBezTo>
                        <a:pt x="4975" y="0"/>
                        <a:pt x="0" y="4975"/>
                        <a:pt x="0" y="11112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10252075" y="2155825"/>
                  <a:ext cx="88900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00012">
                      <a:moveTo>
                        <a:pt x="0" y="100012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cubicBezTo>
                        <a:pt x="68999" y="0"/>
                        <a:pt x="88900" y="19901"/>
                        <a:pt x="88900" y="44450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9813512" y="273653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数据泄露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9863138" y="32394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把公司机密、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642610" y="3468052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个人信息喂给外部 AI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571500" y="4762500"/>
            <a:ext cx="11049000" cy="457200"/>
            <a:chOff x="571500" y="4762500"/>
            <a:chExt cx="11049000" cy="457200"/>
          </a:xfrm>
        </p:grpSpPr>
        <p:sp>
          <p:nvSpPr>
            <p:cNvPr id="54" name="Rectangle 54"/>
            <p:cNvSpPr/>
            <p:nvPr/>
          </p:nvSpPr>
          <p:spPr>
            <a:xfrm>
              <a:off x="571500" y="47625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71500" y="47625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59155" y="4912042"/>
              <a:ext cx="19245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会防守，才敢放手用。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58" name="TextBox 58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30 / 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4192250" cy="8953500"/>
            <a:chOff x="0" y="0"/>
            <a:chExt cx="1419225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306128" cy="700088"/>
            <a:chOff x="571500" y="685800"/>
            <a:chExt cx="3306128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45144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数据红线 与 责任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什么能喂、什么绝对不能喂，记这四条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71500" y="1619250"/>
            <a:ext cx="11049000" cy="3390900"/>
            <a:chOff x="571500" y="1619250"/>
            <a:chExt cx="11049000" cy="3390900"/>
          </a:xfrm>
        </p:grpSpPr>
        <p:grpSp>
          <p:nvGrpSpPr>
            <p:cNvPr id="17" name="Group 17"/>
            <p:cNvGrpSpPr/>
            <p:nvPr/>
          </p:nvGrpSpPr>
          <p:grpSpPr>
            <a:xfrm>
              <a:off x="571500" y="1619250"/>
              <a:ext cx="5334000" cy="1619250"/>
              <a:chOff x="571500" y="1619250"/>
              <a:chExt cx="5334000" cy="16192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5334000" cy="1619250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857250" y="1924050"/>
                <a:ext cx="495300" cy="4953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1004888" y="2071688"/>
                <a:ext cx="200025" cy="200025"/>
                <a:chOff x="1004888" y="2071688"/>
                <a:chExt cx="200025" cy="200025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1004888" y="207168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100012"/>
                      </a:moveTo>
                      <a:cubicBezTo>
                        <a:pt x="0" y="155248"/>
                        <a:pt x="44777" y="200025"/>
                        <a:pt x="100012" y="200025"/>
                      </a:cubicBezTo>
                      <a:cubicBezTo>
                        <a:pt x="155248" y="200025"/>
                        <a:pt x="200025" y="155248"/>
                        <a:pt x="200025" y="100012"/>
                      </a:cubicBezTo>
                      <a:cubicBezTo>
                        <a:pt x="200025" y="44777"/>
                        <a:pt x="155248" y="0"/>
                        <a:pt x="100012" y="0"/>
                      </a:cubicBezTo>
                      <a:cubicBezTo>
                        <a:pt x="44777" y="0"/>
                        <a:pt x="0" y="44777"/>
                        <a:pt x="0" y="100012"/>
                      </a:cubicBezTo>
                    </a:path>
                  </a:pathLst>
                </a:custGeom>
                <a:noFill/>
                <a:ln w="19050">
                  <a:solidFill>
                    <a:srgbClr val="2FA36B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071562" y="2149475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0" y="22225"/>
                      </a:moveTo>
                      <a:lnTo>
                        <a:pt x="22225" y="44450"/>
                      </a:ln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2FA36B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1485900" y="1952625"/>
                <a:ext cx="6681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可以喂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489710" y="2251710"/>
                <a:ext cx="30708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公开资料、脱敏后的数据、一般性工作知识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286500" y="1619250"/>
              <a:ext cx="5334000" cy="1619250"/>
              <a:chOff x="6286500" y="1619250"/>
              <a:chExt cx="5334000" cy="16192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286500" y="1619250"/>
                <a:ext cx="5334000" cy="1619250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6572250" y="1924050"/>
                <a:ext cx="495300" cy="4953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6719888" y="2071688"/>
                <a:ext cx="200025" cy="200025"/>
                <a:chOff x="6719888" y="2071688"/>
                <a:chExt cx="200025" cy="200025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6719888" y="207168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100012"/>
                      </a:moveTo>
                      <a:cubicBezTo>
                        <a:pt x="0" y="155248"/>
                        <a:pt x="44777" y="200025"/>
                        <a:pt x="100012" y="200025"/>
                      </a:cubicBezTo>
                      <a:cubicBezTo>
                        <a:pt x="155248" y="200025"/>
                        <a:pt x="200025" y="155248"/>
                        <a:pt x="200025" y="100012"/>
                      </a:cubicBezTo>
                      <a:cubicBezTo>
                        <a:pt x="200025" y="44777"/>
                        <a:pt x="155248" y="0"/>
                        <a:pt x="100012" y="0"/>
                      </a:cubicBezTo>
                      <a:cubicBezTo>
                        <a:pt x="44777" y="0"/>
                        <a:pt x="0" y="44777"/>
                        <a:pt x="0" y="100012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6797675" y="2149475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0"/>
                      </a:moveTo>
                      <a:lnTo>
                        <a:pt x="44450" y="44450"/>
                      </a:lnTo>
                      <a:moveTo>
                        <a:pt x="4445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7200900" y="195262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绝对不能喂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204710" y="2251710"/>
                <a:ext cx="33909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D64545"/>
                    </a:solidFill>
                    <a:latin typeface="Arial"/>
                    <a:ea typeface="Microsoft YaHei"/>
                    <a:cs typeface="Arial"/>
                  </a:rPr>
                  <a:t>公司机密、客户隐私、未公开财务、证件照片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71500" y="3390900"/>
              <a:ext cx="5334000" cy="1619250"/>
              <a:chOff x="571500" y="3390900"/>
              <a:chExt cx="5334000" cy="16192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71500" y="3390900"/>
                <a:ext cx="5334000" cy="1619250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857250" y="3695700"/>
                <a:ext cx="495300" cy="4953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1000260" y="3843338"/>
                <a:ext cx="209280" cy="200025"/>
                <a:chOff x="1000260" y="3843338"/>
                <a:chExt cx="209280" cy="200025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1000260" y="3843338"/>
                  <a:ext cx="209280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280" h="200025">
                      <a:moveTo>
                        <a:pt x="104640" y="0"/>
                      </a:moveTo>
                      <a:cubicBezTo>
                        <a:pt x="130597" y="22965"/>
                        <a:pt x="164475" y="34922"/>
                        <a:pt x="199096" y="33338"/>
                      </a:cubicBezTo>
                      <a:cubicBezTo>
                        <a:pt x="209280" y="67981"/>
                        <a:pt x="204980" y="105274"/>
                        <a:pt x="187177" y="136690"/>
                      </a:cubicBezTo>
                      <a:cubicBezTo>
                        <a:pt x="169375" y="168106"/>
                        <a:pt x="139593" y="190959"/>
                        <a:pt x="104640" y="200025"/>
                      </a:cubicBezTo>
                      <a:cubicBezTo>
                        <a:pt x="69687" y="190959"/>
                        <a:pt x="39906" y="168106"/>
                        <a:pt x="22103" y="136690"/>
                      </a:cubicBezTo>
                      <a:cubicBezTo>
                        <a:pt x="4301" y="105274"/>
                        <a:pt x="0" y="67981"/>
                        <a:pt x="10184" y="33338"/>
                      </a:cubicBezTo>
                      <a:cubicBezTo>
                        <a:pt x="44805" y="34922"/>
                        <a:pt x="78683" y="22965"/>
                        <a:pt x="104640" y="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1093788" y="3921125"/>
                  <a:ext cx="2222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22225">
                      <a:moveTo>
                        <a:pt x="0" y="11112"/>
                      </a:moveTo>
                      <a:cubicBezTo>
                        <a:pt x="0" y="17250"/>
                        <a:pt x="4975" y="22225"/>
                        <a:pt x="11113" y="22225"/>
                      </a:cubicBezTo>
                      <a:cubicBezTo>
                        <a:pt x="17250" y="22225"/>
                        <a:pt x="22225" y="17250"/>
                        <a:pt x="22225" y="11112"/>
                      </a:cubicBezTo>
                      <a:cubicBezTo>
                        <a:pt x="22225" y="4975"/>
                        <a:pt x="17250" y="0"/>
                        <a:pt x="11113" y="0"/>
                      </a:cubicBezTo>
                      <a:cubicBezTo>
                        <a:pt x="4975" y="0"/>
                        <a:pt x="0" y="4975"/>
                        <a:pt x="0" y="11112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104900" y="3943350"/>
                  <a:ext cx="9525" cy="27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7781">
                      <a:moveTo>
                        <a:pt x="0" y="0"/>
                      </a:moveTo>
                      <a:lnTo>
                        <a:pt x="0" y="27781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1485900" y="3724275"/>
                <a:ext cx="150828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只走批准的工具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489710" y="4023360"/>
                <a:ext cx="29588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不用公司没评估过的 AI，防止「影子 AI」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286500" y="3390900"/>
              <a:ext cx="5334000" cy="1619250"/>
              <a:chOff x="6286500" y="3390900"/>
              <a:chExt cx="5334000" cy="16192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6286500" y="3390900"/>
                <a:ext cx="5334000" cy="1619250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6572250" y="3695700"/>
                <a:ext cx="495300" cy="4953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6723396" y="3832225"/>
                <a:ext cx="185404" cy="222254"/>
                <a:chOff x="6723396" y="3832225"/>
                <a:chExt cx="185404" cy="222254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6775450" y="3854450"/>
                  <a:ext cx="33338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100012">
                      <a:moveTo>
                        <a:pt x="0" y="100012"/>
                      </a:moveTo>
                      <a:lnTo>
                        <a:pt x="0" y="16669"/>
                      </a:lnTo>
                      <a:cubicBezTo>
                        <a:pt x="0" y="7463"/>
                        <a:pt x="7463" y="0"/>
                        <a:pt x="16669" y="0"/>
                      </a:cubicBezTo>
                      <a:cubicBezTo>
                        <a:pt x="25875" y="0"/>
                        <a:pt x="33338" y="7463"/>
                        <a:pt x="33338" y="16669"/>
                      </a:cubicBezTo>
                      <a:lnTo>
                        <a:pt x="33338" y="889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6808788" y="3832225"/>
                  <a:ext cx="33338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111125">
                      <a:moveTo>
                        <a:pt x="0" y="38894"/>
                      </a:moveTo>
                      <a:lnTo>
                        <a:pt x="0" y="16669"/>
                      </a:lnTo>
                      <a:cubicBezTo>
                        <a:pt x="0" y="7463"/>
                        <a:pt x="7463" y="0"/>
                        <a:pt x="16669" y="0"/>
                      </a:cubicBezTo>
                      <a:cubicBezTo>
                        <a:pt x="25875" y="0"/>
                        <a:pt x="33338" y="7463"/>
                        <a:pt x="33338" y="16669"/>
                      </a:cubicBezTo>
                      <a:lnTo>
                        <a:pt x="33338" y="11112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6842125" y="3854450"/>
                  <a:ext cx="33338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88900">
                      <a:moveTo>
                        <a:pt x="0" y="16669"/>
                      </a:moveTo>
                      <a:cubicBezTo>
                        <a:pt x="0" y="7463"/>
                        <a:pt x="7463" y="0"/>
                        <a:pt x="16669" y="0"/>
                      </a:cubicBezTo>
                      <a:cubicBezTo>
                        <a:pt x="25875" y="0"/>
                        <a:pt x="33338" y="7463"/>
                        <a:pt x="33338" y="16669"/>
                      </a:cubicBezTo>
                      <a:lnTo>
                        <a:pt x="33338" y="889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6723396" y="3876675"/>
                  <a:ext cx="185404" cy="17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404" h="177804">
                      <a:moveTo>
                        <a:pt x="152067" y="16669"/>
                      </a:moveTo>
                      <a:cubicBezTo>
                        <a:pt x="152067" y="7463"/>
                        <a:pt x="159530" y="0"/>
                        <a:pt x="168735" y="0"/>
                      </a:cubicBezTo>
                      <a:cubicBezTo>
                        <a:pt x="177941" y="0"/>
                        <a:pt x="185404" y="7463"/>
                        <a:pt x="185404" y="16669"/>
                      </a:cubicBezTo>
                      <a:lnTo>
                        <a:pt x="185404" y="111125"/>
                      </a:lnTo>
                      <a:cubicBezTo>
                        <a:pt x="185404" y="147949"/>
                        <a:pt x="155553" y="177800"/>
                        <a:pt x="118729" y="177800"/>
                      </a:cubicBezTo>
                      <a:lnTo>
                        <a:pt x="96504" y="177800"/>
                      </a:lnTo>
                      <a:lnTo>
                        <a:pt x="98816" y="177800"/>
                      </a:lnTo>
                      <a:cubicBezTo>
                        <a:pt x="76385" y="177804"/>
                        <a:pt x="55456" y="166529"/>
                        <a:pt x="43120" y="147796"/>
                      </a:cubicBezTo>
                      <a:cubicBezTo>
                        <a:pt x="42391" y="146687"/>
                        <a:pt x="41665" y="145576"/>
                        <a:pt x="40942" y="144463"/>
                      </a:cubicBezTo>
                      <a:cubicBezTo>
                        <a:pt x="37475" y="139140"/>
                        <a:pt x="25306" y="117926"/>
                        <a:pt x="4426" y="80810"/>
                      </a:cubicBezTo>
                      <a:cubicBezTo>
                        <a:pt x="0" y="72943"/>
                        <a:pt x="2640" y="62982"/>
                        <a:pt x="10382" y="58341"/>
                      </a:cubicBezTo>
                      <a:cubicBezTo>
                        <a:pt x="18542" y="53445"/>
                        <a:pt x="28986" y="54727"/>
                        <a:pt x="35719" y="61452"/>
                      </a:cubicBezTo>
                      <a:lnTo>
                        <a:pt x="52054" y="77788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7200900" y="3724275"/>
                <a:ext cx="12982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人做最后把关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204710" y="4023360"/>
                <a:ext cx="26148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AI 出初稿，重要判断和发布由你拍板</a:t>
                </a:r>
              </a:p>
            </p:txBody>
          </p:sp>
        </p:grpSp>
      </p:grpSp>
      <p:grpSp>
        <p:nvGrpSpPr>
          <p:cNvPr id="50" name="Group 50"/>
          <p:cNvGrpSpPr/>
          <p:nvPr/>
        </p:nvGrpSpPr>
        <p:grpSpPr>
          <a:xfrm>
            <a:off x="571500" y="5295900"/>
            <a:ext cx="11049000" cy="690562"/>
            <a:chOff x="571500" y="5295900"/>
            <a:chExt cx="11049000" cy="690562"/>
          </a:xfrm>
        </p:grpSpPr>
        <p:sp>
          <p:nvSpPr>
            <p:cNvPr id="46" name="Rectangle 46"/>
            <p:cNvSpPr/>
            <p:nvPr/>
          </p:nvSpPr>
          <p:spPr>
            <a:xfrm>
              <a:off x="571500" y="5295900"/>
              <a:ext cx="11049000" cy="685800"/>
            </a:xfrm>
            <a:prstGeom prst="roundRect">
              <a:avLst>
                <a:gd name="adj" fmla="val 22222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71500" y="529590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59155" y="5474018"/>
              <a:ext cx="37108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责任四原则：人监督 · 可解释 · 合规 · 公平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2965" y="577310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记住这条线，怎么用都不会翻车。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51" name="TextBox 51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31 / 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927205" cy="700088"/>
            <a:chOff x="571500" y="685800"/>
            <a:chExt cx="392720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53020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动手前：9 条自检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7157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都能打勾，你就是团队里那个「会用 AI 的人」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571500" y="1619250"/>
            <a:ext cx="10991850" cy="3600450"/>
            <a:chOff x="571500" y="1619250"/>
            <a:chExt cx="10991850" cy="3600450"/>
          </a:xfrm>
        </p:grpSpPr>
        <p:grpSp>
          <p:nvGrpSpPr>
            <p:cNvPr id="18" name="Group 18"/>
            <p:cNvGrpSpPr/>
            <p:nvPr/>
          </p:nvGrpSpPr>
          <p:grpSpPr>
            <a:xfrm>
              <a:off x="571500" y="1619250"/>
              <a:ext cx="3524250" cy="1123950"/>
              <a:chOff x="571500" y="1619250"/>
              <a:chExt cx="3524250" cy="11239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352425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762000" y="1885950"/>
                <a:ext cx="304800" cy="3048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842962" y="1966912"/>
                <a:ext cx="142875" cy="142875"/>
                <a:chOff x="842962" y="1966912"/>
                <a:chExt cx="142875" cy="142875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842962" y="19669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890588" y="202247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1167765" y="1905952"/>
                <a:ext cx="112195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能画出 AI 家族树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67765" y="2134552"/>
                <a:ext cx="17068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AI → 机器学习 → 深度学习 →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67765" y="2344102"/>
                <a:ext cx="10277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大模型 → 生成式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305300" y="1619250"/>
              <a:ext cx="3524250" cy="1123950"/>
              <a:chOff x="4305300" y="1619250"/>
              <a:chExt cx="3524250" cy="11239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4305300" y="1619250"/>
                <a:ext cx="352425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4495800" y="1885950"/>
                <a:ext cx="304800" cy="3048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4576762" y="1966912"/>
                <a:ext cx="142875" cy="142875"/>
                <a:chOff x="4576762" y="1966912"/>
                <a:chExt cx="142875" cy="142875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4576762" y="19669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4624388" y="202247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4901565" y="1905952"/>
                <a:ext cx="164387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能写出「五要素」提示词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901565" y="2134552"/>
                <a:ext cx="221094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角色 / 背景 / 任务 / 约束 / 格式，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901565" y="234410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张口就来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8039100" y="1619250"/>
              <a:ext cx="3524250" cy="1123950"/>
              <a:chOff x="8039100" y="1619250"/>
              <a:chExt cx="3524250" cy="11239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8039100" y="1619250"/>
                <a:ext cx="352425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8229600" y="1885950"/>
                <a:ext cx="304800" cy="3048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8310562" y="1966912"/>
                <a:ext cx="142875" cy="142875"/>
                <a:chOff x="8310562" y="1966912"/>
                <a:chExt cx="142875" cy="142875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8310562" y="19669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8358188" y="202247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8635365" y="1905952"/>
                <a:ext cx="149685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知道大模型会「幻觉」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635365" y="2134552"/>
                <a:ext cx="18468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关键信息会核实，不直接转发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571500" y="2857500"/>
              <a:ext cx="3524250" cy="1123950"/>
              <a:chOff x="571500" y="2857500"/>
              <a:chExt cx="3524250" cy="11239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571500" y="2857500"/>
                <a:ext cx="352425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762000" y="3124200"/>
                <a:ext cx="304800" cy="3048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842962" y="3205162"/>
                <a:ext cx="142875" cy="142875"/>
                <a:chOff x="842962" y="3205162"/>
                <a:chExt cx="142875" cy="142875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842962" y="320516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890588" y="326072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1167765" y="3144202"/>
                <a:ext cx="120281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能讲清知识库原理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167765" y="3372802"/>
                <a:ext cx="18608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为什么它比「野猜」更靠谱——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67765" y="35823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开卷有据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4305300" y="2857500"/>
              <a:ext cx="3524250" cy="1123950"/>
              <a:chOff x="4305300" y="2857500"/>
              <a:chExt cx="3524250" cy="11239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4305300" y="2857500"/>
                <a:ext cx="352425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4495800" y="3124200"/>
                <a:ext cx="304800" cy="3048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4576762" y="3205162"/>
                <a:ext cx="142875" cy="142875"/>
                <a:chOff x="4576762" y="3205162"/>
                <a:chExt cx="142875" cy="142875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4576762" y="320516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4624388" y="326072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4901565" y="3144202"/>
                <a:ext cx="173208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会用至少 2 个常见 AI 工具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901565" y="3372802"/>
                <a:ext cx="17488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并完成 1 个办公 / 教学任务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8039100" y="2857500"/>
              <a:ext cx="3524250" cy="1123950"/>
              <a:chOff x="8039100" y="2857500"/>
              <a:chExt cx="3524250" cy="112395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8039100" y="2857500"/>
                <a:ext cx="352425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8229600" y="3124200"/>
                <a:ext cx="304800" cy="3048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57" name="Group 57"/>
              <p:cNvGrpSpPr/>
              <p:nvPr/>
            </p:nvGrpSpPr>
            <p:grpSpPr>
              <a:xfrm>
                <a:off x="8310562" y="3205162"/>
                <a:ext cx="142875" cy="142875"/>
                <a:chOff x="8310562" y="3205162"/>
                <a:chExt cx="142875" cy="142875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8310562" y="320516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8358188" y="326072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8635365" y="3144202"/>
                <a:ext cx="141599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能给 AI 工作助理派活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635365" y="3372802"/>
                <a:ext cx="21899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（如 WorkBuddy）并验收它的交付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571500" y="4095750"/>
              <a:ext cx="3524250" cy="1123950"/>
              <a:chOff x="571500" y="4095750"/>
              <a:chExt cx="3524250" cy="112395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571500" y="4095750"/>
                <a:ext cx="352425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62" name="Ellipse 62"/>
              <p:cNvSpPr/>
              <p:nvPr/>
            </p:nvSpPr>
            <p:spPr>
              <a:xfrm>
                <a:off x="762000" y="4362450"/>
                <a:ext cx="304800" cy="3048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65" name="Group 65"/>
              <p:cNvGrpSpPr/>
              <p:nvPr/>
            </p:nvGrpSpPr>
            <p:grpSpPr>
              <a:xfrm>
                <a:off x="842962" y="4443412"/>
                <a:ext cx="142875" cy="142875"/>
                <a:chOff x="842962" y="4443412"/>
                <a:chExt cx="142875" cy="142875"/>
              </a:xfrm>
            </p:grpSpPr>
            <p:sp>
              <p:nvSpPr>
                <p:cNvPr id="63" name="Freeform 63"/>
                <p:cNvSpPr/>
                <p:nvPr/>
              </p:nvSpPr>
              <p:spPr>
                <a:xfrm>
                  <a:off x="842962" y="44434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890588" y="449897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66" name="TextBox 66"/>
              <p:cNvSpPr txBox="1"/>
              <p:nvPr/>
            </p:nvSpPr>
            <p:spPr>
              <a:xfrm>
                <a:off x="1167765" y="4382452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数据红线守得住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1167765" y="461105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知道什么能喂、什么绝对不能喂</a:t>
                </a:r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4305300" y="4095750"/>
              <a:ext cx="3524250" cy="1123950"/>
              <a:chOff x="4305300" y="4095750"/>
              <a:chExt cx="3524250" cy="1123950"/>
            </a:xfrm>
          </p:grpSpPr>
          <p:sp>
            <p:nvSpPr>
              <p:cNvPr id="69" name="Rectangle 69"/>
              <p:cNvSpPr/>
              <p:nvPr/>
            </p:nvSpPr>
            <p:spPr>
              <a:xfrm>
                <a:off x="4305300" y="4095750"/>
                <a:ext cx="352425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70" name="Ellipse 70"/>
              <p:cNvSpPr/>
              <p:nvPr/>
            </p:nvSpPr>
            <p:spPr>
              <a:xfrm>
                <a:off x="4495800" y="4362450"/>
                <a:ext cx="304800" cy="3048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73" name="Group 73"/>
              <p:cNvGrpSpPr/>
              <p:nvPr/>
            </p:nvGrpSpPr>
            <p:grpSpPr>
              <a:xfrm>
                <a:off x="4576762" y="4443412"/>
                <a:ext cx="142875" cy="142875"/>
                <a:chOff x="4576762" y="4443412"/>
                <a:chExt cx="142875" cy="142875"/>
              </a:xfrm>
            </p:grpSpPr>
            <p:sp>
              <p:nvSpPr>
                <p:cNvPr id="71" name="Freeform 71"/>
                <p:cNvSpPr/>
                <p:nvPr/>
              </p:nvSpPr>
              <p:spPr>
                <a:xfrm>
                  <a:off x="4576762" y="44434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4624388" y="449897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74" name="TextBox 74"/>
              <p:cNvSpPr txBox="1"/>
              <p:nvPr/>
            </p:nvSpPr>
            <p:spPr>
              <a:xfrm>
                <a:off x="4901565" y="4382452"/>
                <a:ext cx="15189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能落地 1 个「小场景」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4901565" y="4611052"/>
                <a:ext cx="20289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在自己岗位上：AI 初稿 + 人终审</a:t>
                </a: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8039100" y="4095750"/>
              <a:ext cx="3524250" cy="1123950"/>
              <a:chOff x="8039100" y="4095750"/>
              <a:chExt cx="3524250" cy="1123950"/>
            </a:xfrm>
          </p:grpSpPr>
          <p:sp>
            <p:nvSpPr>
              <p:cNvPr id="77" name="Rectangle 77"/>
              <p:cNvSpPr/>
              <p:nvPr/>
            </p:nvSpPr>
            <p:spPr>
              <a:xfrm>
                <a:off x="8039100" y="4095750"/>
                <a:ext cx="352425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</p:sp>
          <p:sp>
            <p:nvSpPr>
              <p:cNvPr id="78" name="Ellipse 78"/>
              <p:cNvSpPr/>
              <p:nvPr/>
            </p:nvSpPr>
            <p:spPr>
              <a:xfrm>
                <a:off x="8229600" y="4362450"/>
                <a:ext cx="304800" cy="3048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</p:sp>
          <p:grpSp>
            <p:nvGrpSpPr>
              <p:cNvPr id="81" name="Group 81"/>
              <p:cNvGrpSpPr/>
              <p:nvPr/>
            </p:nvGrpSpPr>
            <p:grpSpPr>
              <a:xfrm>
                <a:off x="8310562" y="4443412"/>
                <a:ext cx="142875" cy="142875"/>
                <a:chOff x="8310562" y="4443412"/>
                <a:chExt cx="142875" cy="142875"/>
              </a:xfrm>
            </p:grpSpPr>
            <p:sp>
              <p:nvSpPr>
                <p:cNvPr id="79" name="Freeform 79"/>
                <p:cNvSpPr/>
                <p:nvPr/>
              </p:nvSpPr>
              <p:spPr>
                <a:xfrm>
                  <a:off x="8310562" y="44434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  <p:sp>
              <p:nvSpPr>
                <p:cNvPr id="80" name="Freeform 80"/>
                <p:cNvSpPr/>
                <p:nvPr/>
              </p:nvSpPr>
              <p:spPr>
                <a:xfrm>
                  <a:off x="8358188" y="449897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</p:sp>
          </p:grpSp>
          <p:sp>
            <p:nvSpPr>
              <p:cNvPr id="82" name="TextBox 82"/>
              <p:cNvSpPr txBox="1"/>
              <p:nvPr/>
            </p:nvSpPr>
            <p:spPr>
              <a:xfrm>
                <a:off x="8635365" y="4382452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敢追问、会追问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8635365" y="4611052"/>
                <a:ext cx="10698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不盲信 AI 的答案</a:t>
                </a:r>
              </a:p>
            </p:txBody>
          </p:sp>
        </p:grpSp>
      </p:grpSp>
      <p:grpSp>
        <p:nvGrpSpPr>
          <p:cNvPr id="89" name="Group 89"/>
          <p:cNvGrpSpPr/>
          <p:nvPr/>
        </p:nvGrpSpPr>
        <p:grpSpPr>
          <a:xfrm>
            <a:off x="571500" y="5486400"/>
            <a:ext cx="11049000" cy="457200"/>
            <a:chOff x="571500" y="5486400"/>
            <a:chExt cx="11049000" cy="457200"/>
          </a:xfrm>
        </p:grpSpPr>
        <p:sp>
          <p:nvSpPr>
            <p:cNvPr id="86" name="Rectangle 86"/>
            <p:cNvSpPr/>
            <p:nvPr/>
          </p:nvSpPr>
          <p:spPr>
            <a:xfrm>
              <a:off x="571500" y="54864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571500" y="54864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859155" y="5635942"/>
              <a:ext cx="50812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全部打勾，就是团队里「会用 AI 的人」—— 9 条全过，结课。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90" name="TextBox 90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32 / 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-666750" y="-1333500"/>
            <a:ext cx="14763750" cy="10096500"/>
            <a:chOff x="-666750" y="-1333500"/>
            <a:chExt cx="14763750" cy="10096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5715000" cy="5715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381500" cy="4381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048000" cy="3048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-666750" y="-1333500"/>
              <a:ext cx="4191000" cy="41910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9944100" y="990600"/>
              <a:ext cx="114300" cy="114300"/>
            </a:xfrm>
            <a:prstGeom prst="ellipse">
              <a:avLst/>
            </a:prstGeom>
            <a:solidFill>
              <a:srgbClr val="FFFFFF">
                <a:alpha val="18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629900" y="1676400"/>
              <a:ext cx="76200" cy="76200"/>
            </a:xfrm>
            <a:prstGeom prst="ellipse">
              <a:avLst/>
            </a:prstGeom>
            <a:solidFill>
              <a:srgbClr val="FFFFFF">
                <a:alpha val="22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286875" y="619125"/>
              <a:ext cx="95250" cy="95250"/>
            </a:xfrm>
            <a:prstGeom prst="ellipse">
              <a:avLst/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764272" y="2211705"/>
            <a:ext cx="6663457" cy="1893570"/>
            <a:chOff x="2764272" y="2211705"/>
            <a:chExt cx="6663457" cy="1893570"/>
          </a:xfrm>
        </p:grpSpPr>
        <p:sp>
          <p:nvSpPr>
            <p:cNvPr id="11" name="TextBox 11"/>
            <p:cNvSpPr txBox="1"/>
            <p:nvPr/>
          </p:nvSpPr>
          <p:spPr>
            <a:xfrm>
              <a:off x="2764272" y="2211705"/>
              <a:ext cx="6663457" cy="1036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 不是来取代你的，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31918" y="3068955"/>
              <a:ext cx="5128165" cy="1036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是来成全你的。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905375" y="4191000"/>
            <a:ext cx="2381250" cy="457200"/>
            <a:chOff x="4905375" y="4191000"/>
            <a:chExt cx="2381250" cy="457200"/>
          </a:xfrm>
        </p:grpSpPr>
        <p:sp>
          <p:nvSpPr>
            <p:cNvPr id="14" name="Rectangle 14"/>
            <p:cNvSpPr/>
            <p:nvPr/>
          </p:nvSpPr>
          <p:spPr>
            <a:xfrm>
              <a:off x="4905375" y="4191000"/>
              <a:ext cx="2381250" cy="4572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360565" y="4340542"/>
              <a:ext cx="14708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通用 AI 基础 · 完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689056" y="5169218"/>
            <a:ext cx="4813887" cy="274320"/>
            <a:chOff x="3689056" y="5169218"/>
            <a:chExt cx="4813887" cy="274320"/>
          </a:xfrm>
        </p:grpSpPr>
        <p:sp>
          <p:nvSpPr>
            <p:cNvPr id="17" name="Freeform 17"/>
            <p:cNvSpPr/>
            <p:nvPr/>
          </p:nvSpPr>
          <p:spPr>
            <a:xfrm>
              <a:off x="3874294" y="5178425"/>
              <a:ext cx="148431" cy="139700"/>
            </a:xfrm>
            <a:custGeom>
              <a:avLst/>
              <a:gdLst/>
              <a:ahLst/>
              <a:cxnLst/>
              <a:rect l="l" t="t" r="r" b="b"/>
              <a:pathLst>
                <a:path w="148431" h="139700">
                  <a:moveTo>
                    <a:pt x="113506" y="122238"/>
                  </a:moveTo>
                  <a:cubicBezTo>
                    <a:pt x="123151" y="122238"/>
                    <a:pt x="130969" y="130056"/>
                    <a:pt x="130969" y="139700"/>
                  </a:cubicBezTo>
                  <a:cubicBezTo>
                    <a:pt x="130969" y="130056"/>
                    <a:pt x="138787" y="122238"/>
                    <a:pt x="148431" y="122238"/>
                  </a:cubicBezTo>
                  <a:cubicBezTo>
                    <a:pt x="138787" y="122238"/>
                    <a:pt x="130969" y="114419"/>
                    <a:pt x="130969" y="104775"/>
                  </a:cubicBezTo>
                  <a:cubicBezTo>
                    <a:pt x="130969" y="114419"/>
                    <a:pt x="123151" y="122238"/>
                    <a:pt x="113506" y="122238"/>
                  </a:cubicBezTo>
                  <a:moveTo>
                    <a:pt x="113506" y="17463"/>
                  </a:moveTo>
                  <a:cubicBezTo>
                    <a:pt x="123151" y="17463"/>
                    <a:pt x="130969" y="25281"/>
                    <a:pt x="130969" y="34925"/>
                  </a:cubicBezTo>
                  <a:cubicBezTo>
                    <a:pt x="130969" y="25281"/>
                    <a:pt x="138787" y="17463"/>
                    <a:pt x="148431" y="17463"/>
                  </a:cubicBezTo>
                  <a:cubicBezTo>
                    <a:pt x="138787" y="17463"/>
                    <a:pt x="130969" y="9644"/>
                    <a:pt x="130969" y="0"/>
                  </a:cubicBezTo>
                  <a:cubicBezTo>
                    <a:pt x="130969" y="9644"/>
                    <a:pt x="123151" y="17463"/>
                    <a:pt x="113506" y="17463"/>
                  </a:cubicBezTo>
                  <a:moveTo>
                    <a:pt x="52388" y="122238"/>
                  </a:moveTo>
                  <a:cubicBezTo>
                    <a:pt x="52388" y="93305"/>
                    <a:pt x="75842" y="69850"/>
                    <a:pt x="104775" y="69850"/>
                  </a:cubicBezTo>
                  <a:cubicBezTo>
                    <a:pt x="75842" y="69850"/>
                    <a:pt x="52388" y="46395"/>
                    <a:pt x="52388" y="17463"/>
                  </a:cubicBezTo>
                  <a:cubicBezTo>
                    <a:pt x="52388" y="46395"/>
                    <a:pt x="28933" y="69850"/>
                    <a:pt x="0" y="69850"/>
                  </a:cubicBezTo>
                  <a:cubicBezTo>
                    <a:pt x="28933" y="69850"/>
                    <a:pt x="52388" y="93305"/>
                    <a:pt x="52388" y="122238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689056" y="5169218"/>
              <a:ext cx="481388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下一步：把今天学到的，落到你的岗位—— 从 1 个小任务开始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2026-08-31T15:31:21Z</dcterms:created>
  <dcterms:modified xsi:type="dcterms:W3CDTF">2026-08-31T15:31:21Z</dcterms:modified>
  <cp:category/>
  <cp:contentStatus/>
</cp:coreProperties>
</file>